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image140.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m:rPr>
                              <m:sty m:val="p"/>
                            </m:rPr>
                            <a:rPr lang="en-US" sz="2600" b="0" i="1" smtClean="0">
                              <a:solidFill>
                                <a:srgbClr val="252529"/>
                              </a:solidFill>
                              <a:latin typeface="Cambria Math" panose="02040503050406030204" pitchFamily="18" charset="0"/>
                            </a:rPr>
                            <m:t>T</m:t>
                          </m:r>
                        </m:sup>
                      </m:sSup>
                    </m:oMath>
                  </m:oMathPara>
                </a14:m>
                <a:endParaRPr sz="2600" dirty="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