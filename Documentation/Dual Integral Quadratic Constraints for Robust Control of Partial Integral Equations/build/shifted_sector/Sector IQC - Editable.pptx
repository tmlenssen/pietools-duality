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
  </p:notesMasterIdLst>
  <p:sldIdLst>
    <p:sldId id="256" r:id="rId2"/>
    <p:sldId id="257" r:id="rId3"/>
    <p:sldId id="258" r:id="rId4"/>
    <p:sldId id="259" r:id="rId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png"/><Relationship Id="rId5" Type="http://schemas.openxmlformats.org/officeDocument/2006/relationships/image" Target="../media/image5.png"/><Relationship Id="rId10" Type="http://schemas.openxmlformats.org/officeDocument/2006/relationships/image" Target="../media/image14.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0.png"/><Relationship Id="rId4" Type="http://schemas.openxmlformats.org/officeDocument/2006/relationships/image" Target="../media/image4.pn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png"/><Relationship Id="rId5" Type="http://schemas.openxmlformats.org/officeDocument/2006/relationships/image" Target="../media/image5.png"/><Relationship Id="rId10" Type="http://schemas.openxmlformats.org/officeDocument/2006/relationships/image" Target="../media/image24.png"/><Relationship Id="rId4" Type="http://schemas.openxmlformats.org/officeDocument/2006/relationships/image" Target="../media/image4.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The shifted sigmoid lies in a sector</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p:sp>
        <p:nvSpPr>
          <p:cNvPr id="118" name="Nonlinearity input"/>
          <p:cNvSpPr/>
          <p:nvPr/>
        </p:nvSpPr>
        <p:spPr>
          <a:xfrm>
            <a:off x="53086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19" name="Nonlinearity output"/>
          <p:cNvSpPr/>
          <p:nvPr/>
        </p:nvSpPr>
        <p:spPr>
          <a:xfrm>
            <a:off x="6934200" y="1752600"/>
            <a:ext cx="1333500" cy="25400"/>
          </a:xfrm>
          <a:custGeom>
            <a:avLst/>
            <a:gdLst/>
            <a:ahLst/>
            <a:cxnLst/>
            <a:rect l="0" t="0" r="r" b="b"/>
            <a:pathLst>
              <a:path w="1333500" h="25400" fill="none">
                <a:moveTo>
                  <a:pt x="12700" y="12700"/>
                </a:moveTo>
                <a:lnTo>
                  <a:pt x="1320800" y="12700"/>
                </a:lnTo>
              </a:path>
            </a:pathLst>
          </a:custGeom>
          <a:noFill/>
          <a:ln w="12700">
            <a:solidFill>
              <a:srgbClr val="252529"/>
            </a:solidFill>
            <a:round/>
            <a:tailEnd type="triangle" w="sm" len="sm"/>
          </a:ln>
        </p:spPr>
      </p:sp>
      <p:sp>
        <p:nvSpPr>
          <p:cNvPr id="120" name="Shifted activation block"/>
          <p:cNvSpPr/>
          <p:nvPr/>
        </p:nvSpPr>
        <p:spPr>
          <a:xfrm>
            <a:off x="6261100" y="1460500"/>
            <a:ext cx="685800" cy="609600"/>
          </a:xfrm>
          <a:prstGeom prst="rect">
            <a:avLst/>
          </a:prstGeom>
          <a:noFill/>
          <a:ln w="12700">
            <a:solidFill>
              <a:srgbClr val="D61016"/>
            </a:solidFill>
          </a:ln>
        </p:spPr>
      </p:sp>
      <mc:AlternateContent xmlns:mc="http://schemas.openxmlformats.org/markup-compatibility/2006">
        <mc:Choice xmlns:a14="http://schemas.microsoft.com/office/drawing/2010/main" Requires="a14">
          <p:sp>
            <p:nvSpPr>
              <p:cNvPr id="121" name="Nonlinearity label"/>
              <p:cNvSpPr/>
              <p:nvPr/>
            </p:nvSpPr>
            <p:spPr>
              <a:xfrm>
                <a:off x="6318250" y="1320800"/>
                <a:ext cx="571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D61016"/>
                          </a:solidFill>
                          <a:latin typeface="Cambria Math"/>
                        </a:rPr>
                        <m:t>𝜑</m:t>
                      </m:r>
                    </m:oMath>
                  </m:oMathPara>
                </a14:m>
                <a:endParaRPr sz="2500"/>
              </a:p>
            </p:txBody>
          </p:sp>
        </mc:Choice>
        <mc:Fallback>
          <p:sp>
            <p:nvSpPr>
              <p:cNvPr id="121" name="Nonlinearity label"/>
              <p:cNvSpPr>
                <a:spLocks noRot="1" noChangeAspect="1" noMove="1" noResize="1" noEditPoints="1" noAdjustHandles="1" noChangeArrowheads="1" noChangeShapeType="1" noTextEdit="1"/>
              </p:cNvSpPr>
              <p:nvPr/>
            </p:nvSpPr>
            <p:spPr>
              <a:xfrm>
                <a:off x="6318250" y="1320800"/>
                <a:ext cx="571500" cy="8890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2" name="Input label"/>
              <p:cNvSpPr/>
              <p:nvPr/>
            </p:nvSpPr>
            <p:spPr>
              <a:xfrm>
                <a:off x="53784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122" name="Input label"/>
              <p:cNvSpPr>
                <a:spLocks noRot="1" noChangeAspect="1" noMove="1" noResize="1" noEditPoints="1" noAdjustHandles="1" noChangeArrowheads="1" noChangeShapeType="1" noTextEdit="1"/>
              </p:cNvSpPr>
              <p:nvPr/>
            </p:nvSpPr>
            <p:spPr>
              <a:xfrm>
                <a:off x="5378450" y="1257300"/>
                <a:ext cx="571500" cy="5334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3" name="Output label"/>
              <p:cNvSpPr/>
              <p:nvPr/>
            </p:nvSpPr>
            <p:spPr>
              <a:xfrm>
                <a:off x="73850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123" name="Output label"/>
              <p:cNvSpPr>
                <a:spLocks noRot="1" noChangeAspect="1" noMove="1" noResize="1" noEditPoints="1" noAdjustHandles="1" noChangeArrowheads="1" noChangeShapeType="1" noTextEdit="1"/>
              </p:cNvSpPr>
              <p:nvPr/>
            </p:nvSpPr>
            <p:spPr>
              <a:xfrm>
                <a:off x="7385050" y="1257300"/>
                <a:ext cx="571500" cy="5334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4" name="Shifted map"/>
              <p:cNvSpPr/>
              <p:nvPr/>
            </p:nvSpPr>
            <p:spPr>
              <a:xfrm>
                <a:off x="4762500" y="2237740"/>
                <a:ext cx="3810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r>
                        <a:rPr sz="1700">
                          <a:solidFill>
                            <a:srgbClr val="252529"/>
                          </a:solidFill>
                          <a:latin typeface="Cambria Math"/>
                        </a:rPr>
                        <m:t>=</m:t>
                      </m:r>
                      <m:r>
                        <a:rPr sz="1700">
                          <a:solidFill>
                            <a:srgbClr val="252529"/>
                          </a:solidFill>
                          <a:latin typeface="Cambria Math"/>
                        </a:rPr>
                        <m:t>𝜑</m:t>
                      </m:r>
                      <m:d>
                        <m:dPr>
                          <m:ctrlPr>
                            <a:rPr sz="1700">
                              <a:solidFill>
                                <a:srgbClr val="252529"/>
                              </a:solidFill>
                              <a:latin typeface="Cambria Math"/>
                            </a:rPr>
                          </m:ctrlPr>
                        </m:dPr>
                        <m:e>
                          <m:r>
                            <a:rPr sz="1700">
                              <a:solidFill>
                                <a:srgbClr val="252529"/>
                              </a:solidFill>
                              <a:latin typeface="Cambria Math"/>
                            </a:rPr>
                            <m:t>𝑧</m:t>
                          </m:r>
                        </m:e>
                      </m:d>
                      <m:r>
                        <a:rPr sz="1700">
                          <a:solidFill>
                            <a:srgbClr val="252529"/>
                          </a:solidFill>
                          <a:latin typeface="Cambria Math"/>
                        </a:rPr>
                        <m:t>,   </m:t>
                      </m:r>
                      <m:r>
                        <a:rPr sz="1700">
                          <a:solidFill>
                            <a:srgbClr val="252529"/>
                          </a:solidFill>
                          <a:latin typeface="Cambria Math"/>
                        </a:rPr>
                        <m:t>𝜑</m:t>
                      </m:r>
                      <m:d>
                        <m:dPr>
                          <m:ctrlPr>
                            <a:rPr sz="1700">
                              <a:solidFill>
                                <a:srgbClr val="252529"/>
                              </a:solidFill>
                              <a:latin typeface="Cambria Math"/>
                            </a:rPr>
                          </m:ctrlPr>
                        </m:dPr>
                        <m:e>
                          <m:r>
                            <a:rPr sz="1700">
                              <a:solidFill>
                                <a:srgbClr val="252529"/>
                              </a:solidFill>
                              <a:latin typeface="Cambria Math"/>
                            </a:rPr>
                            <m:t>0</m:t>
                          </m:r>
                        </m:e>
                      </m:d>
                      <m:r>
                        <a:rPr sz="1700">
                          <a:solidFill>
                            <a:srgbClr val="252529"/>
                          </a:solidFill>
                          <a:latin typeface="Cambria Math"/>
                        </a:rPr>
                        <m:t>=0</m:t>
                      </m:r>
                    </m:oMath>
                  </m:oMathPara>
                </a14:m>
                <a:endParaRPr sz="1700"/>
              </a:p>
            </p:txBody>
          </p:sp>
        </mc:Choice>
        <mc:Fallback>
          <p:sp>
            <p:nvSpPr>
              <p:cNvPr id="124" name="Shifted map"/>
              <p:cNvSpPr>
                <a:spLocks noRot="1" noChangeAspect="1" noMove="1" noResize="1" noEditPoints="1" noAdjustHandles="1" noChangeArrowheads="1" noChangeShapeType="1" noTextEdit="1"/>
              </p:cNvSpPr>
              <p:nvPr/>
            </p:nvSpPr>
            <p:spPr>
              <a:xfrm>
                <a:off x="4762500" y="2237740"/>
                <a:ext cx="3810000" cy="604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5" name="Global sector"/>
              <p:cNvSpPr/>
              <p:nvPr/>
            </p:nvSpPr>
            <p:spPr>
              <a:xfrm>
                <a:off x="4730750" y="2682240"/>
                <a:ext cx="3873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5" name="Global sector"/>
              <p:cNvSpPr>
                <a:spLocks noRot="1" noChangeAspect="1" noMove="1" noResize="1" noEditPoints="1" noAdjustHandles="1" noChangeArrowheads="1" noChangeShapeType="1" noTextEdit="1"/>
              </p:cNvSpPr>
              <p:nvPr/>
            </p:nvSpPr>
            <p:spPr>
              <a:xfrm>
                <a:off x="4730750" y="2682240"/>
                <a:ext cx="3873500" cy="604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6" name="Equilibrium-shifted sigmoid"/>
              <p:cNvSpPr/>
              <p:nvPr/>
            </p:nvSpPr>
            <p:spPr>
              <a:xfrm>
                <a:off x="444500" y="3792220"/>
                <a:ext cx="8255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𝜑</m:t>
                      </m:r>
                      <m:d>
                        <m:dPr>
                          <m:ctrlPr>
                            <a:rPr sz="1600">
                              <a:solidFill>
                                <a:srgbClr val="252529"/>
                              </a:solidFill>
                              <a:latin typeface="Cambria Math"/>
                            </a:rPr>
                          </m:ctrlPr>
                        </m:dPr>
                        <m:e>
                          <m:r>
                            <a:rPr sz="1600">
                              <a:solidFill>
                                <a:srgbClr val="252529"/>
                              </a:solidFill>
                              <a:latin typeface="Cambria Math"/>
                            </a:rPr>
                            <m:t>𝑧</m:t>
                          </m:r>
                        </m:e>
                      </m:d>
                      <m:r>
                        <a:rPr sz="1600">
                          <a:solidFill>
                            <a:srgbClr val="252529"/>
                          </a:solidFill>
                          <a:latin typeface="Cambria Math"/>
                        </a:rPr>
                        <m:t>=</m:t>
                      </m:r>
                      <m:f>
                        <m:fPr>
                          <m:ctrlPr>
                            <a:rPr sz="1600">
                              <a:solidFill>
                                <a:srgbClr val="252529"/>
                              </a:solidFill>
                              <a:latin typeface="Cambria Math"/>
                            </a:rPr>
                          </m:ctrlPr>
                        </m:fPr>
                        <m:num>
                          <m:r>
                            <a:rPr sz="1600">
                              <a:solidFill>
                                <a:srgbClr val="252529"/>
                              </a:solidFill>
                              <a:latin typeface="Cambria Math"/>
                            </a:rPr>
                            <m:t>𝑀</m:t>
                          </m:r>
                        </m:num>
                        <m:den>
                          <m:r>
                            <a:rPr sz="1600">
                              <a:solidFill>
                                <a:srgbClr val="252529"/>
                              </a:solidFill>
                              <a:latin typeface="Cambria Math"/>
                            </a:rPr>
                            <m:t>2</m:t>
                          </m:r>
                        </m:den>
                      </m:f>
                      <m:d>
                        <m:dPr>
                          <m:begChr m:val="["/>
                          <m:endChr m:val="]"/>
                          <m:ctrlPr>
                            <a:rPr sz="1600">
                              <a:solidFill>
                                <a:srgbClr val="252529"/>
                              </a:solidFill>
                              <a:latin typeface="Cambria Math"/>
                            </a:rPr>
                          </m:ctrlPr>
                        </m:dPr>
                        <m:e>
                          <m:r>
                            <m:rPr>
                              <m:sty m:val="p"/>
                            </m:rPr>
                            <a:rPr sz="1600">
                              <a:solidFill>
                                <a:srgbClr val="252529"/>
                              </a:solidFill>
                              <a:latin typeface="Cambria Math"/>
                            </a:rPr>
                            <m:t>tanh</m:t>
                          </m:r>
                          <m:d>
                            <m:dPr>
                              <m:ctrlPr>
                                <a:rPr sz="1600" i="1">
                                  <a:solidFill>
                                    <a:srgbClr val="252529"/>
                                  </a:solidFill>
                                  <a:latin typeface="Cambria Math" panose="02040503050406030204" pitchFamily="18" charset="0"/>
                                </a:rPr>
                              </m:ctrlPr>
                            </m:dPr>
                            <m:e>
                              <m:f>
                                <m:fPr>
                                  <m:ctrlPr>
                                    <a:rPr sz="1600">
                                      <a:solidFill>
                                        <a:srgbClr val="252529"/>
                                      </a:solidFill>
                                      <a:latin typeface="Cambria Math"/>
                                    </a:rPr>
                                  </m:ctrlPr>
                                </m:fPr>
                                <m:num>
                                  <m:r>
                                    <a:rPr sz="1600">
                                      <a:solidFill>
                                        <a:srgbClr val="252529"/>
                                      </a:solidFill>
                                      <a:latin typeface="Cambria Math"/>
                                    </a:rPr>
                                    <m:t>2</m:t>
                                  </m:r>
                                  <m:d>
                                    <m:dPr>
                                      <m:ctrlPr>
                                        <a:rPr sz="1600" i="1">
                                          <a:solidFill>
                                            <a:srgbClr val="252529"/>
                                          </a:solidFill>
                                          <a:latin typeface="Cambria Math" panose="02040503050406030204" pitchFamily="18" charset="0"/>
                                        </a:rPr>
                                      </m:ctrlPr>
                                    </m:dPr>
                                    <m:e>
                                      <m:sSup>
                                        <m:sSupPr>
                                          <m:ctrlPr>
                                            <a:rPr sz="1600">
                                              <a:solidFill>
                                                <a:srgbClr val="252529"/>
                                              </a:solidFill>
                                              <a:latin typeface="Cambria Math"/>
                                            </a:rPr>
                                          </m:ctrlPr>
                                        </m:sSupPr>
                                        <m:e>
                                          <m:r>
                                            <a:rPr sz="1600">
                                              <a:solidFill>
                                                <a:srgbClr val="252529"/>
                                              </a:solidFill>
                                              <a:latin typeface="Cambria Math"/>
                                            </a:rPr>
                                            <m:t>𝑧</m:t>
                                          </m:r>
                                        </m:e>
                                        <m:sup>
                                          <m:r>
                                            <a:rPr sz="1600">
                                              <a:solidFill>
                                                <a:srgbClr val="252529"/>
                                              </a:solidFill>
                                              <a:latin typeface="Cambria Math"/>
                                            </a:rPr>
                                            <m:t>∗</m:t>
                                          </m:r>
                                        </m:sup>
                                      </m:sSup>
                                      <m:r>
                                        <a:rPr sz="1600">
                                          <a:solidFill>
                                            <a:srgbClr val="252529"/>
                                          </a:solidFill>
                                          <a:latin typeface="Cambria Math"/>
                                        </a:rPr>
                                        <m:t>+</m:t>
                                      </m:r>
                                      <m:r>
                                        <a:rPr sz="1600">
                                          <a:solidFill>
                                            <a:srgbClr val="252529"/>
                                          </a:solidFill>
                                          <a:latin typeface="Cambria Math"/>
                                        </a:rPr>
                                        <m:t>𝑧</m:t>
                                      </m:r>
                                    </m:e>
                                  </m:d>
                                </m:num>
                                <m:den>
                                  <m:r>
                                    <a:rPr sz="1600">
                                      <a:solidFill>
                                        <a:srgbClr val="252529"/>
                                      </a:solidFill>
                                      <a:latin typeface="Cambria Math"/>
                                    </a:rPr>
                                    <m:t>𝑀</m:t>
                                  </m:r>
                                </m:den>
                              </m:f>
                            </m:e>
                          </m:d>
                          <m:r>
                            <a:rPr sz="1600">
                              <a:solidFill>
                                <a:srgbClr val="252529"/>
                              </a:solidFill>
                              <a:latin typeface="Cambria Math"/>
                            </a:rPr>
                            <m:t>−</m:t>
                          </m:r>
                          <m:r>
                            <m:rPr>
                              <m:sty m:val="p"/>
                            </m:rPr>
                            <a:rPr sz="1600">
                              <a:solidFill>
                                <a:srgbClr val="252529"/>
                              </a:solidFill>
                              <a:latin typeface="Cambria Math"/>
                            </a:rPr>
                            <m:t>tanh</m:t>
                          </m:r>
                          <m:d>
                            <m:dPr>
                              <m:ctrlPr>
                                <a:rPr sz="1600" i="1">
                                  <a:solidFill>
                                    <a:srgbClr val="252529"/>
                                  </a:solidFill>
                                  <a:latin typeface="Cambria Math" panose="02040503050406030204" pitchFamily="18" charset="0"/>
                                </a:rPr>
                              </m:ctrlPr>
                            </m:dPr>
                            <m:e>
                              <m:f>
                                <m:fPr>
                                  <m:ctrlPr>
                                    <a:rPr sz="1600">
                                      <a:solidFill>
                                        <a:srgbClr val="252529"/>
                                      </a:solidFill>
                                      <a:latin typeface="Cambria Math"/>
                                    </a:rPr>
                                  </m:ctrlPr>
                                </m:fPr>
                                <m:num>
                                  <m:r>
                                    <a:rPr sz="1600">
                                      <a:solidFill>
                                        <a:srgbClr val="252529"/>
                                      </a:solidFill>
                                      <a:latin typeface="Cambria Math"/>
                                    </a:rPr>
                                    <m:t>2</m:t>
                                  </m:r>
                                  <m:sSup>
                                    <m:sSupPr>
                                      <m:ctrlPr>
                                        <a:rPr sz="1600">
                                          <a:solidFill>
                                            <a:srgbClr val="252529"/>
                                          </a:solidFill>
                                          <a:latin typeface="Cambria Math"/>
                                        </a:rPr>
                                      </m:ctrlPr>
                                    </m:sSupPr>
                                    <m:e>
                                      <m:r>
                                        <a:rPr sz="1600">
                                          <a:solidFill>
                                            <a:srgbClr val="252529"/>
                                          </a:solidFill>
                                          <a:latin typeface="Cambria Math"/>
                                        </a:rPr>
                                        <m:t>𝑧</m:t>
                                      </m:r>
                                    </m:e>
                                    <m:sup>
                                      <m:r>
                                        <a:rPr sz="1600">
                                          <a:solidFill>
                                            <a:srgbClr val="252529"/>
                                          </a:solidFill>
                                          <a:latin typeface="Cambria Math"/>
                                        </a:rPr>
                                        <m:t>∗</m:t>
                                      </m:r>
                                    </m:sup>
                                  </m:sSup>
                                </m:num>
                                <m:den>
                                  <m:r>
                                    <a:rPr sz="1600">
                                      <a:solidFill>
                                        <a:srgbClr val="252529"/>
                                      </a:solidFill>
                                      <a:latin typeface="Cambria Math"/>
                                    </a:rPr>
                                    <m:t>𝑀</m:t>
                                  </m:r>
                                </m:den>
                              </m:f>
                            </m:e>
                          </m:d>
                        </m:e>
                      </m:d>
                    </m:oMath>
                  </m:oMathPara>
                </a14:m>
                <a:endParaRPr sz="1600"/>
              </a:p>
            </p:txBody>
          </p:sp>
        </mc:Choice>
        <mc:Fallback>
          <p:sp>
            <p:nvSpPr>
              <p:cNvPr id="126" name="Equilibrium-shifted sigmoid"/>
              <p:cNvSpPr>
                <a:spLocks noRot="1" noChangeAspect="1" noMove="1" noResize="1" noEditPoints="1" noAdjustHandles="1" noChangeArrowheads="1" noChangeShapeType="1" noTextEdit="1"/>
              </p:cNvSpPr>
              <p:nvPr/>
            </p:nvSpPr>
            <p:spPr>
              <a:xfrm>
                <a:off x="444500" y="3792220"/>
                <a:ext cx="8255000" cy="56896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7" name="STN parameters"/>
              <p:cNvSpPr/>
              <p:nvPr/>
            </p:nvSpPr>
            <p:spPr>
              <a:xfrm>
                <a:off x="762000" y="4302760"/>
                <a:ext cx="7620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𝑀</m:t>
                      </m:r>
                      <m:r>
                        <a:rPr sz="1300">
                          <a:solidFill>
                            <a:srgbClr val="252529"/>
                          </a:solidFill>
                          <a:latin typeface="Cambria Math"/>
                        </a:rPr>
                        <m:t>=300,   </m:t>
                      </m:r>
                      <m:sSup>
                        <m:sSupPr>
                          <m:ctrlPr>
                            <a:rPr sz="1300">
                              <a:solidFill>
                                <a:srgbClr val="252529"/>
                              </a:solidFill>
                              <a:latin typeface="Cambria Math"/>
                            </a:rPr>
                          </m:ctrlPr>
                        </m:sSupPr>
                        <m:e>
                          <m:r>
                            <a:rPr sz="1300">
                              <a:solidFill>
                                <a:srgbClr val="252529"/>
                              </a:solidFill>
                              <a:latin typeface="Cambria Math"/>
                            </a:rPr>
                            <m:t>𝑧</m:t>
                          </m:r>
                        </m:e>
                        <m:sup>
                          <m:r>
                            <a:rPr sz="1300">
                              <a:solidFill>
                                <a:srgbClr val="252529"/>
                              </a:solidFill>
                              <a:latin typeface="Cambria Math"/>
                            </a:rPr>
                            <m:t>∗</m:t>
                          </m:r>
                        </m:sup>
                      </m:sSup>
                      <m:r>
                        <a:rPr sz="1300">
                          <a:solidFill>
                            <a:srgbClr val="252529"/>
                          </a:solidFill>
                          <a:latin typeface="Cambria Math"/>
                        </a:rPr>
                        <m:t>≈−196.17</m:t>
                      </m:r>
                    </m:oMath>
                  </m:oMathPara>
                </a14:m>
                <a:endParaRPr sz="1300"/>
              </a:p>
            </p:txBody>
          </p:sp>
        </mc:Choice>
        <mc:Fallback>
          <p:sp>
            <p:nvSpPr>
              <p:cNvPr id="127" name="STN parameters"/>
              <p:cNvSpPr>
                <a:spLocks noRot="1" noChangeAspect="1" noMove="1" noResize="1" noEditPoints="1" noAdjustHandles="1" noChangeArrowheads="1" noChangeShapeType="1" noTextEdit="1"/>
              </p:cNvSpPr>
              <p:nvPr/>
            </p:nvSpPr>
            <p:spPr>
              <a:xfrm>
                <a:off x="762000" y="4302760"/>
                <a:ext cx="7620000" cy="462280"/>
              </a:xfrm>
              <a:prstGeom prst="rect">
                <a:avLst/>
              </a:prstGeom>
              <a:blipFill>
                <a:blip r:embed="rId13"/>
                <a:stretch>
                  <a:fillRect/>
                </a:stretch>
              </a:blipFill>
              <a:ln>
                <a:noFill/>
              </a:ln>
            </p:spPr>
            <p:txBody>
              <a:bodyPr/>
              <a:lstStyle/>
              <a:p>
                <a:r>
                  <a:rPr lang="en-NL">
                    <a:noFill/>
                  </a:rPr>
                  <a:t> </a:t>
                </a:r>
              </a:p>
            </p:txBody>
          </p:sp>
        </mc:Fallback>
      </mc:AlternateContent>
      <p:sp>
        <p:nvSpPr>
          <p:cNvPr id="128"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9"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1</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The sector gives two signed gaps</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2" name="Sample point"/>
          <p:cNvSpPr/>
          <p:nvPr/>
        </p:nvSpPr>
        <p:spPr>
          <a:xfrm>
            <a:off x="2818765" y="2085168"/>
            <a:ext cx="63500" cy="63500"/>
          </a:xfrm>
          <a:prstGeom prst="ellipse">
            <a:avLst/>
          </a:prstGeom>
          <a:solidFill>
            <a:srgbClr val="D61016"/>
          </a:solidFill>
          <a:ln>
            <a:noFill/>
          </a:ln>
        </p:spPr>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p:sp>
        <p:nvSpPr>
          <p:cNvPr id="124" name="Nonlinearity input"/>
          <p:cNvSpPr/>
          <p:nvPr/>
        </p:nvSpPr>
        <p:spPr>
          <a:xfrm>
            <a:off x="53086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5" name="Nonlinearity output"/>
          <p:cNvSpPr/>
          <p:nvPr/>
        </p:nvSpPr>
        <p:spPr>
          <a:xfrm>
            <a:off x="6934200" y="1752600"/>
            <a:ext cx="1333500" cy="25400"/>
          </a:xfrm>
          <a:custGeom>
            <a:avLst/>
            <a:gdLst/>
            <a:ahLst/>
            <a:cxnLst/>
            <a:rect l="0" t="0" r="r" b="b"/>
            <a:pathLst>
              <a:path w="1333500" h="25400" fill="none">
                <a:moveTo>
                  <a:pt x="12700" y="12700"/>
                </a:moveTo>
                <a:lnTo>
                  <a:pt x="1320800" y="12700"/>
                </a:lnTo>
              </a:path>
            </a:pathLst>
          </a:custGeom>
          <a:noFill/>
          <a:ln w="12700">
            <a:solidFill>
              <a:srgbClr val="252529"/>
            </a:solidFill>
            <a:round/>
            <a:tailEnd type="triangle" w="sm" len="sm"/>
          </a:ln>
        </p:spPr>
      </p:sp>
      <p:sp>
        <p:nvSpPr>
          <p:cNvPr id="126" name="Shifted activation block"/>
          <p:cNvSpPr/>
          <p:nvPr/>
        </p:nvSpPr>
        <p:spPr>
          <a:xfrm>
            <a:off x="6261100" y="1460500"/>
            <a:ext cx="685800" cy="609600"/>
          </a:xfrm>
          <a:prstGeom prst="rect">
            <a:avLst/>
          </a:prstGeom>
          <a:noFill/>
          <a:ln w="12700">
            <a:solidFill>
              <a:srgbClr val="D61016"/>
            </a:solidFill>
          </a:ln>
        </p:spPr>
      </p:sp>
      <mc:AlternateContent xmlns:mc="http://schemas.openxmlformats.org/markup-compatibility/2006">
        <mc:Choice xmlns:a14="http://schemas.microsoft.com/office/drawing/2010/main" Requires="a14">
          <p:sp>
            <p:nvSpPr>
              <p:cNvPr id="127" name="Nonlinearity label"/>
              <p:cNvSpPr/>
              <p:nvPr/>
            </p:nvSpPr>
            <p:spPr>
              <a:xfrm>
                <a:off x="6318250" y="1320800"/>
                <a:ext cx="571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D61016"/>
                          </a:solidFill>
                          <a:latin typeface="Cambria Math"/>
                        </a:rPr>
                        <m:t>𝜑</m:t>
                      </m:r>
                    </m:oMath>
                  </m:oMathPara>
                </a14:m>
                <a:endParaRPr sz="2500"/>
              </a:p>
            </p:txBody>
          </p:sp>
        </mc:Choice>
        <mc:Fallback>
          <p:sp>
            <p:nvSpPr>
              <p:cNvPr id="127" name="Nonlinearity label"/>
              <p:cNvSpPr>
                <a:spLocks noRot="1" noChangeAspect="1" noMove="1" noResize="1" noEditPoints="1" noAdjustHandles="1" noChangeArrowheads="1" noChangeShapeType="1" noTextEdit="1"/>
              </p:cNvSpPr>
              <p:nvPr/>
            </p:nvSpPr>
            <p:spPr>
              <a:xfrm>
                <a:off x="6318250" y="1320800"/>
                <a:ext cx="571500" cy="8890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8" name="Input label"/>
              <p:cNvSpPr/>
              <p:nvPr/>
            </p:nvSpPr>
            <p:spPr>
              <a:xfrm>
                <a:off x="53784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p:sp>
            <p:nvSpPr>
              <p:cNvPr id="128" name="Input label"/>
              <p:cNvSpPr>
                <a:spLocks noRot="1" noChangeAspect="1" noMove="1" noResize="1" noEditPoints="1" noAdjustHandles="1" noChangeArrowheads="1" noChangeShapeType="1" noTextEdit="1"/>
              </p:cNvSpPr>
              <p:nvPr/>
            </p:nvSpPr>
            <p:spPr>
              <a:xfrm>
                <a:off x="5378450" y="1257300"/>
                <a:ext cx="571500" cy="5334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9" name="Output label"/>
              <p:cNvSpPr/>
              <p:nvPr/>
            </p:nvSpPr>
            <p:spPr>
              <a:xfrm>
                <a:off x="7385050" y="1257300"/>
                <a:ext cx="571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p:sp>
            <p:nvSpPr>
              <p:cNvPr id="129" name="Output label"/>
              <p:cNvSpPr>
                <a:spLocks noRot="1" noChangeAspect="1" noMove="1" noResize="1" noEditPoints="1" noAdjustHandles="1" noChangeArrowheads="1" noChangeShapeType="1" noTextEdit="1"/>
              </p:cNvSpPr>
              <p:nvPr/>
            </p:nvSpPr>
            <p:spPr>
              <a:xfrm>
                <a:off x="7385050" y="1257300"/>
                <a:ext cx="571500" cy="5334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0" name="Upper gap"/>
              <p:cNvSpPr/>
              <p:nvPr/>
            </p:nvSpPr>
            <p:spPr>
              <a:xfrm>
                <a:off x="4857750" y="2171700"/>
                <a:ext cx="3619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16F9C"/>
                          </a:solidFill>
                          <a:latin typeface="Cambria Math"/>
                        </a:rPr>
                        <m:t>𝑎</m:t>
                      </m:r>
                      <m:r>
                        <a:rPr sz="2000">
                          <a:solidFill>
                            <a:srgbClr val="216F9C"/>
                          </a:solidFill>
                          <a:latin typeface="Cambria Math"/>
                        </a:rPr>
                        <m:t>=</m:t>
                      </m:r>
                      <m:r>
                        <a:rPr sz="2000">
                          <a:solidFill>
                            <a:srgbClr val="216F9C"/>
                          </a:solidFill>
                          <a:latin typeface="Cambria Math"/>
                        </a:rPr>
                        <m:t>𝛽</m:t>
                      </m:r>
                      <m:r>
                        <a:rPr sz="2000">
                          <a:solidFill>
                            <a:srgbClr val="216F9C"/>
                          </a:solidFill>
                          <a:latin typeface="Cambria Math"/>
                        </a:rPr>
                        <m:t>𝑧</m:t>
                      </m:r>
                      <m:r>
                        <a:rPr sz="2000">
                          <a:solidFill>
                            <a:srgbClr val="216F9C"/>
                          </a:solidFill>
                          <a:latin typeface="Cambria Math"/>
                        </a:rPr>
                        <m:t>−</m:t>
                      </m:r>
                      <m:r>
                        <a:rPr sz="2000">
                          <a:solidFill>
                            <a:srgbClr val="216F9C"/>
                          </a:solidFill>
                          <a:latin typeface="Cambria Math"/>
                        </a:rPr>
                        <m:t>𝑤</m:t>
                      </m:r>
                    </m:oMath>
                  </m:oMathPara>
                </a14:m>
                <a:endParaRPr sz="2000"/>
              </a:p>
            </p:txBody>
          </p:sp>
        </mc:Choice>
        <mc:Fallback>
          <p:sp>
            <p:nvSpPr>
              <p:cNvPr id="130" name="Upper gap"/>
              <p:cNvSpPr>
                <a:spLocks noRot="1" noChangeAspect="1" noMove="1" noResize="1" noEditPoints="1" noAdjustHandles="1" noChangeArrowheads="1" noChangeShapeType="1" noTextEdit="1"/>
              </p:cNvSpPr>
              <p:nvPr/>
            </p:nvSpPr>
            <p:spPr>
              <a:xfrm>
                <a:off x="4857750" y="2171700"/>
                <a:ext cx="3619500" cy="711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1" name="Lower gap"/>
              <p:cNvSpPr/>
              <p:nvPr/>
            </p:nvSpPr>
            <p:spPr>
              <a:xfrm>
                <a:off x="4635500" y="2654300"/>
                <a:ext cx="4064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47C60"/>
                          </a:solidFill>
                          <a:latin typeface="Cambria Math"/>
                        </a:rPr>
                        <m:t>𝑏</m:t>
                      </m:r>
                      <m:r>
                        <a:rPr sz="2000">
                          <a:solidFill>
                            <a:srgbClr val="147C60"/>
                          </a:solidFill>
                          <a:latin typeface="Cambria Math"/>
                        </a:rPr>
                        <m:t>=</m:t>
                      </m:r>
                      <m:r>
                        <a:rPr sz="2000">
                          <a:solidFill>
                            <a:srgbClr val="147C60"/>
                          </a:solidFill>
                          <a:latin typeface="Cambria Math"/>
                        </a:rPr>
                        <m:t>𝑤</m:t>
                      </m:r>
                      <m:r>
                        <a:rPr sz="2000">
                          <a:solidFill>
                            <a:srgbClr val="147C60"/>
                          </a:solidFill>
                          <a:latin typeface="Cambria Math"/>
                        </a:rPr>
                        <m:t>−</m:t>
                      </m:r>
                      <m:r>
                        <a:rPr sz="2000">
                          <a:solidFill>
                            <a:srgbClr val="147C60"/>
                          </a:solidFill>
                          <a:latin typeface="Cambria Math"/>
                        </a:rPr>
                        <m:t>𝛼</m:t>
                      </m:r>
                      <m:r>
                        <a:rPr sz="2000">
                          <a:solidFill>
                            <a:srgbClr val="147C60"/>
                          </a:solidFill>
                          <a:latin typeface="Cambria Math"/>
                        </a:rPr>
                        <m:t>𝑧</m:t>
                      </m:r>
                      <m:r>
                        <a:rPr sz="2000">
                          <a:solidFill>
                            <a:srgbClr val="147C60"/>
                          </a:solidFill>
                          <a:latin typeface="Cambria Math"/>
                        </a:rPr>
                        <m:t>=</m:t>
                      </m:r>
                      <m:r>
                        <a:rPr sz="2000">
                          <a:solidFill>
                            <a:srgbClr val="147C60"/>
                          </a:solidFill>
                          <a:latin typeface="Cambria Math"/>
                        </a:rPr>
                        <m:t>𝑤</m:t>
                      </m:r>
                    </m:oMath>
                  </m:oMathPara>
                </a14:m>
                <a:endParaRPr sz="2000"/>
              </a:p>
            </p:txBody>
          </p:sp>
        </mc:Choice>
        <mc:Fallback>
          <p:sp>
            <p:nvSpPr>
              <p:cNvPr id="131" name="Lower gap"/>
              <p:cNvSpPr>
                <a:spLocks noRot="1" noChangeAspect="1" noMove="1" noResize="1" noEditPoints="1" noAdjustHandles="1" noChangeArrowheads="1" noChangeShapeType="1" noTextEdit="1"/>
              </p:cNvSpPr>
              <p:nvPr/>
            </p:nvSpPr>
            <p:spPr>
              <a:xfrm>
                <a:off x="4635500" y="2654300"/>
                <a:ext cx="4064000" cy="71120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2" name="Gap filter"/>
              <p:cNvSpPr/>
              <p:nvPr/>
            </p:nvSpPr>
            <p:spPr>
              <a:xfrm>
                <a:off x="444500" y="3695700"/>
                <a:ext cx="8255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000" i="1">
                              <a:solidFill>
                                <a:srgbClr val="252529"/>
                              </a:solidFill>
                              <a:latin typeface="Cambria Math" panose="02040503050406030204" pitchFamily="18" charset="0"/>
                            </a:rPr>
                          </m:ctrlPr>
                        </m:dPr>
                        <m:e>
                          <m:m>
                            <m:mPr>
                              <m:mcs>
                                <m:mc>
                                  <m:mcPr>
                                    <m:count m:val="1"/>
                                    <m:mcJc m:val="center"/>
                                  </m:mcPr>
                                </m:mc>
                              </m:mcs>
                              <m:ctrlPr>
                                <a:rPr sz="2000" i="1">
                                  <a:solidFill>
                                    <a:srgbClr val="252529"/>
                                  </a:solidFill>
                                  <a:latin typeface="Cambria Math" panose="02040503050406030204" pitchFamily="18" charset="0"/>
                                </a:rPr>
                              </m:ctrlPr>
                            </m:mPr>
                            <m:mr>
                              <m:e>
                                <m:r>
                                  <a:rPr sz="2000">
                                    <a:solidFill>
                                      <a:srgbClr val="216F9C"/>
                                    </a:solidFill>
                                    <a:latin typeface="Cambria Math"/>
                                  </a:rPr>
                                  <m:t>𝑎</m:t>
                                </m:r>
                              </m:e>
                            </m:mr>
                            <m:mr>
                              <m:e>
                                <m:r>
                                  <a:rPr sz="2000">
                                    <a:solidFill>
                                      <a:srgbClr val="147C60"/>
                                    </a:solidFill>
                                    <a:latin typeface="Cambria Math"/>
                                  </a:rPr>
                                  <m:t>𝑏</m:t>
                                </m:r>
                              </m:e>
                            </m:mr>
                          </m:m>
                        </m:e>
                      </m:d>
                      <m:r>
                        <a:rPr sz="2000">
                          <a:solidFill>
                            <a:srgbClr val="252529"/>
                          </a:solidFill>
                          <a:latin typeface="Cambria Math"/>
                        </a:rPr>
                        <m:t>=</m:t>
                      </m:r>
                      <m:d>
                        <m:dPr>
                          <m:begChr m:val="["/>
                          <m:endChr m:val="]"/>
                          <m:ctrlPr>
                            <a:rPr sz="2000" i="1">
                              <a:solidFill>
                                <a:srgbClr val="252529"/>
                              </a:solidFill>
                              <a:latin typeface="Cambria Math" panose="02040503050406030204" pitchFamily="18" charset="0"/>
                            </a:rPr>
                          </m:ctrlPr>
                        </m:dPr>
                        <m:e>
                          <m:m>
                            <m:mPr>
                              <m:mcs>
                                <m:mc>
                                  <m:mcPr>
                                    <m:count m:val="2"/>
                                    <m:mcJc m:val="center"/>
                                  </m:mcPr>
                                </m:mc>
                              </m:mcs>
                              <m:ctrlPr>
                                <a:rPr sz="2000" i="1">
                                  <a:solidFill>
                                    <a:srgbClr val="252529"/>
                                  </a:solidFill>
                                  <a:latin typeface="Cambria Math" panose="02040503050406030204" pitchFamily="18" charset="0"/>
                                </a:rPr>
                              </m:ctrlPr>
                            </m:mPr>
                            <m:mr>
                              <m:e>
                                <m:r>
                                  <a:rPr sz="2000">
                                    <a:solidFill>
                                      <a:srgbClr val="252529"/>
                                    </a:solidFill>
                                    <a:latin typeface="Cambria Math"/>
                                  </a:rPr>
                                  <m:t>𝛽</m:t>
                                </m:r>
                              </m:e>
                              <m:e>
                                <m:r>
                                  <a:rPr sz="2000">
                                    <a:solidFill>
                                      <a:srgbClr val="252529"/>
                                    </a:solidFill>
                                    <a:latin typeface="Cambria Math"/>
                                  </a:rPr>
                                  <m:t>−1</m:t>
                                </m:r>
                              </m:e>
                            </m:mr>
                            <m:mr>
                              <m:e>
                                <m:r>
                                  <a:rPr sz="2000">
                                    <a:solidFill>
                                      <a:srgbClr val="252529"/>
                                    </a:solidFill>
                                    <a:latin typeface="Cambria Math"/>
                                  </a:rPr>
                                  <m:t>0</m:t>
                                </m:r>
                              </m:e>
                              <m:e>
                                <m:r>
                                  <a:rPr sz="2000">
                                    <a:solidFill>
                                      <a:srgbClr val="252529"/>
                                    </a:solidFill>
                                    <a:latin typeface="Cambria Math"/>
                                  </a:rPr>
                                  <m:t>1</m:t>
                                </m:r>
                              </m:e>
                            </m:mr>
                          </m:m>
                        </m:e>
                      </m:d>
                      <m:d>
                        <m:dPr>
                          <m:begChr m:val="["/>
                          <m:endChr m:val="]"/>
                          <m:ctrlPr>
                            <a:rPr sz="2000" i="1">
                              <a:solidFill>
                                <a:srgbClr val="252529"/>
                              </a:solidFill>
                              <a:latin typeface="Cambria Math" panose="02040503050406030204" pitchFamily="18" charset="0"/>
                            </a:rPr>
                          </m:ctrlPr>
                        </m:dPr>
                        <m:e>
                          <m:m>
                            <m:mPr>
                              <m:mcs>
                                <m:mc>
                                  <m:mcPr>
                                    <m:count m:val="1"/>
                                    <m:mcJc m:val="center"/>
                                  </m:mcPr>
                                </m:mc>
                              </m:mcs>
                              <m:ctrlPr>
                                <a:rPr sz="2000" i="1">
                                  <a:solidFill>
                                    <a:srgbClr val="252529"/>
                                  </a:solidFill>
                                  <a:latin typeface="Cambria Math" panose="02040503050406030204" pitchFamily="18" charset="0"/>
                                </a:rPr>
                              </m:ctrlPr>
                            </m:mPr>
                            <m:mr>
                              <m:e>
                                <m:r>
                                  <a:rPr sz="2000">
                                    <a:solidFill>
                                      <a:srgbClr val="252529"/>
                                    </a:solidFill>
                                    <a:latin typeface="Cambria Math"/>
                                  </a:rPr>
                                  <m:t>𝑧</m:t>
                                </m:r>
                              </m:e>
                            </m:mr>
                            <m:mr>
                              <m:e>
                                <m:r>
                                  <a:rPr sz="2000">
                                    <a:solidFill>
                                      <a:srgbClr val="252529"/>
                                    </a:solidFill>
                                    <a:latin typeface="Cambria Math"/>
                                  </a:rPr>
                                  <m:t>𝑤</m:t>
                                </m:r>
                              </m:e>
                            </m:mr>
                          </m:m>
                        </m:e>
                      </m:d>
                    </m:oMath>
                  </m:oMathPara>
                </a14:m>
                <a:endParaRPr sz="2000"/>
              </a:p>
            </p:txBody>
          </p:sp>
        </mc:Choice>
        <mc:Fallback>
          <p:sp>
            <p:nvSpPr>
              <p:cNvPr id="132" name="Gap filter"/>
              <p:cNvSpPr>
                <a:spLocks noRot="1" noChangeAspect="1" noMove="1" noResize="1" noEditPoints="1" noAdjustHandles="1" noChangeArrowheads="1" noChangeShapeType="1" noTextEdit="1"/>
              </p:cNvSpPr>
              <p:nvPr/>
            </p:nvSpPr>
            <p:spPr>
              <a:xfrm>
                <a:off x="444500" y="3695700"/>
                <a:ext cx="8255000" cy="711200"/>
              </a:xfrm>
              <a:prstGeom prst="rect">
                <a:avLst/>
              </a:prstGeom>
              <a:blipFill>
                <a:blip r:embed="rId12"/>
                <a:stretch>
                  <a:fillRect/>
                </a:stretch>
              </a:blipFill>
              <a:ln>
                <a:noFill/>
              </a:ln>
            </p:spPr>
            <p:txBody>
              <a:bodyPr/>
              <a:lstStyle/>
              <a:p>
                <a:r>
                  <a:rPr lang="en-NL">
                    <a:noFill/>
                  </a:rPr>
                  <a:t> </a:t>
                </a:r>
              </a:p>
            </p:txBody>
          </p:sp>
        </mc:Fallback>
      </mc:AlternateContent>
      <p:sp>
        <p:nvSpPr>
          <p:cNvPr id="133" name="Gap interpret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Inside the sector, the two gaps have the same sign.</a:t>
            </a:r>
            <a:endParaRPr sz="1500"/>
          </a:p>
        </p:txBody>
      </p:sp>
      <p:sp>
        <p:nvSpPr>
          <p:cNvPr id="13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3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a:t>
            </a:r>
            <a:endParaRPr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Transform the gaps into input and output</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2" name="Sample point"/>
          <p:cNvSpPr/>
          <p:nvPr/>
        </p:nvSpPr>
        <p:spPr>
          <a:xfrm>
            <a:off x="2818765" y="2085168"/>
            <a:ext cx="63500" cy="63500"/>
          </a:xfrm>
          <a:prstGeom prst="ellipse">
            <a:avLst/>
          </a:prstGeom>
          <a:solidFill>
            <a:srgbClr val="D61016"/>
          </a:solidFill>
          <a:ln>
            <a:noFill/>
          </a:ln>
        </p:spPr>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mc:AlternateContent xmlns:mc="http://schemas.openxmlformats.org/markup-compatibility/2006">
        <mc:Choice xmlns:a14="http://schemas.microsoft.com/office/drawing/2010/main" Requires="a14">
          <p:sp>
            <p:nvSpPr>
              <p:cNvPr id="124" name="Transformed input"/>
              <p:cNvSpPr/>
              <p:nvPr/>
            </p:nvSpPr>
            <p:spPr>
              <a:xfrm>
                <a:off x="4635500" y="1295400"/>
                <a:ext cx="4064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𝑧</m:t>
                          </m:r>
                        </m:e>
                      </m:acc>
                      <m:r>
                        <a:rPr sz="2000">
                          <a:solidFill>
                            <a:srgbClr val="252529"/>
                          </a:solidFill>
                          <a:latin typeface="Cambria Math"/>
                        </a:rPr>
                        <m:t>=</m:t>
                      </m:r>
                      <m:r>
                        <a:rPr sz="2000">
                          <a:solidFill>
                            <a:srgbClr val="252529"/>
                          </a:solidFill>
                          <a:latin typeface="Cambria Math"/>
                        </a:rPr>
                        <m:t>𝑎</m:t>
                      </m:r>
                      <m:r>
                        <a:rPr sz="2000">
                          <a:solidFill>
                            <a:srgbClr val="252529"/>
                          </a:solidFill>
                          <a:latin typeface="Cambria Math"/>
                        </a:rPr>
                        <m:t>+</m:t>
                      </m:r>
                      <m:r>
                        <a:rPr sz="2000">
                          <a:solidFill>
                            <a:srgbClr val="252529"/>
                          </a:solidFill>
                          <a:latin typeface="Cambria Math"/>
                        </a:rPr>
                        <m:t>𝑏</m:t>
                      </m:r>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𝑧</m:t>
                      </m:r>
                    </m:oMath>
                  </m:oMathPara>
                </a14:m>
                <a:endParaRPr sz="2000"/>
              </a:p>
            </p:txBody>
          </p:sp>
        </mc:Choice>
        <mc:Fallback>
          <p:sp>
            <p:nvSpPr>
              <p:cNvPr id="124" name="Transformed input"/>
              <p:cNvSpPr>
                <a:spLocks noRot="1" noChangeAspect="1" noMove="1" noResize="1" noEditPoints="1" noAdjustHandles="1" noChangeArrowheads="1" noChangeShapeType="1" noTextEdit="1"/>
              </p:cNvSpPr>
              <p:nvPr/>
            </p:nvSpPr>
            <p:spPr>
              <a:xfrm>
                <a:off x="4635500" y="1295400"/>
                <a:ext cx="4064000" cy="7112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5" name="Transformed output"/>
              <p:cNvSpPr/>
              <p:nvPr/>
            </p:nvSpPr>
            <p:spPr>
              <a:xfrm>
                <a:off x="4603750" y="19431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𝑤</m:t>
                          </m:r>
                        </m:e>
                      </m:acc>
                      <m:r>
                        <a:rPr sz="2000">
                          <a:solidFill>
                            <a:srgbClr val="252529"/>
                          </a:solidFill>
                          <a:latin typeface="Cambria Math"/>
                        </a:rPr>
                        <m:t>=</m:t>
                      </m:r>
                      <m:r>
                        <a:rPr sz="2000">
                          <a:solidFill>
                            <a:srgbClr val="252529"/>
                          </a:solidFill>
                          <a:latin typeface="Cambria Math"/>
                        </a:rPr>
                        <m:t>𝑎</m:t>
                      </m:r>
                      <m:r>
                        <a:rPr sz="2000">
                          <a:solidFill>
                            <a:srgbClr val="252529"/>
                          </a:solidFill>
                          <a:latin typeface="Cambria Math"/>
                        </a:rPr>
                        <m:t>−</m:t>
                      </m:r>
                      <m:r>
                        <a:rPr sz="2000">
                          <a:solidFill>
                            <a:srgbClr val="252529"/>
                          </a:solidFill>
                          <a:latin typeface="Cambria Math"/>
                        </a:rPr>
                        <m:t>𝑏</m:t>
                      </m:r>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𝑧</m:t>
                      </m:r>
                      <m:r>
                        <a:rPr sz="2000">
                          <a:solidFill>
                            <a:srgbClr val="252529"/>
                          </a:solidFill>
                          <a:latin typeface="Cambria Math"/>
                        </a:rPr>
                        <m:t>−2</m:t>
                      </m:r>
                      <m:r>
                        <a:rPr sz="2000">
                          <a:solidFill>
                            <a:srgbClr val="252529"/>
                          </a:solidFill>
                          <a:latin typeface="Cambria Math"/>
                        </a:rPr>
                        <m:t>𝑤</m:t>
                      </m:r>
                    </m:oMath>
                  </m:oMathPara>
                </a14:m>
                <a:endParaRPr sz="2000"/>
              </a:p>
            </p:txBody>
          </p:sp>
        </mc:Choice>
        <mc:Fallback>
          <p:sp>
            <p:nvSpPr>
              <p:cNvPr id="125" name="Transformed output"/>
              <p:cNvSpPr>
                <a:spLocks noRot="1" noChangeAspect="1" noMove="1" noResize="1" noEditPoints="1" noAdjustHandles="1" noChangeArrowheads="1" noChangeShapeType="1" noTextEdit="1"/>
              </p:cNvSpPr>
              <p:nvPr/>
            </p:nvSpPr>
            <p:spPr>
              <a:xfrm>
                <a:off x="4603750" y="1943100"/>
                <a:ext cx="4127500" cy="7112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6" name="Contraction"/>
              <p:cNvSpPr/>
              <p:nvPr/>
            </p:nvSpPr>
            <p:spPr>
              <a:xfrm>
                <a:off x="5080000" y="2562860"/>
                <a:ext cx="31750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acc>
                            <m:accPr>
                              <m:chr m:val="̃"/>
                              <m:ctrlPr>
                                <a:rPr sz="2300">
                                  <a:solidFill>
                                    <a:srgbClr val="252529"/>
                                  </a:solidFill>
                                  <a:latin typeface="Cambria Math"/>
                                </a:rPr>
                              </m:ctrlPr>
                            </m:accPr>
                            <m:e>
                              <m:r>
                                <a:rPr sz="2300">
                                  <a:solidFill>
                                    <a:srgbClr val="252529"/>
                                  </a:solidFill>
                                  <a:latin typeface="Cambria Math"/>
                                </a:rPr>
                                <m:t>𝑤</m:t>
                              </m:r>
                            </m:e>
                          </m:acc>
                        </m:e>
                      </m:d>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acc>
                            <m:accPr>
                              <m:chr m:val="̃"/>
                              <m:ctrlPr>
                                <a:rPr sz="2300">
                                  <a:solidFill>
                                    <a:srgbClr val="252529"/>
                                  </a:solidFill>
                                  <a:latin typeface="Cambria Math"/>
                                </a:rPr>
                              </m:ctrlPr>
                            </m:accPr>
                            <m:e>
                              <m:r>
                                <a:rPr sz="2300">
                                  <a:solidFill>
                                    <a:srgbClr val="252529"/>
                                  </a:solidFill>
                                  <a:latin typeface="Cambria Math"/>
                                </a:rPr>
                                <m:t>𝑧</m:t>
                              </m:r>
                            </m:e>
                          </m:acc>
                        </m:e>
                      </m:d>
                    </m:oMath>
                  </m:oMathPara>
                </a14:m>
                <a:endParaRPr sz="2300"/>
              </a:p>
            </p:txBody>
          </p:sp>
        </mc:Choice>
        <mc:Fallback>
          <p:sp>
            <p:nvSpPr>
              <p:cNvPr id="126" name="Contraction"/>
              <p:cNvSpPr>
                <a:spLocks noRot="1" noChangeAspect="1" noMove="1" noResize="1" noEditPoints="1" noAdjustHandles="1" noChangeArrowheads="1" noChangeShapeType="1" noTextEdit="1"/>
              </p:cNvSpPr>
              <p:nvPr/>
            </p:nvSpPr>
            <p:spPr>
              <a:xfrm>
                <a:off x="5080000" y="2562860"/>
                <a:ext cx="3175000" cy="8178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7" name="Complete filter"/>
              <p:cNvSpPr/>
              <p:nvPr/>
            </p:nvSpPr>
            <p:spPr>
              <a:xfrm>
                <a:off x="381000" y="37769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d>
                        <m:dPr>
                          <m:begChr m:val="["/>
                          <m:endChr m:val="]"/>
                          <m:ctrlPr>
                            <a:rPr sz="1900" i="1">
                              <a:solidFill>
                                <a:srgbClr val="252529"/>
                              </a:solidFill>
                              <a:latin typeface="Cambria Math" panose="02040503050406030204" pitchFamily="18" charset="0"/>
                            </a:rPr>
                          </m:ctrlPr>
                        </m:dPr>
                        <m:e>
                          <m:m>
                            <m:mPr>
                              <m:mcs>
                                <m:mc>
                                  <m:mcPr>
                                    <m:count m:val="2"/>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1</m:t>
                                </m:r>
                              </m:e>
                              <m:e>
                                <m:r>
                                  <a:rPr sz="1900">
                                    <a:solidFill>
                                      <a:srgbClr val="252529"/>
                                    </a:solidFill>
                                    <a:latin typeface="Cambria Math"/>
                                  </a:rPr>
                                  <m:t>1</m:t>
                                </m:r>
                              </m:e>
                            </m:mr>
                            <m:mr>
                              <m:e>
                                <m:r>
                                  <a:rPr sz="1900">
                                    <a:solidFill>
                                      <a:srgbClr val="252529"/>
                                    </a:solidFill>
                                    <a:latin typeface="Cambria Math"/>
                                  </a:rPr>
                                  <m:t>1</m:t>
                                </m:r>
                              </m:e>
                              <m:e>
                                <m:r>
                                  <a:rPr sz="1900">
                                    <a:solidFill>
                                      <a:srgbClr val="252529"/>
                                    </a:solidFill>
                                    <a:latin typeface="Cambria Math"/>
                                  </a:rPr>
                                  <m:t>−1</m:t>
                                </m:r>
                              </m:e>
                            </m:mr>
                          </m:m>
                        </m:e>
                      </m:d>
                      <m:d>
                        <m:dPr>
                          <m:begChr m:val="["/>
                          <m:endChr m:val="]"/>
                          <m:ctrlPr>
                            <a:rPr sz="1900" i="1">
                              <a:solidFill>
                                <a:srgbClr val="252529"/>
                              </a:solidFill>
                              <a:latin typeface="Cambria Math" panose="02040503050406030204" pitchFamily="18" charset="0"/>
                            </a:rPr>
                          </m:ctrlPr>
                        </m:dPr>
                        <m:e>
                          <m:m>
                            <m:mPr>
                              <m:mcs>
                                <m:mc>
                                  <m:mcPr>
                                    <m:count m:val="2"/>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𝛽</m:t>
                                </m:r>
                              </m:e>
                              <m:e>
                                <m:r>
                                  <a:rPr sz="1900">
                                    <a:solidFill>
                                      <a:srgbClr val="252529"/>
                                    </a:solidFill>
                                    <a:latin typeface="Cambria Math"/>
                                  </a:rPr>
                                  <m:t>−1</m:t>
                                </m:r>
                              </m:e>
                            </m:mr>
                            <m:mr>
                              <m:e>
                                <m:r>
                                  <a:rPr sz="1900">
                                    <a:solidFill>
                                      <a:srgbClr val="252529"/>
                                    </a:solidFill>
                                    <a:latin typeface="Cambria Math"/>
                                  </a:rPr>
                                  <m:t>0</m:t>
                                </m:r>
                              </m:e>
                              <m:e>
                                <m:r>
                                  <a:rPr sz="1900">
                                    <a:solidFill>
                                      <a:srgbClr val="252529"/>
                                    </a:solidFill>
                                    <a:latin typeface="Cambria Math"/>
                                  </a:rPr>
                                  <m:t>1</m:t>
                                </m:r>
                              </m:e>
                            </m:mr>
                          </m:m>
                        </m:e>
                      </m:d>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a:p>
            </p:txBody>
          </p:sp>
        </mc:Choice>
        <mc:Fallback>
          <p:sp>
            <p:nvSpPr>
              <p:cNvPr id="127" name="Complete filter"/>
              <p:cNvSpPr>
                <a:spLocks noRot="1" noChangeAspect="1" noMove="1" noResize="1" noEditPoints="1" noAdjustHandles="1" noChangeArrowheads="1" noChangeShapeType="1" noTextEdit="1"/>
              </p:cNvSpPr>
              <p:nvPr/>
            </p:nvSpPr>
            <p:spPr>
              <a:xfrm>
                <a:off x="381000" y="3776980"/>
                <a:ext cx="8382000" cy="675640"/>
              </a:xfrm>
              <a:prstGeom prst="rect">
                <a:avLst/>
              </a:prstGeom>
              <a:blipFill>
                <a:blip r:embed="rId10"/>
                <a:stretch>
                  <a:fillRect/>
                </a:stretch>
              </a:blipFill>
              <a:ln>
                <a:noFill/>
              </a:ln>
            </p:spPr>
            <p:txBody>
              <a:bodyPr/>
              <a:lstStyle/>
              <a:p>
                <a:r>
                  <a:rPr lang="en-NL">
                    <a:noFill/>
                  </a:rPr>
                  <a:t> </a:t>
                </a:r>
              </a:p>
            </p:txBody>
          </p:sp>
        </mc:Fallback>
      </mc:AlternateContent>
      <p:sp>
        <p:nvSpPr>
          <p:cNvPr id="128" name="Scaling choice"/>
          <p:cNvSpPr/>
          <p:nvPr/>
        </p:nvSpPr>
        <p:spPr>
          <a:xfrm>
            <a:off x="444500" y="4511675"/>
            <a:ext cx="8255000" cy="247650"/>
          </a:xfrm>
          <a:prstGeom prst="rect">
            <a:avLst/>
          </a:prstGeom>
          <a:noFill/>
          <a:ln>
            <a:noFill/>
          </a:ln>
        </p:spPr>
        <p:txBody>
          <a:bodyPr wrap="none" lIns="0" tIns="0" rIns="0" bIns="0" anchor="ctr">
            <a:noAutofit/>
          </a:bodyPr>
          <a:lstStyle/>
          <a:p>
            <a:pPr algn="ctr">
              <a:buNone/>
            </a:pPr>
            <a:r>
              <a:rPr lang="en-GB" sz="1300" b="0" i="0" u="none" baseline="0">
                <a:solidFill>
                  <a:srgbClr val="747B82"/>
                </a:solidFill>
                <a:latin typeface="Aptos"/>
                <a:ea typeface="Aptos"/>
                <a:cs typeface="Aptos"/>
              </a:rPr>
              <a:t>Choose unit scaling: the transformed input depends only on z.</a:t>
            </a:r>
            <a:endParaRPr sz="1300"/>
          </a:p>
        </p:txBody>
      </p:sp>
      <p:sp>
        <p:nvSpPr>
          <p:cNvPr id="12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3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p:nvPr/>
        </p:nvSpPr>
        <p:spPr>
          <a:xfrm>
            <a:off x="457200" y="365125"/>
            <a:ext cx="8229600" cy="438150"/>
          </a:xfrm>
          <a:prstGeom prst="rect">
            <a:avLst/>
          </a:prstGeom>
          <a:noFill/>
          <a:ln>
            <a:noFill/>
          </a:ln>
        </p:spPr>
        <p:txBody>
          <a:bodyPr wrap="none" lIns="0" tIns="0" rIns="0" bIns="0" anchor="ctr">
            <a:noAutofit/>
          </a:bodyPr>
          <a:lstStyle/>
          <a:p>
            <a:pPr algn="l">
              <a:buNone/>
            </a:pPr>
            <a:r>
              <a:rPr lang="en-GB" sz="2300" b="1" i="0" u="none" baseline="0">
                <a:solidFill>
                  <a:srgbClr val="252529"/>
                </a:solidFill>
                <a:latin typeface="Aptos"/>
                <a:ea typeface="Aptos"/>
                <a:cs typeface="Aptos"/>
              </a:rPr>
              <a:t>The transformed nonlinearity is dissipative</a:t>
            </a:r>
            <a:endParaRPr sz="2300"/>
          </a:p>
        </p:txBody>
      </p:sp>
      <p:sp>
        <p:nvSpPr>
          <p:cNvPr id="102" name="Global sector [0, beta]"/>
          <p:cNvSpPr/>
          <p:nvPr/>
        </p:nvSpPr>
        <p:spPr>
          <a:xfrm>
            <a:off x="660400" y="22860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03" name="Global sector [0, beta]"/>
          <p:cNvSpPr/>
          <p:nvPr/>
        </p:nvSpPr>
        <p:spPr>
          <a:xfrm>
            <a:off x="2374900" y="13532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04" name="Input axis"/>
          <p:cNvSpPr/>
          <p:nvPr/>
        </p:nvSpPr>
        <p:spPr>
          <a:xfrm>
            <a:off x="574675" y="2286000"/>
            <a:ext cx="3694430" cy="25400"/>
          </a:xfrm>
          <a:custGeom>
            <a:avLst/>
            <a:gdLst/>
            <a:ahLst/>
            <a:cxnLst/>
            <a:rect l="0" t="0" r="r" b="b"/>
            <a:pathLst>
              <a:path w="3694430" h="25400" fill="none">
                <a:moveTo>
                  <a:pt x="12700" y="12700"/>
                </a:moveTo>
                <a:lnTo>
                  <a:pt x="3681730" y="12700"/>
                </a:lnTo>
              </a:path>
            </a:pathLst>
          </a:custGeom>
          <a:noFill/>
          <a:ln w="8890">
            <a:solidFill>
              <a:srgbClr val="A9ADB2"/>
            </a:solidFill>
            <a:round/>
            <a:tailEnd type="triangle" w="sm" len="sm"/>
          </a:ln>
        </p:spPr>
      </p:sp>
      <p:sp>
        <p:nvSpPr>
          <p:cNvPr id="105" name="Output axis"/>
          <p:cNvSpPr/>
          <p:nvPr/>
        </p:nvSpPr>
        <p:spPr>
          <a:xfrm>
            <a:off x="2374900" y="12192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06" name="Upper sector boundary"/>
          <p:cNvSpPr/>
          <p:nvPr/>
        </p:nvSpPr>
        <p:spPr>
          <a:xfrm>
            <a:off x="660400" y="1353297"/>
            <a:ext cx="3454400" cy="1890807"/>
          </a:xfrm>
          <a:custGeom>
            <a:avLst/>
            <a:gdLst/>
            <a:ahLst/>
            <a:cxnLst/>
            <a:rect l="0" t="0" r="r" b="b"/>
            <a:pathLst>
              <a:path w="3454400" h="1890807" fill="none">
                <a:moveTo>
                  <a:pt x="12700" y="1878107"/>
                </a:moveTo>
                <a:lnTo>
                  <a:pt x="3441700" y="12700"/>
                </a:lnTo>
              </a:path>
            </a:pathLst>
          </a:custGeom>
          <a:noFill/>
          <a:ln w="11430">
            <a:solidFill>
              <a:srgbClr val="747B82"/>
            </a:solidFill>
          </a:ln>
        </p:spPr>
      </p:sp>
      <p:sp>
        <p:nvSpPr>
          <p:cNvPr id="107" name="Shifted STN sigmoid"/>
          <p:cNvSpPr/>
          <p:nvPr/>
        </p:nvSpPr>
        <p:spPr>
          <a:xfrm>
            <a:off x="660400" y="1588959"/>
            <a:ext cx="3454400" cy="774294"/>
          </a:xfrm>
          <a:custGeom>
            <a:avLst/>
            <a:gdLst/>
            <a:ahLst/>
            <a:cxnLst/>
            <a:rect l="0" t="0" r="r" b="b"/>
            <a:pathLst>
              <a:path w="3454400" h="774294" fill="none">
                <a:moveTo>
                  <a:pt x="12700" y="761594"/>
                </a:moveTo>
                <a:lnTo>
                  <a:pt x="26988" y="761590"/>
                </a:lnTo>
                <a:lnTo>
                  <a:pt x="41275" y="761586"/>
                </a:lnTo>
                <a:lnTo>
                  <a:pt x="55562" y="761582"/>
                </a:lnTo>
                <a:lnTo>
                  <a:pt x="69850" y="761577"/>
                </a:lnTo>
                <a:lnTo>
                  <a:pt x="84138" y="761572"/>
                </a:lnTo>
                <a:lnTo>
                  <a:pt x="98425" y="761566"/>
                </a:lnTo>
                <a:lnTo>
                  <a:pt x="112712" y="761561"/>
                </a:lnTo>
                <a:lnTo>
                  <a:pt x="127000" y="761555"/>
                </a:lnTo>
                <a:lnTo>
                  <a:pt x="141287" y="761548"/>
                </a:lnTo>
                <a:lnTo>
                  <a:pt x="155575" y="761542"/>
                </a:lnTo>
                <a:lnTo>
                  <a:pt x="169862" y="761535"/>
                </a:lnTo>
                <a:lnTo>
                  <a:pt x="184150" y="761527"/>
                </a:lnTo>
                <a:lnTo>
                  <a:pt x="198438" y="761519"/>
                </a:lnTo>
                <a:lnTo>
                  <a:pt x="212725" y="761511"/>
                </a:lnTo>
                <a:lnTo>
                  <a:pt x="227012" y="761502"/>
                </a:lnTo>
                <a:lnTo>
                  <a:pt x="241300" y="761493"/>
                </a:lnTo>
                <a:lnTo>
                  <a:pt x="255588" y="761483"/>
                </a:lnTo>
                <a:lnTo>
                  <a:pt x="269875" y="761473"/>
                </a:lnTo>
                <a:lnTo>
                  <a:pt x="284162" y="761462"/>
                </a:lnTo>
                <a:lnTo>
                  <a:pt x="298450" y="761450"/>
                </a:lnTo>
                <a:lnTo>
                  <a:pt x="312737" y="761438"/>
                </a:lnTo>
                <a:lnTo>
                  <a:pt x="327025" y="761425"/>
                </a:lnTo>
                <a:lnTo>
                  <a:pt x="341312" y="761411"/>
                </a:lnTo>
                <a:lnTo>
                  <a:pt x="355600" y="761396"/>
                </a:lnTo>
                <a:lnTo>
                  <a:pt x="369888" y="761381"/>
                </a:lnTo>
                <a:lnTo>
                  <a:pt x="384175" y="761365"/>
                </a:lnTo>
                <a:lnTo>
                  <a:pt x="398462" y="761348"/>
                </a:lnTo>
                <a:lnTo>
                  <a:pt x="412750" y="761329"/>
                </a:lnTo>
                <a:lnTo>
                  <a:pt x="427038" y="761310"/>
                </a:lnTo>
                <a:lnTo>
                  <a:pt x="441325" y="761290"/>
                </a:lnTo>
                <a:lnTo>
                  <a:pt x="455612" y="761269"/>
                </a:lnTo>
                <a:lnTo>
                  <a:pt x="469900" y="761246"/>
                </a:lnTo>
                <a:lnTo>
                  <a:pt x="484188" y="761222"/>
                </a:lnTo>
                <a:lnTo>
                  <a:pt x="498475" y="761197"/>
                </a:lnTo>
                <a:lnTo>
                  <a:pt x="512762" y="761170"/>
                </a:lnTo>
                <a:lnTo>
                  <a:pt x="527050" y="761142"/>
                </a:lnTo>
                <a:lnTo>
                  <a:pt x="541338" y="761112"/>
                </a:lnTo>
                <a:lnTo>
                  <a:pt x="555625" y="761080"/>
                </a:lnTo>
                <a:lnTo>
                  <a:pt x="569912" y="761047"/>
                </a:lnTo>
                <a:lnTo>
                  <a:pt x="584200" y="761011"/>
                </a:lnTo>
                <a:lnTo>
                  <a:pt x="598488" y="760974"/>
                </a:lnTo>
                <a:lnTo>
                  <a:pt x="612775" y="760935"/>
                </a:lnTo>
                <a:lnTo>
                  <a:pt x="627062" y="760893"/>
                </a:lnTo>
                <a:lnTo>
                  <a:pt x="641350" y="760849"/>
                </a:lnTo>
                <a:lnTo>
                  <a:pt x="655638" y="760802"/>
                </a:lnTo>
                <a:lnTo>
                  <a:pt x="669925" y="760753"/>
                </a:lnTo>
                <a:lnTo>
                  <a:pt x="684212" y="760701"/>
                </a:lnTo>
                <a:lnTo>
                  <a:pt x="698500" y="760646"/>
                </a:lnTo>
                <a:lnTo>
                  <a:pt x="712788" y="760588"/>
                </a:lnTo>
                <a:lnTo>
                  <a:pt x="727075" y="760526"/>
                </a:lnTo>
                <a:lnTo>
                  <a:pt x="741362" y="760462"/>
                </a:lnTo>
                <a:lnTo>
                  <a:pt x="755650" y="760393"/>
                </a:lnTo>
                <a:lnTo>
                  <a:pt x="769938" y="760320"/>
                </a:lnTo>
                <a:lnTo>
                  <a:pt x="784225" y="760244"/>
                </a:lnTo>
                <a:lnTo>
                  <a:pt x="798512" y="760163"/>
                </a:lnTo>
                <a:lnTo>
                  <a:pt x="812800" y="760077"/>
                </a:lnTo>
                <a:lnTo>
                  <a:pt x="827088" y="759986"/>
                </a:lnTo>
                <a:lnTo>
                  <a:pt x="841375" y="759891"/>
                </a:lnTo>
                <a:lnTo>
                  <a:pt x="855662" y="759790"/>
                </a:lnTo>
                <a:lnTo>
                  <a:pt x="869950" y="759683"/>
                </a:lnTo>
                <a:lnTo>
                  <a:pt x="884238" y="759570"/>
                </a:lnTo>
                <a:lnTo>
                  <a:pt x="898525" y="759450"/>
                </a:lnTo>
                <a:lnTo>
                  <a:pt x="912812" y="759324"/>
                </a:lnTo>
                <a:lnTo>
                  <a:pt x="927100" y="759191"/>
                </a:lnTo>
                <a:lnTo>
                  <a:pt x="941388" y="759050"/>
                </a:lnTo>
                <a:lnTo>
                  <a:pt x="955675" y="758901"/>
                </a:lnTo>
                <a:lnTo>
                  <a:pt x="969962" y="758744"/>
                </a:lnTo>
                <a:lnTo>
                  <a:pt x="984250" y="758578"/>
                </a:lnTo>
                <a:lnTo>
                  <a:pt x="998538" y="758402"/>
                </a:lnTo>
                <a:lnTo>
                  <a:pt x="1012825" y="758216"/>
                </a:lnTo>
                <a:lnTo>
                  <a:pt x="1027112" y="758020"/>
                </a:lnTo>
                <a:lnTo>
                  <a:pt x="1041400" y="757813"/>
                </a:lnTo>
                <a:lnTo>
                  <a:pt x="1055688" y="757594"/>
                </a:lnTo>
                <a:lnTo>
                  <a:pt x="1069975" y="757363"/>
                </a:lnTo>
                <a:lnTo>
                  <a:pt x="1084262" y="757119"/>
                </a:lnTo>
                <a:lnTo>
                  <a:pt x="1098550" y="756861"/>
                </a:lnTo>
                <a:lnTo>
                  <a:pt x="1112838" y="756588"/>
                </a:lnTo>
                <a:lnTo>
                  <a:pt x="1127125" y="756300"/>
                </a:lnTo>
                <a:lnTo>
                  <a:pt x="1141412" y="755996"/>
                </a:lnTo>
                <a:lnTo>
                  <a:pt x="1155700" y="755674"/>
                </a:lnTo>
                <a:lnTo>
                  <a:pt x="1169988" y="755335"/>
                </a:lnTo>
                <a:lnTo>
                  <a:pt x="1184275" y="754977"/>
                </a:lnTo>
                <a:lnTo>
                  <a:pt x="1198562" y="754598"/>
                </a:lnTo>
                <a:lnTo>
                  <a:pt x="1212850" y="754198"/>
                </a:lnTo>
                <a:lnTo>
                  <a:pt x="1227138" y="753776"/>
                </a:lnTo>
                <a:lnTo>
                  <a:pt x="1241425" y="753330"/>
                </a:lnTo>
                <a:lnTo>
                  <a:pt x="1255712" y="752860"/>
                </a:lnTo>
                <a:lnTo>
                  <a:pt x="1270000" y="752363"/>
                </a:lnTo>
                <a:lnTo>
                  <a:pt x="1284288" y="751838"/>
                </a:lnTo>
                <a:lnTo>
                  <a:pt x="1298575" y="751284"/>
                </a:lnTo>
                <a:lnTo>
                  <a:pt x="1312862" y="750700"/>
                </a:lnTo>
                <a:lnTo>
                  <a:pt x="1327150" y="750083"/>
                </a:lnTo>
                <a:lnTo>
                  <a:pt x="1341438" y="749432"/>
                </a:lnTo>
                <a:lnTo>
                  <a:pt x="1355725" y="748745"/>
                </a:lnTo>
                <a:lnTo>
                  <a:pt x="1370012" y="748020"/>
                </a:lnTo>
                <a:lnTo>
                  <a:pt x="1384300" y="747255"/>
                </a:lnTo>
                <a:lnTo>
                  <a:pt x="1398588" y="746448"/>
                </a:lnTo>
                <a:lnTo>
                  <a:pt x="1412875" y="745597"/>
                </a:lnTo>
                <a:lnTo>
                  <a:pt x="1427162" y="744700"/>
                </a:lnTo>
                <a:lnTo>
                  <a:pt x="1441450" y="743754"/>
                </a:lnTo>
                <a:lnTo>
                  <a:pt x="1455738" y="742756"/>
                </a:lnTo>
                <a:lnTo>
                  <a:pt x="1470025" y="741704"/>
                </a:lnTo>
                <a:lnTo>
                  <a:pt x="1484312" y="740595"/>
                </a:lnTo>
                <a:lnTo>
                  <a:pt x="1498600" y="739426"/>
                </a:lnTo>
                <a:lnTo>
                  <a:pt x="1512888" y="738195"/>
                </a:lnTo>
                <a:lnTo>
                  <a:pt x="1527175" y="736898"/>
                </a:lnTo>
                <a:lnTo>
                  <a:pt x="1541462" y="735531"/>
                </a:lnTo>
                <a:lnTo>
                  <a:pt x="1555750" y="734092"/>
                </a:lnTo>
                <a:lnTo>
                  <a:pt x="1570038" y="732577"/>
                </a:lnTo>
                <a:lnTo>
                  <a:pt x="1584325" y="730983"/>
                </a:lnTo>
                <a:lnTo>
                  <a:pt x="1598612" y="729304"/>
                </a:lnTo>
                <a:lnTo>
                  <a:pt x="1612900" y="727538"/>
                </a:lnTo>
                <a:lnTo>
                  <a:pt x="1627188" y="725681"/>
                </a:lnTo>
                <a:lnTo>
                  <a:pt x="1641475" y="723727"/>
                </a:lnTo>
                <a:lnTo>
                  <a:pt x="1655762" y="721674"/>
                </a:lnTo>
                <a:lnTo>
                  <a:pt x="1670050" y="719515"/>
                </a:lnTo>
                <a:lnTo>
                  <a:pt x="1684338" y="717248"/>
                </a:lnTo>
                <a:lnTo>
                  <a:pt x="1698625" y="714866"/>
                </a:lnTo>
                <a:lnTo>
                  <a:pt x="1712912" y="712366"/>
                </a:lnTo>
                <a:lnTo>
                  <a:pt x="1727200" y="709741"/>
                </a:lnTo>
                <a:lnTo>
                  <a:pt x="1741488" y="706988"/>
                </a:lnTo>
                <a:lnTo>
                  <a:pt x="1755775" y="704100"/>
                </a:lnTo>
                <a:lnTo>
                  <a:pt x="1770062" y="701073"/>
                </a:lnTo>
                <a:lnTo>
                  <a:pt x="1784350" y="697901"/>
                </a:lnTo>
                <a:lnTo>
                  <a:pt x="1798638" y="694579"/>
                </a:lnTo>
                <a:lnTo>
                  <a:pt x="1812925" y="691102"/>
                </a:lnTo>
                <a:lnTo>
                  <a:pt x="1827213" y="687463"/>
                </a:lnTo>
                <a:lnTo>
                  <a:pt x="1841500" y="683658"/>
                </a:lnTo>
                <a:lnTo>
                  <a:pt x="1855788" y="679681"/>
                </a:lnTo>
                <a:lnTo>
                  <a:pt x="1870075" y="675527"/>
                </a:lnTo>
                <a:lnTo>
                  <a:pt x="1884362" y="671190"/>
                </a:lnTo>
                <a:lnTo>
                  <a:pt x="1898650" y="666666"/>
                </a:lnTo>
                <a:lnTo>
                  <a:pt x="1912938" y="661949"/>
                </a:lnTo>
                <a:lnTo>
                  <a:pt x="1927225" y="657035"/>
                </a:lnTo>
                <a:lnTo>
                  <a:pt x="1941512" y="651919"/>
                </a:lnTo>
                <a:lnTo>
                  <a:pt x="1955800" y="646596"/>
                </a:lnTo>
                <a:lnTo>
                  <a:pt x="1970088" y="641062"/>
                </a:lnTo>
                <a:lnTo>
                  <a:pt x="1984375" y="635315"/>
                </a:lnTo>
                <a:lnTo>
                  <a:pt x="1998663" y="629350"/>
                </a:lnTo>
                <a:lnTo>
                  <a:pt x="2012950" y="623165"/>
                </a:lnTo>
                <a:lnTo>
                  <a:pt x="2027238" y="616758"/>
                </a:lnTo>
                <a:lnTo>
                  <a:pt x="2041525" y="610126"/>
                </a:lnTo>
                <a:lnTo>
                  <a:pt x="2055812" y="603268"/>
                </a:lnTo>
                <a:lnTo>
                  <a:pt x="2070100" y="596185"/>
                </a:lnTo>
                <a:lnTo>
                  <a:pt x="2084388" y="588875"/>
                </a:lnTo>
                <a:lnTo>
                  <a:pt x="2098675" y="581340"/>
                </a:lnTo>
                <a:lnTo>
                  <a:pt x="2112962" y="573581"/>
                </a:lnTo>
                <a:lnTo>
                  <a:pt x="2127250" y="565601"/>
                </a:lnTo>
                <a:lnTo>
                  <a:pt x="2141538" y="557402"/>
                </a:lnTo>
                <a:lnTo>
                  <a:pt x="2155825" y="548990"/>
                </a:lnTo>
                <a:lnTo>
                  <a:pt x="2170113" y="540369"/>
                </a:lnTo>
                <a:lnTo>
                  <a:pt x="2184400" y="531545"/>
                </a:lnTo>
                <a:lnTo>
                  <a:pt x="2198688" y="522524"/>
                </a:lnTo>
                <a:lnTo>
                  <a:pt x="2212975" y="513315"/>
                </a:lnTo>
                <a:lnTo>
                  <a:pt x="2227262" y="503926"/>
                </a:lnTo>
                <a:lnTo>
                  <a:pt x="2241550" y="494367"/>
                </a:lnTo>
                <a:lnTo>
                  <a:pt x="2255838" y="484648"/>
                </a:lnTo>
                <a:lnTo>
                  <a:pt x="2270125" y="474781"/>
                </a:lnTo>
                <a:lnTo>
                  <a:pt x="2284412" y="464777"/>
                </a:lnTo>
                <a:lnTo>
                  <a:pt x="2298700" y="454650"/>
                </a:lnTo>
                <a:lnTo>
                  <a:pt x="2312988" y="444414"/>
                </a:lnTo>
                <a:lnTo>
                  <a:pt x="2327275" y="434081"/>
                </a:lnTo>
                <a:lnTo>
                  <a:pt x="2341563" y="423668"/>
                </a:lnTo>
                <a:lnTo>
                  <a:pt x="2355850" y="413189"/>
                </a:lnTo>
                <a:lnTo>
                  <a:pt x="2370138" y="402661"/>
                </a:lnTo>
                <a:lnTo>
                  <a:pt x="2384425" y="392099"/>
                </a:lnTo>
                <a:lnTo>
                  <a:pt x="2398712" y="381519"/>
                </a:lnTo>
                <a:lnTo>
                  <a:pt x="2413000" y="370937"/>
                </a:lnTo>
                <a:lnTo>
                  <a:pt x="2427288" y="360371"/>
                </a:lnTo>
                <a:lnTo>
                  <a:pt x="2441575" y="349836"/>
                </a:lnTo>
                <a:lnTo>
                  <a:pt x="2455862" y="339348"/>
                </a:lnTo>
                <a:lnTo>
                  <a:pt x="2470150" y="328924"/>
                </a:lnTo>
                <a:lnTo>
                  <a:pt x="2484438" y="318577"/>
                </a:lnTo>
                <a:lnTo>
                  <a:pt x="2498725" y="308324"/>
                </a:lnTo>
                <a:lnTo>
                  <a:pt x="2513013" y="298178"/>
                </a:lnTo>
                <a:lnTo>
                  <a:pt x="2527300" y="288154"/>
                </a:lnTo>
                <a:lnTo>
                  <a:pt x="2541588" y="278264"/>
                </a:lnTo>
                <a:lnTo>
                  <a:pt x="2555875" y="268520"/>
                </a:lnTo>
                <a:lnTo>
                  <a:pt x="2570162" y="258935"/>
                </a:lnTo>
                <a:lnTo>
                  <a:pt x="2584450" y="249518"/>
                </a:lnTo>
                <a:lnTo>
                  <a:pt x="2598738" y="240279"/>
                </a:lnTo>
                <a:lnTo>
                  <a:pt x="2613025" y="231228"/>
                </a:lnTo>
                <a:lnTo>
                  <a:pt x="2627312" y="222371"/>
                </a:lnTo>
                <a:lnTo>
                  <a:pt x="2641600" y="213717"/>
                </a:lnTo>
                <a:lnTo>
                  <a:pt x="2655888" y="205271"/>
                </a:lnTo>
                <a:lnTo>
                  <a:pt x="2670175" y="197037"/>
                </a:lnTo>
                <a:lnTo>
                  <a:pt x="2684462" y="189022"/>
                </a:lnTo>
                <a:lnTo>
                  <a:pt x="2698750" y="181227"/>
                </a:lnTo>
                <a:lnTo>
                  <a:pt x="2713038" y="173656"/>
                </a:lnTo>
                <a:lnTo>
                  <a:pt x="2727325" y="166310"/>
                </a:lnTo>
                <a:lnTo>
                  <a:pt x="2741612" y="159189"/>
                </a:lnTo>
                <a:lnTo>
                  <a:pt x="2755900" y="152295"/>
                </a:lnTo>
                <a:lnTo>
                  <a:pt x="2770188" y="145627"/>
                </a:lnTo>
                <a:lnTo>
                  <a:pt x="2784475" y="139183"/>
                </a:lnTo>
                <a:lnTo>
                  <a:pt x="2798763" y="132963"/>
                </a:lnTo>
                <a:lnTo>
                  <a:pt x="2813050" y="126963"/>
                </a:lnTo>
                <a:lnTo>
                  <a:pt x="2827338" y="121180"/>
                </a:lnTo>
                <a:lnTo>
                  <a:pt x="2841625" y="115613"/>
                </a:lnTo>
                <a:lnTo>
                  <a:pt x="2855912" y="110256"/>
                </a:lnTo>
                <a:lnTo>
                  <a:pt x="2870200" y="105107"/>
                </a:lnTo>
                <a:lnTo>
                  <a:pt x="2884488" y="100160"/>
                </a:lnTo>
                <a:lnTo>
                  <a:pt x="2898775" y="95412"/>
                </a:lnTo>
                <a:lnTo>
                  <a:pt x="2913062" y="90857"/>
                </a:lnTo>
                <a:lnTo>
                  <a:pt x="2927350" y="86490"/>
                </a:lnTo>
                <a:lnTo>
                  <a:pt x="2941638" y="82307"/>
                </a:lnTo>
                <a:lnTo>
                  <a:pt x="2955925" y="78302"/>
                </a:lnTo>
                <a:lnTo>
                  <a:pt x="2970213" y="74470"/>
                </a:lnTo>
                <a:lnTo>
                  <a:pt x="2984500" y="70805"/>
                </a:lnTo>
                <a:lnTo>
                  <a:pt x="2998788" y="67301"/>
                </a:lnTo>
                <a:lnTo>
                  <a:pt x="3013075" y="63955"/>
                </a:lnTo>
                <a:lnTo>
                  <a:pt x="3027362" y="60759"/>
                </a:lnTo>
                <a:lnTo>
                  <a:pt x="3041650" y="57709"/>
                </a:lnTo>
                <a:lnTo>
                  <a:pt x="3055938" y="54799"/>
                </a:lnTo>
                <a:lnTo>
                  <a:pt x="3070225" y="52024"/>
                </a:lnTo>
                <a:lnTo>
                  <a:pt x="3084512" y="49380"/>
                </a:lnTo>
                <a:lnTo>
                  <a:pt x="3098800" y="46859"/>
                </a:lnTo>
                <a:lnTo>
                  <a:pt x="3113088" y="44459"/>
                </a:lnTo>
                <a:lnTo>
                  <a:pt x="3127375" y="42173"/>
                </a:lnTo>
                <a:lnTo>
                  <a:pt x="3141663" y="39998"/>
                </a:lnTo>
                <a:lnTo>
                  <a:pt x="3155950" y="37928"/>
                </a:lnTo>
                <a:lnTo>
                  <a:pt x="3170238" y="35958"/>
                </a:lnTo>
                <a:lnTo>
                  <a:pt x="3184525" y="34086"/>
                </a:lnTo>
                <a:lnTo>
                  <a:pt x="3198812" y="32305"/>
                </a:lnTo>
                <a:lnTo>
                  <a:pt x="3213100" y="30613"/>
                </a:lnTo>
                <a:lnTo>
                  <a:pt x="3227388" y="29005"/>
                </a:lnTo>
                <a:lnTo>
                  <a:pt x="3241675" y="27477"/>
                </a:lnTo>
                <a:lnTo>
                  <a:pt x="3255962" y="26026"/>
                </a:lnTo>
                <a:lnTo>
                  <a:pt x="3270250" y="24648"/>
                </a:lnTo>
                <a:lnTo>
                  <a:pt x="3284538" y="23340"/>
                </a:lnTo>
                <a:lnTo>
                  <a:pt x="3298825" y="22099"/>
                </a:lnTo>
                <a:lnTo>
                  <a:pt x="3313113" y="20920"/>
                </a:lnTo>
                <a:lnTo>
                  <a:pt x="3327400" y="19802"/>
                </a:lnTo>
                <a:lnTo>
                  <a:pt x="3341688" y="18741"/>
                </a:lnTo>
                <a:lnTo>
                  <a:pt x="3355975" y="17734"/>
                </a:lnTo>
                <a:lnTo>
                  <a:pt x="3370262" y="16780"/>
                </a:lnTo>
                <a:lnTo>
                  <a:pt x="3384550" y="15875"/>
                </a:lnTo>
                <a:lnTo>
                  <a:pt x="3398838" y="15016"/>
                </a:lnTo>
                <a:lnTo>
                  <a:pt x="3413125" y="14203"/>
                </a:lnTo>
                <a:lnTo>
                  <a:pt x="3427412" y="13431"/>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08" name="Graph input"/>
              <p:cNvSpPr/>
              <p:nvPr/>
            </p:nvSpPr>
            <p:spPr>
              <a:xfrm>
                <a:off x="4184650" y="2123440"/>
                <a:ext cx="317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p:sp>
            <p:nvSpPr>
              <p:cNvPr id="108" name="Graph input"/>
              <p:cNvSpPr>
                <a:spLocks noRot="1" noChangeAspect="1" noMove="1" noResize="1" noEditPoints="1" noAdjustHandles="1" noChangeArrowheads="1" noChangeShapeType="1" noTextEdit="1"/>
              </p:cNvSpPr>
              <p:nvPr/>
            </p:nvSpPr>
            <p:spPr>
              <a:xfrm>
                <a:off x="4184650" y="2123440"/>
                <a:ext cx="317500" cy="4267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9" name="Graph output"/>
              <p:cNvSpPr/>
              <p:nvPr/>
            </p:nvSpPr>
            <p:spPr>
              <a:xfrm>
                <a:off x="2197100" y="878840"/>
                <a:ext cx="38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p:sp>
            <p:nvSpPr>
              <p:cNvPr id="109" name="Graph output"/>
              <p:cNvSpPr>
                <a:spLocks noRot="1" noChangeAspect="1" noMove="1" noResize="1" noEditPoints="1" noAdjustHandles="1" noChangeArrowheads="1" noChangeShapeType="1" noTextEdit="1"/>
              </p:cNvSpPr>
              <p:nvPr/>
            </p:nvSpPr>
            <p:spPr>
              <a:xfrm>
                <a:off x="2197100" y="878840"/>
                <a:ext cx="381000" cy="4267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 name="Upper sector line"/>
              <p:cNvSpPr/>
              <p:nvPr/>
            </p:nvSpPr>
            <p:spPr>
              <a:xfrm>
                <a:off x="3651250" y="1018540"/>
                <a:ext cx="6985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𝛽</m:t>
                      </m:r>
                      <m:r>
                        <a:rPr sz="1200">
                          <a:solidFill>
                            <a:srgbClr val="252529"/>
                          </a:solidFill>
                          <a:latin typeface="Cambria Math"/>
                        </a:rPr>
                        <m:t>𝑧</m:t>
                      </m:r>
                    </m:oMath>
                  </m:oMathPara>
                </a14:m>
                <a:endParaRPr sz="1200"/>
              </a:p>
            </p:txBody>
          </p:sp>
        </mc:Choice>
        <mc:Fallback>
          <p:sp>
            <p:nvSpPr>
              <p:cNvPr id="110" name="Upper sector line"/>
              <p:cNvSpPr>
                <a:spLocks noRot="1" noChangeAspect="1" noMove="1" noResize="1" noEditPoints="1" noAdjustHandles="1" noChangeArrowheads="1" noChangeShapeType="1" noTextEdit="1"/>
              </p:cNvSpPr>
              <p:nvPr/>
            </p:nvSpPr>
            <p:spPr>
              <a:xfrm>
                <a:off x="3651250" y="1018540"/>
                <a:ext cx="698500" cy="4267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1" name="Lower sector line"/>
              <p:cNvSpPr/>
              <p:nvPr/>
            </p:nvSpPr>
            <p:spPr>
              <a:xfrm>
                <a:off x="3302000" y="2522220"/>
                <a:ext cx="9144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252529"/>
                          </a:solidFill>
                          <a:latin typeface="Cambria Math"/>
                        </a:rPr>
                        <m:t>𝛼</m:t>
                      </m:r>
                      <m:r>
                        <a:rPr sz="1100">
                          <a:solidFill>
                            <a:srgbClr val="252529"/>
                          </a:solidFill>
                          <a:latin typeface="Cambria Math"/>
                        </a:rPr>
                        <m:t>𝑧</m:t>
                      </m:r>
                      <m:r>
                        <a:rPr sz="1100">
                          <a:solidFill>
                            <a:srgbClr val="252529"/>
                          </a:solidFill>
                          <a:latin typeface="Cambria Math"/>
                        </a:rPr>
                        <m:t>=0</m:t>
                      </m:r>
                    </m:oMath>
                  </m:oMathPara>
                </a14:m>
                <a:endParaRPr sz="1100"/>
              </a:p>
            </p:txBody>
          </p:sp>
        </mc:Choice>
        <mc:Fallback>
          <p:sp>
            <p:nvSpPr>
              <p:cNvPr id="111" name="Lower sector line"/>
              <p:cNvSpPr>
                <a:spLocks noRot="1" noChangeAspect="1" noMove="1" noResize="1" noEditPoints="1" noAdjustHandles="1" noChangeArrowheads="1" noChangeShapeType="1" noTextEdit="1"/>
              </p:cNvSpPr>
              <p:nvPr/>
            </p:nvSpPr>
            <p:spPr>
              <a:xfrm>
                <a:off x="3302000" y="2522220"/>
                <a:ext cx="914400" cy="391160"/>
              </a:xfrm>
              <a:prstGeom prst="rect">
                <a:avLst/>
              </a:prstGeom>
              <a:blipFill>
                <a:blip r:embed="rId6"/>
                <a:stretch>
                  <a:fillRect/>
                </a:stretch>
              </a:blipFill>
              <a:ln>
                <a:noFill/>
              </a:ln>
            </p:spPr>
            <p:txBody>
              <a:bodyPr/>
              <a:lstStyle/>
              <a:p>
                <a:r>
                  <a:rPr lang="en-NL">
                    <a:noFill/>
                  </a:rPr>
                  <a:t> </a:t>
                </a:r>
              </a:p>
            </p:txBody>
          </p:sp>
        </mc:Fallback>
      </mc:AlternateContent>
      <p:sp>
        <p:nvSpPr>
          <p:cNvPr id="112" name="Input tick"/>
          <p:cNvSpPr/>
          <p:nvPr/>
        </p:nvSpPr>
        <p:spPr>
          <a:xfrm>
            <a:off x="10033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3" name="Input tick value"/>
          <p:cNvSpPr/>
          <p:nvPr/>
        </p:nvSpPr>
        <p:spPr>
          <a:xfrm>
            <a:off x="7493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4" name="Input tick"/>
          <p:cNvSpPr/>
          <p:nvPr/>
        </p:nvSpPr>
        <p:spPr>
          <a:xfrm>
            <a:off x="3746500" y="2260600"/>
            <a:ext cx="25400" cy="76200"/>
          </a:xfrm>
          <a:custGeom>
            <a:avLst/>
            <a:gdLst/>
            <a:ahLst/>
            <a:cxnLst/>
            <a:rect l="0" t="0" r="r" b="b"/>
            <a:pathLst>
              <a:path w="25400" h="76200" fill="none">
                <a:moveTo>
                  <a:pt x="12700" y="12700"/>
                </a:moveTo>
                <a:lnTo>
                  <a:pt x="12700" y="63500"/>
                </a:lnTo>
              </a:path>
            </a:pathLst>
          </a:custGeom>
          <a:noFill/>
          <a:ln w="6350">
            <a:solidFill>
              <a:srgbClr val="747B82"/>
            </a:solidFill>
            <a:round/>
          </a:ln>
        </p:spPr>
      </p:sp>
      <p:sp>
        <p:nvSpPr>
          <p:cNvPr id="115" name="Input tick value"/>
          <p:cNvSpPr/>
          <p:nvPr/>
        </p:nvSpPr>
        <p:spPr>
          <a:xfrm>
            <a:off x="3492500" y="24130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16" name="Origin"/>
          <p:cNvSpPr/>
          <p:nvPr/>
        </p:nvSpPr>
        <p:spPr>
          <a:xfrm>
            <a:off x="2133600" y="23876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p:sp>
        <p:nvSpPr>
          <p:cNvPr id="117" name="a: upper gap"/>
          <p:cNvSpPr/>
          <p:nvPr/>
        </p:nvSpPr>
        <p:spPr>
          <a:xfrm>
            <a:off x="2837815" y="2034170"/>
            <a:ext cx="25400" cy="95448"/>
          </a:xfrm>
          <a:custGeom>
            <a:avLst/>
            <a:gdLst/>
            <a:ahLst/>
            <a:cxnLst/>
            <a:rect l="0" t="0" r="r" b="b"/>
            <a:pathLst>
              <a:path w="25400" h="95448" fill="none">
                <a:moveTo>
                  <a:pt x="12700" y="82748"/>
                </a:moveTo>
                <a:lnTo>
                  <a:pt x="12700" y="12700"/>
                </a:lnTo>
              </a:path>
            </a:pathLst>
          </a:custGeom>
          <a:noFill/>
          <a:ln w="38100">
            <a:solidFill>
              <a:srgbClr val="216F9C"/>
            </a:solidFill>
            <a:round/>
          </a:ln>
        </p:spPr>
      </p:sp>
      <p:sp>
        <p:nvSpPr>
          <p:cNvPr id="118" name="b: lower gap"/>
          <p:cNvSpPr/>
          <p:nvPr/>
        </p:nvSpPr>
        <p:spPr>
          <a:xfrm>
            <a:off x="2837815" y="2104218"/>
            <a:ext cx="25400" cy="207182"/>
          </a:xfrm>
          <a:custGeom>
            <a:avLst/>
            <a:gdLst/>
            <a:ahLst/>
            <a:cxnLst/>
            <a:rect l="0" t="0" r="r" b="b"/>
            <a:pathLst>
              <a:path w="25400" h="207182" fill="none">
                <a:moveTo>
                  <a:pt x="12700" y="194482"/>
                </a:moveTo>
                <a:lnTo>
                  <a:pt x="12700" y="12700"/>
                </a:lnTo>
              </a:path>
            </a:pathLst>
          </a:custGeom>
          <a:noFill/>
          <a:ln w="38100">
            <a:solidFill>
              <a:srgbClr val="147C60"/>
            </a:solidFill>
            <a:round/>
          </a:ln>
        </p:spPr>
      </p:sp>
      <p:sp>
        <p:nvSpPr>
          <p:cNvPr id="119" name="Gap endpoint"/>
          <p:cNvSpPr/>
          <p:nvPr/>
        </p:nvSpPr>
        <p:spPr>
          <a:xfrm>
            <a:off x="2799715" y="228600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0" name="Gap endpoint"/>
          <p:cNvSpPr/>
          <p:nvPr/>
        </p:nvSpPr>
        <p:spPr>
          <a:xfrm>
            <a:off x="2799715" y="2104218"/>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1" name="Gap endpoint"/>
          <p:cNvSpPr/>
          <p:nvPr/>
        </p:nvSpPr>
        <p:spPr>
          <a:xfrm>
            <a:off x="2799715" y="2034170"/>
            <a:ext cx="101600" cy="25400"/>
          </a:xfrm>
          <a:custGeom>
            <a:avLst/>
            <a:gdLst/>
            <a:ahLst/>
            <a:cxnLst/>
            <a:rect l="0" t="0" r="r" b="b"/>
            <a:pathLst>
              <a:path w="101600" h="25400" fill="none">
                <a:moveTo>
                  <a:pt x="12700" y="12700"/>
                </a:moveTo>
                <a:lnTo>
                  <a:pt x="88900" y="12700"/>
                </a:lnTo>
              </a:path>
            </a:pathLst>
          </a:custGeom>
          <a:noFill/>
          <a:ln w="7620">
            <a:solidFill>
              <a:srgbClr val="252529"/>
            </a:solidFill>
            <a:round/>
          </a:ln>
        </p:spPr>
      </p:sp>
      <p:sp>
        <p:nvSpPr>
          <p:cNvPr id="122" name="Sample point"/>
          <p:cNvSpPr/>
          <p:nvPr/>
        </p:nvSpPr>
        <p:spPr>
          <a:xfrm>
            <a:off x="2818765" y="2085168"/>
            <a:ext cx="63500" cy="63500"/>
          </a:xfrm>
          <a:prstGeom prst="ellipse">
            <a:avLst/>
          </a:prstGeom>
          <a:solidFill>
            <a:srgbClr val="D61016"/>
          </a:solidFill>
          <a:ln>
            <a:noFill/>
          </a:ln>
        </p:spPr>
      </p:sp>
      <p:sp>
        <p:nvSpPr>
          <p:cNvPr id="123" name="Plot identity"/>
          <p:cNvSpPr/>
          <p:nvPr/>
        </p:nvSpPr>
        <p:spPr>
          <a:xfrm>
            <a:off x="546100" y="3448050"/>
            <a:ext cx="3683000" cy="190500"/>
          </a:xfrm>
          <a:prstGeom prst="rect">
            <a:avLst/>
          </a:prstGeom>
          <a:noFill/>
          <a:ln>
            <a:noFill/>
          </a:ln>
        </p:spPr>
        <p:txBody>
          <a:bodyPr wrap="none" lIns="0" tIns="0" rIns="0" bIns="0" anchor="ctr">
            <a:noAutofit/>
          </a:bodyPr>
          <a:lstStyle/>
          <a:p>
            <a:pPr algn="ctr">
              <a:buNone/>
            </a:pPr>
            <a:r>
              <a:rPr lang="en-GB" sz="1000" b="0" i="0" u="none" baseline="0">
                <a:solidFill>
                  <a:srgbClr val="747B82"/>
                </a:solidFill>
                <a:latin typeface="Aptos"/>
                <a:ea typeface="Aptos"/>
                <a:cs typeface="Aptos"/>
              </a:rPr>
              <a:t>STN activation about its equilibrium</a:t>
            </a:r>
            <a:endParaRPr sz="1000"/>
          </a:p>
        </p:txBody>
      </p:sp>
      <p:sp>
        <p:nvSpPr>
          <p:cNvPr id="124" name="Transformed input"/>
          <p:cNvSpPr/>
          <p:nvPr/>
        </p:nvSpPr>
        <p:spPr>
          <a:xfrm>
            <a:off x="5232400" y="1676400"/>
            <a:ext cx="1028700" cy="25400"/>
          </a:xfrm>
          <a:custGeom>
            <a:avLst/>
            <a:gdLst/>
            <a:ahLst/>
            <a:cxnLst/>
            <a:rect l="0" t="0" r="r" b="b"/>
            <a:pathLst>
              <a:path w="1028700" h="25400" fill="none">
                <a:moveTo>
                  <a:pt x="12700" y="12700"/>
                </a:moveTo>
                <a:lnTo>
                  <a:pt x="1016000" y="12700"/>
                </a:lnTo>
              </a:path>
            </a:pathLst>
          </a:custGeom>
          <a:noFill/>
          <a:ln w="12700">
            <a:solidFill>
              <a:srgbClr val="252529"/>
            </a:solidFill>
            <a:round/>
            <a:tailEnd type="triangle" w="sm" len="sm"/>
          </a:ln>
        </p:spPr>
      </p:sp>
      <p:sp>
        <p:nvSpPr>
          <p:cNvPr id="125" name="Transformed output"/>
          <p:cNvSpPr/>
          <p:nvPr/>
        </p:nvSpPr>
        <p:spPr>
          <a:xfrm>
            <a:off x="6997700" y="1676400"/>
            <a:ext cx="1270000" cy="25400"/>
          </a:xfrm>
          <a:custGeom>
            <a:avLst/>
            <a:gdLst/>
            <a:ahLst/>
            <a:cxnLst/>
            <a:rect l="0" t="0" r="r" b="b"/>
            <a:pathLst>
              <a:path w="1270000" h="25400" fill="none">
                <a:moveTo>
                  <a:pt x="12700" y="12700"/>
                </a:moveTo>
                <a:lnTo>
                  <a:pt x="1257300" y="12700"/>
                </a:lnTo>
              </a:path>
            </a:pathLst>
          </a:custGeom>
          <a:noFill/>
          <a:ln w="12700">
            <a:solidFill>
              <a:srgbClr val="252529"/>
            </a:solidFill>
            <a:round/>
            <a:tailEnd type="triangle" w="sm" len="sm"/>
          </a:ln>
        </p:spPr>
      </p:sp>
      <p:sp>
        <p:nvSpPr>
          <p:cNvPr id="126" name="Transformed activation"/>
          <p:cNvSpPr/>
          <p:nvPr/>
        </p:nvSpPr>
        <p:spPr>
          <a:xfrm>
            <a:off x="6248400" y="1384300"/>
            <a:ext cx="762000" cy="609600"/>
          </a:xfrm>
          <a:prstGeom prst="rect">
            <a:avLst/>
          </a:prstGeom>
          <a:noFill/>
          <a:ln w="12700">
            <a:solidFill>
              <a:srgbClr val="D61016"/>
            </a:solidFill>
          </a:ln>
        </p:spPr>
      </p:sp>
      <mc:AlternateContent xmlns:mc="http://schemas.openxmlformats.org/markup-compatibility/2006">
        <mc:Choice xmlns:a14="http://schemas.microsoft.com/office/drawing/2010/main" Requires="a14">
          <p:sp>
            <p:nvSpPr>
              <p:cNvPr id="127" name="Transformed activation label"/>
              <p:cNvSpPr/>
              <p:nvPr/>
            </p:nvSpPr>
            <p:spPr>
              <a:xfrm>
                <a:off x="6311900" y="1262380"/>
                <a:ext cx="635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400">
                              <a:solidFill>
                                <a:srgbClr val="252529"/>
                              </a:solidFill>
                              <a:latin typeface="Cambria Math"/>
                            </a:rPr>
                          </m:ctrlPr>
                        </m:accPr>
                        <m:e>
                          <m:r>
                            <a:rPr sz="2400">
                              <a:solidFill>
                                <a:srgbClr val="252529"/>
                              </a:solidFill>
                              <a:latin typeface="Cambria Math"/>
                            </a:rPr>
                            <m:t>𝜑</m:t>
                          </m:r>
                        </m:e>
                      </m:acc>
                    </m:oMath>
                  </m:oMathPara>
                </a14:m>
                <a:endParaRPr sz="2400"/>
              </a:p>
            </p:txBody>
          </p:sp>
        </mc:Choice>
        <mc:Fallback>
          <p:sp>
            <p:nvSpPr>
              <p:cNvPr id="127" name="Transformed activation label"/>
              <p:cNvSpPr>
                <a:spLocks noRot="1" noChangeAspect="1" noMove="1" noResize="1" noEditPoints="1" noAdjustHandles="1" noChangeArrowheads="1" noChangeShapeType="1" noTextEdit="1"/>
              </p:cNvSpPr>
              <p:nvPr/>
            </p:nvSpPr>
            <p:spPr>
              <a:xfrm>
                <a:off x="6311900" y="1262380"/>
                <a:ext cx="635000" cy="853440"/>
              </a:xfrm>
              <a:prstGeom prst="rect">
                <a:avLst/>
              </a:prstGeom>
              <a:blipFill>
                <a:blip r:embed="rId7"/>
                <a:stretch>
                  <a:fillRect r="-27619"/>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8" name="Transformed input label"/>
              <p:cNvSpPr/>
              <p:nvPr/>
            </p:nvSpPr>
            <p:spPr>
              <a:xfrm>
                <a:off x="5353050" y="1137920"/>
                <a:ext cx="5715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600">
                              <a:solidFill>
                                <a:srgbClr val="252529"/>
                              </a:solidFill>
                              <a:latin typeface="Cambria Math"/>
                            </a:rPr>
                          </m:ctrlPr>
                        </m:accPr>
                        <m:e>
                          <m:r>
                            <a:rPr sz="1600">
                              <a:solidFill>
                                <a:srgbClr val="252529"/>
                              </a:solidFill>
                              <a:latin typeface="Cambria Math"/>
                            </a:rPr>
                            <m:t>𝑧</m:t>
                          </m:r>
                        </m:e>
                      </m:acc>
                    </m:oMath>
                  </m:oMathPara>
                </a14:m>
                <a:endParaRPr sz="1600"/>
              </a:p>
            </p:txBody>
          </p:sp>
        </mc:Choice>
        <mc:Fallback>
          <p:sp>
            <p:nvSpPr>
              <p:cNvPr id="128" name="Transformed input label"/>
              <p:cNvSpPr>
                <a:spLocks noRot="1" noChangeAspect="1" noMove="1" noResize="1" noEditPoints="1" noAdjustHandles="1" noChangeArrowheads="1" noChangeShapeType="1" noTextEdit="1"/>
              </p:cNvSpPr>
              <p:nvPr/>
            </p:nvSpPr>
            <p:spPr>
              <a:xfrm>
                <a:off x="5353050" y="1137920"/>
                <a:ext cx="571500" cy="568960"/>
              </a:xfrm>
              <a:prstGeom prst="rect">
                <a:avLst/>
              </a:prstGeom>
              <a:blipFill>
                <a:blip r:embed="rId8"/>
                <a:stretch>
                  <a:fillRect r="-638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9" name="Transformed output label"/>
              <p:cNvSpPr/>
              <p:nvPr/>
            </p:nvSpPr>
            <p:spPr>
              <a:xfrm>
                <a:off x="7385050" y="1137920"/>
                <a:ext cx="5715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600">
                              <a:solidFill>
                                <a:srgbClr val="252529"/>
                              </a:solidFill>
                              <a:latin typeface="Cambria Math"/>
                            </a:rPr>
                          </m:ctrlPr>
                        </m:accPr>
                        <m:e>
                          <m:r>
                            <a:rPr sz="1600">
                              <a:solidFill>
                                <a:srgbClr val="252529"/>
                              </a:solidFill>
                              <a:latin typeface="Cambria Math"/>
                            </a:rPr>
                            <m:t>𝑤</m:t>
                          </m:r>
                        </m:e>
                      </m:acc>
                    </m:oMath>
                  </m:oMathPara>
                </a14:m>
                <a:endParaRPr sz="1600"/>
              </a:p>
            </p:txBody>
          </p:sp>
        </mc:Choice>
        <mc:Fallback>
          <p:sp>
            <p:nvSpPr>
              <p:cNvPr id="129" name="Transformed output label"/>
              <p:cNvSpPr>
                <a:spLocks noRot="1" noChangeAspect="1" noMove="1" noResize="1" noEditPoints="1" noAdjustHandles="1" noChangeArrowheads="1" noChangeShapeType="1" noTextEdit="1"/>
              </p:cNvSpPr>
              <p:nvPr/>
            </p:nvSpPr>
            <p:spPr>
              <a:xfrm>
                <a:off x="7385050" y="1137920"/>
                <a:ext cx="571500" cy="568960"/>
              </a:xfrm>
              <a:prstGeom prst="rect">
                <a:avLst/>
              </a:prstGeom>
              <a:blipFill>
                <a:blip r:embed="rId9"/>
                <a:stretch>
                  <a:fillRect r="-29787"/>
                </a:stretch>
              </a:blipFill>
              <a:ln>
                <a:noFill/>
              </a:ln>
            </p:spPr>
            <p:txBody>
              <a:bodyPr/>
              <a:lstStyle/>
              <a:p>
                <a:r>
                  <a:rPr lang="en-NL">
                    <a:noFill/>
                  </a:rPr>
                  <a:t> </a:t>
                </a:r>
              </a:p>
            </p:txBody>
          </p:sp>
        </mc:Fallback>
      </mc:AlternateContent>
      <p:sp>
        <p:nvSpPr>
          <p:cNvPr id="130" name="Energy interpretation"/>
          <p:cNvSpPr/>
          <p:nvPr/>
        </p:nvSpPr>
        <p:spPr>
          <a:xfrm>
            <a:off x="4591050" y="2441575"/>
            <a:ext cx="41275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Output energy cannot exceed input energy.</a:t>
            </a:r>
            <a:endParaRPr sz="1300"/>
          </a:p>
        </p:txBody>
      </p:sp>
      <mc:AlternateContent xmlns:mc="http://schemas.openxmlformats.org/markup-compatibility/2006">
        <mc:Choice xmlns:a14="http://schemas.microsoft.com/office/drawing/2010/main" Requires="a14">
          <p:sp>
            <p:nvSpPr>
              <p:cNvPr id="131" name="Zero storage"/>
              <p:cNvSpPr/>
              <p:nvPr/>
            </p:nvSpPr>
            <p:spPr>
              <a:xfrm>
                <a:off x="4876800" y="2712720"/>
                <a:ext cx="355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𝑉</m:t>
                      </m:r>
                      <m:r>
                        <a:rPr sz="2100">
                          <a:solidFill>
                            <a:srgbClr val="252529"/>
                          </a:solidFill>
                          <a:latin typeface="Cambria Math"/>
                        </a:rPr>
                        <m:t>≡0</m:t>
                      </m:r>
                    </m:oMath>
                  </m:oMathPara>
                </a14:m>
                <a:endParaRPr sz="2100"/>
              </a:p>
            </p:txBody>
          </p:sp>
        </mc:Choice>
        <mc:Fallback>
          <p:sp>
            <p:nvSpPr>
              <p:cNvPr id="131" name="Zero storage"/>
              <p:cNvSpPr>
                <a:spLocks noRot="1" noChangeAspect="1" noMove="1" noResize="1" noEditPoints="1" noAdjustHandles="1" noChangeArrowheads="1" noChangeShapeType="1" noTextEdit="1"/>
              </p:cNvSpPr>
              <p:nvPr/>
            </p:nvSpPr>
            <p:spPr>
              <a:xfrm>
                <a:off x="4876800" y="2712720"/>
                <a:ext cx="3556000" cy="7467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2" name="Supply rate"/>
              <p:cNvSpPr/>
              <p:nvPr/>
            </p:nvSpPr>
            <p:spPr>
              <a:xfrm>
                <a:off x="444500" y="36398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acc>
                            <m:accPr>
                              <m:chr m:val="̃"/>
                              <m:ctrlPr>
                                <a:rPr sz="2100">
                                  <a:solidFill>
                                    <a:srgbClr val="252529"/>
                                  </a:solidFill>
                                  <a:latin typeface="Cambria Math"/>
                                </a:rPr>
                              </m:ctrlPr>
                            </m:accPr>
                            <m:e>
                              <m:r>
                                <a:rPr sz="2100">
                                  <a:solidFill>
                                    <a:srgbClr val="252529"/>
                                  </a:solidFill>
                                  <a:latin typeface="Cambria Math"/>
                                </a:rPr>
                                <m:t>𝑧</m:t>
                              </m:r>
                            </m:e>
                          </m:acc>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acc>
                            <m:accPr>
                              <m:chr m:val="̃"/>
                              <m:ctrlPr>
                                <a:rPr sz="2100">
                                  <a:solidFill>
                                    <a:srgbClr val="252529"/>
                                  </a:solidFill>
                                  <a:latin typeface="Cambria Math"/>
                                </a:rPr>
                              </m:ctrlPr>
                            </m:accPr>
                            <m:e>
                              <m:r>
                                <a:rPr sz="2100">
                                  <a:solidFill>
                                    <a:srgbClr val="252529"/>
                                  </a:solidFill>
                                  <a:latin typeface="Cambria Math"/>
                                </a:rPr>
                                <m:t>𝑤</m:t>
                              </m:r>
                            </m:e>
                          </m:acc>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𝑎𝑏</m:t>
                      </m:r>
                      <m:r>
                        <a:rPr sz="2100">
                          <a:solidFill>
                            <a:srgbClr val="147C60"/>
                          </a:solidFill>
                          <a:latin typeface="Cambria Math"/>
                        </a:rPr>
                        <m:t>≥0</m:t>
                      </m:r>
                    </m:oMath>
                  </m:oMathPara>
                </a14:m>
                <a:endParaRPr sz="2100"/>
              </a:p>
            </p:txBody>
          </p:sp>
        </mc:Choice>
        <mc:Fallback>
          <p:sp>
            <p:nvSpPr>
              <p:cNvPr id="132" name="Supply rate"/>
              <p:cNvSpPr>
                <a:spLocks noRot="1" noChangeAspect="1" noMove="1" noResize="1" noEditPoints="1" noAdjustHandles="1" noChangeArrowheads="1" noChangeShapeType="1" noTextEdit="1"/>
              </p:cNvSpPr>
              <p:nvPr/>
            </p:nvSpPr>
            <p:spPr>
              <a:xfrm>
                <a:off x="444500" y="3639820"/>
                <a:ext cx="8255000" cy="74676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33" name="Dissipativity inequality"/>
              <p:cNvSpPr/>
              <p:nvPr/>
            </p:nvSpPr>
            <p:spPr>
              <a:xfrm>
                <a:off x="444500" y="4213860"/>
                <a:ext cx="8255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𝑉</m:t>
                      </m:r>
                      <m:d>
                        <m:dPr>
                          <m:ctrlPr>
                            <a:rPr sz="1800">
                              <a:solidFill>
                                <a:srgbClr val="252529"/>
                              </a:solidFill>
                              <a:latin typeface="Cambria Math"/>
                            </a:rPr>
                          </m:ctrlPr>
                        </m:dPr>
                        <m:e>
                          <m:r>
                            <a:rPr sz="1800">
                              <a:solidFill>
                                <a:srgbClr val="252529"/>
                              </a:solidFill>
                              <a:latin typeface="Cambria Math"/>
                            </a:rPr>
                            <m:t>𝑇</m:t>
                          </m:r>
                        </m:e>
                      </m:d>
                      <m:r>
                        <a:rPr sz="1800">
                          <a:solidFill>
                            <a:srgbClr val="252529"/>
                          </a:solidFill>
                          <a:latin typeface="Cambria Math"/>
                        </a:rPr>
                        <m:t>−</m:t>
                      </m:r>
                      <m:r>
                        <a:rPr sz="1800">
                          <a:solidFill>
                            <a:srgbClr val="252529"/>
                          </a:solidFill>
                          <a:latin typeface="Cambria Math"/>
                        </a:rPr>
                        <m:t>𝑉</m:t>
                      </m:r>
                      <m:d>
                        <m:dPr>
                          <m:ctrlPr>
                            <a:rPr sz="1800">
                              <a:solidFill>
                                <a:srgbClr val="252529"/>
                              </a:solidFill>
                              <a:latin typeface="Cambria Math"/>
                            </a:rPr>
                          </m:ctrlPr>
                        </m:dPr>
                        <m:e>
                          <m:r>
                            <a:rPr sz="1800">
                              <a:solidFill>
                                <a:srgbClr val="252529"/>
                              </a:solidFill>
                              <a:latin typeface="Cambria Math"/>
                            </a:rPr>
                            <m:t>0</m:t>
                          </m:r>
                        </m:e>
                      </m:d>
                      <m:r>
                        <a:rPr sz="1800">
                          <a:solidFill>
                            <a:srgbClr val="252529"/>
                          </a:solidFill>
                          <a:latin typeface="Cambria Math"/>
                        </a:rPr>
                        <m:t>=0≤</m:t>
                      </m:r>
                      <m:nary>
                        <m:naryPr>
                          <m:limLoc m:val="subSup"/>
                          <m:ctrlPr>
                            <a:rPr sz="1800">
                              <a:solidFill>
                                <a:srgbClr val="252529"/>
                              </a:solidFill>
                              <a:latin typeface="Cambria Math"/>
                            </a:rPr>
                          </m:ctrlPr>
                        </m:naryPr>
                        <m:sub>
                          <m:r>
                            <a:rPr sz="1800">
                              <a:solidFill>
                                <a:srgbClr val="252529"/>
                              </a:solidFill>
                              <a:latin typeface="Cambria Math"/>
                            </a:rPr>
                            <m:t>0</m:t>
                          </m:r>
                        </m:sub>
                        <m:sup>
                          <m:r>
                            <a:rPr sz="1800">
                              <a:solidFill>
                                <a:srgbClr val="252529"/>
                              </a:solidFill>
                              <a:latin typeface="Cambria Math"/>
                            </a:rPr>
                            <m:t>𝑇</m:t>
                          </m:r>
                        </m:sup>
                        <m:e>
                          <m:r>
                            <a:rPr sz="1800">
                              <a:solidFill>
                                <a:srgbClr val="252529"/>
                              </a:solidFill>
                              <a:latin typeface="Cambria Math"/>
                            </a:rPr>
                            <m:t>𝜎</m:t>
                          </m:r>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 </m:t>
                          </m:r>
                          <m:r>
                            <a:rPr sz="1800">
                              <a:solidFill>
                                <a:srgbClr val="252529"/>
                              </a:solidFill>
                              <a:latin typeface="Cambria Math"/>
                            </a:rPr>
                            <m:t>𝑑𝑡</m:t>
                          </m:r>
                        </m:e>
                      </m:nary>
                      <m:r>
                        <a:rPr sz="1800">
                          <a:solidFill>
                            <a:srgbClr val="252529"/>
                          </a:solidFill>
                          <a:latin typeface="Cambria Math"/>
                        </a:rPr>
                        <m:t>   ∀</m:t>
                      </m:r>
                      <m:r>
                        <a:rPr sz="1800">
                          <a:solidFill>
                            <a:srgbClr val="252529"/>
                          </a:solidFill>
                          <a:latin typeface="Cambria Math"/>
                        </a:rPr>
                        <m:t>𝑇</m:t>
                      </m:r>
                      <m:r>
                        <a:rPr sz="1800">
                          <a:solidFill>
                            <a:srgbClr val="252529"/>
                          </a:solidFill>
                          <a:latin typeface="Cambria Math"/>
                        </a:rPr>
                        <m:t>≥0</m:t>
                      </m:r>
                    </m:oMath>
                  </m:oMathPara>
                </a14:m>
                <a:endParaRPr sz="1800"/>
              </a:p>
            </p:txBody>
          </p:sp>
        </mc:Choice>
        <mc:Fallback>
          <p:sp>
            <p:nvSpPr>
              <p:cNvPr id="133" name="Dissipativity inequality"/>
              <p:cNvSpPr>
                <a:spLocks noRot="1" noChangeAspect="1" noMove="1" noResize="1" noEditPoints="1" noAdjustHandles="1" noChangeArrowheads="1" noChangeShapeType="1" noTextEdit="1"/>
              </p:cNvSpPr>
              <p:nvPr/>
            </p:nvSpPr>
            <p:spPr>
              <a:xfrm>
                <a:off x="444500" y="4213860"/>
                <a:ext cx="8255000" cy="640080"/>
              </a:xfrm>
              <a:prstGeom prst="rect">
                <a:avLst/>
              </a:prstGeom>
              <a:blipFill>
                <a:blip r:embed="rId12"/>
                <a:stretch>
                  <a:fillRect/>
                </a:stretch>
              </a:blipFill>
              <a:ln>
                <a:noFill/>
              </a:ln>
            </p:spPr>
            <p:txBody>
              <a:bodyPr/>
              <a:lstStyle/>
              <a:p>
                <a:r>
                  <a:rPr lang="en-NL">
                    <a:noFill/>
                  </a:rPr>
                  <a:t> </a:t>
                </a:r>
              </a:p>
            </p:txBody>
          </p:sp>
        </mc:Fallback>
      </mc:AlternateContent>
      <p:sp>
        <p:nvSpPr>
          <p:cNvPr id="13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3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a:t>
            </a:r>
            <a:endParaRPr sz="800"/>
          </a:p>
        </p:txBody>
      </p:sp>
    </p:spTree>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690</Words>
  <Application>Microsoft Office PowerPoint</Application>
  <PresentationFormat>On-screen Show (16:9)</PresentationFormat>
  <Paragraphs>74</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Calibri</vt:lpstr>
      <vt:lpstr>Cambria Math</vt:lpstr>
      <vt:lpstr>TUe - Clean White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Lenssen, Thijs</cp:lastModifiedBy>
  <cp:revision>1</cp:revision>
  <dcterms:modified xsi:type="dcterms:W3CDTF">2026-09-27T08:48:33Z</dcterms:modified>
</cp:coreProperties>
</file>