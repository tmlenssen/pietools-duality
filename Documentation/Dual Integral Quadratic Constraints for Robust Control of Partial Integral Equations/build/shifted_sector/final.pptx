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theme/sectorNotesTheme.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SectorNotes"/>
  </p:notesMasterIdLst>
  <p:sldIdLst>
    <p:sldId id="256" r:id="rIdSector1"/>
    <p:sldId id="257" r:id="rIdSector2"/>
    <p:sldId id="258" r:id="rIdSector3"/>
    <p:sldId id="259" r:id="rIdSector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Theme" Type="http://schemas.openxmlformats.org/officeDocument/2006/relationships/theme" Target="theme/theme1.xml"/><Relationship Id="rIdSectorNotes" Type="http://schemas.openxmlformats.org/officeDocument/2006/relationships/notesMaster" Target="notesMasters/notesMaster1.xml"/><Relationship Id="rIdSector1" Type="http://schemas.openxmlformats.org/officeDocument/2006/relationships/slide" Target="slides/slide1.xml"/><Relationship Id="rIdSector2" Type="http://schemas.openxmlformats.org/officeDocument/2006/relationships/slide" Target="slides/slide2.xml"/><Relationship Id="rIdSector3" Type="http://schemas.openxmlformats.org/officeDocument/2006/relationships/slide" Target="slides/slide3.xml"/><Relationship Id="rIdSector4" Type="http://schemas.openxmlformats.org/officeDocument/2006/relationships/slide" Target="slides/slide4.xml"/></Relationships>
</file>

<file path=ppt/notesMasters/_rels/notesMaster1.xml.rels><?xml version="1.0" encoding="utf-8"?><Relationships xmlns="http://schemas.openxmlformats.org/package/2006/relationships"><Relationship Id="rId1" Type="http://schemas.openxmlformats.org/officeDocument/2006/relationships/theme" Target="../theme/sectorNotesTheme.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xmlns:a="http://schemas.openxmlformats.org/drawingml/2006/main">
            <a:r>
              <a:t>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xmlns:a="http://schemas.openxmlformats.org/drawingml/2006/main">
            <a:r>
              <a:t>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xmlns:a="http://schemas.openxmlformats.org/drawingml/2006/main">
            <a:r>
              <a:t>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xmlns:a="http://schemas.openxmlformats.org/drawingml/2006/main">
            <a:r>
              <a:t>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CleanLogo" Type="http://schemas.openxmlformats.org/officeDocument/2006/relationships/image" Target="../media/image2.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showMasterSp="0">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2.xml><?xml version="1.0" encoding="utf-8"?>
<p:sldLayout xmlns:p="http://schemas.openxmlformats.org/presentationml/2006/main" xmlns:a="http://schemas.openxmlformats.org/drawingml/2006/main" xmlns:r="http://schemas.openxmlformats.org/officeDocument/2006/relationships" type="secHead" preserve="1" showMasterSp="0">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3.xml><?xml version="1.0" encoding="utf-8"?>
<p:sldLayout xmlns:p="http://schemas.openxmlformats.org/presentationml/2006/main" xmlns:a="http://schemas.openxmlformats.org/drawingml/2006/main" xmlns:r="http://schemas.openxmlformats.org/officeDocument/2006/relationships" type="title" preserve="1" showMasterSp="0">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idx="0"/>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CleanLogo"/>
          <a:stretch>
            <a:fillRect/>
          </a:stretch>
        </p:blipFill>
        <p:spPr>
          <a:xfrm>
            <a:off x="457200" y="4523742"/>
            <a:ext cx="1587500" cy="507490"/>
          </a:xfrm>
          <a:prstGeom prst="rect">
            <a:avLst/>
          </a:prstGeom>
        </p:spPr>
      </p:pic>
    </p:spTree>
  </p:cSld>
  <p:clrMapOvr>
    <a:masterClrMapping/>
  </p:clrMapOvr>
  <p:hf hdr="0" dt="0" ftr="0" sldNum="0"/>
</p:sldLayout>
</file>

<file path=ppt/slideLayouts/slideLayout4.xml><?xml version="1.0" encoding="utf-8"?>
<p:sldLayout xmlns:p="http://schemas.openxmlformats.org/presentationml/2006/main" xmlns:a="http://schemas.openxmlformats.org/drawingml/2006/main" xmlns:r="http://schemas.openxmlformats.org/officeDocument/2006/relationships" type="obj" preserve="1" showMasterSp="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5.xml><?xml version="1.0" encoding="utf-8"?>
<p:sldLayout xmlns:p="http://schemas.openxmlformats.org/presentationml/2006/main" xmlns:a="http://schemas.openxmlformats.org/drawingml/2006/main" xmlns:r="http://schemas.openxmlformats.org/officeDocument/2006/relationships" type="twoObj" preserve="1" showMasterSp="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type="obj"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type="obj"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6.xml><?xml version="1.0" encoding="utf-8"?>
<p:sldLayout xmlns:p="http://schemas.openxmlformats.org/presentationml/2006/main" xmlns:a="http://schemas.openxmlformats.org/drawingml/2006/main" xmlns:r="http://schemas.openxmlformats.org/officeDocument/2006/relationships" type="objTx" preserve="1" showMasterSp="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7.xml><?xml version="1.0" encoding="utf-8"?>
<p:sldLayout xmlns:p="http://schemas.openxmlformats.org/presentationml/2006/main" xmlns:a="http://schemas.openxmlformats.org/drawingml/2006/main" xmlns:r="http://schemas.openxmlformats.org/officeDocument/2006/relationships" type="objTx" preserve="1" showMasterSp="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8.xml><?xml version="1.0" encoding="utf-8"?>
<p:sldLayout xmlns:p="http://schemas.openxmlformats.org/presentationml/2006/main" xmlns:a="http://schemas.openxmlformats.org/drawingml/2006/main" xmlns:r="http://schemas.openxmlformats.org/officeDocument/2006/relationships" type="obj" preserve="1" showMasterSp="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type="obj"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9.xml><?xml version="1.0" encoding="utf-8"?>
<p:sldLayout xmlns:p="http://schemas.openxmlformats.org/presentationml/2006/main" xmlns:a="http://schemas.openxmlformats.org/drawingml/2006/main" xmlns:r="http://schemas.openxmlformats.org/officeDocument/2006/relationships" type="cust" preserve="1" showMasterSp="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type="obj"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type="obj"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0.xml><?xml version="1.0" encoding="utf-8"?>
<p:sldLayout xmlns:p="http://schemas.openxmlformats.org/presentationml/2006/main" xmlns:a="http://schemas.openxmlformats.org/drawingml/2006/main" xmlns:r="http://schemas.openxmlformats.org/officeDocument/2006/relationships" type="cust" preserve="1" showMasterSp="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type="obj"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1.xml><?xml version="1.0" encoding="utf-8"?>
<p:sldLayout xmlns:p="http://schemas.openxmlformats.org/presentationml/2006/main" xmlns:a="http://schemas.openxmlformats.org/drawingml/2006/main" xmlns:r="http://schemas.openxmlformats.org/officeDocument/2006/relationships" type="cust" preserve="1" showMasterSp="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type="obj"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2.xml><?xml version="1.0" encoding="utf-8"?>
<p:sldLayout xmlns:p="http://schemas.openxmlformats.org/presentationml/2006/main" xmlns:a="http://schemas.openxmlformats.org/drawingml/2006/main" xmlns:r="http://schemas.openxmlformats.org/officeDocument/2006/relationships" type="titleOnly" preserve="1" showMasterSp="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3.xml><?xml version="1.0" encoding="utf-8"?>
<p:sldLayout xmlns:p="http://schemas.openxmlformats.org/presentationml/2006/main" xmlns:a="http://schemas.openxmlformats.org/drawingml/2006/main" xmlns:r="http://schemas.openxmlformats.org/officeDocument/2006/relationships" type="blank" preserve="1" showMasterSp="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4.xml><?xml version="1.0" encoding="utf-8"?>
<p:sldLayout xmlns:p="http://schemas.openxmlformats.org/presentationml/2006/main" xmlns:a="http://schemas.openxmlformats.org/drawingml/2006/main" xmlns:r="http://schemas.openxmlformats.org/officeDocument/2006/relationships" type="picTx" preserve="1" showMasterSp="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5.xml><?xml version="1.0" encoding="utf-8"?>
<p:sldLayout xmlns:p="http://schemas.openxmlformats.org/presentationml/2006/main" xmlns:a="http://schemas.openxmlformats.org/drawingml/2006/main" xmlns:r="http://schemas.openxmlformats.org/officeDocument/2006/relationships" type="twoObj" preserve="1" showMasterSp="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type="obj"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type="obj"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6.xml><?xml version="1.0" encoding="utf-8"?>
<p:sldLayout xmlns:p="http://schemas.openxmlformats.org/presentationml/2006/main" xmlns:a="http://schemas.openxmlformats.org/drawingml/2006/main" xmlns:r="http://schemas.openxmlformats.org/officeDocument/2006/relationships" type="tbl" preserve="1" showMasterSp="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type="obj"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Layouts/slideLayout17.xml><?xml version="1.0" encoding="utf-8"?>
<p:sldLayout xmlns:p="http://schemas.openxmlformats.org/presentationml/2006/main" xmlns:a="http://schemas.openxmlformats.org/drawingml/2006/main" xmlns:r="http://schemas.openxmlformats.org/officeDocument/2006/relationships" type="chart" preserve="1" showMasterSp="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spTree>
  </p:cSld>
  <p:clrMapOvr>
    <a:masterClrMapping/>
  </p:clrMapOvr>
  <p:hf hdr="0" dt="0" ftr="1" sldNum="1"/>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idx="0"/>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1</a:t>
            </a:fld>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ftr="1" sldNum="1"/>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4.xml"/></Relationships>
</file>

<file path=ppt/slides/slide1.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aseline="0" b="1" i="0" u="none">
                <a:solidFill>
                  <a:srgbClr val="252529"/>
                </a:solidFill>
                <a:latin typeface="Aptos"/>
                <a:ea typeface="Aptos"/>
                <a:cs typeface="Aptos"/>
              </a:rPr>
              <a:t xml:space="preserve">The shifted sigmoid lies in a sector</a:t>
            </a:r>
            <a:endParaRPr sz="2300"/>
          </a:p>
        </p:txBody>
      </p:sp>
      <p:sp>
        <p:nvSpPr>
          <p:cNvPr id="102" name="Global sector [0, beta]"/>
          <p:cNvSpPr/>
          <p:nvPr/>
        </p:nvSpPr>
        <p:spPr>
          <a:xfrm>
            <a:off x="660400" y="2286000"/>
            <a:ext cx="1739900" cy="958103"/>
          </a:xfrm>
          <a:custGeom>
            <a:avLst/>
            <a:gdLst/>
            <a:ahLst/>
            <a:cxnLst/>
            <a:rect l="0" t="0" r="r" b="b"/>
            <a:pathLst>
              <a:path w="1739900" h="958103" fill="norm">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fill="norm">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z</m:t>
                  </m:r>
                </m:oMath>
              </m:oMathPara>
            </a14:m>
            <a:endParaRPr sz="1200"/>
          </a:p>
        </p:txBody>
      </p:sp>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w</m:t>
                  </m:r>
                </m:oMath>
              </m:oMathPara>
            </a14:m>
            <a:endParaRPr sz="1200"/>
          </a:p>
        </p:txBody>
      </p:sp>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β</m:t>
                  </m:r>
                  <m:r>
                    <m:rPr>
                      <m:sty m:val="i"/>
                    </m:rPr>
                    <a:rPr sz="1200">
                      <a:solidFill>
                        <a:srgbClr val="252529"/>
                      </a:solidFill>
                      <a:latin typeface="Cambria Math"/>
                    </a:rPr>
                    <m:t xml:space="preserve">z</m:t>
                  </m:r>
                </m:oMath>
              </m:oMathPara>
            </a14:m>
            <a:endParaRPr sz="1200"/>
          </a:p>
        </p:txBody>
      </p:sp>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α</m:t>
                  </m:r>
                  <m:r>
                    <m:rPr>
                      <m:sty m:val="i"/>
                    </m:rPr>
                    <a:rPr sz="1100">
                      <a:solidFill>
                        <a:srgbClr val="252529"/>
                      </a:solidFill>
                      <a:latin typeface="Cambria Math"/>
                    </a:rPr>
                    <m:t xml:space="preserve">z</m:t>
                  </m:r>
                  <m:r>
                    <m:rPr>
                      <m:sty m:val="i"/>
                    </m:rPr>
                    <a:rPr sz="1100">
                      <a:solidFill>
                        <a:srgbClr val="252529"/>
                      </a:solidFill>
                      <a:latin typeface="Cambria Math"/>
                    </a:rPr>
                    <m:t xml:space="preserve">=</m:t>
                  </m:r>
                  <m:r>
                    <m:rPr>
                      <m:sty m:val="i"/>
                    </m:rPr>
                    <a:rPr sz="1100">
                      <a:solidFill>
                        <a:srgbClr val="252529"/>
                      </a:solidFill>
                      <a:latin typeface="Cambria Math"/>
                    </a:rPr>
                    <m:t xml:space="preserve">0</m:t>
                  </m:r>
                </m:oMath>
              </m:oMathPara>
            </a14:m>
            <a:endParaRPr sz="1100"/>
          </a:p>
        </p:txBody>
      </p:sp>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0</a:t>
            </a:r>
            <a:endParaRPr sz="800"/>
          </a:p>
        </p:txBody>
      </p:sp>
      <p:sp>
        <p:nvSpPr>
          <p:cNvPr id="117"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aseline="0" b="0" i="0" u="none">
                <a:solidFill>
                  <a:srgbClr val="747B82"/>
                </a:solidFill>
                <a:latin typeface="Aptos"/>
                <a:ea typeface="Aptos"/>
                <a:cs typeface="Aptos"/>
              </a:rPr>
              <a:t xml:space="preserve">STN activation about its equilibrium</a:t>
            </a:r>
            <a:endParaRPr sz="1000"/>
          </a:p>
        </p:txBody>
      </p:sp>
      <p:sp>
        <p:nvSpPr>
          <p:cNvPr id="118" name="Nonlinearity input"/>
          <p:cNvSpPr/>
          <p:nvPr/>
        </p:nvSpPr>
        <p:spPr>
          <a:xfrm>
            <a:off x="53086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19" name="Nonlinearity output"/>
          <p:cNvSpPr/>
          <p:nvPr/>
        </p:nvSpPr>
        <p:spPr>
          <a:xfrm>
            <a:off x="6934200" y="1752600"/>
            <a:ext cx="1333500" cy="25400"/>
          </a:xfrm>
          <a:custGeom>
            <a:avLst/>
            <a:gdLst/>
            <a:ahLst/>
            <a:cxnLst/>
            <a:rect l="0" t="0" r="r" b="b"/>
            <a:pathLst>
              <a:path w="1333500" h="25400" fill="none">
                <a:moveTo>
                  <a:pt x="12700" y="12700"/>
                </a:moveTo>
                <a:lnTo>
                  <a:pt x="1320800" y="12700"/>
                </a:lnTo>
              </a:path>
            </a:pathLst>
          </a:custGeom>
          <a:noFill/>
          <a:ln w="12700">
            <a:solidFill>
              <a:srgbClr val="252529"/>
            </a:solidFill>
            <a:round/>
            <a:tailEnd type="triangle" w="sm" len="sm"/>
          </a:ln>
        </p:spPr>
      </p:sp>
      <p:sp>
        <p:nvSpPr>
          <p:cNvPr id="120" name="Shifted activation block"/>
          <p:cNvSpPr/>
          <p:nvPr/>
        </p:nvSpPr>
        <p:spPr>
          <a:xfrm>
            <a:off x="6261100" y="1460500"/>
            <a:ext cx="685800" cy="609600"/>
          </a:xfrm>
          <a:prstGeom prst="rect">
            <a:avLst/>
          </a:prstGeom>
          <a:noFill/>
          <a:ln w="12700">
            <a:solidFill>
              <a:srgbClr val="D61016"/>
            </a:solidFill>
          </a:ln>
        </p:spPr>
      </p:sp>
      <p:sp>
        <p:nvSpPr>
          <p:cNvPr id="121" name="Nonlinearity label"/>
          <p:cNvSpPr/>
          <p:nvPr/>
        </p:nvSpPr>
        <p:spPr>
          <a:xfrm>
            <a:off x="6318250" y="1320800"/>
            <a:ext cx="5715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D61016"/>
                      </a:solidFill>
                      <a:latin typeface="Cambria Math"/>
                    </a:rPr>
                    <m:t xml:space="preserve">φ</m:t>
                  </m:r>
                </m:oMath>
              </m:oMathPara>
            </a14:m>
            <a:endParaRPr sz="2500"/>
          </a:p>
        </p:txBody>
      </p:sp>
      <p:sp>
        <p:nvSpPr>
          <p:cNvPr id="122" name="Input label"/>
          <p:cNvSpPr/>
          <p:nvPr/>
        </p:nvSpPr>
        <p:spPr>
          <a:xfrm>
            <a:off x="5378450" y="1257300"/>
            <a:ext cx="571500" cy="5334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500">
                      <a:solidFill>
                        <a:srgbClr val="252529"/>
                      </a:solidFill>
                      <a:latin typeface="Cambria Math"/>
                    </a:rPr>
                    <m:t xml:space="preserve">z</m:t>
                  </m:r>
                </m:oMath>
              </m:oMathPara>
            </a14:m>
            <a:endParaRPr sz="1500"/>
          </a:p>
        </p:txBody>
      </p:sp>
      <p:sp>
        <p:nvSpPr>
          <p:cNvPr id="123" name="Output label"/>
          <p:cNvSpPr/>
          <p:nvPr/>
        </p:nvSpPr>
        <p:spPr>
          <a:xfrm>
            <a:off x="7385050" y="1257300"/>
            <a:ext cx="571500" cy="5334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500">
                      <a:solidFill>
                        <a:srgbClr val="252529"/>
                      </a:solidFill>
                      <a:latin typeface="Cambria Math"/>
                    </a:rPr>
                    <m:t xml:space="preserve">w</m:t>
                  </m:r>
                </m:oMath>
              </m:oMathPara>
            </a14:m>
            <a:endParaRPr sz="1500"/>
          </a:p>
        </p:txBody>
      </p:sp>
      <p:sp>
        <p:nvSpPr>
          <p:cNvPr id="124" name="Shifted map"/>
          <p:cNvSpPr/>
          <p:nvPr/>
        </p:nvSpPr>
        <p:spPr>
          <a:xfrm>
            <a:off x="4762500" y="2237740"/>
            <a:ext cx="38100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w</m:t>
                  </m:r>
                  <m:r>
                    <m:rPr>
                      <m:sty m:val="i"/>
                    </m:rPr>
                    <a:rPr sz="1700">
                      <a:solidFill>
                        <a:srgbClr val="252529"/>
                      </a:solidFill>
                      <a:latin typeface="Cambria Math"/>
                    </a:rPr>
                    <m:t xml:space="preserve">=</m:t>
                  </m:r>
                  <m:r>
                    <m:rPr>
                      <m:sty m:val="i"/>
                    </m:rPr>
                    <a:rPr sz="1700">
                      <a:solidFill>
                        <a:srgbClr val="252529"/>
                      </a:solidFill>
                      <a:latin typeface="Cambria Math"/>
                    </a:rPr>
                    <m:t xml:space="preserve">φ</m:t>
                  </m:r>
                  <m:d>
                    <m:dPr>
                      <m:begChr m:val="("/>
                      <m:endChr m:val=")"/>
                      <m:ctrlPr>
                        <a:rPr sz="1700">
                          <a:solidFill>
                            <a:srgbClr val="252529"/>
                          </a:solidFill>
                          <a:latin typeface="Cambria Math"/>
                        </a:rPr>
                      </m:ctrlPr>
                    </m:dPr>
                    <m:e>
                      <m:r>
                        <m:rPr>
                          <m:sty m:val="i"/>
                        </m:rPr>
                        <a:rPr sz="1700">
                          <a:solidFill>
                            <a:srgbClr val="252529"/>
                          </a:solidFill>
                          <a:latin typeface="Cambria Math"/>
                        </a:rPr>
                        <m:t xml:space="preserve">z</m:t>
                      </m:r>
                    </m:e>
                  </m:d>
                  <m:r>
                    <m:rPr>
                      <m:sty m:val="i"/>
                    </m:rPr>
                    <a:rPr sz="1700">
                      <a:solidFill>
                        <a:srgbClr val="252529"/>
                      </a:solidFill>
                      <a:latin typeface="Cambria Math"/>
                    </a:rPr>
                    <m:t xml:space="preserve">,</m:t>
                  </m:r>
                  <m:r>
                    <m:rPr>
                      <m:sty m:val="i"/>
                    </m:rPr>
                    <a:rPr sz="1700">
                      <a:solidFill>
                        <a:srgbClr val="252529"/>
                      </a:solidFill>
                      <a:latin typeface="Cambria Math"/>
                    </a:rPr>
                    <m:t xml:space="preserve"> </m:t>
                  </m:r>
                  <m:r>
                    <m:rPr>
                      <m:sty m:val="i"/>
                    </m:rPr>
                    <a:rPr sz="1700">
                      <a:solidFill>
                        <a:srgbClr val="252529"/>
                      </a:solidFill>
                      <a:latin typeface="Cambria Math"/>
                    </a:rPr>
                    <m:t xml:space="preserve"> </m:t>
                  </m:r>
                  <m:r>
                    <m:rPr>
                      <m:sty m:val="i"/>
                    </m:rPr>
                    <a:rPr sz="1700">
                      <a:solidFill>
                        <a:srgbClr val="252529"/>
                      </a:solidFill>
                      <a:latin typeface="Cambria Math"/>
                    </a:rPr>
                    <m:t xml:space="preserve"> </m:t>
                  </m:r>
                  <m:r>
                    <m:rPr>
                      <m:sty m:val="i"/>
                    </m:rPr>
                    <a:rPr sz="1700">
                      <a:solidFill>
                        <a:srgbClr val="252529"/>
                      </a:solidFill>
                      <a:latin typeface="Cambria Math"/>
                    </a:rPr>
                    <m:t xml:space="preserve">φ</m:t>
                  </m:r>
                  <m:d>
                    <m:dPr>
                      <m:begChr m:val="("/>
                      <m:endChr m:val=")"/>
                      <m:ctrlPr>
                        <a:rPr sz="1700">
                          <a:solidFill>
                            <a:srgbClr val="252529"/>
                          </a:solidFill>
                          <a:latin typeface="Cambria Math"/>
                        </a:rPr>
                      </m:ctrlPr>
                    </m:dPr>
                    <m:e>
                      <m:r>
                        <m:rPr>
                          <m:sty m:val="p"/>
                        </m:rPr>
                        <a:rPr sz="1700">
                          <a:solidFill>
                            <a:srgbClr val="252529"/>
                          </a:solidFill>
                          <a:latin typeface="Cambria Math"/>
                        </a:rPr>
                        <m:t xml:space="preserve">0</m:t>
                      </m:r>
                    </m:e>
                  </m:d>
                  <m:r>
                    <m:rPr>
                      <m:sty m:val="i"/>
                    </m:rPr>
                    <a:rPr sz="1700">
                      <a:solidFill>
                        <a:srgbClr val="252529"/>
                      </a:solidFill>
                      <a:latin typeface="Cambria Math"/>
                    </a:rPr>
                    <m:t xml:space="preserve">=</m:t>
                  </m:r>
                  <m:r>
                    <m:rPr>
                      <m:sty m:val="i"/>
                    </m:rPr>
                    <a:rPr sz="1700">
                      <a:solidFill>
                        <a:srgbClr val="252529"/>
                      </a:solidFill>
                      <a:latin typeface="Cambria Math"/>
                    </a:rPr>
                    <m:t xml:space="preserve">0</m:t>
                  </m:r>
                </m:oMath>
              </m:oMathPara>
            </a14:m>
            <a:endParaRPr sz="1700"/>
          </a:p>
        </p:txBody>
      </p:sp>
      <p:sp>
        <p:nvSpPr>
          <p:cNvPr id="125" name="Global sector"/>
          <p:cNvSpPr/>
          <p:nvPr/>
        </p:nvSpPr>
        <p:spPr>
          <a:xfrm>
            <a:off x="4730750" y="2682240"/>
            <a:ext cx="38735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α</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 </m:t>
                  </m:r>
                  <m:r>
                    <m:rPr>
                      <m:sty m:val="i"/>
                    </m:rPr>
                    <a:rPr sz="1700">
                      <a:solidFill>
                        <a:srgbClr val="252529"/>
                      </a:solidFill>
                      <a:latin typeface="Cambria Math"/>
                    </a:rPr>
                    <m:t xml:space="preserve"> </m:t>
                  </m:r>
                  <m:r>
                    <m:rPr>
                      <m:sty m:val="i"/>
                    </m:rPr>
                    <a:rPr sz="1700">
                      <a:solidFill>
                        <a:srgbClr val="252529"/>
                      </a:solidFill>
                      <a:latin typeface="Cambria Math"/>
                    </a:rPr>
                    <m:t xml:space="preserve"> </m:t>
                  </m:r>
                  <m:r>
                    <m:rPr>
                      <m:sty m:val="i"/>
                    </m:rPr>
                    <a:rPr sz="1700">
                      <a:solidFill>
                        <a:srgbClr val="252529"/>
                      </a:solidFill>
                      <a:latin typeface="Cambria Math"/>
                    </a:rPr>
                    <m:t xml:space="preserve">β</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3</m:t>
                  </m:r>
                  <m:r>
                    <m:rPr>
                      <m:sty m:val="i"/>
                    </m:rPr>
                    <a:rPr sz="1700">
                      <a:solidFill>
                        <a:srgbClr val="252529"/>
                      </a:solidFill>
                      <a:latin typeface="Cambria Math"/>
                    </a:rPr>
                    <m:t xml:space="preserve">4</m:t>
                  </m:r>
                  <m:r>
                    <m:rPr>
                      <m:sty m:val="i"/>
                    </m:rPr>
                    <a:rPr sz="1700">
                      <a:solidFill>
                        <a:srgbClr val="252529"/>
                      </a:solidFill>
                      <a:latin typeface="Cambria Math"/>
                    </a:rPr>
                    <m:t xml:space="preserve">4</m:t>
                  </m:r>
                </m:oMath>
              </m:oMathPara>
            </a14:m>
            <a:endParaRPr sz="1700"/>
          </a:p>
        </p:txBody>
      </p:sp>
      <p:sp>
        <p:nvSpPr>
          <p:cNvPr id="126" name="Equilibrium-shifted sigmoid"/>
          <p:cNvSpPr/>
          <p:nvPr/>
        </p:nvSpPr>
        <p:spPr>
          <a:xfrm>
            <a:off x="444500" y="3792220"/>
            <a:ext cx="82550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600">
                      <a:solidFill>
                        <a:srgbClr val="252529"/>
                      </a:solidFill>
                      <a:latin typeface="Cambria Math"/>
                    </a:rPr>
                    <m:t xml:space="preserve">φ</m:t>
                  </m:r>
                  <m:d>
                    <m:dPr>
                      <m:begChr m:val="("/>
                      <m:endChr m:val=")"/>
                      <m:ctrlPr>
                        <a:rPr sz="1600">
                          <a:solidFill>
                            <a:srgbClr val="252529"/>
                          </a:solidFill>
                          <a:latin typeface="Cambria Math"/>
                        </a:rPr>
                      </m:ctrlPr>
                    </m:dPr>
                    <m:e>
                      <m:r>
                        <m:rPr>
                          <m:sty m:val="i"/>
                        </m:rPr>
                        <a:rPr sz="1600">
                          <a:solidFill>
                            <a:srgbClr val="252529"/>
                          </a:solidFill>
                          <a:latin typeface="Cambria Math"/>
                        </a:rPr>
                        <m:t xml:space="preserve">z</m:t>
                      </m:r>
                    </m:e>
                  </m:d>
                  <m:r>
                    <m:rPr>
                      <m:sty m:val="i"/>
                    </m:rPr>
                    <a:rPr sz="1600">
                      <a:solidFill>
                        <a:srgbClr val="252529"/>
                      </a:solidFill>
                      <a:latin typeface="Cambria Math"/>
                    </a:rPr>
                    <m:t xml:space="preserve">=</m:t>
                  </m:r>
                  <m:f>
                    <m:fPr>
                      <m:ctrlPr>
                        <a:rPr sz="1600">
                          <a:solidFill>
                            <a:srgbClr val="252529"/>
                          </a:solidFill>
                          <a:latin typeface="Cambria Math"/>
                        </a:rPr>
                      </m:ctrlPr>
                    </m:fPr>
                    <m:num>
                      <m:r>
                        <m:rPr>
                          <m:sty m:val="i"/>
                        </m:rPr>
                        <a:rPr sz="1600">
                          <a:solidFill>
                            <a:srgbClr val="252529"/>
                          </a:solidFill>
                          <a:latin typeface="Cambria Math"/>
                        </a:rPr>
                        <m:t xml:space="preserve">M</m:t>
                      </m:r>
                    </m:num>
                    <m:den>
                      <m:r>
                        <m:rPr>
                          <m:sty m:val="p"/>
                        </m:rPr>
                        <a:rPr sz="1600">
                          <a:solidFill>
                            <a:srgbClr val="252529"/>
                          </a:solidFill>
                          <a:latin typeface="Cambria Math"/>
                        </a:rPr>
                        <m:t xml:space="preserve">2</m:t>
                      </m:r>
                    </m:den>
                  </m:f>
                  <m:d>
                    <m:dPr>
                      <m:begChr m:val="["/>
                      <m:endChr m:val="]"/>
                      <m:ctrlPr>
                        <a:rPr sz="1600">
                          <a:solidFill>
                            <a:srgbClr val="252529"/>
                          </a:solidFill>
                          <a:latin typeface="Cambria Math"/>
                        </a:rPr>
                      </m:ctrlPr>
                    </m:dPr>
                    <m:e>
                      <m:r>
                        <m:rPr>
                          <m:sty m:val="p"/>
                        </m:rPr>
                        <a:rPr sz="1600">
                          <a:solidFill>
                            <a:srgbClr val="252529"/>
                          </a:solidFill>
                          <a:latin typeface="Cambria Math"/>
                        </a:rPr>
                        <m:t xml:space="preserve">t</m:t>
                      </m:r>
                      <m:r>
                        <m:rPr>
                          <m:sty m:val="p"/>
                        </m:rPr>
                        <a:rPr sz="1600">
                          <a:solidFill>
                            <a:srgbClr val="252529"/>
                          </a:solidFill>
                          <a:latin typeface="Cambria Math"/>
                        </a:rPr>
                        <m:t xml:space="preserve">a</m:t>
                      </m:r>
                      <m:r>
                        <m:rPr>
                          <m:sty m:val="p"/>
                        </m:rPr>
                        <a:rPr sz="1600">
                          <a:solidFill>
                            <a:srgbClr val="252529"/>
                          </a:solidFill>
                          <a:latin typeface="Cambria Math"/>
                        </a:rPr>
                        <m:t xml:space="preserve">n</m:t>
                      </m:r>
                      <m:r>
                        <m:rPr>
                          <m:sty m:val="p"/>
                        </m:rPr>
                        <a:rPr sz="1600">
                          <a:solidFill>
                            <a:srgbClr val="252529"/>
                          </a:solidFill>
                          <a:latin typeface="Cambria Math"/>
                        </a:rPr>
                        <m:t xml:space="preserve">h</m:t>
                      </m:r>
                      <m:d>
                        <m:dPr>
                          <m:begChr m:val="("/>
                          <m:endChr m:val=")"/>
                          <m:ctrlPr>
                            <a:rPr sz="1600">
                              <a:solidFill>
                                <a:srgbClr val="252529"/>
                              </a:solidFill>
                              <a:latin typeface="Cambria Math"/>
                            </a:rPr>
                          </m:ctrlPr>
                        </m:dPr>
                        <m:e>
                          <m:f>
                            <m:fPr>
                              <m:ctrlPr>
                                <a:rPr sz="1600">
                                  <a:solidFill>
                                    <a:srgbClr val="252529"/>
                                  </a:solidFill>
                                  <a:latin typeface="Cambria Math"/>
                                </a:rPr>
                              </m:ctrlPr>
                            </m:fPr>
                            <m:num>
                              <m:r>
                                <m:rPr>
                                  <m:sty m:val="i"/>
                                </m:rPr>
                                <a:rPr sz="1600">
                                  <a:solidFill>
                                    <a:srgbClr val="252529"/>
                                  </a:solidFill>
                                  <a:latin typeface="Cambria Math"/>
                                </a:rPr>
                                <m:t xml:space="preserve">2</m:t>
                              </m:r>
                              <m:d>
                                <m:dPr>
                                  <m:begChr m:val="("/>
                                  <m:endChr m:val=")"/>
                                  <m:ctrlPr>
                                    <a:rPr sz="1600">
                                      <a:solidFill>
                                        <a:srgbClr val="252529"/>
                                      </a:solidFill>
                                      <a:latin typeface="Cambria Math"/>
                                    </a:rPr>
                                  </m:ctrlPr>
                                </m:dPr>
                                <m:e>
                                  <m:sSup>
                                    <m:sSupPr>
                                      <m:ctrlPr>
                                        <a:rPr sz="1600">
                                          <a:solidFill>
                                            <a:srgbClr val="252529"/>
                                          </a:solidFill>
                                          <a:latin typeface="Cambria Math"/>
                                        </a:rPr>
                                      </m:ctrlPr>
                                    </m:sSupPr>
                                    <m:e>
                                      <m:r>
                                        <m:rPr>
                                          <m:sty m:val="i"/>
                                        </m:rPr>
                                        <a:rPr sz="1600">
                                          <a:solidFill>
                                            <a:srgbClr val="252529"/>
                                          </a:solidFill>
                                          <a:latin typeface="Cambria Math"/>
                                        </a:rPr>
                                        <m:t xml:space="preserve">z</m:t>
                                      </m:r>
                                    </m:e>
                                    <m:sup>
                                      <m:r>
                                        <m:rPr>
                                          <m:sty m:val="p"/>
                                        </m:rPr>
                                        <a:rPr sz="1600">
                                          <a:solidFill>
                                            <a:srgbClr val="252529"/>
                                          </a:solidFill>
                                          <a:latin typeface="Cambria Math"/>
                                        </a:rPr>
                                        <m:t xml:space="preserve">*</m:t>
                                      </m:r>
                                    </m:sup>
                                  </m:sSup>
                                  <m:r>
                                    <m:rPr>
                                      <m:sty m:val="i"/>
                                    </m:rPr>
                                    <a:rPr sz="1600">
                                      <a:solidFill>
                                        <a:srgbClr val="252529"/>
                                      </a:solidFill>
                                      <a:latin typeface="Cambria Math"/>
                                    </a:rPr>
                                    <m:t xml:space="preserve">+</m:t>
                                  </m:r>
                                  <m:r>
                                    <m:rPr>
                                      <m:sty m:val="i"/>
                                    </m:rPr>
                                    <a:rPr sz="1600">
                                      <a:solidFill>
                                        <a:srgbClr val="252529"/>
                                      </a:solidFill>
                                      <a:latin typeface="Cambria Math"/>
                                    </a:rPr>
                                    <m:t xml:space="preserve">z</m:t>
                                  </m:r>
                                </m:e>
                              </m:d>
                            </m:num>
                            <m:den>
                              <m:r>
                                <m:rPr>
                                  <m:sty m:val="i"/>
                                </m:rPr>
                                <a:rPr sz="1600">
                                  <a:solidFill>
                                    <a:srgbClr val="252529"/>
                                  </a:solidFill>
                                  <a:latin typeface="Cambria Math"/>
                                </a:rPr>
                                <m:t xml:space="preserve">M</m:t>
                              </m:r>
                            </m:den>
                          </m:f>
                        </m:e>
                      </m:d>
                      <m:r>
                        <m:rPr>
                          <m:sty m:val="i"/>
                        </m:rPr>
                        <a:rPr sz="1600">
                          <a:solidFill>
                            <a:srgbClr val="252529"/>
                          </a:solidFill>
                          <a:latin typeface="Cambria Math"/>
                        </a:rPr>
                        <m:t xml:space="preserve">−</m:t>
                      </m:r>
                      <m:r>
                        <m:rPr>
                          <m:sty m:val="p"/>
                        </m:rPr>
                        <a:rPr sz="1600">
                          <a:solidFill>
                            <a:srgbClr val="252529"/>
                          </a:solidFill>
                          <a:latin typeface="Cambria Math"/>
                        </a:rPr>
                        <m:t xml:space="preserve">t</m:t>
                      </m:r>
                      <m:r>
                        <m:rPr>
                          <m:sty m:val="p"/>
                        </m:rPr>
                        <a:rPr sz="1600">
                          <a:solidFill>
                            <a:srgbClr val="252529"/>
                          </a:solidFill>
                          <a:latin typeface="Cambria Math"/>
                        </a:rPr>
                        <m:t xml:space="preserve">a</m:t>
                      </m:r>
                      <m:r>
                        <m:rPr>
                          <m:sty m:val="p"/>
                        </m:rPr>
                        <a:rPr sz="1600">
                          <a:solidFill>
                            <a:srgbClr val="252529"/>
                          </a:solidFill>
                          <a:latin typeface="Cambria Math"/>
                        </a:rPr>
                        <m:t xml:space="preserve">n</m:t>
                      </m:r>
                      <m:r>
                        <m:rPr>
                          <m:sty m:val="p"/>
                        </m:rPr>
                        <a:rPr sz="1600">
                          <a:solidFill>
                            <a:srgbClr val="252529"/>
                          </a:solidFill>
                          <a:latin typeface="Cambria Math"/>
                        </a:rPr>
                        <m:t xml:space="preserve">h</m:t>
                      </m:r>
                      <m:d>
                        <m:dPr>
                          <m:begChr m:val="("/>
                          <m:endChr m:val=")"/>
                          <m:ctrlPr>
                            <a:rPr sz="1600">
                              <a:solidFill>
                                <a:srgbClr val="252529"/>
                              </a:solidFill>
                              <a:latin typeface="Cambria Math"/>
                            </a:rPr>
                          </m:ctrlPr>
                        </m:dPr>
                        <m:e>
                          <m:f>
                            <m:fPr>
                              <m:ctrlPr>
                                <a:rPr sz="1600">
                                  <a:solidFill>
                                    <a:srgbClr val="252529"/>
                                  </a:solidFill>
                                  <a:latin typeface="Cambria Math"/>
                                </a:rPr>
                              </m:ctrlPr>
                            </m:fPr>
                            <m:num>
                              <m:r>
                                <m:rPr>
                                  <m:sty m:val="i"/>
                                </m:rPr>
                                <a:rPr sz="1600">
                                  <a:solidFill>
                                    <a:srgbClr val="252529"/>
                                  </a:solidFill>
                                  <a:latin typeface="Cambria Math"/>
                                </a:rPr>
                                <m:t xml:space="preserve">2</m:t>
                              </m:r>
                              <m:sSup>
                                <m:sSupPr>
                                  <m:ctrlPr>
                                    <a:rPr sz="1600">
                                      <a:solidFill>
                                        <a:srgbClr val="252529"/>
                                      </a:solidFill>
                                      <a:latin typeface="Cambria Math"/>
                                    </a:rPr>
                                  </m:ctrlPr>
                                </m:sSupPr>
                                <m:e>
                                  <m:r>
                                    <m:rPr>
                                      <m:sty m:val="i"/>
                                    </m:rPr>
                                    <a:rPr sz="1600">
                                      <a:solidFill>
                                        <a:srgbClr val="252529"/>
                                      </a:solidFill>
                                      <a:latin typeface="Cambria Math"/>
                                    </a:rPr>
                                    <m:t xml:space="preserve">z</m:t>
                                  </m:r>
                                </m:e>
                                <m:sup>
                                  <m:r>
                                    <m:rPr>
                                      <m:sty m:val="p"/>
                                    </m:rPr>
                                    <a:rPr sz="1600">
                                      <a:solidFill>
                                        <a:srgbClr val="252529"/>
                                      </a:solidFill>
                                      <a:latin typeface="Cambria Math"/>
                                    </a:rPr>
                                    <m:t xml:space="preserve">*</m:t>
                                  </m:r>
                                </m:sup>
                              </m:sSup>
                            </m:num>
                            <m:den>
                              <m:r>
                                <m:rPr>
                                  <m:sty m:val="i"/>
                                </m:rPr>
                                <a:rPr sz="1600">
                                  <a:solidFill>
                                    <a:srgbClr val="252529"/>
                                  </a:solidFill>
                                  <a:latin typeface="Cambria Math"/>
                                </a:rPr>
                                <m:t xml:space="preserve">M</m:t>
                              </m:r>
                            </m:den>
                          </m:f>
                        </m:e>
                      </m:d>
                    </m:e>
                  </m:d>
                </m:oMath>
              </m:oMathPara>
            </a14:m>
            <a:endParaRPr sz="1600"/>
          </a:p>
        </p:txBody>
      </p:sp>
      <p:sp>
        <p:nvSpPr>
          <p:cNvPr id="127" name="STN parameters"/>
          <p:cNvSpPr/>
          <p:nvPr/>
        </p:nvSpPr>
        <p:spPr>
          <a:xfrm>
            <a:off x="762000" y="4302760"/>
            <a:ext cx="7620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M</m:t>
                  </m:r>
                  <m:r>
                    <m:rPr>
                      <m:sty m:val="i"/>
                    </m:rPr>
                    <a:rPr sz="1300">
                      <a:solidFill>
                        <a:srgbClr val="252529"/>
                      </a:solidFill>
                      <a:latin typeface="Cambria Math"/>
                    </a:rPr>
                    <m:t xml:space="preserve">=</m:t>
                  </m:r>
                  <m:r>
                    <m:rPr>
                      <m:sty m:val="i"/>
                    </m:rPr>
                    <a:rPr sz="1300">
                      <a:solidFill>
                        <a:srgbClr val="252529"/>
                      </a:solidFill>
                      <a:latin typeface="Cambria Math"/>
                    </a:rPr>
                    <m:t xml:space="preserve">3</m:t>
                  </m:r>
                  <m:r>
                    <m:rPr>
                      <m:sty m:val="i"/>
                    </m:rPr>
                    <a:rPr sz="1300">
                      <a:solidFill>
                        <a:srgbClr val="252529"/>
                      </a:solidFill>
                      <a:latin typeface="Cambria Math"/>
                    </a:rPr>
                    <m:t xml:space="preserve">0</m:t>
                  </m:r>
                  <m:r>
                    <m:rPr>
                      <m:sty m:val="i"/>
                    </m:rPr>
                    <a:rPr sz="1300">
                      <a:solidFill>
                        <a:srgbClr val="252529"/>
                      </a:solidFill>
                      <a:latin typeface="Cambria Math"/>
                    </a:rPr>
                    <m:t xml:space="preserve">0</m:t>
                  </m:r>
                  <m:r>
                    <m:rPr>
                      <m:sty m:val="i"/>
                    </m:rPr>
                    <a:rPr sz="1300">
                      <a:solidFill>
                        <a:srgbClr val="252529"/>
                      </a:solidFill>
                      <a:latin typeface="Cambria Math"/>
                    </a:rPr>
                    <m:t xml:space="preserve">,</m:t>
                  </m:r>
                  <m:r>
                    <m:rPr>
                      <m:sty m:val="i"/>
                    </m:rPr>
                    <a:rPr sz="1300">
                      <a:solidFill>
                        <a:srgbClr val="252529"/>
                      </a:solidFill>
                      <a:latin typeface="Cambria Math"/>
                    </a:rPr>
                    <m:t xml:space="preserve"> </m:t>
                  </m:r>
                  <m:r>
                    <m:rPr>
                      <m:sty m:val="i"/>
                    </m:rPr>
                    <a:rPr sz="1300">
                      <a:solidFill>
                        <a:srgbClr val="252529"/>
                      </a:solidFill>
                      <a:latin typeface="Cambria Math"/>
                    </a:rPr>
                    <m:t xml:space="preserve"> </m:t>
                  </m:r>
                  <m:r>
                    <m:rPr>
                      <m:sty m:val="i"/>
                    </m:rPr>
                    <a:rPr sz="1300">
                      <a:solidFill>
                        <a:srgbClr val="252529"/>
                      </a:solidFill>
                      <a:latin typeface="Cambria Math"/>
                    </a:rPr>
                    <m:t xml:space="preserve"> </m:t>
                  </m:r>
                  <m:sSup>
                    <m:sSupPr>
                      <m:ctrlPr>
                        <a:rPr sz="1300">
                          <a:solidFill>
                            <a:srgbClr val="252529"/>
                          </a:solidFill>
                          <a:latin typeface="Cambria Math"/>
                        </a:rPr>
                      </m:ctrlPr>
                    </m:sSupPr>
                    <m:e>
                      <m:r>
                        <m:rPr>
                          <m:sty m:val="i"/>
                        </m:rPr>
                        <a:rPr sz="1300">
                          <a:solidFill>
                            <a:srgbClr val="252529"/>
                          </a:solidFill>
                          <a:latin typeface="Cambria Math"/>
                        </a:rPr>
                        <m:t xml:space="preserve">z</m:t>
                      </m:r>
                    </m:e>
                    <m:sup>
                      <m:r>
                        <m:rPr>
                          <m:sty m:val="p"/>
                        </m:rPr>
                        <a:rPr sz="1300">
                          <a:solidFill>
                            <a:srgbClr val="252529"/>
                          </a:solidFill>
                          <a:latin typeface="Cambria Math"/>
                        </a:rPr>
                        <m:t xml:space="preserve">*</m:t>
                      </m:r>
                    </m:sup>
                  </m:sSup>
                  <m:r>
                    <m:rPr>
                      <m:sty m:val="i"/>
                    </m:rPr>
                    <a:rPr sz="1300">
                      <a:solidFill>
                        <a:srgbClr val="252529"/>
                      </a:solidFill>
                      <a:latin typeface="Cambria Math"/>
                    </a:rPr>
                    <m:t xml:space="preserve">≈</m:t>
                  </m:r>
                  <m:r>
                    <m:rPr>
                      <m:sty m:val="i"/>
                    </m:rPr>
                    <a:rPr sz="1300">
                      <a:solidFill>
                        <a:srgbClr val="252529"/>
                      </a:solidFill>
                      <a:latin typeface="Cambria Math"/>
                    </a:rPr>
                    <m:t xml:space="preserve">−</m:t>
                  </m:r>
                  <m:r>
                    <m:rPr>
                      <m:sty m:val="i"/>
                    </m:rPr>
                    <a:rPr sz="1300">
                      <a:solidFill>
                        <a:srgbClr val="252529"/>
                      </a:solidFill>
                      <a:latin typeface="Cambria Math"/>
                    </a:rPr>
                    <m:t xml:space="preserve">1</m:t>
                  </m:r>
                  <m:r>
                    <m:rPr>
                      <m:sty m:val="i"/>
                    </m:rPr>
                    <a:rPr sz="1300">
                      <a:solidFill>
                        <a:srgbClr val="252529"/>
                      </a:solidFill>
                      <a:latin typeface="Cambria Math"/>
                    </a:rPr>
                    <m:t xml:space="preserve">9</m:t>
                  </m:r>
                  <m:r>
                    <m:rPr>
                      <m:sty m:val="i"/>
                    </m:rPr>
                    <a:rPr sz="1300">
                      <a:solidFill>
                        <a:srgbClr val="252529"/>
                      </a:solidFill>
                      <a:latin typeface="Cambria Math"/>
                    </a:rPr>
                    <m:t xml:space="preserve">6</m:t>
                  </m:r>
                  <m:r>
                    <m:rPr>
                      <m:sty m:val="i"/>
                    </m:rPr>
                    <a:rPr sz="1300">
                      <a:solidFill>
                        <a:srgbClr val="252529"/>
                      </a:solidFill>
                      <a:latin typeface="Cambria Math"/>
                    </a:rPr>
                    <m:t xml:space="preserve">.</m:t>
                  </m:r>
                  <m:r>
                    <m:rPr>
                      <m:sty m:val="i"/>
                    </m:rPr>
                    <a:rPr sz="1300">
                      <a:solidFill>
                        <a:srgbClr val="252529"/>
                      </a:solidFill>
                      <a:latin typeface="Cambria Math"/>
                    </a:rPr>
                    <m:t xml:space="preserve">1</m:t>
                  </m:r>
                  <m:r>
                    <m:rPr>
                      <m:sty m:val="i"/>
                    </m:rPr>
                    <a:rPr sz="1300">
                      <a:solidFill>
                        <a:srgbClr val="252529"/>
                      </a:solidFill>
                      <a:latin typeface="Cambria Math"/>
                    </a:rPr>
                    <m:t xml:space="preserve">7</m:t>
                  </m:r>
                </m:oMath>
              </m:oMathPara>
            </a14:m>
            <a:endParaRPr sz="1300"/>
          </a:p>
        </p:txBody>
      </p:sp>
      <p:sp>
        <p:nvSpPr>
          <p:cNvPr id="128"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29"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1</a:t>
            </a:r>
            <a:endParaRPr sz="8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aseline="0" b="1" i="0" u="none">
                <a:solidFill>
                  <a:srgbClr val="252529"/>
                </a:solidFill>
                <a:latin typeface="Aptos"/>
                <a:ea typeface="Aptos"/>
                <a:cs typeface="Aptos"/>
              </a:rPr>
              <a:t xml:space="preserve">The sector gives two signed gaps</a:t>
            </a:r>
            <a:endParaRPr sz="2300"/>
          </a:p>
        </p:txBody>
      </p:sp>
      <p:sp>
        <p:nvSpPr>
          <p:cNvPr id="102" name="Global sector [0, beta]"/>
          <p:cNvSpPr/>
          <p:nvPr/>
        </p:nvSpPr>
        <p:spPr>
          <a:xfrm>
            <a:off x="660400" y="2286000"/>
            <a:ext cx="1739900" cy="958103"/>
          </a:xfrm>
          <a:custGeom>
            <a:avLst/>
            <a:gdLst/>
            <a:ahLst/>
            <a:cxnLst/>
            <a:rect l="0" t="0" r="r" b="b"/>
            <a:pathLst>
              <a:path w="1739900" h="958103" fill="norm">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fill="norm">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z</m:t>
                  </m:r>
                </m:oMath>
              </m:oMathPara>
            </a14:m>
            <a:endParaRPr sz="1200"/>
          </a:p>
        </p:txBody>
      </p:sp>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w</m:t>
                  </m:r>
                </m:oMath>
              </m:oMathPara>
            </a14:m>
            <a:endParaRPr sz="1200"/>
          </a:p>
        </p:txBody>
      </p:sp>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β</m:t>
                  </m:r>
                  <m:r>
                    <m:rPr>
                      <m:sty m:val="i"/>
                    </m:rPr>
                    <a:rPr sz="1200">
                      <a:solidFill>
                        <a:srgbClr val="252529"/>
                      </a:solidFill>
                      <a:latin typeface="Cambria Math"/>
                    </a:rPr>
                    <m:t xml:space="preserve">z</m:t>
                  </m:r>
                </m:oMath>
              </m:oMathPara>
            </a14:m>
            <a:endParaRPr sz="1200"/>
          </a:p>
        </p:txBody>
      </p:sp>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α</m:t>
                  </m:r>
                  <m:r>
                    <m:rPr>
                      <m:sty m:val="i"/>
                    </m:rPr>
                    <a:rPr sz="1100">
                      <a:solidFill>
                        <a:srgbClr val="252529"/>
                      </a:solidFill>
                      <a:latin typeface="Cambria Math"/>
                    </a:rPr>
                    <m:t xml:space="preserve">z</m:t>
                  </m:r>
                  <m:r>
                    <m:rPr>
                      <m:sty m:val="i"/>
                    </m:rPr>
                    <a:rPr sz="1100">
                      <a:solidFill>
                        <a:srgbClr val="252529"/>
                      </a:solidFill>
                      <a:latin typeface="Cambria Math"/>
                    </a:rPr>
                    <m:t xml:space="preserve">=</m:t>
                  </m:r>
                  <m:r>
                    <m:rPr>
                      <m:sty m:val="i"/>
                    </m:rPr>
                    <a:rPr sz="1100">
                      <a:solidFill>
                        <a:srgbClr val="252529"/>
                      </a:solidFill>
                      <a:latin typeface="Cambria Math"/>
                    </a:rPr>
                    <m:t xml:space="preserve">0</m:t>
                  </m:r>
                </m:oMath>
              </m:oMathPara>
            </a14:m>
            <a:endParaRPr sz="1100"/>
          </a:p>
        </p:txBody>
      </p:sp>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2" name="Sample point"/>
          <p:cNvSpPr/>
          <p:nvPr/>
        </p:nvSpPr>
        <p:spPr>
          <a:xfrm>
            <a:off x="2818765" y="2085168"/>
            <a:ext cx="63500" cy="63500"/>
          </a:xfrm>
          <a:prstGeom prst="ellipse">
            <a:avLst/>
          </a:prstGeom>
          <a:solidFill>
            <a:srgbClr val="D61016"/>
          </a:solidFill>
          <a:ln>
            <a:noFill/>
          </a:ln>
        </p:spPr>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aseline="0" b="0" i="0" u="none">
                <a:solidFill>
                  <a:srgbClr val="747B82"/>
                </a:solidFill>
                <a:latin typeface="Aptos"/>
                <a:ea typeface="Aptos"/>
                <a:cs typeface="Aptos"/>
              </a:rPr>
              <a:t xml:space="preserve">STN activation about its equilibrium</a:t>
            </a:r>
            <a:endParaRPr sz="1000"/>
          </a:p>
        </p:txBody>
      </p:sp>
      <p:sp>
        <p:nvSpPr>
          <p:cNvPr id="124" name="Nonlinearity input"/>
          <p:cNvSpPr/>
          <p:nvPr/>
        </p:nvSpPr>
        <p:spPr>
          <a:xfrm>
            <a:off x="53086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5" name="Nonlinearity output"/>
          <p:cNvSpPr/>
          <p:nvPr/>
        </p:nvSpPr>
        <p:spPr>
          <a:xfrm>
            <a:off x="6934200" y="1752600"/>
            <a:ext cx="1333500" cy="25400"/>
          </a:xfrm>
          <a:custGeom>
            <a:avLst/>
            <a:gdLst/>
            <a:ahLst/>
            <a:cxnLst/>
            <a:rect l="0" t="0" r="r" b="b"/>
            <a:pathLst>
              <a:path w="1333500" h="25400" fill="none">
                <a:moveTo>
                  <a:pt x="12700" y="12700"/>
                </a:moveTo>
                <a:lnTo>
                  <a:pt x="1320800" y="12700"/>
                </a:lnTo>
              </a:path>
            </a:pathLst>
          </a:custGeom>
          <a:noFill/>
          <a:ln w="12700">
            <a:solidFill>
              <a:srgbClr val="252529"/>
            </a:solidFill>
            <a:round/>
            <a:tailEnd type="triangle" w="sm" len="sm"/>
          </a:ln>
        </p:spPr>
      </p:sp>
      <p:sp>
        <p:nvSpPr>
          <p:cNvPr id="126" name="Shifted activation block"/>
          <p:cNvSpPr/>
          <p:nvPr/>
        </p:nvSpPr>
        <p:spPr>
          <a:xfrm>
            <a:off x="6261100" y="1460500"/>
            <a:ext cx="685800" cy="609600"/>
          </a:xfrm>
          <a:prstGeom prst="rect">
            <a:avLst/>
          </a:prstGeom>
          <a:noFill/>
          <a:ln w="12700">
            <a:solidFill>
              <a:srgbClr val="D61016"/>
            </a:solidFill>
          </a:ln>
        </p:spPr>
      </p:sp>
      <p:sp>
        <p:nvSpPr>
          <p:cNvPr id="127" name="Nonlinearity label"/>
          <p:cNvSpPr/>
          <p:nvPr/>
        </p:nvSpPr>
        <p:spPr>
          <a:xfrm>
            <a:off x="6318250" y="1320800"/>
            <a:ext cx="5715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D61016"/>
                      </a:solidFill>
                      <a:latin typeface="Cambria Math"/>
                    </a:rPr>
                    <m:t xml:space="preserve">φ</m:t>
                  </m:r>
                </m:oMath>
              </m:oMathPara>
            </a14:m>
            <a:endParaRPr sz="2500"/>
          </a:p>
        </p:txBody>
      </p:sp>
      <p:sp>
        <p:nvSpPr>
          <p:cNvPr id="128" name="Input label"/>
          <p:cNvSpPr/>
          <p:nvPr/>
        </p:nvSpPr>
        <p:spPr>
          <a:xfrm>
            <a:off x="5378450" y="1257300"/>
            <a:ext cx="571500" cy="5334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500">
                      <a:solidFill>
                        <a:srgbClr val="252529"/>
                      </a:solidFill>
                      <a:latin typeface="Cambria Math"/>
                    </a:rPr>
                    <m:t xml:space="preserve">z</m:t>
                  </m:r>
                </m:oMath>
              </m:oMathPara>
            </a14:m>
            <a:endParaRPr sz="1500"/>
          </a:p>
        </p:txBody>
      </p:sp>
      <p:sp>
        <p:nvSpPr>
          <p:cNvPr id="129" name="Output label"/>
          <p:cNvSpPr/>
          <p:nvPr/>
        </p:nvSpPr>
        <p:spPr>
          <a:xfrm>
            <a:off x="7385050" y="1257300"/>
            <a:ext cx="571500" cy="5334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500">
                      <a:solidFill>
                        <a:srgbClr val="252529"/>
                      </a:solidFill>
                      <a:latin typeface="Cambria Math"/>
                    </a:rPr>
                    <m:t xml:space="preserve">w</m:t>
                  </m:r>
                </m:oMath>
              </m:oMathPara>
            </a14:m>
            <a:endParaRPr sz="1500"/>
          </a:p>
        </p:txBody>
      </p:sp>
      <p:sp>
        <p:nvSpPr>
          <p:cNvPr id="130" name="Upper gap"/>
          <p:cNvSpPr/>
          <p:nvPr/>
        </p:nvSpPr>
        <p:spPr>
          <a:xfrm>
            <a:off x="4857750" y="2171700"/>
            <a:ext cx="3619500" cy="711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000">
                      <a:solidFill>
                        <a:srgbClr val="216F9C"/>
                      </a:solidFill>
                      <a:latin typeface="Cambria Math"/>
                    </a:rPr>
                    <m:t xml:space="preserve">a</m:t>
                  </m:r>
                  <m:r>
                    <m:rPr>
                      <m:sty m:val="i"/>
                    </m:rPr>
                    <a:rPr sz="2000">
                      <a:solidFill>
                        <a:srgbClr val="216F9C"/>
                      </a:solidFill>
                      <a:latin typeface="Cambria Math"/>
                    </a:rPr>
                    <m:t xml:space="preserve">=</m:t>
                  </m:r>
                  <m:r>
                    <m:rPr>
                      <m:sty m:val="i"/>
                    </m:rPr>
                    <a:rPr sz="2000">
                      <a:solidFill>
                        <a:srgbClr val="216F9C"/>
                      </a:solidFill>
                      <a:latin typeface="Cambria Math"/>
                    </a:rPr>
                    <m:t xml:space="preserve">β</m:t>
                  </m:r>
                  <m:r>
                    <m:rPr>
                      <m:sty m:val="i"/>
                    </m:rPr>
                    <a:rPr sz="2000">
                      <a:solidFill>
                        <a:srgbClr val="216F9C"/>
                      </a:solidFill>
                      <a:latin typeface="Cambria Math"/>
                    </a:rPr>
                    <m:t xml:space="preserve">z</m:t>
                  </m:r>
                  <m:r>
                    <m:rPr>
                      <m:sty m:val="i"/>
                    </m:rPr>
                    <a:rPr sz="2000">
                      <a:solidFill>
                        <a:srgbClr val="216F9C"/>
                      </a:solidFill>
                      <a:latin typeface="Cambria Math"/>
                    </a:rPr>
                    <m:t xml:space="preserve">−</m:t>
                  </m:r>
                  <m:r>
                    <m:rPr>
                      <m:sty m:val="i"/>
                    </m:rPr>
                    <a:rPr sz="2000">
                      <a:solidFill>
                        <a:srgbClr val="216F9C"/>
                      </a:solidFill>
                      <a:latin typeface="Cambria Math"/>
                    </a:rPr>
                    <m:t xml:space="preserve">w</m:t>
                  </m:r>
                </m:oMath>
              </m:oMathPara>
            </a14:m>
            <a:endParaRPr sz="2000"/>
          </a:p>
        </p:txBody>
      </p:sp>
      <p:sp>
        <p:nvSpPr>
          <p:cNvPr id="131" name="Lower gap"/>
          <p:cNvSpPr/>
          <p:nvPr/>
        </p:nvSpPr>
        <p:spPr>
          <a:xfrm>
            <a:off x="4635500" y="2654300"/>
            <a:ext cx="4064000" cy="711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000">
                      <a:solidFill>
                        <a:srgbClr val="147C60"/>
                      </a:solidFill>
                      <a:latin typeface="Cambria Math"/>
                    </a:rPr>
                    <m:t xml:space="preserve">b</m:t>
                  </m:r>
                  <m:r>
                    <m:rPr>
                      <m:sty m:val="i"/>
                    </m:rPr>
                    <a:rPr sz="2000">
                      <a:solidFill>
                        <a:srgbClr val="147C60"/>
                      </a:solidFill>
                      <a:latin typeface="Cambria Math"/>
                    </a:rPr>
                    <m:t xml:space="preserve">=</m:t>
                  </m:r>
                  <m:r>
                    <m:rPr>
                      <m:sty m:val="i"/>
                    </m:rPr>
                    <a:rPr sz="2000">
                      <a:solidFill>
                        <a:srgbClr val="147C60"/>
                      </a:solidFill>
                      <a:latin typeface="Cambria Math"/>
                    </a:rPr>
                    <m:t xml:space="preserve">w</m:t>
                  </m:r>
                  <m:r>
                    <m:rPr>
                      <m:sty m:val="i"/>
                    </m:rPr>
                    <a:rPr sz="2000">
                      <a:solidFill>
                        <a:srgbClr val="147C60"/>
                      </a:solidFill>
                      <a:latin typeface="Cambria Math"/>
                    </a:rPr>
                    <m:t xml:space="preserve">−</m:t>
                  </m:r>
                  <m:r>
                    <m:rPr>
                      <m:sty m:val="i"/>
                    </m:rPr>
                    <a:rPr sz="2000">
                      <a:solidFill>
                        <a:srgbClr val="147C60"/>
                      </a:solidFill>
                      <a:latin typeface="Cambria Math"/>
                    </a:rPr>
                    <m:t xml:space="preserve">α</m:t>
                  </m:r>
                  <m:r>
                    <m:rPr>
                      <m:sty m:val="i"/>
                    </m:rPr>
                    <a:rPr sz="2000">
                      <a:solidFill>
                        <a:srgbClr val="147C60"/>
                      </a:solidFill>
                      <a:latin typeface="Cambria Math"/>
                    </a:rPr>
                    <m:t xml:space="preserve">z</m:t>
                  </m:r>
                  <m:r>
                    <m:rPr>
                      <m:sty m:val="i"/>
                    </m:rPr>
                    <a:rPr sz="2000">
                      <a:solidFill>
                        <a:srgbClr val="147C60"/>
                      </a:solidFill>
                      <a:latin typeface="Cambria Math"/>
                    </a:rPr>
                    <m:t xml:space="preserve">=</m:t>
                  </m:r>
                  <m:r>
                    <m:rPr>
                      <m:sty m:val="i"/>
                    </m:rPr>
                    <a:rPr sz="2000">
                      <a:solidFill>
                        <a:srgbClr val="147C60"/>
                      </a:solidFill>
                      <a:latin typeface="Cambria Math"/>
                    </a:rPr>
                    <m:t xml:space="preserve">w</m:t>
                  </m:r>
                </m:oMath>
              </m:oMathPara>
            </a14:m>
            <a:endParaRPr sz="2000"/>
          </a:p>
        </p:txBody>
      </p:sp>
      <p:sp>
        <p:nvSpPr>
          <p:cNvPr id="132" name="Gap filter"/>
          <p:cNvSpPr/>
          <p:nvPr/>
        </p:nvSpPr>
        <p:spPr>
          <a:xfrm>
            <a:off x="444500" y="3695700"/>
            <a:ext cx="8255000" cy="71120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000">
                          <a:solidFill>
                            <a:srgbClr val="252529"/>
                          </a:solidFill>
                          <a:latin typeface="Cambria Math"/>
                        </a:rPr>
                      </m:ctrlPr>
                    </m:dPr>
                    <m:e>
                      <m:m>
                        <m:mPr>
                          <m:mcs>
                            <m:mc>
                              <m:mcPr>
                                <m:count m:val="1"/>
                                <m:mcJc m:val="center"/>
                              </m:mcPr>
                            </m:mc>
                          </m:mcs>
                          <m:ctrlPr>
                            <a:rPr sz="2000">
                              <a:solidFill>
                                <a:srgbClr val="252529"/>
                              </a:solidFill>
                              <a:latin typeface="Cambria Math"/>
                            </a:rPr>
                          </m:ctrlPr>
                        </m:mPr>
                        <m:mr>
                          <m:e>
                            <m:r>
                              <m:rPr>
                                <m:sty m:val="i"/>
                              </m:rPr>
                              <a:rPr sz="2000">
                                <a:solidFill>
                                  <a:srgbClr val="216F9C"/>
                                </a:solidFill>
                                <a:latin typeface="Cambria Math"/>
                              </a:rPr>
                              <m:t xml:space="preserve">a</m:t>
                            </m:r>
                          </m:e>
                        </m:mr>
                        <m:mr>
                          <m:e>
                            <m:r>
                              <m:rPr>
                                <m:sty m:val="i"/>
                              </m:rPr>
                              <a:rPr sz="2000">
                                <a:solidFill>
                                  <a:srgbClr val="147C60"/>
                                </a:solidFill>
                                <a:latin typeface="Cambria Math"/>
                              </a:rPr>
                              <m:t xml:space="preserve">b</m:t>
                            </m:r>
                          </m:e>
                        </m:mr>
                      </m:m>
                    </m:e>
                  </m:d>
                  <m:r>
                    <m:rPr>
                      <m:sty m:val="i"/>
                    </m:rPr>
                    <a:rPr sz="2000">
                      <a:solidFill>
                        <a:srgbClr val="252529"/>
                      </a:solidFill>
                      <a:latin typeface="Cambria Math"/>
                    </a:rPr>
                    <m:t xml:space="preserve">=</m:t>
                  </m:r>
                  <m:d>
                    <m:dPr>
                      <m:begChr m:val="["/>
                      <m:endChr m:val="]"/>
                      <m:ctrlPr>
                        <a:rPr sz="2000">
                          <a:solidFill>
                            <a:srgbClr val="252529"/>
                          </a:solidFill>
                          <a:latin typeface="Cambria Math"/>
                        </a:rPr>
                      </m:ctrlPr>
                    </m:dPr>
                    <m:e>
                      <m:m>
                        <m:mPr>
                          <m:mcs>
                            <m:mc>
                              <m:mcPr>
                                <m:count m:val="2"/>
                                <m:mcJc m:val="center"/>
                              </m:mcPr>
                            </m:mc>
                          </m:mcs>
                          <m:ctrlPr>
                            <a:rPr sz="2000">
                              <a:solidFill>
                                <a:srgbClr val="252529"/>
                              </a:solidFill>
                              <a:latin typeface="Cambria Math"/>
                            </a:rPr>
                          </m:ctrlPr>
                        </m:mPr>
                        <m:mr>
                          <m:e>
                            <m:r>
                              <m:rPr>
                                <m:sty m:val="i"/>
                              </m:rPr>
                              <a:rPr sz="2000">
                                <a:solidFill>
                                  <a:srgbClr val="252529"/>
                                </a:solidFill>
                                <a:latin typeface="Cambria Math"/>
                              </a:rPr>
                              <m:t xml:space="preserve">β</m:t>
                            </m:r>
                          </m:e>
                          <m:e>
                            <m:r>
                              <m:rPr>
                                <m:sty m:val="i"/>
                              </m:rPr>
                              <a:rPr sz="2000">
                                <a:solidFill>
                                  <a:srgbClr val="252529"/>
                                </a:solidFill>
                                <a:latin typeface="Cambria Math"/>
                              </a:rPr>
                              <m:t xml:space="preserve">−</m:t>
                            </m:r>
                            <m:r>
                              <m:rPr>
                                <m:sty m:val="i"/>
                              </m:rPr>
                              <a:rPr sz="2000">
                                <a:solidFill>
                                  <a:srgbClr val="252529"/>
                                </a:solidFill>
                                <a:latin typeface="Cambria Math"/>
                              </a:rPr>
                              <m:t xml:space="preserve">1</m:t>
                            </m:r>
                          </m:e>
                        </m:mr>
                        <m:mr>
                          <m:e>
                            <m:r>
                              <m:rPr>
                                <m:sty m:val="i"/>
                              </m:rPr>
                              <a:rPr sz="2000">
                                <a:solidFill>
                                  <a:srgbClr val="252529"/>
                                </a:solidFill>
                                <a:latin typeface="Cambria Math"/>
                              </a:rPr>
                              <m:t xml:space="preserve">0</m:t>
                            </m:r>
                          </m:e>
                          <m:e>
                            <m:r>
                              <m:rPr>
                                <m:sty m:val="i"/>
                              </m:rPr>
                              <a:rPr sz="2000">
                                <a:solidFill>
                                  <a:srgbClr val="252529"/>
                                </a:solidFill>
                                <a:latin typeface="Cambria Math"/>
                              </a:rPr>
                              <m:t xml:space="preserve">1</m:t>
                            </m:r>
                          </m:e>
                        </m:mr>
                      </m:m>
                    </m:e>
                  </m:d>
                  <m:d>
                    <m:dPr>
                      <m:begChr m:val="["/>
                      <m:endChr m:val="]"/>
                      <m:ctrlPr>
                        <a:rPr sz="2000">
                          <a:solidFill>
                            <a:srgbClr val="252529"/>
                          </a:solidFill>
                          <a:latin typeface="Cambria Math"/>
                        </a:rPr>
                      </m:ctrlPr>
                    </m:dPr>
                    <m:e>
                      <m:m>
                        <m:mPr>
                          <m:mcs>
                            <m:mc>
                              <m:mcPr>
                                <m:count m:val="1"/>
                                <m:mcJc m:val="center"/>
                              </m:mcPr>
                            </m:mc>
                          </m:mcs>
                          <m:ctrlPr>
                            <a:rPr sz="2000">
                              <a:solidFill>
                                <a:srgbClr val="252529"/>
                              </a:solidFill>
                              <a:latin typeface="Cambria Math"/>
                            </a:rPr>
                          </m:ctrlPr>
                        </m:mPr>
                        <m:mr>
                          <m:e>
                            <m:r>
                              <m:rPr>
                                <m:sty m:val="i"/>
                              </m:rPr>
                              <a:rPr sz="2000">
                                <a:solidFill>
                                  <a:srgbClr val="252529"/>
                                </a:solidFill>
                                <a:latin typeface="Cambria Math"/>
                              </a:rPr>
                              <m:t xml:space="preserve">z</m:t>
                            </m:r>
                          </m:e>
                        </m:mr>
                        <m:mr>
                          <m:e>
                            <m:r>
                              <m:rPr>
                                <m:sty m:val="i"/>
                              </m:rPr>
                              <a:rPr sz="2000">
                                <a:solidFill>
                                  <a:srgbClr val="252529"/>
                                </a:solidFill>
                                <a:latin typeface="Cambria Math"/>
                              </a:rPr>
                              <m:t xml:space="preserve">w</m:t>
                            </m:r>
                          </m:e>
                        </m:mr>
                      </m:m>
                    </m:e>
                  </m:d>
                </m:oMath>
              </m:oMathPara>
            </a14:m>
            <a:endParaRPr sz="2000"/>
          </a:p>
        </p:txBody>
      </p:sp>
      <p:sp>
        <p:nvSpPr>
          <p:cNvPr id="133" name="Gap interpret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Inside the sector, the two gaps have the same sign.</a:t>
            </a:r>
            <a:endParaRPr sz="1500"/>
          </a:p>
        </p:txBody>
      </p:sp>
      <p:sp>
        <p:nvSpPr>
          <p:cNvPr id="13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3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2</a:t>
            </a:r>
            <a:endParaRPr sz="8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aseline="0" b="1" i="0" u="none">
                <a:solidFill>
                  <a:srgbClr val="252529"/>
                </a:solidFill>
                <a:latin typeface="Aptos"/>
                <a:ea typeface="Aptos"/>
                <a:cs typeface="Aptos"/>
              </a:rPr>
              <a:t xml:space="preserve">Transform the gaps into input and output</a:t>
            </a:r>
            <a:endParaRPr sz="2300"/>
          </a:p>
        </p:txBody>
      </p:sp>
      <p:sp>
        <p:nvSpPr>
          <p:cNvPr id="102" name="Global sector [0, beta]"/>
          <p:cNvSpPr/>
          <p:nvPr/>
        </p:nvSpPr>
        <p:spPr>
          <a:xfrm>
            <a:off x="660400" y="2286000"/>
            <a:ext cx="1739900" cy="958103"/>
          </a:xfrm>
          <a:custGeom>
            <a:avLst/>
            <a:gdLst/>
            <a:ahLst/>
            <a:cxnLst/>
            <a:rect l="0" t="0" r="r" b="b"/>
            <a:pathLst>
              <a:path w="1739900" h="958103" fill="norm">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fill="norm">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z</m:t>
                  </m:r>
                </m:oMath>
              </m:oMathPara>
            </a14:m>
            <a:endParaRPr sz="1200"/>
          </a:p>
        </p:txBody>
      </p:sp>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w</m:t>
                  </m:r>
                </m:oMath>
              </m:oMathPara>
            </a14:m>
            <a:endParaRPr sz="1200"/>
          </a:p>
        </p:txBody>
      </p:sp>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β</m:t>
                  </m:r>
                  <m:r>
                    <m:rPr>
                      <m:sty m:val="i"/>
                    </m:rPr>
                    <a:rPr sz="1200">
                      <a:solidFill>
                        <a:srgbClr val="252529"/>
                      </a:solidFill>
                      <a:latin typeface="Cambria Math"/>
                    </a:rPr>
                    <m:t xml:space="preserve">z</m:t>
                  </m:r>
                </m:oMath>
              </m:oMathPara>
            </a14:m>
            <a:endParaRPr sz="1200"/>
          </a:p>
        </p:txBody>
      </p:sp>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α</m:t>
                  </m:r>
                  <m:r>
                    <m:rPr>
                      <m:sty m:val="i"/>
                    </m:rPr>
                    <a:rPr sz="1100">
                      <a:solidFill>
                        <a:srgbClr val="252529"/>
                      </a:solidFill>
                      <a:latin typeface="Cambria Math"/>
                    </a:rPr>
                    <m:t xml:space="preserve">z</m:t>
                  </m:r>
                  <m:r>
                    <m:rPr>
                      <m:sty m:val="i"/>
                    </m:rPr>
                    <a:rPr sz="1100">
                      <a:solidFill>
                        <a:srgbClr val="252529"/>
                      </a:solidFill>
                      <a:latin typeface="Cambria Math"/>
                    </a:rPr>
                    <m:t xml:space="preserve">=</m:t>
                  </m:r>
                  <m:r>
                    <m:rPr>
                      <m:sty m:val="i"/>
                    </m:rPr>
                    <a:rPr sz="1100">
                      <a:solidFill>
                        <a:srgbClr val="252529"/>
                      </a:solidFill>
                      <a:latin typeface="Cambria Math"/>
                    </a:rPr>
                    <m:t xml:space="preserve">0</m:t>
                  </m:r>
                </m:oMath>
              </m:oMathPara>
            </a14:m>
            <a:endParaRPr sz="1100"/>
          </a:p>
        </p:txBody>
      </p:sp>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2" name="Sample point"/>
          <p:cNvSpPr/>
          <p:nvPr/>
        </p:nvSpPr>
        <p:spPr>
          <a:xfrm>
            <a:off x="2818765" y="2085168"/>
            <a:ext cx="63500" cy="63500"/>
          </a:xfrm>
          <a:prstGeom prst="ellipse">
            <a:avLst/>
          </a:prstGeom>
          <a:solidFill>
            <a:srgbClr val="D61016"/>
          </a:solidFill>
          <a:ln>
            <a:noFill/>
          </a:ln>
        </p:spPr>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aseline="0" b="0" i="0" u="none">
                <a:solidFill>
                  <a:srgbClr val="747B82"/>
                </a:solidFill>
                <a:latin typeface="Aptos"/>
                <a:ea typeface="Aptos"/>
                <a:cs typeface="Aptos"/>
              </a:rPr>
              <a:t xml:space="preserve">STN activation about its equilibrium</a:t>
            </a:r>
            <a:endParaRPr sz="1000"/>
          </a:p>
        </p:txBody>
      </p:sp>
      <p:sp>
        <p:nvSpPr>
          <p:cNvPr id="124" name="Transformed input"/>
          <p:cNvSpPr/>
          <p:nvPr/>
        </p:nvSpPr>
        <p:spPr>
          <a:xfrm>
            <a:off x="4635500" y="1295400"/>
            <a:ext cx="4064000" cy="71120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000">
                          <a:solidFill>
                            <a:srgbClr val="252529"/>
                          </a:solidFill>
                          <a:latin typeface="Cambria Math"/>
                        </a:rPr>
                      </m:ctrlPr>
                    </m:accPr>
                    <m:e>
                      <m:r>
                        <m:rPr>
                          <m:sty m:val="i"/>
                        </m:rPr>
                        <a:rPr sz="2000">
                          <a:solidFill>
                            <a:srgbClr val="252529"/>
                          </a:solidFill>
                          <a:latin typeface="Cambria Math"/>
                        </a:rPr>
                        <m:t xml:space="preserve">z</m:t>
                      </m:r>
                    </m:e>
                  </m:acc>
                  <m:r>
                    <m:rPr>
                      <m:sty m:val="i"/>
                    </m:rPr>
                    <a:rPr sz="2000">
                      <a:solidFill>
                        <a:srgbClr val="252529"/>
                      </a:solidFill>
                      <a:latin typeface="Cambria Math"/>
                    </a:rPr>
                    <m:t xml:space="preserve">=</m:t>
                  </m:r>
                  <m:r>
                    <m:rPr>
                      <m:sty m:val="i"/>
                    </m:rPr>
                    <a:rPr sz="2000">
                      <a:solidFill>
                        <a:srgbClr val="252529"/>
                      </a:solidFill>
                      <a:latin typeface="Cambria Math"/>
                    </a:rPr>
                    <m:t xml:space="preserve">a</m:t>
                  </m:r>
                  <m:r>
                    <m:rPr>
                      <m:sty m:val="i"/>
                    </m:rPr>
                    <a:rPr sz="2000">
                      <a:solidFill>
                        <a:srgbClr val="252529"/>
                      </a:solidFill>
                      <a:latin typeface="Cambria Math"/>
                    </a:rPr>
                    <m:t xml:space="preserve">+</m:t>
                  </m:r>
                  <m:r>
                    <m:rPr>
                      <m:sty m:val="i"/>
                    </m:rPr>
                    <a:rPr sz="2000">
                      <a:solidFill>
                        <a:srgbClr val="252529"/>
                      </a:solidFill>
                      <a:latin typeface="Cambria Math"/>
                    </a:rPr>
                    <m:t xml:space="preserve">b</m:t>
                  </m:r>
                  <m:r>
                    <m:rPr>
                      <m:sty m:val="i"/>
                    </m:rPr>
                    <a:rPr sz="2000">
                      <a:solidFill>
                        <a:srgbClr val="252529"/>
                      </a:solidFill>
                      <a:latin typeface="Cambria Math"/>
                    </a:rPr>
                    <m:t xml:space="preserve">=</m:t>
                  </m:r>
                  <m:r>
                    <m:rPr>
                      <m:sty m:val="i"/>
                    </m:rPr>
                    <a:rPr sz="2000">
                      <a:solidFill>
                        <a:srgbClr val="252529"/>
                      </a:solidFill>
                      <a:latin typeface="Cambria Math"/>
                    </a:rPr>
                    <m:t xml:space="preserve">β</m:t>
                  </m:r>
                  <m:r>
                    <m:rPr>
                      <m:sty m:val="i"/>
                    </m:rPr>
                    <a:rPr sz="2000">
                      <a:solidFill>
                        <a:srgbClr val="252529"/>
                      </a:solidFill>
                      <a:latin typeface="Cambria Math"/>
                    </a:rPr>
                    <m:t xml:space="preserve">z</m:t>
                  </m:r>
                </m:oMath>
              </m:oMathPara>
            </a14:m>
            <a:endParaRPr sz="2000"/>
          </a:p>
        </p:txBody>
      </p:sp>
      <p:sp>
        <p:nvSpPr>
          <p:cNvPr id="125" name="Transformed output"/>
          <p:cNvSpPr/>
          <p:nvPr/>
        </p:nvSpPr>
        <p:spPr>
          <a:xfrm>
            <a:off x="4603750" y="1943100"/>
            <a:ext cx="4127500" cy="71120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000">
                          <a:solidFill>
                            <a:srgbClr val="252529"/>
                          </a:solidFill>
                          <a:latin typeface="Cambria Math"/>
                        </a:rPr>
                      </m:ctrlPr>
                    </m:accPr>
                    <m:e>
                      <m:r>
                        <m:rPr>
                          <m:sty m:val="i"/>
                        </m:rPr>
                        <a:rPr sz="2000">
                          <a:solidFill>
                            <a:srgbClr val="252529"/>
                          </a:solidFill>
                          <a:latin typeface="Cambria Math"/>
                        </a:rPr>
                        <m:t xml:space="preserve">w</m:t>
                      </m:r>
                    </m:e>
                  </m:acc>
                  <m:r>
                    <m:rPr>
                      <m:sty m:val="i"/>
                    </m:rPr>
                    <a:rPr sz="2000">
                      <a:solidFill>
                        <a:srgbClr val="252529"/>
                      </a:solidFill>
                      <a:latin typeface="Cambria Math"/>
                    </a:rPr>
                    <m:t xml:space="preserve">=</m:t>
                  </m:r>
                  <m:r>
                    <m:rPr>
                      <m:sty m:val="i"/>
                    </m:rPr>
                    <a:rPr sz="2000">
                      <a:solidFill>
                        <a:srgbClr val="252529"/>
                      </a:solidFill>
                      <a:latin typeface="Cambria Math"/>
                    </a:rPr>
                    <m:t xml:space="preserve">a</m:t>
                  </m:r>
                  <m:r>
                    <m:rPr>
                      <m:sty m:val="i"/>
                    </m:rPr>
                    <a:rPr sz="2000">
                      <a:solidFill>
                        <a:srgbClr val="252529"/>
                      </a:solidFill>
                      <a:latin typeface="Cambria Math"/>
                    </a:rPr>
                    <m:t xml:space="preserve">−</m:t>
                  </m:r>
                  <m:r>
                    <m:rPr>
                      <m:sty m:val="i"/>
                    </m:rPr>
                    <a:rPr sz="2000">
                      <a:solidFill>
                        <a:srgbClr val="252529"/>
                      </a:solidFill>
                      <a:latin typeface="Cambria Math"/>
                    </a:rPr>
                    <m:t xml:space="preserve">b</m:t>
                  </m:r>
                  <m:r>
                    <m:rPr>
                      <m:sty m:val="i"/>
                    </m:rPr>
                    <a:rPr sz="2000">
                      <a:solidFill>
                        <a:srgbClr val="252529"/>
                      </a:solidFill>
                      <a:latin typeface="Cambria Math"/>
                    </a:rPr>
                    <m:t xml:space="preserve">=</m:t>
                  </m:r>
                  <m:r>
                    <m:rPr>
                      <m:sty m:val="i"/>
                    </m:rPr>
                    <a:rPr sz="2000">
                      <a:solidFill>
                        <a:srgbClr val="252529"/>
                      </a:solidFill>
                      <a:latin typeface="Cambria Math"/>
                    </a:rPr>
                    <m:t xml:space="preserve">β</m:t>
                  </m:r>
                  <m:r>
                    <m:rPr>
                      <m:sty m:val="i"/>
                    </m:rPr>
                    <a:rPr sz="2000">
                      <a:solidFill>
                        <a:srgbClr val="252529"/>
                      </a:solidFill>
                      <a:latin typeface="Cambria Math"/>
                    </a:rPr>
                    <m:t xml:space="preserve">z</m:t>
                  </m:r>
                  <m:r>
                    <m:rPr>
                      <m:sty m:val="i"/>
                    </m:rPr>
                    <a:rPr sz="2000">
                      <a:solidFill>
                        <a:srgbClr val="252529"/>
                      </a:solidFill>
                      <a:latin typeface="Cambria Math"/>
                    </a:rPr>
                    <m:t xml:space="preserve">−</m:t>
                  </m:r>
                  <m:r>
                    <m:rPr>
                      <m:sty m:val="i"/>
                    </m:rPr>
                    <a:rPr sz="2000">
                      <a:solidFill>
                        <a:srgbClr val="252529"/>
                      </a:solidFill>
                      <a:latin typeface="Cambria Math"/>
                    </a:rPr>
                    <m:t xml:space="preserve">2</m:t>
                  </m:r>
                  <m:r>
                    <m:rPr>
                      <m:sty m:val="i"/>
                    </m:rPr>
                    <a:rPr sz="2000">
                      <a:solidFill>
                        <a:srgbClr val="252529"/>
                      </a:solidFill>
                      <a:latin typeface="Cambria Math"/>
                    </a:rPr>
                    <m:t xml:space="preserve">w</m:t>
                  </m:r>
                </m:oMath>
              </m:oMathPara>
            </a14:m>
            <a:endParaRPr sz="2000"/>
          </a:p>
        </p:txBody>
      </p:sp>
      <p:sp>
        <p:nvSpPr>
          <p:cNvPr id="126" name="Contraction"/>
          <p:cNvSpPr/>
          <p:nvPr/>
        </p:nvSpPr>
        <p:spPr>
          <a:xfrm>
            <a:off x="5080000" y="2562860"/>
            <a:ext cx="31750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acc>
                        <m:accPr>
                          <m:chr m:val="̃"/>
                          <m:ctrlPr>
                            <a:rPr sz="2300">
                              <a:solidFill>
                                <a:srgbClr val="252529"/>
                              </a:solidFill>
                              <a:latin typeface="Cambria Math"/>
                            </a:rPr>
                          </m:ctrlPr>
                        </m:accPr>
                        <m:e>
                          <m:r>
                            <m:rPr>
                              <m:sty m:val="i"/>
                            </m:rPr>
                            <a:rPr sz="2300">
                              <a:solidFill>
                                <a:srgbClr val="252529"/>
                              </a:solidFill>
                              <a:latin typeface="Cambria Math"/>
                            </a:rPr>
                            <m:t xml:space="preserve">w</m:t>
                          </m:r>
                        </m:e>
                      </m:acc>
                    </m:e>
                  </m:d>
                  <m:r>
                    <m:rPr>
                      <m:sty m:val="i"/>
                    </m:rPr>
                    <a:rPr sz="2300">
                      <a:solidFill>
                        <a:srgbClr val="252529"/>
                      </a:solidFill>
                      <a:latin typeface="Cambria Math"/>
                    </a:rPr>
                    <m:t xml:space="preserve">≤</m:t>
                  </m:r>
                  <m:d>
                    <m:dPr>
                      <m:begChr m:val="|"/>
                      <m:endChr m:val="|"/>
                      <m:ctrlPr>
                        <a:rPr sz="2300">
                          <a:solidFill>
                            <a:srgbClr val="252529"/>
                          </a:solidFill>
                          <a:latin typeface="Cambria Math"/>
                        </a:rPr>
                      </m:ctrlPr>
                    </m:dPr>
                    <m:e>
                      <m:acc>
                        <m:accPr>
                          <m:chr m:val="̃"/>
                          <m:ctrlPr>
                            <a:rPr sz="2300">
                              <a:solidFill>
                                <a:srgbClr val="252529"/>
                              </a:solidFill>
                              <a:latin typeface="Cambria Math"/>
                            </a:rPr>
                          </m:ctrlPr>
                        </m:accPr>
                        <m:e>
                          <m:r>
                            <m:rPr>
                              <m:sty m:val="i"/>
                            </m:rPr>
                            <a:rPr sz="2300">
                              <a:solidFill>
                                <a:srgbClr val="252529"/>
                              </a:solidFill>
                              <a:latin typeface="Cambria Math"/>
                            </a:rPr>
                            <m:t xml:space="preserve">z</m:t>
                          </m:r>
                        </m:e>
                      </m:acc>
                    </m:e>
                  </m:d>
                </m:oMath>
              </m:oMathPara>
            </a14:m>
            <a:endParaRPr sz="2300"/>
          </a:p>
        </p:txBody>
      </p:sp>
      <p:sp>
        <p:nvSpPr>
          <p:cNvPr id="127" name="Complete filter"/>
          <p:cNvSpPr/>
          <p:nvPr/>
        </p:nvSpPr>
        <p:spPr>
          <a:xfrm>
            <a:off x="381000" y="3776980"/>
            <a:ext cx="8382000" cy="67564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1900">
                          <a:solidFill>
                            <a:srgbClr val="252529"/>
                          </a:solidFill>
                          <a:latin typeface="Cambria Math"/>
                        </a:rPr>
                      </m:ctrlPr>
                    </m:dPr>
                    <m:e>
                      <m:m>
                        <m:mPr>
                          <m:mcs>
                            <m:mc>
                              <m:mcPr>
                                <m:count m:val="1"/>
                                <m:mcJc m:val="center"/>
                              </m:mcPr>
                            </m:mc>
                          </m:mcs>
                          <m:ctrlPr>
                            <a:rPr sz="1900">
                              <a:solidFill>
                                <a:srgbClr val="252529"/>
                              </a:solidFill>
                              <a:latin typeface="Cambria Math"/>
                            </a:rPr>
                          </m:ctrlPr>
                        </m:mPr>
                        <m:mr>
                          <m:e>
                            <m:acc>
                              <m:accPr>
                                <m:chr m:val="̃"/>
                                <m:ctrlPr>
                                  <a:rPr sz="1900">
                                    <a:solidFill>
                                      <a:srgbClr val="252529"/>
                                    </a:solidFill>
                                    <a:latin typeface="Cambria Math"/>
                                  </a:rPr>
                                </m:ctrlPr>
                              </m:accPr>
                              <m:e>
                                <m:r>
                                  <m:rPr>
                                    <m:sty m:val="i"/>
                                  </m:rPr>
                                  <a:rPr sz="1900">
                                    <a:solidFill>
                                      <a:srgbClr val="252529"/>
                                    </a:solidFill>
                                    <a:latin typeface="Cambria Math"/>
                                  </a:rPr>
                                  <m:t xml:space="preserve">z</m:t>
                                </m:r>
                              </m:e>
                            </m:acc>
                          </m:e>
                        </m:mr>
                        <m:mr>
                          <m:e>
                            <m:acc>
                              <m:accPr>
                                <m:chr m:val="̃"/>
                                <m:ctrlPr>
                                  <a:rPr sz="1900">
                                    <a:solidFill>
                                      <a:srgbClr val="252529"/>
                                    </a:solidFill>
                                    <a:latin typeface="Cambria Math"/>
                                  </a:rPr>
                                </m:ctrlPr>
                              </m:accPr>
                              <m:e>
                                <m:r>
                                  <m:rPr>
                                    <m:sty m:val="i"/>
                                  </m:rPr>
                                  <a:rPr sz="1900">
                                    <a:solidFill>
                                      <a:srgbClr val="252529"/>
                                    </a:solidFill>
                                    <a:latin typeface="Cambria Math"/>
                                  </a:rPr>
                                  <m:t xml:space="preserve">w</m:t>
                                </m:r>
                              </m:e>
                            </m:acc>
                          </m:e>
                        </m:mr>
                      </m:m>
                    </m:e>
                  </m:d>
                  <m:r>
                    <m:rPr>
                      <m:sty m:val="i"/>
                    </m:rPr>
                    <a:rPr sz="1900">
                      <a:solidFill>
                        <a:srgbClr val="252529"/>
                      </a:solidFill>
                      <a:latin typeface="Cambria Math"/>
                    </a:rPr>
                    <m:t xml:space="preserve">=</m:t>
                  </m:r>
                  <m:d>
                    <m:dPr>
                      <m:begChr m:val="["/>
                      <m:endChr m:val="]"/>
                      <m:ctrlPr>
                        <a:rPr sz="1900">
                          <a:solidFill>
                            <a:srgbClr val="252529"/>
                          </a:solidFill>
                          <a:latin typeface="Cambria Math"/>
                        </a:rPr>
                      </m:ctrlPr>
                    </m:dPr>
                    <m:e>
                      <m:m>
                        <m:mPr>
                          <m:mcs>
                            <m:mc>
                              <m:mcPr>
                                <m:count m:val="2"/>
                                <m:mcJc m:val="center"/>
                              </m:mcPr>
                            </m:mc>
                          </m:mcs>
                          <m:ctrlPr>
                            <a:rPr sz="1900">
                              <a:solidFill>
                                <a:srgbClr val="252529"/>
                              </a:solidFill>
                              <a:latin typeface="Cambria Math"/>
                            </a:rPr>
                          </m:ctrlPr>
                        </m:mPr>
                        <m:mr>
                          <m:e>
                            <m:r>
                              <m:rPr>
                                <m:sty m:val="i"/>
                              </m:rPr>
                              <a:rPr sz="1900">
                                <a:solidFill>
                                  <a:srgbClr val="252529"/>
                                </a:solidFill>
                                <a:latin typeface="Cambria Math"/>
                              </a:rPr>
                              <m:t xml:space="preserve">1</m:t>
                            </m:r>
                          </m:e>
                          <m:e>
                            <m:r>
                              <m:rPr>
                                <m:sty m:val="i"/>
                              </m:rPr>
                              <a:rPr sz="1900">
                                <a:solidFill>
                                  <a:srgbClr val="252529"/>
                                </a:solidFill>
                                <a:latin typeface="Cambria Math"/>
                              </a:rPr>
                              <m:t xml:space="preserve">1</m:t>
                            </m:r>
                          </m:e>
                        </m:mr>
                        <m:mr>
                          <m:e>
                            <m:r>
                              <m:rPr>
                                <m:sty m:val="i"/>
                              </m:rPr>
                              <a:rPr sz="1900">
                                <a:solidFill>
                                  <a:srgbClr val="252529"/>
                                </a:solidFill>
                                <a:latin typeface="Cambria Math"/>
                              </a:rPr>
                              <m:t xml:space="preserve">1</m:t>
                            </m:r>
                          </m:e>
                          <m:e>
                            <m:r>
                              <m:rPr>
                                <m:sty m:val="i"/>
                              </m:rPr>
                              <a:rPr sz="1900">
                                <a:solidFill>
                                  <a:srgbClr val="252529"/>
                                </a:solidFill>
                                <a:latin typeface="Cambria Math"/>
                              </a:rPr>
                              <m:t xml:space="preserve">−</m:t>
                            </m:r>
                            <m:r>
                              <m:rPr>
                                <m:sty m:val="i"/>
                              </m:rPr>
                              <a:rPr sz="1900">
                                <a:solidFill>
                                  <a:srgbClr val="252529"/>
                                </a:solidFill>
                                <a:latin typeface="Cambria Math"/>
                              </a:rPr>
                              <m:t xml:space="preserve">1</m:t>
                            </m:r>
                          </m:e>
                        </m:mr>
                      </m:m>
                    </m:e>
                  </m:d>
                  <m:d>
                    <m:dPr>
                      <m:begChr m:val="["/>
                      <m:endChr m:val="]"/>
                      <m:ctrlPr>
                        <a:rPr sz="1900">
                          <a:solidFill>
                            <a:srgbClr val="252529"/>
                          </a:solidFill>
                          <a:latin typeface="Cambria Math"/>
                        </a:rPr>
                      </m:ctrlPr>
                    </m:dPr>
                    <m:e>
                      <m:m>
                        <m:mPr>
                          <m:mcs>
                            <m:mc>
                              <m:mcPr>
                                <m:count m:val="2"/>
                                <m:mcJc m:val="center"/>
                              </m:mcPr>
                            </m:mc>
                          </m:mcs>
                          <m:ctrlPr>
                            <a:rPr sz="1900">
                              <a:solidFill>
                                <a:srgbClr val="252529"/>
                              </a:solidFill>
                              <a:latin typeface="Cambria Math"/>
                            </a:rPr>
                          </m:ctrlPr>
                        </m:mPr>
                        <m:mr>
                          <m:e>
                            <m:r>
                              <m:rPr>
                                <m:sty m:val="i"/>
                              </m:rPr>
                              <a:rPr sz="1900">
                                <a:solidFill>
                                  <a:srgbClr val="252529"/>
                                </a:solidFill>
                                <a:latin typeface="Cambria Math"/>
                              </a:rPr>
                              <m:t xml:space="preserve">β</m:t>
                            </m:r>
                          </m:e>
                          <m:e>
                            <m:r>
                              <m:rPr>
                                <m:sty m:val="i"/>
                              </m:rPr>
                              <a:rPr sz="1900">
                                <a:solidFill>
                                  <a:srgbClr val="252529"/>
                                </a:solidFill>
                                <a:latin typeface="Cambria Math"/>
                              </a:rPr>
                              <m:t xml:space="preserve">−</m:t>
                            </m:r>
                            <m:r>
                              <m:rPr>
                                <m:sty m:val="i"/>
                              </m:rPr>
                              <a:rPr sz="1900">
                                <a:solidFill>
                                  <a:srgbClr val="252529"/>
                                </a:solidFill>
                                <a:latin typeface="Cambria Math"/>
                              </a:rPr>
                              <m:t xml:space="preserve">1</m:t>
                            </m:r>
                          </m:e>
                        </m:mr>
                        <m:mr>
                          <m:e>
                            <m:r>
                              <m:rPr>
                                <m:sty m:val="i"/>
                              </m:rPr>
                              <a:rPr sz="1900">
                                <a:solidFill>
                                  <a:srgbClr val="252529"/>
                                </a:solidFill>
                                <a:latin typeface="Cambria Math"/>
                              </a:rPr>
                              <m:t xml:space="preserve">0</m:t>
                            </m:r>
                          </m:e>
                          <m:e>
                            <m:r>
                              <m:rPr>
                                <m:sty m:val="i"/>
                              </m:rPr>
                              <a:rPr sz="1900">
                                <a:solidFill>
                                  <a:srgbClr val="252529"/>
                                </a:solidFill>
                                <a:latin typeface="Cambria Math"/>
                              </a:rPr>
                              <m:t xml:space="preserve">1</m:t>
                            </m:r>
                          </m:e>
                        </m:mr>
                      </m:m>
                    </m:e>
                  </m:d>
                  <m:d>
                    <m:dPr>
                      <m:begChr m:val="["/>
                      <m:endChr m:val="]"/>
                      <m:ctrlPr>
                        <a:rPr sz="1900">
                          <a:solidFill>
                            <a:srgbClr val="252529"/>
                          </a:solidFill>
                          <a:latin typeface="Cambria Math"/>
                        </a:rPr>
                      </m:ctrlPr>
                    </m:dPr>
                    <m:e>
                      <m:m>
                        <m:mPr>
                          <m:mcs>
                            <m:mc>
                              <m:mcPr>
                                <m:count m:val="1"/>
                                <m:mcJc m:val="center"/>
                              </m:mcPr>
                            </m:mc>
                          </m:mcs>
                          <m:ctrlPr>
                            <a:rPr sz="1900">
                              <a:solidFill>
                                <a:srgbClr val="252529"/>
                              </a:solidFill>
                              <a:latin typeface="Cambria Math"/>
                            </a:rPr>
                          </m:ctrlPr>
                        </m:mPr>
                        <m:mr>
                          <m:e>
                            <m:r>
                              <m:rPr>
                                <m:sty m:val="i"/>
                              </m:rPr>
                              <a:rPr sz="1900">
                                <a:solidFill>
                                  <a:srgbClr val="252529"/>
                                </a:solidFill>
                                <a:latin typeface="Cambria Math"/>
                              </a:rPr>
                              <m:t xml:space="preserve">z</m:t>
                            </m:r>
                          </m:e>
                        </m:mr>
                        <m:mr>
                          <m:e>
                            <m:r>
                              <m:rPr>
                                <m:sty m:val="i"/>
                              </m:rPr>
                              <a:rPr sz="1900">
                                <a:solidFill>
                                  <a:srgbClr val="252529"/>
                                </a:solidFill>
                                <a:latin typeface="Cambria Math"/>
                              </a:rPr>
                              <m:t xml:space="preserve">w</m:t>
                            </m:r>
                          </m:e>
                        </m:mr>
                      </m:m>
                    </m:e>
                  </m:d>
                </m:oMath>
              </m:oMathPara>
            </a14:m>
            <a:endParaRPr sz="1900"/>
          </a:p>
        </p:txBody>
      </p:sp>
      <p:sp>
        <p:nvSpPr>
          <p:cNvPr id="128" name="Scaling choice"/>
          <p:cNvSpPr/>
          <p:nvPr/>
        </p:nvSpPr>
        <p:spPr>
          <a:xfrm>
            <a:off x="444500" y="4511675"/>
            <a:ext cx="8255000" cy="247650"/>
          </a:xfrm>
          <a:prstGeom prst="rect">
            <a:avLst/>
          </a:prstGeom>
          <a:noFill/>
          <a:ln>
            <a:noFill/>
          </a:ln>
        </p:spPr>
        <p:txBody>
          <a:bodyPr wrap="none" lIns="0" tIns="0" rIns="0" bIns="0" anchor="ctr">
            <a:noAutofit/>
          </a:bodyPr>
          <a:lstStyle/>
          <a:p>
            <a:pPr algn="ctr">
              <a:buNone/>
            </a:pPr>
            <a:r>
              <a:rPr lang="en-GB" sz="1300" baseline="0" b="0" i="0" u="none">
                <a:solidFill>
                  <a:srgbClr val="747B82"/>
                </a:solidFill>
                <a:latin typeface="Aptos"/>
                <a:ea typeface="Aptos"/>
                <a:cs typeface="Aptos"/>
              </a:rPr>
              <a:t xml:space="preserve">Choose unit scaling: the transformed input depends only on z.</a:t>
            </a:r>
            <a:endParaRPr sz="1300"/>
          </a:p>
        </p:txBody>
      </p:sp>
      <p:sp>
        <p:nvSpPr>
          <p:cNvPr id="12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3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a:t>
            </a:r>
            <a:endParaRPr sz="8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aseline="0" b="1" i="0" u="none">
                <a:solidFill>
                  <a:srgbClr val="252529"/>
                </a:solidFill>
                <a:latin typeface="Aptos"/>
                <a:ea typeface="Aptos"/>
                <a:cs typeface="Aptos"/>
              </a:rPr>
              <a:t xml:space="preserve">The transformed nonlinearity is dissipative</a:t>
            </a:r>
            <a:endParaRPr sz="2300"/>
          </a:p>
        </p:txBody>
      </p:sp>
      <p:sp>
        <p:nvSpPr>
          <p:cNvPr id="102" name="Global sector [0, beta]"/>
          <p:cNvSpPr/>
          <p:nvPr/>
        </p:nvSpPr>
        <p:spPr>
          <a:xfrm>
            <a:off x="660400" y="2286000"/>
            <a:ext cx="1739900" cy="958103"/>
          </a:xfrm>
          <a:custGeom>
            <a:avLst/>
            <a:gdLst/>
            <a:ahLst/>
            <a:cxnLst/>
            <a:rect l="0" t="0" r="r" b="b"/>
            <a:pathLst>
              <a:path w="1739900" h="958103" fill="norm">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fill="norm">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z</m:t>
                  </m:r>
                </m:oMath>
              </m:oMathPara>
            </a14:m>
            <a:endParaRPr sz="1200"/>
          </a:p>
        </p:txBody>
      </p:sp>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w</m:t>
                  </m:r>
                </m:oMath>
              </m:oMathPara>
            </a14:m>
            <a:endParaRPr sz="1200"/>
          </a:p>
        </p:txBody>
      </p:sp>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β</m:t>
                  </m:r>
                  <m:r>
                    <m:rPr>
                      <m:sty m:val="i"/>
                    </m:rPr>
                    <a:rPr sz="1200">
                      <a:solidFill>
                        <a:srgbClr val="252529"/>
                      </a:solidFill>
                      <a:latin typeface="Cambria Math"/>
                    </a:rPr>
                    <m:t xml:space="preserve">z</m:t>
                  </m:r>
                </m:oMath>
              </m:oMathPara>
            </a14:m>
            <a:endParaRPr sz="1200"/>
          </a:p>
        </p:txBody>
      </p:sp>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α</m:t>
                  </m:r>
                  <m:r>
                    <m:rPr>
                      <m:sty m:val="i"/>
                    </m:rPr>
                    <a:rPr sz="1100">
                      <a:solidFill>
                        <a:srgbClr val="252529"/>
                      </a:solidFill>
                      <a:latin typeface="Cambria Math"/>
                    </a:rPr>
                    <m:t xml:space="preserve">z</m:t>
                  </m:r>
                  <m:r>
                    <m:rPr>
                      <m:sty m:val="i"/>
                    </m:rPr>
                    <a:rPr sz="1100">
                      <a:solidFill>
                        <a:srgbClr val="252529"/>
                      </a:solidFill>
                      <a:latin typeface="Cambria Math"/>
                    </a:rPr>
                    <m:t xml:space="preserve">=</m:t>
                  </m:r>
                  <m:r>
                    <m:rPr>
                      <m:sty m:val="i"/>
                    </m:rPr>
                    <a:rPr sz="1100">
                      <a:solidFill>
                        <a:srgbClr val="252529"/>
                      </a:solidFill>
                      <a:latin typeface="Cambria Math"/>
                    </a:rPr>
                    <m:t xml:space="preserve">0</m:t>
                  </m:r>
                </m:oMath>
              </m:oMathPara>
            </a14:m>
            <a:endParaRPr sz="1100"/>
          </a:p>
        </p:txBody>
      </p:sp>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2" name="Sample point"/>
          <p:cNvSpPr/>
          <p:nvPr/>
        </p:nvSpPr>
        <p:spPr>
          <a:xfrm>
            <a:off x="2818765" y="2085168"/>
            <a:ext cx="63500" cy="63500"/>
          </a:xfrm>
          <a:prstGeom prst="ellipse">
            <a:avLst/>
          </a:prstGeom>
          <a:solidFill>
            <a:srgbClr val="D61016"/>
          </a:solidFill>
          <a:ln>
            <a:noFill/>
          </a:ln>
        </p:spPr>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aseline="0" b="0" i="0" u="none">
                <a:solidFill>
                  <a:srgbClr val="747B82"/>
                </a:solidFill>
                <a:latin typeface="Aptos"/>
                <a:ea typeface="Aptos"/>
                <a:cs typeface="Aptos"/>
              </a:rPr>
              <a:t xml:space="preserve">STN activation about its equilibrium</a:t>
            </a:r>
            <a:endParaRPr sz="1000"/>
          </a:p>
        </p:txBody>
      </p:sp>
      <p:sp>
        <p:nvSpPr>
          <p:cNvPr id="124" name="Transformed input"/>
          <p:cNvSpPr/>
          <p:nvPr/>
        </p:nvSpPr>
        <p:spPr>
          <a:xfrm>
            <a:off x="5232400" y="1676400"/>
            <a:ext cx="1028700" cy="25400"/>
          </a:xfrm>
          <a:custGeom>
            <a:avLst/>
            <a:gdLst/>
            <a:ahLst/>
            <a:cxnLst/>
            <a:rect l="0" t="0" r="r" b="b"/>
            <a:pathLst>
              <a:path w="1028700" h="25400" fill="none">
                <a:moveTo>
                  <a:pt x="12700" y="12700"/>
                </a:moveTo>
                <a:lnTo>
                  <a:pt x="1016000" y="12700"/>
                </a:lnTo>
              </a:path>
            </a:pathLst>
          </a:custGeom>
          <a:noFill/>
          <a:ln w="12700">
            <a:solidFill>
              <a:srgbClr val="252529"/>
            </a:solidFill>
            <a:round/>
            <a:tailEnd type="triangle" w="sm" len="sm"/>
          </a:ln>
        </p:spPr>
      </p:sp>
      <p:sp>
        <p:nvSpPr>
          <p:cNvPr id="125" name="Transformed output"/>
          <p:cNvSpPr/>
          <p:nvPr/>
        </p:nvSpPr>
        <p:spPr>
          <a:xfrm>
            <a:off x="6997700" y="1676400"/>
            <a:ext cx="1270000" cy="25400"/>
          </a:xfrm>
          <a:custGeom>
            <a:avLst/>
            <a:gdLst/>
            <a:ahLst/>
            <a:cxnLst/>
            <a:rect l="0" t="0" r="r" b="b"/>
            <a:pathLst>
              <a:path w="1270000" h="25400" fill="none">
                <a:moveTo>
                  <a:pt x="12700" y="12700"/>
                </a:moveTo>
                <a:lnTo>
                  <a:pt x="1257300" y="12700"/>
                </a:lnTo>
              </a:path>
            </a:pathLst>
          </a:custGeom>
          <a:noFill/>
          <a:ln w="12700">
            <a:solidFill>
              <a:srgbClr val="252529"/>
            </a:solidFill>
            <a:round/>
            <a:tailEnd type="triangle" w="sm" len="sm"/>
          </a:ln>
        </p:spPr>
      </p:sp>
      <p:sp>
        <p:nvSpPr>
          <p:cNvPr id="126" name="Transformed activation"/>
          <p:cNvSpPr/>
          <p:nvPr/>
        </p:nvSpPr>
        <p:spPr>
          <a:xfrm>
            <a:off x="6248400" y="1384300"/>
            <a:ext cx="762000" cy="609600"/>
          </a:xfrm>
          <a:prstGeom prst="rect">
            <a:avLst/>
          </a:prstGeom>
          <a:noFill/>
          <a:ln w="12700">
            <a:solidFill>
              <a:srgbClr val="D61016"/>
            </a:solidFill>
          </a:ln>
        </p:spPr>
      </p:sp>
      <p:sp>
        <p:nvSpPr>
          <p:cNvPr id="127" name="Transformed activation label"/>
          <p:cNvSpPr/>
          <p:nvPr/>
        </p:nvSpPr>
        <p:spPr>
          <a:xfrm>
            <a:off x="6311900" y="1262380"/>
            <a:ext cx="635000" cy="85344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400">
                          <a:solidFill>
                            <a:srgbClr val="252529"/>
                          </a:solidFill>
                          <a:latin typeface="Cambria Math"/>
                        </a:rPr>
                      </m:ctrlPr>
                    </m:accPr>
                    <m:e>
                      <m:r>
                        <m:rPr>
                          <m:sty m:val="i"/>
                        </m:rPr>
                        <a:rPr sz="2400">
                          <a:solidFill>
                            <a:srgbClr val="252529"/>
                          </a:solidFill>
                          <a:latin typeface="Cambria Math"/>
                        </a:rPr>
                        <m:t xml:space="preserve">φ</m:t>
                      </m:r>
                    </m:e>
                  </m:acc>
                </m:oMath>
              </m:oMathPara>
            </a14:m>
            <a:endParaRPr sz="2400"/>
          </a:p>
        </p:txBody>
      </p:sp>
      <p:sp>
        <p:nvSpPr>
          <p:cNvPr id="128" name="Transformed input label"/>
          <p:cNvSpPr/>
          <p:nvPr/>
        </p:nvSpPr>
        <p:spPr>
          <a:xfrm>
            <a:off x="5353050" y="1137920"/>
            <a:ext cx="571500" cy="56896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1600">
                          <a:solidFill>
                            <a:srgbClr val="252529"/>
                          </a:solidFill>
                          <a:latin typeface="Cambria Math"/>
                        </a:rPr>
                      </m:ctrlPr>
                    </m:accPr>
                    <m:e>
                      <m:r>
                        <m:rPr>
                          <m:sty m:val="i"/>
                        </m:rPr>
                        <a:rPr sz="1600">
                          <a:solidFill>
                            <a:srgbClr val="252529"/>
                          </a:solidFill>
                          <a:latin typeface="Cambria Math"/>
                        </a:rPr>
                        <m:t xml:space="preserve">z</m:t>
                      </m:r>
                    </m:e>
                  </m:acc>
                </m:oMath>
              </m:oMathPara>
            </a14:m>
            <a:endParaRPr sz="1600"/>
          </a:p>
        </p:txBody>
      </p:sp>
      <p:sp>
        <p:nvSpPr>
          <p:cNvPr id="129" name="Transformed output label"/>
          <p:cNvSpPr/>
          <p:nvPr/>
        </p:nvSpPr>
        <p:spPr>
          <a:xfrm>
            <a:off x="7385050" y="1137920"/>
            <a:ext cx="571500" cy="56896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1600">
                          <a:solidFill>
                            <a:srgbClr val="252529"/>
                          </a:solidFill>
                          <a:latin typeface="Cambria Math"/>
                        </a:rPr>
                      </m:ctrlPr>
                    </m:accPr>
                    <m:e>
                      <m:r>
                        <m:rPr>
                          <m:sty m:val="i"/>
                        </m:rPr>
                        <a:rPr sz="1600">
                          <a:solidFill>
                            <a:srgbClr val="252529"/>
                          </a:solidFill>
                          <a:latin typeface="Cambria Math"/>
                        </a:rPr>
                        <m:t xml:space="preserve">w</m:t>
                      </m:r>
                    </m:e>
                  </m:acc>
                </m:oMath>
              </m:oMathPara>
            </a14:m>
            <a:endParaRPr sz="1600"/>
          </a:p>
        </p:txBody>
      </p:sp>
      <p:sp>
        <p:nvSpPr>
          <p:cNvPr id="130" name="Energy interpretation"/>
          <p:cNvSpPr/>
          <p:nvPr/>
        </p:nvSpPr>
        <p:spPr>
          <a:xfrm>
            <a:off x="4591050" y="2441575"/>
            <a:ext cx="4127500" cy="247650"/>
          </a:xfrm>
          <a:prstGeom prst="rect">
            <a:avLst/>
          </a:prstGeom>
          <a:noFill/>
          <a:ln>
            <a:noFill/>
          </a:ln>
        </p:spPr>
        <p:txBody>
          <a:bodyPr wrap="none" lIns="0" tIns="0" rIns="0" bIns="0" anchor="ctr">
            <a:noAutofit/>
          </a:bodyPr>
          <a:lstStyle/>
          <a:p>
            <a:pPr algn="ctr">
              <a:buNone/>
            </a:pPr>
            <a:r>
              <a:rPr lang="en-GB" sz="1300" baseline="0" b="0" i="0" u="none">
                <a:solidFill>
                  <a:srgbClr val="252529"/>
                </a:solidFill>
                <a:latin typeface="Aptos"/>
                <a:ea typeface="Aptos"/>
                <a:cs typeface="Aptos"/>
              </a:rPr>
              <a:t xml:space="preserve">Output energy cannot exceed input energy.</a:t>
            </a:r>
            <a:endParaRPr sz="1300"/>
          </a:p>
        </p:txBody>
      </p:sp>
      <p:sp>
        <p:nvSpPr>
          <p:cNvPr id="131" name="Zero storage"/>
          <p:cNvSpPr/>
          <p:nvPr/>
        </p:nvSpPr>
        <p:spPr>
          <a:xfrm>
            <a:off x="4876800" y="2712720"/>
            <a:ext cx="35560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V</m:t>
                  </m:r>
                  <m:r>
                    <m:rPr>
                      <m:sty m:val="i"/>
                    </m:rPr>
                    <a:rPr sz="2100">
                      <a:solidFill>
                        <a:srgbClr val="252529"/>
                      </a:solidFill>
                      <a:latin typeface="Cambria Math"/>
                    </a:rPr>
                    <m:t xml:space="preserve">≡</m:t>
                  </m:r>
                  <m:r>
                    <m:rPr>
                      <m:sty m:val="i"/>
                    </m:rPr>
                    <a:rPr sz="2100">
                      <a:solidFill>
                        <a:srgbClr val="252529"/>
                      </a:solidFill>
                      <a:latin typeface="Cambria Math"/>
                    </a:rPr>
                    <m:t xml:space="preserve">0</m:t>
                  </m:r>
                </m:oMath>
              </m:oMathPara>
            </a14:m>
            <a:endParaRPr sz="2100"/>
          </a:p>
        </p:txBody>
      </p:sp>
      <p:sp>
        <p:nvSpPr>
          <p:cNvPr id="132" name="Supply rate"/>
          <p:cNvSpPr/>
          <p:nvPr/>
        </p:nvSpPr>
        <p:spPr>
          <a:xfrm>
            <a:off x="444500" y="3639820"/>
            <a:ext cx="82550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σ</m:t>
                  </m:r>
                  <m:r>
                    <m:rPr>
                      <m:sty m:val="i"/>
                    </m:rPr>
                    <a:rPr sz="2100">
                      <a:solidFill>
                        <a:srgbClr val="252529"/>
                      </a:solidFill>
                      <a:latin typeface="Cambria Math"/>
                    </a:rPr>
                    <m:t xml:space="preserve">=</m:t>
                  </m:r>
                  <m:sSup>
                    <m:sSupPr>
                      <m:ctrlPr>
                        <a:rPr sz="2100">
                          <a:solidFill>
                            <a:srgbClr val="252529"/>
                          </a:solidFill>
                          <a:latin typeface="Cambria Math"/>
                        </a:rPr>
                      </m:ctrlPr>
                    </m:sSupPr>
                    <m:e>
                      <m:acc>
                        <m:accPr>
                          <m:chr m:val="̃"/>
                          <m:ctrlPr>
                            <a:rPr sz="2100">
                              <a:solidFill>
                                <a:srgbClr val="252529"/>
                              </a:solidFill>
                              <a:latin typeface="Cambria Math"/>
                            </a:rPr>
                          </m:ctrlPr>
                        </m:accPr>
                        <m:e>
                          <m:r>
                            <m:rPr>
                              <m:sty m:val="i"/>
                            </m:rPr>
                            <a:rPr sz="2100">
                              <a:solidFill>
                                <a:srgbClr val="252529"/>
                              </a:solidFill>
                              <a:latin typeface="Cambria Math"/>
                            </a:rPr>
                            <m:t xml:space="preserve">z</m:t>
                          </m:r>
                        </m:e>
                      </m:acc>
                    </m:e>
                    <m:sup>
                      <m:r>
                        <m:rPr>
                          <m:sty m:val="p"/>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acc>
                        <m:accPr>
                          <m:chr m:val="̃"/>
                          <m:ctrlPr>
                            <a:rPr sz="2100">
                              <a:solidFill>
                                <a:srgbClr val="252529"/>
                              </a:solidFill>
                              <a:latin typeface="Cambria Math"/>
                            </a:rPr>
                          </m:ctrlPr>
                        </m:accPr>
                        <m:e>
                          <m:r>
                            <m:rPr>
                              <m:sty m:val="i"/>
                            </m:rPr>
                            <a:rPr sz="2100">
                              <a:solidFill>
                                <a:srgbClr val="252529"/>
                              </a:solidFill>
                              <a:latin typeface="Cambria Math"/>
                            </a:rPr>
                            <m:t xml:space="preserve">w</m:t>
                          </m:r>
                        </m:e>
                      </m:acc>
                    </m:e>
                    <m:sup>
                      <m:r>
                        <m:rPr>
                          <m:sty m:val="p"/>
                        </m:rPr>
                        <a:rPr sz="2100">
                          <a:solidFill>
                            <a:srgbClr val="252529"/>
                          </a:solidFill>
                          <a:latin typeface="Cambria Math"/>
                        </a:rPr>
                        <m:t xml:space="preserve">2</m:t>
                      </m:r>
                    </m:sup>
                  </m:sSup>
                  <m:r>
                    <m:rPr>
                      <m:sty m:val="i"/>
                    </m:rPr>
                    <a:rPr sz="2100">
                      <a:solidFill>
                        <a:srgbClr val="147C60"/>
                      </a:solidFill>
                      <a:latin typeface="Cambria Math"/>
                    </a:rPr>
                    <m:t xml:space="preserve">=</m:t>
                  </m:r>
                  <m:r>
                    <m:rPr>
                      <m:sty m:val="i"/>
                    </m:rPr>
                    <a:rPr sz="2100">
                      <a:solidFill>
                        <a:srgbClr val="147C60"/>
                      </a:solidFill>
                      <a:latin typeface="Cambria Math"/>
                    </a:rPr>
                    <m:t xml:space="preserve">4</m:t>
                  </m:r>
                  <m:r>
                    <m:rPr>
                      <m:sty m:val="i"/>
                    </m:rPr>
                    <a:rPr sz="2100">
                      <a:solidFill>
                        <a:srgbClr val="147C60"/>
                      </a:solidFill>
                      <a:latin typeface="Cambria Math"/>
                    </a:rPr>
                    <m:t xml:space="preserve">a</m:t>
                  </m:r>
                  <m:r>
                    <m:rPr>
                      <m:sty m:val="i"/>
                    </m:rPr>
                    <a:rPr sz="2100">
                      <a:solidFill>
                        <a:srgbClr val="147C60"/>
                      </a:solidFill>
                      <a:latin typeface="Cambria Math"/>
                    </a:rPr>
                    <m:t xml:space="preserve">b</m:t>
                  </m:r>
                  <m:r>
                    <m:rPr>
                      <m:sty m:val="i"/>
                    </m:rPr>
                    <a:rPr sz="2100">
                      <a:solidFill>
                        <a:srgbClr val="147C60"/>
                      </a:solidFill>
                      <a:latin typeface="Cambria Math"/>
                    </a:rPr>
                    <m:t xml:space="preserve">≥</m:t>
                  </m:r>
                  <m:r>
                    <m:rPr>
                      <m:sty m:val="i"/>
                    </m:rPr>
                    <a:rPr sz="2100">
                      <a:solidFill>
                        <a:srgbClr val="147C60"/>
                      </a:solidFill>
                      <a:latin typeface="Cambria Math"/>
                    </a:rPr>
                    <m:t xml:space="preserve">0</m:t>
                  </m:r>
                </m:oMath>
              </m:oMathPara>
            </a14:m>
            <a:endParaRPr sz="2100"/>
          </a:p>
        </p:txBody>
      </p:sp>
      <p:sp>
        <p:nvSpPr>
          <p:cNvPr id="133" name="Dissipativity inequality"/>
          <p:cNvSpPr/>
          <p:nvPr/>
        </p:nvSpPr>
        <p:spPr>
          <a:xfrm>
            <a:off x="444500" y="4213860"/>
            <a:ext cx="82550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V</m:t>
                  </m: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r>
                    <m:rPr>
                      <m:sty m:val="i"/>
                    </m:rPr>
                    <a:rPr sz="1800">
                      <a:solidFill>
                        <a:srgbClr val="252529"/>
                      </a:solidFill>
                      <a:latin typeface="Cambria Math"/>
                    </a:rPr>
                    <m:t xml:space="preserve">V</m:t>
                  </m:r>
                  <m:d>
                    <m:dPr>
                      <m:begChr m:val="("/>
                      <m:endChr m:val=")"/>
                      <m:ctrlPr>
                        <a:rPr sz="1800">
                          <a:solidFill>
                            <a:srgbClr val="252529"/>
                          </a:solidFill>
                          <a:latin typeface="Cambria Math"/>
                        </a:rPr>
                      </m:ctrlPr>
                    </m:dPr>
                    <m:e>
                      <m:r>
                        <m:rPr>
                          <m:sty m:val="i"/>
                        </m:rPr>
                        <a:rPr sz="1800">
                          <a:solidFill>
                            <a:srgbClr val="252529"/>
                          </a:solidFill>
                          <a:latin typeface="Cambria Math"/>
                        </a:rPr>
                        <m:t xml:space="preserve">0</m:t>
                      </m:r>
                    </m:e>
                  </m:d>
                  <m:r>
                    <m:rPr>
                      <m:sty m:val="i"/>
                    </m:rPr>
                    <a:rPr sz="1800">
                      <a:solidFill>
                        <a:srgbClr val="252529"/>
                      </a:solidFill>
                      <a:latin typeface="Cambria Math"/>
                    </a:rPr>
                    <m:t xml:space="preserve">=</m:t>
                  </m:r>
                  <m:r>
                    <m:rPr>
                      <m:sty m:val="i"/>
                    </m:rPr>
                    <a:rPr sz="1800">
                      <a:solidFill>
                        <a:srgbClr val="252529"/>
                      </a:solidFill>
                      <a:latin typeface="Cambria Math"/>
                    </a:rPr>
                    <m:t xml:space="preserve">0</m:t>
                  </m:r>
                  <m:r>
                    <m:rPr>
                      <m:sty m:val="i"/>
                    </m:rPr>
                    <a:rPr sz="1800">
                      <a:solidFill>
                        <a:srgbClr val="252529"/>
                      </a:solidFill>
                      <a:latin typeface="Cambria Math"/>
                    </a:rPr>
                    <m:t xml:space="preserve">≤</m:t>
                  </m:r>
                  <m:nary>
                    <m:naryPr>
                      <m:chr m:val="∫"/>
                      <m:limLoc m:val="subSup"/>
                      <m:ctrlPr>
                        <a:rPr sz="1800">
                          <a:solidFill>
                            <a:srgbClr val="252529"/>
                          </a:solidFill>
                          <a:latin typeface="Cambria Math"/>
                        </a:rPr>
                      </m:ctrlPr>
                    </m:naryPr>
                    <m:sub>
                      <m:r>
                        <m:rPr>
                          <m:sty m:val="p"/>
                        </m:rPr>
                        <a:rPr sz="1800">
                          <a:solidFill>
                            <a:srgbClr val="252529"/>
                          </a:solidFill>
                          <a:latin typeface="Cambria Math"/>
                        </a:rPr>
                        <m:t xml:space="preserve">0</m:t>
                      </m:r>
                    </m:sub>
                    <m:sup>
                      <m:r>
                        <m:rPr>
                          <m:sty m:val="i"/>
                        </m:rPr>
                        <a:rPr sz="1800">
                          <a:solidFill>
                            <a:srgbClr val="252529"/>
                          </a:solidFill>
                          <a:latin typeface="Cambria Math"/>
                        </a:rPr>
                        <m:t xml:space="preserve">T</m:t>
                      </m:r>
                    </m:sup>
                    <m:e>
                      <m:r>
                        <m:rPr>
                          <m:sty m:val="i"/>
                        </m:rPr>
                        <a:rPr sz="1800">
                          <a:solidFill>
                            <a:srgbClr val="252529"/>
                          </a:solidFill>
                          <a:latin typeface="Cambria Math"/>
                        </a:rPr>
                        <m:t xml:space="preserve">σ</m:t>
                      </m:r>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 </m:t>
                      </m:r>
                      <m:r>
                        <m:rPr>
                          <m:sty m:val="i"/>
                        </m:rPr>
                        <a:rPr sz="1800">
                          <a:solidFill>
                            <a:srgbClr val="252529"/>
                          </a:solidFill>
                          <a:latin typeface="Cambria Math"/>
                        </a:rPr>
                        <m:t xml:space="preserve">d</m:t>
                      </m:r>
                      <m:r>
                        <m:rPr>
                          <m:sty m:val="i"/>
                        </m:rPr>
                        <a:rPr sz="1800">
                          <a:solidFill>
                            <a:srgbClr val="252529"/>
                          </a:solidFill>
                          <a:latin typeface="Cambria Math"/>
                        </a:rPr>
                        <m:t xml:space="preserve">t</m:t>
                      </m:r>
                    </m:e>
                  </m:nary>
                  <m:r>
                    <m:rPr>
                      <m:sty m:val="i"/>
                    </m:rPr>
                    <a:rPr sz="1800">
                      <a:solidFill>
                        <a:srgbClr val="252529"/>
                      </a:solidFill>
                      <a:latin typeface="Cambria Math"/>
                    </a:rPr>
                    <m:t xml:space="preserve"> </m:t>
                  </m:r>
                  <m:r>
                    <m:rPr>
                      <m:sty m:val="i"/>
                    </m:rPr>
                    <a:rPr sz="1800">
                      <a:solidFill>
                        <a:srgbClr val="252529"/>
                      </a:solidFill>
                      <a:latin typeface="Cambria Math"/>
                    </a:rPr>
                    <m:t xml:space="preserve"> </m:t>
                  </m:r>
                  <m:r>
                    <m:rPr>
                      <m:sty m:val="i"/>
                    </m:rPr>
                    <a:rPr sz="1800">
                      <a:solidFill>
                        <a:srgbClr val="252529"/>
                      </a:solidFill>
                      <a:latin typeface="Cambria Math"/>
                    </a:rPr>
                    <m:t xml:space="preserve"> </m:t>
                  </m:r>
                  <m:r>
                    <m:rPr>
                      <m:sty m:val="i"/>
                    </m:rPr>
                    <a:rPr sz="1800">
                      <a:solidFill>
                        <a:srgbClr val="252529"/>
                      </a:solidFill>
                      <a:latin typeface="Cambria Math"/>
                    </a:rPr>
                    <m:t xml:space="preserve">∀</m:t>
                  </m:r>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0</m:t>
                  </m:r>
                </m:oMath>
              </m:oMathPara>
            </a14:m>
            <a:endParaRPr sz="1800"/>
          </a:p>
        </p:txBody>
      </p:sp>
      <p:sp>
        <p:nvSpPr>
          <p:cNvPr id="13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3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a:t>
            </a:r>
            <a:endParaRPr sz="800"/>
          </a:p>
        </p:txBody>
      </p:sp>
    </p:spTree>
  </p:cSld>
  <p:clrMapOvr>
    <a:masterClrMapping/>
  </p:clrMapOvr>
</p:sld>
</file>

<file path=ppt/theme/sectorNotesTheme.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