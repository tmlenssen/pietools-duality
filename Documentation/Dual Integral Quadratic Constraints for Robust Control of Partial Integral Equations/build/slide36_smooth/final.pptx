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8"/>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53" r:id="rId39"/>
    <p:sldId id="441" r:id="rId40"/>
    <p:sldId id="471" r:id="rId41"/>
    <p:sldId id="442" r:id="rId42"/>
    <p:sldId id="443" r:id="rId43"/>
    <p:sldId id="450" r:id="rId44"/>
    <p:sldId id="451" r:id="rId45"/>
    <p:sldId id="452" r:id="rId46"/>
    <p:sldId id="439" r:id="rId47"/>
    <p:sldId id="458" r:id="rId48"/>
    <p:sldId id="421" r:id="rId49"/>
    <p:sldId id="427" r:id="rId50"/>
    <p:sldId id="431" r:id="rId51"/>
    <p:sldId id="428" r:id="rId52"/>
    <p:sldId id="429" r:id="rId53"/>
    <p:sldId id="432" r:id="rId54"/>
    <p:sldId id="430" r:id="rId55"/>
    <p:sldId id="433" r:id="rId56"/>
    <p:sldId id="434" r:id="rId57"/>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C81919"/>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p:scale>
          <a:sx n="125" d="100"/>
          <a:sy n="125" d="100"/>
        </p:scale>
        <p:origin x="2238" y="78"/>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51</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52</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53</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RevisedLFR120" Type="http://schemas.openxmlformats.org/officeDocument/2006/relationships/image" Target="../media/revised_lfr19_lfr19_image76.png"/><Relationship Id="rIdRevisedLFR125" Type="http://schemas.openxmlformats.org/officeDocument/2006/relationships/image" Target="../media/revised_lfr19_image97.png"/><Relationship Id="rId3" Type="http://schemas.openxmlformats.org/officeDocument/2006/relationships/image" Target="../media/image1.png"/><Relationship Id="rIdRevisedLFR108" Type="http://schemas.openxmlformats.org/officeDocument/2006/relationships/image" Target="../media/revised_lfr19_lfr19_image55.png"/><Relationship Id="rIdRevisedLFR124" Type="http://schemas.openxmlformats.org/officeDocument/2006/relationships/image" Target="../media/revised_lfr19_lfr19_image78.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RevisedLFR107" Type="http://schemas.openxmlformats.org/officeDocument/2006/relationships/image" Target="../media/revised_lfr19_lfr19_image81.png"/><Relationship Id="rId7" Type="http://schemas.openxmlformats.org/officeDocument/2006/relationships/image" Target="../media/image7.jp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RevisedLFR101" Type="http://schemas.openxmlformats.org/officeDocument/2006/relationships/image" Target="../media/revised_lfr19_lfr19_image35.png"/><Relationship Id="rIdRevisedLFR127" Type="http://schemas.openxmlformats.org/officeDocument/2006/relationships/image" Target="../media/revised_lfr19_lfr19_image74.png"/><Relationship Id="rIdRevisedLFR106" Type="http://schemas.openxmlformats.org/officeDocument/2006/relationships/image" Target="../media/revised_lfr19_lfr19_image75.png"/><Relationship Id="rIdRevisedLFR114" Type="http://schemas.openxmlformats.org/officeDocument/2006/relationships/image" Target="../media/revised_lfr19_lfr19_image80.png"/><Relationship Id="rIdRevisedLFR119" Type="http://schemas.openxmlformats.org/officeDocument/2006/relationships/image" Target="../media/revised_lfr19_image74.png"/><Relationship Id="rId6" Type="http://schemas.openxmlformats.org/officeDocument/2006/relationships/image" Target="../media/image68.jpeg"/><Relationship Id="rIdRevisedLFR122" Type="http://schemas.openxmlformats.org/officeDocument/2006/relationships/image" Target="../media/revised_lfr19_lfr19_image71.png"/><Relationship Id="rId5" Type="http://schemas.openxmlformats.org/officeDocument/2006/relationships/image" Target="../media/image70.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RevisedLFR121" Type="http://schemas.openxmlformats.org/officeDocument/2006/relationships/image" Target="../media/revised_lfr19_image103.png"/><Relationship Id="rId4" Type="http://schemas.openxmlformats.org/officeDocument/2006/relationships/image" Target="../media/image54.png"/><Relationship Id="rIdRevisedLFR117" Type="http://schemas.openxmlformats.org/officeDocument/2006/relationships/image" Target="../media/revised_lfr19_lfr19_image70.png"/><Relationship Id="rIdRevisedLFR109" Type="http://schemas.openxmlformats.org/officeDocument/2006/relationships/image" Target="../media/revised_lfr19_lfr19_image79.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png"/><Relationship Id="rId5" Type="http://schemas.openxmlformats.org/officeDocument/2006/relationships/image" Target="../media/image72.png"/><Relationship Id="rIdBlockMorph21_10" Type="http://schemas.openxmlformats.org/officeDocument/2006/relationships/image" Target="../media/blockmorph21_extraction20_image70.png"/><Relationship Id="rId4" Type="http://schemas.openxmlformats.org/officeDocument/2006/relationships/image" Target="../media/image7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81.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730.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780.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82.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780.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5.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4.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png"/><Relationship Id="rId10" Type="http://schemas.openxmlformats.org/officeDocument/2006/relationships/image" Target="../media/image790.png"/><Relationship Id="rId4" Type="http://schemas.openxmlformats.org/officeDocument/2006/relationships/image" Target="../media/image97.png"/><Relationship Id="rId9" Type="http://schemas.openxmlformats.org/officeDocument/2006/relationships/image" Target="../media/image780.png"/></Relationships>
</file>

<file path=ppt/slides/_rels/slide34.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8.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png"/><Relationship Id="rId10" Type="http://schemas.openxmlformats.org/officeDocument/2006/relationships/image" Target="../media/image790.png"/><Relationship Id="rId4" Type="http://schemas.openxmlformats.org/officeDocument/2006/relationships/image" Target="../media/image97.png"/><Relationship Id="rId9" Type="http://schemas.openxmlformats.org/officeDocument/2006/relationships/image" Target="../media/image780.png"/></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46.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Relationships xmlns="http://schemas.openxmlformats.org/package/2006/relationships"><Relationship Id="rId3" Type="http://schemas.openxmlformats.org/officeDocument/2006/relationships/slideLayout" Target="../slideLayouts/slideLayout12.xml"/><Relationship Id="rIdSectorRefinement35_325" Type="http://schemas.openxmlformats.org/officeDocument/2006/relationships/image" Target="../media/slide36smooth_sectorrefinement35_image116.png"/><Relationship Id="rIdSectorRefinement35_105" Type="http://schemas.openxmlformats.org/officeDocument/2006/relationships/image" Target="../media/slide36smooth_sectorrefinement35_image119.png"/><Relationship Id="rIdSectorRefinement35_265" Type="http://schemas.openxmlformats.org/officeDocument/2006/relationships/image" Target="../media/slide36smooth_sectorrefinement35_image120.png"/><Relationship Id="rId2" Type="http://schemas.openxmlformats.org/officeDocument/2006/relationships/video" Target="../media/slide36smooth_media6.mp4"/><Relationship Id="rId1" Type="http://schemas.microsoft.com/office/2007/relationships/media" Target="../media/slide36smooth_media6.mp4"/><Relationship Id="rIdSectorRefinement35_365" Type="http://schemas.openxmlformats.org/officeDocument/2006/relationships/image" Target="../media/slide36smooth_sectorrefinement35_image118.png"/><Relationship Id="rId5" Type="http://schemas.openxmlformats.org/officeDocument/2006/relationships/image" Target="../media/slide36smooth_image105.png"/><Relationship Id="rId4" Type="http://schemas.openxmlformats.org/officeDocument/2006/relationships/notesSlide" Target="../notesSlides/notesSlide30.xml"/><Relationship Id="rIdSectorRefinement35_60" Type="http://schemas.openxmlformats.org/officeDocument/2006/relationships/image" Target="../media/slide36smooth_sectorrefinement35_image117.png"/><Relationship Id="rIdSectorRefinement35_296" Type="http://schemas.openxmlformats.org/officeDocument/2006/relationships/image" Target="../media/slide36smooth_sectorrefinement35_image121.png"/></Relationships>
</file>

<file path=ppt/slides/_rels/slide37.xml.rels><?xml version="1.0" encoding="UTF-8" standalone="yes"?>
<Relationships xmlns="http://schemas.openxmlformats.org/package/2006/relationships"><Relationship Id="rIdSectorRefinement36_0" Type="http://schemas.openxmlformats.org/officeDocument/2006/relationships/image" Target="../media/sectorrefinement36_image550.png"/><Relationship Id="rIdSectorRefinement36_4" Type="http://schemas.openxmlformats.org/officeDocument/2006/relationships/image" Target="../media/sectorrefinement36_image552.png"/><Relationship Id="rId2" Type="http://schemas.openxmlformats.org/officeDocument/2006/relationships/notesSlide" Target="../notesSlides/notesSlide31.xml"/><Relationship Id="rIdSectorRefinement36_3" Type="http://schemas.openxmlformats.org/officeDocument/2006/relationships/image" Target="../media/sectorrefinement36_image553.png"/><Relationship Id="rId1" Type="http://schemas.openxmlformats.org/officeDocument/2006/relationships/slideLayout" Target="../slideLayouts/slideLayout12.xml"/><Relationship Id="rIdSectorRefinement36_5" Type="http://schemas.openxmlformats.org/officeDocument/2006/relationships/image" Target="../media/sectorrefinement36_image551.png"/></Relationships>
</file>

<file path=ppt/slides/_rels/slide38.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06.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39.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07.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2.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0.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3.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1.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08.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4.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2.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09.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35.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3.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15" Type="http://schemas.openxmlformats.org/officeDocument/2006/relationships/image" Target="../media/image490.png"/><Relationship Id="rId4" Type="http://schemas.openxmlformats.org/officeDocument/2006/relationships/image" Target="../media/image960.png"/><Relationship Id="rId14" Type="http://schemas.openxmlformats.org/officeDocument/2006/relationships/image" Target="../media/image480.png"/></Relationships>
</file>

<file path=ppt/slides/_rels/slide44.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5.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36.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10.png"/><Relationship Id="rIdClosing4" Type="http://schemas.openxmlformats.org/officeDocument/2006/relationships/image" Target="../media/image33.png"/><Relationship Id="rId4" Type="http://schemas.openxmlformats.org/officeDocument/2006/relationships/image" Target="../media/image7.jpg"/></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7.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0.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8.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1.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9.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41.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12.png"/></Relationships>
</file>

<file path=ppt/slides/_rels/slide54.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11.png"/><Relationship Id="rId2" Type="http://schemas.openxmlformats.org/officeDocument/2006/relationships/notesSlide" Target="../notesSlides/notesSlide42.xml"/><Relationship Id="rId1" Type="http://schemas.openxmlformats.org/officeDocument/2006/relationships/slideLayout" Target="../slideLayouts/slideLayout12.xml"/><Relationship Id="rId4" Type="http://schemas.openxmlformats.org/officeDocument/2006/relationships/image" Target="../media/image113.png"/></Relationships>
</file>

<file path=ppt/slides/_rels/slide55.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43.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14.png"/></Relationships>
</file>

<file path=ppt/slides/_rels/slide56.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44.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15.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m="http://schemas.openxmlformats.org/officeDocument/2006/math"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m="http://schemas.openxmlformats.org/officeDocument/2006/math"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3"/>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38200" y="2743200"/>
            <a:ext cx="7467600" cy="1524000"/>
            <a:chOff x="838200" y="2743200"/>
            <a:chExt cx="7467600" cy="1524000"/>
          </a:xfrm>
        </p:grpSpPr>
        <mc:AlternateContent xmlns:mc="http://schemas.openxmlformats.org/markup-compatibility/2006" xmlns:a14="http://schemas.microsoft.com/office/drawing/2010/main">
          <mc:Choice Requires="a14">
            <p:sp>
              <p:nvSpPr>
                <p:cNvPr id="20010" name="Delay dynamics S"/>
                <p:cNvSpPr/>
                <p:nvPr/>
              </p:nvSpPr>
              <p:spPr>
                <a:xfrm>
                  <a:off x="1333500" y="2759710"/>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 xmlns:m="http://schemas.openxmlformats.org/officeDocument/2006/math">
            <p:sp>
              <p:nvSpPr>
                <p:cNvPr id="20010" name="Delay dynamics S"/>
                <p:cNvSpPr>
                  <a:spLocks noRot="1" noChangeAspect="1" noMove="1" noResize="1" noEditPoints="1" noAdjustHandles="1" noChangeArrowheads="1" noChangeShapeType="1" noTextEdit="1"/>
                </p:cNvSpPr>
                <p:nvPr/>
              </p:nvSpPr>
              <p:spPr>
                <a:xfrm>
                  <a:off x="1333500" y="2759710"/>
                  <a:ext cx="6477000" cy="525780"/>
                </a:xfrm>
                <a:prstGeom prst="rect">
                  <a:avLst/>
                </a:prstGeom>
                <a:blipFill>
                  <a:blip r:embed="rIdRevisedLFR1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952500" y="303911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 xmlns:m="http://schemas.openxmlformats.org/officeDocument/2006/math">
            <p:sp>
              <p:nvSpPr>
                <p:cNvPr id="20011" name="Delay dynamics G"/>
                <p:cNvSpPr>
                  <a:spLocks noRot="1" noChangeAspect="1" noMove="1" noResize="1" noEditPoints="1" noAdjustHandles="1" noChangeArrowheads="1" noChangeShapeType="1" noTextEdit="1"/>
                </p:cNvSpPr>
                <p:nvPr/>
              </p:nvSpPr>
              <p:spPr>
                <a:xfrm>
                  <a:off x="952500" y="3039110"/>
                  <a:ext cx="7239000" cy="525780"/>
                </a:xfrm>
                <a:prstGeom prst="rect">
                  <a:avLst/>
                </a:prstGeom>
                <a:blipFill>
                  <a:blip r:embed="rIdRevisedLFR1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7810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4" name="State dynamics left G"/>
                <p:cNvSpPr>
                  <a:spLocks noRot="1" noChangeAspect="1" noMove="1" noResize="1" noEditPoints="1" noAdjustHandles="1" noChangeArrowheads="1" noChangeShapeType="1" noTextEdit="1"/>
                </p:cNvSpPr>
                <p:nvPr/>
              </p:nvSpPr>
              <p:spPr>
                <a:xfrm>
                  <a:off x="2578100" y="3699510"/>
                  <a:ext cx="1371600" cy="525780"/>
                </a:xfrm>
                <a:prstGeom prst="rect">
                  <a:avLst/>
                </a:prstGeom>
                <a:blipFill>
                  <a:blip r:embed="rIdRevisedLFR1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711700" y="3086100"/>
            <a:ext cx="3937000" cy="1117600"/>
            <a:chOff x="330200" y="3048000"/>
            <a:chExt cx="3937000" cy="1117600"/>
          </a:xfrm>
        </p:grpSpPr>
        <mc:AlternateContent xmlns:mc="http://schemas.openxmlformats.org/markup-compatibility/2006" xmlns:a14="http://schemas.microsoft.com/office/drawing/2010/main">
          <mc:Choice Requires="a14">
            <p:sp>
              <p:nvSpPr>
                <p:cNvPr id="20019" name="Nominal delay relation S"/>
                <p:cNvSpPr/>
                <p:nvPr/>
              </p:nvSpPr>
              <p:spPr>
                <a:xfrm>
                  <a:off x="330200" y="3063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 xmlns:m="http://schemas.openxmlformats.org/officeDocument/2006/math">
            <p:sp>
              <p:nvSpPr>
                <p:cNvPr id="20019" name="Nominal delay relation S"/>
                <p:cNvSpPr>
                  <a:spLocks noRot="1" noChangeAspect="1" noMove="1" noResize="1" noEditPoints="1" noAdjustHandles="1" noChangeArrowheads="1" noChangeShapeType="1" noTextEdit="1"/>
                </p:cNvSpPr>
                <p:nvPr/>
              </p:nvSpPr>
              <p:spPr>
                <a:xfrm>
                  <a:off x="330200" y="3063240"/>
                  <a:ext cx="3937000" cy="350520"/>
                </a:xfrm>
                <a:prstGeom prst="rect">
                  <a:avLst/>
                </a:prstGeom>
                <a:blipFill>
                  <a:blip r:embed="rIdRevisedLFR1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30200" y="32918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 xmlns:m="http://schemas.openxmlformats.org/officeDocument/2006/math">
            <p:sp>
              <p:nvSpPr>
                <p:cNvPr id="20020" name="Nominal delay relation G"/>
                <p:cNvSpPr>
                  <a:spLocks noRot="1" noChangeAspect="1" noMove="1" noResize="1" noEditPoints="1" noAdjustHandles="1" noChangeArrowheads="1" noChangeShapeType="1" noTextEdit="1"/>
                </p:cNvSpPr>
                <p:nvPr/>
              </p:nvSpPr>
              <p:spPr>
                <a:xfrm>
                  <a:off x="330200" y="3291840"/>
                  <a:ext cx="3937000" cy="350520"/>
                </a:xfrm>
                <a:prstGeom prst="rect">
                  <a:avLst/>
                </a:prstGeom>
                <a:blipFill>
                  <a:blip r:embed="rIdRevisedLFR10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330200" y="3571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 xmlns:m="http://schemas.openxmlformats.org/officeDocument/2006/math">
            <p:sp>
              <p:nvSpPr>
                <p:cNvPr id="20021" name="Nominal state equation S"/>
                <p:cNvSpPr>
                  <a:spLocks noRot="1" noChangeAspect="1" noMove="1" noResize="1" noEditPoints="1" noAdjustHandles="1" noChangeArrowheads="1" noChangeShapeType="1" noTextEdit="1"/>
                </p:cNvSpPr>
                <p:nvPr/>
              </p:nvSpPr>
              <p:spPr>
                <a:xfrm>
                  <a:off x="330200" y="3571240"/>
                  <a:ext cx="3937000" cy="350520"/>
                </a:xfrm>
                <a:prstGeom prst="rect">
                  <a:avLst/>
                </a:prstGeom>
                <a:blipFill>
                  <a:blip r:embed="rIdRevisedLFR1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330200" y="38125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 xmlns:m="http://schemas.openxmlformats.org/officeDocument/2006/math">
            <p:sp>
              <p:nvSpPr>
                <p:cNvPr id="20022" name="Nominal state equation G"/>
                <p:cNvSpPr>
                  <a:spLocks noRot="1" noChangeAspect="1" noMove="1" noResize="1" noEditPoints="1" noAdjustHandles="1" noChangeArrowheads="1" noChangeShapeType="1" noTextEdit="1"/>
                </p:cNvSpPr>
                <p:nvPr/>
              </p:nvSpPr>
              <p:spPr>
                <a:xfrm>
                  <a:off x="330200" y="3812540"/>
                  <a:ext cx="3937000" cy="350520"/>
                </a:xfrm>
                <a:prstGeom prst="rect">
                  <a:avLst/>
                </a:prstGeom>
                <a:blipFill>
                  <a:blip r:embed="rIdRevisedLFR107"/>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8"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20030"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RevisedLFR121"/>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a:t>
            </a:r>
            <a:endParaRPr sz="2500" dirty="0"/>
          </a:p>
        </p:txBody>
      </p:sp>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6"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7"/>
          <a:stretch>
            <a:fillRect/>
          </a:stretch>
        </p:blipFill>
        <p:spPr>
          <a:xfrm>
            <a:off x="6896100" y="3302000"/>
            <a:ext cx="1778000" cy="871220"/>
          </a:xfrm>
          <a:prstGeom prst="rect">
            <a:avLst/>
          </a:prstGeom>
        </p:spPr>
      </p:pic>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 xmlns:m="http://schemas.openxmlformats.org/officeDocument/2006/math">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animEffect transition="in" filter="fade">
                                      <p:cBhvr>
                                        <p:cTn id="86" dur="600"/>
                                        <p:tgtEl>
                                          <p:spTgt spid="20079"/>
                                        </p:tgtEl>
                                      </p:cBhvr>
                                    </p:animEffect>
                                  </p:childTnLst>
                                </p:cTn>
                              </p:par>
                              <p:par>
                                <p:cTn id="87" presetID="10" presetClass="entr" presetSubtype="0" fill="hold" nodeType="withEffect">
                                  <p:stCondLst>
                                    <p:cond delay="150"/>
                                  </p:stCondLst>
                                  <p:childTnLst>
                                    <p:set>
                                      <p:cBhvr>
                                        <p:cTn id="88" dur="1" fill="hold">
                                          <p:stCondLst>
                                            <p:cond delay="0"/>
                                          </p:stCondLst>
                                        </p:cTn>
                                        <p:tgtEl>
                                          <p:spTgt spid="20080"/>
                                        </p:tgtEl>
                                        <p:attrNameLst>
                                          <p:attrName>style.visibility</p:attrName>
                                        </p:attrNameLst>
                                      </p:cBhvr>
                                      <p:to>
                                        <p:strVal val="visible"/>
                                      </p:to>
                                    </p:set>
                                    <p:animEffect transition="in" filter="fade">
                                      <p:cBhvr>
                                        <p:cTn id="89" dur="600"/>
                                        <p:tgtEl>
                                          <p:spTgt spid="20080"/>
                                        </p:tgtEl>
                                      </p:cBhvr>
                                    </p:animEffect>
                                  </p:childTnLst>
                                </p:cTn>
                              </p:par>
                              <p:par>
                                <p:cTn id="90" presetID="10" presetClass="entr" presetSubtype="0" fill="hold" grpId="0" nodeType="withEffect">
                                  <p:stCondLst>
                                    <p:cond delay="150"/>
                                  </p:stCondLst>
                                  <p:childTnLst>
                                    <p:set>
                                      <p:cBhvr>
                                        <p:cTn id="91" dur="1" fill="hold">
                                          <p:stCondLst>
                                            <p:cond delay="0"/>
                                          </p:stCondLst>
                                        </p:cTn>
                                        <p:tgtEl>
                                          <p:spTgt spid="20081"/>
                                        </p:tgtEl>
                                        <p:attrNameLst>
                                          <p:attrName>style.visibility</p:attrName>
                                        </p:attrNameLst>
                                      </p:cBhvr>
                                      <p:to>
                                        <p:strVal val="visible"/>
                                      </p:to>
                                    </p:set>
                                    <p:animEffect transition="in" filter="fade">
                                      <p:cBhvr>
                                        <p:cTn id="92" dur="600"/>
                                        <p:tgtEl>
                                          <p:spTgt spid="20081"/>
                                        </p:tgtEl>
                                      </p:cBhvr>
                                    </p:animEffect>
                                  </p:childTnLst>
                                </p:cTn>
                              </p:par>
                              <p:par>
                                <p:cTn id="93" presetID="10" presetClass="entr" presetSubtype="0" fill="hold" grpId="0" nodeType="withEffect">
                                  <p:stCondLst>
                                    <p:cond delay="150"/>
                                  </p:stCondLst>
                                  <p:childTnLst>
                                    <p:set>
                                      <p:cBhvr>
                                        <p:cTn id="94" dur="1" fill="hold">
                                          <p:stCondLst>
                                            <p:cond delay="0"/>
                                          </p:stCondLst>
                                        </p:cTn>
                                        <p:tgtEl>
                                          <p:spTgt spid="20082"/>
                                        </p:tgtEl>
                                        <p:attrNameLst>
                                          <p:attrName>style.visibility</p:attrName>
                                        </p:attrNameLst>
                                      </p:cBhvr>
                                      <p:to>
                                        <p:strVal val="visible"/>
                                      </p:to>
                                    </p:set>
                                    <p:animEffect transition="in" filter="fade">
                                      <p:cBhvr>
                                        <p:cTn id="95" dur="600"/>
                                        <p:tgtEl>
                                          <p:spTgt spid="20082"/>
                                        </p:tgtEl>
                                      </p:cBhvr>
                                    </p:animEffect>
                                  </p:childTnLst>
                                </p:cTn>
                              </p:par>
                              <p:par>
                                <p:cTn id="96" presetID="10" presetClass="entr" presetSubtype="0" fill="hold" grpId="0" nodeType="withEffect">
                                  <p:stCondLst>
                                    <p:cond delay="150"/>
                                  </p:stCondLst>
                                  <p:childTnLst>
                                    <p:set>
                                      <p:cBhvr>
                                        <p:cTn id="97" dur="1" fill="hold">
                                          <p:stCondLst>
                                            <p:cond delay="0"/>
                                          </p:stCondLst>
                                        </p:cTn>
                                        <p:tgtEl>
                                          <p:spTgt spid="20083"/>
                                        </p:tgtEl>
                                        <p:attrNameLst>
                                          <p:attrName>style.visibility</p:attrName>
                                        </p:attrNameLst>
                                      </p:cBhvr>
                                      <p:to>
                                        <p:strVal val="visible"/>
                                      </p:to>
                                    </p:set>
                                    <p:animEffect transition="in" filter="fade">
                                      <p:cBhvr>
                                        <p:cTn id="98" dur="600"/>
                                        <p:tgtEl>
                                          <p:spTgt spid="20083"/>
                                        </p:tgtEl>
                                      </p:cBhvr>
                                    </p:animEffect>
                                  </p:childTnLst>
                                </p:cTn>
                              </p:par>
                              <p:par>
                                <p:cTn id="99" presetID="10" presetClass="entr" presetSubtype="0" fill="hold" nodeType="withEffect">
                                  <p:stCondLst>
                                    <p:cond delay="150"/>
                                  </p:stCondLst>
                                  <p:childTnLst>
                                    <p:set>
                                      <p:cBhvr>
                                        <p:cTn id="100" dur="1" fill="hold">
                                          <p:stCondLst>
                                            <p:cond delay="0"/>
                                          </p:stCondLst>
                                        </p:cTn>
                                        <p:tgtEl>
                                          <p:spTgt spid="20088"/>
                                        </p:tgtEl>
                                        <p:attrNameLst>
                                          <p:attrName>style.visibility</p:attrName>
                                        </p:attrNameLst>
                                      </p:cBhvr>
                                      <p:to>
                                        <p:strVal val="visible"/>
                                      </p:to>
                                    </p:set>
                                    <p:animEffect transition="in" filter="fade">
                                      <p:cBhvr>
                                        <p:cTn id="101" dur="600"/>
                                        <p:tgtEl>
                                          <p:spTgt spid="20088"/>
                                        </p:tgtEl>
                                      </p:cBhvr>
                                    </p:animEffect>
                                  </p:childTnLst>
                                </p:cTn>
                              </p:par>
                              <p:par>
                                <p:cTn id="102" presetID="10" presetClass="exit" presetSubtype="0" fill="hold" grpId="1" nodeType="withEffect">
                                  <p:stCondLst>
                                    <p:cond delay="0"/>
                                  </p:stCondLst>
                                  <p:childTnLst>
                                    <p:animEffect transition="out" filter="fade">
                                      <p:cBhvr>
                                        <p:cTn id="103" dur="300"/>
                                        <p:tgtEl>
                                          <p:spTgt spid="20098"/>
                                        </p:tgtEl>
                                      </p:cBhvr>
                                    </p:animEffect>
                                    <p:set>
                                      <p:cBhvr>
                                        <p:cTn id="104" dur="1" fill="hold">
                                          <p:stCondLst>
                                            <p:cond delay="299"/>
                                          </p:stCondLst>
                                        </p:cTn>
                                        <p:tgtEl>
                                          <p:spTgt spid="20098"/>
                                        </p:tgtEl>
                                        <p:attrNameLst>
                                          <p:attrName>style.visibility</p:attrName>
                                        </p:attrNameLst>
                                      </p:cBhvr>
                                      <p:to>
                                        <p:strVal val="hidden"/>
                                      </p:to>
                                    </p:set>
                                  </p:childTnLst>
                                </p:cTn>
                              </p:par>
                            </p:childTnLst>
                          </p:cTn>
                        </p:par>
                      </p:childTnLst>
                    </p:cTn>
                  </p:par>
                  <p:par>
                    <p:cTn id="105" fill="hold">
                      <p:stCondLst>
                        <p:cond delay="indefinite"/>
                      </p:stCondLst>
                      <p:childTnLst>
                        <p:par>
                          <p:cTn id="106" fill="hold">
                            <p:stCondLst>
                              <p:cond delay="0"/>
                            </p:stCondLst>
                            <p:childTnLst>
                              <p:par>
                                <p:cTn id="107" presetID="10" presetClass="exit" presetSubtype="0" fill="hold" nodeType="clickEffect">
                                  <p:stCondLst>
                                    <p:cond delay="0"/>
                                  </p:stCondLst>
                                  <p:childTnLst>
                                    <p:animEffect transition="out" filter="fade">
                                      <p:cBhvr>
                                        <p:cTn id="108" dur="500"/>
                                        <p:tgtEl>
                                          <p:spTgt spid="20001"/>
                                        </p:tgtEl>
                                      </p:cBhvr>
                                    </p:animEffect>
                                    <p:set>
                                      <p:cBhvr>
                                        <p:cTn id="109" dur="1" fill="hold">
                                          <p:stCondLst>
                                            <p:cond delay="499"/>
                                          </p:stCondLst>
                                        </p:cTn>
                                        <p:tgtEl>
                                          <p:spTgt spid="20001"/>
                                        </p:tgtEl>
                                        <p:attrNameLst>
                                          <p:attrName>style.visibility</p:attrName>
                                        </p:attrNameLst>
                                      </p:cBhvr>
                                      <p:to>
                                        <p:strVal val="hidden"/>
                                      </p:to>
                                    </p:set>
                                  </p:childTnLst>
                                </p:cTn>
                              </p:par>
                              <p:par>
                                <p:cTn id="110" presetID="10" presetClass="exit" presetSubtype="0" fill="hold" nodeType="withEffect">
                                  <p:stCondLst>
                                    <p:cond delay="0"/>
                                  </p:stCondLst>
                                  <p:childTnLst>
                                    <p:animEffect transition="out" filter="fade">
                                      <p:cBhvr>
                                        <p:cTn id="111" dur="500"/>
                                        <p:tgtEl>
                                          <p:spTgt spid="20079"/>
                                        </p:tgtEl>
                                      </p:cBhvr>
                                    </p:animEffect>
                                    <p:set>
                                      <p:cBhvr>
                                        <p:cTn id="112" dur="1" fill="hold">
                                          <p:stCondLst>
                                            <p:cond delay="499"/>
                                          </p:stCondLst>
                                        </p:cTn>
                                        <p:tgtEl>
                                          <p:spTgt spid="20079"/>
                                        </p:tgtEl>
                                        <p:attrNameLst>
                                          <p:attrName>style.visibility</p:attrName>
                                        </p:attrNameLst>
                                      </p:cBhvr>
                                      <p:to>
                                        <p:strVal val="hidden"/>
                                      </p:to>
                                    </p:set>
                                  </p:childTnLst>
                                </p:cTn>
                              </p:par>
                              <p:par>
                                <p:cTn id="113" presetID="10" presetClass="exit" presetSubtype="0" fill="hold" nodeType="withEffect">
                                  <p:stCondLst>
                                    <p:cond delay="0"/>
                                  </p:stCondLst>
                                  <p:childTnLst>
                                    <p:animEffect transition="out" filter="fade">
                                      <p:cBhvr>
                                        <p:cTn id="114" dur="500"/>
                                        <p:tgtEl>
                                          <p:spTgt spid="20080"/>
                                        </p:tgtEl>
                                      </p:cBhvr>
                                    </p:animEffect>
                                    <p:set>
                                      <p:cBhvr>
                                        <p:cTn id="115" dur="1" fill="hold">
                                          <p:stCondLst>
                                            <p:cond delay="499"/>
                                          </p:stCondLst>
                                        </p:cTn>
                                        <p:tgtEl>
                                          <p:spTgt spid="20080"/>
                                        </p:tgtEl>
                                        <p:attrNameLst>
                                          <p:attrName>style.visibility</p:attrName>
                                        </p:attrNameLst>
                                      </p:cBhvr>
                                      <p:to>
                                        <p:strVal val="hidden"/>
                                      </p:to>
                                    </p:set>
                                  </p:childTnLst>
                                </p:cTn>
                              </p:par>
                              <p:par>
                                <p:cTn id="116" presetID="10" presetClass="exit" presetSubtype="0" fill="hold" grpId="1" nodeType="withEffect">
                                  <p:stCondLst>
                                    <p:cond delay="0"/>
                                  </p:stCondLst>
                                  <p:childTnLst>
                                    <p:animEffect transition="out" filter="fade">
                                      <p:cBhvr>
                                        <p:cTn id="117" dur="500"/>
                                        <p:tgtEl>
                                          <p:spTgt spid="20081"/>
                                        </p:tgtEl>
                                      </p:cBhvr>
                                    </p:animEffect>
                                    <p:set>
                                      <p:cBhvr>
                                        <p:cTn id="118" dur="1" fill="hold">
                                          <p:stCondLst>
                                            <p:cond delay="499"/>
                                          </p:stCondLst>
                                        </p:cTn>
                                        <p:tgtEl>
                                          <p:spTgt spid="20081"/>
                                        </p:tgtEl>
                                        <p:attrNameLst>
                                          <p:attrName>style.visibility</p:attrName>
                                        </p:attrNameLst>
                                      </p:cBhvr>
                                      <p:to>
                                        <p:strVal val="hidden"/>
                                      </p:to>
                                    </p:set>
                                  </p:childTnLst>
                                </p:cTn>
                              </p:par>
                              <p:par>
                                <p:cTn id="119" presetID="10" presetClass="exit" presetSubtype="0" fill="hold" grpId="1" nodeType="withEffect">
                                  <p:stCondLst>
                                    <p:cond delay="0"/>
                                  </p:stCondLst>
                                  <p:childTnLst>
                                    <p:animEffect transition="out" filter="fade">
                                      <p:cBhvr>
                                        <p:cTn id="120" dur="500"/>
                                        <p:tgtEl>
                                          <p:spTgt spid="20082"/>
                                        </p:tgtEl>
                                      </p:cBhvr>
                                    </p:animEffect>
                                    <p:set>
                                      <p:cBhvr>
                                        <p:cTn id="121" dur="1" fill="hold">
                                          <p:stCondLst>
                                            <p:cond delay="499"/>
                                          </p:stCondLst>
                                        </p:cTn>
                                        <p:tgtEl>
                                          <p:spTgt spid="20082"/>
                                        </p:tgtEl>
                                        <p:attrNameLst>
                                          <p:attrName>style.visibility</p:attrName>
                                        </p:attrNameLst>
                                      </p:cBhvr>
                                      <p:to>
                                        <p:strVal val="hidden"/>
                                      </p:to>
                                    </p:set>
                                  </p:childTnLst>
                                </p:cTn>
                              </p:par>
                              <p:par>
                                <p:cTn id="122" presetID="10" presetClass="exit" presetSubtype="0" fill="hold" grpId="1" nodeType="withEffect">
                                  <p:stCondLst>
                                    <p:cond delay="0"/>
                                  </p:stCondLst>
                                  <p:childTnLst>
                                    <p:animEffect transition="out" filter="fade">
                                      <p:cBhvr>
                                        <p:cTn id="123" dur="500"/>
                                        <p:tgtEl>
                                          <p:spTgt spid="20083"/>
                                        </p:tgtEl>
                                      </p:cBhvr>
                                    </p:animEffect>
                                    <p:set>
                                      <p:cBhvr>
                                        <p:cTn id="124" dur="1" fill="hold">
                                          <p:stCondLst>
                                            <p:cond delay="499"/>
                                          </p:stCondLst>
                                        </p:cTn>
                                        <p:tgtEl>
                                          <p:spTgt spid="20083"/>
                                        </p:tgtEl>
                                        <p:attrNameLst>
                                          <p:attrName>style.visibility</p:attrName>
                                        </p:attrNameLst>
                                      </p:cBhvr>
                                      <p:to>
                                        <p:strVal val="hidden"/>
                                      </p:to>
                                    </p:set>
                                  </p:childTnLst>
                                </p:cTn>
                              </p:par>
                              <p:par>
                                <p:cTn id="125" presetID="10" presetClass="exit" presetSubtype="0" fill="hold" nodeType="withEffect">
                                  <p:stCondLst>
                                    <p:cond delay="0"/>
                                  </p:stCondLst>
                                  <p:childTnLst>
                                    <p:animEffect transition="out" filter="fade">
                                      <p:cBhvr>
                                        <p:cTn id="126" dur="500"/>
                                        <p:tgtEl>
                                          <p:spTgt spid="20088"/>
                                        </p:tgtEl>
                                      </p:cBhvr>
                                    </p:animEffect>
                                    <p:set>
                                      <p:cBhvr>
                                        <p:cTn id="127" dur="1" fill="hold">
                                          <p:stCondLst>
                                            <p:cond delay="499"/>
                                          </p:stCondLst>
                                        </p:cTn>
                                        <p:tgtEl>
                                          <p:spTgt spid="20088"/>
                                        </p:tgtEl>
                                        <p:attrNameLst>
                                          <p:attrName>style.visibility</p:attrName>
                                        </p:attrNameLst>
                                      </p:cBhvr>
                                      <p:to>
                                        <p:strVal val="hidden"/>
                                      </p:to>
                                    </p:set>
                                  </p:childTnLst>
                                </p:cTn>
                              </p:par>
                              <p:par>
                                <p:cTn id="128" presetID="10" presetClass="exit" presetSubtype="0" fill="hold" nodeType="withEffect">
                                  <p:stCondLst>
                                    <p:cond delay="0"/>
                                  </p:stCondLst>
                                  <p:childTnLst>
                                    <p:animEffect transition="out" filter="fade">
                                      <p:cBhvr>
                                        <p:cTn id="129" dur="500"/>
                                        <p:tgtEl>
                                          <p:spTgt spid="20094"/>
                                        </p:tgtEl>
                                      </p:cBhvr>
                                    </p:animEffect>
                                    <p:set>
                                      <p:cBhvr>
                                        <p:cTn id="130" dur="1" fill="hold">
                                          <p:stCondLst>
                                            <p:cond delay="499"/>
                                          </p:stCondLst>
                                        </p:cTn>
                                        <p:tgtEl>
                                          <p:spTgt spid="20094"/>
                                        </p:tgtEl>
                                        <p:attrNameLst>
                                          <p:attrName>style.visibility</p:attrName>
                                        </p:attrNameLst>
                                      </p:cBhvr>
                                      <p:to>
                                        <p:strVal val="hidden"/>
                                      </p:to>
                                    </p:set>
                                  </p:childTnLst>
                                </p:cTn>
                              </p:par>
                              <p:par>
                                <p:cTn id="131" presetID="10" presetClass="exit" presetSubtype="0" fill="hold" grpId="0" nodeType="withEffect">
                                  <p:stCondLst>
                                    <p:cond delay="0"/>
                                  </p:stCondLst>
                                  <p:childTnLst>
                                    <p:animEffect transition="out" filter="fade">
                                      <p:cBhvr>
                                        <p:cTn id="132" dur="500"/>
                                        <p:tgtEl>
                                          <p:spTgt spid="3"/>
                                        </p:tgtEl>
                                      </p:cBhvr>
                                    </p:animEffect>
                                    <p:set>
                                      <p:cBhvr>
                                        <p:cTn id="133" dur="1" fill="hold">
                                          <p:stCondLst>
                                            <p:cond delay="499"/>
                                          </p:stCondLst>
                                        </p:cTn>
                                        <p:tgtEl>
                                          <p:spTgt spid="3"/>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23"/>
                                        </p:tgtEl>
                                      </p:cBhvr>
                                    </p:animEffect>
                                    <p:set>
                                      <p:cBhvr>
                                        <p:cTn id="136" dur="1" fill="hold">
                                          <p:stCondLst>
                                            <p:cond delay="49"/>
                                          </p:stCondLst>
                                        </p:cTn>
                                        <p:tgtEl>
                                          <p:spTgt spid="20023"/>
                                        </p:tgtEl>
                                        <p:attrNameLst>
                                          <p:attrName>style.visibility</p:attrName>
                                        </p:attrNameLst>
                                      </p:cBhvr>
                                      <p:to>
                                        <p:strVal val="hidden"/>
                                      </p:to>
                                    </p:set>
                                  </p:childTnLst>
                                </p:cTn>
                              </p:par>
                              <p:par>
                                <p:cTn id="137" presetID="10" presetClass="exit" presetSubtype="0" fill="hold" nodeType="withEffect">
                                  <p:stCondLst>
                                    <p:cond delay="50"/>
                                  </p:stCondLst>
                                  <p:childTnLst>
                                    <p:animEffect transition="out" filter="fade">
                                      <p:cBhvr>
                                        <p:cTn id="138" dur="50"/>
                                        <p:tgtEl>
                                          <p:spTgt spid="20027"/>
                                        </p:tgtEl>
                                      </p:cBhvr>
                                    </p:animEffect>
                                    <p:set>
                                      <p:cBhvr>
                                        <p:cTn id="139" dur="1" fill="hold">
                                          <p:stCondLst>
                                            <p:cond delay="49"/>
                                          </p:stCondLst>
                                        </p:cTn>
                                        <p:tgtEl>
                                          <p:spTgt spid="20027"/>
                                        </p:tgtEl>
                                        <p:attrNameLst>
                                          <p:attrName>style.visibility</p:attrName>
                                        </p:attrNameLst>
                                      </p:cBhvr>
                                      <p:to>
                                        <p:strVal val="hidden"/>
                                      </p:to>
                                    </p:set>
                                  </p:childTnLst>
                                </p:cTn>
                              </p:par>
                              <p:par>
                                <p:cTn id="140" presetID="10" presetClass="exit" presetSubtype="0" fill="hold" nodeType="withEffect">
                                  <p:stCondLst>
                                    <p:cond delay="50"/>
                                  </p:stCondLst>
                                  <p:childTnLst>
                                    <p:animEffect transition="out" filter="fade">
                                      <p:cBhvr>
                                        <p:cTn id="141" dur="50"/>
                                        <p:tgtEl>
                                          <p:spTgt spid="20031"/>
                                        </p:tgtEl>
                                      </p:cBhvr>
                                    </p:animEffect>
                                    <p:set>
                                      <p:cBhvr>
                                        <p:cTn id="142" dur="1" fill="hold">
                                          <p:stCondLst>
                                            <p:cond delay="49"/>
                                          </p:stCondLst>
                                        </p:cTn>
                                        <p:tgtEl>
                                          <p:spTgt spid="20031"/>
                                        </p:tgtEl>
                                        <p:attrNameLst>
                                          <p:attrName>style.visibility</p:attrName>
                                        </p:attrNameLst>
                                      </p:cBhvr>
                                      <p:to>
                                        <p:strVal val="hidden"/>
                                      </p:to>
                                    </p:set>
                                  </p:childTnLst>
                                </p:cTn>
                              </p:par>
                              <p:par>
                                <p:cTn id="143" presetID="10" presetClass="exit" presetSubtype="0" fill="hold" nodeType="withEffect">
                                  <p:stCondLst>
                                    <p:cond delay="50"/>
                                  </p:stCondLst>
                                  <p:childTnLst>
                                    <p:animEffect transition="out" filter="fade">
                                      <p:cBhvr>
                                        <p:cTn id="144" dur="50"/>
                                        <p:tgtEl>
                                          <p:spTgt spid="20038"/>
                                        </p:tgtEl>
                                      </p:cBhvr>
                                    </p:animEffect>
                                    <p:set>
                                      <p:cBhvr>
                                        <p:cTn id="145" dur="1" fill="hold">
                                          <p:stCondLst>
                                            <p:cond delay="49"/>
                                          </p:stCondLst>
                                        </p:cTn>
                                        <p:tgtEl>
                                          <p:spTgt spid="20038"/>
                                        </p:tgtEl>
                                        <p:attrNameLst>
                                          <p:attrName>style.visibility</p:attrName>
                                        </p:attrNameLst>
                                      </p:cBhvr>
                                      <p:to>
                                        <p:strVal val="hidden"/>
                                      </p:to>
                                    </p:set>
                                  </p:childTnLst>
                                </p:cTn>
                              </p:par>
                              <p:par>
                                <p:cTn id="146" presetID="10" presetClass="exit" presetSubtype="0" fill="hold" nodeType="withEffect">
                                  <p:stCondLst>
                                    <p:cond delay="50"/>
                                  </p:stCondLst>
                                  <p:childTnLst>
                                    <p:animEffect transition="out" filter="fade">
                                      <p:cBhvr>
                                        <p:cTn id="147" dur="50"/>
                                        <p:tgtEl>
                                          <p:spTgt spid="20042"/>
                                        </p:tgtEl>
                                      </p:cBhvr>
                                    </p:animEffect>
                                    <p:set>
                                      <p:cBhvr>
                                        <p:cTn id="148" dur="1" fill="hold">
                                          <p:stCondLst>
                                            <p:cond delay="49"/>
                                          </p:stCondLst>
                                        </p:cTn>
                                        <p:tgtEl>
                                          <p:spTgt spid="20042"/>
                                        </p:tgtEl>
                                        <p:attrNameLst>
                                          <p:attrName>style.visibility</p:attrName>
                                        </p:attrNameLst>
                                      </p:cBhvr>
                                      <p:to>
                                        <p:strVal val="hidden"/>
                                      </p:to>
                                    </p:set>
                                  </p:childTnLst>
                                </p:cTn>
                              </p:par>
                              <p:par>
                                <p:cTn id="149" presetID="10" presetClass="exit" presetSubtype="0" fill="hold" nodeType="withEffect">
                                  <p:stCondLst>
                                    <p:cond delay="50"/>
                                  </p:stCondLst>
                                  <p:childTnLst>
                                    <p:animEffect transition="out" filter="fade">
                                      <p:cBhvr>
                                        <p:cTn id="150" dur="50"/>
                                        <p:tgtEl>
                                          <p:spTgt spid="20046"/>
                                        </p:tgtEl>
                                      </p:cBhvr>
                                    </p:animEffect>
                                    <p:set>
                                      <p:cBhvr>
                                        <p:cTn id="151" dur="1" fill="hold">
                                          <p:stCondLst>
                                            <p:cond delay="49"/>
                                          </p:stCondLst>
                                        </p:cTn>
                                        <p:tgtEl>
                                          <p:spTgt spid="20046"/>
                                        </p:tgtEl>
                                        <p:attrNameLst>
                                          <p:attrName>style.visibility</p:attrName>
                                        </p:attrNameLst>
                                      </p:cBhvr>
                                      <p:to>
                                        <p:strVal val="hidden"/>
                                      </p:to>
                                    </p:set>
                                  </p:childTnLst>
                                </p:cTn>
                              </p:par>
                              <p:par>
                                <p:cTn id="152" presetID="10" presetClass="entr" presetSubtype="0" fill="hold" nodeType="withEffect">
                                  <p:stCondLst>
                                    <p:cond delay="0"/>
                                  </p:stCondLst>
                                  <p:childTnLst>
                                    <p:set>
                                      <p:cBhvr>
                                        <p:cTn id="153" dur="1" fill="hold">
                                          <p:stCondLst>
                                            <p:cond delay="0"/>
                                          </p:stCondLst>
                                        </p:cTn>
                                        <p:tgtEl>
                                          <p:spTgt spid="20057"/>
                                        </p:tgtEl>
                                        <p:attrNameLst>
                                          <p:attrName>style.visibility</p:attrName>
                                        </p:attrNameLst>
                                      </p:cBhvr>
                                      <p:to>
                                        <p:strVal val="visible"/>
                                      </p:to>
                                    </p:set>
                                    <p:animEffect transition="in" filter="fade">
                                      <p:cBhvr>
                                        <p:cTn id="154" dur="50"/>
                                        <p:tgtEl>
                                          <p:spTgt spid="20057"/>
                                        </p:tgtEl>
                                      </p:cBhvr>
                                    </p:animEffect>
                                  </p:childTnLst>
                                </p:cTn>
                              </p:par>
                              <p:par>
                                <p:cTn id="155" presetID="0" presetClass="path" presetSubtype="0" accel="50000" decel="50000" fill="hold" nodeType="withEffect">
                                  <p:stCondLst>
                                    <p:cond delay="100"/>
                                  </p:stCondLst>
                                  <p:childTnLst>
                                    <p:set>
                                      <p:cBhvr>
                                        <p:cTn id="156" dur="1" fill="hold">
                                          <p:stCondLst>
                                            <p:cond delay="1099"/>
                                          </p:stCondLst>
                                        </p:cTn>
                                        <p:tgtEl>
                                          <p:spTgt spid="20057"/>
                                        </p:tgtEl>
                                        <p:attrNameLst>
                                          <p:attrName>style.visibility</p:attrName>
                                        </p:attrNameLst>
                                      </p:cBhvr>
                                      <p:to>
                                        <p:strVal val="visible"/>
                                      </p:to>
                                    </p:set>
                                    <p:animMotion origin="layout" path="M 0 0 L 0.25138889 0.05109779 E" pathEditMode="relative">
                                      <p:cBhvr from="" to="">
                                        <p:cTn id="157" dur="1100" fill="hold">
                                          <p:stCondLst>
                                            <p:cond delay="0"/>
                                          </p:stCondLst>
                                        </p:cTn>
                                        <p:tgtEl>
                                          <p:spTgt spid="20057"/>
                                        </p:tgtEl>
                                        <p:attrNameLst>
                                          <p:attrName>ppt_x</p:attrName>
                                          <p:attrName>ppt_y</p:attrName>
                                        </p:attrNameLst>
                                      </p:cBhvr>
                                    </p:animMotion>
                                    <p:animScale>
                                      <p:cBhvr>
                                        <p:cTn id="158" dur="1100" fill="hold">
                                          <p:stCondLst>
                                            <p:cond delay="0"/>
                                          </p:stCondLst>
                                        </p:cTn>
                                        <p:tgtEl>
                                          <p:spTgt spid="20057"/>
                                        </p:tgtEl>
                                      </p:cBhvr>
                                      <p:from x="100000" y="100000"/>
                                      <p:to x="112000" y="112000"/>
                                    </p:animScale>
                                  </p:childTnLst>
                                </p:cTn>
                              </p:par>
                              <p:par>
                                <p:cTn id="159" presetID="10" presetClass="entr" presetSubtype="0" fill="hold" grpId="0" nodeType="withEffect">
                                  <p:stCondLst>
                                    <p:cond delay="800"/>
                                  </p:stCondLst>
                                  <p:childTnLst>
                                    <p:set>
                                      <p:cBhvr>
                                        <p:cTn id="160" dur="1" fill="hold">
                                          <p:stCondLst>
                                            <p:cond delay="0"/>
                                          </p:stCondLst>
                                        </p:cTn>
                                        <p:tgtEl>
                                          <p:spTgt spid="20078"/>
                                        </p:tgtEl>
                                        <p:attrNameLst>
                                          <p:attrName>style.visibility</p:attrName>
                                        </p:attrNameLst>
                                      </p:cBhvr>
                                      <p:to>
                                        <p:strVal val="visible"/>
                                      </p:to>
                                    </p:set>
                                    <p:animEffect transition="in" filter="fade">
                                      <p:cBhvr>
                                        <p:cTn id="161" dur="500"/>
                                        <p:tgtEl>
                                          <p:spTgt spid="200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m="http://schemas.openxmlformats.org/officeDocument/2006/math" xmlns="">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m="http://schemas.openxmlformats.org/officeDocument/2006/math" xmlns="">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m="http://schemas.openxmlformats.org/officeDocument/2006/math" xmlns="">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par>
                                <p:cTn id="34" presetID="1" presetClass="entr" presetSubtype="0" fill="hold" grpId="0" nodeType="withEffect">
                                  <p:stCondLst>
                                    <p:cond delay="1700"/>
                                  </p:stCondLst>
                                  <p:childTnLst>
                                    <p:set>
                                      <p:cBhvr>
                                        <p:cTn id="35"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m="http://schemas.openxmlformats.org/officeDocument/2006/math" xmlns="">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NL" sz="1998" smtClean="0">
                                <a:solidFill>
                                  <a:srgbClr val="252529"/>
                                </a:solidFill>
                                <a:latin typeface="Cambria Math"/>
                              </a:rPr>
                            </m:ctrlPr>
                          </m:sSubPr>
                          <m:e>
                            <m:r>
                              <a:rPr lang="en-NL" sz="1998" smtClean="0">
                                <a:solidFill>
                                  <a:srgbClr val="252529"/>
                                </a:solidFill>
                                <a:latin typeface="Cambria Math"/>
                              </a:rPr>
                              <m:t>𝑦</m:t>
                            </m:r>
                          </m:e>
                          <m:sub/>
                        </m:sSub>
                      </m:oMath>
                    </m:oMathPara>
                  </a14:m>
                  <a:endParaRPr sz="1998" dirty="0"/>
                </a:p>
              </p:txBody>
            </p:sp>
          </mc:Choice>
          <mc:Fallback xmlns:m="http://schemas.openxmlformats.org/officeDocument/2006/math"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m="http://schemas.openxmlformats.org/officeDocument/2006/math" xmlns="">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Alternative system representation</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107282"/>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107282"/>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1" nodeType="clickEffect">
                                  <p:stCondLst>
                                    <p:cond delay="0"/>
                                  </p:stCondLst>
                                  <p:childTnLst>
                                    <p:set>
                                      <p:cBhvr>
                                        <p:cTn id="48" dur="1" fill="hold">
                                          <p:stCondLst>
                                            <p:cond delay="0"/>
                                          </p:stCondLst>
                                        </p:cTn>
                                        <p:tgtEl>
                                          <p:spTgt spid="3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1" nodeType="clickEffect">
                                  <p:stCondLst>
                                    <p:cond delay="0"/>
                                  </p:stCondLst>
                                  <p:childTnLst>
                                    <p:set>
                                      <p:cBhvr>
                                        <p:cTn id="52" dur="1" fill="hold">
                                          <p:stCondLst>
                                            <p:cond delay="0"/>
                                          </p:stCondLst>
                                        </p:cTn>
                                        <p:tgtEl>
                                          <p:spTgt spid="41"/>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1" nodeType="clickEffect">
                                  <p:stCondLst>
                                    <p:cond delay="0"/>
                                  </p:stCondLst>
                                  <p:childTnLst>
                                    <p:set>
                                      <p:cBhvr>
                                        <p:cTn id="56" dur="1" fill="hold">
                                          <p:stCondLst>
                                            <p:cond delay="0"/>
                                          </p:stCondLst>
                                        </p:cTn>
                                        <p:tgtEl>
                                          <p:spTgt spid="42"/>
                                        </p:tgtEl>
                                        <p:attrNameLst>
                                          <p:attrName>style.visibility</p:attrName>
                                        </p:attrNameLst>
                                      </p:cBhvr>
                                      <p:to>
                                        <p:strVal val="visible"/>
                                      </p:to>
                                    </p:set>
                                  </p:childTnLst>
                                </p:cTn>
                              </p:par>
                              <p:par>
                                <p:cTn id="57" presetID="42" presetClass="path" presetSubtype="0" accel="50000" decel="50000" fill="hold" grpId="0" nodeType="withEffect">
                                  <p:stCondLst>
                                    <p:cond delay="0"/>
                                  </p:stCondLst>
                                  <p:childTnLst>
                                    <p:animMotion origin="layout" path="M -1.94444E-6 -2.71605E-6 L -0.00035 -0.0574 " pathEditMode="relative" rAng="0" ptsTypes="AA">
                                      <p:cBhvr>
                                        <p:cTn id="58" dur="200" fill="hold"/>
                                        <p:tgtEl>
                                          <p:spTgt spid="41"/>
                                        </p:tgtEl>
                                        <p:attrNameLst>
                                          <p:attrName>ppt_x</p:attrName>
                                          <p:attrName>ppt_y</p:attrName>
                                        </p:attrNameLst>
                                      </p:cBhvr>
                                      <p:rCtr x="-17" y="-2870"/>
                                    </p:animMotion>
                                  </p:childTnLst>
                                </p:cTn>
                              </p:par>
                              <p:par>
                                <p:cTn id="59" presetID="42" presetClass="path" presetSubtype="0" accel="50000" decel="50000" fill="hold" grpId="0" nodeType="withEffect">
                                  <p:stCondLst>
                                    <p:cond delay="0"/>
                                  </p:stCondLst>
                                  <p:childTnLst>
                                    <p:animMotion origin="layout" path="M 5.55556E-7 7.40741E-7 L -0.00017 -0.04907 " pathEditMode="relative" rAng="0" ptsTypes="AA">
                                      <p:cBhvr>
                                        <p:cTn id="60" dur="200" fill="hold"/>
                                        <p:tgtEl>
                                          <p:spTgt spid="42"/>
                                        </p:tgtEl>
                                        <p:attrNameLst>
                                          <p:attrName>ppt_x</p:attrName>
                                          <p:attrName>ppt_y</p:attrName>
                                        </p:attrNameLst>
                                      </p:cBhvr>
                                      <p:rCtr x="-17" y="-2469"/>
                                    </p:animMotion>
                                  </p:childTnLst>
                                </p:cTn>
                              </p:par>
                              <p:par>
                                <p:cTn id="61" presetID="1" presetClass="exit" presetSubtype="0" fill="hold" grpId="0" nodeType="withEffect">
                                  <p:stCondLst>
                                    <p:cond delay="0"/>
                                  </p:stCondLst>
                                  <p:childTnLst>
                                    <p:set>
                                      <p:cBhvr>
                                        <p:cTn id="62" dur="1" fill="hold">
                                          <p:stCondLst>
                                            <p:cond delay="0"/>
                                          </p:stCondLst>
                                        </p:cTn>
                                        <p:tgtEl>
                                          <p:spTgt spid="35"/>
                                        </p:tgtEl>
                                        <p:attrNameLst>
                                          <p:attrName>style.visibility</p:attrName>
                                        </p:attrNameLst>
                                      </p:cBhvr>
                                      <p:to>
                                        <p:strVal val="hidden"/>
                                      </p:to>
                                    </p:set>
                                  </p:childTnLst>
                                </p:cTn>
                              </p:par>
                            </p:childTnLst>
                          </p:cTn>
                        </p:par>
                        <p:par>
                          <p:cTn id="63" fill="hold">
                            <p:stCondLst>
                              <p:cond delay="200"/>
                            </p:stCondLst>
                            <p:childTnLst>
                              <p:par>
                                <p:cTn id="64" presetID="1" presetClass="entr" presetSubtype="0" fill="hold" grpId="0" nodeType="afterEffect">
                                  <p:stCondLst>
                                    <p:cond delay="0"/>
                                  </p:stCondLst>
                                  <p:childTnLst>
                                    <p:set>
                                      <p:cBhvr>
                                        <p:cTn id="65"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70637" y="-1235081"/>
            <a:ext cx="3607759"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89581" y="2570632"/>
            <a:ext cx="1809448"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a14="http://schemas.microsoft.com/office/drawing/2010/main" xmlns:m="http://schemas.openxmlformats.org/officeDocument/2006/math"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2FB18F4B-2236-523A-2C86-767EE3939B8A}"/>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6D98CA0-CFBA-5408-497D-681581CCB5B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89581" y="2570632"/>
            <a:ext cx="1809448" cy="2579366"/>
          </a:xfrm>
          <a:prstGeom prst="rect">
            <a:avLst/>
          </a:prstGeom>
        </p:spPr>
      </p:pic>
      <p:sp>
        <p:nvSpPr>
          <p:cNvPr id="2" name="!!PIE pillar">
            <a:extLst>
              <a:ext uri="{FF2B5EF4-FFF2-40B4-BE49-F238E27FC236}">
                <a16:creationId xmlns:a16="http://schemas.microsoft.com/office/drawing/2014/main" id="{C257D065-3694-D66C-9004-F35444862B61}"/>
              </a:ext>
            </a:extLst>
          </p:cNvPr>
          <p:cNvSpPr/>
          <p:nvPr/>
        </p:nvSpPr>
        <p:spPr>
          <a:xfrm>
            <a:off x="0" y="0"/>
            <a:ext cx="3606800" cy="5143500"/>
          </a:xfrm>
          <a:prstGeom prst="rect">
            <a:avLst/>
          </a:prstGeom>
          <a:solidFill>
            <a:srgbClr val="C81919">
              <a:alpha val="50196"/>
            </a:srgbClr>
          </a:solidFill>
          <a:ln>
            <a:noFill/>
          </a:ln>
        </p:spPr>
        <p:txBody>
          <a:bodyPr/>
          <a:lstStyle/>
          <a:p>
            <a:endParaRPr lang="en-NL" dirty="0"/>
          </a:p>
        </p:txBody>
      </p:sp>
      <p:sp>
        <p:nvSpPr>
          <p:cNvPr id="3" name="PIE heading">
            <a:extLst>
              <a:ext uri="{FF2B5EF4-FFF2-40B4-BE49-F238E27FC236}">
                <a16:creationId xmlns:a16="http://schemas.microsoft.com/office/drawing/2014/main" id="{31C8934E-BD94-C385-678D-D60B6C9CEEAA}"/>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8EF6E350-E45D-F4D6-7FFF-331F6BE6001C}"/>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0E23315-8767-A7BE-57EC-DDC704C91932}"/>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25339B7E-6623-01B0-82B1-CCA9B2F3A53A}"/>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A6011637-8AE0-6FD4-7296-D4F056AE64BA}"/>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4F1C7DC2-080D-C281-5953-266F1A050E78}"/>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dirty="0"/>
            </a:p>
          </p:txBody>
        </p:sp>
        <p:sp>
          <p:nvSpPr>
            <p:cNvPr id="11" name="Uncertainty to plant">
              <a:extLst>
                <a:ext uri="{FF2B5EF4-FFF2-40B4-BE49-F238E27FC236}">
                  <a16:creationId xmlns:a16="http://schemas.microsoft.com/office/drawing/2014/main" id="{039640D8-4A94-28D3-10ED-D71315C3C19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A8663027-6C03-9202-0252-150CDC2D31C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834D4F2-8AD2-C253-6E2C-7C68AE718893}"/>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8D9D6958-1C87-9D15-4F94-61633F4E618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FB3A25E-FFAC-5C20-5AEA-474809C3D776}"/>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BE714BD9-BDA0-B2DF-99A9-2EE484764C1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6793EE4A-3760-4184-CE7B-8849124E305C}"/>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B2A08AF7-32A9-C465-900C-D1BC781312C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584C5CA0-99C5-C57B-678C-E7EFC47849F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D0C63EBA-3504-E2A1-4EC9-1C7E7082221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7BBE42E4-780F-4533-3C8F-8EC7FA129177}"/>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323519C5-0B3C-85AA-F970-7689577612E1}"/>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0277D5B-E4DE-3C80-447E-E48EB62C0B81}"/>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8C4C69C-0D67-2812-ABEC-1B19532CFBE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F67F84CA-A01D-8465-4158-A8592AE81C42}"/>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a14="http://schemas.microsoft.com/office/drawing/2010/main" xmlns:m="http://schemas.openxmlformats.org/officeDocument/2006/math"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Describe the nonlinearity Δ</a:t>
            </a:r>
            <a:endParaRPr sz="250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 xmlns:m="http://schemas.openxmlformats.org/officeDocument/2006/math">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 xmlns:m="http://schemas.openxmlformats.org/officeDocument/2006/math">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 xmlns:m="http://schemas.openxmlformats.org/officeDocument/2006/math">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10" name="Introduce Theta"/>
              <p:cNvSpPr/>
              <p:nvPr/>
            </p:nvSpPr>
            <p:spPr>
              <a:xfrm>
                <a:off x="5397218" y="480801"/>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p:sp>
            <p:nvSpPr>
              <p:cNvPr id="1410" name="Introduce Theta"/>
              <p:cNvSpPr>
                <a:spLocks noRot="1" noChangeAspect="1" noMove="1" noResize="1" noEditPoints="1" noAdjustHandles="1" noChangeArrowheads="1" noChangeShapeType="1" noTextEdit="1"/>
              </p:cNvSpPr>
              <p:nvPr/>
            </p:nvSpPr>
            <p:spPr>
              <a:xfrm>
                <a:off x="5397218" y="480801"/>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mc:Choice xmlns:a14="http://schemas.microsoft.com/office/drawing/2010/main"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mc:Choice xmlns:a14="http://schemas.microsoft.com/office/drawing/2010/main"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mc:Choice xmlns:a14="http://schemas.microsoft.com/office/drawing/2010/main"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E771155F-19A4-AF1C-149A-9C3385747662}"/>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m="http://schemas.openxmlformats.org/officeDocument/2006/math" xmlns="">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m="http://schemas.openxmlformats.org/officeDocument/2006/math" xmlns="">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400">
                          <a:solidFill>
                            <a:srgbClr val="252529"/>
                          </a:solidFill>
                          <a:latin typeface="Cambria Math"/>
                        </a:rPr>
                        <m:t>𝛽</m:t>
                      </m:r>
                      <m:r>
                        <a:rPr sz="1400">
                          <a:solidFill>
                            <a:srgbClr val="252529"/>
                          </a:solidFill>
                          <a:latin typeface="Cambria Math"/>
                        </a:rPr>
                        <m:t>𝑧</m:t>
                      </m:r>
                    </m:oMath>
                  </m:oMathPara>
                </a14:m>
                <a:endParaRPr sz="1400"/>
              </a:p>
            </p:txBody>
          </p:sp>
        </mc:Choice>
        <mc:Fallback xmlns:m="http://schemas.openxmlformats.org/officeDocument/2006/math"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SectorRefinement35_36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m="http://schemas.openxmlformats.org/officeDocument/2006/math" xmlns="">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216F9C"/>
                          </a:solidFill>
                          <a:latin typeface="Cambria Math"/>
                        </a:rPr>
                        <m:t>𝑎</m:t>
                      </m:r>
                      <m:r>
                        <a:rPr sz="2400">
                          <a:solidFill>
                            <a:srgbClr val="216F9C"/>
                          </a:solidFill>
                          <a:latin typeface="Cambria Math"/>
                        </a:rPr>
                        <m:t>=</m:t>
                      </m:r>
                      <m:r>
                        <a:rPr sz="2400">
                          <a:solidFill>
                            <a:srgbClr val="216F9C"/>
                          </a:solidFill>
                          <a:latin typeface="Cambria Math"/>
                        </a:rPr>
                        <m:t>𝛽</m:t>
                      </m:r>
                      <m:r>
                        <a:rPr sz="2400">
                          <a:solidFill>
                            <a:srgbClr val="216F9C"/>
                          </a:solidFill>
                          <a:latin typeface="Cambria Math"/>
                        </a:rPr>
                        <m:t>𝑧</m:t>
                      </m:r>
                      <m:r>
                        <a:rPr sz="2400">
                          <a:solidFill>
                            <a:srgbClr val="216F9C"/>
                          </a:solidFill>
                          <a:latin typeface="Cambria Math"/>
                        </a:rPr>
                        <m:t>−</m:t>
                      </m:r>
                      <m:r>
                        <a:rPr sz="2400">
                          <a:solidFill>
                            <a:srgbClr val="216F9C"/>
                          </a:solidFill>
                          <a:latin typeface="Cambria Math"/>
                        </a:rPr>
                        <m:t>𝑤</m:t>
                      </m:r>
                    </m:oMath>
                  </m:oMathPara>
                </a14:m>
                <a:endParaRPr sz="2400"/>
              </a:p>
            </p:txBody>
          </p:sp>
        </mc:Choice>
        <mc:Fallback xmlns:m="http://schemas.openxmlformats.org/officeDocument/2006/math"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SectorRefinement35_26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r>
                        <a:rPr sz="2400">
                          <a:solidFill>
                            <a:srgbClr val="147C60"/>
                          </a:solidFill>
                          <a:latin typeface="Cambria Math"/>
                        </a:rPr>
                        <m:t>−</m:t>
                      </m:r>
                      <m:r>
                        <a:rPr sz="2400">
                          <a:solidFill>
                            <a:srgbClr val="147C60"/>
                          </a:solidFill>
                          <a:latin typeface="Cambria Math"/>
                        </a:rPr>
                        <m:t>𝛼</m:t>
                      </m:r>
                      <m:r>
                        <a:rPr sz="2400">
                          <a:solidFill>
                            <a:srgbClr val="147C60"/>
                          </a:solidFill>
                          <a:latin typeface="Cambria Math"/>
                        </a:rPr>
                        <m:t>𝑧</m:t>
                      </m:r>
                    </m:oMath>
                  </m:oMathPara>
                </a14:m>
                <a:endParaRPr sz="2400"/>
              </a:p>
            </p:txBody>
          </p:sp>
        </mc:Choice>
        <mc:Fallback xmlns:m="http://schemas.openxmlformats.org/officeDocument/2006/math"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SectorRefinement35_296"/>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Choose Θ so the nonlinearity is dissipative</a:t>
            </a:r>
            <a:endParaRPr sz="2500"/>
          </a:p>
        </p:txBody>
      </p:sp>
      <mc:AlternateContent xmlns:mc="http://schemas.openxmlformats.org/markup-compatibility/2006" xmlns:a14="http://schemas.microsoft.com/office/drawing/2010/main">
        <mc:Choice Requires="a14">
          <p:sp>
            <p:nvSpPr>
              <p:cNvPr id="1002" name="Parameterize Theta"/>
              <p:cNvSpPr/>
              <p:nvPr/>
            </p:nvSpPr>
            <p:spPr>
              <a:xfrm>
                <a:off x="317500" y="1028700"/>
                <a:ext cx="850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d>
                        <m:dPr>
                          <m:ctrlPr>
                            <a:rPr sz="2500">
                              <a:solidFill>
                                <a:srgbClr val="252529"/>
                              </a:solidFill>
                              <a:latin typeface="Cambria Math"/>
                            </a:rPr>
                          </m:ctrlPr>
                        </m:dPr>
                        <m:e>
                          <m:r>
                            <a:rPr sz="2500">
                              <a:solidFill>
                                <a:srgbClr val="252529"/>
                              </a:solidFill>
                              <a:latin typeface="Cambria Math"/>
                            </a:rPr>
                            <m:t>𝑣</m:t>
                          </m:r>
                        </m:e>
                      </m:d>
                      <m:r>
                        <a:rPr sz="2500">
                          <a:solidFill>
                            <a:srgbClr val="252529"/>
                          </a:solidFill>
                          <a:latin typeface="Cambria Math"/>
                        </a:rPr>
                        <m:t>=</m:t>
                      </m:r>
                      <m:d>
                        <m:dPr>
                          <m:begChr m:val="["/>
                          <m:endChr m:val="]"/>
                          <m:ctrlPr>
                            <a:rPr sz="2500" i="1">
                              <a:solidFill>
                                <a:srgbClr val="252529"/>
                              </a:solidFill>
                              <a:latin typeface="Cambria Math" panose="02040503050406030204" pitchFamily="18" charset="0"/>
                            </a:rPr>
                          </m:ctrlPr>
                        </m:dPr>
                        <m:e>
                          <m:m>
                            <m:mPr>
                              <m:mcs>
                                <m:mc>
                                  <m:mcPr>
                                    <m:count m:val="2"/>
                                    <m:mcJc m:val="center"/>
                                  </m:mcPr>
                                </m:mc>
                              </m:mcs>
                              <m:ctrlPr>
                                <a:rPr sz="2500" i="1">
                                  <a:solidFill>
                                    <a:srgbClr val="252529"/>
                                  </a:solidFill>
                                  <a:latin typeface="Cambria Math" panose="02040503050406030204" pitchFamily="18" charset="0"/>
                                </a:rPr>
                              </m:ctrlPr>
                            </m:mPr>
                            <m:mr>
                              <m:e>
                                <m:r>
                                  <a:rPr sz="2500">
                                    <a:solidFill>
                                      <a:srgbClr val="252529"/>
                                    </a:solidFill>
                                    <a:latin typeface="Cambria Math"/>
                                  </a:rPr>
                                  <m:t>𝑣</m:t>
                                </m:r>
                              </m:e>
                              <m:e>
                                <m:r>
                                  <a:rPr sz="2500">
                                    <a:solidFill>
                                      <a:srgbClr val="252529"/>
                                    </a:solidFill>
                                    <a:latin typeface="Cambria Math"/>
                                  </a:rPr>
                                  <m:t>1</m:t>
                                </m:r>
                              </m:e>
                            </m:mr>
                            <m:mr>
                              <m:e>
                                <m:r>
                                  <a:rPr sz="2500">
                                    <a:solidFill>
                                      <a:srgbClr val="252529"/>
                                    </a:solidFill>
                                    <a:latin typeface="Cambria Math"/>
                                  </a:rPr>
                                  <m:t>𝑣</m:t>
                                </m:r>
                              </m:e>
                              <m:e>
                                <m:r>
                                  <a:rPr sz="2500">
                                    <a:solidFill>
                                      <a:srgbClr val="252529"/>
                                    </a:solidFill>
                                    <a:latin typeface="Cambria Math"/>
                                  </a:rPr>
                                  <m:t>−1</m:t>
                                </m:r>
                              </m:e>
                            </m:mr>
                          </m:m>
                        </m:e>
                      </m:d>
                      <m:d>
                        <m:dPr>
                          <m:begChr m:val="["/>
                          <m:endChr m:val="]"/>
                          <m:ctrlPr>
                            <a:rPr sz="2500" i="1">
                              <a:solidFill>
                                <a:srgbClr val="252529"/>
                              </a:solidFill>
                              <a:latin typeface="Cambria Math" panose="02040503050406030204" pitchFamily="18" charset="0"/>
                            </a:rPr>
                          </m:ctrlPr>
                        </m:dPr>
                        <m:e>
                          <m:m>
                            <m:mPr>
                              <m:mcs>
                                <m:mc>
                                  <m:mcPr>
                                    <m:count m:val="2"/>
                                    <m:mcJc m:val="center"/>
                                  </m:mcPr>
                                </m:mc>
                              </m:mcs>
                              <m:ctrlPr>
                                <a:rPr sz="2500" i="1">
                                  <a:solidFill>
                                    <a:srgbClr val="252529"/>
                                  </a:solidFill>
                                  <a:latin typeface="Cambria Math" panose="02040503050406030204" pitchFamily="18" charset="0"/>
                                </a:rPr>
                              </m:ctrlPr>
                            </m:mPr>
                            <m:mr>
                              <m:e>
                                <m:r>
                                  <a:rPr sz="2500">
                                    <a:solidFill>
                                      <a:srgbClr val="252529"/>
                                    </a:solidFill>
                                    <a:latin typeface="Cambria Math"/>
                                  </a:rPr>
                                  <m:t>𝛽</m:t>
                                </m:r>
                              </m:e>
                              <m:e>
                                <m:r>
                                  <a:rPr sz="2500">
                                    <a:solidFill>
                                      <a:srgbClr val="252529"/>
                                    </a:solidFill>
                                    <a:latin typeface="Cambria Math"/>
                                  </a:rPr>
                                  <m:t>−1</m:t>
                                </m:r>
                              </m:e>
                            </m:mr>
                            <m:mr>
                              <m:e>
                                <m:r>
                                  <a:rPr sz="2500">
                                    <a:solidFill>
                                      <a:srgbClr val="252529"/>
                                    </a:solidFill>
                                    <a:latin typeface="Cambria Math"/>
                                  </a:rPr>
                                  <m:t>−</m:t>
                                </m:r>
                                <m:r>
                                  <a:rPr sz="2500">
                                    <a:solidFill>
                                      <a:srgbClr val="252529"/>
                                    </a:solidFill>
                                    <a:latin typeface="Cambria Math"/>
                                  </a:rPr>
                                  <m:t>𝛼</m:t>
                                </m:r>
                              </m:e>
                              <m:e>
                                <m:r>
                                  <a:rPr sz="2500">
                                    <a:solidFill>
                                      <a:srgbClr val="252529"/>
                                    </a:solidFill>
                                    <a:latin typeface="Cambria Math"/>
                                  </a:rPr>
                                  <m:t>1</m:t>
                                </m:r>
                              </m:e>
                            </m:mr>
                          </m:m>
                        </m:e>
                      </m:d>
                      <m:r>
                        <a:rPr sz="2500">
                          <a:solidFill>
                            <a:srgbClr val="252529"/>
                          </a:solidFill>
                          <a:latin typeface="Cambria Math"/>
                        </a:rPr>
                        <m:t>,  </m:t>
                      </m:r>
                      <m:r>
                        <a:rPr sz="2500">
                          <a:solidFill>
                            <a:srgbClr val="252529"/>
                          </a:solidFill>
                          <a:latin typeface="Cambria Math"/>
                        </a:rPr>
                        <m:t>𝑣</m:t>
                      </m:r>
                      <m:r>
                        <a:rPr sz="2500">
                          <a:solidFill>
                            <a:srgbClr val="252529"/>
                          </a:solidFill>
                          <a:latin typeface="Cambria Math"/>
                        </a:rPr>
                        <m:t>&gt;0</m:t>
                      </m:r>
                    </m:oMath>
                  </m:oMathPara>
                </a14:m>
                <a:endParaRPr sz="2500"/>
              </a:p>
            </p:txBody>
          </p:sp>
        </mc:Choice>
        <mc:Fallback xmlns="" xmlns:m="http://schemas.openxmlformats.org/officeDocument/2006/math">
          <p:sp>
            <p:nvSpPr>
              <p:cNvPr id="1002" name="Parameterize Theta"/>
              <p:cNvSpPr>
                <a:spLocks noRot="1" noChangeAspect="1" noMove="1" noResize="1" noEditPoints="1" noAdjustHandles="1" noChangeArrowheads="1" noChangeShapeType="1" noTextEdit="1"/>
              </p:cNvSpPr>
              <p:nvPr/>
            </p:nvSpPr>
            <p:spPr>
              <a:xfrm>
                <a:off x="317500" y="1028700"/>
                <a:ext cx="8509000" cy="889000"/>
              </a:xfrm>
              <a:prstGeom prst="rect">
                <a:avLst/>
              </a:prstGeom>
              <a:blipFill>
                <a:blip r:embed="rIdSectorRefinement36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Transformed gaps"/>
              <p:cNvSpPr/>
              <p:nvPr/>
            </p:nvSpPr>
            <p:spPr>
              <a:xfrm>
                <a:off x="444500" y="1935480"/>
                <a:ext cx="8255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400">
                              <a:solidFill>
                                <a:srgbClr val="252529"/>
                              </a:solidFill>
                              <a:latin typeface="Cambria Math"/>
                            </a:rPr>
                          </m:ctrlPr>
                        </m:accPr>
                        <m:e>
                          <m:r>
                            <a:rPr sz="2400">
                              <a:solidFill>
                                <a:srgbClr val="252529"/>
                              </a:solidFill>
                              <a:latin typeface="Cambria Math"/>
                            </a:rPr>
                            <m:t>𝑧</m:t>
                          </m:r>
                        </m:e>
                      </m:acc>
                      <m:r>
                        <a:rPr sz="2400">
                          <a:solidFill>
                            <a:srgbClr val="252529"/>
                          </a:solidFill>
                          <a:latin typeface="Cambria Math"/>
                        </a:rPr>
                        <m:t>=</m:t>
                      </m:r>
                      <m:r>
                        <a:rPr sz="2400">
                          <a:solidFill>
                            <a:srgbClr val="252529"/>
                          </a:solidFill>
                          <a:latin typeface="Cambria Math"/>
                        </a:rPr>
                        <m:t>𝑣𝑎</m:t>
                      </m:r>
                      <m:r>
                        <a:rPr sz="2400">
                          <a:solidFill>
                            <a:srgbClr val="252529"/>
                          </a:solidFill>
                          <a:latin typeface="Cambria Math"/>
                        </a:rPr>
                        <m:t>+</m:t>
                      </m:r>
                      <m:r>
                        <a:rPr sz="2400">
                          <a:solidFill>
                            <a:srgbClr val="252529"/>
                          </a:solidFill>
                          <a:latin typeface="Cambria Math"/>
                        </a:rPr>
                        <m:t>𝑏</m:t>
                      </m:r>
                      <m:r>
                        <a:rPr sz="2400">
                          <a:solidFill>
                            <a:srgbClr val="252529"/>
                          </a:solidFill>
                          <a:latin typeface="Cambria Math"/>
                        </a:rPr>
                        <m:t>,     </m:t>
                      </m:r>
                      <m:acc>
                        <m:accPr>
                          <m:chr m:val="̃"/>
                          <m:ctrlPr>
                            <a:rPr sz="2400">
                              <a:solidFill>
                                <a:srgbClr val="252529"/>
                              </a:solidFill>
                              <a:latin typeface="Cambria Math"/>
                            </a:rPr>
                          </m:ctrlPr>
                        </m:accPr>
                        <m:e>
                          <m:r>
                            <a:rPr sz="2400">
                              <a:solidFill>
                                <a:srgbClr val="252529"/>
                              </a:solidFill>
                              <a:latin typeface="Cambria Math"/>
                            </a:rPr>
                            <m:t>𝑤</m:t>
                          </m:r>
                        </m:e>
                      </m:acc>
                      <m:r>
                        <a:rPr sz="2400">
                          <a:solidFill>
                            <a:srgbClr val="252529"/>
                          </a:solidFill>
                          <a:latin typeface="Cambria Math"/>
                        </a:rPr>
                        <m:t>=</m:t>
                      </m:r>
                      <m:r>
                        <a:rPr sz="2400">
                          <a:solidFill>
                            <a:srgbClr val="252529"/>
                          </a:solidFill>
                          <a:latin typeface="Cambria Math"/>
                        </a:rPr>
                        <m:t>𝑣𝑎</m:t>
                      </m:r>
                      <m:r>
                        <a:rPr sz="2400">
                          <a:solidFill>
                            <a:srgbClr val="252529"/>
                          </a:solidFill>
                          <a:latin typeface="Cambria Math"/>
                        </a:rPr>
                        <m:t>−</m:t>
                      </m:r>
                      <m:r>
                        <a:rPr sz="2400">
                          <a:solidFill>
                            <a:srgbClr val="252529"/>
                          </a:solidFill>
                          <a:latin typeface="Cambria Math"/>
                        </a:rPr>
                        <m:t>𝑏</m:t>
                      </m:r>
                    </m:oMath>
                  </m:oMathPara>
                </a14:m>
                <a:endParaRPr sz="2400"/>
              </a:p>
            </p:txBody>
          </p:sp>
        </mc:Choice>
        <mc:Fallback xmlns="" xmlns:m="http://schemas.openxmlformats.org/officeDocument/2006/math">
          <p:sp>
            <p:nvSpPr>
              <p:cNvPr id="1003" name="Transformed gaps"/>
              <p:cNvSpPr>
                <a:spLocks noRot="1" noChangeAspect="1" noMove="1" noResize="1" noEditPoints="1" noAdjustHandles="1" noChangeArrowheads="1" noChangeShapeType="1" noTextEdit="1"/>
              </p:cNvSpPr>
              <p:nvPr/>
            </p:nvSpPr>
            <p:spPr>
              <a:xfrm>
                <a:off x="444500" y="1935480"/>
                <a:ext cx="8255000" cy="853440"/>
              </a:xfrm>
              <a:prstGeom prst="rect">
                <a:avLst/>
              </a:prstGeom>
              <a:blipFill>
                <a:blip r:embed="rIdSectorRefinement36_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Supply identity"/>
              <p:cNvSpPr/>
              <p:nvPr/>
            </p:nvSpPr>
            <p:spPr>
              <a:xfrm>
                <a:off x="254000" y="2827020"/>
                <a:ext cx="863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ctrlPr>
                                <a:rPr sz="2100">
                                  <a:solidFill>
                                    <a:srgbClr val="252529"/>
                                  </a:solidFill>
                                  <a:latin typeface="Cambria Math"/>
                                </a:rPr>
                              </m:ctrlPr>
                            </m:dPr>
                            <m:e>
                              <m:r>
                                <a:rPr sz="2100">
                                  <a:solidFill>
                                    <a:srgbClr val="252529"/>
                                  </a:solidFill>
                                  <a:latin typeface="Cambria Math"/>
                                </a:rPr>
                                <m:t>𝑣𝑎</m:t>
                              </m:r>
                              <m:r>
                                <a:rPr sz="2100">
                                  <a:solidFill>
                                    <a:srgbClr val="252529"/>
                                  </a:solidFill>
                                  <a:latin typeface="Cambria Math"/>
                                </a:rPr>
                                <m:t>+</m:t>
                              </m:r>
                              <m:r>
                                <a:rPr sz="2100">
                                  <a:solidFill>
                                    <a:srgbClr val="252529"/>
                                  </a:solidFill>
                                  <a:latin typeface="Cambria Math"/>
                                </a:rPr>
                                <m:t>𝑏</m:t>
                              </m:r>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ctrlPr>
                                <a:rPr sz="2100">
                                  <a:solidFill>
                                    <a:srgbClr val="252529"/>
                                  </a:solidFill>
                                  <a:latin typeface="Cambria Math"/>
                                </a:rPr>
                              </m:ctrlPr>
                            </m:dPr>
                            <m:e>
                              <m:r>
                                <a:rPr sz="2100">
                                  <a:solidFill>
                                    <a:srgbClr val="252529"/>
                                  </a:solidFill>
                                  <a:latin typeface="Cambria Math"/>
                                </a:rPr>
                                <m:t>𝑣𝑎</m:t>
                              </m:r>
                              <m:r>
                                <a:rPr sz="2100">
                                  <a:solidFill>
                                    <a:srgbClr val="252529"/>
                                  </a:solidFill>
                                  <a:latin typeface="Cambria Math"/>
                                </a:rPr>
                                <m:t>−</m:t>
                              </m:r>
                              <m:r>
                                <a:rPr sz="2100">
                                  <a:solidFill>
                                    <a:srgbClr val="252529"/>
                                  </a:solidFill>
                                  <a:latin typeface="Cambria Math"/>
                                </a:rPr>
                                <m:t>𝑏</m:t>
                              </m:r>
                            </m:e>
                          </m:d>
                        </m:e>
                        <m:sup>
                          <m:r>
                            <a:rPr sz="2100">
                              <a:solidFill>
                                <a:srgbClr val="252529"/>
                              </a:solidFill>
                              <a:latin typeface="Cambria Math"/>
                            </a:rPr>
                            <m:t>2</m:t>
                          </m:r>
                        </m:sup>
                      </m:sSup>
                      <m:r>
                        <a:rPr sz="2100">
                          <a:solidFill>
                            <a:srgbClr val="147C60"/>
                          </a:solidFill>
                          <a:latin typeface="Cambria Math"/>
                        </a:rPr>
                        <m:t>=4</m:t>
                      </m:r>
                      <m:r>
                        <a:rPr sz="2100">
                          <a:solidFill>
                            <a:srgbClr val="147C60"/>
                          </a:solidFill>
                          <a:latin typeface="Cambria Math"/>
                        </a:rPr>
                        <m:t>𝑣𝑎𝑏</m:t>
                      </m:r>
                      <m:r>
                        <a:rPr sz="2100">
                          <a:solidFill>
                            <a:srgbClr val="147C60"/>
                          </a:solidFill>
                          <a:latin typeface="Cambria Math"/>
                        </a:rPr>
                        <m:t>≥0</m:t>
                      </m:r>
                    </m:oMath>
                  </m:oMathPara>
                </a14:m>
                <a:endParaRPr sz="2100"/>
              </a:p>
            </p:txBody>
          </p:sp>
        </mc:Choice>
        <mc:Fallback xmlns="" xmlns:m="http://schemas.openxmlformats.org/officeDocument/2006/math">
          <p:sp>
            <p:nvSpPr>
              <p:cNvPr id="1004" name="Supply identity"/>
              <p:cNvSpPr>
                <a:spLocks noRot="1" noChangeAspect="1" noMove="1" noResize="1" noEditPoints="1" noAdjustHandles="1" noChangeArrowheads="1" noChangeShapeType="1" noTextEdit="1"/>
              </p:cNvSpPr>
              <p:nvPr/>
            </p:nvSpPr>
            <p:spPr>
              <a:xfrm>
                <a:off x="254000" y="2827020"/>
                <a:ext cx="8636000" cy="746760"/>
              </a:xfrm>
              <a:prstGeom prst="rect">
                <a:avLst/>
              </a:prstGeom>
              <a:blipFill>
                <a:blip r:embed="rIdSectorRefinement36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5" name="Delta dissipativity"/>
              <p:cNvSpPr/>
              <p:nvPr/>
            </p:nvSpPr>
            <p:spPr>
              <a:xfrm>
                <a:off x="444500" y="3604260"/>
                <a:ext cx="82550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2300">
                              <a:solidFill>
                                <a:srgbClr val="252529"/>
                              </a:solidFill>
                              <a:latin typeface="Cambria Math"/>
                            </a:rPr>
                          </m:ctrlPr>
                        </m:naryPr>
                        <m:sub>
                          <m:r>
                            <a:rPr sz="2300">
                              <a:solidFill>
                                <a:srgbClr val="252529"/>
                              </a:solidFill>
                              <a:latin typeface="Cambria Math"/>
                            </a:rPr>
                            <m:t>0</m:t>
                          </m:r>
                        </m:sub>
                        <m:sup>
                          <m:r>
                            <a:rPr sz="2300">
                              <a:solidFill>
                                <a:srgbClr val="252529"/>
                              </a:solidFill>
                              <a:latin typeface="Cambria Math"/>
                            </a:rPr>
                            <m:t>𝑇</m:t>
                          </m:r>
                        </m:sup>
                        <m:e>
                          <m:r>
                            <a:rPr sz="2300">
                              <a:solidFill>
                                <a:srgbClr val="252529"/>
                              </a:solidFill>
                              <a:latin typeface="Cambria Math"/>
                            </a:rPr>
                            <m:t>𝜎</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𝑑𝑡</m:t>
                          </m:r>
                        </m:e>
                      </m:nary>
                      <m:r>
                        <a:rPr sz="2300">
                          <a:solidFill>
                            <a:srgbClr val="252529"/>
                          </a:solidFill>
                          <a:latin typeface="Cambria Math"/>
                        </a:rPr>
                        <m:t>≥0,  ∀</m:t>
                      </m:r>
                      <m:r>
                        <a:rPr sz="2300">
                          <a:solidFill>
                            <a:srgbClr val="252529"/>
                          </a:solidFill>
                          <a:latin typeface="Cambria Math"/>
                        </a:rPr>
                        <m:t>𝑇</m:t>
                      </m:r>
                      <m:r>
                        <a:rPr sz="2300">
                          <a:solidFill>
                            <a:srgbClr val="252529"/>
                          </a:solidFill>
                          <a:latin typeface="Cambria Math"/>
                        </a:rPr>
                        <m:t>≥0</m:t>
                      </m:r>
                    </m:oMath>
                  </m:oMathPara>
                </a14:m>
                <a:endParaRPr sz="2300"/>
              </a:p>
            </p:txBody>
          </p:sp>
        </mc:Choice>
        <mc:Fallback xmlns="" xmlns:m="http://schemas.openxmlformats.org/officeDocument/2006/math">
          <p:sp>
            <p:nvSpPr>
              <p:cNvPr id="1005" name="Delta dissipativity"/>
              <p:cNvSpPr>
                <a:spLocks noRot="1" noChangeAspect="1" noMove="1" noResize="1" noEditPoints="1" noAdjustHandles="1" noChangeArrowheads="1" noChangeShapeType="1" noTextEdit="1"/>
              </p:cNvSpPr>
              <p:nvPr/>
            </p:nvSpPr>
            <p:spPr>
              <a:xfrm>
                <a:off x="444500" y="3604260"/>
                <a:ext cx="8255000" cy="817880"/>
              </a:xfrm>
              <a:prstGeom prst="rect">
                <a:avLst/>
              </a:prstGeom>
              <a:blipFill>
                <a:blip r:embed="rIdSectorRefinement36_3"/>
                <a:stretch>
                  <a:fillRect/>
                </a:stretch>
              </a:blipFill>
              <a:ln>
                <a:noFill/>
              </a:ln>
            </p:spPr>
            <p:txBody>
              <a:bodyPr/>
              <a:lstStyle/>
              <a:p>
                <a:r>
                  <a:rPr lang="en-NL">
                    <a:noFill/>
                  </a:rPr>
                  <a:t> </a:t>
                </a:r>
              </a:p>
            </p:txBody>
          </p:sp>
        </mc:Fallback>
      </mc:AlternateContent>
      <p:sp>
        <p:nvSpPr>
          <p:cNvPr id="1006" name="Dissipativity meaning"/>
          <p:cNvSpPr/>
          <p:nvPr/>
        </p:nvSpPr>
        <p:spPr>
          <a:xfrm>
            <a:off x="317500" y="4492625"/>
            <a:ext cx="8509000" cy="285750"/>
          </a:xfrm>
          <a:prstGeom prst="rect">
            <a:avLst/>
          </a:prstGeom>
          <a:noFill/>
          <a:ln>
            <a:noFill/>
          </a:ln>
        </p:spPr>
        <p:txBody>
          <a:bodyPr wrap="none" lIns="0" tIns="0" rIns="0" bIns="0" anchor="ctr">
            <a:noAutofit/>
          </a:bodyPr>
          <a:lstStyle/>
          <a:p>
            <a:pPr algn="ctr">
              <a:buNone/>
            </a:pPr>
            <a:r>
              <a:rPr lang="en-GB" sz="1500" b="0" i="0" u="none" baseline="0">
                <a:solidFill>
                  <a:srgbClr val="147C60"/>
                </a:solidFill>
                <a:latin typeface="Aptos"/>
                <a:ea typeface="Aptos"/>
                <a:cs typeface="Aptos"/>
              </a:rPr>
              <a:t>The transformed output energy cannot exceed the input energy.</a:t>
            </a:r>
            <a:endParaRPr sz="1500"/>
          </a:p>
        </p:txBody>
      </p:sp>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Tree>
  </p:cSld>
  <p:clrMapOvr>
    <a:masterClrMapping/>
  </p:clrMapOvr>
  <mc:AlternateContent xmlns:mc="http://schemas.openxmlformats.org/markup-compatibility/2006" xmlns:p14="http://schemas.microsoft.com/office/powerpoint/2010/main">
    <mc:Choice Requires="p14">
      <p:transition p14:dur="450">
        <p:fade/>
      </p:transition>
    </mc:Choice>
    <mc:Fallback xmlns="" xmlns:m="http://schemas.openxmlformats.org/officeDocument/2006/math" xmlns:a14="http://schemas.microsoft.com/office/drawing/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3"/>
                                        </p:tgtEl>
                                        <p:attrNameLst>
                                          <p:attrName>style.visibility</p:attrName>
                                        </p:attrNameLst>
                                      </p:cBhvr>
                                      <p:to>
                                        <p:strVal val="visible"/>
                                      </p:to>
                                    </p:set>
                                    <p:animEffect transition="in" filter="fade">
                                      <p:cBhvr>
                                        <p:cTn id="7" dur="500"/>
                                        <p:tgtEl>
                                          <p:spTgt spid="100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04"/>
                                        </p:tgtEl>
                                        <p:attrNameLst>
                                          <p:attrName>style.visibility</p:attrName>
                                        </p:attrNameLst>
                                      </p:cBhvr>
                                      <p:to>
                                        <p:strVal val="visible"/>
                                      </p:to>
                                    </p:set>
                                    <p:animEffect transition="in" filter="fade">
                                      <p:cBhvr>
                                        <p:cTn id="12" dur="500"/>
                                        <p:tgtEl>
                                          <p:spTgt spid="100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05"/>
                                        </p:tgtEl>
                                        <p:attrNameLst>
                                          <p:attrName>style.visibility</p:attrName>
                                        </p:attrNameLst>
                                      </p:cBhvr>
                                      <p:to>
                                        <p:strVal val="visible"/>
                                      </p:to>
                                    </p:set>
                                    <p:animEffect transition="in" filter="fade">
                                      <p:cBhvr>
                                        <p:cTn id="17" dur="500"/>
                                        <p:tgtEl>
                                          <p:spTgt spid="100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06"/>
                                        </p:tgtEl>
                                        <p:attrNameLst>
                                          <p:attrName>style.visibility</p:attrName>
                                        </p:attrNameLst>
                                      </p:cBhvr>
                                      <p:to>
                                        <p:strVal val="visible"/>
                                      </p:to>
                                    </p:set>
                                    <p:animEffect transition="in" filter="fade">
                                      <p:cBhvr>
                                        <p:cTn id="20" dur="500"/>
                                        <p:tgtEl>
                                          <p:spTgt spid="10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 grpId="0"/>
      <p:bldP spid="1004" grpId="0"/>
      <p:bldP spid="1005" grpId="0"/>
      <p:bldP spid="1006" grpId="0"/>
    </p:bldLst>
  </p:timing>
</p:sld>
</file>

<file path=ppt/slides/slide3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 xmlns:m="http://schemas.openxmlformats.org/officeDocument/2006/math">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 xmlns:m="http://schemas.openxmlformats.org/officeDocument/2006/math">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 xmlns:m="http://schemas.openxmlformats.org/officeDocument/2006/math">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 xmlns:m="http://schemas.openxmlformats.org/officeDocument/2006/math">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xmlns:m="http://schemas.openxmlformats.org/officeDocument/2006/math">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xmlns:m="http://schemas.openxmlformats.org/officeDocument/2006/math">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xmlns:m="http://schemas.openxmlformats.org/officeDocument/2006/math">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 xmlns:m="http://schemas.openxmlformats.org/officeDocument/2006/math" xmlns:a14="http://schemas.microsoft.com/office/drawing/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44</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45</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 xmlns:m="http://schemas.openxmlformats.org/officeDocument/2006/math">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46</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48</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5503</TotalTime>
  <Words>8914</Words>
  <Application>Microsoft Office PowerPoint</Application>
  <PresentationFormat>On-screen Show (16:9)</PresentationFormat>
  <Paragraphs>1474</Paragraphs>
  <Slides>56</Slides>
  <Notes>44</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56</vt:i4>
      </vt:variant>
    </vt:vector>
  </HeadingPairs>
  <TitlesOfParts>
    <vt:vector size="62"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Alternative system representation</vt:lpstr>
      <vt:lpstr>PowerPoint Presentation</vt:lpstr>
      <vt:lpstr>PowerPoint Presentation</vt:lpstr>
      <vt:lpstr>PowerPoint Presentation</vt:lpstr>
      <vt:lpstr>PowerPoint Presentation</vt:lpstr>
      <vt:lpstr>PowerPoint Presentation</vt:lpstr>
      <vt:lpstr>PowerPoint Presentation</vt:lpstr>
      <vt:lpstr>Feedback stabilization</vt:lpstr>
      <vt:lpstr>PowerPoint Presentation</vt:lpstr>
      <vt:lpstr>PowerPoint Presentation</vt:lpstr>
      <vt:lpstr>PowerPoint Presentation</vt:lpstr>
      <vt:lpstr>PowerPoint Presentation</vt:lpstr>
      <vt:lpstr>Thought experiment replace K by \Θ</vt:lpstr>
      <vt:lpstr>Thought experiment replace K^⊤ by ▁Θ</vt:lpstr>
      <vt:lpstr>Comparing our results</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34</cp:revision>
  <dcterms:created xsi:type="dcterms:W3CDTF">2019-11-27T15:26:32Z</dcterms:created>
  <dcterms:modified xsi:type="dcterms:W3CDTF">2026-09-27T15:39:49Z</dcterms:modified>
</cp:coreProperties>
</file>