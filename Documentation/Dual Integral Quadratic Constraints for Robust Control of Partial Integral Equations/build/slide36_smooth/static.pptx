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58"/>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54" r:id="rId17"/>
    <p:sldId id="455" r:id="rId18"/>
    <p:sldId id="456" r:id="rId19"/>
    <p:sldId id="457" r:id="rId20"/>
    <p:sldId id="404" r:id="rId21"/>
    <p:sldId id="406" r:id="rId22"/>
    <p:sldId id="460" r:id="rId23"/>
    <p:sldId id="407" r:id="rId24"/>
    <p:sldId id="408" r:id="rId25"/>
    <p:sldId id="459" r:id="rId26"/>
    <p:sldId id="462" r:id="rId27"/>
    <p:sldId id="461" r:id="rId28"/>
    <p:sldId id="463" r:id="rId29"/>
    <p:sldId id="466" r:id="rId30"/>
    <p:sldId id="465" r:id="rId31"/>
    <p:sldId id="467" r:id="rId32"/>
    <p:sldId id="469" r:id="rId33"/>
    <p:sldId id="470" r:id="rId34"/>
    <p:sldId id="472" r:id="rId35"/>
    <p:sldId id="256" r:id="rId36"/>
    <p:sldId id="257" r:id="rId37"/>
    <p:sldId id="258" r:id="rId38"/>
    <p:sldId id="453" r:id="rId39"/>
    <p:sldId id="441" r:id="rId40"/>
    <p:sldId id="471" r:id="rId41"/>
    <p:sldId id="442" r:id="rId42"/>
    <p:sldId id="443" r:id="rId43"/>
    <p:sldId id="450" r:id="rId44"/>
    <p:sldId id="451" r:id="rId45"/>
    <p:sldId id="452" r:id="rId46"/>
    <p:sldId id="439" r:id="rId47"/>
    <p:sldId id="458" r:id="rId48"/>
    <p:sldId id="421" r:id="rId49"/>
    <p:sldId id="427" r:id="rId50"/>
    <p:sldId id="431" r:id="rId51"/>
    <p:sldId id="428" r:id="rId52"/>
    <p:sldId id="429" r:id="rId53"/>
    <p:sldId id="432" r:id="rId54"/>
    <p:sldId id="430" r:id="rId55"/>
    <p:sldId id="433" r:id="rId56"/>
    <p:sldId id="434" r:id="rId57"/>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C81919"/>
    <a:srgbClr val="EEE8E8"/>
    <a:srgbClr val="53050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p:scale>
          <a:sx n="125" d="100"/>
          <a:sy n="125" d="100"/>
        </p:scale>
        <p:origin x="2238" y="78"/>
      </p:cViewPr>
      <p:guideLst/>
    </p:cSldViewPr>
  </p:slideViewPr>
  <p:outlineViewPr>
    <p:cViewPr>
      <p:scale>
        <a:sx n="33" d="100"/>
        <a:sy n="33" d="100"/>
      </p:scale>
      <p:origin x="0" y="-3978"/>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After the LFR is defined, extract only its nominal PDE block. The rest of the feedback connection stays fixed. Introduce the original property list and highlight exact equivalent dynamics.</a:t>
            </a:r>
            <a:endParaRPr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66CFD-4274-DF01-61C7-FC928F0A13CE}"/>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205F32A-ABEB-8532-9DFB-CAE0BC53D3D4}"/>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extLst>
      <p:ext uri="{BB962C8B-B14F-4D97-AF65-F5344CB8AC3E}">
        <p14:creationId xmlns:p14="http://schemas.microsoft.com/office/powerpoint/2010/main" val="27021009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PI operator class is closed under addition, composition, adjoints and block concatenation for compatible dimensions.</a:t>
            </a:r>
            <a:endParaRPr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P is self-adjoint and coercive. For alpha&gt;0, the displayed inequality is a sufficient Lyapunov condition for exponential stability of the reconstructed PDE state. Polynomial PI parameterization gives sufficient LMIs; exact model conversion does not imply a lossless finite certificate search.</a:t>
            </a:r>
            <a:endParaRPr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34DD1-B74F-3A0A-6EEC-1B069EA03738}"/>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3FBA298F-E42B-B15A-CED4-74D6195B147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7997018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DA67C-A478-F59C-38DE-0F1B3E54CFB0}"/>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B5476FC-3C1F-55A7-58BA-B3E21B5665C7}"/>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2777909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F49CC-22EA-D17E-D5D5-8D19DE5AC1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01C453D5-387B-1A83-0117-4D3DD50AADC1}"/>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093709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85ED6-8E9B-121A-E799-BA28AAC011A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96867D53-0956-5221-D422-F44378F5A23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8974752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6419C-FB50-E5A1-DCD0-CC72F3A0F4E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11A1C17F-22CD-0964-8EC1-8C924298418F}"/>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0680163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1D796-2E26-703D-C3B4-7119B38B804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E83B2176-9DD2-ADCA-5056-F65528A33E23}"/>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4312199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A6469-0EFC-4B7A-6070-36B73B58CBD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2FDE0F4B-DC15-22CC-FC26-DDBDFBD4031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766018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AD956-915B-050B-12F2-3C4A8C86C32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89B2298-433D-AC5C-DB9A-8A9650A250CB}"/>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1070129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8A32E-658C-CF2E-AEE4-AA6546D3CD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1F14692-C2DF-6DF0-C956-42D6A8FDEF3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5688161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actual activation is S(q)=M/2[1+tanh(2q/M)], and Delta(z)=S(zStar+z)-S(zStar). The original pasted PIE/Delta/filter schematic is reused without redrawing its connections. Its two orphan K and u labels are omitted. First plot Delta and the defining functions, next introduce the dashed Delta and Theta with the original schematic, finally reveal the sector. Theta is parameterized on slide 36.
Previous notes: Zoom from the Delta block in the existing LFR. Delta is the actual shifted STN activation: Delta(z)=150[tanh(2(zStar+z)/300)-tanh(2zStar/300)], zStar=-196.16933347833915. First show the shifted curve with Delta(0)=0, then reveal the thick sector bounds alpha=0 and beta=0.7344121335837432. This is a secant sector, not a derivative bound.
Previous notes: The graph is the actual equilibrium-shifted STN activation used in the Parkinsonian simulation: phi(z)=M/2[tanh(2(zStar+z)/M)-tanh(2zStar/M)], M=300, zStar=-196.169333478339. Thus phi(0)=0. The horizontal and vertical equilibrium shifts must both be included. Global sector alpha=0, beta=0.734412133583743; the displayed beta is approximate, while the graph uses the full value. Beta is the maximum secant phi(z)/z, not the maximum derivative. The corresponding GPe channel has M=400, zStar=-285.173802460895, beta=0.704831466892149. The global lower sector bound is zero because this sigmoid saturates. Values come from the existing STN_GPe sector data; the local controller certificate is not used as a global bound.</a:t>
            </a:r>
            <a:endParaRPr sz="120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large plot sweeps z=250 sin(2*pi*t/12). Readouts use the exact plotted sample, with native editable values refreshed at 12 fps. Positive and negative signs are visible in the numerical values; no comparison statements are used. a=beta*z-w and b=w-alpha*z, alpha=0. Gap arrows are signed.
Previous notes: The input sweep z(t)=250 sin(2*pi*t/12) illustrates the memoryless graph, not a new neural closed-loop simulation. The signed gaps are a=beta z-w and b=w-alpha z. For the interior sample points a,b are positive at positive z and negative at negative z. Globally use nonnegative/nonpositive: gaps can vanish at the origin or a sector boundary, including the tight positive tangent. All text labels are editable overlays.
Previous notes: The upper and lower signed gaps are a=beta*z-w and b=w-alpha*z=w. The sector boundary lines pass through the shifted equilibrium (0,0). For z&gt;0 the two gaps are nonnegative; for z&lt;0 both are nonpositive. At zero, w=0 and both gaps vanish. The displayed filter simply computes these gaps; it does not replace the nonlinearity by a linear system.</a:t>
            </a:r>
            <a:endParaRPr sz="120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Theta(v)=[[v,1],[v,-1]][[beta,-1],[-alpha,1]], v&gt;0. Thus ztilde=v*a+b, wtilde=v*a-b and sigma=4vab&gt;=0. The memoryless nonlinearity has zero storage. This is a direct dissipativity construction, with no Pi notation.
Previous notes: Use the weighted sum/difference transform [[v,1],[v,-1]] with v&gt;0. Then ztilde=v*a+b and wtilde=v*a-b, so sigma=|ztilde|^2-|wtilde|^2=4vab&gt;=0. A memoryless sector graph is dissipative with zero storage S_Delta=0. The alternative matrix [[v,v],[1,-1]] requires v&gt;=1 in general and is not the stated arbitrary-positive-weight identity. For vector channels apply componentwise and sum. No multiplier Pi is needed.
Previous notes: Choose the constant scaling s=1 in [[s,1],[s,-1]]. This s is not a Laplace variable or spatial coordinate. Then ztilde=a+b=beta*z and wtilde=a-b=beta*z-2w. Their squared difference is 4ab, nonnegative throughout the sector, so |wtilde|&lt;=|ztilde|. Since beta&gt;0, this defines the memoryless transformed map phitilde(v)=v-2phi(v/beta), with input v=ztilde and output wtilde. The original nonlinearity is still present.</a:t>
            </a:r>
            <a:endParaRPr sz="120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unchanged STN-GPe sector simulation curves originally displayed integrals of q_i=a_i*b_i. With v=1 the norm-difference supply sigma_i=4q_i. The supply-axis tick values have therefore been multiplied by four; curve geometry and all simulated state trajectories are unchanged. Integral values are nonnegative for every T, not necessarily strictly positive at zero. This follows from the pointwise sector property, not merely from inspecting a finite sampled simulation. The plotted trajectory does not prove closed-loop stability.
Previous notes: Parkinsonian  GPe -STN sector simulation. Each channel satisfies  q_i = w_i ( beta_i * z_i-w_i )&gt;=0. The supply function panel plots the accumulated supply integral, giving the hard IQC and  dissipativity  with zero storage.  beta_S =0.7344121335837432,  beta_G =0.7048314668921489. Click to play the embedded clean 4K video; all text and math labels are editable PowerPoint overlays. This says that the increase in stored energy cannot exceed the supplied energy. It is a supply–storage balance, so you can explain it without introducing a Lyapunov stability argument.</a:t>
            </a:r>
            <a:endParaRPr sz="120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Sign convention matters: sigma=||ztilde||^2-||wtilde||^2&gt;=0 on the Delta graph. Vdot&lt;=+sigma does NOT imply stability (even Vdot=1, sigma=1 is allowed). The complementary PIE supply is -sigma=||wtilde||^2-||ztilde||^2. Seek a common coercive storage for the unforced well-posed interconnection with Vdot&lt;=-sigma-epsilon||x||^2. The nonlinearity cannot provide a positive net supply to replenish this storage, so Vdot&lt;=-epsilon||x||^2 and V(t)&lt;=exp(-epsilon*t/M)V(0). Positive m and M and compatible state norm/solution regularity are required. Without the strict margin, V nonincrease gives Lyapunov stability under the coercive bounds, but asymptotic decay is not automatic. The strict inequality shown excludes the equilibrium. This pointwise argument applies to the present static sector filter; general dynamic integral dissipativity needs the corresponding augmented storage argument.
Previous notes: Assume an unforced well-posed feedback interconnection and a common differentiable/coercive storage V with m||x||^2&lt;=V&lt;=M||x||^2, m,M&gt;0. Seek a plant/controller certificate Vdot+sigma&lt;=-epsilon||x||^2 uniformly, epsilon&gt;0, for the relevant augmented plant signals/states. For the static sector filter above, sigma&gt;=0 pointwise on every admissible Delta graph, hence Vdot&lt;=-epsilon||x||^2&lt;=-(epsilon/M)V and exponential decay follows. The first displayed strict inequality is for nonzero states; at the equilibrium its value is zero. In a PIE, use the reconstructed physical state norm and compatible solution regularity. For a general dynamic filter with only integral nonnegativity, the argument must instead use the integrated inequality and appropriate augmented storage; the pointwise step is specific to this static sector example. The simulation alone supplies no plant certificate.</a:t>
            </a:r>
            <a:endParaRPr sz="120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51</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52</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53</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54</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55</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56</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editable_370_image34.png"/><Relationship Id="rIdEditable109" Type="http://schemas.openxmlformats.org/officeDocument/2006/relationships/image" Target="../media/editable_375_image3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editable_369_image33.png"/><Relationship Id="rIdEditable108" Type="http://schemas.openxmlformats.org/officeDocument/2006/relationships/image" Target="../media/editable_374_image38.png"/><Relationship Id="rIdEditable111" Type="http://schemas.openxmlformats.org/officeDocument/2006/relationships/image" Target="../media/editable_377_image41.png"/><Relationship Id="rId2" Type="http://schemas.openxmlformats.org/officeDocument/2006/relationships/video" Target="../media/media1.mp4"/><Relationship Id="rIdEditable107" Type="http://schemas.openxmlformats.org/officeDocument/2006/relationships/image" Target="../media/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editable_368_image32.png"/><Relationship Id="rIdEditable110" Type="http://schemas.openxmlformats.org/officeDocument/2006/relationships/image" Target="../media/editable_376_image40.png"/><Relationship Id="rId5" Type="http://schemas.openxmlformats.org/officeDocument/2006/relationships/slideLayout" Target="../slideLayouts/slideLayout5.xml"/><Relationship Id="rIdEditable101" Type="http://schemas.openxmlformats.org/officeDocument/2006/relationships/image" Target="../media/editable_367_image31.png"/><Relationship Id="rIdEditable106" Type="http://schemas.openxmlformats.org/officeDocument/2006/relationships/image" Target="../media/editable_372_image3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editable_366_image30.png"/><Relationship Id="rIdEditable105" Type="http://schemas.openxmlformats.org/officeDocument/2006/relationships/image" Target="../media/editable_371_image35.png"/></Relationships>
</file>

<file path=ppt/slides/_rels/slide3.xml.rels><?xml version="1.0" encoding="UTF-8" standalone="yes"?>
<Relationships xmlns="http://schemas.openxmlformats.org/package/2006/relationships"><Relationship Id="rId8" Type="http://schemas.openxmlformats.org/officeDocument/2006/relationships/image" Target="../media/image10.gif"/><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neurosim_s4_5.png"/><Relationship Id="rId15" Type="http://schemas.openxmlformats.org/officeDocument/2006/relationships/image" Target="../media/image18.png"/><Relationship Id="rId10" Type="http://schemas.openxmlformats.org/officeDocument/2006/relationships/image" Target="../media/image13.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png"/><Relationship Id="rId14" Type="http://schemas.openxmlformats.org/officeDocument/2006/relationships/image" Target="../media/image17.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4.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5.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46.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54.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6.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63.png"/><Relationship Id="rId11" Type="http://schemas.openxmlformats.org/officeDocument/2006/relationships/image" Target="../media/image65.png"/><Relationship Id="rId5" Type="http://schemas.openxmlformats.org/officeDocument/2006/relationships/image" Target="../media/image1.png"/><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7.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RevisedLFR120" Type="http://schemas.openxmlformats.org/officeDocument/2006/relationships/image" Target="../media/revised_lfr19_lfr19_image76.png"/><Relationship Id="rIdRevisedLFR125" Type="http://schemas.openxmlformats.org/officeDocument/2006/relationships/image" Target="../media/revised_lfr19_image97.png"/><Relationship Id="rId3" Type="http://schemas.openxmlformats.org/officeDocument/2006/relationships/image" Target="../media/image1.png"/><Relationship Id="rIdRevisedLFR108" Type="http://schemas.openxmlformats.org/officeDocument/2006/relationships/image" Target="../media/revised_lfr19_lfr19_image55.png"/><Relationship Id="rIdRevisedLFR124" Type="http://schemas.openxmlformats.org/officeDocument/2006/relationships/image" Target="../media/revised_lfr19_lfr19_image78.png"/><Relationship Id="rIdRevisedLFR103" Type="http://schemas.openxmlformats.org/officeDocument/2006/relationships/image" Target="../media/revised_lfr19_image101.png"/><Relationship Id="rIdRevisedLFR129" Type="http://schemas.openxmlformats.org/officeDocument/2006/relationships/image" Target="../media/revised_lfr19_image96.png"/><Relationship Id="rIdRevisedLFR107" Type="http://schemas.openxmlformats.org/officeDocument/2006/relationships/image" Target="../media/revised_lfr19_lfr19_image81.png"/><Relationship Id="rId7" Type="http://schemas.openxmlformats.org/officeDocument/2006/relationships/image" Target="../media/image7.jpg"/><Relationship Id="rId2" Type="http://schemas.openxmlformats.org/officeDocument/2006/relationships/notesSlide" Target="../notesSlides/notesSlide13.xml"/><Relationship Id="rIdRevisedLFR123" Type="http://schemas.openxmlformats.org/officeDocument/2006/relationships/image" Target="../media/revised_lfr19_lfr19_image72.png"/><Relationship Id="rIdRevisedLFR102" Type="http://schemas.openxmlformats.org/officeDocument/2006/relationships/image" Target="../media/revised_lfr19_lfr19_image73.png"/><Relationship Id="rIdRevisedLFR128" Type="http://schemas.openxmlformats.org/officeDocument/2006/relationships/image" Target="../media/revised_lfr19_image102.png"/><Relationship Id="rIdRevisedLFR110" Type="http://schemas.openxmlformats.org/officeDocument/2006/relationships/image" Target="../media/revised_lfr19_image100.png"/><Relationship Id="rId1" Type="http://schemas.openxmlformats.org/officeDocument/2006/relationships/slideLayout" Target="../slideLayouts/slideLayout5.xml"/><Relationship Id="rIdRevisedLFR101" Type="http://schemas.openxmlformats.org/officeDocument/2006/relationships/image" Target="../media/revised_lfr19_lfr19_image35.png"/><Relationship Id="rIdRevisedLFR127" Type="http://schemas.openxmlformats.org/officeDocument/2006/relationships/image" Target="../media/revised_lfr19_lfr19_image74.png"/><Relationship Id="rIdRevisedLFR106" Type="http://schemas.openxmlformats.org/officeDocument/2006/relationships/image" Target="../media/revised_lfr19_lfr19_image75.png"/><Relationship Id="rIdRevisedLFR114" Type="http://schemas.openxmlformats.org/officeDocument/2006/relationships/image" Target="../media/revised_lfr19_lfr19_image80.png"/><Relationship Id="rIdRevisedLFR119" Type="http://schemas.openxmlformats.org/officeDocument/2006/relationships/image" Target="../media/revised_lfr19_image74.png"/><Relationship Id="rId6" Type="http://schemas.openxmlformats.org/officeDocument/2006/relationships/image" Target="../media/image68.jpeg"/><Relationship Id="rIdRevisedLFR122" Type="http://schemas.openxmlformats.org/officeDocument/2006/relationships/image" Target="../media/revised_lfr19_lfr19_image71.png"/><Relationship Id="rId5" Type="http://schemas.openxmlformats.org/officeDocument/2006/relationships/image" Target="../media/image70.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RevisedLFR118" Type="http://schemas.openxmlformats.org/officeDocument/2006/relationships/image" Target="../media/revised_lfr19_lfr19_image77.png"/><Relationship Id="rIdRevisedLFR121" Type="http://schemas.openxmlformats.org/officeDocument/2006/relationships/image" Target="../media/revised_lfr19_image103.png"/><Relationship Id="rId4" Type="http://schemas.openxmlformats.org/officeDocument/2006/relationships/image" Target="../media/image54.png"/><Relationship Id="rIdRevisedLFR117" Type="http://schemas.openxmlformats.org/officeDocument/2006/relationships/image" Target="../media/revised_lfr19_lfr19_image70.png"/><Relationship Id="rIdRevisedLFR109" Type="http://schemas.openxmlformats.org/officeDocument/2006/relationships/image" Target="../media/revised_lfr19_lfr19_image79.png"/><Relationship Id="rIdRevisedLFR104" Type="http://schemas.openxmlformats.org/officeDocument/2006/relationships/image" Target="../media/revised_lfr19_image70.png"/></Relationships>
</file>

<file path=ppt/slides/_rels/slide20.xml.rels><?xml version="1.0" encoding="UTF-8" standalone="yes"?>
<Relationships xmlns="http://schemas.openxmlformats.org/package/2006/relationships"><Relationship Id="rIdBlockMorph20_1" Type="http://schemas.openxmlformats.org/officeDocument/2006/relationships/image" Target="../media/blockmorph20_extraction20_revised_lfr19_image101.png"/><Relationship Id="rIdBlockMorph20_18" Type="http://schemas.openxmlformats.org/officeDocument/2006/relationships/image" Target="../media/blockmorph20_image81.png"/><Relationship Id="rId3" Type="http://schemas.openxmlformats.org/officeDocument/2006/relationships/image" Target="../media/image1.png"/><Relationship Id="rIdBlockMorph20_0" Type="http://schemas.openxmlformats.org/officeDocument/2006/relationships/image" Target="../media/blockmorph20_extraction20_revised_lfr19_image97.png"/><Relationship Id="rIdBlockMorph20_21" Type="http://schemas.openxmlformats.org/officeDocument/2006/relationships/image" Target="../media/blockmorph20_image76.png"/><Relationship Id="rIdBlockMorph20_13" Type="http://schemas.openxmlformats.org/officeDocument/2006/relationships/image" Target="../media/blockmorph20_image82.png"/><Relationship Id="rIdBlockMorph20_12" Type="http://schemas.openxmlformats.org/officeDocument/2006/relationships/image" Target="../media/blockmorph20_extraction20_revised_lfr19_image100.png"/><Relationship Id="rIdBlockMorph20_17" Type="http://schemas.openxmlformats.org/officeDocument/2006/relationships/image" Target="../media/blockmorph20_image72.png"/><Relationship Id="rIdBlockMorph20_9" Type="http://schemas.openxmlformats.org/officeDocument/2006/relationships/image" Target="../media/blockmorph20_image78.png"/><Relationship Id="rId2" Type="http://schemas.openxmlformats.org/officeDocument/2006/relationships/notesSlide" Target="../notesSlides/notesSlide14.xml"/><Relationship Id="rIdBlockMorph20_20" Type="http://schemas.openxmlformats.org/officeDocument/2006/relationships/image" Target="../media/blockmorph20_extraction20_image70.png"/><Relationship Id="rIdBlockMorph20_4" Type="http://schemas.openxmlformats.org/officeDocument/2006/relationships/image" Target="../media/blockmorph20_image84.png"/><Relationship Id="rId1" Type="http://schemas.openxmlformats.org/officeDocument/2006/relationships/slideLayout" Target="../slideLayouts/slideLayout6.xml"/><Relationship Id="rIdBlockMorph20_8" Type="http://schemas.openxmlformats.org/officeDocument/2006/relationships/image" Target="../media/blockmorph20_image71.png"/><Relationship Id="rIdBlockMorph20_16" Type="http://schemas.openxmlformats.org/officeDocument/2006/relationships/image" Target="../media/blockmorph20_image77.png"/><Relationship Id="rIdBlockMorph20_3" Type="http://schemas.openxmlformats.org/officeDocument/2006/relationships/image" Target="../media/blockmorph20_image79.png"/><Relationship Id="rIdBlockMorph20_24" Type="http://schemas.openxmlformats.org/officeDocument/2006/relationships/image" Target="../media/blockmorph20_image80.png"/><Relationship Id="rIdBlockMorph20_15" Type="http://schemas.openxmlformats.org/officeDocument/2006/relationships/image" Target="../media/blockmorph20_image73.png"/><Relationship Id="rIdBlockMorph20_7" Type="http://schemas.openxmlformats.org/officeDocument/2006/relationships/image" Target="../media/blockmorph20_extraction20_revised_lfr19_image74.png"/><Relationship Id="rIdBlockMorph20_2" Type="http://schemas.openxmlformats.org/officeDocument/2006/relationships/image" Target="../media/blockmorph20_image74.png"/><Relationship Id="rIdBlockMorph20_23" Type="http://schemas.openxmlformats.org/officeDocument/2006/relationships/image" Target="../media/blockmorph20_image75.png"/><Relationship Id="rIdBlockMorph20_10" Type="http://schemas.openxmlformats.org/officeDocument/2006/relationships/image" Target="../media/blockmorph20_image83.png"/><Relationship Id="rIdBlockMorph20_6" Type="http://schemas.openxmlformats.org/officeDocument/2006/relationships/image" Target="../media/blockmorph20_extraction20_revised_lfr19_image96.png"/><Relationship Id="rIdBlockMorph20_19" Type="http://schemas.openxmlformats.org/officeDocument/2006/relationships/image" Target="../media/blockmorph20_extraction20_revised_lfr19_image102.png"/><Relationship Id="rIdBlockMorph20_22" Type="http://schemas.openxmlformats.org/officeDocument/2006/relationships/image" Target="../media/blockmorph20_image85.png"/></Relationships>
</file>

<file path=ppt/slides/_rels/slide21.xml.rels><?xml version="1.0" encoding="UTF-8" standalone="yes"?>
<Relationships xmlns="http://schemas.openxmlformats.org/package/2006/relationships"><Relationship Id="rIdBlockMorph21_13" Type="http://schemas.openxmlformats.org/officeDocument/2006/relationships/image" Target="../media/blockmorph21_image84.png"/><Relationship Id="rId3" Type="http://schemas.openxmlformats.org/officeDocument/2006/relationships/image" Target="../media/image1.png"/><Relationship Id="rIdBlockMorph21_17" Type="http://schemas.openxmlformats.org/officeDocument/2006/relationships/image" Target="../media/blockmorph21_image83.png"/><Relationship Id="rIdBlockMorph21_7" Type="http://schemas.openxmlformats.org/officeDocument/2006/relationships/image" Target="../media/blockmorph21_image85.png"/><Relationship Id="rIdBlockMorph21_12" Type="http://schemas.openxmlformats.org/officeDocument/2006/relationships/image" Target="../media/blockmorph21_image752.png"/><Relationship Id="rId2" Type="http://schemas.openxmlformats.org/officeDocument/2006/relationships/notesSlide" Target="../notesSlides/notesSlide15.xml"/><Relationship Id="rIdBlockMorph21_16" Type="http://schemas.openxmlformats.org/officeDocument/2006/relationships/image" Target="../media/blockmorph21_image78.png"/><Relationship Id="rIdBlockMorph21_1" Type="http://schemas.openxmlformats.org/officeDocument/2006/relationships/image" Target="../media/blockmorph21_image82.png"/><Relationship Id="rId1" Type="http://schemas.openxmlformats.org/officeDocument/2006/relationships/slideLayout" Target="../slideLayouts/slideLayout6.xml"/><Relationship Id="rIdBlockMorph21_11" Type="http://schemas.openxmlformats.org/officeDocument/2006/relationships/image" Target="../media/blockmorph21_image80.png"/><Relationship Id="rIdBlockMorph21_5" Type="http://schemas.openxmlformats.org/officeDocument/2006/relationships/image" Target="../media/blockmorph21_image81.png"/><Relationship Id="rIdBlockMorph21_15" Type="http://schemas.openxmlformats.org/officeDocument/2006/relationships/image" Target="../media/blockmorph21_image741.png"/><Relationship Id="rIdBlockMorph21_9" Type="http://schemas.openxmlformats.org/officeDocument/2006/relationships/image" Target="../media/blockmorph21_image760.png"/><Relationship Id="rIdBlockMorph21_10" Type="http://schemas.openxmlformats.org/officeDocument/2006/relationships/image" Target="../media/blockmorph21_extraction20_image70.png"/><Relationship Id="rIdBlockMorph21_0" Type="http://schemas.openxmlformats.org/officeDocument/2006/relationships/image" Target="../media/blockmorph21_image77.png"/><Relationship Id="rIdBlockMorph21_4" Type="http://schemas.openxmlformats.org/officeDocument/2006/relationships/image" Target="../media/blockmorph21_image71.png"/><Relationship Id="rIdBlockMorph21_3" Type="http://schemas.openxmlformats.org/officeDocument/2006/relationships/image" Target="../media/blockmorph21_image73.png"/><Relationship Id="rIdBlockMorph21_14" Type="http://schemas.openxmlformats.org/officeDocument/2006/relationships/image" Target="../media/blockmorph21_image79.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73.png"/><Relationship Id="rId5" Type="http://schemas.openxmlformats.org/officeDocument/2006/relationships/image" Target="../media/image72.png"/><Relationship Id="rIdBlockMorph21_10" Type="http://schemas.openxmlformats.org/officeDocument/2006/relationships/image" Target="../media/blockmorph21_extraction20_image70.png"/><Relationship Id="rId4" Type="http://schemas.openxmlformats.org/officeDocument/2006/relationships/image" Target="../media/image71.png"/><Relationship Id="rIdBlockMorph21_3" Type="http://schemas.openxmlformats.org/officeDocument/2006/relationships/image" Target="../media/blockmorph21_image7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Block108" Type="http://schemas.openxmlformats.org/officeDocument/2006/relationships/image" Target="../media/image731.png"/><Relationship Id="rId7" Type="http://schemas.openxmlformats.org/officeDocument/2006/relationships/image" Target="../media/image77.png"/><Relationship Id="rIdBlock107" Type="http://schemas.openxmlformats.org/officeDocument/2006/relationships/image" Target="../media/extraction20_image70.pn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74.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 Id="rIdBlock106" Type="http://schemas.openxmlformats.org/officeDocument/2006/relationships/image" Target="../media/image731.png"/><Relationship Id="rId5" Type="http://schemas.openxmlformats.org/officeDocument/2006/relationships/image" Target="../media/image79.png"/><Relationship Id="rIdBlock105" Type="http://schemas.openxmlformats.org/officeDocument/2006/relationships/image" Target="../media/extraction20_image70.png"/><Relationship Id="rId4" Type="http://schemas.openxmlformats.org/officeDocument/2006/relationships/image" Target="../media/image78.png"/></Relationships>
</file>

<file path=ppt/slides/_rels/slide25.xml.rels><?xml version="1.0" encoding="UTF-8" standalone="yes"?>
<Relationships xmlns="http://schemas.openxmlformats.org/package/2006/relationships"><Relationship Id="rId8" Type="http://schemas.openxmlformats.org/officeDocument/2006/relationships/image" Target="../media/image751.png"/><Relationship Id="rId13" Type="http://schemas.openxmlformats.org/officeDocument/2006/relationships/image" Target="../media/image81.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7" Type="http://schemas.openxmlformats.org/officeDocument/2006/relationships/image" Target="../media/image740.png"/><Relationship Id="rId12" Type="http://schemas.openxmlformats.org/officeDocument/2006/relationships/image" Target="../media/image800.png"/><Relationship Id="rId2" Type="http://schemas.openxmlformats.org/officeDocument/2006/relationships/notesSlide" Target="../notesSlides/notesSlide19.xml"/><Relationship Id="rIdRevisedLFR128" Type="http://schemas.openxmlformats.org/officeDocument/2006/relationships/image" Target="../media/revised_lfr19_image102.png"/><Relationship Id="rIdPillarBlock18" Type="http://schemas.openxmlformats.org/officeDocument/2006/relationships/image" Target="../media/extraction20_image70.png"/><Relationship Id="rId1" Type="http://schemas.openxmlformats.org/officeDocument/2006/relationships/slideLayout" Target="../slideLayouts/slideLayout6.xml"/><Relationship Id="rId6" Type="http://schemas.openxmlformats.org/officeDocument/2006/relationships/image" Target="../media/image730.png"/><Relationship Id="rId11" Type="http://schemas.openxmlformats.org/officeDocument/2006/relationships/image" Target="../media/image790.png"/><Relationship Id="rId5" Type="http://schemas.openxmlformats.org/officeDocument/2006/relationships/image" Target="../media/image722.png"/><Relationship Id="rId15" Type="http://schemas.openxmlformats.org/officeDocument/2006/relationships/image" Target="../media/image7.jpg"/><Relationship Id="rId10" Type="http://schemas.openxmlformats.org/officeDocument/2006/relationships/image" Target="../media/image780.png"/><Relationship Id="rId4" Type="http://schemas.openxmlformats.org/officeDocument/2006/relationships/image" Target="../media/image1.png"/><Relationship Id="rId9" Type="http://schemas.openxmlformats.org/officeDocument/2006/relationships/image" Target="../media/image770.png"/><Relationship Id="rId14" Type="http://schemas.openxmlformats.org/officeDocument/2006/relationships/image" Target="../media/image82.jpeg"/></Relationships>
</file>

<file path=ppt/slides/_rels/slide26.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0.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4" Type="http://schemas.openxmlformats.org/officeDocument/2006/relationships/image" Target="../media/image1.png"/><Relationship Id="rId9" Type="http://schemas.openxmlformats.org/officeDocument/2006/relationships/image" Target="../media/image780.png"/></Relationships>
</file>

<file path=ppt/slides/_rels/slide27.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1.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8.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85.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4.png"/><Relationship Id="rId2" Type="http://schemas.openxmlformats.org/officeDocument/2006/relationships/notesSlide" Target="../notesSlides/notesSlide2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9.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4.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4.xml"/><Relationship Id="rId1" Type="http://schemas.openxmlformats.org/officeDocument/2006/relationships/slideLayout" Target="../slideLayouts/slideLayout6.xml"/><Relationship Id="rId9" Type="http://schemas.openxmlformats.org/officeDocument/2006/relationships/image" Target="../media/image780.png"/></Relationships>
</file>

<file path=ppt/slides/_rels/slide31.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90.png"/><Relationship Id="rId18" Type="http://schemas.openxmlformats.org/officeDocument/2006/relationships/image" Target="../media/image9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9.png"/><Relationship Id="rId17" Type="http://schemas.openxmlformats.org/officeDocument/2006/relationships/image" Target="../media/image94.png"/><Relationship Id="rId2" Type="http://schemas.openxmlformats.org/officeDocument/2006/relationships/notesSlide" Target="../notesSlides/notesSlide25.xml"/><Relationship Id="rId16" Type="http://schemas.openxmlformats.org/officeDocument/2006/relationships/image" Target="../media/image93.png"/><Relationship Id="rId1" Type="http://schemas.openxmlformats.org/officeDocument/2006/relationships/slideLayout" Target="../slideLayouts/slideLayout6.xml"/><Relationship Id="rId11" Type="http://schemas.openxmlformats.org/officeDocument/2006/relationships/image" Target="../media/image88.png"/><Relationship Id="rId15" Type="http://schemas.openxmlformats.org/officeDocument/2006/relationships/image" Target="../media/image92.png"/><Relationship Id="rId10" Type="http://schemas.openxmlformats.org/officeDocument/2006/relationships/image" Target="../media/image87.png"/><Relationship Id="rId19" Type="http://schemas.openxmlformats.org/officeDocument/2006/relationships/image" Target="../media/image96.png"/><Relationship Id="rId9" Type="http://schemas.openxmlformats.org/officeDocument/2006/relationships/image" Target="../media/image86.png"/><Relationship Id="rId14" Type="http://schemas.openxmlformats.org/officeDocument/2006/relationships/image" Target="../media/image91.png"/></Relationships>
</file>

<file path=ppt/slides/_rels/slide32.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7.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png"/><Relationship Id="rId10" Type="http://schemas.openxmlformats.org/officeDocument/2006/relationships/image" Target="../media/image790.png"/><Relationship Id="rId4" Type="http://schemas.openxmlformats.org/officeDocument/2006/relationships/image" Target="../media/image97.png"/><Relationship Id="rId9" Type="http://schemas.openxmlformats.org/officeDocument/2006/relationships/image" Target="../media/image780.png"/></Relationships>
</file>

<file path=ppt/slides/_rels/slide34.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8.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png"/><Relationship Id="rId10" Type="http://schemas.openxmlformats.org/officeDocument/2006/relationships/image" Target="../media/image790.png"/><Relationship Id="rId4" Type="http://schemas.openxmlformats.org/officeDocument/2006/relationships/image" Target="../media/image97.png"/><Relationship Id="rId9" Type="http://schemas.openxmlformats.org/officeDocument/2006/relationships/image" Target="../media/image780.png"/></Relationships>
</file>

<file path=ppt/slides/_rels/slide35.xml.rels><?xml version="1.0" encoding="UTF-8" standalone="yes"?>
<Relationships xmlns="http://schemas.openxmlformats.org/package/2006/relationships"><Relationship Id="rIdSectorRefinement34_1" Type="http://schemas.openxmlformats.org/officeDocument/2006/relationships/image" Target="../media/sectorrefinement34_image108.png"/><Relationship Id="rId8" Type="http://schemas.openxmlformats.org/officeDocument/2006/relationships/image" Target="../media/image990.png"/><Relationship Id="rId13" Type="http://schemas.openxmlformats.org/officeDocument/2006/relationships/image" Target="../media/image47.png"/><Relationship Id="rId18" Type="http://schemas.openxmlformats.org/officeDocument/2006/relationships/image" Target="../media/image52.png"/><Relationship Id="rId3" Type="http://schemas.openxmlformats.org/officeDocument/2006/relationships/image" Target="../media/image98.png"/><Relationship Id="rId7" Type="http://schemas.openxmlformats.org/officeDocument/2006/relationships/image" Target="../media/image102.png"/><Relationship Id="rId12" Type="http://schemas.openxmlformats.org/officeDocument/2006/relationships/image" Target="../media/image461.png"/><Relationship Id="rId17" Type="http://schemas.openxmlformats.org/officeDocument/2006/relationships/image" Target="../media/image51.png"/><Relationship Id="rId2" Type="http://schemas.openxmlformats.org/officeDocument/2006/relationships/notesSlide" Target="../notesSlides/notesSlide29.xml"/><Relationship Id="rId16" Type="http://schemas.openxmlformats.org/officeDocument/2006/relationships/image" Target="../media/image50.png"/><Relationship Id="rId1" Type="http://schemas.openxmlformats.org/officeDocument/2006/relationships/slideLayout" Target="../slideLayouts/slideLayout12.xml"/><Relationship Id="rIdSectorRefinement34_3" Type="http://schemas.openxmlformats.org/officeDocument/2006/relationships/image" Target="../media/sectorrefinement34_image98.png"/><Relationship Id="rId6" Type="http://schemas.openxmlformats.org/officeDocument/2006/relationships/image" Target="../media/image101.png"/><Relationship Id="rId11" Type="http://schemas.openxmlformats.org/officeDocument/2006/relationships/image" Target="../media/image46.png"/><Relationship Id="rIdSectorRefinement34_16" Type="http://schemas.openxmlformats.org/officeDocument/2006/relationships/image" Target="../media/sectorrefinement34_image99.png"/><Relationship Id="rId5" Type="http://schemas.openxmlformats.org/officeDocument/2006/relationships/image" Target="../media/image100.png"/><Relationship Id="rId15" Type="http://schemas.openxmlformats.org/officeDocument/2006/relationships/image" Target="../media/image49.png"/><Relationship Id="rId10" Type="http://schemas.openxmlformats.org/officeDocument/2006/relationships/image" Target="../media/image104.png"/><Relationship Id="rIdSectorRefinement34_10" Type="http://schemas.openxmlformats.org/officeDocument/2006/relationships/image" Target="../media/sectorrefinement34_image101.png"/><Relationship Id="rId4" Type="http://schemas.openxmlformats.org/officeDocument/2006/relationships/image" Target="../media/image99.png"/><Relationship Id="rId9" Type="http://schemas.openxmlformats.org/officeDocument/2006/relationships/image" Target="../media/image103.png"/><Relationship Id="rId14" Type="http://schemas.openxmlformats.org/officeDocument/2006/relationships/image" Target="../media/image48.png"/></Relationships>
</file>

<file path=ppt/slides/_rels/slide36.xml.rels><?xml version="1.0" encoding="UTF-8" standalone="yes"?>
<Relationships xmlns="http://schemas.openxmlformats.org/package/2006/relationships"><Relationship Id="rIdSectorRefinement35_376" Type="http://schemas.openxmlformats.org/officeDocument/2006/relationships/image" Target="../media/sectorrefinement35_image223.png"/><Relationship Id="rIdSectorRefinement35_169" Type="http://schemas.openxmlformats.org/officeDocument/2006/relationships/image" Target="../media/sectorrefinement35_image335.png"/><Relationship Id="rIdSectorRefinement35_35" Type="http://schemas.openxmlformats.org/officeDocument/2006/relationships/image" Target="../media/sectorrefinement35_image427.png"/><Relationship Id="rIdSectorRefinement35_77" Type="http://schemas.openxmlformats.org/officeDocument/2006/relationships/image" Target="../media/sectorrefinement35_image124.png"/><Relationship Id="rIdSectorRefinement35_180" Type="http://schemas.openxmlformats.org/officeDocument/2006/relationships/image" Target="../media/sectorrefinement35_image279.png"/><Relationship Id="rIdSectorRefinement35_7" Type="http://schemas.openxmlformats.org/officeDocument/2006/relationships/image" Target="../media/sectorrefinement35_image282.png"/><Relationship Id="rIdSectorRefinement35_278" Type="http://schemas.openxmlformats.org/officeDocument/2006/relationships/image" Target="../media/sectorrefinement35_image327.png"/><Relationship Id="rIdSectorRefinement35_236" Type="http://schemas.openxmlformats.org/officeDocument/2006/relationships/image" Target="../media/sectorrefinement35_image368.png"/><Relationship Id="rIdSectorRefinement35_401" Type="http://schemas.openxmlformats.org/officeDocument/2006/relationships/image" Target="../media/sectorrefinement35_image495.png"/><Relationship Id="rIdSectorRefinement35_303" Type="http://schemas.openxmlformats.org/officeDocument/2006/relationships/image" Target="../media/sectorrefinement35_image272.png"/><Relationship Id="rIdSectorRefinement35_138" Type="http://schemas.openxmlformats.org/officeDocument/2006/relationships/image" Target="../media/sectorrefinement35_image355.png"/><Relationship Id="rIdSectorRefinement35_387" Type="http://schemas.openxmlformats.org/officeDocument/2006/relationships/image" Target="../media/sectorrefinement35_image211.png"/><Relationship Id="rIdSectorRefinement35_46" Type="http://schemas.openxmlformats.org/officeDocument/2006/relationships/image" Target="../media/sectorrefinement35_image382.png"/><Relationship Id="rIdSectorRefinement35_345" Type="http://schemas.openxmlformats.org/officeDocument/2006/relationships/image" Target="../media/sectorrefinement35_image471.png"/><Relationship Id="rIdSectorRefinement35_247" Type="http://schemas.openxmlformats.org/officeDocument/2006/relationships/image" Target="../media/sectorrefinement35_image130.png"/><Relationship Id="rIdSectorRefinement35_88" Type="http://schemas.openxmlformats.org/officeDocument/2006/relationships/image" Target="../media/sectorrefinement35_image135.png"/><Relationship Id="rIdSectorRefinement35_191" Type="http://schemas.openxmlformats.org/officeDocument/2006/relationships/image" Target="../media/sectorrefinement35_image346.png"/><Relationship Id="rIdSectorRefinement35_205" Type="http://schemas.openxmlformats.org/officeDocument/2006/relationships/image" Target="../media/sectorrefinement35_image455.png"/><Relationship Id="rIdSectorRefinement35_289" Type="http://schemas.openxmlformats.org/officeDocument/2006/relationships/image" Target="../media/sectorrefinement35_image500.png"/><Relationship Id="rIdSectorRefinement35_412" Type="http://schemas.openxmlformats.org/officeDocument/2006/relationships/image" Target="../media/sectorrefinement35_image520.png"/><Relationship Id="rId5" Type="http://schemas.openxmlformats.org/officeDocument/2006/relationships/image" Target="../media/image105.png"/><Relationship Id="rIdSectorRefinement35_314" Type="http://schemas.openxmlformats.org/officeDocument/2006/relationships/image" Target="../media/sectorrefinement35_image381.png"/><Relationship Id="rIdSectorRefinement35_107" Type="http://schemas.openxmlformats.org/officeDocument/2006/relationships/image" Target="../media/sectorrefinement35_image505.png"/><Relationship Id="rIdSectorRefinement35_398" Type="http://schemas.openxmlformats.org/officeDocument/2006/relationships/image" Target="../media/sectorrefinement35_image287.png"/><Relationship Id="rIdSectorRefinement35_149" Type="http://schemas.openxmlformats.org/officeDocument/2006/relationships/image" Target="../media/sectorrefinement35_image324.png"/><Relationship Id="rIdSectorRefinement35_356" Type="http://schemas.openxmlformats.org/officeDocument/2006/relationships/image" Target="../media/sectorrefinement35_image341.png"/><Relationship Id="rIdSectorRefinement35_15" Type="http://schemas.openxmlformats.org/officeDocument/2006/relationships/image" Target="../media/sectorrefinement35_image490.png"/><Relationship Id="rIdSectorRefinement35_57" Type="http://schemas.openxmlformats.org/officeDocument/2006/relationships/image" Target="../media/sectorrefinement35_image187.png"/><Relationship Id="rIdSectorRefinement35_99" Type="http://schemas.openxmlformats.org/officeDocument/2006/relationships/image" Target="../media/sectorrefinement35_image189.png"/><Relationship Id="rIdSectorRefinement35_160" Type="http://schemas.openxmlformats.org/officeDocument/2006/relationships/image" Target="../media/sectorrefinement35_image268.png"/><Relationship Id="rIdSectorRefinement35_258" Type="http://schemas.openxmlformats.org/officeDocument/2006/relationships/image" Target="../media/sectorrefinement35_image379.png"/><Relationship Id="rIdSectorRefinement35_216" Type="http://schemas.openxmlformats.org/officeDocument/2006/relationships/image" Target="../media/sectorrefinement35_image399.png"/><Relationship Id="rIdSectorRefinement35_423" Type="http://schemas.openxmlformats.org/officeDocument/2006/relationships/image" Target="../media/sectorrefinement35_image531.png"/><Relationship Id="rIdSectorRefinement35_325" Type="http://schemas.openxmlformats.org/officeDocument/2006/relationships/image" Target="../media/sectorrefinement35_image116.png"/><Relationship Id="rIdSectorRefinement35_118" Type="http://schemas.openxmlformats.org/officeDocument/2006/relationships/image" Target="../media/sectorrefinement35_image126.png"/><Relationship Id="rIdSectorRefinement35_367" Type="http://schemas.openxmlformats.org/officeDocument/2006/relationships/image" Target="../media/sectorrefinement35_image296.png"/><Relationship Id="rIdSectorRefinement35_68" Type="http://schemas.openxmlformats.org/officeDocument/2006/relationships/image" Target="../media/sectorrefinement35_image155.png"/><Relationship Id="rIdSectorRefinement35_227" Type="http://schemas.openxmlformats.org/officeDocument/2006/relationships/image" Target="../media/sectorrefinement35_image161.png"/><Relationship Id="rIdSectorRefinement35_26" Type="http://schemas.openxmlformats.org/officeDocument/2006/relationships/image" Target="../media/sectorrefinement35_image501.png"/><Relationship Id="rIdSectorRefinement35_171" Type="http://schemas.openxmlformats.org/officeDocument/2006/relationships/image" Target="../media/sectorrefinement35_image543.png"/><Relationship Id="rIdSectorRefinement35_269" Type="http://schemas.openxmlformats.org/officeDocument/2006/relationships/image" Target="../media/sectorrefinement35_image206.png"/><Relationship Id="rIdSectorRefinement35_378" Type="http://schemas.openxmlformats.org/officeDocument/2006/relationships/image" Target="../media/sectorrefinement35_image307.png"/><Relationship Id="rIdSectorRefinement35_336" Type="http://schemas.openxmlformats.org/officeDocument/2006/relationships/image" Target="../media/sectorrefinement35_image361.png"/><Relationship Id="rIdSectorRefinement35_280" Type="http://schemas.openxmlformats.org/officeDocument/2006/relationships/image" Target="../media/sectorrefinement35_image369.png"/><Relationship Id="rIdSectorRefinement35_129" Type="http://schemas.openxmlformats.org/officeDocument/2006/relationships/image" Target="../media/sectorrefinement35_image386.png"/><Relationship Id="rIdSectorRefinement35_140" Type="http://schemas.openxmlformats.org/officeDocument/2006/relationships/image" Target="../media/sectorrefinement35_image148.png"/><Relationship Id="rIdSectorRefinement35_37" Type="http://schemas.openxmlformats.org/officeDocument/2006/relationships/image" Target="../media/sectorrefinement35_image164.png"/><Relationship Id="rIdSectorRefinement35_403" Type="http://schemas.openxmlformats.org/officeDocument/2006/relationships/image" Target="../media/sectorrefinement35_image396.png"/><Relationship Id="rIdSectorRefinement35_238" Type="http://schemas.openxmlformats.org/officeDocument/2006/relationships/image" Target="../media/sectorrefinement35_image410.png"/><Relationship Id="rIdSectorRefinement35_182" Type="http://schemas.openxmlformats.org/officeDocument/2006/relationships/image" Target="../media/sectorrefinement35_image423.png"/><Relationship Id="rIdSectorRefinement35_79" Type="http://schemas.openxmlformats.org/officeDocument/2006/relationships/image" Target="../media/sectorrefinement35_image429.png"/><Relationship Id="rIdSectorRefinement35_9" Type="http://schemas.openxmlformats.org/officeDocument/2006/relationships/image" Target="../media/sectorrefinement35_image546.png"/><Relationship Id="rIdSectorRefinement35_90" Type="http://schemas.openxmlformats.org/officeDocument/2006/relationships/image" Target="../media/sectorrefinement35_image384.png"/><Relationship Id="rIdSectorRefinement35_291" Type="http://schemas.openxmlformats.org/officeDocument/2006/relationships/image" Target="../media/sectorrefinement35_image317.png"/><Relationship Id="rIdSectorRefinement35_347" Type="http://schemas.openxmlformats.org/officeDocument/2006/relationships/image" Target="../media/sectorrefinement35_image330.png"/><Relationship Id="rIdSectorRefinement35_305" Type="http://schemas.openxmlformats.org/officeDocument/2006/relationships/image" Target="../media/sectorrefinement35_image536.png"/><Relationship Id="rIdSectorRefinement35_151" Type="http://schemas.openxmlformats.org/officeDocument/2006/relationships/image" Target="../media/sectorrefinement35_image138.png"/><Relationship Id="rIdSectorRefinement35_207" Type="http://schemas.openxmlformats.org/officeDocument/2006/relationships/image" Target="../media/sectorrefinement35_image172.png"/><Relationship Id="rIdSectorRefinement35_48" Type="http://schemas.openxmlformats.org/officeDocument/2006/relationships/image" Target="../media/sectorrefinement35_image176.png"/><Relationship Id="rIdSectorRefinement35_389" Type="http://schemas.openxmlformats.org/officeDocument/2006/relationships/image" Target="../media/sectorrefinement35_image276.png"/><Relationship Id="rIdSectorRefinement35_249" Type="http://schemas.openxmlformats.org/officeDocument/2006/relationships/image" Target="../media/sectorrefinement35_image173.png"/><Relationship Id="rIdSectorRefinement35_414" Type="http://schemas.openxmlformats.org/officeDocument/2006/relationships/image" Target="../media/sectorrefinement35_image365.png"/><Relationship Id="rIdSectorRefinement35_316" Type="http://schemas.openxmlformats.org/officeDocument/2006/relationships/image" Target="../media/sectorrefinement35_image143.png"/><Relationship Id="rIdSectorRefinement35_109" Type="http://schemas.openxmlformats.org/officeDocument/2006/relationships/image" Target="../media/sectorrefinement35_image406.png"/><Relationship Id="rIdSectorRefinement35_260" Type="http://schemas.openxmlformats.org/officeDocument/2006/relationships/image" Target="../media/sectorrefinement35_image524.png"/><Relationship Id="rIdSectorRefinement35_358" Type="http://schemas.openxmlformats.org/officeDocument/2006/relationships/image" Target="../media/sectorrefinement35_image549.png"/><Relationship Id="rIdSectorRefinement35_17" Type="http://schemas.openxmlformats.org/officeDocument/2006/relationships/image" Target="../media/sectorrefinement35_image293.png"/><Relationship Id="rIdSectorRefinement35_162" Type="http://schemas.openxmlformats.org/officeDocument/2006/relationships/image" Target="../media/sectorrefinement35_image310.png"/><Relationship Id="rIdSectorRefinement35_120" Type="http://schemas.openxmlformats.org/officeDocument/2006/relationships/image" Target="../media/sectorrefinement35_image375.png"/><Relationship Id="rIdSectorRefinement35_59" Type="http://schemas.openxmlformats.org/officeDocument/2006/relationships/image" Target="../media/sectorrefinement35_image492.png"/><Relationship Id="rIdSectorRefinement35_70" Type="http://schemas.openxmlformats.org/officeDocument/2006/relationships/image" Target="../media/sectorrefinement35_image222.png"/><Relationship Id="rIdSectorRefinement35_425" Type="http://schemas.openxmlformats.org/officeDocument/2006/relationships/image" Target="../media/sectorrefinement35_image376.png"/><Relationship Id="rIdSectorRefinement35_218" Type="http://schemas.openxmlformats.org/officeDocument/2006/relationships/image" Target="../media/sectorrefinement35_image544.png"/><Relationship Id="rIdSectorRefinement35_0" Type="http://schemas.openxmlformats.org/officeDocument/2006/relationships/image" Target="../media/sectorrefinement35_image229.png"/><Relationship Id="rIdSectorRefinement35_271" Type="http://schemas.openxmlformats.org/officeDocument/2006/relationships/image" Target="../media/sectorrefinement35_image281.png"/><Relationship Id="rIdSectorRefinement35_327" Type="http://schemas.openxmlformats.org/officeDocument/2006/relationships/image" Target="../media/sectorrefinement35_image403.png"/><Relationship Id="rIdSectorRefinement35_131" Type="http://schemas.openxmlformats.org/officeDocument/2006/relationships/image" Target="../media/sectorrefinement35_image180.png"/><Relationship Id="rIdSectorRefinement35_28" Type="http://schemas.openxmlformats.org/officeDocument/2006/relationships/image" Target="../media/sectorrefinement35_image262.png"/><Relationship Id="rIdSectorRefinement35_369" Type="http://schemas.openxmlformats.org/officeDocument/2006/relationships/image" Target="../media/sectorrefinement35_image518.png"/><Relationship Id="rIdSectorRefinement35_173" Type="http://schemas.openxmlformats.org/officeDocument/2006/relationships/image" Target="../media/sectorrefinement35_image149.png"/><Relationship Id="rIdSectorRefinement35_229" Type="http://schemas.openxmlformats.org/officeDocument/2006/relationships/image" Target="../media/sectorrefinement35_image205.png"/><Relationship Id="rIdSectorRefinement35_380" Type="http://schemas.openxmlformats.org/officeDocument/2006/relationships/image" Target="../media/sectorrefinement35_image473.png"/><Relationship Id="rIdSectorRefinement35_81" Type="http://schemas.openxmlformats.org/officeDocument/2006/relationships/image" Target="../media/sectorrefinement35_image210.png"/><Relationship Id="rIdSectorRefinement35_282" Type="http://schemas.openxmlformats.org/officeDocument/2006/relationships/image" Target="../media/sectorrefinement35_image514.png"/><Relationship Id="rIdSectorRefinement35_240" Type="http://schemas.openxmlformats.org/officeDocument/2006/relationships/image" Target="../media/sectorrefinement35_image534.png"/><Relationship Id="rIdSectorRefinement35_338" Type="http://schemas.openxmlformats.org/officeDocument/2006/relationships/image" Target="../media/sectorrefinement35_image123.png"/><Relationship Id="rIdSectorRefinement35_100" Type="http://schemas.openxmlformats.org/officeDocument/2006/relationships/image" Target="../media/sectorrefinement35_image213.png"/><Relationship Id="rIdSectorRefinement35_39" Type="http://schemas.openxmlformats.org/officeDocument/2006/relationships/image" Target="../media/sectorrefinement35_image273.png"/><Relationship Id="rIdSectorRefinement35_405" Type="http://schemas.openxmlformats.org/officeDocument/2006/relationships/image" Target="../media/sectorrefinement35_image191.png"/><Relationship Id="rIdSectorRefinement35_142" Type="http://schemas.openxmlformats.org/officeDocument/2006/relationships/image" Target="../media/sectorrefinement35_image422.png"/><Relationship Id="rIdSectorRefinement35_184" Type="http://schemas.openxmlformats.org/officeDocument/2006/relationships/image" Target="../media/sectorrefinement35_image466.png"/><Relationship Id="rIdSectorRefinement35_391" Type="http://schemas.openxmlformats.org/officeDocument/2006/relationships/image" Target="../media/sectorrefinement35_image540.png"/><Relationship Id="rIdSectorRefinement35_307" Type="http://schemas.openxmlformats.org/officeDocument/2006/relationships/image" Target="../media/sectorrefinement35_image132.png"/><Relationship Id="rIdSectorRefinement35_92" Type="http://schemas.openxmlformats.org/officeDocument/2006/relationships/image" Target="../media/sectorrefinement35_image244.png"/><Relationship Id="rIdSectorRefinement35_251" Type="http://schemas.openxmlformats.org/officeDocument/2006/relationships/image" Target="../media/sectorrefinement35_image291.png"/><Relationship Id="rIdSectorRefinement35_50" Type="http://schemas.openxmlformats.org/officeDocument/2006/relationships/image" Target="../media/sectorrefinement35_image481.png"/><Relationship Id="rIdSectorRefinement35_111" Type="http://schemas.openxmlformats.org/officeDocument/2006/relationships/image" Target="../media/sectorrefinement35_image157.png"/><Relationship Id="rIdSectorRefinement35_349" Type="http://schemas.openxmlformats.org/officeDocument/2006/relationships/image" Target="../media/sectorrefinement35_image383.png"/><Relationship Id="rIdSectorRefinement35_293" Type="http://schemas.openxmlformats.org/officeDocument/2006/relationships/image" Target="../media/sectorrefinement35_image525.png"/><Relationship Id="rIdSectorRefinement35_360" Type="http://schemas.openxmlformats.org/officeDocument/2006/relationships/image" Target="../media/sectorrefinement35_image145.png"/><Relationship Id="rIdSectorRefinement35_153" Type="http://schemas.openxmlformats.org/officeDocument/2006/relationships/image" Target="../media/sectorrefinement35_image226.png"/><Relationship Id="rIdSectorRefinement35_209" Type="http://schemas.openxmlformats.org/officeDocument/2006/relationships/image" Target="../media/sectorrefinement35_image311.png"/><Relationship Id="rIdSectorRefinement35_195" Type="http://schemas.openxmlformats.org/officeDocument/2006/relationships/image" Target="../media/sectorrefinement35_image367.png"/><Relationship Id="rIdSectorRefinement35_416" Type="http://schemas.openxmlformats.org/officeDocument/2006/relationships/image" Target="../media/sectorrefinement35_image421.png"/><Relationship Id="rIdSectorRefinement35_220" Type="http://schemas.openxmlformats.org/officeDocument/2006/relationships/image" Target="../media/sectorrefinement35_image217.png"/><Relationship Id="rIdSectorRefinement35_262" Type="http://schemas.openxmlformats.org/officeDocument/2006/relationships/image" Target="../media/sectorrefinement35_image218.png"/><Relationship Id="rIdSectorRefinement35_61" Type="http://schemas.openxmlformats.org/officeDocument/2006/relationships/image" Target="../media/sectorrefinement35_image295.png"/><Relationship Id="rIdSectorRefinement35_318" Type="http://schemas.openxmlformats.org/officeDocument/2006/relationships/image" Target="../media/sectorrefinement35_image392.png"/><Relationship Id="rIdSectorRefinement35_371" Type="http://schemas.openxmlformats.org/officeDocument/2006/relationships/image" Target="../media/sectorrefinement35_image156.png"/><Relationship Id="rIdSectorRefinement35_122" Type="http://schemas.openxmlformats.org/officeDocument/2006/relationships/image" Target="../media/sectorrefinement35_image168.png"/><Relationship Id="rIdSectorRefinement35_427" Type="http://schemas.openxmlformats.org/officeDocument/2006/relationships/image" Target="../media/sectorrefinement35_image169.png"/><Relationship Id="rIdSectorRefinement35_164" Type="http://schemas.openxmlformats.org/officeDocument/2006/relationships/image" Target="../media/sectorrefinement35_image454.png"/><Relationship Id="rIdSectorRefinement35_19" Type="http://schemas.openxmlformats.org/officeDocument/2006/relationships/image" Target="../media/sectorrefinement35_image515.png"/><Relationship Id="rIdSectorRefinement35_2" Type="http://schemas.openxmlformats.org/officeDocument/2006/relationships/image" Target="../media/sectorrefinement35_image131.png"/><Relationship Id="rIdSectorRefinement35_72" Type="http://schemas.openxmlformats.org/officeDocument/2006/relationships/image" Target="../media/sectorrefinement35_image264.png"/><Relationship Id="rIdSectorRefinement35_30" Type="http://schemas.openxmlformats.org/officeDocument/2006/relationships/image" Target="../media/sectorrefinement35_image318.png"/><Relationship Id="rIdSectorRefinement35_231" Type="http://schemas.openxmlformats.org/officeDocument/2006/relationships/image" Target="../media/sectorrefinement35_image488.png"/><Relationship Id="rIdSectorRefinement35_329" Type="http://schemas.openxmlformats.org/officeDocument/2006/relationships/image" Target="../media/sectorrefinement35_image459.png"/><Relationship Id="rIdSectorRefinement35_273" Type="http://schemas.openxmlformats.org/officeDocument/2006/relationships/image" Target="../media/sectorrefinement35_image468.png"/><Relationship Id="rIdSectorRefinement35_133" Type="http://schemas.openxmlformats.org/officeDocument/2006/relationships/image" Target="../media/sectorrefinement35_image192.png"/><Relationship Id="rIdSectorRefinement35_382" Type="http://schemas.openxmlformats.org/officeDocument/2006/relationships/image" Target="../media/sectorrefinement35_image332.png"/><Relationship Id="rIdSectorRefinement35_340" Type="http://schemas.openxmlformats.org/officeDocument/2006/relationships/image" Target="../media/sectorrefinement35_image372.png"/><Relationship Id="rIdSectorRefinement35_175" Type="http://schemas.openxmlformats.org/officeDocument/2006/relationships/image" Target="../media/sectorrefinement35_image398.png"/><Relationship Id="rIdSectorRefinement35_200" Type="http://schemas.openxmlformats.org/officeDocument/2006/relationships/image" Target="../media/sectorrefinement35_image248.png"/><Relationship Id="rIdSectorRefinement35_83" Type="http://schemas.openxmlformats.org/officeDocument/2006/relationships/image" Target="../media/sectorrefinement35_image275.png"/><Relationship Id="rIdSectorRefinement35_41" Type="http://schemas.openxmlformats.org/officeDocument/2006/relationships/image" Target="../media/sectorrefinement35_image512.png"/><Relationship Id="rIdSectorRefinement35_242" Type="http://schemas.openxmlformats.org/officeDocument/2006/relationships/image" Target="../media/sectorrefinement35_image249.png"/><Relationship Id="rIdSectorRefinement35_284" Type="http://schemas.openxmlformats.org/officeDocument/2006/relationships/image" Target="../media/sectorrefinement35_image415.png"/><Relationship Id="rIdSectorRefinement35_351" Type="http://schemas.openxmlformats.org/officeDocument/2006/relationships/image" Target="../media/sectorrefinement35_image177.png"/><Relationship Id="rIdSectorRefinement35_144" Type="http://schemas.openxmlformats.org/officeDocument/2006/relationships/image" Target="../media/sectorrefinement35_image257.png"/><Relationship Id="rIdSectorRefinement35_102" Type="http://schemas.openxmlformats.org/officeDocument/2006/relationships/image" Target="../media/sectorrefinement35_image297.png"/><Relationship Id="rIdSectorRefinement35_186" Type="http://schemas.openxmlformats.org/officeDocument/2006/relationships/image" Target="../media/sectorrefinement35_image508.png"/><Relationship Id="rIdSectorRefinement35_407" Type="http://schemas.openxmlformats.org/officeDocument/2006/relationships/image" Target="../media/sectorrefinement35_image256.png"/><Relationship Id="rIdSectorRefinement35_52" Type="http://schemas.openxmlformats.org/officeDocument/2006/relationships/image" Target="../media/sectorrefinement35_image340.png"/><Relationship Id="rIdSectorRefinement35_393" Type="http://schemas.openxmlformats.org/officeDocument/2006/relationships/image" Target="../media/sectorrefinement35_image343.png"/><Relationship Id="rIdSectorRefinement35_10" Type="http://schemas.openxmlformats.org/officeDocument/2006/relationships/image" Target="../media/sectorrefinement35_image380.png"/><Relationship Id="rIdSectorRefinement35_211" Type="http://schemas.openxmlformats.org/officeDocument/2006/relationships/image" Target="../media/sectorrefinement35_image498.png"/><Relationship Id="rIdSectorRefinement35_309" Type="http://schemas.openxmlformats.org/officeDocument/2006/relationships/image" Target="../media/sectorrefinement35_image230.png"/><Relationship Id="rIdSectorRefinement35_295" Type="http://schemas.openxmlformats.org/officeDocument/2006/relationships/image" Target="../media/sectorrefinement35_image401.png"/><Relationship Id="rIdSectorRefinement35_94" Type="http://schemas.openxmlformats.org/officeDocument/2006/relationships/image" Target="../media/sectorrefinement35_image494.png"/><Relationship Id="rIdSectorRefinement35_253" Type="http://schemas.openxmlformats.org/officeDocument/2006/relationships/image" Target="../media/sectorrefinement35_image499.png"/><Relationship Id="rIdSectorRefinement35_320" Type="http://schemas.openxmlformats.org/officeDocument/2006/relationships/image" Target="../media/sectorrefinement35_image186.png"/><Relationship Id="rIdSectorRefinement35_113" Type="http://schemas.openxmlformats.org/officeDocument/2006/relationships/image" Target="../media/sectorrefinement35_image224.png"/><Relationship Id="rIdSectorRefinement35_155" Type="http://schemas.openxmlformats.org/officeDocument/2006/relationships/image" Target="../media/sectorrefinement35_image408.png"/><Relationship Id="rIdSectorRefinement35_21" Type="http://schemas.openxmlformats.org/officeDocument/2006/relationships/image" Target="../media/sectorrefinement35_image153.png"/><Relationship Id="rIdSectorRefinement35_362" Type="http://schemas.openxmlformats.org/officeDocument/2006/relationships/image" Target="../media/sectorrefinement35_image212.png"/><Relationship Id="rIdSectorRefinement35_418" Type="http://schemas.openxmlformats.org/officeDocument/2006/relationships/image" Target="../media/sectorrefinement35_image225.png"/><Relationship Id="rIdSectorRefinement35_197" Type="http://schemas.openxmlformats.org/officeDocument/2006/relationships/image" Target="../media/sectorrefinement35_image409.png"/><Relationship Id="rIdSectorRefinement35_63" Type="http://schemas.openxmlformats.org/officeDocument/2006/relationships/image" Target="../media/sectorrefinement35_image503.png"/><Relationship Id="rIdSectorRefinement35_222" Type="http://schemas.openxmlformats.org/officeDocument/2006/relationships/image" Target="../media/sectorrefinement35_image259.png"/><Relationship Id="rIdSectorRefinement35_264" Type="http://schemas.openxmlformats.org/officeDocument/2006/relationships/image" Target="../media/sectorrefinement35_image425.png"/><Relationship Id="rIdSectorRefinement35_331" Type="http://schemas.openxmlformats.org/officeDocument/2006/relationships/image" Target="../media/sectorrefinement35_image198.png"/><Relationship Id="rIdSectorRefinement35_124" Type="http://schemas.openxmlformats.org/officeDocument/2006/relationships/image" Target="../media/sectorrefinement35_image442.png"/><Relationship Id="rIdSectorRefinement35_11" Type="http://schemas.openxmlformats.org/officeDocument/2006/relationships/image" Target="../media/sectorrefinement35_image142.png"/><Relationship Id="rIdSectorRefinement35_429" Type="http://schemas.openxmlformats.org/officeDocument/2006/relationships/image" Target="../media/sectorrefinement35_image181.png"/><Relationship Id="rIdSectorRefinement35_408" Type="http://schemas.openxmlformats.org/officeDocument/2006/relationships/image" Target="../media/sectorrefinement35_image202.png"/><Relationship Id="rIdSectorRefinement35_352" Type="http://schemas.openxmlformats.org/officeDocument/2006/relationships/image" Target="../media/sectorrefinement35_image243.png"/><Relationship Id="rIdSectorRefinement35_32" Type="http://schemas.openxmlformats.org/officeDocument/2006/relationships/image" Target="../media/sectorrefinement35_image360.png"/><Relationship Id="rIdSectorRefinement35_394" Type="http://schemas.openxmlformats.org/officeDocument/2006/relationships/image" Target="../media/sectorrefinement35_image385.png"/><Relationship Id="rIdSectorRefinement35_373" Type="http://schemas.openxmlformats.org/officeDocument/2006/relationships/image" Target="../media/sectorrefinement35_image419.png"/><Relationship Id="rIdSectorRefinement35_166" Type="http://schemas.openxmlformats.org/officeDocument/2006/relationships/image" Target="../media/sectorrefinement35_image497.png"/><Relationship Id="rIdSectorRefinement35_187" Type="http://schemas.openxmlformats.org/officeDocument/2006/relationships/image" Target="../media/sectorrefinement35_image522.png"/><Relationship Id="rIdSectorRefinement35_53" Type="http://schemas.openxmlformats.org/officeDocument/2006/relationships/image" Target="../media/sectorrefinement35_image548.png"/><Relationship Id="rIdSectorRefinement35_212" Type="http://schemas.openxmlformats.org/officeDocument/2006/relationships/image" Target="../media/sectorrefinement35_image129.png"/><Relationship Id="rIdSectorRefinement35_4" Type="http://schemas.openxmlformats.org/officeDocument/2006/relationships/image" Target="../media/sectorrefinement35_image271.png"/><Relationship Id="rIdSectorRefinement35_254" Type="http://schemas.openxmlformats.org/officeDocument/2006/relationships/image" Target="../media/sectorrefinement35_image302.png"/><Relationship Id="rIdSectorRefinement35_74" Type="http://schemas.openxmlformats.org/officeDocument/2006/relationships/image" Target="../media/sectorrefinement35_image320.png"/><Relationship Id="rIdSectorRefinement35_95" Type="http://schemas.openxmlformats.org/officeDocument/2006/relationships/image" Target="../media/sectorrefinement35_image353.png"/><Relationship Id="rIdSectorRefinement35_275" Type="http://schemas.openxmlformats.org/officeDocument/2006/relationships/image" Target="../media/sectorrefinement35_image510.png"/><Relationship Id="rIdSectorRefinement35_296" Type="http://schemas.openxmlformats.org/officeDocument/2006/relationships/image" Target="../media/sectorrefinement35_image121.png"/><Relationship Id="rIdSectorRefinement35_321" Type="http://schemas.openxmlformats.org/officeDocument/2006/relationships/image" Target="../media/sectorrefinement35_image252.png"/><Relationship Id="rIdSectorRefinement35_114" Type="http://schemas.openxmlformats.org/officeDocument/2006/relationships/image" Target="../media/sectorrefinement35_image266.png"/><Relationship Id="rIdSectorRefinement35_135" Type="http://schemas.openxmlformats.org/officeDocument/2006/relationships/image" Target="../media/sectorrefinement35_image453.png"/><Relationship Id="rIdSectorRefinement35_300" Type="http://schemas.openxmlformats.org/officeDocument/2006/relationships/image" Target="../media/sectorrefinement35_image469.png"/><Relationship Id="rIdSectorRefinement35_198" Type="http://schemas.openxmlformats.org/officeDocument/2006/relationships/image" Target="../media/sectorrefinement35_image150.png"/><Relationship Id="rIdSectorRefinement35_342" Type="http://schemas.openxmlformats.org/officeDocument/2006/relationships/image" Target="../media/sectorrefinement35_image165.png"/><Relationship Id="rIdSectorRefinement35_384" Type="http://schemas.openxmlformats.org/officeDocument/2006/relationships/image" Target="../media/sectorrefinement35_image167.png"/><Relationship Id="rIdSectorRefinement35_177" Type="http://schemas.openxmlformats.org/officeDocument/2006/relationships/image" Target="../media/sectorrefinement35_image216.png"/><Relationship Id="rIdSectorRefinement35_22" Type="http://schemas.openxmlformats.org/officeDocument/2006/relationships/image" Target="../media/sectorrefinement35_image251.png"/><Relationship Id="rIdSectorRefinement35_363" Type="http://schemas.openxmlformats.org/officeDocument/2006/relationships/image" Target="../media/sectorrefinement35_image394.png"/><Relationship Id="rIdSectorRefinement35_156" Type="http://schemas.openxmlformats.org/officeDocument/2006/relationships/image" Target="../media/sectorrefinement35_image412.png"/><Relationship Id="rIdSectorRefinement35_419" Type="http://schemas.openxmlformats.org/officeDocument/2006/relationships/image" Target="../media/sectorrefinement35_image432.png"/><Relationship Id="rIdSectorRefinement35_265" Type="http://schemas.openxmlformats.org/officeDocument/2006/relationships/image" Target="../media/sectorrefinement35_image120.png"/><Relationship Id="rIdSectorRefinement35_430" Type="http://schemas.openxmlformats.org/officeDocument/2006/relationships/image" Target="../media/sectorrefinement35_image278.png"/><Relationship Id="rIdSectorRefinement35_223" Type="http://schemas.openxmlformats.org/officeDocument/2006/relationships/image" Target="../media/sectorrefinement35_image280.png"/><Relationship Id="rIdSectorRefinement35_202" Type="http://schemas.openxmlformats.org/officeDocument/2006/relationships/image" Target="../media/sectorrefinement35_image290.png"/><Relationship Id="rIdSectorRefinement35_244" Type="http://schemas.openxmlformats.org/officeDocument/2006/relationships/image" Target="../media/sectorrefinement35_image414.png"/><Relationship Id="rIdSectorRefinement35_85" Type="http://schemas.openxmlformats.org/officeDocument/2006/relationships/image" Target="../media/sectorrefinement35_image483.png"/><Relationship Id="rIdSectorRefinement35_64" Type="http://schemas.openxmlformats.org/officeDocument/2006/relationships/image" Target="../media/sectorrefinement35_image517.png"/><Relationship Id="rIdSectorRefinement35_43" Type="http://schemas.openxmlformats.org/officeDocument/2006/relationships/image" Target="../media/sectorrefinement35_image537.png"/><Relationship Id="rIdSectorRefinement35_286" Type="http://schemas.openxmlformats.org/officeDocument/2006/relationships/image" Target="../media/sectorrefinement35_image196.png"/><Relationship Id="rIdSectorRefinement35_104" Type="http://schemas.openxmlformats.org/officeDocument/2006/relationships/image" Target="../media/sectorrefinement35_image519.png"/><Relationship Id="rId2" Type="http://schemas.openxmlformats.org/officeDocument/2006/relationships/video" Target="../media/media6.mp4"/><Relationship Id="rIdSectorRefinement35_188" Type="http://schemas.openxmlformats.org/officeDocument/2006/relationships/image" Target="../media/sectorrefinement35_image182.png"/><Relationship Id="rIdSectorRefinement35_12" Type="http://schemas.openxmlformats.org/officeDocument/2006/relationships/image" Target="../media/sectorrefinement35_image185.png"/><Relationship Id="rIdSectorRefinement35_332" Type="http://schemas.openxmlformats.org/officeDocument/2006/relationships/image" Target="../media/sectorrefinement35_image263.png"/><Relationship Id="rIdSectorRefinement35_125" Type="http://schemas.openxmlformats.org/officeDocument/2006/relationships/image" Target="../media/sectorrefinement35_image277.png"/><Relationship Id="rIdSectorRefinement35_409" Type="http://schemas.openxmlformats.org/officeDocument/2006/relationships/image" Target="../media/sectorrefinement35_image298.png"/><Relationship Id="rIdSectorRefinement35_353" Type="http://schemas.openxmlformats.org/officeDocument/2006/relationships/image" Target="../media/sectorrefinement35_image439.png"/><Relationship Id="rIdSectorRefinement35_395" Type="http://schemas.openxmlformats.org/officeDocument/2006/relationships/image" Target="../media/sectorrefinement35_image441.png"/><Relationship Id="rIdSectorRefinement35_374" Type="http://schemas.openxmlformats.org/officeDocument/2006/relationships/image" Target="../media/sectorrefinement35_image462.png"/><Relationship Id="rIdSectorRefinement35_146" Type="http://schemas.openxmlformats.org/officeDocument/2006/relationships/image" Target="../media/sectorrefinement35_image465.png"/><Relationship Id="rIdSectorRefinement35_311" Type="http://schemas.openxmlformats.org/officeDocument/2006/relationships/image" Target="../media/sectorrefinement35_image480.png"/><Relationship Id="rIdSectorRefinement35_167" Type="http://schemas.openxmlformats.org/officeDocument/2006/relationships/image" Target="../media/sectorrefinement35_image532.png"/><Relationship Id="rIdSectorRefinement35_33" Type="http://schemas.openxmlformats.org/officeDocument/2006/relationships/image" Target="../media/sectorrefinement35_image122.png"/><Relationship Id="rIdSectorRefinement35_96" Type="http://schemas.openxmlformats.org/officeDocument/2006/relationships/image" Target="../media/sectorrefinement35_image146.png"/><Relationship Id="rIdSectorRefinement35_420" Type="http://schemas.openxmlformats.org/officeDocument/2006/relationships/image" Target="../media/sectorrefinement35_image267.png"/><Relationship Id="rIdSectorRefinement35_255" Type="http://schemas.openxmlformats.org/officeDocument/2006/relationships/image" Target="../media/sectorrefinement35_image316.png"/><Relationship Id="rIdSectorRefinement35_234" Type="http://schemas.openxmlformats.org/officeDocument/2006/relationships/image" Target="../media/sectorrefinement35_image326.png"/><Relationship Id="rIdSectorRefinement35_213" Type="http://schemas.openxmlformats.org/officeDocument/2006/relationships/image" Target="../media/sectorrefinement35_image336.png"/><Relationship Id="rIdSectorRefinement35_54" Type="http://schemas.openxmlformats.org/officeDocument/2006/relationships/image" Target="../media/sectorrefinement35_image393.png"/><Relationship Id="rIdSectorRefinement35_5" Type="http://schemas.openxmlformats.org/officeDocument/2006/relationships/image" Target="../media/sectorrefinement35_image436.png"/><Relationship Id="rIdSectorRefinement35_75" Type="http://schemas.openxmlformats.org/officeDocument/2006/relationships/image" Target="../media/sectorrefinement35_image528.png"/><Relationship Id="rIdSectorRefinement35_297" Type="http://schemas.openxmlformats.org/officeDocument/2006/relationships/image" Target="../media/sectorrefinement35_image163.png"/><Relationship Id="rIdSectorRefinement35_157" Type="http://schemas.openxmlformats.org/officeDocument/2006/relationships/image" Target="../media/sectorrefinement35_image171.png"/><Relationship Id="rIdSectorRefinement35_343" Type="http://schemas.openxmlformats.org/officeDocument/2006/relationships/image" Target="../media/sectorrefinement35_image209.png"/><Relationship Id="rIdSectorRefinement35_199" Type="http://schemas.openxmlformats.org/officeDocument/2006/relationships/image" Target="../media/sectorrefinement35_image227.png"/><Relationship Id="rIdSectorRefinement35_178" Type="http://schemas.openxmlformats.org/officeDocument/2006/relationships/image" Target="../media/sectorrefinement35_image237.png"/><Relationship Id="rIdSectorRefinement35_322" Type="http://schemas.openxmlformats.org/officeDocument/2006/relationships/image" Target="../media/sectorrefinement35_image294.png"/><Relationship Id="rIdSectorRefinement35_385" Type="http://schemas.openxmlformats.org/officeDocument/2006/relationships/image" Target="../media/sectorrefinement35_image374.png"/><Relationship Id="rIdSectorRefinement35_364" Type="http://schemas.openxmlformats.org/officeDocument/2006/relationships/image" Target="../media/sectorrefinement35_image450.png"/><Relationship Id="rIdSectorRefinement35_115" Type="http://schemas.openxmlformats.org/officeDocument/2006/relationships/image" Target="../media/sectorrefinement35_image474.png"/><Relationship Id="rIdSectorRefinement35_136" Type="http://schemas.openxmlformats.org/officeDocument/2006/relationships/image" Target="../media/sectorrefinement35_image496.png"/><Relationship Id="rIdSectorRefinement35_301" Type="http://schemas.openxmlformats.org/officeDocument/2006/relationships/image" Target="../media/sectorrefinement35_image511.png"/><Relationship Id="rIdSectorRefinement35_44" Type="http://schemas.openxmlformats.org/officeDocument/2006/relationships/image" Target="../media/sectorrefinement35_image133.png"/><Relationship Id="rIdSectorRefinement35_65" Type="http://schemas.openxmlformats.org/officeDocument/2006/relationships/image" Target="../media/sectorrefinement35_image362.png"/><Relationship Id="rIdSectorRefinement35_23" Type="http://schemas.openxmlformats.org/officeDocument/2006/relationships/image" Target="../media/sectorrefinement35_image402.png"/><Relationship Id="rIdSectorRefinement35_203" Type="http://schemas.openxmlformats.org/officeDocument/2006/relationships/image" Target="../media/sectorrefinement35_image413.png"/><Relationship Id="rIdSectorRefinement35_224" Type="http://schemas.openxmlformats.org/officeDocument/2006/relationships/image" Target="../media/sectorrefinement35_image424.png"/><Relationship Id="rIdSectorRefinement35_410" Type="http://schemas.openxmlformats.org/officeDocument/2006/relationships/image" Target="../media/sectorrefinement35_image464.png"/><Relationship Id="rIdSectorRefinement35_86" Type="http://schemas.openxmlformats.org/officeDocument/2006/relationships/image" Target="../media/sectorrefinement35_image539.png"/><Relationship Id="rIdSectorRefinement35_266" Type="http://schemas.openxmlformats.org/officeDocument/2006/relationships/image" Target="../media/sectorrefinement35_image141.png"/><Relationship Id="rIdSectorRefinement35_287" Type="http://schemas.openxmlformats.org/officeDocument/2006/relationships/image" Target="../media/sectorrefinement35_image250.png"/><Relationship Id="rIdSectorRefinement35_245" Type="http://schemas.openxmlformats.org/officeDocument/2006/relationships/image" Target="../media/sectorrefinement35_image435.png"/><Relationship Id="rIdSectorRefinement35_431" Type="http://schemas.openxmlformats.org/officeDocument/2006/relationships/image" Target="../media/sectorrefinement35_image443.png"/><Relationship Id="rId3" Type="http://schemas.openxmlformats.org/officeDocument/2006/relationships/slideLayout" Target="../slideLayouts/slideLayout12.xml"/><Relationship Id="rIdSectorRefinement35_105" Type="http://schemas.openxmlformats.org/officeDocument/2006/relationships/image" Target="../media/sectorrefinement35_image119.png"/><Relationship Id="rIdSectorRefinement35_375" Type="http://schemas.openxmlformats.org/officeDocument/2006/relationships/image" Target="../media/sectorrefinement35_image200.png"/><Relationship Id="rIdSectorRefinement35_189" Type="http://schemas.openxmlformats.org/officeDocument/2006/relationships/image" Target="../media/sectorrefinement35_image204.png"/><Relationship Id="rIdSectorRefinement35_312" Type="http://schemas.openxmlformats.org/officeDocument/2006/relationships/image" Target="../media/sectorrefinement35_image283.png"/><Relationship Id="rIdSectorRefinement35_168" Type="http://schemas.openxmlformats.org/officeDocument/2006/relationships/image" Target="../media/sectorrefinement35_image314.png"/><Relationship Id="rIdSectorRefinement35_354" Type="http://schemas.openxmlformats.org/officeDocument/2006/relationships/image" Target="../media/sectorrefinement35_image482.png"/><Relationship Id="rIdSectorRefinement35_126" Type="http://schemas.openxmlformats.org/officeDocument/2006/relationships/image" Target="../media/sectorrefinement35_image485.png"/><Relationship Id="rIdSectorRefinement35_333" Type="http://schemas.openxmlformats.org/officeDocument/2006/relationships/image" Target="../media/sectorrefinement35_image502.png"/><Relationship Id="rIdSectorRefinement35_147" Type="http://schemas.openxmlformats.org/officeDocument/2006/relationships/image" Target="../media/sectorrefinement35_image507.png"/><Relationship Id="rIdSectorRefinement35_396" Type="http://schemas.openxmlformats.org/officeDocument/2006/relationships/image" Target="../media/sectorrefinement35_image179.png"/><Relationship Id="rIdSectorRefinement35_34" Type="http://schemas.openxmlformats.org/officeDocument/2006/relationships/image" Target="../media/sectorrefinement35_image220.png"/><Relationship Id="rIdSectorRefinement35_13" Type="http://schemas.openxmlformats.org/officeDocument/2006/relationships/image" Target="../media/sectorrefinement35_image240.png"/><Relationship Id="rIdSectorRefinement35_400" Type="http://schemas.openxmlformats.org/officeDocument/2006/relationships/image" Target="../media/sectorrefinement35_image312.png"/><Relationship Id="rIdSectorRefinement35_214" Type="http://schemas.openxmlformats.org/officeDocument/2006/relationships/image" Target="../media/sectorrefinement35_image357.png"/><Relationship Id="rIdSectorRefinement35_76" Type="http://schemas.openxmlformats.org/officeDocument/2006/relationships/image" Target="../media/sectorrefinement35_image373.png"/><Relationship Id="rIdSectorRefinement35_97" Type="http://schemas.openxmlformats.org/officeDocument/2006/relationships/image" Target="../media/sectorrefinement35_image395.png"/><Relationship Id="rIdSectorRefinement35_55" Type="http://schemas.openxmlformats.org/officeDocument/2006/relationships/image" Target="../media/sectorrefinement35_image449.png"/><Relationship Id="rIdSectorRefinement35_6" Type="http://schemas.openxmlformats.org/officeDocument/2006/relationships/image" Target="../media/sectorrefinement35_image479.png"/><Relationship Id="rIdSectorRefinement35_298" Type="http://schemas.openxmlformats.org/officeDocument/2006/relationships/image" Target="../media/sectorrefinement35_image261.png"/><Relationship Id="rIdSectorRefinement35_277" Type="http://schemas.openxmlformats.org/officeDocument/2006/relationships/image" Target="../media/sectorrefinement35_image292.png"/><Relationship Id="rIdSectorRefinement35_421" Type="http://schemas.openxmlformats.org/officeDocument/2006/relationships/image" Target="../media/sectorrefinement35_image309.png"/><Relationship Id="rIdSectorRefinement35_256" Type="http://schemas.openxmlformats.org/officeDocument/2006/relationships/image" Target="../media/sectorrefinement35_image337.png"/><Relationship Id="rIdSectorRefinement35_235" Type="http://schemas.openxmlformats.org/officeDocument/2006/relationships/image" Target="../media/sectorrefinement35_image347.png"/><Relationship Id="rIdSectorRefinement35_365" Type="http://schemas.openxmlformats.org/officeDocument/2006/relationships/image" Target="../media/sectorrefinement35_image118.png"/><Relationship Id="rIdSectorRefinement35_158" Type="http://schemas.openxmlformats.org/officeDocument/2006/relationships/image" Target="../media/sectorrefinement35_image193.png"/><Relationship Id="rIdSectorRefinement35_302" Type="http://schemas.openxmlformats.org/officeDocument/2006/relationships/image" Target="../media/sectorrefinement35_image207.png"/><Relationship Id="rIdSectorRefinement35_344" Type="http://schemas.openxmlformats.org/officeDocument/2006/relationships/image" Target="../media/sectorrefinement35_image232.png"/><Relationship Id="rIdSectorRefinement35_179" Type="http://schemas.openxmlformats.org/officeDocument/2006/relationships/image" Target="../media/sectorrefinement35_image258.png"/><Relationship Id="rIdSectorRefinement35_116" Type="http://schemas.openxmlformats.org/officeDocument/2006/relationships/image" Target="../media/sectorrefinement35_image308.png"/><Relationship Id="rIdSectorRefinement35_137" Type="http://schemas.openxmlformats.org/officeDocument/2006/relationships/image" Target="../media/sectorrefinement35_image313.png"/><Relationship Id="rIdSectorRefinement35_323" Type="http://schemas.openxmlformats.org/officeDocument/2006/relationships/image" Target="../media/sectorrefinement35_image491.png"/><Relationship Id="rIdSectorRefinement35_45" Type="http://schemas.openxmlformats.org/officeDocument/2006/relationships/image" Target="../media/sectorrefinement35_image231.png"/><Relationship Id="rIdSectorRefinement35_87" Type="http://schemas.openxmlformats.org/officeDocument/2006/relationships/image" Target="../media/sectorrefinement35_image342.png"/><Relationship Id="rIdSectorRefinement35_66" Type="http://schemas.openxmlformats.org/officeDocument/2006/relationships/image" Target="../media/sectorrefinement35_image404.png"/><Relationship Id="rIdSectorRefinement35_24" Type="http://schemas.openxmlformats.org/officeDocument/2006/relationships/image" Target="../media/sectorrefinement35_image416.png"/><Relationship Id="rIdSectorRefinement35_386" Type="http://schemas.openxmlformats.org/officeDocument/2006/relationships/image" Target="../media/sectorrefinement35_image430.png"/><Relationship Id="rIdSectorRefinement35_204" Type="http://schemas.openxmlformats.org/officeDocument/2006/relationships/image" Target="../media/sectorrefinement35_image434.png"/><Relationship Id="rIdSectorRefinement35_267" Type="http://schemas.openxmlformats.org/officeDocument/2006/relationships/image" Target="../media/sectorrefinement35_image162.png"/><Relationship Id="rIdSectorRefinement35_190" Type="http://schemas.openxmlformats.org/officeDocument/2006/relationships/image" Target="../media/sectorrefinement35_image325.png"/><Relationship Id="rIdSectorRefinement35_225" Type="http://schemas.openxmlformats.org/officeDocument/2006/relationships/image" Target="../media/sectorrefinement35_image445.png"/><Relationship Id="rIdSectorRefinement35_246" Type="http://schemas.openxmlformats.org/officeDocument/2006/relationships/image" Target="../media/sectorrefinement35_image456.png"/><Relationship Id="rIdSectorRefinement35_288" Type="http://schemas.openxmlformats.org/officeDocument/2006/relationships/image" Target="../media/sectorrefinement35_image457.png"/><Relationship Id="rIdSectorRefinement35_432" Type="http://schemas.openxmlformats.org/officeDocument/2006/relationships/image" Target="../media/sectorrefinement35_image486.png"/><Relationship Id="rIdSectorRefinement35_411" Type="http://schemas.openxmlformats.org/officeDocument/2006/relationships/image" Target="../media/sectorrefinement35_image506.png"/><Relationship Id="rId4" Type="http://schemas.openxmlformats.org/officeDocument/2006/relationships/notesSlide" Target="../notesSlides/notesSlide30.xml"/><Relationship Id="rIdSectorRefinement35_334" Type="http://schemas.openxmlformats.org/officeDocument/2006/relationships/image" Target="../media/sectorrefinement35_image305.png"/><Relationship Id="rIdSectorRefinement35_106" Type="http://schemas.openxmlformats.org/officeDocument/2006/relationships/image" Target="../media/sectorrefinement35_image322.png"/><Relationship Id="rIdSectorRefinement35_313" Type="http://schemas.openxmlformats.org/officeDocument/2006/relationships/image" Target="../media/sectorrefinement35_image339.png"/><Relationship Id="rIdSectorRefinement35_148" Type="http://schemas.openxmlformats.org/officeDocument/2006/relationships/image" Target="../media/sectorrefinement35_image521.png"/><Relationship Id="rIdSectorRefinement35_127" Type="http://schemas.openxmlformats.org/officeDocument/2006/relationships/image" Target="../media/sectorrefinement35_image541.png"/><Relationship Id="rIdSectorRefinement35_56" Type="http://schemas.openxmlformats.org/officeDocument/2006/relationships/image" Target="../media/sectorrefinement35_image144.png"/><Relationship Id="rIdSectorRefinement35_397" Type="http://schemas.openxmlformats.org/officeDocument/2006/relationships/image" Target="../media/sectorrefinement35_image245.png"/><Relationship Id="rIdSectorRefinement35_355" Type="http://schemas.openxmlformats.org/officeDocument/2006/relationships/image" Target="../media/sectorrefinement35_image285.png"/><Relationship Id="rIdSectorRefinement35_14" Type="http://schemas.openxmlformats.org/officeDocument/2006/relationships/image" Target="../media/sectorrefinement35_image447.png"/><Relationship Id="rIdSectorRefinement35_257" Type="http://schemas.openxmlformats.org/officeDocument/2006/relationships/image" Target="../media/sectorrefinement35_image358.png"/><Relationship Id="rIdSectorRefinement35_215" Type="http://schemas.openxmlformats.org/officeDocument/2006/relationships/image" Target="../media/sectorrefinement35_image378.png"/><Relationship Id="rIdSectorRefinement35_299" Type="http://schemas.openxmlformats.org/officeDocument/2006/relationships/image" Target="../media/sectorrefinement35_image426.png"/><Relationship Id="rIdSectorRefinement35_98" Type="http://schemas.openxmlformats.org/officeDocument/2006/relationships/image" Target="../media/sectorrefinement35_image451.png"/><Relationship Id="rIdSectorRefinement35_422" Type="http://schemas.openxmlformats.org/officeDocument/2006/relationships/image" Target="../media/sectorrefinement35_image475.png"/><Relationship Id="rIdSectorRefinement35_324" Type="http://schemas.openxmlformats.org/officeDocument/2006/relationships/image" Target="../media/sectorrefinement35_image516.png"/><Relationship Id="rIdSectorRefinement35_117" Type="http://schemas.openxmlformats.org/officeDocument/2006/relationships/image" Target="../media/sectorrefinement35_image530.png"/><Relationship Id="rIdSectorRefinement35_159" Type="http://schemas.openxmlformats.org/officeDocument/2006/relationships/image" Target="../media/sectorrefinement35_image247.png"/><Relationship Id="rIdSectorRefinement35_366" Type="http://schemas.openxmlformats.org/officeDocument/2006/relationships/image" Target="../media/sectorrefinement35_image254.png"/><Relationship Id="rIdSectorRefinement35_25" Type="http://schemas.openxmlformats.org/officeDocument/2006/relationships/image" Target="../media/sectorrefinement35_image458.png"/><Relationship Id="rIdSectorRefinement35_268" Type="http://schemas.openxmlformats.org/officeDocument/2006/relationships/image" Target="../media/sectorrefinement35_image184.png"/><Relationship Id="rIdSectorRefinement35_170" Type="http://schemas.openxmlformats.org/officeDocument/2006/relationships/image" Target="../media/sectorrefinement35_image356.png"/><Relationship Id="rIdSectorRefinement35_67" Type="http://schemas.openxmlformats.org/officeDocument/2006/relationships/image" Target="../media/sectorrefinement35_image418.png"/><Relationship Id="rIdSectorRefinement35_226" Type="http://schemas.openxmlformats.org/officeDocument/2006/relationships/image" Target="../media/sectorrefinement35_image467.png"/><Relationship Id="rIdSectorRefinement35_433" Type="http://schemas.openxmlformats.org/officeDocument/2006/relationships/image" Target="../media/sectorrefinement35_image542.png"/><Relationship Id="rIdSectorRefinement35_128" Type="http://schemas.openxmlformats.org/officeDocument/2006/relationships/image" Target="../media/sectorrefinement35_image344.png"/><Relationship Id="rIdSectorRefinement35_377" Type="http://schemas.openxmlformats.org/officeDocument/2006/relationships/image" Target="../media/sectorrefinement35_image265.png"/><Relationship Id="rIdSectorRefinement35_335" Type="http://schemas.openxmlformats.org/officeDocument/2006/relationships/image" Target="../media/sectorrefinement35_image319.png"/><Relationship Id="rIdSectorRefinement35_36" Type="http://schemas.openxmlformats.org/officeDocument/2006/relationships/image" Target="../media/sectorrefinement35_image470.png"/><Relationship Id="rIdSectorRefinement35_78" Type="http://schemas.openxmlformats.org/officeDocument/2006/relationships/image" Target="../media/sectorrefinement35_image166.png"/><Relationship Id="rIdSectorRefinement35_181" Type="http://schemas.openxmlformats.org/officeDocument/2006/relationships/image" Target="../media/sectorrefinement35_image300.png"/><Relationship Id="rIdSectorRefinement35_8" Type="http://schemas.openxmlformats.org/officeDocument/2006/relationships/image" Target="../media/sectorrefinement35_image338.png"/><Relationship Id="rIdSectorRefinement35_402" Type="http://schemas.openxmlformats.org/officeDocument/2006/relationships/image" Target="../media/sectorrefinement35_image354.png"/><Relationship Id="rIdSectorRefinement35_237" Type="http://schemas.openxmlformats.org/officeDocument/2006/relationships/image" Target="../media/sectorrefinement35_image389.png"/><Relationship Id="rIdSectorRefinement35_279" Type="http://schemas.openxmlformats.org/officeDocument/2006/relationships/image" Target="../media/sectorrefinement35_image348.png"/><Relationship Id="rIdSectorRefinement35_388" Type="http://schemas.openxmlformats.org/officeDocument/2006/relationships/image" Target="../media/sectorrefinement35_image234.png"/><Relationship Id="rIdSectorRefinement35_346" Type="http://schemas.openxmlformats.org/officeDocument/2006/relationships/image" Target="../media/sectorrefinement35_image274.png"/><Relationship Id="rIdSectorRefinement35_290" Type="http://schemas.openxmlformats.org/officeDocument/2006/relationships/image" Target="../media/sectorrefinement35_image303.png"/><Relationship Id="rIdSectorRefinement35_304" Type="http://schemas.openxmlformats.org/officeDocument/2006/relationships/image" Target="../media/sectorrefinement35_image328.png"/><Relationship Id="rIdSectorRefinement35_139" Type="http://schemas.openxmlformats.org/officeDocument/2006/relationships/image" Target="../media/sectorrefinement35_image397.png"/><Relationship Id="rIdSectorRefinement35_248" Type="http://schemas.openxmlformats.org/officeDocument/2006/relationships/image" Target="../media/sectorrefinement35_image151.png"/><Relationship Id="rIdSectorRefinement35_89" Type="http://schemas.openxmlformats.org/officeDocument/2006/relationships/image" Target="../media/sectorrefinement35_image178.png"/><Relationship Id="rIdSectorRefinement35_413" Type="http://schemas.openxmlformats.org/officeDocument/2006/relationships/image" Target="../media/sectorrefinement35_image323.png"/><Relationship Id="rIdSectorRefinement35_150" Type="http://schemas.openxmlformats.org/officeDocument/2006/relationships/image" Target="../media/sectorrefinement35_image366.png"/><Relationship Id="rIdSectorRefinement35_47" Type="http://schemas.openxmlformats.org/officeDocument/2006/relationships/image" Target="../media/sectorrefinement35_image438.png"/><Relationship Id="rIdSectorRefinement35_206" Type="http://schemas.openxmlformats.org/officeDocument/2006/relationships/image" Target="../media/sectorrefinement35_image477.png"/><Relationship Id="rIdSectorRefinement35_192" Type="http://schemas.openxmlformats.org/officeDocument/2006/relationships/image" Target="../media/sectorrefinement35_image533.png"/><Relationship Id="rIdSectorRefinement35_108" Type="http://schemas.openxmlformats.org/officeDocument/2006/relationships/image" Target="../media/sectorrefinement35_image364.png"/><Relationship Id="rIdSectorRefinement35_357" Type="http://schemas.openxmlformats.org/officeDocument/2006/relationships/image" Target="../media/sectorrefinement35_image493.png"/><Relationship Id="rIdSectorRefinement35_315" Type="http://schemas.openxmlformats.org/officeDocument/2006/relationships/image" Target="../media/sectorrefinement35_image547.png"/><Relationship Id="rIdSectorRefinement35_58" Type="http://schemas.openxmlformats.org/officeDocument/2006/relationships/image" Target="../media/sectorrefinement35_image253.png"/><Relationship Id="rIdSectorRefinement35_161" Type="http://schemas.openxmlformats.org/officeDocument/2006/relationships/image" Target="../media/sectorrefinement35_image289.png"/><Relationship Id="rIdSectorRefinement35_424" Type="http://schemas.openxmlformats.org/officeDocument/2006/relationships/image" Target="../media/sectorrefinement35_image334.png"/><Relationship Id="rIdSectorRefinement35_399" Type="http://schemas.openxmlformats.org/officeDocument/2006/relationships/image" Target="../media/sectorrefinement35_image452.png"/><Relationship Id="rIdSectorRefinement35_217" Type="http://schemas.openxmlformats.org/officeDocument/2006/relationships/image" Target="../media/sectorrefinement35_image523.png"/><Relationship Id="rIdSectorRefinement35_259" Type="http://schemas.openxmlformats.org/officeDocument/2006/relationships/image" Target="../media/sectorrefinement35_image400.png"/><Relationship Id="rIdSectorRefinement35_270" Type="http://schemas.openxmlformats.org/officeDocument/2006/relationships/image" Target="../media/sectorrefinement35_image260.png"/><Relationship Id="rIdSectorRefinement35_119" Type="http://schemas.openxmlformats.org/officeDocument/2006/relationships/image" Target="../media/sectorrefinement35_image333.png"/><Relationship Id="rIdSectorRefinement35_326" Type="http://schemas.openxmlformats.org/officeDocument/2006/relationships/image" Target="../media/sectorrefinement35_image350.png"/><Relationship Id="rIdSectorRefinement35_368" Type="http://schemas.openxmlformats.org/officeDocument/2006/relationships/image" Target="../media/sectorrefinement35_image504.png"/><Relationship Id="rIdSectorRefinement35_172" Type="http://schemas.openxmlformats.org/officeDocument/2006/relationships/image" Target="../media/sectorrefinement35_image128.png"/><Relationship Id="rIdSectorRefinement35_130" Type="http://schemas.openxmlformats.org/officeDocument/2006/relationships/image" Target="../media/sectorrefinement35_image137.png"/><Relationship Id="rIdSectorRefinement35_27" Type="http://schemas.openxmlformats.org/officeDocument/2006/relationships/image" Target="../media/sectorrefinement35_image197.png"/><Relationship Id="rIdSectorRefinement35_69" Type="http://schemas.openxmlformats.org/officeDocument/2006/relationships/image" Target="../media/sectorrefinement35_image199.png"/><Relationship Id="rIdSectorRefinement35_228" Type="http://schemas.openxmlformats.org/officeDocument/2006/relationships/image" Target="../media/sectorrefinement35_image183.png"/><Relationship Id="rIdSectorRefinement35_435" Type="http://schemas.openxmlformats.org/officeDocument/2006/relationships/image" Target="../media/sectorrefinement35_image345.png"/><Relationship Id="rIdSectorRefinement35_80" Type="http://schemas.openxmlformats.org/officeDocument/2006/relationships/image" Target="../media/sectorrefinement35_image472.png"/><Relationship Id="rIdSectorRefinement35_281" Type="http://schemas.openxmlformats.org/officeDocument/2006/relationships/image" Target="../media/sectorrefinement35_image390.png"/><Relationship Id="rIdSectorRefinement35_337" Type="http://schemas.openxmlformats.org/officeDocument/2006/relationships/image" Target="../media/sectorrefinement35_image527.png"/><Relationship Id="rIdSectorRefinement35_38" Type="http://schemas.openxmlformats.org/officeDocument/2006/relationships/image" Target="../media/sectorrefinement35_image208.png"/><Relationship Id="rIdSectorRefinement35_141" Type="http://schemas.openxmlformats.org/officeDocument/2006/relationships/image" Target="../media/sectorrefinement35_image215.png"/><Relationship Id="rIdSectorRefinement35_379" Type="http://schemas.openxmlformats.org/officeDocument/2006/relationships/image" Target="../media/sectorrefinement35_image321.png"/><Relationship Id="rIdSectorRefinement35_404" Type="http://schemas.openxmlformats.org/officeDocument/2006/relationships/image" Target="../media/sectorrefinement35_image147.png"/><Relationship Id="rIdSectorRefinement35_183" Type="http://schemas.openxmlformats.org/officeDocument/2006/relationships/image" Target="../media/sectorrefinement35_image444.png"/><Relationship Id="rIdSectorRefinement35_390" Type="http://schemas.openxmlformats.org/officeDocument/2006/relationships/image" Target="../media/sectorrefinement35_image484.png"/><Relationship Id="rIdSectorRefinement35_239" Type="http://schemas.openxmlformats.org/officeDocument/2006/relationships/image" Target="../media/sectorrefinement35_image513.png"/><Relationship Id="rIdSectorRefinement35_250" Type="http://schemas.openxmlformats.org/officeDocument/2006/relationships/image" Target="../media/sectorrefinement35_image195.png"/><Relationship Id="rIdSectorRefinement35_292" Type="http://schemas.openxmlformats.org/officeDocument/2006/relationships/image" Target="../media/sectorrefinement35_image359.png"/><Relationship Id="rIdSectorRefinement35_306" Type="http://schemas.openxmlformats.org/officeDocument/2006/relationships/image" Target="../media/sectorrefinement35_image370.png"/><Relationship Id="rIdSectorRefinement35_91" Type="http://schemas.openxmlformats.org/officeDocument/2006/relationships/image" Target="../media/sectorrefinement35_image440.png"/><Relationship Id="rIdSectorRefinement35_152" Type="http://schemas.openxmlformats.org/officeDocument/2006/relationships/image" Target="../media/sectorrefinement35_image159.png"/><Relationship Id="rIdSectorRefinement35_49" Type="http://schemas.openxmlformats.org/officeDocument/2006/relationships/image" Target="../media/sectorrefinement35_image242.png"/><Relationship Id="rIdSectorRefinement35_110" Type="http://schemas.openxmlformats.org/officeDocument/2006/relationships/image" Target="../media/sectorrefinement35_image420.png"/><Relationship Id="rIdSectorRefinement35_348" Type="http://schemas.openxmlformats.org/officeDocument/2006/relationships/image" Target="../media/sectorrefinement35_image538.png"/><Relationship Id="rIdSectorRefinement35_60" Type="http://schemas.openxmlformats.org/officeDocument/2006/relationships/image" Target="../media/sectorrefinement35_image117.png"/><Relationship Id="rIdSectorRefinement35_194" Type="http://schemas.openxmlformats.org/officeDocument/2006/relationships/image" Target="../media/sectorrefinement35_image139.png"/><Relationship Id="rIdSectorRefinement35_208" Type="http://schemas.openxmlformats.org/officeDocument/2006/relationships/image" Target="../media/sectorrefinement35_image194.png"/><Relationship Id="rIdSectorRefinement35_415" Type="http://schemas.openxmlformats.org/officeDocument/2006/relationships/image" Target="../media/sectorrefinement35_image407.png"/><Relationship Id="rIdSectorRefinement35_317" Type="http://schemas.openxmlformats.org/officeDocument/2006/relationships/image" Target="../media/sectorrefinement35_image241.png"/><Relationship Id="rIdSectorRefinement35_261" Type="http://schemas.openxmlformats.org/officeDocument/2006/relationships/image" Target="../media/sectorrefinement35_image545.png"/><Relationship Id="rIdSectorRefinement35_18" Type="http://schemas.openxmlformats.org/officeDocument/2006/relationships/image" Target="../media/sectorrefinement35_image349.png"/><Relationship Id="rIdSectorRefinement35_359" Type="http://schemas.openxmlformats.org/officeDocument/2006/relationships/image" Target="../media/sectorrefinement35_image352.png"/><Relationship Id="rIdSectorRefinement35_121" Type="http://schemas.openxmlformats.org/officeDocument/2006/relationships/image" Target="../media/sectorrefinement35_image431.png"/><Relationship Id="rIdSectorRefinement35_426" Type="http://schemas.openxmlformats.org/officeDocument/2006/relationships/image" Target="../media/sectorrefinement35_image127.png"/><Relationship Id="rIdSectorRefinement35_219" Type="http://schemas.openxmlformats.org/officeDocument/2006/relationships/image" Target="../media/sectorrefinement35_image140.png"/><Relationship Id="rIdSectorRefinement35_370" Type="http://schemas.openxmlformats.org/officeDocument/2006/relationships/image" Target="../media/sectorrefinement35_image363.png"/><Relationship Id="rIdSectorRefinement35_163" Type="http://schemas.openxmlformats.org/officeDocument/2006/relationships/image" Target="../media/sectorrefinement35_image433.png"/><Relationship Id="rIdSectorRefinement35_230" Type="http://schemas.openxmlformats.org/officeDocument/2006/relationships/image" Target="../media/sectorrefinement35_image301.png"/><Relationship Id="rIdSectorRefinement35_1" Type="http://schemas.openxmlformats.org/officeDocument/2006/relationships/image" Target="../media/sectorrefinement35_image411.png"/><Relationship Id="rIdSectorRefinement35_272" Type="http://schemas.openxmlformats.org/officeDocument/2006/relationships/image" Target="../media/sectorrefinement35_image446.png"/><Relationship Id="rIdSectorRefinement35_71" Type="http://schemas.openxmlformats.org/officeDocument/2006/relationships/image" Target="../media/sectorrefinement35_image460.png"/><Relationship Id="rIdSectorRefinement35_29" Type="http://schemas.openxmlformats.org/officeDocument/2006/relationships/image" Target="../media/sectorrefinement35_image304.png"/><Relationship Id="rIdSectorRefinement35_328" Type="http://schemas.openxmlformats.org/officeDocument/2006/relationships/image" Target="../media/sectorrefinement35_image417.png"/><Relationship Id="rIdSectorRefinement35_132" Type="http://schemas.openxmlformats.org/officeDocument/2006/relationships/image" Target="../media/sectorrefinement35_image246.png"/><Relationship Id="rIdSectorRefinement35_174" Type="http://schemas.openxmlformats.org/officeDocument/2006/relationships/image" Target="../media/sectorrefinement35_image377.png"/><Relationship Id="rIdSectorRefinement35_381" Type="http://schemas.openxmlformats.org/officeDocument/2006/relationships/image" Target="../media/sectorrefinement35_image529.png"/><Relationship Id="rIdSectorRefinement35_241" Type="http://schemas.openxmlformats.org/officeDocument/2006/relationships/image" Target="../media/sectorrefinement35_image228.png"/><Relationship Id="rIdSectorRefinement35_82" Type="http://schemas.openxmlformats.org/officeDocument/2006/relationships/image" Target="../media/sectorrefinement35_image233.png"/><Relationship Id="rIdSectorRefinement35_40" Type="http://schemas.openxmlformats.org/officeDocument/2006/relationships/image" Target="../media/sectorrefinement35_image329.png"/><Relationship Id="rIdSectorRefinement35_339" Type="http://schemas.openxmlformats.org/officeDocument/2006/relationships/image" Target="../media/sectorrefinement35_image221.png"/><Relationship Id="rIdSectorRefinement35_101" Type="http://schemas.openxmlformats.org/officeDocument/2006/relationships/image" Target="../media/sectorrefinement35_image255.png"/><Relationship Id="rIdSectorRefinement35_283" Type="http://schemas.openxmlformats.org/officeDocument/2006/relationships/image" Target="../media/sectorrefinement35_image535.png"/><Relationship Id="rIdSectorRefinement35_350" Type="http://schemas.openxmlformats.org/officeDocument/2006/relationships/image" Target="../media/sectorrefinement35_image134.png"/><Relationship Id="rIdSectorRefinement35_392" Type="http://schemas.openxmlformats.org/officeDocument/2006/relationships/image" Target="../media/sectorrefinement35_image136.png"/><Relationship Id="rIdSectorRefinement35_143" Type="http://schemas.openxmlformats.org/officeDocument/2006/relationships/image" Target="../media/sectorrefinement35_image203.png"/><Relationship Id="rIdSectorRefinement35_406" Type="http://schemas.openxmlformats.org/officeDocument/2006/relationships/image" Target="../media/sectorrefinement35_image214.png"/><Relationship Id="rIdSectorRefinement35_185" Type="http://schemas.openxmlformats.org/officeDocument/2006/relationships/image" Target="../media/sectorrefinement35_image487.png"/><Relationship Id="rIdSectorRefinement35_51" Type="http://schemas.openxmlformats.org/officeDocument/2006/relationships/image" Target="../media/sectorrefinement35_image284.png"/><Relationship Id="rIdSectorRefinement35_93" Type="http://schemas.openxmlformats.org/officeDocument/2006/relationships/image" Target="../media/sectorrefinement35_image286.png"/><Relationship Id="rIdSectorRefinement35_210" Type="http://schemas.openxmlformats.org/officeDocument/2006/relationships/image" Target="../media/sectorrefinement35_image315.png"/><Relationship Id="rIdSectorRefinement35_308" Type="http://schemas.openxmlformats.org/officeDocument/2006/relationships/image" Target="../media/sectorrefinement35_image175.png"/><Relationship Id="rIdSectorRefinement35_294" Type="http://schemas.openxmlformats.org/officeDocument/2006/relationships/image" Target="../media/sectorrefinement35_image219.png"/><Relationship Id="rIdSectorRefinement35_252" Type="http://schemas.openxmlformats.org/officeDocument/2006/relationships/image" Target="../media/sectorrefinement35_image478.png"/><Relationship Id="rIdSectorRefinement35_417" Type="http://schemas.openxmlformats.org/officeDocument/2006/relationships/image" Target="../media/sectorrefinement35_image158.png"/><Relationship Id="rIdSectorRefinement35_361" Type="http://schemas.openxmlformats.org/officeDocument/2006/relationships/image" Target="../media/sectorrefinement35_image188.png"/><Relationship Id="rIdSectorRefinement35_112" Type="http://schemas.openxmlformats.org/officeDocument/2006/relationships/image" Target="../media/sectorrefinement35_image201.png"/><Relationship Id="rIdSectorRefinement35_154" Type="http://schemas.openxmlformats.org/officeDocument/2006/relationships/image" Target="../media/sectorrefinement35_image387.png"/><Relationship Id="rIdSectorRefinement35_196" Type="http://schemas.openxmlformats.org/officeDocument/2006/relationships/image" Target="../media/sectorrefinement35_image388.png"/><Relationship Id="rIdSectorRefinement35_221" Type="http://schemas.openxmlformats.org/officeDocument/2006/relationships/image" Target="../media/sectorrefinement35_image238.png"/><Relationship Id="rIdSectorRefinement35_62" Type="http://schemas.openxmlformats.org/officeDocument/2006/relationships/image" Target="../media/sectorrefinement35_image351.png"/><Relationship Id="rIdSectorRefinement35_20" Type="http://schemas.openxmlformats.org/officeDocument/2006/relationships/image" Target="../media/sectorrefinement35_image391.png"/><Relationship Id="rIdSectorRefinement35_263" Type="http://schemas.openxmlformats.org/officeDocument/2006/relationships/image" Target="../media/sectorrefinement35_image239.png"/><Relationship Id="rIdSectorRefinement35_319" Type="http://schemas.openxmlformats.org/officeDocument/2006/relationships/image" Target="../media/sectorrefinement35_image448.png"/><Relationship Id="rIdSectorRefinement35_330" Type="http://schemas.openxmlformats.org/officeDocument/2006/relationships/image" Target="../media/sectorrefinement35_image154.png"/><Relationship Id="rIdSectorRefinement35_123" Type="http://schemas.openxmlformats.org/officeDocument/2006/relationships/image" Target="../media/sectorrefinement35_image235.png"/><Relationship Id="rIdSectorRefinement35_372" Type="http://schemas.openxmlformats.org/officeDocument/2006/relationships/image" Target="../media/sectorrefinement35_image405.png"/><Relationship Id="rIdSectorRefinement35_165" Type="http://schemas.openxmlformats.org/officeDocument/2006/relationships/image" Target="../media/sectorrefinement35_image476.png"/><Relationship Id="rIdSectorRefinement35_3" Type="http://schemas.openxmlformats.org/officeDocument/2006/relationships/image" Target="../media/sectorrefinement35_image174.png"/><Relationship Id="rIdSectorRefinement35_428" Type="http://schemas.openxmlformats.org/officeDocument/2006/relationships/image" Target="../media/sectorrefinement35_image236.png"/><Relationship Id="rIdSectorRefinement35_73" Type="http://schemas.openxmlformats.org/officeDocument/2006/relationships/image" Target="../media/sectorrefinement35_image306.png"/><Relationship Id="rIdSectorRefinement35_31" Type="http://schemas.openxmlformats.org/officeDocument/2006/relationships/image" Target="../media/sectorrefinement35_image526.png"/><Relationship Id="rIdSectorRefinement35_274" Type="http://schemas.openxmlformats.org/officeDocument/2006/relationships/image" Target="../media/sectorrefinement35_image489.png"/><Relationship Id="rIdSectorRefinement35_232" Type="http://schemas.openxmlformats.org/officeDocument/2006/relationships/image" Target="../media/sectorrefinement35_image509.png"/><Relationship Id="rIdSectorRefinement35_134" Type="http://schemas.openxmlformats.org/officeDocument/2006/relationships/image" Target="../media/sectorrefinement35_image288.png"/><Relationship Id="rIdSectorRefinement35_341" Type="http://schemas.openxmlformats.org/officeDocument/2006/relationships/image" Target="../media/sectorrefinement35_image428.png"/><Relationship Id="rIdSectorRefinement35_383" Type="http://schemas.openxmlformats.org/officeDocument/2006/relationships/image" Target="../media/sectorrefinement35_image125.png"/><Relationship Id="rIdSectorRefinement35_176" Type="http://schemas.openxmlformats.org/officeDocument/2006/relationships/image" Target="../media/sectorrefinement35_image160.png"/><Relationship Id="rIdSectorRefinement35_42" Type="http://schemas.openxmlformats.org/officeDocument/2006/relationships/image" Target="../media/sectorrefinement35_image371.png"/><Relationship Id="rIdSectorRefinement35_285" Type="http://schemas.openxmlformats.org/officeDocument/2006/relationships/image" Target="../media/sectorrefinement35_image152.png"/><Relationship Id="rIdSectorRefinement35_201" Type="http://schemas.openxmlformats.org/officeDocument/2006/relationships/image" Target="../media/sectorrefinement35_image269.png"/><Relationship Id="rIdSectorRefinement35_243" Type="http://schemas.openxmlformats.org/officeDocument/2006/relationships/image" Target="../media/sectorrefinement35_image270.png"/><Relationship Id="rIdSectorRefinement35_84" Type="http://schemas.openxmlformats.org/officeDocument/2006/relationships/image" Target="../media/sectorrefinement35_image331.png"/><Relationship Id="rId1" Type="http://schemas.microsoft.com/office/2007/relationships/media" Target="../media/media6.mp4"/><Relationship Id="rIdSectorRefinement35_145" Type="http://schemas.openxmlformats.org/officeDocument/2006/relationships/image" Target="../media/sectorrefinement35_image299.png"/><Relationship Id="rIdSectorRefinement35_310" Type="http://schemas.openxmlformats.org/officeDocument/2006/relationships/image" Target="../media/sectorrefinement35_image437.png"/><Relationship Id="rIdSectorRefinement35_103" Type="http://schemas.openxmlformats.org/officeDocument/2006/relationships/image" Target="../media/sectorrefinement35_image463.png"/></Relationships>
</file>

<file path=ppt/slides/_rels/slide37.xml.rels><?xml version="1.0" encoding="UTF-8" standalone="yes"?>
<Relationships xmlns="http://schemas.openxmlformats.org/package/2006/relationships"><Relationship Id="rIdSectorRefinement36_0" Type="http://schemas.openxmlformats.org/officeDocument/2006/relationships/image" Target="../media/sectorrefinement36_image550.png"/><Relationship Id="rIdSectorRefinement36_4" Type="http://schemas.openxmlformats.org/officeDocument/2006/relationships/image" Target="../media/sectorrefinement36_image552.png"/><Relationship Id="rId2" Type="http://schemas.openxmlformats.org/officeDocument/2006/relationships/notesSlide" Target="../notesSlides/notesSlide31.xml"/><Relationship Id="rIdSectorRefinement36_3" Type="http://schemas.openxmlformats.org/officeDocument/2006/relationships/image" Target="../media/sectorrefinement36_image553.png"/><Relationship Id="rId1" Type="http://schemas.openxmlformats.org/officeDocument/2006/relationships/slideLayout" Target="../slideLayouts/slideLayout12.xml"/><Relationship Id="rIdSectorRefinement36_5" Type="http://schemas.openxmlformats.org/officeDocument/2006/relationships/image" Target="../media/sectorrefinement36_image551.png"/></Relationships>
</file>

<file path=ppt/slides/_rels/slide38.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7.mp4"/><Relationship Id="rId16" Type="http://schemas.openxmlformats.org/officeDocument/2006/relationships/image" Target="../media/image701.png"/><Relationship Id="rId1" Type="http://schemas.microsoft.com/office/2007/relationships/media" Target="../media/media7.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106.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39.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8.mp4"/><Relationship Id="rIdEditable107" Type="http://schemas.openxmlformats.org/officeDocument/2006/relationships/image" Target="../media/editable_385_image159.png"/><Relationship Id="rId1" Type="http://schemas.microsoft.com/office/2007/relationships/media" Target="../media/media8.mp4"/><Relationship Id="rIdEditable102" Type="http://schemas.openxmlformats.org/officeDocument/2006/relationships/image" Target="../media/editable_380_image155.png"/><Relationship Id="rId6" Type="http://schemas.openxmlformats.org/officeDocument/2006/relationships/image" Target="../media/image1010.png"/><Relationship Id="rId5" Type="http://schemas.openxmlformats.org/officeDocument/2006/relationships/image" Target="../media/image107.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32.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40.xml.rels><?xml version="1.0" encoding="UTF-8" standalone="yes"?>
<Relationships xmlns="http://schemas.openxmlformats.org/package/2006/relationships"><Relationship Id="rIdSectorRefinement39_0" Type="http://schemas.openxmlformats.org/officeDocument/2006/relationships/image" Target="../media/sectorrefinement39_image562.png"/><Relationship Id="rIdSectorRefinement39_12" Type="http://schemas.openxmlformats.org/officeDocument/2006/relationships/image" Target="../media/sectorrefinement39_image563.png"/><Relationship Id="rIdSectorRefinement39_9" Type="http://schemas.openxmlformats.org/officeDocument/2006/relationships/image" Target="../media/sectorrefinement39_image558.png"/><Relationship Id="rIdSectorRefinement39_4" Type="http://schemas.openxmlformats.org/officeDocument/2006/relationships/image" Target="../media/sectorrefinement39_image566.png"/><Relationship Id="rId2" Type="http://schemas.openxmlformats.org/officeDocument/2006/relationships/notesSlide" Target="../notesSlides/notesSlide33.xml"/><Relationship Id="rIdSectorRefinement39_11" Type="http://schemas.openxmlformats.org/officeDocument/2006/relationships/image" Target="../media/sectorrefinement39_image557.png"/><Relationship Id="rIdSectorRefinement39_8" Type="http://schemas.openxmlformats.org/officeDocument/2006/relationships/image" Target="../media/sectorrefinement39_image565.png"/><Relationship Id="rId1" Type="http://schemas.openxmlformats.org/officeDocument/2006/relationships/slideLayout" Target="../slideLayouts/slideLayout12.xml"/><Relationship Id="rIdSectorRefinement39_3" Type="http://schemas.openxmlformats.org/officeDocument/2006/relationships/image" Target="../media/sectorrefinement39_image561.png"/><Relationship Id="rIdSectorRefinement39_7" Type="http://schemas.openxmlformats.org/officeDocument/2006/relationships/image" Target="../media/sectorrefinement39_image559.png"/><Relationship Id="rIdSectorRefinement39_10" Type="http://schemas.openxmlformats.org/officeDocument/2006/relationships/image" Target="../media/sectorrefinement39_image564.png"/><Relationship Id="rIdSectorRefinement39_2" Type="http://schemas.openxmlformats.org/officeDocument/2006/relationships/image" Target="../media/sectorrefinement39_image556.png"/><Relationship Id="rIdSectorRefinement39_1" Type="http://schemas.openxmlformats.org/officeDocument/2006/relationships/image" Target="../media/sectorrefinement39_image567.png"/></Relationships>
</file>

<file path=ppt/slides/_rels/slide41.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108.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34.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42.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10.mp4"/><Relationship Id="rId1" Type="http://schemas.microsoft.com/office/2007/relationships/media" Target="../media/media10.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109.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35.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43.xml.rels><?xml version="1.0" encoding="UTF-8" standalone="yes"?>
<Relationships xmlns="http://schemas.openxmlformats.org/package/2006/relationships"><Relationship Id="rId13" Type="http://schemas.openxmlformats.org/officeDocument/2006/relationships/image" Target="../media/image391.png"/><Relationship Id="rId18" Type="http://schemas.openxmlformats.org/officeDocument/2006/relationships/image" Target="../media/image521.png"/><Relationship Id="rId3" Type="http://schemas.openxmlformats.org/officeDocument/2006/relationships/image" Target="../media/image371.png"/><Relationship Id="rId12" Type="http://schemas.openxmlformats.org/officeDocument/2006/relationships/image" Target="../media/image382.png"/><Relationship Id="rId17" Type="http://schemas.openxmlformats.org/officeDocument/2006/relationships/image" Target="../media/image510.png"/><Relationship Id="rId2" Type="http://schemas.openxmlformats.org/officeDocument/2006/relationships/image" Target="../media/image361.png"/><Relationship Id="rId16" Type="http://schemas.openxmlformats.org/officeDocument/2006/relationships/image" Target="../media/image500.png"/><Relationship Id="rId1" Type="http://schemas.openxmlformats.org/officeDocument/2006/relationships/slideLayout" Target="../slideLayouts/slideLayout12.xml"/><Relationship Id="rId6" Type="http://schemas.openxmlformats.org/officeDocument/2006/relationships/image" Target="../media/image321.png"/><Relationship Id="rId11" Type="http://schemas.openxmlformats.org/officeDocument/2006/relationships/image" Target="../media/image1030.png"/><Relationship Id="rId5" Type="http://schemas.openxmlformats.org/officeDocument/2006/relationships/image" Target="../media/image970.png"/><Relationship Id="rId15" Type="http://schemas.openxmlformats.org/officeDocument/2006/relationships/image" Target="../media/image490.png"/><Relationship Id="rId4" Type="http://schemas.openxmlformats.org/officeDocument/2006/relationships/image" Target="../media/image960.png"/><Relationship Id="rId14" Type="http://schemas.openxmlformats.org/officeDocument/2006/relationships/image" Target="../media/image480.png"/></Relationships>
</file>

<file path=ppt/slides/_rels/slide44.xml.rels><?xml version="1.0" encoding="UTF-8" standalone="yes"?>
<Relationships xmlns="http://schemas.openxmlformats.org/package/2006/relationships"><Relationship Id="rId8" Type="http://schemas.openxmlformats.org/officeDocument/2006/relationships/image" Target="../media/image810.png"/><Relationship Id="rId3" Type="http://schemas.openxmlformats.org/officeDocument/2006/relationships/image" Target="../media/image540.png"/><Relationship Id="rId7" Type="http://schemas.openxmlformats.org/officeDocument/2006/relationships/image" Target="../media/image430.png"/><Relationship Id="rId2" Type="http://schemas.openxmlformats.org/officeDocument/2006/relationships/image" Target="../media/image530.png"/><Relationship Id="rId1" Type="http://schemas.openxmlformats.org/officeDocument/2006/relationships/slideLayout" Target="../slideLayouts/slideLayout12.xml"/><Relationship Id="rId6" Type="http://schemas.openxmlformats.org/officeDocument/2006/relationships/image" Target="../media/image421.png"/><Relationship Id="rId5" Type="http://schemas.openxmlformats.org/officeDocument/2006/relationships/image" Target="../media/image411.png"/><Relationship Id="rId10" Type="http://schemas.openxmlformats.org/officeDocument/2006/relationships/image" Target="../media/image830.png"/><Relationship Id="rId4" Type="http://schemas.openxmlformats.org/officeDocument/2006/relationships/image" Target="../media/image402.png"/><Relationship Id="rId9" Type="http://schemas.openxmlformats.org/officeDocument/2006/relationships/image" Target="../media/image820.png"/></Relationships>
</file>

<file path=ppt/slides/_rels/slide45.xml.rels><?xml version="1.0" encoding="UTF-8" standalone="yes"?>
<Relationships xmlns="http://schemas.openxmlformats.org/package/2006/relationships"><Relationship Id="rId8" Type="http://schemas.openxmlformats.org/officeDocument/2006/relationships/image" Target="../media/image640.png"/><Relationship Id="rId13" Type="http://schemas.openxmlformats.org/officeDocument/2006/relationships/image" Target="../media/image690.png"/><Relationship Id="rId18" Type="http://schemas.openxmlformats.org/officeDocument/2006/relationships/image" Target="../media/image720.png"/><Relationship Id="rId3" Type="http://schemas.openxmlformats.org/officeDocument/2006/relationships/image" Target="../media/image590.png"/><Relationship Id="rId7" Type="http://schemas.openxmlformats.org/officeDocument/2006/relationships/image" Target="../media/image630.png"/><Relationship Id="rId12" Type="http://schemas.openxmlformats.org/officeDocument/2006/relationships/image" Target="../media/image680.png"/><Relationship Id="rId17" Type="http://schemas.openxmlformats.org/officeDocument/2006/relationships/image" Target="../media/image710.png"/><Relationship Id="rId2" Type="http://schemas.openxmlformats.org/officeDocument/2006/relationships/image" Target="../media/image580.png"/><Relationship Id="rId16" Type="http://schemas.openxmlformats.org/officeDocument/2006/relationships/image" Target="../media/image860.png"/><Relationship Id="rId1" Type="http://schemas.openxmlformats.org/officeDocument/2006/relationships/slideLayout" Target="../slideLayouts/slideLayout12.xml"/><Relationship Id="rId6" Type="http://schemas.openxmlformats.org/officeDocument/2006/relationships/image" Target="../media/image621.png"/><Relationship Id="rId11" Type="http://schemas.openxmlformats.org/officeDocument/2006/relationships/image" Target="../media/image670.png"/><Relationship Id="rId5" Type="http://schemas.openxmlformats.org/officeDocument/2006/relationships/image" Target="../media/image610.png"/><Relationship Id="rId15" Type="http://schemas.openxmlformats.org/officeDocument/2006/relationships/image" Target="../media/image850.png"/><Relationship Id="rId10" Type="http://schemas.openxmlformats.org/officeDocument/2006/relationships/image" Target="../media/image661.png"/><Relationship Id="rId4" Type="http://schemas.openxmlformats.org/officeDocument/2006/relationships/image" Target="../media/image600.png"/><Relationship Id="rId9" Type="http://schemas.openxmlformats.org/officeDocument/2006/relationships/image" Target="../media/image651.png"/><Relationship Id="rId14" Type="http://schemas.openxmlformats.org/officeDocument/2006/relationships/image" Target="../media/image70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36.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110.png"/><Relationship Id="rIdClosing4" Type="http://schemas.openxmlformats.org/officeDocument/2006/relationships/image" Target="../media/image33.png"/><Relationship Id="rId4" Type="http://schemas.openxmlformats.org/officeDocument/2006/relationships/image" Target="../media/image7.jpg"/></Relationships>
</file>

<file path=ppt/slides/_rels/slide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49.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37.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50.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38.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51.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9.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52.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0.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53.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41.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112.png"/></Relationships>
</file>

<file path=ppt/slides/_rels/slide54.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111.png"/><Relationship Id="rId2" Type="http://schemas.openxmlformats.org/officeDocument/2006/relationships/notesSlide" Target="../notesSlides/notesSlide42.xml"/><Relationship Id="rId1" Type="http://schemas.openxmlformats.org/officeDocument/2006/relationships/slideLayout" Target="../slideLayouts/slideLayout12.xml"/><Relationship Id="rId4" Type="http://schemas.openxmlformats.org/officeDocument/2006/relationships/image" Target="../media/image113.png"/></Relationships>
</file>

<file path=ppt/slides/_rels/slide55.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43.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114.png"/></Relationships>
</file>

<file path=ppt/slides/_rels/slide56.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44.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115.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m="http://schemas.openxmlformats.org/officeDocument/2006/math" xmlns="">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m="http://schemas.openxmlformats.org/officeDocument/2006/math" xmlns="">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m="http://schemas.openxmlformats.org/officeDocument/2006/math" xmlns="">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 presetClass="mediacall" presetSubtype="0" fill="hold" nodeType="clickEffect">
                                  <p:stCondLst>
                                    <p:cond delay="0"/>
                                  </p:stCondLst>
                                  <p:childTnLst>
                                    <p:cmd type="call" cmd="playFrom(0.0)">
                                      <p:cBhvr>
                                        <p:cTn id="13" dur="10000" fill="hold"/>
                                        <p:tgtEl>
                                          <p:spTgt spid="21"/>
                                        </p:tgtEl>
                                      </p:cBhvr>
                                    </p:cmd>
                                    <p:anim calcmode="lin" valueType="num">
                                      <p:cBhvr additive="base">
                                        <p:cTn id="14"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15"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16"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17"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80000">
                <p:cTn id="18" fill="hold" display="0">
                  <p:stCondLst>
                    <p:cond delay="indefinite"/>
                  </p:stCondLst>
                </p:cTn>
                <p:tgtEl>
                  <p:spTgt spid="20"/>
                </p:tgtEl>
              </p:cMediaNode>
            </p:video>
            <p:seq concurrent="1" nextAc="seek">
              <p:cTn id="19" restart="whenNotActive" fill="hold" evtFilter="cancelBubble" nodeType="interactiveSeq">
                <p:stCondLst>
                  <p:cond evt="onClick" delay="0">
                    <p:tgtEl>
                      <p:spTgt spid="20"/>
                    </p:tgtEl>
                  </p:cond>
                </p:stCondLst>
                <p:endSync evt="end" delay="0">
                  <p:rtn val="all"/>
                </p:endSync>
                <p:childTnLst>
                  <p:par>
                    <p:cTn id="20" fill="hold">
                      <p:stCondLst>
                        <p:cond delay="0"/>
                      </p:stCondLst>
                      <p:childTnLst>
                        <p:par>
                          <p:cTn id="21" fill="hold">
                            <p:stCondLst>
                              <p:cond delay="0"/>
                            </p:stCondLst>
                            <p:childTnLst>
                              <p:par>
                                <p:cTn id="22" presetID="2" presetClass="mediacall" presetSubtype="0" fill="hold" nodeType="clickEffect">
                                  <p:stCondLst>
                                    <p:cond delay="0"/>
                                  </p:stCondLst>
                                  <p:childTnLst>
                                    <p:cmd type="call" cmd="togglePause">
                                      <p:cBhvr>
                                        <p:cTn id="23" dur="1" fill="hold"/>
                                        <p:tgtEl>
                                          <p:spTgt spid="20"/>
                                        </p:tgtEl>
                                      </p:cBhvr>
                                    </p:cmd>
                                  </p:childTnLst>
                                </p:cTn>
                              </p:par>
                            </p:childTnLst>
                          </p:cTn>
                        </p:par>
                      </p:childTnLst>
                    </p:cTn>
                  </p:par>
                </p:childTnLst>
              </p:cTn>
              <p:nextCondLst>
                <p:cond evt="onClick" delay="0">
                  <p:tgtEl>
                    <p:spTgt spid="20"/>
                  </p:tgtEl>
                </p:cond>
              </p:nextCondLst>
            </p:seq>
            <p:video>
              <p:cMediaNode vol="80000">
                <p:cTn id="24" fill="hold" display="0">
                  <p:stCondLst>
                    <p:cond delay="indefinite"/>
                  </p:stCondLst>
                </p:cTn>
                <p:tgtEl>
                  <p:spTgt spid="21"/>
                </p:tgtEl>
              </p:cMediaNode>
            </p:video>
            <p:seq concurrent="1" nextAc="seek">
              <p:cTn id="25" restart="whenNotActive" fill="hold" evtFilter="cancelBubble" nodeType="interactiveSeq">
                <p:stCondLst>
                  <p:cond evt="onClick" delay="0">
                    <p:tgtEl>
                      <p:spTgt spid="21"/>
                    </p:tgtEl>
                  </p:cond>
                </p:stCondLst>
                <p:endSync evt="end" delay="0">
                  <p:rtn val="all"/>
                </p:endSync>
                <p:childTnLst>
                  <p:par>
                    <p:cTn id="26" fill="hold">
                      <p:stCondLst>
                        <p:cond delay="0"/>
                      </p:stCondLst>
                      <p:childTnLst>
                        <p:par>
                          <p:cTn id="27" fill="hold">
                            <p:stCondLst>
                              <p:cond delay="0"/>
                            </p:stCondLst>
                            <p:childTnLst>
                              <p:par>
                                <p:cTn id="28" presetID="2" presetClass="mediacall" presetSubtype="0" fill="hold" nodeType="clickEffect">
                                  <p:stCondLst>
                                    <p:cond delay="0"/>
                                  </p:stCondLst>
                                  <p:childTnLst>
                                    <p:cmd type="call" cmd="togglePause">
                                      <p:cBhvr>
                                        <p:cTn id="29" dur="1" fill="hold"/>
                                        <p:tgtEl>
                                          <p:spTgt spid="21"/>
                                        </p:tgtEl>
                                      </p:cBhvr>
                                    </p:cmd>
                                  </p:childTnLst>
                                </p:cTn>
                              </p:par>
                            </p:childTnLst>
                          </p:cTn>
                        </p:par>
                      </p:childTnLst>
                    </p:cTn>
                  </p:par>
                </p:childTnLst>
              </p:cTn>
              <p:nextCondLst>
                <p:cond evt="onClick" delay="0">
                  <p:tgtEl>
                    <p:spTgt spid="21"/>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pic>
        <p:nvPicPr>
          <p:cNvPr id="3" name="Picture 2">
            <a:extLst>
              <a:ext uri="{FF2B5EF4-FFF2-40B4-BE49-F238E27FC236}">
                <a16:creationId xmlns:a16="http://schemas.microsoft.com/office/drawing/2014/main" id="{CE68D164-ECC1-2C08-4E8F-C6A89F1A7245}"/>
              </a:ext>
            </a:extLst>
          </p:cNvPr>
          <p:cNvPicPr>
            <a:picLocks noChangeAspect="1"/>
          </p:cNvPicPr>
          <p:nvPr/>
        </p:nvPicPr>
        <p:blipFill>
          <a:blip r:embed="rId8">
            <a:extLst>
              <a:ext uri="{28A0092B-C50C-407E-A947-70E740481C1C}">
                <a14:useLocalDpi xmlns:a14="http://schemas.microsoft.com/office/drawing/2010/main" val="0"/>
              </a:ext>
            </a:extLst>
          </a:blip>
          <a:srcRect l="15942" r="17681"/>
          <a:stretch>
            <a:fillRect/>
          </a:stretch>
        </p:blipFill>
        <p:spPr>
          <a:xfrm>
            <a:off x="6331461" y="1449643"/>
            <a:ext cx="2355339" cy="1977514"/>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537024" cy="784830"/>
              </a:xfrm>
              <a:prstGeom prst="rect">
                <a:avLst/>
              </a:prstGeom>
              <a:noFill/>
            </p:spPr>
            <p:txBody>
              <a:bodyPr wrap="none" rtlCol="0">
                <a:spAutoFit/>
              </a:bodyPr>
              <a:lstStyle/>
              <a:p>
                <a:pPr/>
                <a14:m>
                  <m:oMathPara xmlns:m="http://schemas.openxmlformats.org/officeDocument/2006/math">
                    <m:oMath>
                      <m:r>
                        <a:rPr lang="en-US" sz="1800" b="0" i="1" smtClean="0">
                          <a:latin typeface="Cambria Math" panose="02040503050406030204" pitchFamily="18" charset="0"/>
                        </a:rPr>
                        <m:t>𝛿</m:t>
                      </m:r>
                      <m:r>
                        <a:rPr lang="en-US" sz="1800" b="0" i="1" smtClean="0">
                          <a:latin typeface="Cambria Math" panose="02040503050406030204" pitchFamily="18" charset="0"/>
                        </a:rPr>
                        <m:t>∈[−0.5,0.5]</m:t>
                      </m:r>
                    </m:oMath>
                  </m:oMathPara>
                </a14:m>
                <a:endParaRPr lang="en-US" b="0" dirty="0"/>
              </a:p>
              <a:p>
                <a:endParaRPr lang="en-US" b="0" dirty="0"/>
              </a:p>
              <a:p>
                <a:endParaRPr lang="en-NL" dirty="0"/>
              </a:p>
            </p:txBody>
          </p:sp>
        </mc:Choice>
        <mc:Fallback xmlns:m="http://schemas.openxmlformats.org/officeDocument/2006/math"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537024" cy="784830"/>
              </a:xfrm>
              <a:prstGeom prst="rect">
                <a:avLst/>
              </a:prstGeom>
              <a:blipFill>
                <a:blip r:embed="rId5"/>
                <a:stretch>
                  <a:fillRect r="-3571"/>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m="http://schemas.openxmlformats.org/officeDocument/2006/math" xmlns="">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remove" display="0">
                  <p:stCondLst>
                    <p:cond delay="indefinite"/>
                  </p:stCondLst>
                </p:cTn>
                <p:tgtEl>
                  <p:spTgt spid="4"/>
                </p:tgtEl>
              </p:cMediaNode>
            </p:vide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xit" presetSubtype="0" fill="hold" grpId="0" nodeType="withEffect">
                                  <p:stCondLst>
                                    <p:cond delay="0"/>
                                  </p:stCondLst>
                                  <p:childTnLst>
                                    <p:set>
                                      <p:cBhvr>
                                        <p:cTn id="14" dur="1" fill="hold">
                                          <p:stCondLst>
                                            <p:cond delay="0"/>
                                          </p:stCondLst>
                                        </p:cTn>
                                        <p:tgtEl>
                                          <p:spTgt spid="5009"/>
                                        </p:tgtEl>
                                        <p:attrNameLst>
                                          <p:attrName>style.visibility</p:attrName>
                                        </p:attrNameLst>
                                      </p:cBhvr>
                                      <p:to>
                                        <p:strVal val="hidden"/>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7"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3"/>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RevisedLFR1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RevisedLFR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Revise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RevisedLFR108"/>
                  <a:stretch>
                    <a:fillRect/>
                  </a:stretch>
                </a:blipFill>
                <a:ln>
                  <a:noFill/>
                </a:ln>
              </p:spPr>
              <p:txBody>
                <a:bodyPr/>
                <a:lstStyle/>
                <a:p>
                  <a:r>
                    <a:rPr lang="en-NL">
                      <a:noFill/>
                    </a:rPr>
                    <a:t> </a:t>
                  </a:r>
                </a:p>
              </p:txBody>
            </p:sp>
          </mc:Fallback>
        </mc:AlternateContent>
      </p:grpSp>
      <p:grpSp>
        <p:nvGrpSpPr>
          <p:cNvPr id="20009" name="Original model equations"/>
          <p:cNvGrpSpPr/>
          <p:nvPr/>
        </p:nvGrpSpPr>
        <p:grpSpPr>
          <a:xfrm>
            <a:off x="838200" y="2743200"/>
            <a:ext cx="7467600" cy="1524000"/>
            <a:chOff x="838200" y="2743200"/>
            <a:chExt cx="7467600" cy="1524000"/>
          </a:xfrm>
        </p:grpSpPr>
        <mc:AlternateContent xmlns:mc="http://schemas.openxmlformats.org/markup-compatibility/2006" xmlns:a14="http://schemas.microsoft.com/office/drawing/2010/main">
          <mc:Choice Requires="a14">
            <p:sp>
              <p:nvSpPr>
                <p:cNvPr id="20010" name="Delay dynamics S"/>
                <p:cNvSpPr/>
                <p:nvPr/>
              </p:nvSpPr>
              <p:spPr>
                <a:xfrm>
                  <a:off x="1333500" y="2759710"/>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a:p>
              </p:txBody>
            </p:sp>
          </mc:Choice>
          <mc:Fallback xmlns="" xmlns:m="http://schemas.openxmlformats.org/officeDocument/2006/math">
            <p:sp>
              <p:nvSpPr>
                <p:cNvPr id="20010" name="Delay dynamics S"/>
                <p:cNvSpPr>
                  <a:spLocks noRot="1" noChangeAspect="1" noMove="1" noResize="1" noEditPoints="1" noAdjustHandles="1" noChangeArrowheads="1" noChangeShapeType="1" noTextEdit="1"/>
                </p:cNvSpPr>
                <p:nvPr/>
              </p:nvSpPr>
              <p:spPr>
                <a:xfrm>
                  <a:off x="1333500" y="2759710"/>
                  <a:ext cx="6477000" cy="525780"/>
                </a:xfrm>
                <a:prstGeom prst="rect">
                  <a:avLst/>
                </a:prstGeom>
                <a:blipFill>
                  <a:blip r:embed="rIdRevisedLFR1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1" name="Delay dynamics G"/>
                <p:cNvSpPr/>
                <p:nvPr/>
              </p:nvSpPr>
              <p:spPr>
                <a:xfrm>
                  <a:off x="952500" y="303911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a:p>
              </p:txBody>
            </p:sp>
          </mc:Choice>
          <mc:Fallback xmlns="" xmlns:m="http://schemas.openxmlformats.org/officeDocument/2006/math">
            <p:sp>
              <p:nvSpPr>
                <p:cNvPr id="20011" name="Delay dynamics G"/>
                <p:cNvSpPr>
                  <a:spLocks noRot="1" noChangeAspect="1" noMove="1" noResize="1" noEditPoints="1" noAdjustHandles="1" noChangeArrowheads="1" noChangeShapeType="1" noTextEdit="1"/>
                </p:cNvSpPr>
                <p:nvPr/>
              </p:nvSpPr>
              <p:spPr>
                <a:xfrm>
                  <a:off x="952500" y="3039110"/>
                  <a:ext cx="7239000" cy="525780"/>
                </a:xfrm>
                <a:prstGeom prst="rect">
                  <a:avLst/>
                </a:prstGeom>
                <a:blipFill>
                  <a:blip r:embed="rIdRevisedLFR1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2"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 xmlns:m="http://schemas.openxmlformats.org/officeDocument/2006/math">
            <p:sp>
              <p:nvSpPr>
                <p:cNvPr id="20012"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RevisedLFR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3"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 xmlns:m="http://schemas.openxmlformats.org/officeDocument/2006/math">
            <p:sp>
              <p:nvSpPr>
                <p:cNvPr id="20013"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RevisedLFR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4" name="State dynamics left G"/>
                <p:cNvSpPr/>
                <p:nvPr/>
              </p:nvSpPr>
              <p:spPr>
                <a:xfrm>
                  <a:off x="257810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 xmlns:m="http://schemas.openxmlformats.org/officeDocument/2006/math">
            <p:sp>
              <p:nvSpPr>
                <p:cNvPr id="20014" name="State dynamics left G"/>
                <p:cNvSpPr>
                  <a:spLocks noRot="1" noChangeAspect="1" noMove="1" noResize="1" noEditPoints="1" noAdjustHandles="1" noChangeArrowheads="1" noChangeShapeType="1" noTextEdit="1"/>
                </p:cNvSpPr>
                <p:nvPr/>
              </p:nvSpPr>
              <p:spPr>
                <a:xfrm>
                  <a:off x="2578100" y="3699510"/>
                  <a:ext cx="1371600" cy="525780"/>
                </a:xfrm>
                <a:prstGeom prst="rect">
                  <a:avLst/>
                </a:prstGeom>
                <a:blipFill>
                  <a:blip r:embed="rIdRevisedLFR12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5"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 xmlns:m="http://schemas.openxmlformats.org/officeDocument/2006/math">
            <p:sp>
              <p:nvSpPr>
                <p:cNvPr id="20015"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RevisedLFR106"/>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0016"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 xmlns:m="http://schemas.openxmlformats.org/officeDocument/2006/math">
          <p:sp>
            <p:nvSpPr>
              <p:cNvPr id="20016"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RevisedLFR1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7"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 xmlns:m="http://schemas.openxmlformats.org/officeDocument/2006/math">
          <p:sp>
            <p:nvSpPr>
              <p:cNvPr id="20017"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RevisedLFR118"/>
                <a:stretch>
                  <a:fillRect/>
                </a:stretch>
              </a:blipFill>
              <a:ln>
                <a:noFill/>
              </a:ln>
            </p:spPr>
            <p:txBody>
              <a:bodyPr/>
              <a:lstStyle/>
              <a:p>
                <a:r>
                  <a:rPr lang="en-NL">
                    <a:noFill/>
                  </a:rPr>
                  <a:t> </a:t>
                </a:r>
              </a:p>
            </p:txBody>
          </p:sp>
        </mc:Fallback>
      </mc:AlternateContent>
      <p:grpSp>
        <p:nvGrpSpPr>
          <p:cNvPr id="20018" name="Moving nominal dynamics"/>
          <p:cNvGrpSpPr/>
          <p:nvPr/>
        </p:nvGrpSpPr>
        <p:grpSpPr>
          <a:xfrm>
            <a:off x="4711700" y="3086100"/>
            <a:ext cx="3937000" cy="1117600"/>
            <a:chOff x="330200" y="3048000"/>
            <a:chExt cx="3937000" cy="1117600"/>
          </a:xfrm>
        </p:grpSpPr>
        <mc:AlternateContent xmlns:mc="http://schemas.openxmlformats.org/markup-compatibility/2006" xmlns:a14="http://schemas.microsoft.com/office/drawing/2010/main">
          <mc:Choice Requires="a14">
            <p:sp>
              <p:nvSpPr>
                <p:cNvPr id="20019" name="Nominal delay relation S"/>
                <p:cNvSpPr/>
                <p:nvPr/>
              </p:nvSpPr>
              <p:spPr>
                <a:xfrm>
                  <a:off x="330200" y="30632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a:p>
              </p:txBody>
            </p:sp>
          </mc:Choice>
          <mc:Fallback xmlns="" xmlns:m="http://schemas.openxmlformats.org/officeDocument/2006/math">
            <p:sp>
              <p:nvSpPr>
                <p:cNvPr id="20019" name="Nominal delay relation S"/>
                <p:cNvSpPr>
                  <a:spLocks noRot="1" noChangeAspect="1" noMove="1" noResize="1" noEditPoints="1" noAdjustHandles="1" noChangeArrowheads="1" noChangeShapeType="1" noTextEdit="1"/>
                </p:cNvSpPr>
                <p:nvPr/>
              </p:nvSpPr>
              <p:spPr>
                <a:xfrm>
                  <a:off x="330200" y="3063240"/>
                  <a:ext cx="3937000" cy="350520"/>
                </a:xfrm>
                <a:prstGeom prst="rect">
                  <a:avLst/>
                </a:prstGeom>
                <a:blipFill>
                  <a:blip r:embed="rIdRevisedLFR12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0" name="Nominal delay relation G"/>
                <p:cNvSpPr/>
                <p:nvPr/>
              </p:nvSpPr>
              <p:spPr>
                <a:xfrm>
                  <a:off x="330200" y="32918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a:p>
              </p:txBody>
            </p:sp>
          </mc:Choice>
          <mc:Fallback xmlns="" xmlns:m="http://schemas.openxmlformats.org/officeDocument/2006/math">
            <p:sp>
              <p:nvSpPr>
                <p:cNvPr id="20020" name="Nominal delay relation G"/>
                <p:cNvSpPr>
                  <a:spLocks noRot="1" noChangeAspect="1" noMove="1" noResize="1" noEditPoints="1" noAdjustHandles="1" noChangeArrowheads="1" noChangeShapeType="1" noTextEdit="1"/>
                </p:cNvSpPr>
                <p:nvPr/>
              </p:nvSpPr>
              <p:spPr>
                <a:xfrm>
                  <a:off x="330200" y="3291840"/>
                  <a:ext cx="3937000" cy="350520"/>
                </a:xfrm>
                <a:prstGeom prst="rect">
                  <a:avLst/>
                </a:prstGeom>
                <a:blipFill>
                  <a:blip r:embed="rIdRevisedLFR10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1" name="Nominal state equation S"/>
                <p:cNvSpPr/>
                <p:nvPr/>
              </p:nvSpPr>
              <p:spPr>
                <a:xfrm>
                  <a:off x="330200" y="35712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a:p>
              </p:txBody>
            </p:sp>
          </mc:Choice>
          <mc:Fallback xmlns="" xmlns:m="http://schemas.openxmlformats.org/officeDocument/2006/math">
            <p:sp>
              <p:nvSpPr>
                <p:cNvPr id="20021" name="Nominal state equation S"/>
                <p:cNvSpPr>
                  <a:spLocks noRot="1" noChangeAspect="1" noMove="1" noResize="1" noEditPoints="1" noAdjustHandles="1" noChangeArrowheads="1" noChangeShapeType="1" noTextEdit="1"/>
                </p:cNvSpPr>
                <p:nvPr/>
              </p:nvSpPr>
              <p:spPr>
                <a:xfrm>
                  <a:off x="330200" y="3571240"/>
                  <a:ext cx="3937000" cy="350520"/>
                </a:xfrm>
                <a:prstGeom prst="rect">
                  <a:avLst/>
                </a:prstGeom>
                <a:blipFill>
                  <a:blip r:embed="rIdRevisedLFR1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2" name="Nominal state equation G"/>
                <p:cNvSpPr/>
                <p:nvPr/>
              </p:nvSpPr>
              <p:spPr>
                <a:xfrm>
                  <a:off x="330200" y="38125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a:p>
              </p:txBody>
            </p:sp>
          </mc:Choice>
          <mc:Fallback xmlns="" xmlns:m="http://schemas.openxmlformats.org/officeDocument/2006/math">
            <p:sp>
              <p:nvSpPr>
                <p:cNvPr id="20022" name="Nominal state equation G"/>
                <p:cNvSpPr>
                  <a:spLocks noRot="1" noChangeAspect="1" noMove="1" noResize="1" noEditPoints="1" noAdjustHandles="1" noChangeArrowheads="1" noChangeShapeType="1" noTextEdit="1"/>
                </p:cNvSpPr>
                <p:nvPr/>
              </p:nvSpPr>
              <p:spPr>
                <a:xfrm>
                  <a:off x="330200" y="3812540"/>
                  <a:ext cx="3937000" cy="350520"/>
                </a:xfrm>
                <a:prstGeom prst="rect">
                  <a:avLst/>
                </a:prstGeom>
                <a:blipFill>
                  <a:blip r:embed="rIdRevisedLFR107"/>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8"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20030"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RevisedLFR121"/>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p:grpSp>
      <p:grpSp>
        <p:nvGrpSpPr>
          <p:cNvPr id="20042" name="Controller 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3"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44"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2004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p:grpSp>
      <p:grpSp>
        <p:nvGrpSpPr>
          <p:cNvPr id="20046" name="Controller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7"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48"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grpSp>
      <p:grpSp>
        <p:nvGrpSpPr>
          <p:cNvPr id="20054" name="Open control ports"/>
          <p:cNvGrpSpPr/>
          <p:nvPr/>
        </p:nvGrpSpPr>
        <p:grpSpPr>
          <a:xfrm>
            <a:off x="495300" y="1206500"/>
            <a:ext cx="3556000" cy="2725557"/>
            <a:chOff x="495300" y="1206500"/>
            <a:chExt cx="3556000" cy="2725557"/>
          </a:xfrm>
        </p:grpSpPr>
        <p:sp>
          <p:nvSpPr>
            <p:cNvPr id="20055" name="Open u port"/>
            <p:cNvSpPr/>
            <p:nvPr/>
          </p:nvSpPr>
          <p:spPr>
            <a:xfrm>
              <a:off x="1057522"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sp>
          <p:nvSpPr>
            <p:cNvPr id="20056" name="Open y port"/>
            <p:cNvSpPr/>
            <p:nvPr/>
          </p:nvSpPr>
          <p:spPr>
            <a:xfrm>
              <a:off x="2782289"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grpSp>
      <p:grpSp>
        <p:nvGrpSpPr>
          <p:cNvPr id="20057" name="Complete LFR">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58"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59"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0060"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61"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0062"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63"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5"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0066"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7"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20067"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8"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20069"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70"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20071"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sp>
          <p:nvSpPr>
            <p:cNvPr id="20072"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73"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20075"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76"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p:sp>
              <p:nvSpPr>
                <p:cNvPr id="2007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20078" name="Final LFR title"/>
          <p:cNvSpPr/>
          <p:nvPr/>
        </p:nvSpPr>
        <p:spPr>
          <a:xfrm>
            <a:off x="457200" y="314325"/>
            <a:ext cx="8229600" cy="5397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Linear fractional representation</a:t>
            </a:r>
            <a:endParaRPr sz="2500" dirty="0"/>
          </a:p>
        </p:txBody>
      </p:sp>
      <p:pic>
        <p:nvPicPr>
          <p:cNvPr id="20079" name="ASML image">
            <a:extLst>
              <a:ext uri="{FF2B5EF4-FFF2-40B4-BE49-F238E27FC236}">
                <a16:creationId xmlns:a16="http://schemas.microsoft.com/office/drawing/2014/main" id="{B400E0AB-D61D-0722-09F6-12DB2BB3E8EF}"/>
              </a:ext>
            </a:extLst>
          </p:cNvPr>
          <p:cNvPicPr>
            <a:picLocks noChangeAspect="1"/>
          </p:cNvPicPr>
          <p:nvPr/>
        </p:nvPicPr>
        <p:blipFill>
          <a:blip r:embed="rId6" cstate="print">
            <a:extLst>
              <a:ext uri="{28A0092B-C50C-407E-A947-70E740481C1C}">
                <a14:useLocalDpi xmlns:a14="http://schemas.microsoft.com/office/drawing/2010/main" val="0"/>
              </a:ext>
            </a:extLst>
          </a:blip>
          <a:srcRect l="6208" r="6507" b="12822"/>
          <a:stretch>
            <a:fillRect/>
          </a:stretch>
        </p:blipFill>
        <p:spPr>
          <a:xfrm>
            <a:off x="4775200" y="3263900"/>
            <a:ext cx="1778000" cy="924560"/>
          </a:xfrm>
          <a:prstGeom prst="rect">
            <a:avLst/>
          </a:prstGeom>
        </p:spPr>
      </p:pic>
      <p:pic>
        <p:nvPicPr>
          <p:cNvPr id="20080" name="Canon image"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7"/>
          <a:stretch>
            <a:fillRect/>
          </a:stretch>
        </p:blipFill>
        <p:spPr>
          <a:xfrm>
            <a:off x="6896100" y="3302000"/>
            <a:ext cx="1778000" cy="871220"/>
          </a:xfrm>
          <a:prstGeom prst="rect">
            <a:avLst/>
          </a:prstGeom>
        </p:spPr>
      </p:pic>
      <p:sp>
        <p:nvSpPr>
          <p:cNvPr id="20081" name="ASML caption"/>
          <p:cNvSpPr/>
          <p:nvPr/>
        </p:nvSpPr>
        <p:spPr>
          <a:xfrm>
            <a:off x="47752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ASML</a:t>
            </a:r>
            <a:endParaRPr sz="1400"/>
          </a:p>
        </p:txBody>
      </p:sp>
      <p:sp>
        <p:nvSpPr>
          <p:cNvPr id="20082" name="Canon caption"/>
          <p:cNvSpPr/>
          <p:nvPr/>
        </p:nvSpPr>
        <p:spPr>
          <a:xfrm>
            <a:off x="68961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Canon</a:t>
            </a:r>
            <a:endParaRPr sz="1400"/>
          </a:p>
        </p:txBody>
      </p:sp>
      <p:sp>
        <p:nvSpPr>
          <p:cNvPr id="20083" name="Additional models heading"/>
          <p:cNvSpPr/>
          <p:nvPr/>
        </p:nvSpPr>
        <p:spPr>
          <a:xfrm>
            <a:off x="4775200" y="2871470"/>
            <a:ext cx="3860800" cy="30226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Other distributed models</a:t>
            </a:r>
            <a:endParaRPr sz="1400"/>
          </a:p>
        </p:txBody>
      </p:sp>
      <p:grpSp>
        <p:nvGrpSpPr>
          <p:cNvPr id="20088" name="Industrial model arrow"/>
          <p:cNvGrpSpPr/>
          <p:nvPr/>
        </p:nvGrpSpPr>
        <p:grpSpPr>
          <a:xfrm>
            <a:off x="3987800" y="2667000"/>
            <a:ext cx="584200" cy="1028700"/>
            <a:chOff x="3987800" y="2667000"/>
            <a:chExt cx="584200" cy="1028700"/>
          </a:xfrm>
        </p:grpSpPr>
        <p:sp>
          <p:nvSpPr>
            <p:cNvPr id="20089" name="Models to LFR"/>
            <p:cNvSpPr/>
            <p:nvPr/>
          </p:nvSpPr>
          <p:spPr>
            <a:xfrm>
              <a:off x="3987800" y="2667000"/>
              <a:ext cx="584200" cy="1028700"/>
            </a:xfrm>
            <a:custGeom>
              <a:avLst/>
              <a:gdLst/>
              <a:ahLst/>
              <a:cxnLst/>
              <a:rect l="0" t="0" r="r" b="b"/>
              <a:pathLst>
                <a:path w="584200" h="1028700" fill="none">
                  <a:moveTo>
                    <a:pt x="571500" y="1016000"/>
                  </a:moveTo>
                  <a:lnTo>
                    <a:pt x="228600" y="1016000"/>
                  </a:lnTo>
                  <a:lnTo>
                    <a:pt x="228600" y="12700"/>
                  </a:lnTo>
                  <a:lnTo>
                    <a:pt x="12700" y="12700"/>
                  </a:lnTo>
                </a:path>
              </a:pathLst>
            </a:custGeom>
            <a:noFill/>
            <a:ln w="12700">
              <a:solidFill>
                <a:srgbClr val="252529"/>
              </a:solidFill>
              <a:round/>
              <a:tailEnd type="triangle" w="sm" len="sm"/>
            </a:ln>
          </p:spPr>
          <p:txBody>
            <a:bodyPr/>
            <a:lstStyle/>
            <a:p>
              <a:endParaRPr lang="en-NL"/>
            </a:p>
          </p:txBody>
        </p:sp>
      </p:grpSp>
      <p:grpSp>
        <p:nvGrpSpPr>
          <p:cNvPr id="20094" name="Neural equivalence"/>
          <p:cNvGrpSpPr/>
          <p:nvPr/>
        </p:nvGrpSpPr>
        <p:grpSpPr>
          <a:xfrm>
            <a:off x="4127500" y="1841500"/>
            <a:ext cx="584200" cy="508000"/>
            <a:chOff x="4127500" y="1841500"/>
            <a:chExt cx="584200" cy="508000"/>
          </a:xfrm>
        </p:grpSpPr>
        <mc:AlternateContent xmlns:mc="http://schemas.openxmlformats.org/markup-compatibility/2006" xmlns:a14="http://schemas.microsoft.com/office/drawing/2010/main">
          <mc:Choice Requires="a14">
            <p:sp>
              <p:nvSpPr>
                <p:cNvPr id="20095" name="Same neural dynamics"/>
                <p:cNvSpPr/>
                <p:nvPr/>
              </p:nvSpPr>
              <p:spPr>
                <a:xfrm>
                  <a:off x="4133850" y="1775460"/>
                  <a:ext cx="571500" cy="614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oMath>
                    </m:oMathPara>
                  </a14:m>
                  <a:endParaRPr sz="2200"/>
                </a:p>
              </p:txBody>
            </p:sp>
          </mc:Choice>
          <mc:Fallback xmlns="" xmlns:m="http://schemas.openxmlformats.org/officeDocument/2006/math">
            <p:sp>
              <p:nvSpPr>
                <p:cNvPr id="20095" name="Same neural dynamics"/>
                <p:cNvSpPr>
                  <a:spLocks noRot="1" noChangeAspect="1" noMove="1" noResize="1" noEditPoints="1" noAdjustHandles="1" noChangeArrowheads="1" noChangeShapeType="1" noTextEdit="1"/>
                </p:cNvSpPr>
                <p:nvPr/>
              </p:nvSpPr>
              <p:spPr>
                <a:xfrm>
                  <a:off x="4133850" y="1775460"/>
                  <a:ext cx="571500" cy="614680"/>
                </a:xfrm>
                <a:prstGeom prst="rect">
                  <a:avLst/>
                </a:prstGeom>
                <a:blipFill>
                  <a:blip r:embed="rIdRevisedLFR104"/>
                  <a:stretch>
                    <a:fillRect/>
                  </a:stretch>
                </a:blipFill>
                <a:ln>
                  <a:noFill/>
                </a:ln>
              </p:spPr>
              <p:txBody>
                <a:bodyPr/>
                <a:lstStyle/>
                <a:p>
                  <a:r>
                    <a:rPr lang="en-NL">
                      <a:noFill/>
                    </a:rPr>
                    <a:t> </a:t>
                  </a:r>
                </a:p>
              </p:txBody>
            </p:sp>
          </mc:Fallback>
        </mc:AlternateContent>
      </p:grpSp>
      <p:sp>
        <p:nvSpPr>
          <p:cNvPr id="20096" name="Stage 1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20097" name="Stage 2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G.</a:t>
            </a:r>
            <a:endParaRPr sz="1500"/>
          </a:p>
        </p:txBody>
      </p:sp>
      <p:sp>
        <p:nvSpPr>
          <p:cNvPr id="20098" name="Stage 3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Connect the controller K.</a:t>
            </a:r>
            <a:endParaRPr sz="1500" dirty="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1099"/>
                                          </p:stCondLst>
                                        </p:cTn>
                                        <p:tgtEl>
                                          <p:spTgt spid="20001"/>
                                        </p:tgtEl>
                                        <p:attrNameLst>
                                          <p:attrName>style.visibility</p:attrName>
                                        </p:attrNameLst>
                                      </p:cBhvr>
                                      <p:to>
                                        <p:strVal val="visible"/>
                                      </p:to>
                                    </p:set>
                                    <p:animMotion origin="layout" path="M 0 0 L 0.21982685 0.09881481 E" pathEditMode="relative">
                                      <p:cBhvr from="" to="">
                                        <p:cTn id="7" dur="1100" fill="hold">
                                          <p:stCondLst>
                                            <p:cond delay="0"/>
                                          </p:stCondLst>
                                        </p:cTn>
                                        <p:tgtEl>
                                          <p:spTgt spid="20001"/>
                                        </p:tgtEl>
                                        <p:attrNameLst>
                                          <p:attrName>ppt_x</p:attrName>
                                          <p:attrName>ppt_y</p:attrName>
                                        </p:attrNameLst>
                                      </p:cBhvr>
                                    </p:animMotion>
                                    <p:animScale>
                                      <p:cBhvr>
                                        <p:cTn id="8" dur="1100" fill="hold">
                                          <p:stCondLst>
                                            <p:cond delay="0"/>
                                          </p:stCondLst>
                                        </p:cTn>
                                        <p:tgtEl>
                                          <p:spTgt spid="20001"/>
                                        </p:tgtEl>
                                      </p:cBhvr>
                                      <p:from x="100000" y="100000"/>
                                      <p:to x="67000" y="67000"/>
                                    </p:animScale>
                                  </p:childTnLst>
                                </p:cTn>
                              </p:par>
                              <p:par>
                                <p:cTn id="9" presetID="0" presetClass="path" presetSubtype="0" accel="50000" decel="50000" fill="hold" grpId="0" nodeType="withEffect">
                                  <p:stCondLst>
                                    <p:cond delay="0"/>
                                  </p:stCondLst>
                                  <p:childTnLst>
                                    <p:set>
                                      <p:cBhvr>
                                        <p:cTn id="10" dur="1" fill="hold">
                                          <p:stCondLst>
                                            <p:cond delay="1099"/>
                                          </p:stCondLst>
                                        </p:cTn>
                                        <p:tgtEl>
                                          <p:spTgt spid="20016"/>
                                        </p:tgtEl>
                                        <p:attrNameLst>
                                          <p:attrName>style.visibility</p:attrName>
                                        </p:attrNameLst>
                                      </p:cBhvr>
                                      <p:to>
                                        <p:strVal val="visible"/>
                                      </p:to>
                                    </p:set>
                                    <p:animMotion origin="layout" path="M 0 0 L -0.255331 -0.41938343 E" pathEditMode="relative">
                                      <p:cBhvr from="" to="">
                                        <p:cTn id="11" dur="1100" fill="hold">
                                          <p:stCondLst>
                                            <p:cond delay="0"/>
                                          </p:stCondLst>
                                        </p:cTn>
                                        <p:tgtEl>
                                          <p:spTgt spid="20016"/>
                                        </p:tgtEl>
                                        <p:attrNameLst>
                                          <p:attrName>ppt_x</p:attrName>
                                          <p:attrName>ppt_y</p:attrName>
                                        </p:attrNameLst>
                                      </p:cBhvr>
                                    </p:animMotion>
                                    <p:animScale>
                                      <p:cBhvr>
                                        <p:cTn id="12" dur="1100" fill="hold">
                                          <p:stCondLst>
                                            <p:cond delay="0"/>
                                          </p:stCondLst>
                                        </p:cTn>
                                        <p:tgtEl>
                                          <p:spTgt spid="20016"/>
                                        </p:tgtEl>
                                      </p:cBhvr>
                                      <p:from x="100000" y="100000"/>
                                      <p:to x="60000" y="60000"/>
                                    </p:animScale>
                                  </p:childTnLst>
                                </p:cTn>
                              </p:par>
                              <p:par>
                                <p:cTn id="13" presetID="0" presetClass="path" presetSubtype="0" accel="50000" decel="50000" fill="hold" grpId="0" nodeType="withEffect">
                                  <p:stCondLst>
                                    <p:cond delay="0"/>
                                  </p:stCondLst>
                                  <p:childTnLst>
                                    <p:set>
                                      <p:cBhvr>
                                        <p:cTn id="14" dur="1" fill="hold">
                                          <p:stCondLst>
                                            <p:cond delay="1099"/>
                                          </p:stCondLst>
                                        </p:cTn>
                                        <p:tgtEl>
                                          <p:spTgt spid="20017"/>
                                        </p:tgtEl>
                                        <p:attrNameLst>
                                          <p:attrName>style.visibility</p:attrName>
                                        </p:attrNameLst>
                                      </p:cBhvr>
                                      <p:to>
                                        <p:strVal val="visible"/>
                                      </p:to>
                                    </p:set>
                                    <p:animMotion origin="layout" path="M 0 0 L -0.23310878 -0.46135874 E" pathEditMode="relative">
                                      <p:cBhvr from="" to="">
                                        <p:cTn id="15" dur="1100" fill="hold">
                                          <p:stCondLst>
                                            <p:cond delay="0"/>
                                          </p:stCondLst>
                                        </p:cTn>
                                        <p:tgtEl>
                                          <p:spTgt spid="20017"/>
                                        </p:tgtEl>
                                        <p:attrNameLst>
                                          <p:attrName>ppt_x</p:attrName>
                                          <p:attrName>ppt_y</p:attrName>
                                        </p:attrNameLst>
                                      </p:cBhvr>
                                    </p:animMotion>
                                    <p:animScale>
                                      <p:cBhvr>
                                        <p:cTn id="16" dur="1100" fill="hold">
                                          <p:stCondLst>
                                            <p:cond delay="0"/>
                                          </p:stCondLst>
                                        </p:cTn>
                                        <p:tgtEl>
                                          <p:spTgt spid="20017"/>
                                        </p:tgtEl>
                                      </p:cBhvr>
                                      <p:from x="100000" y="100000"/>
                                      <p:to x="60000" y="60000"/>
                                    </p:animScale>
                                  </p:childTnLst>
                                </p:cTn>
                              </p:par>
                              <p:par>
                                <p:cTn id="17" presetID="10" presetClass="exit" presetSubtype="0" fill="hold" nodeType="withEffect">
                                  <p:stCondLst>
                                    <p:cond delay="450"/>
                                  </p:stCondLst>
                                  <p:childTnLst>
                                    <p:animEffect transition="out" filter="fade">
                                      <p:cBhvr>
                                        <p:cTn id="18" dur="400"/>
                                        <p:tgtEl>
                                          <p:spTgt spid="20009"/>
                                        </p:tgtEl>
                                      </p:cBhvr>
                                    </p:animEffect>
                                    <p:set>
                                      <p:cBhvr>
                                        <p:cTn id="19" dur="1" fill="hold">
                                          <p:stCondLst>
                                            <p:cond delay="399"/>
                                          </p:stCondLst>
                                        </p:cTn>
                                        <p:tgtEl>
                                          <p:spTgt spid="20009"/>
                                        </p:tgtEl>
                                        <p:attrNameLst>
                                          <p:attrName>style.visibility</p:attrName>
                                        </p:attrNameLst>
                                      </p:cBhvr>
                                      <p:to>
                                        <p:strVal val="hidden"/>
                                      </p:to>
                                    </p:set>
                                  </p:childTnLst>
                                </p:cTn>
                              </p:par>
                              <p:par>
                                <p:cTn id="20" presetID="10" presetClass="exit" presetSubtype="0" fill="hold" grpId="1" nodeType="withEffect">
                                  <p:stCondLst>
                                    <p:cond delay="950"/>
                                  </p:stCondLst>
                                  <p:childTnLst>
                                    <p:animEffect transition="out" filter="fade">
                                      <p:cBhvr>
                                        <p:cTn id="21" dur="300"/>
                                        <p:tgtEl>
                                          <p:spTgt spid="20016"/>
                                        </p:tgtEl>
                                      </p:cBhvr>
                                    </p:animEffect>
                                    <p:set>
                                      <p:cBhvr>
                                        <p:cTn id="22" dur="1" fill="hold">
                                          <p:stCondLst>
                                            <p:cond delay="299"/>
                                          </p:stCondLst>
                                        </p:cTn>
                                        <p:tgtEl>
                                          <p:spTgt spid="20016"/>
                                        </p:tgtEl>
                                        <p:attrNameLst>
                                          <p:attrName>style.visibility</p:attrName>
                                        </p:attrNameLst>
                                      </p:cBhvr>
                                      <p:to>
                                        <p:strVal val="hidden"/>
                                      </p:to>
                                    </p:set>
                                  </p:childTnLst>
                                </p:cTn>
                              </p:par>
                              <p:par>
                                <p:cTn id="23" presetID="10" presetClass="exit" presetSubtype="0" fill="hold" grpId="1" nodeType="withEffect">
                                  <p:stCondLst>
                                    <p:cond delay="950"/>
                                  </p:stCondLst>
                                  <p:childTnLst>
                                    <p:animEffect transition="out" filter="fade">
                                      <p:cBhvr>
                                        <p:cTn id="24" dur="300"/>
                                        <p:tgtEl>
                                          <p:spTgt spid="20017"/>
                                        </p:tgtEl>
                                      </p:cBhvr>
                                    </p:animEffect>
                                    <p:set>
                                      <p:cBhvr>
                                        <p:cTn id="25" dur="1" fill="hold">
                                          <p:stCondLst>
                                            <p:cond delay="299"/>
                                          </p:stCondLst>
                                        </p:cTn>
                                        <p:tgtEl>
                                          <p:spTgt spid="20017"/>
                                        </p:tgtEl>
                                        <p:attrNameLst>
                                          <p:attrName>style.visibility</p:attrName>
                                        </p:attrNameLst>
                                      </p:cBhvr>
                                      <p:to>
                                        <p:strVal val="hidden"/>
                                      </p:to>
                                    </p:set>
                                  </p:childTnLst>
                                </p:cTn>
                              </p:par>
                              <p:par>
                                <p:cTn id="26" presetID="10" presetClass="entr" presetSubtype="0" fill="hold" nodeType="withEffect">
                                  <p:stCondLst>
                                    <p:cond delay="950"/>
                                  </p:stCondLst>
                                  <p:childTnLst>
                                    <p:set>
                                      <p:cBhvr>
                                        <p:cTn id="27" dur="1" fill="hold">
                                          <p:stCondLst>
                                            <p:cond delay="0"/>
                                          </p:stCondLst>
                                        </p:cTn>
                                        <p:tgtEl>
                                          <p:spTgt spid="20023"/>
                                        </p:tgtEl>
                                        <p:attrNameLst>
                                          <p:attrName>style.visibility</p:attrName>
                                        </p:attrNameLst>
                                      </p:cBhvr>
                                      <p:to>
                                        <p:strVal val="visible"/>
                                      </p:to>
                                    </p:set>
                                    <p:animEffect transition="in" filter="fade">
                                      <p:cBhvr>
                                        <p:cTn id="28" dur="400"/>
                                        <p:tgtEl>
                                          <p:spTgt spid="20023"/>
                                        </p:tgtEl>
                                      </p:cBhvr>
                                    </p:animEffect>
                                  </p:childTnLst>
                                </p:cTn>
                              </p:par>
                              <p:par>
                                <p:cTn id="29" presetID="10" presetClass="entr" presetSubtype="0" fill="hold" nodeType="withEffect">
                                  <p:stCondLst>
                                    <p:cond delay="850"/>
                                  </p:stCondLst>
                                  <p:childTnLst>
                                    <p:set>
                                      <p:cBhvr>
                                        <p:cTn id="30" dur="1" fill="hold">
                                          <p:stCondLst>
                                            <p:cond delay="0"/>
                                          </p:stCondLst>
                                        </p:cTn>
                                        <p:tgtEl>
                                          <p:spTgt spid="20018"/>
                                        </p:tgtEl>
                                        <p:attrNameLst>
                                          <p:attrName>style.visibility</p:attrName>
                                        </p:attrNameLst>
                                      </p:cBhvr>
                                      <p:to>
                                        <p:strVal val="visible"/>
                                      </p:to>
                                    </p:set>
                                    <p:animEffect transition="in" filter="fade">
                                      <p:cBhvr>
                                        <p:cTn id="31" dur="400"/>
                                        <p:tgtEl>
                                          <p:spTgt spid="20018"/>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20096"/>
                                        </p:tgtEl>
                                        <p:attrNameLst>
                                          <p:attrName>style.visibility</p:attrName>
                                        </p:attrNameLst>
                                      </p:cBhvr>
                                      <p:to>
                                        <p:strVal val="visible"/>
                                      </p:to>
                                    </p:set>
                                    <p:animEffect transition="in" filter="fade">
                                      <p:cBhvr>
                                        <p:cTn id="34" dur="300"/>
                                        <p:tgtEl>
                                          <p:spTgt spid="20096"/>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set>
                                      <p:cBhvr>
                                        <p:cTn id="38" dur="1" fill="hold">
                                          <p:stCondLst>
                                            <p:cond delay="1099"/>
                                          </p:stCondLst>
                                        </p:cTn>
                                        <p:tgtEl>
                                          <p:spTgt spid="20018"/>
                                        </p:tgtEl>
                                        <p:attrNameLst>
                                          <p:attrName>style.visibility</p:attrName>
                                        </p:attrNameLst>
                                      </p:cBhvr>
                                      <p:to>
                                        <p:strVal val="visible"/>
                                      </p:to>
                                    </p:set>
                                    <p:animMotion origin="layout" path="M 0 0 L -0.48310878 -0.21740223 E" pathEditMode="relative">
                                      <p:cBhvr from="" to="">
                                        <p:cTn id="39" dur="1100" fill="hold">
                                          <p:stCondLst>
                                            <p:cond delay="0"/>
                                          </p:stCondLst>
                                        </p:cTn>
                                        <p:tgtEl>
                                          <p:spTgt spid="20018"/>
                                        </p:tgtEl>
                                        <p:attrNameLst>
                                          <p:attrName>ppt_x</p:attrName>
                                          <p:attrName>ppt_y</p:attrName>
                                        </p:attrNameLst>
                                      </p:cBhvr>
                                    </p:animMotion>
                                    <p:animScale>
                                      <p:cBhvr>
                                        <p:cTn id="40" dur="1100" fill="hold">
                                          <p:stCondLst>
                                            <p:cond delay="0"/>
                                          </p:stCondLst>
                                        </p:cTn>
                                        <p:tgtEl>
                                          <p:spTgt spid="20018"/>
                                        </p:tgtEl>
                                      </p:cBhvr>
                                      <p:from x="100000" y="100000"/>
                                      <p:to x="25000" y="25000"/>
                                    </p:animScale>
                                  </p:childTnLst>
                                </p:cTn>
                              </p:par>
                              <p:par>
                                <p:cTn id="41" presetID="10" presetClass="exit" presetSubtype="0" fill="hold" nodeType="withEffect">
                                  <p:stCondLst>
                                    <p:cond delay="850"/>
                                  </p:stCondLst>
                                  <p:childTnLst>
                                    <p:animEffect transition="out" filter="fade">
                                      <p:cBhvr>
                                        <p:cTn id="42" dur="350"/>
                                        <p:tgtEl>
                                          <p:spTgt spid="20018"/>
                                        </p:tgtEl>
                                      </p:cBhvr>
                                    </p:animEffect>
                                    <p:set>
                                      <p:cBhvr>
                                        <p:cTn id="43" dur="1" fill="hold">
                                          <p:stCondLst>
                                            <p:cond delay="349"/>
                                          </p:stCondLst>
                                        </p:cTn>
                                        <p:tgtEl>
                                          <p:spTgt spid="20018"/>
                                        </p:tgtEl>
                                        <p:attrNameLst>
                                          <p:attrName>style.visibility</p:attrName>
                                        </p:attrNameLst>
                                      </p:cBhvr>
                                      <p:to>
                                        <p:strVal val="hidden"/>
                                      </p:to>
                                    </p:set>
                                  </p:childTnLst>
                                </p:cTn>
                              </p:par>
                              <p:par>
                                <p:cTn id="44" presetID="10" presetClass="entr" presetSubtype="0" fill="hold" nodeType="withEffect">
                                  <p:stCondLst>
                                    <p:cond delay="850"/>
                                  </p:stCondLst>
                                  <p:childTnLst>
                                    <p:set>
                                      <p:cBhvr>
                                        <p:cTn id="45" dur="1" fill="hold">
                                          <p:stCondLst>
                                            <p:cond delay="0"/>
                                          </p:stCondLst>
                                        </p:cTn>
                                        <p:tgtEl>
                                          <p:spTgt spid="20027"/>
                                        </p:tgtEl>
                                        <p:attrNameLst>
                                          <p:attrName>style.visibility</p:attrName>
                                        </p:attrNameLst>
                                      </p:cBhvr>
                                      <p:to>
                                        <p:strVal val="visible"/>
                                      </p:to>
                                    </p:set>
                                    <p:animEffect transition="in" filter="fade">
                                      <p:cBhvr>
                                        <p:cTn id="46" dur="400"/>
                                        <p:tgtEl>
                                          <p:spTgt spid="20027"/>
                                        </p:tgtEl>
                                      </p:cBhvr>
                                    </p:animEffect>
                                  </p:childTnLst>
                                </p:cTn>
                              </p:par>
                              <p:par>
                                <p:cTn id="47" presetID="10" presetClass="entr" presetSubtype="0" fill="hold" nodeType="withEffect">
                                  <p:stCondLst>
                                    <p:cond delay="1050"/>
                                  </p:stCondLst>
                                  <p:childTnLst>
                                    <p:set>
                                      <p:cBhvr>
                                        <p:cTn id="48" dur="1" fill="hold">
                                          <p:stCondLst>
                                            <p:cond delay="0"/>
                                          </p:stCondLst>
                                        </p:cTn>
                                        <p:tgtEl>
                                          <p:spTgt spid="20031"/>
                                        </p:tgtEl>
                                        <p:attrNameLst>
                                          <p:attrName>style.visibility</p:attrName>
                                        </p:attrNameLst>
                                      </p:cBhvr>
                                      <p:to>
                                        <p:strVal val="visible"/>
                                      </p:to>
                                    </p:set>
                                    <p:animEffect transition="in" filter="fade">
                                      <p:cBhvr>
                                        <p:cTn id="49" dur="400"/>
                                        <p:tgtEl>
                                          <p:spTgt spid="20031"/>
                                        </p:tgtEl>
                                      </p:cBhvr>
                                    </p:animEffect>
                                  </p:childTnLst>
                                </p:cTn>
                              </p:par>
                              <p:par>
                                <p:cTn id="50" presetID="10" presetClass="entr" presetSubtype="0" fill="hold" nodeType="withEffect">
                                  <p:stCondLst>
                                    <p:cond delay="1050"/>
                                  </p:stCondLst>
                                  <p:childTnLst>
                                    <p:set>
                                      <p:cBhvr>
                                        <p:cTn id="51" dur="1" fill="hold">
                                          <p:stCondLst>
                                            <p:cond delay="0"/>
                                          </p:stCondLst>
                                        </p:cTn>
                                        <p:tgtEl>
                                          <p:spTgt spid="20038"/>
                                        </p:tgtEl>
                                        <p:attrNameLst>
                                          <p:attrName>style.visibility</p:attrName>
                                        </p:attrNameLst>
                                      </p:cBhvr>
                                      <p:to>
                                        <p:strVal val="visible"/>
                                      </p:to>
                                    </p:set>
                                    <p:animEffect transition="in" filter="fade">
                                      <p:cBhvr>
                                        <p:cTn id="52" dur="400"/>
                                        <p:tgtEl>
                                          <p:spTgt spid="20038"/>
                                        </p:tgtEl>
                                      </p:cBhvr>
                                    </p:animEffect>
                                  </p:childTnLst>
                                </p:cTn>
                              </p:par>
                              <p:par>
                                <p:cTn id="53" presetID="10" presetClass="entr" presetSubtype="0" fill="hold" nodeType="withEffect">
                                  <p:stCondLst>
                                    <p:cond delay="1050"/>
                                  </p:stCondLst>
                                  <p:childTnLst>
                                    <p:set>
                                      <p:cBhvr>
                                        <p:cTn id="54" dur="1" fill="hold">
                                          <p:stCondLst>
                                            <p:cond delay="0"/>
                                          </p:stCondLst>
                                        </p:cTn>
                                        <p:tgtEl>
                                          <p:spTgt spid="20054"/>
                                        </p:tgtEl>
                                        <p:attrNameLst>
                                          <p:attrName>style.visibility</p:attrName>
                                        </p:attrNameLst>
                                      </p:cBhvr>
                                      <p:to>
                                        <p:strVal val="visible"/>
                                      </p:to>
                                    </p:set>
                                    <p:animEffect transition="in" filter="fade">
                                      <p:cBhvr>
                                        <p:cTn id="55" dur="400"/>
                                        <p:tgtEl>
                                          <p:spTgt spid="20054"/>
                                        </p:tgtEl>
                                      </p:cBhvr>
                                    </p:animEffect>
                                  </p:childTnLst>
                                </p:cTn>
                              </p:par>
                              <p:par>
                                <p:cTn id="56" presetID="10" presetClass="exit" presetSubtype="0" fill="hold" grpId="1" nodeType="withEffect">
                                  <p:stCondLst>
                                    <p:cond delay="0"/>
                                  </p:stCondLst>
                                  <p:childTnLst>
                                    <p:animEffect transition="out" filter="fade">
                                      <p:cBhvr>
                                        <p:cTn id="57" dur="200"/>
                                        <p:tgtEl>
                                          <p:spTgt spid="20096"/>
                                        </p:tgtEl>
                                      </p:cBhvr>
                                    </p:animEffect>
                                    <p:set>
                                      <p:cBhvr>
                                        <p:cTn id="58" dur="1" fill="hold">
                                          <p:stCondLst>
                                            <p:cond delay="199"/>
                                          </p:stCondLst>
                                        </p:cTn>
                                        <p:tgtEl>
                                          <p:spTgt spid="20096"/>
                                        </p:tgtEl>
                                        <p:attrNameLst>
                                          <p:attrName>style.visibility</p:attrName>
                                        </p:attrNameLst>
                                      </p:cBhvr>
                                      <p:to>
                                        <p:strVal val="hidden"/>
                                      </p:to>
                                    </p:set>
                                  </p:childTnLst>
                                </p:cTn>
                              </p:par>
                              <p:par>
                                <p:cTn id="59" presetID="10" presetClass="entr" presetSubtype="0" fill="hold" grpId="0" nodeType="withEffect">
                                  <p:stCondLst>
                                    <p:cond delay="300"/>
                                  </p:stCondLst>
                                  <p:childTnLst>
                                    <p:set>
                                      <p:cBhvr>
                                        <p:cTn id="60" dur="1" fill="hold">
                                          <p:stCondLst>
                                            <p:cond delay="0"/>
                                          </p:stCondLst>
                                        </p:cTn>
                                        <p:tgtEl>
                                          <p:spTgt spid="20097"/>
                                        </p:tgtEl>
                                        <p:attrNameLst>
                                          <p:attrName>style.visibility</p:attrName>
                                        </p:attrNameLst>
                                      </p:cBhvr>
                                      <p:to>
                                        <p:strVal val="visible"/>
                                      </p:to>
                                    </p:set>
                                    <p:animEffect transition="in" filter="fade">
                                      <p:cBhvr>
                                        <p:cTn id="61" dur="300"/>
                                        <p:tgtEl>
                                          <p:spTgt spid="2009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0042"/>
                                        </p:tgtEl>
                                        <p:attrNameLst>
                                          <p:attrName>style.visibility</p:attrName>
                                        </p:attrNameLst>
                                      </p:cBhvr>
                                      <p:to>
                                        <p:strVal val="visible"/>
                                      </p:to>
                                    </p:set>
                                    <p:animEffect transition="in" filter="fade">
                                      <p:cBhvr>
                                        <p:cTn id="66" dur="600"/>
                                        <p:tgtEl>
                                          <p:spTgt spid="20042"/>
                                        </p:tgtEl>
                                      </p:cBhvr>
                                    </p:animEffect>
                                  </p:childTnLst>
                                </p:cTn>
                              </p:par>
                              <p:par>
                                <p:cTn id="67" presetID="10" presetClass="exit" presetSubtype="0" fill="hold" nodeType="withEffect">
                                  <p:stCondLst>
                                    <p:cond delay="300"/>
                                  </p:stCondLst>
                                  <p:childTnLst>
                                    <p:animEffect transition="out" filter="fade">
                                      <p:cBhvr>
                                        <p:cTn id="68" dur="200"/>
                                        <p:tgtEl>
                                          <p:spTgt spid="20054"/>
                                        </p:tgtEl>
                                      </p:cBhvr>
                                    </p:animEffect>
                                    <p:set>
                                      <p:cBhvr>
                                        <p:cTn id="69" dur="1" fill="hold">
                                          <p:stCondLst>
                                            <p:cond delay="199"/>
                                          </p:stCondLst>
                                        </p:cTn>
                                        <p:tgtEl>
                                          <p:spTgt spid="20054"/>
                                        </p:tgtEl>
                                        <p:attrNameLst>
                                          <p:attrName>style.visibility</p:attrName>
                                        </p:attrNameLst>
                                      </p:cBhvr>
                                      <p:to>
                                        <p:strVal val="hidden"/>
                                      </p:to>
                                    </p:set>
                                  </p:childTnLst>
                                </p:cTn>
                              </p:par>
                              <p:par>
                                <p:cTn id="70" presetID="10" presetClass="entr" presetSubtype="0" fill="hold" nodeType="withEffect">
                                  <p:stCondLst>
                                    <p:cond delay="300"/>
                                  </p:stCondLst>
                                  <p:childTnLst>
                                    <p:set>
                                      <p:cBhvr>
                                        <p:cTn id="71" dur="1" fill="hold">
                                          <p:stCondLst>
                                            <p:cond delay="0"/>
                                          </p:stCondLst>
                                        </p:cTn>
                                        <p:tgtEl>
                                          <p:spTgt spid="20046"/>
                                        </p:tgtEl>
                                        <p:attrNameLst>
                                          <p:attrName>style.visibility</p:attrName>
                                        </p:attrNameLst>
                                      </p:cBhvr>
                                      <p:to>
                                        <p:strVal val="visible"/>
                                      </p:to>
                                    </p:set>
                                    <p:animEffect transition="in" filter="fade">
                                      <p:cBhvr>
                                        <p:cTn id="72" dur="600"/>
                                        <p:tgtEl>
                                          <p:spTgt spid="20046"/>
                                        </p:tgtEl>
                                      </p:cBhvr>
                                    </p:animEffect>
                                  </p:childTnLst>
                                </p:cTn>
                              </p:par>
                              <p:par>
                                <p:cTn id="73" presetID="10" presetClass="entr" presetSubtype="0" fill="hold" nodeType="withEffect">
                                  <p:stCondLst>
                                    <p:cond delay="600"/>
                                  </p:stCondLst>
                                  <p:childTnLst>
                                    <p:set>
                                      <p:cBhvr>
                                        <p:cTn id="74" dur="1" fill="hold">
                                          <p:stCondLst>
                                            <p:cond delay="0"/>
                                          </p:stCondLst>
                                        </p:cTn>
                                        <p:tgtEl>
                                          <p:spTgt spid="20094"/>
                                        </p:tgtEl>
                                        <p:attrNameLst>
                                          <p:attrName>style.visibility</p:attrName>
                                        </p:attrNameLst>
                                      </p:cBhvr>
                                      <p:to>
                                        <p:strVal val="visible"/>
                                      </p:to>
                                    </p:set>
                                    <p:animEffect transition="in" filter="fade">
                                      <p:cBhvr>
                                        <p:cTn id="75" dur="400"/>
                                        <p:tgtEl>
                                          <p:spTgt spid="20094"/>
                                        </p:tgtEl>
                                      </p:cBhvr>
                                    </p:animEffect>
                                  </p:childTnLst>
                                </p:cTn>
                              </p:par>
                              <p:par>
                                <p:cTn id="76" presetID="10" presetClass="exit" presetSubtype="0" fill="hold" grpId="1" nodeType="withEffect">
                                  <p:stCondLst>
                                    <p:cond delay="0"/>
                                  </p:stCondLst>
                                  <p:childTnLst>
                                    <p:animEffect transition="out" filter="fade">
                                      <p:cBhvr>
                                        <p:cTn id="77" dur="200"/>
                                        <p:tgtEl>
                                          <p:spTgt spid="20097"/>
                                        </p:tgtEl>
                                      </p:cBhvr>
                                    </p:animEffect>
                                    <p:set>
                                      <p:cBhvr>
                                        <p:cTn id="78" dur="1" fill="hold">
                                          <p:stCondLst>
                                            <p:cond delay="199"/>
                                          </p:stCondLst>
                                        </p:cTn>
                                        <p:tgtEl>
                                          <p:spTgt spid="20097"/>
                                        </p:tgtEl>
                                        <p:attrNameLst>
                                          <p:attrName>style.visibility</p:attrName>
                                        </p:attrNameLst>
                                      </p:cBhvr>
                                      <p:to>
                                        <p:strVal val="hidden"/>
                                      </p:to>
                                    </p:set>
                                  </p:childTnLst>
                                </p:cTn>
                              </p:par>
                              <p:par>
                                <p:cTn id="79" presetID="10" presetClass="entr" presetSubtype="0" fill="hold" grpId="0" nodeType="withEffect">
                                  <p:stCondLst>
                                    <p:cond delay="300"/>
                                  </p:stCondLst>
                                  <p:childTnLst>
                                    <p:set>
                                      <p:cBhvr>
                                        <p:cTn id="80" dur="1" fill="hold">
                                          <p:stCondLst>
                                            <p:cond delay="0"/>
                                          </p:stCondLst>
                                        </p:cTn>
                                        <p:tgtEl>
                                          <p:spTgt spid="20098"/>
                                        </p:tgtEl>
                                        <p:attrNameLst>
                                          <p:attrName>style.visibility</p:attrName>
                                        </p:attrNameLst>
                                      </p:cBhvr>
                                      <p:to>
                                        <p:strVal val="visible"/>
                                      </p:to>
                                    </p:set>
                                    <p:animEffect transition="in" filter="fade">
                                      <p:cBhvr>
                                        <p:cTn id="81" dur="300"/>
                                        <p:tgtEl>
                                          <p:spTgt spid="20098"/>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nodeType="clickEffect">
                                  <p:stCondLst>
                                    <p:cond delay="0"/>
                                  </p:stCondLst>
                                  <p:childTnLst>
                                    <p:set>
                                      <p:cBhvr>
                                        <p:cTn id="85" dur="1" fill="hold">
                                          <p:stCondLst>
                                            <p:cond delay="0"/>
                                          </p:stCondLst>
                                        </p:cTn>
                                        <p:tgtEl>
                                          <p:spTgt spid="20079"/>
                                        </p:tgtEl>
                                        <p:attrNameLst>
                                          <p:attrName>style.visibility</p:attrName>
                                        </p:attrNameLst>
                                      </p:cBhvr>
                                      <p:to>
                                        <p:strVal val="visible"/>
                                      </p:to>
                                    </p:set>
                                    <p:animEffect transition="in" filter="fade">
                                      <p:cBhvr>
                                        <p:cTn id="86" dur="600"/>
                                        <p:tgtEl>
                                          <p:spTgt spid="20079"/>
                                        </p:tgtEl>
                                      </p:cBhvr>
                                    </p:animEffect>
                                  </p:childTnLst>
                                </p:cTn>
                              </p:par>
                              <p:par>
                                <p:cTn id="87" presetID="10" presetClass="entr" presetSubtype="0" fill="hold" nodeType="withEffect">
                                  <p:stCondLst>
                                    <p:cond delay="150"/>
                                  </p:stCondLst>
                                  <p:childTnLst>
                                    <p:set>
                                      <p:cBhvr>
                                        <p:cTn id="88" dur="1" fill="hold">
                                          <p:stCondLst>
                                            <p:cond delay="0"/>
                                          </p:stCondLst>
                                        </p:cTn>
                                        <p:tgtEl>
                                          <p:spTgt spid="20080"/>
                                        </p:tgtEl>
                                        <p:attrNameLst>
                                          <p:attrName>style.visibility</p:attrName>
                                        </p:attrNameLst>
                                      </p:cBhvr>
                                      <p:to>
                                        <p:strVal val="visible"/>
                                      </p:to>
                                    </p:set>
                                    <p:animEffect transition="in" filter="fade">
                                      <p:cBhvr>
                                        <p:cTn id="89" dur="600"/>
                                        <p:tgtEl>
                                          <p:spTgt spid="20080"/>
                                        </p:tgtEl>
                                      </p:cBhvr>
                                    </p:animEffect>
                                  </p:childTnLst>
                                </p:cTn>
                              </p:par>
                              <p:par>
                                <p:cTn id="90" presetID="10" presetClass="entr" presetSubtype="0" fill="hold" grpId="0" nodeType="withEffect">
                                  <p:stCondLst>
                                    <p:cond delay="150"/>
                                  </p:stCondLst>
                                  <p:childTnLst>
                                    <p:set>
                                      <p:cBhvr>
                                        <p:cTn id="91" dur="1" fill="hold">
                                          <p:stCondLst>
                                            <p:cond delay="0"/>
                                          </p:stCondLst>
                                        </p:cTn>
                                        <p:tgtEl>
                                          <p:spTgt spid="20081"/>
                                        </p:tgtEl>
                                        <p:attrNameLst>
                                          <p:attrName>style.visibility</p:attrName>
                                        </p:attrNameLst>
                                      </p:cBhvr>
                                      <p:to>
                                        <p:strVal val="visible"/>
                                      </p:to>
                                    </p:set>
                                    <p:animEffect transition="in" filter="fade">
                                      <p:cBhvr>
                                        <p:cTn id="92" dur="600"/>
                                        <p:tgtEl>
                                          <p:spTgt spid="20081"/>
                                        </p:tgtEl>
                                      </p:cBhvr>
                                    </p:animEffect>
                                  </p:childTnLst>
                                </p:cTn>
                              </p:par>
                              <p:par>
                                <p:cTn id="93" presetID="10" presetClass="entr" presetSubtype="0" fill="hold" grpId="0" nodeType="withEffect">
                                  <p:stCondLst>
                                    <p:cond delay="150"/>
                                  </p:stCondLst>
                                  <p:childTnLst>
                                    <p:set>
                                      <p:cBhvr>
                                        <p:cTn id="94" dur="1" fill="hold">
                                          <p:stCondLst>
                                            <p:cond delay="0"/>
                                          </p:stCondLst>
                                        </p:cTn>
                                        <p:tgtEl>
                                          <p:spTgt spid="20082"/>
                                        </p:tgtEl>
                                        <p:attrNameLst>
                                          <p:attrName>style.visibility</p:attrName>
                                        </p:attrNameLst>
                                      </p:cBhvr>
                                      <p:to>
                                        <p:strVal val="visible"/>
                                      </p:to>
                                    </p:set>
                                    <p:animEffect transition="in" filter="fade">
                                      <p:cBhvr>
                                        <p:cTn id="95" dur="600"/>
                                        <p:tgtEl>
                                          <p:spTgt spid="20082"/>
                                        </p:tgtEl>
                                      </p:cBhvr>
                                    </p:animEffect>
                                  </p:childTnLst>
                                </p:cTn>
                              </p:par>
                              <p:par>
                                <p:cTn id="96" presetID="10" presetClass="entr" presetSubtype="0" fill="hold" grpId="0" nodeType="withEffect">
                                  <p:stCondLst>
                                    <p:cond delay="150"/>
                                  </p:stCondLst>
                                  <p:childTnLst>
                                    <p:set>
                                      <p:cBhvr>
                                        <p:cTn id="97" dur="1" fill="hold">
                                          <p:stCondLst>
                                            <p:cond delay="0"/>
                                          </p:stCondLst>
                                        </p:cTn>
                                        <p:tgtEl>
                                          <p:spTgt spid="20083"/>
                                        </p:tgtEl>
                                        <p:attrNameLst>
                                          <p:attrName>style.visibility</p:attrName>
                                        </p:attrNameLst>
                                      </p:cBhvr>
                                      <p:to>
                                        <p:strVal val="visible"/>
                                      </p:to>
                                    </p:set>
                                    <p:animEffect transition="in" filter="fade">
                                      <p:cBhvr>
                                        <p:cTn id="98" dur="600"/>
                                        <p:tgtEl>
                                          <p:spTgt spid="20083"/>
                                        </p:tgtEl>
                                      </p:cBhvr>
                                    </p:animEffect>
                                  </p:childTnLst>
                                </p:cTn>
                              </p:par>
                              <p:par>
                                <p:cTn id="99" presetID="10" presetClass="entr" presetSubtype="0" fill="hold" nodeType="withEffect">
                                  <p:stCondLst>
                                    <p:cond delay="150"/>
                                  </p:stCondLst>
                                  <p:childTnLst>
                                    <p:set>
                                      <p:cBhvr>
                                        <p:cTn id="100" dur="1" fill="hold">
                                          <p:stCondLst>
                                            <p:cond delay="0"/>
                                          </p:stCondLst>
                                        </p:cTn>
                                        <p:tgtEl>
                                          <p:spTgt spid="20088"/>
                                        </p:tgtEl>
                                        <p:attrNameLst>
                                          <p:attrName>style.visibility</p:attrName>
                                        </p:attrNameLst>
                                      </p:cBhvr>
                                      <p:to>
                                        <p:strVal val="visible"/>
                                      </p:to>
                                    </p:set>
                                    <p:animEffect transition="in" filter="fade">
                                      <p:cBhvr>
                                        <p:cTn id="101" dur="600"/>
                                        <p:tgtEl>
                                          <p:spTgt spid="20088"/>
                                        </p:tgtEl>
                                      </p:cBhvr>
                                    </p:animEffect>
                                  </p:childTnLst>
                                </p:cTn>
                              </p:par>
                              <p:par>
                                <p:cTn id="102" presetID="10" presetClass="exit" presetSubtype="0" fill="hold" grpId="1" nodeType="withEffect">
                                  <p:stCondLst>
                                    <p:cond delay="0"/>
                                  </p:stCondLst>
                                  <p:childTnLst>
                                    <p:animEffect transition="out" filter="fade">
                                      <p:cBhvr>
                                        <p:cTn id="103" dur="300"/>
                                        <p:tgtEl>
                                          <p:spTgt spid="20098"/>
                                        </p:tgtEl>
                                      </p:cBhvr>
                                    </p:animEffect>
                                    <p:set>
                                      <p:cBhvr>
                                        <p:cTn id="104" dur="1" fill="hold">
                                          <p:stCondLst>
                                            <p:cond delay="299"/>
                                          </p:stCondLst>
                                        </p:cTn>
                                        <p:tgtEl>
                                          <p:spTgt spid="20098"/>
                                        </p:tgtEl>
                                        <p:attrNameLst>
                                          <p:attrName>style.visibility</p:attrName>
                                        </p:attrNameLst>
                                      </p:cBhvr>
                                      <p:to>
                                        <p:strVal val="hidden"/>
                                      </p:to>
                                    </p:set>
                                  </p:childTnLst>
                                </p:cTn>
                              </p:par>
                            </p:childTnLst>
                          </p:cTn>
                        </p:par>
                      </p:childTnLst>
                    </p:cTn>
                  </p:par>
                  <p:par>
                    <p:cTn id="105" fill="hold">
                      <p:stCondLst>
                        <p:cond delay="indefinite"/>
                      </p:stCondLst>
                      <p:childTnLst>
                        <p:par>
                          <p:cTn id="106" fill="hold">
                            <p:stCondLst>
                              <p:cond delay="0"/>
                            </p:stCondLst>
                            <p:childTnLst>
                              <p:par>
                                <p:cTn id="107" presetID="10" presetClass="exit" presetSubtype="0" fill="hold" nodeType="clickEffect">
                                  <p:stCondLst>
                                    <p:cond delay="0"/>
                                  </p:stCondLst>
                                  <p:childTnLst>
                                    <p:animEffect transition="out" filter="fade">
                                      <p:cBhvr>
                                        <p:cTn id="108" dur="500"/>
                                        <p:tgtEl>
                                          <p:spTgt spid="20001"/>
                                        </p:tgtEl>
                                      </p:cBhvr>
                                    </p:animEffect>
                                    <p:set>
                                      <p:cBhvr>
                                        <p:cTn id="109" dur="1" fill="hold">
                                          <p:stCondLst>
                                            <p:cond delay="499"/>
                                          </p:stCondLst>
                                        </p:cTn>
                                        <p:tgtEl>
                                          <p:spTgt spid="20001"/>
                                        </p:tgtEl>
                                        <p:attrNameLst>
                                          <p:attrName>style.visibility</p:attrName>
                                        </p:attrNameLst>
                                      </p:cBhvr>
                                      <p:to>
                                        <p:strVal val="hidden"/>
                                      </p:to>
                                    </p:set>
                                  </p:childTnLst>
                                </p:cTn>
                              </p:par>
                              <p:par>
                                <p:cTn id="110" presetID="10" presetClass="exit" presetSubtype="0" fill="hold" nodeType="withEffect">
                                  <p:stCondLst>
                                    <p:cond delay="0"/>
                                  </p:stCondLst>
                                  <p:childTnLst>
                                    <p:animEffect transition="out" filter="fade">
                                      <p:cBhvr>
                                        <p:cTn id="111" dur="500"/>
                                        <p:tgtEl>
                                          <p:spTgt spid="20079"/>
                                        </p:tgtEl>
                                      </p:cBhvr>
                                    </p:animEffect>
                                    <p:set>
                                      <p:cBhvr>
                                        <p:cTn id="112" dur="1" fill="hold">
                                          <p:stCondLst>
                                            <p:cond delay="499"/>
                                          </p:stCondLst>
                                        </p:cTn>
                                        <p:tgtEl>
                                          <p:spTgt spid="20079"/>
                                        </p:tgtEl>
                                        <p:attrNameLst>
                                          <p:attrName>style.visibility</p:attrName>
                                        </p:attrNameLst>
                                      </p:cBhvr>
                                      <p:to>
                                        <p:strVal val="hidden"/>
                                      </p:to>
                                    </p:set>
                                  </p:childTnLst>
                                </p:cTn>
                              </p:par>
                              <p:par>
                                <p:cTn id="113" presetID="10" presetClass="exit" presetSubtype="0" fill="hold" nodeType="withEffect">
                                  <p:stCondLst>
                                    <p:cond delay="0"/>
                                  </p:stCondLst>
                                  <p:childTnLst>
                                    <p:animEffect transition="out" filter="fade">
                                      <p:cBhvr>
                                        <p:cTn id="114" dur="500"/>
                                        <p:tgtEl>
                                          <p:spTgt spid="20080"/>
                                        </p:tgtEl>
                                      </p:cBhvr>
                                    </p:animEffect>
                                    <p:set>
                                      <p:cBhvr>
                                        <p:cTn id="115" dur="1" fill="hold">
                                          <p:stCondLst>
                                            <p:cond delay="499"/>
                                          </p:stCondLst>
                                        </p:cTn>
                                        <p:tgtEl>
                                          <p:spTgt spid="20080"/>
                                        </p:tgtEl>
                                        <p:attrNameLst>
                                          <p:attrName>style.visibility</p:attrName>
                                        </p:attrNameLst>
                                      </p:cBhvr>
                                      <p:to>
                                        <p:strVal val="hidden"/>
                                      </p:to>
                                    </p:set>
                                  </p:childTnLst>
                                </p:cTn>
                              </p:par>
                              <p:par>
                                <p:cTn id="116" presetID="10" presetClass="exit" presetSubtype="0" fill="hold" grpId="1" nodeType="withEffect">
                                  <p:stCondLst>
                                    <p:cond delay="0"/>
                                  </p:stCondLst>
                                  <p:childTnLst>
                                    <p:animEffect transition="out" filter="fade">
                                      <p:cBhvr>
                                        <p:cTn id="117" dur="500"/>
                                        <p:tgtEl>
                                          <p:spTgt spid="20081"/>
                                        </p:tgtEl>
                                      </p:cBhvr>
                                    </p:animEffect>
                                    <p:set>
                                      <p:cBhvr>
                                        <p:cTn id="118" dur="1" fill="hold">
                                          <p:stCondLst>
                                            <p:cond delay="499"/>
                                          </p:stCondLst>
                                        </p:cTn>
                                        <p:tgtEl>
                                          <p:spTgt spid="20081"/>
                                        </p:tgtEl>
                                        <p:attrNameLst>
                                          <p:attrName>style.visibility</p:attrName>
                                        </p:attrNameLst>
                                      </p:cBhvr>
                                      <p:to>
                                        <p:strVal val="hidden"/>
                                      </p:to>
                                    </p:set>
                                  </p:childTnLst>
                                </p:cTn>
                              </p:par>
                              <p:par>
                                <p:cTn id="119" presetID="10" presetClass="exit" presetSubtype="0" fill="hold" grpId="1" nodeType="withEffect">
                                  <p:stCondLst>
                                    <p:cond delay="0"/>
                                  </p:stCondLst>
                                  <p:childTnLst>
                                    <p:animEffect transition="out" filter="fade">
                                      <p:cBhvr>
                                        <p:cTn id="120" dur="500"/>
                                        <p:tgtEl>
                                          <p:spTgt spid="20082"/>
                                        </p:tgtEl>
                                      </p:cBhvr>
                                    </p:animEffect>
                                    <p:set>
                                      <p:cBhvr>
                                        <p:cTn id="121" dur="1" fill="hold">
                                          <p:stCondLst>
                                            <p:cond delay="499"/>
                                          </p:stCondLst>
                                        </p:cTn>
                                        <p:tgtEl>
                                          <p:spTgt spid="20082"/>
                                        </p:tgtEl>
                                        <p:attrNameLst>
                                          <p:attrName>style.visibility</p:attrName>
                                        </p:attrNameLst>
                                      </p:cBhvr>
                                      <p:to>
                                        <p:strVal val="hidden"/>
                                      </p:to>
                                    </p:set>
                                  </p:childTnLst>
                                </p:cTn>
                              </p:par>
                              <p:par>
                                <p:cTn id="122" presetID="10" presetClass="exit" presetSubtype="0" fill="hold" grpId="1" nodeType="withEffect">
                                  <p:stCondLst>
                                    <p:cond delay="0"/>
                                  </p:stCondLst>
                                  <p:childTnLst>
                                    <p:animEffect transition="out" filter="fade">
                                      <p:cBhvr>
                                        <p:cTn id="123" dur="500"/>
                                        <p:tgtEl>
                                          <p:spTgt spid="20083"/>
                                        </p:tgtEl>
                                      </p:cBhvr>
                                    </p:animEffect>
                                    <p:set>
                                      <p:cBhvr>
                                        <p:cTn id="124" dur="1" fill="hold">
                                          <p:stCondLst>
                                            <p:cond delay="499"/>
                                          </p:stCondLst>
                                        </p:cTn>
                                        <p:tgtEl>
                                          <p:spTgt spid="20083"/>
                                        </p:tgtEl>
                                        <p:attrNameLst>
                                          <p:attrName>style.visibility</p:attrName>
                                        </p:attrNameLst>
                                      </p:cBhvr>
                                      <p:to>
                                        <p:strVal val="hidden"/>
                                      </p:to>
                                    </p:set>
                                  </p:childTnLst>
                                </p:cTn>
                              </p:par>
                              <p:par>
                                <p:cTn id="125" presetID="10" presetClass="exit" presetSubtype="0" fill="hold" nodeType="withEffect">
                                  <p:stCondLst>
                                    <p:cond delay="0"/>
                                  </p:stCondLst>
                                  <p:childTnLst>
                                    <p:animEffect transition="out" filter="fade">
                                      <p:cBhvr>
                                        <p:cTn id="126" dur="500"/>
                                        <p:tgtEl>
                                          <p:spTgt spid="20088"/>
                                        </p:tgtEl>
                                      </p:cBhvr>
                                    </p:animEffect>
                                    <p:set>
                                      <p:cBhvr>
                                        <p:cTn id="127" dur="1" fill="hold">
                                          <p:stCondLst>
                                            <p:cond delay="499"/>
                                          </p:stCondLst>
                                        </p:cTn>
                                        <p:tgtEl>
                                          <p:spTgt spid="20088"/>
                                        </p:tgtEl>
                                        <p:attrNameLst>
                                          <p:attrName>style.visibility</p:attrName>
                                        </p:attrNameLst>
                                      </p:cBhvr>
                                      <p:to>
                                        <p:strVal val="hidden"/>
                                      </p:to>
                                    </p:set>
                                  </p:childTnLst>
                                </p:cTn>
                              </p:par>
                              <p:par>
                                <p:cTn id="128" presetID="10" presetClass="exit" presetSubtype="0" fill="hold" nodeType="withEffect">
                                  <p:stCondLst>
                                    <p:cond delay="0"/>
                                  </p:stCondLst>
                                  <p:childTnLst>
                                    <p:animEffect transition="out" filter="fade">
                                      <p:cBhvr>
                                        <p:cTn id="129" dur="500"/>
                                        <p:tgtEl>
                                          <p:spTgt spid="20094"/>
                                        </p:tgtEl>
                                      </p:cBhvr>
                                    </p:animEffect>
                                    <p:set>
                                      <p:cBhvr>
                                        <p:cTn id="130" dur="1" fill="hold">
                                          <p:stCondLst>
                                            <p:cond delay="499"/>
                                          </p:stCondLst>
                                        </p:cTn>
                                        <p:tgtEl>
                                          <p:spTgt spid="20094"/>
                                        </p:tgtEl>
                                        <p:attrNameLst>
                                          <p:attrName>style.visibility</p:attrName>
                                        </p:attrNameLst>
                                      </p:cBhvr>
                                      <p:to>
                                        <p:strVal val="hidden"/>
                                      </p:to>
                                    </p:set>
                                  </p:childTnLst>
                                </p:cTn>
                              </p:par>
                              <p:par>
                                <p:cTn id="131" presetID="10" presetClass="exit" presetSubtype="0" fill="hold" grpId="0" nodeType="withEffect">
                                  <p:stCondLst>
                                    <p:cond delay="0"/>
                                  </p:stCondLst>
                                  <p:childTnLst>
                                    <p:animEffect transition="out" filter="fade">
                                      <p:cBhvr>
                                        <p:cTn id="132" dur="500"/>
                                        <p:tgtEl>
                                          <p:spTgt spid="3"/>
                                        </p:tgtEl>
                                      </p:cBhvr>
                                    </p:animEffect>
                                    <p:set>
                                      <p:cBhvr>
                                        <p:cTn id="133" dur="1" fill="hold">
                                          <p:stCondLst>
                                            <p:cond delay="499"/>
                                          </p:stCondLst>
                                        </p:cTn>
                                        <p:tgtEl>
                                          <p:spTgt spid="3"/>
                                        </p:tgtEl>
                                        <p:attrNameLst>
                                          <p:attrName>style.visibility</p:attrName>
                                        </p:attrNameLst>
                                      </p:cBhvr>
                                      <p:to>
                                        <p:strVal val="hidden"/>
                                      </p:to>
                                    </p:set>
                                  </p:childTnLst>
                                </p:cTn>
                              </p:par>
                              <p:par>
                                <p:cTn id="134" presetID="10" presetClass="exit" presetSubtype="0" fill="hold" nodeType="withEffect">
                                  <p:stCondLst>
                                    <p:cond delay="50"/>
                                  </p:stCondLst>
                                  <p:childTnLst>
                                    <p:animEffect transition="out" filter="fade">
                                      <p:cBhvr>
                                        <p:cTn id="135" dur="50"/>
                                        <p:tgtEl>
                                          <p:spTgt spid="20023"/>
                                        </p:tgtEl>
                                      </p:cBhvr>
                                    </p:animEffect>
                                    <p:set>
                                      <p:cBhvr>
                                        <p:cTn id="136" dur="1" fill="hold">
                                          <p:stCondLst>
                                            <p:cond delay="49"/>
                                          </p:stCondLst>
                                        </p:cTn>
                                        <p:tgtEl>
                                          <p:spTgt spid="20023"/>
                                        </p:tgtEl>
                                        <p:attrNameLst>
                                          <p:attrName>style.visibility</p:attrName>
                                        </p:attrNameLst>
                                      </p:cBhvr>
                                      <p:to>
                                        <p:strVal val="hidden"/>
                                      </p:to>
                                    </p:set>
                                  </p:childTnLst>
                                </p:cTn>
                              </p:par>
                              <p:par>
                                <p:cTn id="137" presetID="10" presetClass="exit" presetSubtype="0" fill="hold" nodeType="withEffect">
                                  <p:stCondLst>
                                    <p:cond delay="50"/>
                                  </p:stCondLst>
                                  <p:childTnLst>
                                    <p:animEffect transition="out" filter="fade">
                                      <p:cBhvr>
                                        <p:cTn id="138" dur="50"/>
                                        <p:tgtEl>
                                          <p:spTgt spid="20027"/>
                                        </p:tgtEl>
                                      </p:cBhvr>
                                    </p:animEffect>
                                    <p:set>
                                      <p:cBhvr>
                                        <p:cTn id="139" dur="1" fill="hold">
                                          <p:stCondLst>
                                            <p:cond delay="49"/>
                                          </p:stCondLst>
                                        </p:cTn>
                                        <p:tgtEl>
                                          <p:spTgt spid="20027"/>
                                        </p:tgtEl>
                                        <p:attrNameLst>
                                          <p:attrName>style.visibility</p:attrName>
                                        </p:attrNameLst>
                                      </p:cBhvr>
                                      <p:to>
                                        <p:strVal val="hidden"/>
                                      </p:to>
                                    </p:set>
                                  </p:childTnLst>
                                </p:cTn>
                              </p:par>
                              <p:par>
                                <p:cTn id="140" presetID="10" presetClass="exit" presetSubtype="0" fill="hold" nodeType="withEffect">
                                  <p:stCondLst>
                                    <p:cond delay="50"/>
                                  </p:stCondLst>
                                  <p:childTnLst>
                                    <p:animEffect transition="out" filter="fade">
                                      <p:cBhvr>
                                        <p:cTn id="141" dur="50"/>
                                        <p:tgtEl>
                                          <p:spTgt spid="20031"/>
                                        </p:tgtEl>
                                      </p:cBhvr>
                                    </p:animEffect>
                                    <p:set>
                                      <p:cBhvr>
                                        <p:cTn id="142" dur="1" fill="hold">
                                          <p:stCondLst>
                                            <p:cond delay="49"/>
                                          </p:stCondLst>
                                        </p:cTn>
                                        <p:tgtEl>
                                          <p:spTgt spid="20031"/>
                                        </p:tgtEl>
                                        <p:attrNameLst>
                                          <p:attrName>style.visibility</p:attrName>
                                        </p:attrNameLst>
                                      </p:cBhvr>
                                      <p:to>
                                        <p:strVal val="hidden"/>
                                      </p:to>
                                    </p:set>
                                  </p:childTnLst>
                                </p:cTn>
                              </p:par>
                              <p:par>
                                <p:cTn id="143" presetID="10" presetClass="exit" presetSubtype="0" fill="hold" nodeType="withEffect">
                                  <p:stCondLst>
                                    <p:cond delay="50"/>
                                  </p:stCondLst>
                                  <p:childTnLst>
                                    <p:animEffect transition="out" filter="fade">
                                      <p:cBhvr>
                                        <p:cTn id="144" dur="50"/>
                                        <p:tgtEl>
                                          <p:spTgt spid="20038"/>
                                        </p:tgtEl>
                                      </p:cBhvr>
                                    </p:animEffect>
                                    <p:set>
                                      <p:cBhvr>
                                        <p:cTn id="145" dur="1" fill="hold">
                                          <p:stCondLst>
                                            <p:cond delay="49"/>
                                          </p:stCondLst>
                                        </p:cTn>
                                        <p:tgtEl>
                                          <p:spTgt spid="20038"/>
                                        </p:tgtEl>
                                        <p:attrNameLst>
                                          <p:attrName>style.visibility</p:attrName>
                                        </p:attrNameLst>
                                      </p:cBhvr>
                                      <p:to>
                                        <p:strVal val="hidden"/>
                                      </p:to>
                                    </p:set>
                                  </p:childTnLst>
                                </p:cTn>
                              </p:par>
                              <p:par>
                                <p:cTn id="146" presetID="10" presetClass="exit" presetSubtype="0" fill="hold" nodeType="withEffect">
                                  <p:stCondLst>
                                    <p:cond delay="50"/>
                                  </p:stCondLst>
                                  <p:childTnLst>
                                    <p:animEffect transition="out" filter="fade">
                                      <p:cBhvr>
                                        <p:cTn id="147" dur="50"/>
                                        <p:tgtEl>
                                          <p:spTgt spid="20042"/>
                                        </p:tgtEl>
                                      </p:cBhvr>
                                    </p:animEffect>
                                    <p:set>
                                      <p:cBhvr>
                                        <p:cTn id="148" dur="1" fill="hold">
                                          <p:stCondLst>
                                            <p:cond delay="49"/>
                                          </p:stCondLst>
                                        </p:cTn>
                                        <p:tgtEl>
                                          <p:spTgt spid="20042"/>
                                        </p:tgtEl>
                                        <p:attrNameLst>
                                          <p:attrName>style.visibility</p:attrName>
                                        </p:attrNameLst>
                                      </p:cBhvr>
                                      <p:to>
                                        <p:strVal val="hidden"/>
                                      </p:to>
                                    </p:set>
                                  </p:childTnLst>
                                </p:cTn>
                              </p:par>
                              <p:par>
                                <p:cTn id="149" presetID="10" presetClass="exit" presetSubtype="0" fill="hold" nodeType="withEffect">
                                  <p:stCondLst>
                                    <p:cond delay="50"/>
                                  </p:stCondLst>
                                  <p:childTnLst>
                                    <p:animEffect transition="out" filter="fade">
                                      <p:cBhvr>
                                        <p:cTn id="150" dur="50"/>
                                        <p:tgtEl>
                                          <p:spTgt spid="20046"/>
                                        </p:tgtEl>
                                      </p:cBhvr>
                                    </p:animEffect>
                                    <p:set>
                                      <p:cBhvr>
                                        <p:cTn id="151" dur="1" fill="hold">
                                          <p:stCondLst>
                                            <p:cond delay="49"/>
                                          </p:stCondLst>
                                        </p:cTn>
                                        <p:tgtEl>
                                          <p:spTgt spid="20046"/>
                                        </p:tgtEl>
                                        <p:attrNameLst>
                                          <p:attrName>style.visibility</p:attrName>
                                        </p:attrNameLst>
                                      </p:cBhvr>
                                      <p:to>
                                        <p:strVal val="hidden"/>
                                      </p:to>
                                    </p:set>
                                  </p:childTnLst>
                                </p:cTn>
                              </p:par>
                              <p:par>
                                <p:cTn id="152" presetID="10" presetClass="entr" presetSubtype="0" fill="hold" nodeType="withEffect">
                                  <p:stCondLst>
                                    <p:cond delay="0"/>
                                  </p:stCondLst>
                                  <p:childTnLst>
                                    <p:set>
                                      <p:cBhvr>
                                        <p:cTn id="153" dur="1" fill="hold">
                                          <p:stCondLst>
                                            <p:cond delay="0"/>
                                          </p:stCondLst>
                                        </p:cTn>
                                        <p:tgtEl>
                                          <p:spTgt spid="20057"/>
                                        </p:tgtEl>
                                        <p:attrNameLst>
                                          <p:attrName>style.visibility</p:attrName>
                                        </p:attrNameLst>
                                      </p:cBhvr>
                                      <p:to>
                                        <p:strVal val="visible"/>
                                      </p:to>
                                    </p:set>
                                    <p:animEffect transition="in" filter="fade">
                                      <p:cBhvr>
                                        <p:cTn id="154" dur="50"/>
                                        <p:tgtEl>
                                          <p:spTgt spid="20057"/>
                                        </p:tgtEl>
                                      </p:cBhvr>
                                    </p:animEffect>
                                  </p:childTnLst>
                                </p:cTn>
                              </p:par>
                              <p:par>
                                <p:cTn id="155" presetID="0" presetClass="path" presetSubtype="0" accel="50000" decel="50000" fill="hold" nodeType="withEffect">
                                  <p:stCondLst>
                                    <p:cond delay="100"/>
                                  </p:stCondLst>
                                  <p:childTnLst>
                                    <p:set>
                                      <p:cBhvr>
                                        <p:cTn id="156" dur="1" fill="hold">
                                          <p:stCondLst>
                                            <p:cond delay="1099"/>
                                          </p:stCondLst>
                                        </p:cTn>
                                        <p:tgtEl>
                                          <p:spTgt spid="20057"/>
                                        </p:tgtEl>
                                        <p:attrNameLst>
                                          <p:attrName>style.visibility</p:attrName>
                                        </p:attrNameLst>
                                      </p:cBhvr>
                                      <p:to>
                                        <p:strVal val="visible"/>
                                      </p:to>
                                    </p:set>
                                    <p:animMotion origin="layout" path="M 0 0 L 0.25138889 0.05109779 E" pathEditMode="relative">
                                      <p:cBhvr from="" to="">
                                        <p:cTn id="157" dur="1100" fill="hold">
                                          <p:stCondLst>
                                            <p:cond delay="0"/>
                                          </p:stCondLst>
                                        </p:cTn>
                                        <p:tgtEl>
                                          <p:spTgt spid="20057"/>
                                        </p:tgtEl>
                                        <p:attrNameLst>
                                          <p:attrName>ppt_x</p:attrName>
                                          <p:attrName>ppt_y</p:attrName>
                                        </p:attrNameLst>
                                      </p:cBhvr>
                                    </p:animMotion>
                                    <p:animScale>
                                      <p:cBhvr>
                                        <p:cTn id="158" dur="1100" fill="hold">
                                          <p:stCondLst>
                                            <p:cond delay="0"/>
                                          </p:stCondLst>
                                        </p:cTn>
                                        <p:tgtEl>
                                          <p:spTgt spid="20057"/>
                                        </p:tgtEl>
                                      </p:cBhvr>
                                      <p:from x="100000" y="100000"/>
                                      <p:to x="112000" y="112000"/>
                                    </p:animScale>
                                  </p:childTnLst>
                                </p:cTn>
                              </p:par>
                              <p:par>
                                <p:cTn id="159" presetID="10" presetClass="entr" presetSubtype="0" fill="hold" grpId="0" nodeType="withEffect">
                                  <p:stCondLst>
                                    <p:cond delay="800"/>
                                  </p:stCondLst>
                                  <p:childTnLst>
                                    <p:set>
                                      <p:cBhvr>
                                        <p:cTn id="160" dur="1" fill="hold">
                                          <p:stCondLst>
                                            <p:cond delay="0"/>
                                          </p:stCondLst>
                                        </p:cTn>
                                        <p:tgtEl>
                                          <p:spTgt spid="20078"/>
                                        </p:tgtEl>
                                        <p:attrNameLst>
                                          <p:attrName>style.visibility</p:attrName>
                                        </p:attrNameLst>
                                      </p:cBhvr>
                                      <p:to>
                                        <p:strVal val="visible"/>
                                      </p:to>
                                    </p:set>
                                    <p:animEffect transition="in" filter="fade">
                                      <p:cBhvr>
                                        <p:cTn id="161" dur="500"/>
                                        <p:tgtEl>
                                          <p:spTgt spid="200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016" grpId="0"/>
      <p:bldP spid="20016" grpId="1"/>
      <p:bldP spid="20017" grpId="0"/>
      <p:bldP spid="20017" grpId="1"/>
      <p:bldP spid="20078" grpId="0"/>
      <p:bldP spid="20081" grpId="0"/>
      <p:bldP spid="20081" grpId="1"/>
      <p:bldP spid="20082" grpId="0"/>
      <p:bldP spid="20082" grpId="1"/>
      <p:bldP spid="20083" grpId="0"/>
      <p:bldP spid="20083" grpId="1"/>
      <p:bldP spid="20096" grpId="0"/>
      <p:bldP spid="20096" grpId="1"/>
      <p:bldP spid="20097" grpId="0"/>
      <p:bldP spid="20097" grpId="1"/>
      <p:bldP spid="20098" grpId="0"/>
      <p:bldP spid="20098" grpId="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Property list">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4" name="Equivalence arrow">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Exact label">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grpSp>
        <p:nvGrpSpPr>
          <p:cNvPr id="5001" name="Surrounding LFR">
            <a:extLst>
              <a:ext uri="{FF2B5EF4-FFF2-40B4-BE49-F238E27FC236}">
                <a16:creationId xmlns:a16="http://schemas.microsoft.com/office/drawing/2014/main" id="{BEEA59A6-286F-A2D2-D96E-07B7D80854DA}"/>
              </a:ext>
            </a:extLst>
          </p:cNvPr>
          <p:cNvGrpSpPr/>
          <p:nvPr/>
        </p:nvGrpSpPr>
        <p:grpSpPr>
          <a:xfrm>
            <a:off x="2580640" y="1305960"/>
            <a:ext cx="3982720" cy="3052280"/>
            <a:chOff x="1995932" y="1819148"/>
            <a:chExt cx="3138932" cy="2405888"/>
          </a:xfrm>
        </p:grpSpPr>
        <p:sp>
          <p:nvSpPr>
            <p:cNvPr id="500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005"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5006"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07"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5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BlockMorph20_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501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BlockMorph20_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501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BlockMorph20_7"/>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2"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5013"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BlockMorph20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4"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5015"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BlockMorph20_1"/>
                  <a:stretch>
                    <a:fillRect/>
                  </a:stretch>
                </a:blipFill>
                <a:ln>
                  <a:noFill/>
                </a:ln>
              </p:spPr>
              <p:txBody>
                <a:bodyPr/>
                <a:lstStyle/>
                <a:p>
                  <a:r>
                    <a:rPr lang="en-NL">
                      <a:noFill/>
                    </a:rPr>
                    <a:t> </a:t>
                  </a:r>
                </a:p>
              </p:txBody>
            </p:sp>
          </mc:Fallback>
        </mc:AlternateContent>
        <p:sp>
          <p:nvSpPr>
            <p:cNvPr id="5016"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5017"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5018"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BlockMorph20_19"/>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9" name="PDE dynamics">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m="http://schemas.openxmlformats.org/officeDocument/2006/math" xmlns="">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0_17"/>
                <a:stretch>
                  <a:fillRect/>
                </a:stretch>
              </a:blipFill>
            </p:spPr>
            <p:txBody>
              <a:bodyPr/>
              <a:lstStyle/>
              <a:p>
                <a:r>
                  <a:rPr lang="en-NL">
                    <a:noFill/>
                  </a:rPr>
                  <a:t> </a:t>
                </a:r>
              </a:p>
            </p:txBody>
          </p:sp>
        </mc:Fallback>
      </mc:AlternateContent>
      <p:grpSp>
        <p:nvGrpSpPr>
          <p:cNvPr id="10001" name="!!PDE block"/>
          <p:cNvGrpSpPr/>
          <p:nvPr/>
        </p:nvGrpSpPr>
        <p:grpSpPr>
          <a:xfrm>
            <a:off x="3963860" y="2188260"/>
            <a:ext cx="1192431" cy="1192297"/>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2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15"/>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0_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0_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0_23"/>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0_21"/>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0_16"/>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0_9"/>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0_3"/>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0_24"/>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0_18"/>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0_13"/>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0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CCB4E38E-454B-8A1A-AA4D-8FA0AE639C4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0"/>
                                  </p:stCondLst>
                                  <p:childTnLst>
                                    <p:set>
                                      <p:cBhvr>
                                        <p:cTn id="6" dur="1" fill="hold">
                                          <p:stCondLst>
                                            <p:cond delay="1049"/>
                                          </p:stCondLst>
                                        </p:cTn>
                                        <p:tgtEl>
                                          <p:spTgt spid="10001"/>
                                        </p:tgtEl>
                                        <p:attrNameLst>
                                          <p:attrName>style.visibility</p:attrName>
                                        </p:attrNameLst>
                                      </p:cBhvr>
                                      <p:to>
                                        <p:strVal val="visible"/>
                                      </p:to>
                                    </p:set>
                                    <p:animMotion origin="layout" path="M 0 0 L -0.0014737 -0.24751794 E" pathEditMode="relative">
                                      <p:cBhvr from="" to="">
                                        <p:cTn id="7" dur="1050" fill="hold">
                                          <p:stCondLst>
                                            <p:cond delay="0"/>
                                          </p:stCondLst>
                                        </p:cTn>
                                        <p:tgtEl>
                                          <p:spTgt spid="10001"/>
                                        </p:tgtEl>
                                        <p:attrNameLst>
                                          <p:attrName>ppt_x</p:attrName>
                                          <p:attrName>ppt_y</p:attrName>
                                        </p:attrNameLst>
                                      </p:cBhvr>
                                    </p:animMotion>
                                    <p:animScale>
                                      <p:cBhvr>
                                        <p:cTn id="8" dur="1050" fill="hold">
                                          <p:stCondLst>
                                            <p:cond delay="0"/>
                                          </p:stCondLst>
                                        </p:cTn>
                                        <p:tgtEl>
                                          <p:spTgt spid="10001"/>
                                        </p:tgtEl>
                                      </p:cBhvr>
                                      <p:from x="100000" y="100000"/>
                                      <p:to x="74554" y="74554"/>
                                    </p:animScale>
                                  </p:childTnLst>
                                </p:cTn>
                              </p:par>
                              <p:par>
                                <p:cTn id="9" presetID="10" presetClass="exit" presetSubtype="0" fill="hold" nodeType="withEffect">
                                  <p:stCondLst>
                                    <p:cond delay="0"/>
                                  </p:stCondLst>
                                  <p:childTnLst>
                                    <p:animEffect transition="out" filter="fade">
                                      <p:cBhvr>
                                        <p:cTn id="10" dur="600"/>
                                        <p:tgtEl>
                                          <p:spTgt spid="5001"/>
                                        </p:tgtEl>
                                      </p:cBhvr>
                                    </p:animEffect>
                                    <p:set>
                                      <p:cBhvr>
                                        <p:cTn id="11" dur="1" fill="hold">
                                          <p:stCondLst>
                                            <p:cond delay="599"/>
                                          </p:stCondLst>
                                        </p:cTn>
                                        <p:tgtEl>
                                          <p:spTgt spid="5001"/>
                                        </p:tgtEl>
                                        <p:attrNameLst>
                                          <p:attrName>style.visibility</p:attrName>
                                        </p:attrNameLst>
                                      </p:cBhvr>
                                      <p:to>
                                        <p:strVal val="hidden"/>
                                      </p:to>
                                    </p:set>
                                  </p:childTnLst>
                                </p:cTn>
                              </p:par>
                              <p:par>
                                <p:cTn id="12" presetID="10" presetClass="entr" presetSubtype="0" fill="hold" grpId="0" nodeType="withEffect">
                                  <p:stCondLst>
                                    <p:cond delay="50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400"/>
                                        <p:tgtEl>
                                          <p:spTgt spid="3"/>
                                        </p:tgtEl>
                                      </p:cBhvr>
                                    </p:animEffect>
                                  </p:childTnLst>
                                </p:cTn>
                              </p:par>
                              <p:par>
                                <p:cTn id="15" presetID="10" presetClass="entr" presetSubtype="0" fill="hold" nodeType="withEffect">
                                  <p:stCondLst>
                                    <p:cond delay="700"/>
                                  </p:stCondLst>
                                  <p:childTnLst>
                                    <p:set>
                                      <p:cBhvr>
                                        <p:cTn id="16" dur="1" fill="hold">
                                          <p:stCondLst>
                                            <p:cond delay="0"/>
                                          </p:stCondLst>
                                        </p:cTn>
                                        <p:tgtEl>
                                          <p:spTgt spid="10004"/>
                                        </p:tgtEl>
                                        <p:attrNameLst>
                                          <p:attrName>style.visibility</p:attrName>
                                        </p:attrNameLst>
                                      </p:cBhvr>
                                      <p:to>
                                        <p:strVal val="visible"/>
                                      </p:to>
                                    </p:set>
                                    <p:animEffect transition="in" filter="fade">
                                      <p:cBhvr>
                                        <p:cTn id="17" dur="450"/>
                                        <p:tgtEl>
                                          <p:spTgt spid="10004"/>
                                        </p:tgtEl>
                                      </p:cBhvr>
                                    </p:animEffect>
                                  </p:childTnLst>
                                </p:cTn>
                              </p:par>
                              <p:par>
                                <p:cTn id="18" presetID="10" presetClass="entr" presetSubtype="0" fill="hold" grpId="0" nodeType="withEffect">
                                  <p:stCondLst>
                                    <p:cond delay="70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50"/>
                                        <p:tgtEl>
                                          <p:spTgt spid="14"/>
                                        </p:tgtEl>
                                      </p:cBhvr>
                                    </p:animEffect>
                                  </p:childTnLst>
                                </p:cTn>
                              </p:par>
                              <p:par>
                                <p:cTn id="21" presetID="10" presetClass="entr" presetSubtype="0" fill="hold" grpId="0" nodeType="withEffect">
                                  <p:stCondLst>
                                    <p:cond delay="7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50"/>
                                        <p:tgtEl>
                                          <p:spTgt spid="15"/>
                                        </p:tgtEl>
                                      </p:cBhvr>
                                    </p:animEffect>
                                  </p:childTnLst>
                                </p:cTn>
                              </p:par>
                              <p:par>
                                <p:cTn id="24" presetID="10" presetClass="entr" presetSubtype="0" fill="hold" grpId="0" nodeType="withEffect">
                                  <p:stCondLst>
                                    <p:cond delay="100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1000"/>
                                  </p:stCondLst>
                                  <p:childTnLst>
                                    <p:set>
                                      <p:cBhvr>
                                        <p:cTn id="28" dur="1" fill="hold">
                                          <p:stCondLst>
                                            <p:cond delay="0"/>
                                          </p:stCondLst>
                                        </p:cTn>
                                        <p:tgtEl>
                                          <p:spTgt spid="40015"/>
                                        </p:tgtEl>
                                        <p:attrNameLst>
                                          <p:attrName>style.visibility</p:attrName>
                                        </p:attrNameLst>
                                      </p:cBhvr>
                                      <p:to>
                                        <p:strVal val="visible"/>
                                      </p:to>
                                    </p:set>
                                    <p:animEffect transition="in" filter="fade">
                                      <p:cBhvr>
                                        <p:cTn id="29" dur="500"/>
                                        <p:tgtEl>
                                          <p:spTgt spid="40015"/>
                                        </p:tgtEl>
                                      </p:cBhvr>
                                    </p:animEffect>
                                  </p:childTnLst>
                                </p:cTn>
                              </p:par>
                              <p:par>
                                <p:cTn id="30" presetID="10" presetClass="entr" presetSubtype="0" fill="hold" nodeType="withEffect">
                                  <p:stCondLst>
                                    <p:cond delay="1000"/>
                                  </p:stCondLst>
                                  <p:childTnLst>
                                    <p:set>
                                      <p:cBhvr>
                                        <p:cTn id="31" dur="1" fill="hold">
                                          <p:stCondLst>
                                            <p:cond delay="0"/>
                                          </p:stCondLst>
                                        </p:cTn>
                                        <p:tgtEl>
                                          <p:spTgt spid="40115"/>
                                        </p:tgtEl>
                                        <p:attrNameLst>
                                          <p:attrName>style.visibility</p:attrName>
                                        </p:attrNameLst>
                                      </p:cBhvr>
                                      <p:to>
                                        <p:strVal val="visible"/>
                                      </p:to>
                                    </p:set>
                                    <p:animEffect transition="in" filter="fade">
                                      <p:cBhvr>
                                        <p:cTn id="32" dur="500"/>
                                        <p:tgtEl>
                                          <p:spTgt spid="40115"/>
                                        </p:tgtEl>
                                      </p:cBhvr>
                                    </p:animEffect>
                                  </p:childTnLst>
                                </p:cTn>
                              </p:par>
                              <p:par>
                                <p:cTn id="33" presetID="10" presetClass="entr" presetSubtype="0" fill="hold" nodeType="withEffect">
                                  <p:stCondLst>
                                    <p:cond delay="1000"/>
                                  </p:stCondLst>
                                  <p:childTnLst>
                                    <p:set>
                                      <p:cBhvr>
                                        <p:cTn id="34" dur="1" fill="hold">
                                          <p:stCondLst>
                                            <p:cond delay="0"/>
                                          </p:stCondLst>
                                        </p:cTn>
                                        <p:tgtEl>
                                          <p:spTgt spid="40215"/>
                                        </p:tgtEl>
                                        <p:attrNameLst>
                                          <p:attrName>style.visibility</p:attrName>
                                        </p:attrNameLst>
                                      </p:cBhvr>
                                      <p:to>
                                        <p:strVal val="visible"/>
                                      </p:to>
                                    </p:set>
                                    <p:animEffect transition="in" filter="fade">
                                      <p:cBhvr>
                                        <p:cTn id="35" dur="500"/>
                                        <p:tgtEl>
                                          <p:spTgt spid="40215"/>
                                        </p:tgtEl>
                                      </p:cBhvr>
                                    </p:animEffect>
                                  </p:childTnLst>
                                </p:cTn>
                              </p:par>
                              <p:par>
                                <p:cTn id="36" presetID="1" presetClass="entr" presetSubtype="0" fill="hold" grpId="0" nodeType="withEffect">
                                  <p:stCondLst>
                                    <p:cond delay="1000"/>
                                  </p:stCondLst>
                                  <p:childTnLst>
                                    <p:set>
                                      <p:cBhvr>
                                        <p:cTn id="3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animBg="1"/>
      <p:bldP spid="15" grpId="0"/>
      <p:bldP spid="9"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0558B"/>
                          </a:solidFill>
                          <a:latin typeface="Cambria Math"/>
                        </a:rPr>
                        <m:t>𝒯</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A82222"/>
                          </a:solidFill>
                          <a:latin typeface="Cambria Math"/>
                        </a:rPr>
                        <m:t>𝒜</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ℬ</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m="http://schemas.openxmlformats.org/officeDocument/2006/math" xmlns="">
          <p:sp>
            <p:nvSpPr>
              <p:cNvPr id="1001" name="PIE dynamics"/>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𝒞</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𝒟</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xmlns:m="http://schemas.openxmlformats.org/officeDocument/2006/math" xmlns="">
          <p:sp>
            <p:nvSpPr>
              <p:cNvPr id="1002" name="PIE output"/>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BlockMorph21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𝒯</m:t>
                      </m:r>
                      <m:r>
                        <a:rPr sz="2100">
                          <a:solidFill>
                            <a:srgbClr val="252529"/>
                          </a:solidFill>
                          <a:latin typeface="Cambria Math"/>
                        </a:rPr>
                        <m:t>,</m:t>
                      </m:r>
                      <m:r>
                        <a:rPr sz="2100">
                          <a:solidFill>
                            <a:srgbClr val="252529"/>
                          </a:solidFill>
                          <a:latin typeface="Cambria Math"/>
                        </a:rPr>
                        <m:t>𝒜</m:t>
                      </m:r>
                      <m:r>
                        <a:rPr sz="2100">
                          <a:solidFill>
                            <a:srgbClr val="252529"/>
                          </a:solidFill>
                          <a:latin typeface="Cambria Math"/>
                        </a:rPr>
                        <m:t>,</m:t>
                      </m:r>
                      <m:r>
                        <a:rPr sz="2100">
                          <a:solidFill>
                            <a:srgbClr val="252529"/>
                          </a:solidFill>
                          <a:latin typeface="Cambria Math"/>
                        </a:rPr>
                        <m:t>ℬ</m:t>
                      </m:r>
                      <m:r>
                        <a:rPr sz="2100">
                          <a:solidFill>
                            <a:srgbClr val="252529"/>
                          </a:solidFill>
                          <a:latin typeface="Cambria Math"/>
                        </a:rPr>
                        <m:t>,</m:t>
                      </m:r>
                      <m:r>
                        <a:rPr sz="2100">
                          <a:solidFill>
                            <a:srgbClr val="252529"/>
                          </a:solidFill>
                          <a:latin typeface="Cambria Math"/>
                        </a:rPr>
                        <m:t>𝒞</m:t>
                      </m:r>
                      <m:r>
                        <a:rPr sz="2100">
                          <a:solidFill>
                            <a:srgbClr val="252529"/>
                          </a:solidFill>
                          <a:latin typeface="Cambria Math"/>
                        </a:rPr>
                        <m:t>,</m:t>
                      </m:r>
                      <m:r>
                        <a:rPr sz="2100">
                          <a:solidFill>
                            <a:srgbClr val="252529"/>
                          </a:solidFill>
                          <a:latin typeface="Cambria Math"/>
                        </a:rPr>
                        <m:t>𝒟</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a:p>
            </p:txBody>
          </p:sp>
        </mc:Choice>
        <mc:Fallback xmlns:m="http://schemas.openxmlformats.org/officeDocument/2006/math" xmlns="">
          <p:sp>
            <p:nvSpPr>
              <p:cNvPr id="1003" name="PI operator class"/>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BlockMorph21_9"/>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1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1_12"/>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1_9"/>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1_0"/>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1_16"/>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1_14"/>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1_11"/>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1_5"/>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1_1"/>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1_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0999" name="PDE dynamics leaving">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m="http://schemas.openxmlformats.org/officeDocument/2006/math" xmlns="">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1_12"/>
                <a:stretch>
                  <a:fillRect/>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D294C78E-1C7A-ACC8-BB43-020F1994F96F}"/>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150"/>
                                  </p:stCondLst>
                                  <p:childTnLst>
                                    <p:set>
                                      <p:cBhvr>
                                        <p:cTn id="6" dur="1" fill="hold">
                                          <p:stCondLst>
                                            <p:cond delay="1149"/>
                                          </p:stCondLst>
                                        </p:cTn>
                                        <p:tgtEl>
                                          <p:spTgt spid="40015"/>
                                        </p:tgtEl>
                                        <p:attrNameLst>
                                          <p:attrName>style.visibility</p:attrName>
                                        </p:attrNameLst>
                                      </p:cBhvr>
                                      <p:to>
                                        <p:strVal val="visible"/>
                                      </p:to>
                                    </p:set>
                                    <p:animMotion origin="layout" path="M 0 0 L -0.24027778 -0.1382716 E" pathEditMode="relative">
                                      <p:cBhvr from="" to="">
                                        <p:cTn id="7" dur="1150" fill="hold">
                                          <p:stCondLst>
                                            <p:cond delay="0"/>
                                          </p:stCondLst>
                                        </p:cTn>
                                        <p:tgtEl>
                                          <p:spTgt spid="40015"/>
                                        </p:tgtEl>
                                        <p:attrNameLst>
                                          <p:attrName>ppt_x</p:attrName>
                                          <p:attrName>ppt_y</p:attrName>
                                        </p:attrNameLst>
                                      </p:cBhvr>
                                    </p:animMotion>
                                    <p:animScale>
                                      <p:cBhvr>
                                        <p:cTn id="8" dur="1150" fill="hold">
                                          <p:stCondLst>
                                            <p:cond delay="0"/>
                                          </p:stCondLst>
                                        </p:cTn>
                                        <p:tgtEl>
                                          <p:spTgt spid="40015"/>
                                        </p:tgtEl>
                                      </p:cBhvr>
                                      <p:from x="100000" y="100000"/>
                                      <p:to x="15000" y="15000"/>
                                    </p:animScale>
                                  </p:childTnLst>
                                </p:cTn>
                              </p:par>
                              <p:par>
                                <p:cTn id="9" presetID="0" presetClass="path" presetSubtype="0" accel="50000" decel="50000" fill="hold" nodeType="withEffect">
                                  <p:stCondLst>
                                    <p:cond delay="150"/>
                                  </p:stCondLst>
                                  <p:childTnLst>
                                    <p:set>
                                      <p:cBhvr>
                                        <p:cTn id="10" dur="1" fill="hold">
                                          <p:stCondLst>
                                            <p:cond delay="1149"/>
                                          </p:stCondLst>
                                        </p:cTn>
                                        <p:tgtEl>
                                          <p:spTgt spid="40115"/>
                                        </p:tgtEl>
                                        <p:attrNameLst>
                                          <p:attrName>style.visibility</p:attrName>
                                        </p:attrNameLst>
                                      </p:cBhvr>
                                      <p:to>
                                        <p:strVal val="visible"/>
                                      </p:to>
                                    </p:set>
                                    <p:animMotion origin="layout" path="M 0 0 L -0.27638889 -0.1382716 E" pathEditMode="relative">
                                      <p:cBhvr from="" to="">
                                        <p:cTn id="11" dur="1150" fill="hold">
                                          <p:stCondLst>
                                            <p:cond delay="0"/>
                                          </p:stCondLst>
                                        </p:cTn>
                                        <p:tgtEl>
                                          <p:spTgt spid="40115"/>
                                        </p:tgtEl>
                                        <p:attrNameLst>
                                          <p:attrName>ppt_x</p:attrName>
                                          <p:attrName>ppt_y</p:attrName>
                                        </p:attrNameLst>
                                      </p:cBhvr>
                                    </p:animMotion>
                                    <p:animScale>
                                      <p:cBhvr>
                                        <p:cTn id="12" dur="1150" fill="hold">
                                          <p:stCondLst>
                                            <p:cond delay="0"/>
                                          </p:stCondLst>
                                        </p:cTn>
                                        <p:tgtEl>
                                          <p:spTgt spid="40115"/>
                                        </p:tgtEl>
                                      </p:cBhvr>
                                      <p:from x="100000" y="100000"/>
                                      <p:to x="15000" y="15000"/>
                                    </p:animScale>
                                  </p:childTnLst>
                                </p:cTn>
                              </p:par>
                              <p:par>
                                <p:cTn id="13" presetID="10" presetClass="exit" presetSubtype="0" fill="hold" grpId="0" nodeType="withEffect">
                                  <p:stCondLst>
                                    <p:cond delay="0"/>
                                  </p:stCondLst>
                                  <p:childTnLst>
                                    <p:animEffect transition="out" filter="fade">
                                      <p:cBhvr>
                                        <p:cTn id="14" dur="500"/>
                                        <p:tgtEl>
                                          <p:spTgt spid="40999"/>
                                        </p:tgtEl>
                                      </p:cBhvr>
                                    </p:animEffect>
                                    <p:set>
                                      <p:cBhvr>
                                        <p:cTn id="15" dur="1" fill="hold">
                                          <p:stCondLst>
                                            <p:cond delay="499"/>
                                          </p:stCondLst>
                                        </p:cTn>
                                        <p:tgtEl>
                                          <p:spTgt spid="40999"/>
                                        </p:tgtEl>
                                        <p:attrNameLst>
                                          <p:attrName>style.visibility</p:attrName>
                                        </p:attrNameLst>
                                      </p:cBhvr>
                                      <p:to>
                                        <p:strVal val="hidden"/>
                                      </p:to>
                                    </p:set>
                                  </p:childTnLst>
                                </p:cTn>
                              </p:par>
                              <p:par>
                                <p:cTn id="16" presetID="10" presetClass="exit" presetSubtype="0" fill="hold" nodeType="withEffect">
                                  <p:stCondLst>
                                    <p:cond delay="0"/>
                                  </p:stCondLst>
                                  <p:childTnLst>
                                    <p:animEffect transition="out" filter="fade">
                                      <p:cBhvr>
                                        <p:cTn id="17" dur="400"/>
                                        <p:tgtEl>
                                          <p:spTgt spid="40215"/>
                                        </p:tgtEl>
                                      </p:cBhvr>
                                    </p:animEffect>
                                    <p:set>
                                      <p:cBhvr>
                                        <p:cTn id="18" dur="1" fill="hold">
                                          <p:stCondLst>
                                            <p:cond delay="399"/>
                                          </p:stCondLst>
                                        </p:cTn>
                                        <p:tgtEl>
                                          <p:spTgt spid="40215"/>
                                        </p:tgtEl>
                                        <p:attrNameLst>
                                          <p:attrName>style.visibility</p:attrName>
                                        </p:attrNameLst>
                                      </p:cBhvr>
                                      <p:to>
                                        <p:strVal val="hidden"/>
                                      </p:to>
                                    </p:set>
                                  </p:childTnLst>
                                </p:cTn>
                              </p:par>
                              <p:par>
                                <p:cTn id="19" presetID="10" presetClass="exit" presetSubtype="0" fill="hold" nodeType="withEffect">
                                  <p:stCondLst>
                                    <p:cond delay="1080"/>
                                  </p:stCondLst>
                                  <p:childTnLst>
                                    <p:animEffect transition="out" filter="fade">
                                      <p:cBhvr>
                                        <p:cTn id="20" dur="300"/>
                                        <p:tgtEl>
                                          <p:spTgt spid="40015"/>
                                        </p:tgtEl>
                                      </p:cBhvr>
                                    </p:animEffect>
                                    <p:set>
                                      <p:cBhvr>
                                        <p:cTn id="21" dur="1" fill="hold">
                                          <p:stCondLst>
                                            <p:cond delay="299"/>
                                          </p:stCondLst>
                                        </p:cTn>
                                        <p:tgtEl>
                                          <p:spTgt spid="40015"/>
                                        </p:tgtEl>
                                        <p:attrNameLst>
                                          <p:attrName>style.visibility</p:attrName>
                                        </p:attrNameLst>
                                      </p:cBhvr>
                                      <p:to>
                                        <p:strVal val="hidden"/>
                                      </p:to>
                                    </p:set>
                                  </p:childTnLst>
                                </p:cTn>
                              </p:par>
                              <p:par>
                                <p:cTn id="22" presetID="10" presetClass="exit" presetSubtype="0" fill="hold" nodeType="withEffect">
                                  <p:stCondLst>
                                    <p:cond delay="1080"/>
                                  </p:stCondLst>
                                  <p:childTnLst>
                                    <p:animEffect transition="out" filter="fade">
                                      <p:cBhvr>
                                        <p:cTn id="23" dur="300"/>
                                        <p:tgtEl>
                                          <p:spTgt spid="40115"/>
                                        </p:tgtEl>
                                      </p:cBhvr>
                                    </p:animEffect>
                                    <p:set>
                                      <p:cBhvr>
                                        <p:cTn id="24" dur="1" fill="hold">
                                          <p:stCondLst>
                                            <p:cond delay="299"/>
                                          </p:stCondLst>
                                        </p:cTn>
                                        <p:tgtEl>
                                          <p:spTgt spid="40115"/>
                                        </p:tgtEl>
                                        <p:attrNameLst>
                                          <p:attrName>style.visibility</p:attrName>
                                        </p:attrNameLst>
                                      </p:cBhvr>
                                      <p:to>
                                        <p:strVal val="hidden"/>
                                      </p:to>
                                    </p:set>
                                  </p:childTnLst>
                                </p:cTn>
                              </p:par>
                              <p:par>
                                <p:cTn id="25" presetID="10" presetClass="entr" presetSubtype="0" fill="hold" grpId="0" nodeType="withEffect">
                                  <p:stCondLst>
                                    <p:cond delay="1120"/>
                                  </p:stCondLst>
                                  <p:childTnLst>
                                    <p:set>
                                      <p:cBhvr>
                                        <p:cTn id="26" dur="1" fill="hold">
                                          <p:stCondLst>
                                            <p:cond delay="0"/>
                                          </p:stCondLst>
                                        </p:cTn>
                                        <p:tgtEl>
                                          <p:spTgt spid="1001"/>
                                        </p:tgtEl>
                                        <p:attrNameLst>
                                          <p:attrName>style.visibility</p:attrName>
                                        </p:attrNameLst>
                                      </p:cBhvr>
                                      <p:to>
                                        <p:strVal val="visible"/>
                                      </p:to>
                                    </p:set>
                                    <p:animEffect transition="in" filter="fade">
                                      <p:cBhvr>
                                        <p:cTn id="27" dur="500"/>
                                        <p:tgtEl>
                                          <p:spTgt spid="1001"/>
                                        </p:tgtEl>
                                      </p:cBhvr>
                                    </p:animEffect>
                                  </p:childTnLst>
                                </p:cTn>
                              </p:par>
                              <p:par>
                                <p:cTn id="28" presetID="10" presetClass="entr" presetSubtype="0" fill="hold" grpId="0" nodeType="withEffect">
                                  <p:stCondLst>
                                    <p:cond delay="1500"/>
                                  </p:stCondLst>
                                  <p:childTnLst>
                                    <p:set>
                                      <p:cBhvr>
                                        <p:cTn id="29" dur="1" fill="hold">
                                          <p:stCondLst>
                                            <p:cond delay="0"/>
                                          </p:stCondLst>
                                        </p:cTn>
                                        <p:tgtEl>
                                          <p:spTgt spid="1002"/>
                                        </p:tgtEl>
                                        <p:attrNameLst>
                                          <p:attrName>style.visibility</p:attrName>
                                        </p:attrNameLst>
                                      </p:cBhvr>
                                      <p:to>
                                        <p:strVal val="visible"/>
                                      </p:to>
                                    </p:set>
                                    <p:animEffect transition="in" filter="fade">
                                      <p:cBhvr>
                                        <p:cTn id="30" dur="400"/>
                                        <p:tgtEl>
                                          <p:spTgt spid="1002"/>
                                        </p:tgtEl>
                                      </p:cBhvr>
                                    </p:animEffect>
                                  </p:childTnLst>
                                </p:cTn>
                              </p:par>
                              <p:par>
                                <p:cTn id="31" presetID="10" presetClass="entr" presetSubtype="0" fill="hold" grpId="0" nodeType="withEffect">
                                  <p:stCondLst>
                                    <p:cond delay="1700"/>
                                  </p:stCondLst>
                                  <p:childTnLst>
                                    <p:set>
                                      <p:cBhvr>
                                        <p:cTn id="32" dur="1" fill="hold">
                                          <p:stCondLst>
                                            <p:cond delay="0"/>
                                          </p:stCondLst>
                                        </p:cTn>
                                        <p:tgtEl>
                                          <p:spTgt spid="1003"/>
                                        </p:tgtEl>
                                        <p:attrNameLst>
                                          <p:attrName>style.visibility</p:attrName>
                                        </p:attrNameLst>
                                      </p:cBhvr>
                                      <p:to>
                                        <p:strVal val="visible"/>
                                      </p:to>
                                    </p:set>
                                    <p:animEffect transition="in" filter="fade">
                                      <p:cBhvr>
                                        <p:cTn id="33" dur="400"/>
                                        <p:tgtEl>
                                          <p:spTgt spid="1003"/>
                                        </p:tgtEl>
                                      </p:cBhvr>
                                    </p:animEffect>
                                  </p:childTnLst>
                                </p:cTn>
                              </p:par>
                              <p:par>
                                <p:cTn id="34" presetID="1" presetClass="entr" presetSubtype="0" fill="hold" grpId="0" nodeType="withEffect">
                                  <p:stCondLst>
                                    <p:cond delay="1700"/>
                                  </p:stCondLst>
                                  <p:childTnLst>
                                    <p:set>
                                      <p:cBhvr>
                                        <p:cTn id="35"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1" grpId="0"/>
      <p:bldP spid="1002" grpId="0"/>
      <p:bldP spid="1003" grpId="0"/>
      <p:bldP spid="40999" grpId="0"/>
      <p:bldP spid="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CDE13-A061-7CB4-3A44-A748B43571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BE51A-BC04-890D-3165-355F4186D3BE}"/>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A9C1B120-D9F2-AC36-BB8B-B1F6831F5CA5}"/>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5168ED1B-F620-D767-0876-4B6442D840D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05C7FDF-1704-F2A2-4B9E-9EAAFB13C0EA}"/>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5ECA7971-53A7-D7CB-B477-B805EC47E47F}"/>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5ECDAFE3-043E-502F-92F7-D4E2FC211313}"/>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a:extLst>
              <a:ext uri="{FF2B5EF4-FFF2-40B4-BE49-F238E27FC236}">
                <a16:creationId xmlns:a16="http://schemas.microsoft.com/office/drawing/2014/main" id="{89CDDAB8-1BFB-9D2C-6370-F87D7BC13B4D}"/>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a:extLst>
                  <a:ext uri="{FF2B5EF4-FFF2-40B4-BE49-F238E27FC236}">
                    <a16:creationId xmlns:a16="http://schemas.microsoft.com/office/drawing/2014/main" id="{86F6AED8-7392-17F4-B11C-4806E6410519}"/>
                  </a:ext>
                </a:extLst>
              </p:cNvPr>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300" b="0" i="0" smtClean="0">
                          <a:solidFill>
                            <a:schemeClr val="tx1"/>
                          </a:solidFill>
                          <a:latin typeface="Cambria Math" panose="02040503050406030204" pitchFamily="18" charset="0"/>
                        </a:rPr>
                        <m:t>T</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A</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B</m:t>
                      </m:r>
                      <m:r>
                        <a:rPr sz="2300" smtClean="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1" name="PIE dynamics">
                <a:extLst>
                  <a:ext uri="{FF2B5EF4-FFF2-40B4-BE49-F238E27FC236}">
                    <a16:creationId xmlns:a16="http://schemas.microsoft.com/office/drawing/2014/main" id="{86F6AED8-7392-17F4-B11C-4806E6410519}"/>
                  </a:ext>
                </a:extLst>
              </p:cNvPr>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a:extLst>
                  <a:ext uri="{FF2B5EF4-FFF2-40B4-BE49-F238E27FC236}">
                    <a16:creationId xmlns:a16="http://schemas.microsoft.com/office/drawing/2014/main" id="{BAB9D6F2-6CAD-FA8C-BFBE-FFE75D1E3770}"/>
                  </a:ext>
                </a:extLst>
              </p:cNvPr>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C</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D</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2" name="PIE output">
                <a:extLst>
                  <a:ext uri="{FF2B5EF4-FFF2-40B4-BE49-F238E27FC236}">
                    <a16:creationId xmlns:a16="http://schemas.microsoft.com/office/drawing/2014/main" id="{BAB9D6F2-6CAD-FA8C-BFBE-FFE75D1E3770}"/>
                  </a:ext>
                </a:extLst>
              </p:cNvPr>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a:extLst>
                  <a:ext uri="{FF2B5EF4-FFF2-40B4-BE49-F238E27FC236}">
                    <a16:creationId xmlns:a16="http://schemas.microsoft.com/office/drawing/2014/main" id="{4462988A-FC6D-9637-9872-9EB3D5335B4B}"/>
                  </a:ext>
                </a:extLst>
              </p:cNvPr>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100" b="0" i="0" smtClean="0">
                          <a:solidFill>
                            <a:srgbClr val="252529"/>
                          </a:solidFill>
                          <a:latin typeface="Cambria Math" panose="02040503050406030204" pitchFamily="18" charset="0"/>
                        </a:rPr>
                        <m:t>T</m:t>
                      </m:r>
                      <m:r>
                        <a:rPr lang="en-US" sz="2100" b="0" i="0" smtClean="0">
                          <a:solidFill>
                            <a:srgbClr val="252529"/>
                          </a:solidFill>
                          <a:latin typeface="Cambria Math" panose="02040503050406030204" pitchFamily="18" charset="0"/>
                        </a:rPr>
                        <m:t>,</m:t>
                      </m:r>
                      <m:r>
                        <m:rPr>
                          <m:sty m:val="p"/>
                        </m:rPr>
                        <a:rPr lang="en-US" sz="2100" b="0" i="0" smtClean="0">
                          <a:solidFill>
                            <a:srgbClr val="252529"/>
                          </a:solidFill>
                          <a:latin typeface="Cambria Math" panose="02040503050406030204" pitchFamily="18" charset="0"/>
                        </a:rPr>
                        <m:t>A</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B</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C</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D</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dirty="0"/>
              </a:p>
            </p:txBody>
          </p:sp>
        </mc:Choice>
        <mc:Fallback xmlns="">
          <p:sp>
            <p:nvSpPr>
              <p:cNvPr id="1003" name="PI operator class">
                <a:extLst>
                  <a:ext uri="{FF2B5EF4-FFF2-40B4-BE49-F238E27FC236}">
                    <a16:creationId xmlns:a16="http://schemas.microsoft.com/office/drawing/2014/main" id="{4462988A-FC6D-9637-9872-9EB3D5335B4B}"/>
                  </a:ext>
                </a:extLst>
              </p:cNvPr>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6"/>
                <a:stretch>
                  <a:fillRect/>
                </a:stretch>
              </a:blipFill>
              <a:ln>
                <a:noFill/>
              </a:ln>
            </p:spPr>
            <p:txBody>
              <a:bodyPr/>
              <a:lstStyle/>
              <a:p>
                <a:r>
                  <a:rPr lang="en-NL">
                    <a:noFill/>
                  </a:rPr>
                  <a:t> </a:t>
                </a:r>
              </a:p>
            </p:txBody>
          </p:sp>
        </mc:Fallback>
      </mc:AlternateContent>
      <p:grpSp>
        <p:nvGrpSpPr>
          <p:cNvPr id="10001" name="!!PDE block">
            <a:extLst>
              <a:ext uri="{FF2B5EF4-FFF2-40B4-BE49-F238E27FC236}">
                <a16:creationId xmlns:a16="http://schemas.microsoft.com/office/drawing/2014/main" id="{9D4D03F3-C28F-10D8-D6A6-39F0C882189F}"/>
              </a:ext>
            </a:extLst>
          </p:cNvPr>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D9E334EA-B751-6035-BF8A-A8675D6F954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668073C0-537D-7F43-2BE4-E546FCF59B8B}"/>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523FE0DA-AFB0-525C-E77A-DCA5D3EEC582}"/>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A0F62A5-E79D-91A0-7979-4E5A47C41158}"/>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F7414072-AFC4-E380-6FBD-B54A4281F23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5FAC8A70-2170-E4F8-E787-28D0ADBE40BE}"/>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4225290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Addition"/>
              <p:cNvSpPr/>
              <p:nvPr/>
            </p:nvSpPr>
            <p:spPr>
              <a:xfrm>
                <a:off x="34988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m:t>
                      </m:r>
                      <m:r>
                        <a:rPr lang="en-US" sz="2400" b="0" i="0" smtClean="0">
                          <a:solidFill>
                            <a:srgbClr val="252529"/>
                          </a:solidFill>
                          <a:latin typeface="Cambria Math" panose="02040503050406030204" pitchFamily="18" charset="0"/>
                        </a:rPr>
                        <m:t>+</m:t>
                      </m:r>
                      <m:r>
                        <m:rPr>
                          <m:sty m:val="p"/>
                        </m:rPr>
                        <a:rPr lang="en-US" sz="2400" b="0" i="0" smtClean="0">
                          <a:solidFill>
                            <a:srgbClr val="252529"/>
                          </a:solidFill>
                          <a:latin typeface="Cambria Math" panose="02040503050406030204" pitchFamily="18" charset="0"/>
                        </a:rPr>
                        <m:t>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1" name="Addition"/>
              <p:cNvSpPr>
                <a:spLocks noRot="1" noChangeAspect="1" noMove="1" noResize="1" noEditPoints="1" noAdjustHandles="1" noChangeArrowheads="1" noChangeShapeType="1" noTextEdit="1"/>
              </p:cNvSpPr>
              <p:nvPr/>
            </p:nvSpPr>
            <p:spPr>
              <a:xfrm>
                <a:off x="3498850" y="2687320"/>
                <a:ext cx="2603500" cy="67056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Composition"/>
              <p:cNvSpPr/>
              <p:nvPr/>
            </p:nvSpPr>
            <p:spPr>
              <a:xfrm>
                <a:off x="62039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2" name="Composition"/>
              <p:cNvSpPr>
                <a:spLocks noRot="1" noChangeAspect="1" noMove="1" noResize="1" noEditPoints="1" noAdjustHandles="1" noChangeArrowheads="1" noChangeShapeType="1" noTextEdit="1"/>
              </p:cNvSpPr>
              <p:nvPr/>
            </p:nvSpPr>
            <p:spPr>
              <a:xfrm>
                <a:off x="6203950" y="2687320"/>
                <a:ext cx="2603500" cy="67056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Adjoint"/>
              <p:cNvSpPr/>
              <p:nvPr/>
            </p:nvSpPr>
            <p:spPr>
              <a:xfrm>
                <a:off x="34988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400" b="0" i="1" smtClean="0">
                              <a:solidFill>
                                <a:srgbClr val="252529"/>
                              </a:solidFill>
                              <a:latin typeface="Cambria Math" panose="02040503050406030204" pitchFamily="18" charset="0"/>
                            </a:rPr>
                          </m:ctrlPr>
                        </m:sSupPr>
                        <m:e>
                          <m:r>
                            <m:rPr>
                              <m:sty m:val="p"/>
                            </m:rPr>
                            <a:rPr lang="en-US" sz="2400" b="0" i="1" smtClean="0">
                              <a:solidFill>
                                <a:srgbClr val="252529"/>
                              </a:solidFill>
                              <a:latin typeface="Cambria Math" panose="02040503050406030204" pitchFamily="18" charset="0"/>
                            </a:rPr>
                            <m:t>A</m:t>
                          </m:r>
                        </m:e>
                        <m:sup>
                          <m:r>
                            <a:rPr sz="2400">
                              <a:solidFill>
                                <a:srgbClr val="252529"/>
                              </a:solidFill>
                              <a:latin typeface="Cambria Math"/>
                            </a:rPr>
                            <m:t>∗</m:t>
                          </m:r>
                        </m:sup>
                      </m:sSup>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3" name="Adjoint"/>
              <p:cNvSpPr>
                <a:spLocks noRot="1" noChangeAspect="1" noMove="1" noResize="1" noEditPoints="1" noAdjustHandles="1" noChangeArrowheads="1" noChangeShapeType="1" noTextEdit="1"/>
              </p:cNvSpPr>
              <p:nvPr/>
            </p:nvSpPr>
            <p:spPr>
              <a:xfrm>
                <a:off x="3498850" y="3373120"/>
                <a:ext cx="2603500" cy="67056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4" name="Concatenation"/>
              <p:cNvSpPr/>
              <p:nvPr/>
            </p:nvSpPr>
            <p:spPr>
              <a:xfrm>
                <a:off x="62039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lang="en-US" sz="2400" b="0" i="0" smtClean="0">
                              <a:solidFill>
                                <a:srgbClr val="252529"/>
                              </a:solidFill>
                              <a:latin typeface="Cambria Math" panose="02040503050406030204" pitchFamily="18" charset="0"/>
                            </a:rPr>
                          </m:ctrlPr>
                        </m:dPr>
                        <m:e>
                          <m:r>
                            <m:rPr>
                              <m:sty m:val="p"/>
                            </m:rPr>
                            <a:rPr lang="en-US" sz="2400" b="0" i="0" smtClean="0">
                              <a:solidFill>
                                <a:srgbClr val="252529"/>
                              </a:solidFill>
                              <a:latin typeface="Cambria Math" panose="02040503050406030204" pitchFamily="18" charset="0"/>
                            </a:rPr>
                            <m:t>A</m:t>
                          </m:r>
                          <m:r>
                            <a:rPr sz="2400" smtClean="0">
                              <a:solidFill>
                                <a:srgbClr val="252529"/>
                              </a:solidFill>
                              <a:latin typeface="Cambria Math"/>
                            </a:rPr>
                            <m:t>  </m:t>
                          </m:r>
                          <m:r>
                            <m:rPr>
                              <m:sty m:val="p"/>
                            </m:rPr>
                            <a:rPr lang="en-US" sz="2400" b="0" i="1" smtClean="0">
                              <a:solidFill>
                                <a:srgbClr val="252529"/>
                              </a:solidFill>
                              <a:latin typeface="Cambria Math" panose="02040503050406030204" pitchFamily="18" charset="0"/>
                            </a:rPr>
                            <m:t>B</m:t>
                          </m:r>
                        </m:e>
                      </m:d>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4" name="Concatenation"/>
              <p:cNvSpPr>
                <a:spLocks noRot="1" noChangeAspect="1" noMove="1" noResize="1" noEditPoints="1" noAdjustHandles="1" noChangeArrowheads="1" noChangeShapeType="1" noTextEdit="1"/>
              </p:cNvSpPr>
              <p:nvPr/>
            </p:nvSpPr>
            <p:spPr>
              <a:xfrm>
                <a:off x="6203950" y="3373120"/>
                <a:ext cx="2603500" cy="670560"/>
              </a:xfrm>
              <a:prstGeom prst="rect">
                <a:avLst/>
              </a:prstGeom>
              <a:blipFill>
                <a:blip r:embed="rId7"/>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7"/>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8"/>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FEF45263-6F75-43C9-6F8B-04DFD4403D9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Stability statement"/>
          <p:cNvSpPr/>
          <p:nvPr/>
        </p:nvSpPr>
        <p:spPr>
          <a:xfrm>
            <a:off x="3543300" y="2441575"/>
            <a:ext cx="52070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Exponential stability of the PDE</a:t>
            </a:r>
            <a:endParaRPr sz="1700"/>
          </a:p>
        </p:txBody>
      </p:sp>
      <mc:AlternateContent xmlns:mc="http://schemas.openxmlformats.org/markup-compatibility/2006" xmlns:a14="http://schemas.microsoft.com/office/drawing/2010/main">
        <mc:Choice Requires="a14">
          <p:sp>
            <p:nvSpPr>
              <p:cNvPr id="1002" name="Coercive certificate"/>
              <p:cNvSpPr/>
              <p:nvPr/>
            </p:nvSpPr>
            <p:spPr>
              <a:xfrm>
                <a:off x="3543300" y="2806700"/>
                <a:ext cx="5207000" cy="558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2000" b="0" i="1" smtClean="0">
                          <a:solidFill>
                            <a:srgbClr val="252529"/>
                          </a:solidFill>
                          <a:latin typeface="Cambria Math" panose="02040503050406030204" pitchFamily="18" charset="0"/>
                        </a:rPr>
                        <m:t>∃</m:t>
                      </m:r>
                      <m:r>
                        <m:rPr>
                          <m:sty m:val="p"/>
                        </m:rPr>
                        <a:rPr lang="en-US" sz="2000" b="0" i="1" smtClean="0">
                          <a:solidFill>
                            <a:srgbClr val="252529"/>
                          </a:solidFill>
                          <a:latin typeface="Cambria Math" panose="02040503050406030204" pitchFamily="18" charset="0"/>
                        </a:rPr>
                        <m:t>P</m:t>
                      </m:r>
                      <m:r>
                        <a:rPr lang="en-US" sz="2000" b="0" i="1" smtClean="0">
                          <a:solidFill>
                            <a:srgbClr val="252529"/>
                          </a:solidFill>
                          <a:latin typeface="Cambria Math" panose="02040503050406030204" pitchFamily="18" charset="0"/>
                        </a:rPr>
                        <m:t>≽</m:t>
                      </m:r>
                      <m:r>
                        <a:rPr lang="en-US" sz="2000" b="0" i="1" smtClean="0">
                          <a:solidFill>
                            <a:srgbClr val="252529"/>
                          </a:solidFill>
                          <a:latin typeface="Cambria Math" panose="02040503050406030204" pitchFamily="18" charset="0"/>
                        </a:rPr>
                        <m:t>𝜀</m:t>
                      </m:r>
                      <m:r>
                        <m:rPr>
                          <m:sty m:val="p"/>
                        </m:rPr>
                        <a:rPr lang="en-US" sz="2000" b="0" i="1" smtClean="0">
                          <a:solidFill>
                            <a:srgbClr val="252529"/>
                          </a:solidFill>
                          <a:latin typeface="Cambria Math" panose="02040503050406030204" pitchFamily="18" charset="0"/>
                        </a:rPr>
                        <m:t>I</m:t>
                      </m:r>
                      <m:r>
                        <a:rPr lang="en-US" sz="2000" b="0" i="1" smtClean="0">
                          <a:solidFill>
                            <a:srgbClr val="252529"/>
                          </a:solidFill>
                          <a:latin typeface="Cambria Math" panose="02040503050406030204" pitchFamily="18" charset="0"/>
                        </a:rPr>
                        <m:t>,   </m:t>
                      </m:r>
                      <m:r>
                        <a:rPr lang="en-US" sz="2000" b="0" i="1" smtClean="0">
                          <a:solidFill>
                            <a:srgbClr val="252529"/>
                          </a:solidFill>
                          <a:latin typeface="Cambria Math" panose="02040503050406030204" pitchFamily="18" charset="0"/>
                        </a:rPr>
                        <m:t>𝜀</m:t>
                      </m:r>
                      <m:r>
                        <a:rPr lang="en-US" sz="2000" b="0" i="1" smtClean="0">
                          <a:solidFill>
                            <a:srgbClr val="252529"/>
                          </a:solidFill>
                          <a:latin typeface="Cambria Math" panose="02040503050406030204" pitchFamily="18" charset="0"/>
                        </a:rPr>
                        <m:t>&gt;0</m:t>
                      </m:r>
                    </m:oMath>
                  </m:oMathPara>
                </a14:m>
                <a:endParaRPr sz="2000" dirty="0"/>
              </a:p>
            </p:txBody>
          </p:sp>
        </mc:Choice>
        <mc:Fallback xmlns="">
          <p:sp>
            <p:nvSpPr>
              <p:cNvPr id="1002" name="Coercive certificate"/>
              <p:cNvSpPr>
                <a:spLocks noRot="1" noChangeAspect="1" noMove="1" noResize="1" noEditPoints="1" noAdjustHandles="1" noChangeArrowheads="1" noChangeShapeType="1" noTextEdit="1"/>
              </p:cNvSpPr>
              <p:nvPr/>
            </p:nvSpPr>
            <p:spPr>
              <a:xfrm>
                <a:off x="3543300" y="2806700"/>
                <a:ext cx="5207000" cy="55880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Stability LPI"/>
              <p:cNvSpPr/>
              <p:nvPr/>
            </p:nvSpPr>
            <p:spPr>
              <a:xfrm>
                <a:off x="3543300" y="3328670"/>
                <a:ext cx="5207000" cy="530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PA</m:t>
                      </m:r>
                      <m:r>
                        <a:rPr sz="1900">
                          <a:solidFill>
                            <a:srgbClr val="252529"/>
                          </a:solidFill>
                          <a:latin typeface="Cambria Math"/>
                        </a:rPr>
                        <m:t>+</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A</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PT</m:t>
                      </m:r>
                      <m:r>
                        <a:rPr sz="1900">
                          <a:solidFill>
                            <a:srgbClr val="252529"/>
                          </a:solidFill>
                          <a:latin typeface="Cambria Math"/>
                        </a:rPr>
                        <m:t>≼−</m:t>
                      </m:r>
                      <m:r>
                        <a:rPr sz="1900">
                          <a:solidFill>
                            <a:srgbClr val="252529"/>
                          </a:solidFill>
                          <a:latin typeface="Cambria Math"/>
                        </a:rPr>
                        <m:t>𝛼</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1" smtClean="0">
                          <a:solidFill>
                            <a:srgbClr val="252529"/>
                          </a:solidFill>
                          <a:latin typeface="Cambria Math" panose="02040503050406030204" pitchFamily="18" charset="0"/>
                        </a:rPr>
                        <m:t>PT</m:t>
                      </m:r>
                    </m:oMath>
                  </m:oMathPara>
                </a14:m>
                <a:endParaRPr sz="1900" dirty="0"/>
              </a:p>
            </p:txBody>
          </p:sp>
        </mc:Choice>
        <mc:Fallback xmlns="">
          <p:sp>
            <p:nvSpPr>
              <p:cNvPr id="1003" name="Stability LPI"/>
              <p:cNvSpPr>
                <a:spLocks noRot="1" noChangeAspect="1" noMove="1" noResize="1" noEditPoints="1" noAdjustHandles="1" noChangeArrowheads="1" noChangeShapeType="1" noTextEdit="1"/>
              </p:cNvSpPr>
              <p:nvPr/>
            </p:nvSpPr>
            <p:spPr>
              <a:xfrm>
                <a:off x="3543300" y="3328670"/>
                <a:ext cx="5207000" cy="530860"/>
              </a:xfrm>
              <a:prstGeom prst="rect">
                <a:avLst/>
              </a:prstGeom>
              <a:blipFill>
                <a:blip r:embed="rId5"/>
                <a:stretch>
                  <a:fillRect/>
                </a:stretch>
              </a:blipFill>
              <a:ln>
                <a:noFill/>
              </a:ln>
            </p:spPr>
            <p:txBody>
              <a:bodyPr/>
              <a:lstStyle/>
              <a:p>
                <a:r>
                  <a:rPr lang="en-NL">
                    <a:noFill/>
                  </a:rPr>
                  <a:t> </a:t>
                </a:r>
              </a:p>
            </p:txBody>
          </p:sp>
        </mc:Fallback>
      </mc:AlternateContent>
      <p:sp>
        <p:nvSpPr>
          <p:cNvPr id="1004" name="Computation"/>
          <p:cNvSpPr/>
          <p:nvPr/>
        </p:nvSpPr>
        <p:spPr>
          <a:xfrm>
            <a:off x="3543300" y="4057650"/>
            <a:ext cx="5207000" cy="266700"/>
          </a:xfrm>
          <a:prstGeom prst="rect">
            <a:avLst/>
          </a:prstGeom>
          <a:noFill/>
          <a:ln>
            <a:noFill/>
          </a:ln>
        </p:spPr>
        <p:txBody>
          <a:bodyPr wrap="none" lIns="0" tIns="0" rIns="0" bIns="0" anchor="ctr">
            <a:noAutofit/>
          </a:bodyPr>
          <a:lstStyle/>
          <a:p>
            <a:pPr algn="ctr">
              <a:buNone/>
            </a:pPr>
            <a:r>
              <a:rPr lang="en-GB" sz="1400" b="0" i="0" u="none" baseline="0" dirty="0">
                <a:solidFill>
                  <a:srgbClr val="747B82"/>
                </a:solidFill>
                <a:latin typeface="Aptos"/>
                <a:ea typeface="Aptos"/>
                <a:cs typeface="Aptos"/>
              </a:rPr>
              <a:t>Linear PI Inequalities → LMIs</a:t>
            </a:r>
            <a:endParaRPr sz="1400" dirty="0"/>
          </a:p>
        </p:txBody>
      </p:sp>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5"/>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6"/>
                  <a:stretch>
                    <a:fillRect/>
                  </a:stretch>
                </a:blipFill>
                <a:ln>
                  <a:noFill/>
                </a:ln>
              </p:spPr>
              <p:txBody>
                <a:bodyPr/>
                <a:lstStyle/>
                <a:p>
                  <a:r>
                    <a:rPr lang="en-NL">
                      <a:noFill/>
                    </a:rPr>
                    <a:t> </a:t>
                  </a:r>
                </a:p>
              </p:txBody>
            </p:sp>
          </mc:Fallback>
        </mc:AlternateContent>
      </p:grpSp>
      <p:sp>
        <p:nvSpPr>
          <p:cNvPr id="6" name="TextBox 5">
            <a:extLst>
              <a:ext uri="{FF2B5EF4-FFF2-40B4-BE49-F238E27FC236}">
                <a16:creationId xmlns:a16="http://schemas.microsoft.com/office/drawing/2014/main" id="{49435EAF-EFBD-67F6-558D-A0B32647DBB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01" name="!!Physical pilla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2" name="!!PIE pilla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3" name="Physical heading"/>
          <p:cNvSpPr/>
          <p:nvPr/>
        </p:nvSpPr>
        <p:spPr>
          <a:xfrm>
            <a:off x="1270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20005" name="PIE heading"/>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6" name="Physical subtitle"/>
          <p:cNvSpPr/>
          <p:nvPr/>
        </p:nvSpPr>
        <p:spPr>
          <a:xfrm>
            <a:off x="2032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sp>
        <p:nvSpPr>
          <p:cNvPr id="20007" name="PIE subtitle"/>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08" name="Tractability arrow"/>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p:sp>
        <p:nvSpPr>
          <p:cNvPr id="20009" name="Tractability"/>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PDE conversion</a:t>
            </a:r>
            <a:endParaRPr sz="1400" dirty="0"/>
          </a:p>
        </p:txBody>
      </p:sp>
      <p:sp>
        <p:nvSpPr>
          <p:cNvPr id="20010" name="Solutions arrow"/>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20011" name="Solutions"/>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20012" name="PIE result"/>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06A3EE8-C301-4BFD-7D71-FE57F2B0C6F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530D6BE-0848-218F-8E91-68781FAA94D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pic>
        <p:nvPicPr>
          <p:cNvPr id="6039" name="Original TUe logo"/>
          <p:cNvPicPr>
            <a:picLocks noChangeAspect="1"/>
          </p:cNvPicPr>
          <p:nvPr/>
        </p:nvPicPr>
        <p:blipFill>
          <a:blip r:embed="rId4"/>
          <a:stretch>
            <a:fillRect/>
          </a:stretch>
        </p:blipFill>
        <p:spPr>
          <a:xfrm>
            <a:off x="8458200" y="4813300"/>
            <a:ext cx="457200" cy="254000"/>
          </a:xfrm>
          <a:prstGeom prst="rect">
            <a:avLst/>
          </a:prstGeom>
        </p:spPr>
      </p:pic>
      <p:grpSp>
        <p:nvGrpSpPr>
          <p:cNvPr id="30001" name="Restored Physical PDE LFR connections">
            <a:extLst>
              <a:ext uri="{FF2B5EF4-FFF2-40B4-BE49-F238E27FC236}">
                <a16:creationId xmlns:a16="http://schemas.microsoft.com/office/drawing/2014/main" id="{9ABA1CC7-950B-27AA-22AE-FF6B70D69927}"/>
              </a:ext>
            </a:extLst>
          </p:cNvPr>
          <p:cNvGrpSpPr/>
          <p:nvPr/>
        </p:nvGrpSpPr>
        <p:grpSpPr>
          <a:xfrm>
            <a:off x="393700" y="1574800"/>
            <a:ext cx="2921000" cy="2239010"/>
            <a:chOff x="1995932" y="1819148"/>
            <a:chExt cx="3138932" cy="2405888"/>
          </a:xfrm>
        </p:grpSpPr>
        <p:sp>
          <p:nvSpPr>
            <p:cNvPr id="30002" name="Plant to uncertainty">
              <a:extLst>
                <a:ext uri="{FF2B5EF4-FFF2-40B4-BE49-F238E27FC236}">
                  <a16:creationId xmlns:a16="http://schemas.microsoft.com/office/drawing/2014/main" id="{2754DD32-274F-27F4-BE1B-8224B879735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03" name="Uncertainty to plant">
              <a:extLst>
                <a:ext uri="{FF2B5EF4-FFF2-40B4-BE49-F238E27FC236}">
                  <a16:creationId xmlns:a16="http://schemas.microsoft.com/office/drawing/2014/main" id="{DD486A82-55E8-023E-8F9F-9A58EE0B963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04" name="Controller plant channel">
              <a:extLst>
                <a:ext uri="{FF2B5EF4-FFF2-40B4-BE49-F238E27FC236}">
                  <a16:creationId xmlns:a16="http://schemas.microsoft.com/office/drawing/2014/main" id="{BBD3AD23-2DB0-9695-CFA3-614AC55030B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05" name="Plant controller channel">
              <a:extLst>
                <a:ext uri="{FF2B5EF4-FFF2-40B4-BE49-F238E27FC236}">
                  <a16:creationId xmlns:a16="http://schemas.microsoft.com/office/drawing/2014/main" id="{9BA68EB3-5092-AA08-227D-411D2BE3EB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06" name="Controller">
              <a:extLst>
                <a:ext uri="{FF2B5EF4-FFF2-40B4-BE49-F238E27FC236}">
                  <a16:creationId xmlns:a16="http://schemas.microsoft.com/office/drawing/2014/main" id="{4076BFC3-C92C-AA03-D998-37D40BDA98F8}"/>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07" name="Controller label">
                  <a:extLst>
                    <a:ext uri="{FF2B5EF4-FFF2-40B4-BE49-F238E27FC236}">
                      <a16:creationId xmlns:a16="http://schemas.microsoft.com/office/drawing/2014/main" id="{113D66BD-EDAB-11DF-4D77-824952767822}"/>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9" name="Controller external channel">
                  <a:extLst>
                    <a:ext uri="{FF2B5EF4-FFF2-40B4-BE49-F238E27FC236}">
                      <a16:creationId xmlns:a16="http://schemas.microsoft.com/office/drawing/2014/main" id="{86069990-84DE-8960-B5EB-3B1E2CBA1E65}"/>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m="http://schemas.openxmlformats.org/officeDocument/2006/math" xmlns="">
            <p:sp>
              <p:nvSpPr>
                <p:cNvPr id="30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0" name="Plant measured channel">
                  <a:extLst>
                    <a:ext uri="{FF2B5EF4-FFF2-40B4-BE49-F238E27FC236}">
                      <a16:creationId xmlns:a16="http://schemas.microsoft.com/office/drawing/2014/main" id="{6C860631-F861-5AA0-C820-47AAEDD0E86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en-NL" sz="1998" smtClean="0">
                                <a:solidFill>
                                  <a:srgbClr val="252529"/>
                                </a:solidFill>
                                <a:latin typeface="Cambria Math"/>
                              </a:rPr>
                            </m:ctrlPr>
                          </m:sSubPr>
                          <m:e>
                            <m:r>
                              <a:rPr lang="en-NL" sz="1998" smtClean="0">
                                <a:solidFill>
                                  <a:srgbClr val="252529"/>
                                </a:solidFill>
                                <a:latin typeface="Cambria Math"/>
                              </a:rPr>
                              <m:t>𝑦</m:t>
                            </m:r>
                          </m:e>
                          <m:sub/>
                        </m:sSub>
                      </m:oMath>
                    </m:oMathPara>
                  </a14:m>
                  <a:endParaRPr sz="1998" dirty="0"/>
                </a:p>
              </p:txBody>
            </p:sp>
          </mc:Choice>
          <mc:Fallback xmlns:m="http://schemas.openxmlformats.org/officeDocument/2006/math" xmlns="">
            <p:sp>
              <p:nvSpPr>
                <p:cNvPr id="30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6"/>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1" name="Uncertainty output channel">
                  <a:extLst>
                    <a:ext uri="{FF2B5EF4-FFF2-40B4-BE49-F238E27FC236}">
                      <a16:creationId xmlns:a16="http://schemas.microsoft.com/office/drawing/2014/main" id="{C5B022E9-CA0A-7768-3150-8C47EB7D8CA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2" name="Uncertainty input channel">
                  <a:extLst>
                    <a:ext uri="{FF2B5EF4-FFF2-40B4-BE49-F238E27FC236}">
                      <a16:creationId xmlns:a16="http://schemas.microsoft.com/office/drawing/2014/main" id="{CB1119A7-6DF6-5F17-4C2D-8A9ECE6BAAF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m="http://schemas.openxmlformats.org/officeDocument/2006/math" xmlns="">
            <p:sp>
              <p:nvSpPr>
                <p:cNvPr id="30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8"/>
                  <a:stretch>
                    <a:fillRect/>
                  </a:stretch>
                </a:blipFill>
                <a:ln>
                  <a:noFill/>
                </a:ln>
              </p:spPr>
              <p:txBody>
                <a:bodyPr/>
                <a:lstStyle/>
                <a:p>
                  <a:r>
                    <a:rPr lang="en-NL">
                      <a:noFill/>
                    </a:rPr>
                    <a:t> </a:t>
                  </a:r>
                </a:p>
              </p:txBody>
            </p:sp>
          </mc:Fallback>
        </mc:AlternateContent>
        <p:sp>
          <p:nvSpPr>
            <p:cNvPr id="30013" name="Uncertainty">
              <a:extLst>
                <a:ext uri="{FF2B5EF4-FFF2-40B4-BE49-F238E27FC236}">
                  <a16:creationId xmlns:a16="http://schemas.microsoft.com/office/drawing/2014/main" id="{723B27D2-989F-F6E9-8A40-02455ECDA079}"/>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14" name="Uncertainty label">
                  <a:extLst>
                    <a:ext uri="{FF2B5EF4-FFF2-40B4-BE49-F238E27FC236}">
                      <a16:creationId xmlns:a16="http://schemas.microsoft.com/office/drawing/2014/main" id="{DD90AEC3-C76B-D6C9-EBBB-D15C21AF7DC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16" name="!!PDE block"/>
          <p:cNvGrpSpPr/>
          <p:nvPr/>
        </p:nvGrpSpPr>
        <p:grpSpPr>
          <a:xfrm>
            <a:off x="1408179" y="2222014"/>
            <a:ext cx="874551" cy="874613"/>
            <a:chOff x="3086100" y="2514600"/>
            <a:chExt cx="939800" cy="939800"/>
          </a:xfrm>
        </p:grpSpPr>
        <p:sp>
          <p:nvSpPr>
            <p:cNvPr id="30017"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18"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30018"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8"/>
                  <a:stretch>
                    <a:fillRect/>
                  </a:stretch>
                </a:blipFill>
                <a:ln>
                  <a:noFill/>
                </a:ln>
              </p:spPr>
              <p:txBody>
                <a:bodyPr/>
                <a:lstStyle/>
                <a:p>
                  <a:r>
                    <a:rPr lang="en-NL">
                      <a:noFill/>
                    </a:rPr>
                    <a:t> </a:t>
                  </a:r>
                </a:p>
              </p:txBody>
            </p:sp>
          </mc:Fallback>
        </mc:AlternateContent>
      </p:grpSp>
      <p:grpSp>
        <p:nvGrpSpPr>
          <p:cNvPr id="30019" name="Restored PIE LFR connections">
            <a:extLst>
              <a:ext uri="{FF2B5EF4-FFF2-40B4-BE49-F238E27FC236}">
                <a16:creationId xmlns:a16="http://schemas.microsoft.com/office/drawing/2014/main" id="{694DB2D1-3979-BD73-6C1C-EDA0A861169B}"/>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387EA069-E6BC-C65C-43B0-149CA3F4359A}"/>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F18621C0-B8ED-2D32-2341-BCF0945FCBC8}"/>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8950E2F4-0E62-277B-B968-BA60FABDD891}"/>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A12ECBC4-0979-25DD-46C7-E67B95A9ABD9}"/>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A3420DEE-315E-01A8-C879-515EF382562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14E9C315-7C94-2977-F53E-52572AAE79A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4A8DD3D-4068-1AD3-523A-5AB1CA8481FA}"/>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AFDCDE03-861F-098E-6F23-DAF70D871FD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9FB3CB1E-34C4-70A1-FB70-355902F72FD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E17DEA41-36FC-EE0F-1A58-86C5B1FE1000}"/>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FFE97ECE-6100-2200-CD8F-E23AEC0EC7E8}"/>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99A2BA32-00F4-FE3C-8037-DEA6AE2610B4}"/>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FFDF9EE7-CC94-EDDC-598C-7CAEF898B70B}"/>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39990" name="Neural image backing"/>
          <p:cNvSpPr/>
          <p:nvPr/>
        </p:nvSpPr>
        <p:spPr>
          <a:xfrm>
            <a:off x="152400" y="4203700"/>
            <a:ext cx="1066800" cy="584200"/>
          </a:xfrm>
          <a:prstGeom prst="rect">
            <a:avLst/>
          </a:prstGeom>
          <a:solidFill>
            <a:srgbClr val="FFFFFF"/>
          </a:solidFill>
          <a:ln>
            <a:noFill/>
          </a:ln>
        </p:spPr>
        <p:txBody>
          <a:bodyPr/>
          <a:lstStyle/>
          <a:p>
            <a:endParaRPr lang="en-NL"/>
          </a:p>
        </p:txBody>
      </p:sp>
      <p:grpSp>
        <p:nvGrpSpPr>
          <p:cNvPr id="30037" name="STN-GPe image">
            <a:extLst>
              <a:ext uri="{FF2B5EF4-FFF2-40B4-BE49-F238E27FC236}">
                <a16:creationId xmlns:a16="http://schemas.microsoft.com/office/drawing/2014/main" id="{C1E5EDF8-39B7-BFFC-C737-CA4AA387F766}"/>
              </a:ext>
            </a:extLst>
          </p:cNvPr>
          <p:cNvGrpSpPr/>
          <p:nvPr/>
        </p:nvGrpSpPr>
        <p:grpSpPr>
          <a:xfrm>
            <a:off x="190500" y="4254500"/>
            <a:ext cx="990600" cy="476250"/>
            <a:chOff x="1879600" y="241300"/>
            <a:chExt cx="5597595" cy="2692400"/>
          </a:xfrm>
        </p:grpSpPr>
        <p:pic>
          <p:nvPicPr>
            <p:cNvPr id="30038"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039" name="ASML image">
            <a:extLst>
              <a:ext uri="{FF2B5EF4-FFF2-40B4-BE49-F238E27FC236}">
                <a16:creationId xmlns:a16="http://schemas.microsoft.com/office/drawing/2014/main" id="{64CB8C8F-9F39-474B-5CE8-8336FF80DF46}"/>
              </a:ext>
            </a:extLst>
          </p:cNvPr>
          <p:cNvPicPr>
            <a:picLocks noChangeAspect="1"/>
          </p:cNvPicPr>
          <p:nvPr/>
        </p:nvPicPr>
        <p:blipFill>
          <a:blip r:embed="rId14" cstate="print">
            <a:extLst>
              <a:ext uri="{28A0092B-C50C-407E-A947-70E740481C1C}">
                <a14:useLocalDpi xmlns:a14="http://schemas.microsoft.com/office/drawing/2010/main" val="0"/>
              </a:ext>
            </a:extLst>
          </a:blip>
          <a:srcRect l="6208" r="6507" b="12822"/>
          <a:stretch>
            <a:fillRect/>
          </a:stretch>
        </p:blipFill>
        <p:spPr>
          <a:xfrm>
            <a:off x="1320800" y="4241800"/>
            <a:ext cx="977900" cy="508000"/>
          </a:xfrm>
          <a:prstGeom prst="rect">
            <a:avLst/>
          </a:prstGeom>
        </p:spPr>
      </p:pic>
      <p:pic>
        <p:nvPicPr>
          <p:cNvPr id="30040" name="Canon image" descr="Products and Technologies - Canon Production Printing">
            <a:extLst>
              <a:ext uri="{FF2B5EF4-FFF2-40B4-BE49-F238E27FC236}">
                <a16:creationId xmlns:a16="http://schemas.microsoft.com/office/drawing/2014/main" id="{EFE606BB-AB45-9BBC-8CC9-D48E326E0A7F}"/>
              </a:ext>
            </a:extLst>
          </p:cNvPr>
          <p:cNvPicPr>
            <a:picLocks noChangeAspect="1"/>
          </p:cNvPicPr>
          <p:nvPr/>
        </p:nvPicPr>
        <p:blipFill>
          <a:blip r:embed="rId15"/>
          <a:stretch>
            <a:fillRect/>
          </a:stretch>
        </p:blipFill>
        <p:spPr>
          <a:xfrm>
            <a:off x="2438400" y="4254500"/>
            <a:ext cx="977900" cy="478790"/>
          </a:xfrm>
          <a:prstGeom prst="rect">
            <a:avLst/>
          </a:prstGeom>
        </p:spPr>
      </p:pic>
      <p:sp>
        <p:nvSpPr>
          <p:cNvPr id="39991" name="Application names"/>
          <p:cNvSpPr/>
          <p:nvPr/>
        </p:nvSpPr>
        <p:spPr>
          <a:xfrm>
            <a:off x="1524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Tree>
    <p:extLst>
      <p:ext uri="{BB962C8B-B14F-4D97-AF65-F5344CB8AC3E}">
        <p14:creationId xmlns:p14="http://schemas.microsoft.com/office/powerpoint/2010/main" val="9094517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xmlns:m="http://schemas.openxmlformats.org/officeDocument/2006/math" xmlns:a14="http://schemas.microsoft.com/office/drawing/2010/main" xmlns:p14="http://schemas.microsoft.com/office/powerpoint/2010/main">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6B85E-8EBC-6D29-0FDA-AA5187FC4187}"/>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4698336-BF91-DB55-3BD2-E127BEF8A18C}"/>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93840A3D-915A-E685-769F-CDEEEEEEDAF6}"/>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1D3A16E4-29B3-A85B-15C7-6B4E228E5B14}"/>
              </a:ext>
            </a:extLst>
          </p:cNvPr>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D15496F2-52A5-B283-CCCE-3EB14FCE3EF1}"/>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3D3002C9-DE67-1FEB-A6DD-464ACDCA655C}"/>
                  </a:ext>
                </a:extLst>
              </p:cNvPr>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3D3002C9-DE67-1FEB-A6DD-464ACDCA655C}"/>
                  </a:ext>
                </a:extLst>
              </p:cNvPr>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26D61F8-3A52-5561-17BA-6F16952AE180}"/>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472D5A79-96DE-FC18-720A-3D9E6923027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pic>
        <p:nvPicPr>
          <p:cNvPr id="6039" name="Original TUe logo">
            <a:extLst>
              <a:ext uri="{FF2B5EF4-FFF2-40B4-BE49-F238E27FC236}">
                <a16:creationId xmlns:a16="http://schemas.microsoft.com/office/drawing/2014/main" id="{C0360608-84AF-9DB3-C78F-DFA10F4E4028}"/>
              </a:ext>
            </a:extLst>
          </p:cNvPr>
          <p:cNvPicPr>
            <a:picLocks noChangeAspect="1"/>
          </p:cNvPicPr>
          <p:nvPr/>
        </p:nvPicPr>
        <p:blipFill>
          <a:blip r:embed="rId4"/>
          <a:stretch>
            <a:fillRect/>
          </a:stretch>
        </p:blipFill>
        <p:spPr>
          <a:xfrm>
            <a:off x="8458200" y="4813300"/>
            <a:ext cx="457200" cy="254000"/>
          </a:xfrm>
          <a:prstGeom prst="rect">
            <a:avLst/>
          </a:prstGeom>
        </p:spPr>
      </p:pic>
      <p:grpSp>
        <p:nvGrpSpPr>
          <p:cNvPr id="30019" name="Restored PIE LFR connections">
            <a:extLst>
              <a:ext uri="{FF2B5EF4-FFF2-40B4-BE49-F238E27FC236}">
                <a16:creationId xmlns:a16="http://schemas.microsoft.com/office/drawing/2014/main" id="{CE0377EF-DD04-5A5E-BA83-1C0D9D2BEE4C}"/>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E701967C-E64B-9C5D-5B85-DDD85042E8ED}"/>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3238746E-F7F0-C8D9-2691-31EFA24FAAE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E910A34F-FB13-09D2-7A2F-B4BB0A44AD96}"/>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CD492750-E976-8EF9-87A6-95E13896DA40}"/>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0E501BF4-474C-947E-9CCB-E8F52AC248C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8D720DE9-AE80-A4AD-6F80-C4375624A1CA}"/>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AEAD45B-D103-A661-4607-8330A55CCE0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EBB2E0C7-B846-0C43-2F4F-A63CD7FBA13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65EE4D95-27CB-2D16-23ED-C69E7C984BB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D1E546FC-6995-EB66-2774-7CEA32C02199}"/>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A03660DC-DA9C-D605-5820-CF57913124B3}"/>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6129C4FD-759A-4762-43B6-F2D87E161ECD}"/>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CF6A7A5E-8154-A0D1-5FD6-F142EA581C8E}"/>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780D11FD-BFE5-2DF2-A145-64D1095B286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948A0D4B-535C-5123-E0CD-F471370BF40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2094491916"/>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90D49-0F65-1A13-4393-0F1C93D50C69}"/>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E46F5E2-617F-6107-20CA-BF23AA7953A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8B336113-0615-36F1-934A-E86CB2A59281}"/>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F532584E-ADAE-F182-6E28-FE7792B9B4B3}"/>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A356D866-A98C-CBA7-94A8-F2548985275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8D755658-55D4-C5C9-CF56-6C60BDD1889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8D755658-55D4-C5C9-CF56-6C60BDD18891}"/>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FE2C9EEB-F126-3E4C-699B-87F75359D03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5B8BA736-1DA6-67F5-F9D3-024FC29B24CA}"/>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5BBAE909-1B64-F0F2-560E-3F8618AE11F6}"/>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6936EBF2-D3C0-204A-3E1A-C4C3C4188C44}"/>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A296786E-898A-523B-861C-ADEB6346AE8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89DD3B2B-DF5A-E92E-EE09-F42698923425}"/>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606D14A0-289B-B01B-0979-01FCFB014E22}"/>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BA0C2320-CEF9-32AF-16DC-2C0207EB9A4F}"/>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B44F2291-9667-B430-D08E-9977A2D4DEEE}"/>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5FB66B55-E547-644D-A2F9-B28ED698846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11B568C4-5300-4601-8484-6CC6E4EF3FE3}"/>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77371944-0F54-1538-5A76-C6A0950CDDE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92EC4FB5-4A08-CE20-2130-82EDC1E871B4}"/>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799E27D6-C952-0517-D634-6583B01A406E}"/>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BB998F68-DD87-08F6-AB36-2819CA17B8C2}"/>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F22295C-299D-C5C7-C1EA-0CB43431FDDD}"/>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B4A53036-38C1-2F3F-34D8-4BB38E24DC7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1696729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advClick="0" advTm="0">
        <p159:morph option="byObject"/>
      </p:transition>
    </mc:Choice>
    <mc:Fallback xmlns="">
      <p:transition spd="slow" advClick="0" advTm="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E2FC0-931D-B1E4-BD1F-4086D1CDD948}"/>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CBFBE29D-35ED-6839-5887-DFDE7B62B1FC}"/>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BE81C29F-3D86-2249-B68B-96859661D845}"/>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76A281BF-4F1F-0E3C-743B-DF6D0A16CC17}"/>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4278627A-B34F-9C37-0395-A5539082008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D5D1B5C5-ED15-8296-FAD7-7A014F1AABAC}"/>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D5D1B5C5-ED15-8296-FAD7-7A014F1AABAC}"/>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8286BB4D-FABB-FD80-EEE2-FEF5A9D0D30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85D30BDE-DC7E-8A68-CE82-B9B14734C288}"/>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41E1C6B2-89C9-EB66-86F0-12D618BC684C}"/>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DCC94323-B313-9586-AD80-770711AAEB26}"/>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1E56C316-882F-E448-8EB6-852B864DE103}"/>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6C00E8FF-8059-42D1-FA8B-A8F24F17EFA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3A1A5E8D-D866-6F0D-7488-A7AFD77F843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48DCF169-958F-88A3-71E0-3C91A5C3B2E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7CCCC213-3F8C-3BC6-D002-FA9F8020134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7E528080-D5D4-B074-88D7-E3F1C32FFC79}"/>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BC0E4CBF-B13F-B51A-926B-3CE5A2B9180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C66052AC-7141-F3EF-9E9B-2E8CBD99E481}"/>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8C9BEA1B-7967-881E-D899-55284145FC9D}"/>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A9589A3E-591D-DA41-A3C6-514613165F5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236B89FF-92FC-622D-9F62-4914D571AC15}"/>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7B1A17D-DD73-ADA9-D24F-A4E2BE261F4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6EC84373-A6DD-412A-D345-46C57C2816BD}"/>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pic>
        <p:nvPicPr>
          <p:cNvPr id="30" name="Picture 29">
            <a:extLst>
              <a:ext uri="{FF2B5EF4-FFF2-40B4-BE49-F238E27FC236}">
                <a16:creationId xmlns:a16="http://schemas.microsoft.com/office/drawing/2014/main" id="{DEB3A916-0217-85EC-C836-45524E6D4AD2}"/>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pic>
        <p:nvPicPr>
          <p:cNvPr id="34" name="Picture 33">
            <a:extLst>
              <a:ext uri="{FF2B5EF4-FFF2-40B4-BE49-F238E27FC236}">
                <a16:creationId xmlns:a16="http://schemas.microsoft.com/office/drawing/2014/main" id="{1C0DEAEE-73FE-3112-C8C5-D8488D6024D7}"/>
              </a:ext>
            </a:extLst>
          </p:cNvPr>
          <p:cNvPicPr>
            <a:picLocks noChangeAspect="1"/>
          </p:cNvPicPr>
          <p:nvPr/>
        </p:nvPicPr>
        <p:blipFill>
          <a:blip r:embed="rId1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Tree>
    <p:extLst>
      <p:ext uri="{BB962C8B-B14F-4D97-AF65-F5344CB8AC3E}">
        <p14:creationId xmlns:p14="http://schemas.microsoft.com/office/powerpoint/2010/main" val="22509966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8ED4D-4467-737D-CA6F-A3D0649580D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5FECD0A9-FF17-8E99-3456-B3DA4577EB1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47BF8996-9678-1EF3-79A4-EC0BB112B6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spTree>
    <p:extLst>
      <p:ext uri="{BB962C8B-B14F-4D97-AF65-F5344CB8AC3E}">
        <p14:creationId xmlns:p14="http://schemas.microsoft.com/office/powerpoint/2010/main" val="2061225351"/>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5FA59-6B54-84A3-1654-E347C2D4167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7A1E981B-ED53-F5A0-09F3-6B44D2769A13}"/>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AFDF8DBE-1B05-A76C-AACE-DD5B00C4E2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245076"/>
            <a:ext cx="3612571" cy="5149713"/>
          </a:xfrm>
          <a:prstGeom prst="rect">
            <a:avLst/>
          </a:prstGeom>
        </p:spPr>
      </p:pic>
      <p:grpSp>
        <p:nvGrpSpPr>
          <p:cNvPr id="2" name="Restored PIE LFR connections">
            <a:extLst>
              <a:ext uri="{FF2B5EF4-FFF2-40B4-BE49-F238E27FC236}">
                <a16:creationId xmlns:a16="http://schemas.microsoft.com/office/drawing/2014/main" id="{A3E50CC6-7310-29B5-2CCB-BBA5D91D55E8}"/>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7571E4FA-973A-FB5F-A9B3-FB65BFE8DE2D}"/>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51E8D348-F78C-7637-A9CB-8BEE8B6982B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BAFD17CA-9BC5-E215-DC8E-44835128535C}"/>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7F2D38EF-A4AA-58DD-DC10-8E5A3F988F7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35A0584-2EFA-5A90-99B4-BC5ED24E569F}"/>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A364187D-4B82-58E0-3B1A-4C330DA6AC6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31BCB98E-0F81-9C17-EDAF-D8A91851CC06}"/>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D9415886-8D2E-3385-09EA-1EEF92015DD6}"/>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CD0BE6BC-C560-44B8-D1D9-E74F1B5A450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3857170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0">
        <p159:morph option="byObject"/>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0" presetClass="exit" presetSubtype="0" fill="hold" nodeType="withEffect">
                                  <p:stCondLst>
                                    <p:cond delay="0"/>
                                  </p:stCondLst>
                                  <p:childTnLst>
                                    <p:animEffect transition="out" filter="fade">
                                      <p:cBhvr>
                                        <p:cTn id="10" dur="500"/>
                                        <p:tgtEl>
                                          <p:spTgt spid="30"/>
                                        </p:tgtEl>
                                      </p:cBhvr>
                                    </p:animEffect>
                                    <p:set>
                                      <p:cBhvr>
                                        <p:cTn id="11" dur="1" fill="hold">
                                          <p:stCondLst>
                                            <p:cond delay="4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D5290-E1E9-FEAF-5709-2C072629257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BFFD0C47-822F-5C39-4D97-85A53E265C82}"/>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2" name="Restored PIE LFR connections">
            <a:extLst>
              <a:ext uri="{FF2B5EF4-FFF2-40B4-BE49-F238E27FC236}">
                <a16:creationId xmlns:a16="http://schemas.microsoft.com/office/drawing/2014/main" id="{346920C8-D88B-0EBC-A6CD-29758430EDEB}"/>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064144FE-E075-9190-663B-AEDCE5C8520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74D461FB-D0D5-38E9-ED71-F49737E6567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898A751F-D4BA-C592-7998-68B9ABA93E4F}"/>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93C17898-F4E3-D30E-F8ED-DC7D2B51CDB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92C94441-16CE-B7C3-C679-B20920F432DD}"/>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6E32296F-D4FB-F34F-26C8-9049B3D8E4EE}"/>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1" name="Plant measured channel">
                  <a:extLst>
                    <a:ext uri="{FF2B5EF4-FFF2-40B4-BE49-F238E27FC236}">
                      <a16:creationId xmlns:a16="http://schemas.microsoft.com/office/drawing/2014/main" id="{6E32296F-D4FB-F34F-26C8-9049B3D8E4EE}"/>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254"/>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E05FF3EB-E7B0-6125-08D9-79DA21B2D75F}"/>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43FC7C50-0C15-AE49-C250-5B1B031B47C2}"/>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64D15DBD-CD7F-07F7-1378-61A325B74FEF}"/>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21" name="Title 20">
            <a:extLst>
              <a:ext uri="{FF2B5EF4-FFF2-40B4-BE49-F238E27FC236}">
                <a16:creationId xmlns:a16="http://schemas.microsoft.com/office/drawing/2014/main" id="{E6DAB6F5-BC08-65B8-B230-8012355710AD}"/>
              </a:ext>
            </a:extLst>
          </p:cNvPr>
          <p:cNvSpPr>
            <a:spLocks noGrp="1"/>
          </p:cNvSpPr>
          <p:nvPr>
            <p:ph type="title"/>
          </p:nvPr>
        </p:nvSpPr>
        <p:spPr/>
        <p:txBody>
          <a:bodyPr/>
          <a:lstStyle/>
          <a:p>
            <a:r>
              <a:rPr lang="en-US" dirty="0"/>
              <a:t>Alternative system representation</a:t>
            </a:r>
            <a:endParaRPr lang="en-NL" dirty="0"/>
          </a:p>
        </p:txBody>
      </p:sp>
      <p:sp>
        <p:nvSpPr>
          <p:cNvPr id="3" name="TextBox 2">
            <a:extLst>
              <a:ext uri="{FF2B5EF4-FFF2-40B4-BE49-F238E27FC236}">
                <a16:creationId xmlns:a16="http://schemas.microsoft.com/office/drawing/2014/main" id="{39B32BE5-4318-3FF9-6B03-28721E31B190}"/>
              </a:ext>
            </a:extLst>
          </p:cNvPr>
          <p:cNvSpPr txBox="1"/>
          <p:nvPr/>
        </p:nvSpPr>
        <p:spPr>
          <a:xfrm>
            <a:off x="393700"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87E4624-29EB-05F1-E29E-4E5D299CFF5B}"/>
                  </a:ext>
                </a:extLst>
              </p:cNvPr>
              <p:cNvSpPr txBox="1"/>
              <p:nvPr/>
            </p:nvSpPr>
            <p:spPr>
              <a:xfrm>
                <a:off x="442470" y="3841110"/>
                <a:ext cx="2693814" cy="454355"/>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𝐾</m:t>
                          </m:r>
                        </m:e>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𝑃𝑇</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4" name="TextBox 3">
                <a:extLst>
                  <a:ext uri="{FF2B5EF4-FFF2-40B4-BE49-F238E27FC236}">
                    <a16:creationId xmlns:a16="http://schemas.microsoft.com/office/drawing/2014/main" id="{087E4624-29EB-05F1-E29E-4E5D299CFF5B}"/>
                  </a:ext>
                </a:extLst>
              </p:cNvPr>
              <p:cNvSpPr txBox="1">
                <a:spLocks noRot="1" noChangeAspect="1" noMove="1" noResize="1" noEditPoints="1" noAdjustHandles="1" noChangeArrowheads="1" noChangeShapeType="1" noTextEdit="1"/>
              </p:cNvSpPr>
              <p:nvPr/>
            </p:nvSpPr>
            <p:spPr>
              <a:xfrm>
                <a:off x="442470" y="3841110"/>
                <a:ext cx="2693814" cy="454355"/>
              </a:xfrm>
              <a:prstGeom prst="rect">
                <a:avLst/>
              </a:prstGeom>
              <a:blipFill>
                <a:blip r:embed="rId10"/>
                <a:stretch>
                  <a:fillRect t="-8000" r="-1361" b="-6667"/>
                </a:stretch>
              </a:blipFill>
            </p:spPr>
            <p:txBody>
              <a:bodyPr/>
              <a:lstStyle/>
              <a:p>
                <a:r>
                  <a:rPr lang="en-NL">
                    <a:noFill/>
                  </a:rPr>
                  <a:t> </a:t>
                </a:r>
              </a:p>
            </p:txBody>
          </p:sp>
        </mc:Fallback>
      </mc:AlternateContent>
      <p:sp>
        <p:nvSpPr>
          <p:cNvPr id="12" name="TextBox 11">
            <a:extLst>
              <a:ext uri="{FF2B5EF4-FFF2-40B4-BE49-F238E27FC236}">
                <a16:creationId xmlns:a16="http://schemas.microsoft.com/office/drawing/2014/main" id="{B1F10BD5-F648-BDAA-C5CE-75D3A70F5916}"/>
              </a:ext>
            </a:extLst>
          </p:cNvPr>
          <p:cNvSpPr txBox="1"/>
          <p:nvPr/>
        </p:nvSpPr>
        <p:spPr>
          <a:xfrm>
            <a:off x="446469"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F889C7B-CA6B-5A13-867E-679EA822E0E0}"/>
                  </a:ext>
                </a:extLst>
              </p:cNvPr>
              <p:cNvSpPr txBox="1"/>
              <p:nvPr/>
            </p:nvSpPr>
            <p:spPr>
              <a:xfrm>
                <a:off x="442470" y="2964664"/>
                <a:ext cx="1955855"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𝑇</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13" name="TextBox 12">
                <a:extLst>
                  <a:ext uri="{FF2B5EF4-FFF2-40B4-BE49-F238E27FC236}">
                    <a16:creationId xmlns:a16="http://schemas.microsoft.com/office/drawing/2014/main" id="{8F889C7B-CA6B-5A13-867E-679EA822E0E0}"/>
                  </a:ext>
                </a:extLst>
              </p:cNvPr>
              <p:cNvSpPr txBox="1">
                <a:spLocks noRot="1" noChangeAspect="1" noMove="1" noResize="1" noEditPoints="1" noAdjustHandles="1" noChangeArrowheads="1" noChangeShapeType="1" noTextEdit="1"/>
              </p:cNvSpPr>
              <p:nvPr/>
            </p:nvSpPr>
            <p:spPr>
              <a:xfrm>
                <a:off x="442470" y="2964664"/>
                <a:ext cx="1955855" cy="300082"/>
              </a:xfrm>
              <a:prstGeom prst="rect">
                <a:avLst/>
              </a:prstGeom>
              <a:blipFill>
                <a:blip r:embed="rId11"/>
                <a:stretch>
                  <a:fillRect/>
                </a:stretch>
              </a:blipFill>
            </p:spPr>
            <p:txBody>
              <a:bodyPr/>
              <a:lstStyle/>
              <a:p>
                <a:r>
                  <a:rPr lang="en-NL">
                    <a:noFill/>
                  </a:rPr>
                  <a:t> </a:t>
                </a:r>
              </a:p>
            </p:txBody>
          </p:sp>
        </mc:Fallback>
      </mc:AlternateContent>
      <p:sp>
        <p:nvSpPr>
          <p:cNvPr id="15" name="Rectangle 14">
            <a:extLst>
              <a:ext uri="{FF2B5EF4-FFF2-40B4-BE49-F238E27FC236}">
                <a16:creationId xmlns:a16="http://schemas.microsoft.com/office/drawing/2014/main" id="{3D44F392-425E-3418-BCB1-CCEEBB227836}"/>
              </a:ext>
            </a:extLst>
          </p:cNvPr>
          <p:cNvSpPr/>
          <p:nvPr/>
        </p:nvSpPr>
        <p:spPr>
          <a:xfrm>
            <a:off x="1864196" y="4107282"/>
            <a:ext cx="188779"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Rectangle 19">
            <a:extLst>
              <a:ext uri="{FF2B5EF4-FFF2-40B4-BE49-F238E27FC236}">
                <a16:creationId xmlns:a16="http://schemas.microsoft.com/office/drawing/2014/main" id="{1100BE20-AEEE-80D8-BB77-5CE5E788E19B}"/>
              </a:ext>
            </a:extLst>
          </p:cNvPr>
          <p:cNvSpPr/>
          <p:nvPr/>
        </p:nvSpPr>
        <p:spPr>
          <a:xfrm>
            <a:off x="2329158" y="4107282"/>
            <a:ext cx="478508"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TextBox 21">
            <a:extLst>
              <a:ext uri="{FF2B5EF4-FFF2-40B4-BE49-F238E27FC236}">
                <a16:creationId xmlns:a16="http://schemas.microsoft.com/office/drawing/2014/main" id="{2738B5D1-1EA8-22F6-8340-8B33B104C8B9}"/>
              </a:ext>
            </a:extLst>
          </p:cNvPr>
          <p:cNvSpPr txBox="1"/>
          <p:nvPr/>
        </p:nvSpPr>
        <p:spPr>
          <a:xfrm>
            <a:off x="1789377" y="4421345"/>
            <a:ext cx="1010213" cy="300082"/>
          </a:xfrm>
          <a:prstGeom prst="rect">
            <a:avLst/>
          </a:prstGeom>
          <a:noFill/>
        </p:spPr>
        <p:txBody>
          <a:bodyPr wrap="none" rtlCol="0">
            <a:spAutoFit/>
          </a:bodyPr>
          <a:lstStyle/>
          <a:p>
            <a:r>
              <a:rPr lang="en-US" dirty="0">
                <a:solidFill>
                  <a:srgbClr val="C81919"/>
                </a:solidFill>
              </a:rPr>
              <a:t>Not Linear!</a:t>
            </a:r>
            <a:endParaRPr lang="en-NL" dirty="0">
              <a:solidFill>
                <a:srgbClr val="C81919"/>
              </a:solidFill>
            </a:endParaRPr>
          </a:p>
        </p:txBody>
      </p:sp>
      <p:grpSp>
        <p:nvGrpSpPr>
          <p:cNvPr id="23" name="Restored PIE LFR connections">
            <a:extLst>
              <a:ext uri="{FF2B5EF4-FFF2-40B4-BE49-F238E27FC236}">
                <a16:creationId xmlns:a16="http://schemas.microsoft.com/office/drawing/2014/main" id="{C58D937D-5E7D-A0E3-F403-D6515B9631E4}"/>
              </a:ext>
            </a:extLst>
          </p:cNvPr>
          <p:cNvGrpSpPr/>
          <p:nvPr/>
        </p:nvGrpSpPr>
        <p:grpSpPr>
          <a:xfrm>
            <a:off x="4569071" y="1627291"/>
            <a:ext cx="2921000" cy="947655"/>
            <a:chOff x="1995932" y="3206750"/>
            <a:chExt cx="3138932" cy="1018286"/>
          </a:xfrm>
        </p:grpSpPr>
        <p:sp>
          <p:nvSpPr>
            <p:cNvPr id="24" name="Controller plant channel">
              <a:extLst>
                <a:ext uri="{FF2B5EF4-FFF2-40B4-BE49-F238E27FC236}">
                  <a16:creationId xmlns:a16="http://schemas.microsoft.com/office/drawing/2014/main" id="{212177EC-FEE6-9DA5-06CD-E1C6642FFAC5}"/>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5" name="Plant controller channel">
              <a:extLst>
                <a:ext uri="{FF2B5EF4-FFF2-40B4-BE49-F238E27FC236}">
                  <a16:creationId xmlns:a16="http://schemas.microsoft.com/office/drawing/2014/main" id="{43DABC10-0CDF-0D29-4750-61FF0ABBE81C}"/>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6" name="Controller">
              <a:extLst>
                <a:ext uri="{FF2B5EF4-FFF2-40B4-BE49-F238E27FC236}">
                  <a16:creationId xmlns:a16="http://schemas.microsoft.com/office/drawing/2014/main" id="{111D8370-C9ED-52DF-E234-2E48ADD9628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Controller label">
                  <a:extLst>
                    <a:ext uri="{FF2B5EF4-FFF2-40B4-BE49-F238E27FC236}">
                      <a16:creationId xmlns:a16="http://schemas.microsoft.com/office/drawing/2014/main" id="{3E12BF9E-91EF-5AAC-FFD7-79465167D44E}"/>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27" name="Controller label">
                  <a:extLst>
                    <a:ext uri="{FF2B5EF4-FFF2-40B4-BE49-F238E27FC236}">
                      <a16:creationId xmlns:a16="http://schemas.microsoft.com/office/drawing/2014/main" id="{3E12BF9E-91EF-5AAC-FFD7-79465167D44E}"/>
                    </a:ext>
                  </a:extLst>
                </p:cNvPr>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12"/>
                  <a:stretch>
                    <a:fillRect l="-77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Controller external channel">
                  <a:extLst>
                    <a:ext uri="{FF2B5EF4-FFF2-40B4-BE49-F238E27FC236}">
                      <a16:creationId xmlns:a16="http://schemas.microsoft.com/office/drawing/2014/main" id="{9F11EB2F-6F29-4DA1-E898-79FA76374DE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p:sp>
              <p:nvSpPr>
                <p:cNvPr id="28" name="Controller external channel">
                  <a:extLst>
                    <a:ext uri="{FF2B5EF4-FFF2-40B4-BE49-F238E27FC236}">
                      <a16:creationId xmlns:a16="http://schemas.microsoft.com/office/drawing/2014/main" id="{9F11EB2F-6F29-4DA1-E898-79FA76374DE9}"/>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Plant measured channel">
                  <a:extLst>
                    <a:ext uri="{FF2B5EF4-FFF2-40B4-BE49-F238E27FC236}">
                      <a16:creationId xmlns:a16="http://schemas.microsoft.com/office/drawing/2014/main" id="{D0139CE8-79B7-9753-87D7-72356D8A9D7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𝑦</m:t>
                            </m:r>
                          </m:e>
                        </m:bar>
                      </m:oMath>
                    </m:oMathPara>
                  </a14:m>
                  <a:endParaRPr sz="1998" dirty="0"/>
                </a:p>
              </p:txBody>
            </p:sp>
          </mc:Choice>
          <mc:Fallback xmlns="">
            <p:sp>
              <p:nvSpPr>
                <p:cNvPr id="29" name="Plant measured channel">
                  <a:extLst>
                    <a:ext uri="{FF2B5EF4-FFF2-40B4-BE49-F238E27FC236}">
                      <a16:creationId xmlns:a16="http://schemas.microsoft.com/office/drawing/2014/main" id="{D0139CE8-79B7-9753-87D7-72356D8A9D7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4"/>
                  <a:stretch>
                    <a:fillRect b="-6780"/>
                  </a:stretch>
                </a:blipFill>
                <a:ln>
                  <a:noFill/>
                </a:ln>
              </p:spPr>
              <p:txBody>
                <a:bodyPr/>
                <a:lstStyle/>
                <a:p>
                  <a:r>
                    <a:rPr lang="en-NL">
                      <a:noFill/>
                    </a:rPr>
                    <a:t> </a:t>
                  </a:r>
                </a:p>
              </p:txBody>
            </p:sp>
          </mc:Fallback>
        </mc:AlternateContent>
      </p:grpSp>
      <p:grpSp>
        <p:nvGrpSpPr>
          <p:cNvPr id="31" name="!!PIE block">
            <a:extLst>
              <a:ext uri="{FF2B5EF4-FFF2-40B4-BE49-F238E27FC236}">
                <a16:creationId xmlns:a16="http://schemas.microsoft.com/office/drawing/2014/main" id="{1C7E5565-3BC8-EB46-A801-32218DB15ACB}"/>
              </a:ext>
            </a:extLst>
          </p:cNvPr>
          <p:cNvGrpSpPr/>
          <p:nvPr/>
        </p:nvGrpSpPr>
        <p:grpSpPr>
          <a:xfrm>
            <a:off x="5583550" y="983151"/>
            <a:ext cx="874551" cy="874613"/>
            <a:chOff x="3086100" y="2514599"/>
            <a:chExt cx="939800" cy="939800"/>
          </a:xfrm>
        </p:grpSpPr>
        <p:sp>
          <p:nvSpPr>
            <p:cNvPr id="32" name="Plant">
              <a:extLst>
                <a:ext uri="{FF2B5EF4-FFF2-40B4-BE49-F238E27FC236}">
                  <a16:creationId xmlns:a16="http://schemas.microsoft.com/office/drawing/2014/main" id="{D127692F-AC1B-49DA-CEAF-03B6CE5AD74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3" name="Plant label">
                  <a:extLst>
                    <a:ext uri="{FF2B5EF4-FFF2-40B4-BE49-F238E27FC236}">
                      <a16:creationId xmlns:a16="http://schemas.microsoft.com/office/drawing/2014/main" id="{91884C0A-0819-B295-7387-3A8FB8A73F64}"/>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b="0" i="1" smtClean="0">
                                <a:latin typeface="Cambria Math" panose="02040503050406030204" pitchFamily="18" charset="0"/>
                              </a:rPr>
                            </m:ctrlPr>
                          </m:sSupPr>
                          <m:e>
                            <m:r>
                              <m:rPr>
                                <m:sty m:val="p"/>
                              </m:rPr>
                              <a:rPr lang="en-US" sz="2590" b="0" i="1" smtClean="0">
                                <a:latin typeface="Cambria Math" panose="02040503050406030204" pitchFamily="18" charset="0"/>
                              </a:rPr>
                              <m:t>PIE</m:t>
                            </m:r>
                          </m:e>
                          <m:sup>
                            <m:r>
                              <a:rPr lang="en-US" sz="2590" b="0" i="1" smtClean="0">
                                <a:latin typeface="Cambria Math" panose="02040503050406030204" pitchFamily="18" charset="0"/>
                              </a:rPr>
                              <m:t>⊤</m:t>
                            </m:r>
                          </m:sup>
                        </m:sSup>
                      </m:oMath>
                    </m:oMathPara>
                  </a14:m>
                  <a:endParaRPr sz="2590" dirty="0"/>
                </a:p>
              </p:txBody>
            </p:sp>
          </mc:Choice>
          <mc:Fallback xmlns="">
            <p:sp>
              <p:nvSpPr>
                <p:cNvPr id="33" name="Plant label">
                  <a:extLst>
                    <a:ext uri="{FF2B5EF4-FFF2-40B4-BE49-F238E27FC236}">
                      <a16:creationId xmlns:a16="http://schemas.microsoft.com/office/drawing/2014/main" id="{91884C0A-0819-B295-7387-3A8FB8A73F64}"/>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5"/>
                  <a:stretch>
                    <a:fillRect l="-5594"/>
                  </a:stretch>
                </a:blipFill>
                <a:ln>
                  <a:noFill/>
                </a:ln>
              </p:spPr>
              <p:txBody>
                <a:bodyPr/>
                <a:lstStyle/>
                <a:p>
                  <a:r>
                    <a:rPr lang="en-NL">
                      <a:noFill/>
                    </a:rPr>
                    <a:t> </a:t>
                  </a:r>
                </a:p>
              </p:txBody>
            </p:sp>
          </mc:Fallback>
        </mc:AlternateContent>
      </p:grpSp>
      <p:sp>
        <p:nvSpPr>
          <p:cNvPr id="34" name="TextBox 33">
            <a:extLst>
              <a:ext uri="{FF2B5EF4-FFF2-40B4-BE49-F238E27FC236}">
                <a16:creationId xmlns:a16="http://schemas.microsoft.com/office/drawing/2014/main" id="{3A405501-9709-F5BC-56F0-7D3AA0D4BF13}"/>
              </a:ext>
            </a:extLst>
          </p:cNvPr>
          <p:cNvSpPr txBox="1"/>
          <p:nvPr/>
        </p:nvSpPr>
        <p:spPr>
          <a:xfrm>
            <a:off x="4569071"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67C2D5F-5DD8-6170-60B6-72DB08E71392}"/>
                  </a:ext>
                </a:extLst>
              </p:cNvPr>
              <p:cNvSpPr txBox="1"/>
              <p:nvPr/>
            </p:nvSpPr>
            <p:spPr>
              <a:xfrm>
                <a:off x="4617841" y="3841110"/>
                <a:ext cx="2694264" cy="207749"/>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35" name="TextBox 34">
                <a:extLst>
                  <a:ext uri="{FF2B5EF4-FFF2-40B4-BE49-F238E27FC236}">
                    <a16:creationId xmlns:a16="http://schemas.microsoft.com/office/drawing/2014/main" id="{767C2D5F-5DD8-6170-60B6-72DB08E71392}"/>
                  </a:ext>
                </a:extLst>
              </p:cNvPr>
              <p:cNvSpPr txBox="1">
                <a:spLocks noRot="1" noChangeAspect="1" noMove="1" noResize="1" noEditPoints="1" noAdjustHandles="1" noChangeArrowheads="1" noChangeShapeType="1" noTextEdit="1"/>
              </p:cNvSpPr>
              <p:nvPr/>
            </p:nvSpPr>
            <p:spPr>
              <a:xfrm>
                <a:off x="4617841" y="3841110"/>
                <a:ext cx="2694264" cy="207749"/>
              </a:xfrm>
              <a:prstGeom prst="rect">
                <a:avLst/>
              </a:prstGeom>
              <a:blipFill>
                <a:blip r:embed="rId16"/>
                <a:stretch>
                  <a:fillRect r="-1361" b="-14706"/>
                </a:stretch>
              </a:blipFill>
            </p:spPr>
            <p:txBody>
              <a:bodyPr/>
              <a:lstStyle/>
              <a:p>
                <a:r>
                  <a:rPr lang="en-NL">
                    <a:noFill/>
                  </a:rPr>
                  <a:t> </a:t>
                </a:r>
              </a:p>
            </p:txBody>
          </p:sp>
        </mc:Fallback>
      </mc:AlternateContent>
      <p:sp>
        <p:nvSpPr>
          <p:cNvPr id="36" name="TextBox 35">
            <a:extLst>
              <a:ext uri="{FF2B5EF4-FFF2-40B4-BE49-F238E27FC236}">
                <a16:creationId xmlns:a16="http://schemas.microsoft.com/office/drawing/2014/main" id="{10BBF6A1-49E7-A13B-A54C-AC9A367673CB}"/>
              </a:ext>
            </a:extLst>
          </p:cNvPr>
          <p:cNvSpPr txBox="1"/>
          <p:nvPr/>
        </p:nvSpPr>
        <p:spPr>
          <a:xfrm>
            <a:off x="4621840"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41F4FFF0-5D1C-ACA1-1D40-4D7B1C3D2F97}"/>
                  </a:ext>
                </a:extLst>
              </p:cNvPr>
              <p:cNvSpPr txBox="1"/>
              <p:nvPr/>
            </p:nvSpPr>
            <p:spPr>
              <a:xfrm>
                <a:off x="4617841" y="2964664"/>
                <a:ext cx="2166042" cy="309765"/>
              </a:xfrm>
              <a:prstGeom prst="rect">
                <a:avLst/>
              </a:prstGeom>
              <a:noFill/>
            </p:spPr>
            <p:txBody>
              <a:bodyPr wrap="none" rtlCol="0">
                <a:spAutoFit/>
              </a:bodyPr>
              <a:lstStyle/>
              <a:p>
                <a:pPr/>
                <a14:m>
                  <m:oMathPara xmlns:m="http://schemas.openxmlformats.org/officeDocument/2006/math">
                    <m:o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bar>
                        <m:barPr>
                          <m:pos m:val="bot"/>
                          <m:ctrlPr>
                            <a:rPr lang="en-US" b="0" i="1" smtClean="0">
                              <a:latin typeface="Cambria Math" panose="02040503050406030204" pitchFamily="18" charset="0"/>
                            </a:rPr>
                          </m:ctrlPr>
                        </m:bar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𝐵</m:t>
                              </m:r>
                            </m:e>
                            <m:sub>
                              <m:r>
                                <a:rPr lang="en-US" b="0" i="1" smtClean="0">
                                  <a:latin typeface="Cambria Math" panose="02040503050406030204" pitchFamily="18" charset="0"/>
                                </a:rPr>
                                <m:t>𝑢</m:t>
                              </m:r>
                            </m:sub>
                            <m:sup>
                              <m:r>
                                <a:rPr lang="en-US" b="0" i="1" smtClean="0">
                                  <a:latin typeface="Cambria Math" panose="02040503050406030204" pitchFamily="18" charset="0"/>
                                </a:rPr>
                                <m:t>∗</m:t>
                              </m:r>
                            </m:sup>
                          </m:sSubSup>
                        </m:e>
                      </m:d>
                      <m:bar>
                        <m:barPr>
                          <m:pos m:val="bot"/>
                          <m:ctrlPr>
                            <a:rPr lang="en-US" b="0" i="1" smtClean="0">
                              <a:latin typeface="Cambria Math" panose="02040503050406030204" pitchFamily="18" charset="0"/>
                            </a:rPr>
                          </m:ctrlPr>
                        </m:barPr>
                        <m:e>
                          <m:r>
                            <a:rPr lang="en-US" b="0" i="1" smtClean="0">
                              <a:latin typeface="Cambria Math" panose="02040503050406030204" pitchFamily="18" charset="0"/>
                            </a:rPr>
                            <m:t>𝑥</m:t>
                          </m:r>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37" name="TextBox 36">
                <a:extLst>
                  <a:ext uri="{FF2B5EF4-FFF2-40B4-BE49-F238E27FC236}">
                    <a16:creationId xmlns:a16="http://schemas.microsoft.com/office/drawing/2014/main" id="{41F4FFF0-5D1C-ACA1-1D40-4D7B1C3D2F97}"/>
                  </a:ext>
                </a:extLst>
              </p:cNvPr>
              <p:cNvSpPr txBox="1">
                <a:spLocks noRot="1" noChangeAspect="1" noMove="1" noResize="1" noEditPoints="1" noAdjustHandles="1" noChangeArrowheads="1" noChangeShapeType="1" noTextEdit="1"/>
              </p:cNvSpPr>
              <p:nvPr/>
            </p:nvSpPr>
            <p:spPr>
              <a:xfrm>
                <a:off x="4617841" y="2964664"/>
                <a:ext cx="2166042" cy="309765"/>
              </a:xfrm>
              <a:prstGeom prst="rect">
                <a:avLst/>
              </a:prstGeom>
              <a:blipFill>
                <a:blip r:embed="rId17"/>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4541B4E6-8F58-3EAA-E5B6-23EDA1F98D7E}"/>
                  </a:ext>
                </a:extLst>
              </p:cNvPr>
              <p:cNvSpPr txBox="1"/>
              <p:nvPr/>
            </p:nvSpPr>
            <p:spPr>
              <a:xfrm>
                <a:off x="4632899" y="4137635"/>
                <a:ext cx="777521" cy="207749"/>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−1</m:t>
                          </m:r>
                        </m:sup>
                      </m:sSup>
                    </m:oMath>
                  </m:oMathPara>
                </a14:m>
                <a:endParaRPr lang="en-NL" dirty="0"/>
              </a:p>
            </p:txBody>
          </p:sp>
        </mc:Choice>
        <mc:Fallback xmlns="">
          <p:sp>
            <p:nvSpPr>
              <p:cNvPr id="41" name="TextBox 40">
                <a:extLst>
                  <a:ext uri="{FF2B5EF4-FFF2-40B4-BE49-F238E27FC236}">
                    <a16:creationId xmlns:a16="http://schemas.microsoft.com/office/drawing/2014/main" id="{4541B4E6-8F58-3EAA-E5B6-23EDA1F98D7E}"/>
                  </a:ext>
                </a:extLst>
              </p:cNvPr>
              <p:cNvSpPr txBox="1">
                <a:spLocks noRot="1" noChangeAspect="1" noMove="1" noResize="1" noEditPoints="1" noAdjustHandles="1" noChangeArrowheads="1" noChangeShapeType="1" noTextEdit="1"/>
              </p:cNvSpPr>
              <p:nvPr/>
            </p:nvSpPr>
            <p:spPr>
              <a:xfrm>
                <a:off x="4632899" y="4137635"/>
                <a:ext cx="777521" cy="207749"/>
              </a:xfrm>
              <a:prstGeom prst="rect">
                <a:avLst/>
              </a:prstGeom>
              <a:blipFill>
                <a:blip r:embed="rId18"/>
                <a:stretch>
                  <a:fillRect l="-5469" t="-2941" r="-1563" b="-5882"/>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2" name="TextBox 41">
                <a:extLst>
                  <a:ext uri="{FF2B5EF4-FFF2-40B4-BE49-F238E27FC236}">
                    <a16:creationId xmlns:a16="http://schemas.microsoft.com/office/drawing/2014/main" id="{4009C174-0D98-DB92-EEFB-8D992B1795D2}"/>
                  </a:ext>
                </a:extLst>
              </p:cNvPr>
              <p:cNvSpPr txBox="1"/>
              <p:nvPr/>
            </p:nvSpPr>
            <p:spPr>
              <a:xfrm>
                <a:off x="4620601" y="4324958"/>
                <a:ext cx="2715359" cy="447623"/>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𝑍</m:t>
                          </m:r>
                        </m:e>
                        <m:e>
                          <m:r>
                            <a:rPr lang="en-US" b="0" i="1" smtClean="0">
                              <a:latin typeface="Cambria Math" panose="02040503050406030204" pitchFamily="18" charset="0"/>
                            </a:rPr>
                            <m:t>𝐴</m:t>
                          </m:r>
                          <m:r>
                            <a:rPr lang="en-US" b="0" i="1" smtClean="0">
                              <a:solidFill>
                                <a:srgbClr val="C81919"/>
                              </a:solidFill>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solidFill>
                                <a:srgbClr val="C81919"/>
                              </a:solidFill>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m:t>
                          </m:r>
                          <m:sSup>
                            <m:sSupPr>
                              <m:ctrlPr>
                                <a:rPr lang="en-US" b="0" i="1" smtClean="0">
                                  <a:solidFill>
                                    <a:srgbClr val="C81919"/>
                                  </a:solidFill>
                                  <a:latin typeface="Cambria Math" panose="02040503050406030204" pitchFamily="18" charset="0"/>
                                </a:rPr>
                              </m:ctrlPr>
                            </m:sSupPr>
                            <m:e>
                              <m:r>
                                <a:rPr lang="en-US" b="0" i="1" smtClean="0">
                                  <a:solidFill>
                                    <a:srgbClr val="C81919"/>
                                  </a:solidFill>
                                  <a:latin typeface="Cambria Math" panose="02040503050406030204" pitchFamily="18" charset="0"/>
                                </a:rPr>
                                <m:t>𝑍</m:t>
                              </m:r>
                            </m:e>
                            <m:sup>
                              <m:r>
                                <a:rPr lang="en-US" b="0" i="1" smtClean="0">
                                  <a:solidFill>
                                    <a:srgbClr val="C81919"/>
                                  </a:solidFill>
                                  <a:latin typeface="Cambria Math" panose="02040503050406030204" pitchFamily="18" charset="0"/>
                                </a:rPr>
                                <m:t>∗</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≻0</m:t>
                          </m:r>
                        </m:e>
                      </m:eqArr>
                    </m:oMath>
                  </m:oMathPara>
                </a14:m>
                <a:endParaRPr lang="en-NL" dirty="0"/>
              </a:p>
            </p:txBody>
          </p:sp>
        </mc:Choice>
        <mc:Fallback>
          <p:sp>
            <p:nvSpPr>
              <p:cNvPr id="42" name="TextBox 41">
                <a:extLst>
                  <a:ext uri="{FF2B5EF4-FFF2-40B4-BE49-F238E27FC236}">
                    <a16:creationId xmlns:a16="http://schemas.microsoft.com/office/drawing/2014/main" id="{4009C174-0D98-DB92-EEFB-8D992B1795D2}"/>
                  </a:ext>
                </a:extLst>
              </p:cNvPr>
              <p:cNvSpPr txBox="1">
                <a:spLocks noRot="1" noChangeAspect="1" noMove="1" noResize="1" noEditPoints="1" noAdjustHandles="1" noChangeArrowheads="1" noChangeShapeType="1" noTextEdit="1"/>
              </p:cNvSpPr>
              <p:nvPr/>
            </p:nvSpPr>
            <p:spPr>
              <a:xfrm>
                <a:off x="4620601" y="4324958"/>
                <a:ext cx="2715359" cy="447623"/>
              </a:xfrm>
              <a:prstGeom prst="rect">
                <a:avLst/>
              </a:prstGeom>
              <a:blipFill>
                <a:blip r:embed="rId19"/>
                <a:stretch>
                  <a:fillRect l="-1124" t="-8108" r="-1348" b="-5405"/>
                </a:stretch>
              </a:blipFill>
            </p:spPr>
            <p:txBody>
              <a:bodyPr/>
              <a:lstStyle/>
              <a:p>
                <a:r>
                  <a:rPr lang="en-NL">
                    <a:noFill/>
                  </a:rPr>
                  <a:t> </a:t>
                </a:r>
              </a:p>
            </p:txBody>
          </p:sp>
        </mc:Fallback>
      </mc:AlternateContent>
      <p:sp>
        <p:nvSpPr>
          <p:cNvPr id="43" name="TextBox 42">
            <a:extLst>
              <a:ext uri="{FF2B5EF4-FFF2-40B4-BE49-F238E27FC236}">
                <a16:creationId xmlns:a16="http://schemas.microsoft.com/office/drawing/2014/main" id="{E1890B28-F6CC-6B66-B8FC-269E96D6847B}"/>
              </a:ext>
            </a:extLst>
          </p:cNvPr>
          <p:cNvSpPr txBox="1"/>
          <p:nvPr/>
        </p:nvSpPr>
        <p:spPr>
          <a:xfrm>
            <a:off x="4566581" y="4530910"/>
            <a:ext cx="1454244" cy="300082"/>
          </a:xfrm>
          <a:prstGeom prst="rect">
            <a:avLst/>
          </a:prstGeom>
          <a:noFill/>
        </p:spPr>
        <p:txBody>
          <a:bodyPr wrap="none" rtlCol="0">
            <a:spAutoFit/>
          </a:bodyPr>
          <a:lstStyle/>
          <a:p>
            <a:r>
              <a:rPr lang="en-US" dirty="0">
                <a:solidFill>
                  <a:srgbClr val="C81919"/>
                </a:solidFill>
              </a:rPr>
              <a:t>Linear in Z and P!</a:t>
            </a:r>
            <a:endParaRPr lang="en-NL" dirty="0">
              <a:solidFill>
                <a:srgbClr val="C81919"/>
              </a:solidFill>
            </a:endParaRPr>
          </a:p>
        </p:txBody>
      </p:sp>
    </p:spTree>
    <p:extLst>
      <p:ext uri="{BB962C8B-B14F-4D97-AF65-F5344CB8AC3E}">
        <p14:creationId xmlns:p14="http://schemas.microsoft.com/office/powerpoint/2010/main" val="343054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1" nodeType="clickEffect">
                                  <p:stCondLst>
                                    <p:cond delay="0"/>
                                  </p:stCondLst>
                                  <p:childTnLst>
                                    <p:set>
                                      <p:cBhvr>
                                        <p:cTn id="48" dur="1" fill="hold">
                                          <p:stCondLst>
                                            <p:cond delay="0"/>
                                          </p:stCondLst>
                                        </p:cTn>
                                        <p:tgtEl>
                                          <p:spTgt spid="35"/>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1" nodeType="clickEffect">
                                  <p:stCondLst>
                                    <p:cond delay="0"/>
                                  </p:stCondLst>
                                  <p:childTnLst>
                                    <p:set>
                                      <p:cBhvr>
                                        <p:cTn id="52" dur="1" fill="hold">
                                          <p:stCondLst>
                                            <p:cond delay="0"/>
                                          </p:stCondLst>
                                        </p:cTn>
                                        <p:tgtEl>
                                          <p:spTgt spid="41"/>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1" nodeType="clickEffect">
                                  <p:stCondLst>
                                    <p:cond delay="0"/>
                                  </p:stCondLst>
                                  <p:childTnLst>
                                    <p:set>
                                      <p:cBhvr>
                                        <p:cTn id="56" dur="1" fill="hold">
                                          <p:stCondLst>
                                            <p:cond delay="0"/>
                                          </p:stCondLst>
                                        </p:cTn>
                                        <p:tgtEl>
                                          <p:spTgt spid="42"/>
                                        </p:tgtEl>
                                        <p:attrNameLst>
                                          <p:attrName>style.visibility</p:attrName>
                                        </p:attrNameLst>
                                      </p:cBhvr>
                                      <p:to>
                                        <p:strVal val="visible"/>
                                      </p:to>
                                    </p:set>
                                  </p:childTnLst>
                                </p:cTn>
                              </p:par>
                              <p:par>
                                <p:cTn id="57" presetID="42" presetClass="path" presetSubtype="0" accel="50000" decel="50000" fill="hold" grpId="0" nodeType="withEffect">
                                  <p:stCondLst>
                                    <p:cond delay="0"/>
                                  </p:stCondLst>
                                  <p:childTnLst>
                                    <p:animMotion origin="layout" path="M -1.94444E-6 -2.71605E-6 L -0.00035 -0.0574 " pathEditMode="relative" rAng="0" ptsTypes="AA">
                                      <p:cBhvr>
                                        <p:cTn id="58" dur="200" fill="hold"/>
                                        <p:tgtEl>
                                          <p:spTgt spid="41"/>
                                        </p:tgtEl>
                                        <p:attrNameLst>
                                          <p:attrName>ppt_x</p:attrName>
                                          <p:attrName>ppt_y</p:attrName>
                                        </p:attrNameLst>
                                      </p:cBhvr>
                                      <p:rCtr x="-17" y="-2870"/>
                                    </p:animMotion>
                                  </p:childTnLst>
                                </p:cTn>
                              </p:par>
                              <p:par>
                                <p:cTn id="59" presetID="42" presetClass="path" presetSubtype="0" accel="50000" decel="50000" fill="hold" grpId="0" nodeType="withEffect">
                                  <p:stCondLst>
                                    <p:cond delay="0"/>
                                  </p:stCondLst>
                                  <p:childTnLst>
                                    <p:animMotion origin="layout" path="M 5.55556E-7 7.40741E-7 L -0.00017 -0.04907 " pathEditMode="relative" rAng="0" ptsTypes="AA">
                                      <p:cBhvr>
                                        <p:cTn id="60" dur="200" fill="hold"/>
                                        <p:tgtEl>
                                          <p:spTgt spid="42"/>
                                        </p:tgtEl>
                                        <p:attrNameLst>
                                          <p:attrName>ppt_x</p:attrName>
                                          <p:attrName>ppt_y</p:attrName>
                                        </p:attrNameLst>
                                      </p:cBhvr>
                                      <p:rCtr x="-17" y="-2469"/>
                                    </p:animMotion>
                                  </p:childTnLst>
                                </p:cTn>
                              </p:par>
                              <p:par>
                                <p:cTn id="61" presetID="1" presetClass="exit" presetSubtype="0" fill="hold" grpId="0" nodeType="withEffect">
                                  <p:stCondLst>
                                    <p:cond delay="0"/>
                                  </p:stCondLst>
                                  <p:childTnLst>
                                    <p:set>
                                      <p:cBhvr>
                                        <p:cTn id="62" dur="1" fill="hold">
                                          <p:stCondLst>
                                            <p:cond delay="0"/>
                                          </p:stCondLst>
                                        </p:cTn>
                                        <p:tgtEl>
                                          <p:spTgt spid="35"/>
                                        </p:tgtEl>
                                        <p:attrNameLst>
                                          <p:attrName>style.visibility</p:attrName>
                                        </p:attrNameLst>
                                      </p:cBhvr>
                                      <p:to>
                                        <p:strVal val="hidden"/>
                                      </p:to>
                                    </p:set>
                                  </p:childTnLst>
                                </p:cTn>
                              </p:par>
                            </p:childTnLst>
                          </p:cTn>
                        </p:par>
                        <p:par>
                          <p:cTn id="63" fill="hold">
                            <p:stCondLst>
                              <p:cond delay="200"/>
                            </p:stCondLst>
                            <p:childTnLst>
                              <p:par>
                                <p:cTn id="64" presetID="1" presetClass="entr" presetSubtype="0" fill="hold" grpId="0" nodeType="afterEffect">
                                  <p:stCondLst>
                                    <p:cond delay="0"/>
                                  </p:stCondLst>
                                  <p:childTnLst>
                                    <p:set>
                                      <p:cBhvr>
                                        <p:cTn id="65"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2" grpId="0"/>
      <p:bldP spid="13" grpId="0"/>
      <p:bldP spid="15" grpId="0" animBg="1"/>
      <p:bldP spid="20" grpId="0" animBg="1"/>
      <p:bldP spid="22" grpId="0"/>
      <p:bldP spid="34" grpId="0"/>
      <p:bldP spid="35" grpId="0"/>
      <p:bldP spid="35" grpId="1"/>
      <p:bldP spid="36" grpId="0"/>
      <p:bldP spid="37" grpId="0"/>
      <p:bldP spid="41" grpId="0"/>
      <p:bldP spid="41" grpId="1"/>
      <p:bldP spid="42" grpId="0"/>
      <p:bldP spid="42" grpId="1"/>
      <p:bldP spid="4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92219-C396-AA27-6339-85F0C81991B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74FCFB9-48C4-EC38-2BCE-E8EE2EEA3D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05B47F60-62FB-9324-1406-3C3088D75FC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70637" y="-1235081"/>
            <a:ext cx="3607759" cy="5142857"/>
          </a:xfrm>
          <a:prstGeom prst="rect">
            <a:avLst/>
          </a:prstGeom>
        </p:spPr>
      </p:pic>
    </p:spTree>
    <p:extLst>
      <p:ext uri="{BB962C8B-B14F-4D97-AF65-F5344CB8AC3E}">
        <p14:creationId xmlns:p14="http://schemas.microsoft.com/office/powerpoint/2010/main" val="3550703130"/>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21C82-1EE1-054E-5DB7-AC0D8200CCAE}"/>
            </a:ext>
          </a:extLst>
        </p:cNvPr>
        <p:cNvGrpSpPr/>
        <p:nvPr/>
      </p:nvGrpSpPr>
      <p:grpSpPr>
        <a:xfrm>
          <a:off x="0" y="0"/>
          <a:ext cx="0" cy="0"/>
          <a:chOff x="0" y="0"/>
          <a:chExt cx="0" cy="0"/>
        </a:xfrm>
      </p:grpSpPr>
      <p:pic>
        <p:nvPicPr>
          <p:cNvPr id="36" name="Picture 35">
            <a:extLst>
              <a:ext uri="{FF2B5EF4-FFF2-40B4-BE49-F238E27FC236}">
                <a16:creationId xmlns:a16="http://schemas.microsoft.com/office/drawing/2014/main" id="{0FA4BCD9-0193-2F2B-9C3D-766436DA269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
        <p:nvSpPr>
          <p:cNvPr id="5" name="Footer Placeholder 4">
            <a:extLst>
              <a:ext uri="{FF2B5EF4-FFF2-40B4-BE49-F238E27FC236}">
                <a16:creationId xmlns:a16="http://schemas.microsoft.com/office/drawing/2014/main" id="{C40E7F83-62BE-A3D6-9785-52306BEF4B4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27A75516-7287-8597-75D8-6304A2082B8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89581" y="2570632"/>
            <a:ext cx="1809448" cy="2579366"/>
          </a:xfrm>
          <a:prstGeom prst="rect">
            <a:avLst/>
          </a:prstGeom>
        </p:spPr>
      </p:pic>
      <p:sp>
        <p:nvSpPr>
          <p:cNvPr id="2" name="!!PIE pillar">
            <a:extLst>
              <a:ext uri="{FF2B5EF4-FFF2-40B4-BE49-F238E27FC236}">
                <a16:creationId xmlns:a16="http://schemas.microsoft.com/office/drawing/2014/main" id="{8050A96E-ED94-ACCC-C82F-3B50296B7E44}"/>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E6EA3F3-BFD9-8C9C-F3F8-24A7B189A613}"/>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7E2575EE-1F96-EDBC-72EA-39B38402FFE2}"/>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E148D39D-F88B-11EC-ED09-E06ED40DE94A}"/>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7138375C-38C7-922E-2F1E-C7F6A4FE2F40}"/>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m="http://schemas.openxmlformats.org/officeDocument/2006/math" xmlns="">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F72ED600-5697-DE79-AC92-474B45E4F7CE}"/>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DCBCCBD4-9FFA-3ECA-7C98-BC3C2A7C3998}"/>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7C542074-B9E7-AD05-4C97-E6EFD5816A0E}"/>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6C611A91-475D-0C49-B19B-97663C93E569}"/>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C86D7701-1C05-78AA-9366-EBAAEAAB3352}"/>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9E5A9FB3-198D-16AB-FBA7-A9B8705A983D}"/>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39A9A93D-9870-049A-B3DB-50E26078FF14}"/>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53439FD5-0DB3-4D60-B685-1A965489C1C9}"/>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FECB77E2-0C3A-87A6-02DD-4D37CE1E4113}"/>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B1F0B6BC-B6C4-B039-E797-4EF4C0C8FCE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E562CD64-794F-6243-7CE0-063831C96A8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BBB05AED-A6AE-E784-2C6C-567417AF828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B846FEA5-0E35-62D8-3CEE-AE1278E6EDE4}"/>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308A3D1A-6450-1AF2-8F7C-6B8219AF727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A0F78390-D184-EFAE-46E6-8DD8272306A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C4CC0593-5B17-7C06-B797-445AF0990F62}"/>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79EE80DF-8087-0596-A21D-ADCD4B538F90}"/>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9411076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a14="http://schemas.microsoft.com/office/drawing/2010/main" xmlns:m="http://schemas.openxmlformats.org/officeDocument/2006/math"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DC287-A2DB-8EE3-A084-FFD329101A75}"/>
            </a:ext>
          </a:extLst>
        </p:cNvPr>
        <p:cNvGrpSpPr/>
        <p:nvPr/>
      </p:nvGrpSpPr>
      <p:grpSpPr>
        <a:xfrm>
          <a:off x="0" y="0"/>
          <a:ext cx="0" cy="0"/>
          <a:chOff x="0" y="0"/>
          <a:chExt cx="0" cy="0"/>
        </a:xfrm>
      </p:grpSpPr>
      <p:pic>
        <p:nvPicPr>
          <p:cNvPr id="36" name="Picture 35">
            <a:extLst>
              <a:ext uri="{FF2B5EF4-FFF2-40B4-BE49-F238E27FC236}">
                <a16:creationId xmlns:a16="http://schemas.microsoft.com/office/drawing/2014/main" id="{2FB18F4B-2236-523A-2C86-767EE3939B8A}"/>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
        <p:nvSpPr>
          <p:cNvPr id="5" name="Footer Placeholder 4">
            <a:extLst>
              <a:ext uri="{FF2B5EF4-FFF2-40B4-BE49-F238E27FC236}">
                <a16:creationId xmlns:a16="http://schemas.microsoft.com/office/drawing/2014/main" id="{899230D0-2CE6-92C0-9BAC-987DC688271D}"/>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6D98CA0-CFBA-5408-497D-681581CCB5B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89581" y="2570632"/>
            <a:ext cx="1809448" cy="2579366"/>
          </a:xfrm>
          <a:prstGeom prst="rect">
            <a:avLst/>
          </a:prstGeom>
        </p:spPr>
      </p:pic>
      <p:sp>
        <p:nvSpPr>
          <p:cNvPr id="2" name="!!PIE pillar">
            <a:extLst>
              <a:ext uri="{FF2B5EF4-FFF2-40B4-BE49-F238E27FC236}">
                <a16:creationId xmlns:a16="http://schemas.microsoft.com/office/drawing/2014/main" id="{C257D065-3694-D66C-9004-F35444862B61}"/>
              </a:ext>
            </a:extLst>
          </p:cNvPr>
          <p:cNvSpPr/>
          <p:nvPr/>
        </p:nvSpPr>
        <p:spPr>
          <a:xfrm>
            <a:off x="0" y="0"/>
            <a:ext cx="3606800" cy="5143500"/>
          </a:xfrm>
          <a:prstGeom prst="rect">
            <a:avLst/>
          </a:prstGeom>
          <a:solidFill>
            <a:srgbClr val="C81919">
              <a:alpha val="50196"/>
            </a:srgbClr>
          </a:solidFill>
          <a:ln>
            <a:noFill/>
          </a:ln>
        </p:spPr>
        <p:txBody>
          <a:bodyPr/>
          <a:lstStyle/>
          <a:p>
            <a:endParaRPr lang="en-NL" dirty="0"/>
          </a:p>
        </p:txBody>
      </p:sp>
      <p:sp>
        <p:nvSpPr>
          <p:cNvPr id="3" name="PIE heading">
            <a:extLst>
              <a:ext uri="{FF2B5EF4-FFF2-40B4-BE49-F238E27FC236}">
                <a16:creationId xmlns:a16="http://schemas.microsoft.com/office/drawing/2014/main" id="{31C8934E-BD94-C385-678D-D60B6C9CEEAA}"/>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8EF6E350-E45D-F4D6-7FFF-331F6BE6001C}"/>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E0E23315-8767-A7BE-57EC-DDC704C91932}"/>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25339B7E-6623-01B0-82B1-CCA9B2F3A53A}"/>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m="http://schemas.openxmlformats.org/officeDocument/2006/math" xmlns="">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C3CD0352-D0EF-3CE5-A6ED-E089FD9C5065}"/>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A6011637-8AE0-6FD4-7296-D4F056AE64BA}"/>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4F1C7DC2-080D-C281-5953-266F1A050E78}"/>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dirty="0"/>
            </a:p>
          </p:txBody>
        </p:sp>
        <p:sp>
          <p:nvSpPr>
            <p:cNvPr id="11" name="Uncertainty to plant">
              <a:extLst>
                <a:ext uri="{FF2B5EF4-FFF2-40B4-BE49-F238E27FC236}">
                  <a16:creationId xmlns:a16="http://schemas.microsoft.com/office/drawing/2014/main" id="{039640D8-4A94-28D3-10ED-D71315C3C196}"/>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A8663027-6C03-9202-0252-150CDC2D31C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9834D4F2-8AD2-C253-6E2C-7C68AE718893}"/>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8D9D6958-1C87-9D15-4F94-61633F4E618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EFB3A25E-FFAC-5C20-5AEA-474809C3D776}"/>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BE714BD9-BDA0-B2DF-99A9-2EE484764C1F}"/>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6793EE4A-3760-4184-CE7B-8849124E305C}"/>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B2A08AF7-32A9-C465-900C-D1BC781312C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584C5CA0-99C5-C57B-678C-E7EFC47849F9}"/>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D0C63EBA-3504-E2A1-4EC9-1C7E70822214}"/>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7BBE42E4-780F-4533-3C8F-8EC7FA129177}"/>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323519C5-0B3C-85AA-F970-7689577612E1}"/>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a:extLst>
              <a:ext uri="{FF2B5EF4-FFF2-40B4-BE49-F238E27FC236}">
                <a16:creationId xmlns:a16="http://schemas.microsoft.com/office/drawing/2014/main" id="{60277D5B-E4DE-3C80-447E-E48EB62C0B81}"/>
              </a:ext>
            </a:extLst>
          </p:cNvPr>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A8C4C69C-0D67-2812-ABEC-1B19532CFBE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F67F84CA-A01D-8465-4158-A8592AE81C42}"/>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4187874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a14="http://schemas.microsoft.com/office/drawing/2010/main" xmlns:m="http://schemas.openxmlformats.org/officeDocument/2006/math"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Describe the nonlinearity Δ</a:t>
            </a:r>
            <a:endParaRPr sz="2500"/>
          </a:p>
        </p:txBody>
      </p:sp>
      <p:sp>
        <p:nvSpPr>
          <p:cNvPr id="1201" name="Sector bounds Sector region"/>
          <p:cNvSpPr/>
          <p:nvPr/>
        </p:nvSpPr>
        <p:spPr>
          <a:xfrm>
            <a:off x="660400" y="2400300"/>
            <a:ext cx="1739900" cy="958103"/>
          </a:xfrm>
          <a:custGeom>
            <a:avLst/>
            <a:gdLst/>
            <a:ahLst/>
            <a:cxnLst/>
            <a:rect l="0" t="0" r="r" b="b"/>
            <a:pathLst>
              <a:path w="1739900" h="958103">
                <a:moveTo>
                  <a:pt x="1727200" y="12700"/>
                </a:moveTo>
                <a:lnTo>
                  <a:pt x="12700" y="12700"/>
                </a:lnTo>
                <a:lnTo>
                  <a:pt x="12700" y="945403"/>
                </a:lnTo>
                <a:close/>
              </a:path>
            </a:pathLst>
          </a:custGeom>
          <a:solidFill>
            <a:srgbClr val="EDF2F5"/>
          </a:solidFill>
          <a:ln w="0">
            <a:noFill/>
          </a:ln>
        </p:spPr>
        <p:txBody>
          <a:bodyPr/>
          <a:lstStyle/>
          <a:p>
            <a:endParaRPr lang="en-NL"/>
          </a:p>
        </p:txBody>
      </p:sp>
      <p:sp>
        <p:nvSpPr>
          <p:cNvPr id="1202" name="Sector bounds Sector region"/>
          <p:cNvSpPr/>
          <p:nvPr/>
        </p:nvSpPr>
        <p:spPr>
          <a:xfrm>
            <a:off x="2374900" y="1467597"/>
            <a:ext cx="1739900" cy="958103"/>
          </a:xfrm>
          <a:custGeom>
            <a:avLst/>
            <a:gdLst/>
            <a:ahLst/>
            <a:cxnLst/>
            <a:rect l="0" t="0" r="r" b="b"/>
            <a:pathLst>
              <a:path w="1739900" h="958103">
                <a:moveTo>
                  <a:pt x="12700" y="945403"/>
                </a:moveTo>
                <a:lnTo>
                  <a:pt x="1727200" y="945403"/>
                </a:lnTo>
                <a:lnTo>
                  <a:pt x="1727200" y="12700"/>
                </a:lnTo>
                <a:close/>
              </a:path>
            </a:pathLst>
          </a:custGeom>
          <a:solidFill>
            <a:srgbClr val="EDF2F5"/>
          </a:solidFill>
          <a:ln w="0">
            <a:noFill/>
          </a:ln>
        </p:spPr>
        <p:txBody>
          <a:bodyPr/>
          <a:lstStyle/>
          <a:p>
            <a:endParaRPr lang="en-NL"/>
          </a:p>
        </p:txBody>
      </p:sp>
      <p:sp>
        <p:nvSpPr>
          <p:cNvPr id="1206" name="Sector bounds Lower sector line"/>
          <p:cNvSpPr/>
          <p:nvPr/>
        </p:nvSpPr>
        <p:spPr>
          <a:xfrm>
            <a:off x="660400" y="2400300"/>
            <a:ext cx="3454400" cy="25400"/>
          </a:xfrm>
          <a:custGeom>
            <a:avLst/>
            <a:gdLst/>
            <a:ahLst/>
            <a:cxnLst/>
            <a:rect l="0" t="0" r="r" b="b"/>
            <a:pathLst>
              <a:path w="3454400" h="25400" fill="none">
                <a:moveTo>
                  <a:pt x="12700" y="12700"/>
                </a:moveTo>
                <a:lnTo>
                  <a:pt x="3441700" y="12700"/>
                </a:lnTo>
              </a:path>
            </a:pathLst>
          </a:custGeom>
          <a:noFill/>
          <a:ln w="40640">
            <a:solidFill>
              <a:srgbClr val="747B82"/>
            </a:solidFill>
          </a:ln>
        </p:spPr>
        <p:txBody>
          <a:bodyPr/>
          <a:lstStyle/>
          <a:p>
            <a:endParaRPr lang="en-NL"/>
          </a:p>
        </p:txBody>
      </p:sp>
      <mc:AlternateContent xmlns:mc="http://schemas.openxmlformats.org/markup-compatibility/2006" xmlns:a14="http://schemas.microsoft.com/office/drawing/2010/main">
        <mc:Choice Requires="a14">
          <p:sp>
            <p:nvSpPr>
              <p:cNvPr id="1401" name="Graph input"/>
              <p:cNvSpPr/>
              <p:nvPr/>
            </p:nvSpPr>
            <p:spPr>
              <a:xfrm>
                <a:off x="4197350" y="2219960"/>
                <a:ext cx="317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𝑧</m:t>
                      </m:r>
                    </m:oMath>
                  </m:oMathPara>
                </a14:m>
                <a:endParaRPr sz="1300" dirty="0"/>
              </a:p>
            </p:txBody>
          </p:sp>
        </mc:Choice>
        <mc:Fallback xmlns="" xmlns:m="http://schemas.openxmlformats.org/officeDocument/2006/math">
          <p:sp>
            <p:nvSpPr>
              <p:cNvPr id="1401" name="Graph input"/>
              <p:cNvSpPr>
                <a:spLocks noRot="1" noChangeAspect="1" noMove="1" noResize="1" noEditPoints="1" noAdjustHandles="1" noChangeArrowheads="1" noChangeShapeType="1" noTextEdit="1"/>
              </p:cNvSpPr>
              <p:nvPr/>
            </p:nvSpPr>
            <p:spPr>
              <a:xfrm>
                <a:off x="4197350" y="2219960"/>
                <a:ext cx="317500" cy="462280"/>
              </a:xfrm>
              <a:prstGeom prst="rect">
                <a:avLst/>
              </a:prstGeom>
              <a:blipFill>
                <a:blip r:embed="rIdSectorRefinement34_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 name="Graph output"/>
              <p:cNvSpPr/>
              <p:nvPr/>
            </p:nvSpPr>
            <p:spPr>
              <a:xfrm>
                <a:off x="2197100" y="924560"/>
                <a:ext cx="381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𝑤</m:t>
                      </m:r>
                    </m:oMath>
                  </m:oMathPara>
                </a14:m>
                <a:endParaRPr sz="1300"/>
              </a:p>
            </p:txBody>
          </p:sp>
        </mc:Choice>
        <mc:Fallback xmlns="" xmlns:m="http://schemas.openxmlformats.org/officeDocument/2006/math">
          <p:sp>
            <p:nvSpPr>
              <p:cNvPr id="1402" name="Graph output"/>
              <p:cNvSpPr>
                <a:spLocks noRot="1" noChangeAspect="1" noMove="1" noResize="1" noEditPoints="1" noAdjustHandles="1" noChangeArrowheads="1" noChangeShapeType="1" noTextEdit="1"/>
              </p:cNvSpPr>
              <p:nvPr/>
            </p:nvSpPr>
            <p:spPr>
              <a:xfrm>
                <a:off x="2197100" y="924560"/>
                <a:ext cx="381000" cy="462280"/>
              </a:xfrm>
              <a:prstGeom prst="rect">
                <a:avLst/>
              </a:prstGeom>
              <a:blipFill>
                <a:blip r:embed="rIdSectorRefinement34_16"/>
                <a:stretch>
                  <a:fillRect/>
                </a:stretch>
              </a:blipFill>
              <a:ln>
                <a:noFill/>
              </a:ln>
            </p:spPr>
            <p:txBody>
              <a:bodyPr/>
              <a:lstStyle/>
              <a:p>
                <a:r>
                  <a:rPr lang="en-NL">
                    <a:noFill/>
                  </a:rPr>
                  <a:t> </a:t>
                </a:r>
              </a:p>
            </p:txBody>
          </p:sp>
        </mc:Fallback>
      </mc:AlternateContent>
      <p:sp>
        <p:nvSpPr>
          <p:cNvPr id="1403" name="Input tick -400"/>
          <p:cNvSpPr/>
          <p:nvPr/>
        </p:nvSpPr>
        <p:spPr>
          <a:xfrm>
            <a:off x="7493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4" name="Input tick 400"/>
          <p:cNvSpPr/>
          <p:nvPr/>
        </p:nvSpPr>
        <p:spPr>
          <a:xfrm>
            <a:off x="34925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5" name="Origin"/>
          <p:cNvSpPr/>
          <p:nvPr/>
        </p:nvSpPr>
        <p:spPr>
          <a:xfrm>
            <a:off x="2146300" y="2489200"/>
            <a:ext cx="228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0</a:t>
            </a:r>
            <a:endParaRPr sz="800"/>
          </a:p>
        </p:txBody>
      </p:sp>
      <mc:AlternateContent xmlns:mc="http://schemas.openxmlformats.org/markup-compatibility/2006" xmlns:a14="http://schemas.microsoft.com/office/drawing/2010/main">
        <mc:Choice Requires="a14">
          <p:sp>
            <p:nvSpPr>
              <p:cNvPr id="1406" name="Upper boundary label"/>
              <p:cNvSpPr/>
              <p:nvPr/>
            </p:nvSpPr>
            <p:spPr>
              <a:xfrm>
                <a:off x="3467100" y="1115060"/>
                <a:ext cx="889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𝛽</m:t>
                      </m:r>
                      <m:r>
                        <a:rPr sz="1300">
                          <a:solidFill>
                            <a:srgbClr val="252529"/>
                          </a:solidFill>
                          <a:latin typeface="Cambria Math"/>
                        </a:rPr>
                        <m:t>𝑧</m:t>
                      </m:r>
                      <m:r>
                        <a:rPr lang="en-US" sz="1300" b="0" i="0" smtClean="0">
                          <a:solidFill>
                            <a:srgbClr val="252529"/>
                          </a:solidFill>
                          <a:latin typeface="Cambria Math" panose="02040503050406030204" pitchFamily="18" charset="0"/>
                        </a:rPr>
                        <m:t> = 0.735</m:t>
                      </m:r>
                      <m:r>
                        <m:rPr>
                          <m:sty m:val="p"/>
                        </m:rPr>
                        <a:rPr lang="en-US" sz="1300" b="0" i="0" smtClean="0">
                          <a:solidFill>
                            <a:srgbClr val="252529"/>
                          </a:solidFill>
                          <a:latin typeface="Cambria Math" panose="02040503050406030204" pitchFamily="18" charset="0"/>
                        </a:rPr>
                        <m:t>z</m:t>
                      </m:r>
                    </m:oMath>
                  </m:oMathPara>
                </a14:m>
                <a:endParaRPr sz="1300" dirty="0"/>
              </a:p>
            </p:txBody>
          </p:sp>
        </mc:Choice>
        <mc:Fallback xmlns="">
          <p:sp>
            <p:nvSpPr>
              <p:cNvPr id="1406" name="Upper boundary label"/>
              <p:cNvSpPr>
                <a:spLocks noRot="1" noChangeAspect="1" noMove="1" noResize="1" noEditPoints="1" noAdjustHandles="1" noChangeArrowheads="1" noChangeShapeType="1" noTextEdit="1"/>
              </p:cNvSpPr>
              <p:nvPr/>
            </p:nvSpPr>
            <p:spPr>
              <a:xfrm>
                <a:off x="3467100" y="1115060"/>
                <a:ext cx="889000" cy="462280"/>
              </a:xfrm>
              <a:prstGeom prst="rect">
                <a:avLst/>
              </a:prstGeom>
              <a:blipFill>
                <a:blip r:embed="rId3"/>
                <a:stretch>
                  <a:fillRect l="-14384" r="-547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7" name="Lower boundary label"/>
              <p:cNvSpPr/>
              <p:nvPr/>
            </p:nvSpPr>
            <p:spPr>
              <a:xfrm>
                <a:off x="3162300" y="2707640"/>
                <a:ext cx="1143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𝛼</m:t>
                      </m:r>
                      <m:r>
                        <a:rPr sz="1200">
                          <a:solidFill>
                            <a:srgbClr val="252529"/>
                          </a:solidFill>
                          <a:latin typeface="Cambria Math"/>
                        </a:rPr>
                        <m:t>𝑧</m:t>
                      </m:r>
                      <m:r>
                        <a:rPr sz="1200">
                          <a:solidFill>
                            <a:srgbClr val="252529"/>
                          </a:solidFill>
                          <a:latin typeface="Cambria Math"/>
                        </a:rPr>
                        <m:t>=0</m:t>
                      </m:r>
                    </m:oMath>
                  </m:oMathPara>
                </a14:m>
                <a:endParaRPr sz="1200"/>
              </a:p>
            </p:txBody>
          </p:sp>
        </mc:Choice>
        <mc:Fallback xmlns="" xmlns:m="http://schemas.openxmlformats.org/officeDocument/2006/math">
          <p:sp>
            <p:nvSpPr>
              <p:cNvPr id="1407" name="Lower boundary label"/>
              <p:cNvSpPr>
                <a:spLocks noRot="1" noChangeAspect="1" noMove="1" noResize="1" noEditPoints="1" noAdjustHandles="1" noChangeArrowheads="1" noChangeShapeType="1" noTextEdit="1"/>
              </p:cNvSpPr>
              <p:nvPr/>
            </p:nvSpPr>
            <p:spPr>
              <a:xfrm>
                <a:off x="3162300" y="2707640"/>
                <a:ext cx="1143000" cy="426720"/>
              </a:xfrm>
              <a:prstGeom prst="rect">
                <a:avLst/>
              </a:prstGeom>
              <a:blipFill>
                <a:blip r:embed="rIdSectorRefinement34_1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10" name="Introduce Theta"/>
              <p:cNvSpPr/>
              <p:nvPr/>
            </p:nvSpPr>
            <p:spPr>
              <a:xfrm>
                <a:off x="5397218" y="480801"/>
                <a:ext cx="3937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acc>
                                  <m:accPr>
                                    <m:chr m:val="̃"/>
                                    <m:ctrlPr>
                                      <a:rPr sz="1900">
                                        <a:solidFill>
                                          <a:srgbClr val="252529"/>
                                        </a:solidFill>
                                        <a:latin typeface="Cambria Math"/>
                                      </a:rPr>
                                    </m:ctrlPr>
                                  </m:accPr>
                                  <m:e>
                                    <m:r>
                                      <a:rPr sz="1900">
                                        <a:solidFill>
                                          <a:srgbClr val="252529"/>
                                        </a:solidFill>
                                        <a:latin typeface="Cambria Math"/>
                                      </a:rPr>
                                      <m:t>𝑧</m:t>
                                    </m:r>
                                  </m:e>
                                </m:acc>
                              </m:e>
                            </m:mr>
                            <m:mr>
                              <m:e>
                                <m:acc>
                                  <m:accPr>
                                    <m:chr m:val="̃"/>
                                    <m:ctrlPr>
                                      <a:rPr sz="1900">
                                        <a:solidFill>
                                          <a:srgbClr val="252529"/>
                                        </a:solidFill>
                                        <a:latin typeface="Cambria Math"/>
                                      </a:rPr>
                                    </m:ctrlPr>
                                  </m:accPr>
                                  <m:e>
                                    <m:r>
                                      <a:rPr sz="1900">
                                        <a:solidFill>
                                          <a:srgbClr val="252529"/>
                                        </a:solidFill>
                                        <a:latin typeface="Cambria Math"/>
                                      </a:rPr>
                                      <m:t>𝑤</m:t>
                                    </m:r>
                                  </m:e>
                                </m:acc>
                              </m:e>
                            </m:mr>
                          </m:m>
                        </m:e>
                      </m:d>
                      <m:r>
                        <a:rPr sz="1900">
                          <a:solidFill>
                            <a:srgbClr val="252529"/>
                          </a:solidFill>
                          <a:latin typeface="Cambria Math"/>
                        </a:rPr>
                        <m:t>=</m:t>
                      </m:r>
                      <m:r>
                        <a:rPr sz="1900">
                          <a:solidFill>
                            <a:srgbClr val="252529"/>
                          </a:solidFill>
                          <a:latin typeface="Cambria Math"/>
                        </a:rPr>
                        <m:t>𝛩</m:t>
                      </m:r>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r>
                                  <a:rPr sz="1900">
                                    <a:solidFill>
                                      <a:srgbClr val="252529"/>
                                    </a:solidFill>
                                    <a:latin typeface="Cambria Math"/>
                                  </a:rPr>
                                  <m:t>𝑧</m:t>
                                </m:r>
                              </m:e>
                            </m:mr>
                            <m:mr>
                              <m:e>
                                <m:r>
                                  <a:rPr sz="1900">
                                    <a:solidFill>
                                      <a:srgbClr val="252529"/>
                                    </a:solidFill>
                                    <a:latin typeface="Cambria Math"/>
                                  </a:rPr>
                                  <m:t>𝑤</m:t>
                                </m:r>
                              </m:e>
                            </m:mr>
                          </m:m>
                        </m:e>
                      </m:d>
                    </m:oMath>
                  </m:oMathPara>
                </a14:m>
                <a:endParaRPr sz="1900" dirty="0"/>
              </a:p>
            </p:txBody>
          </p:sp>
        </mc:Choice>
        <mc:Fallback>
          <p:sp>
            <p:nvSpPr>
              <p:cNvPr id="1410" name="Introduce Theta"/>
              <p:cNvSpPr>
                <a:spLocks noRot="1" noChangeAspect="1" noMove="1" noResize="1" noEditPoints="1" noAdjustHandles="1" noChangeArrowheads="1" noChangeShapeType="1" noTextEdit="1"/>
              </p:cNvSpPr>
              <p:nvPr/>
            </p:nvSpPr>
            <p:spPr>
              <a:xfrm>
                <a:off x="5397218" y="480801"/>
                <a:ext cx="3937000" cy="675640"/>
              </a:xfrm>
              <a:prstGeom prst="rect">
                <a:avLst/>
              </a:prstGeom>
              <a:blipFill>
                <a:blip r:embed="rId4"/>
                <a:stretch>
                  <a:fillRect/>
                </a:stretch>
              </a:blipFill>
              <a:ln>
                <a:noFill/>
              </a:ln>
            </p:spPr>
            <p:txBody>
              <a:bodyPr/>
              <a:lstStyle/>
              <a:p>
                <a:r>
                  <a:rPr lang="en-NL">
                    <a:noFill/>
                  </a:rPr>
                  <a:t> </a:t>
                </a:r>
              </a:p>
            </p:txBody>
          </p:sp>
        </mc:Fallback>
      </mc:AlternateContent>
      <p:sp>
        <p:nvSpPr>
          <p:cNvPr id="14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4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34</a:t>
            </a:r>
            <a:endParaRPr sz="800"/>
          </a:p>
        </p:txBody>
      </p:sp>
      <p:grpSp>
        <p:nvGrpSpPr>
          <p:cNvPr id="1300" name="!!Sector plot"/>
          <p:cNvGrpSpPr/>
          <p:nvPr/>
        </p:nvGrpSpPr>
        <p:grpSpPr>
          <a:xfrm>
            <a:off x="482600" y="1011237"/>
            <a:ext cx="3810000" cy="2794000"/>
            <a:chOff x="482600" y="1016000"/>
            <a:chExt cx="3810000" cy="2794000"/>
          </a:xfrm>
        </p:grpSpPr>
        <p:sp>
          <p:nvSpPr>
            <p:cNvPr id="1203" name="Input axis"/>
            <p:cNvSpPr/>
            <p:nvPr/>
          </p:nvSpPr>
          <p:spPr>
            <a:xfrm>
              <a:off x="574675" y="2400300"/>
              <a:ext cx="3677285" cy="25400"/>
            </a:xfrm>
            <a:custGeom>
              <a:avLst/>
              <a:gdLst/>
              <a:ahLst/>
              <a:cxnLst/>
              <a:rect l="0" t="0" r="r" b="b"/>
              <a:pathLst>
                <a:path w="3677285" h="25400" fill="none">
                  <a:moveTo>
                    <a:pt x="12700" y="12700"/>
                  </a:moveTo>
                  <a:lnTo>
                    <a:pt x="3664585" y="12700"/>
                  </a:lnTo>
                </a:path>
              </a:pathLst>
            </a:custGeom>
            <a:noFill/>
            <a:ln w="8890">
              <a:solidFill>
                <a:srgbClr val="A9ADB2"/>
              </a:solidFill>
              <a:round/>
              <a:tailEnd type="triangle" w="sm" len="sm"/>
            </a:ln>
          </p:spPr>
          <p:txBody>
            <a:bodyPr/>
            <a:lstStyle/>
            <a:p>
              <a:endParaRPr lang="en-NL" dirty="0"/>
            </a:p>
          </p:txBody>
        </p:sp>
        <p:sp>
          <p:nvSpPr>
            <p:cNvPr id="1204" name="Output axis"/>
            <p:cNvSpPr/>
            <p:nvPr/>
          </p:nvSpPr>
          <p:spPr>
            <a:xfrm>
              <a:off x="2374900" y="1333500"/>
              <a:ext cx="25400" cy="2146300"/>
            </a:xfrm>
            <a:custGeom>
              <a:avLst/>
              <a:gdLst/>
              <a:ahLst/>
              <a:cxnLst/>
              <a:rect l="0" t="0" r="r" b="b"/>
              <a:pathLst>
                <a:path w="25400" h="2146300" fill="none">
                  <a:moveTo>
                    <a:pt x="12700" y="2133600"/>
                  </a:moveTo>
                  <a:lnTo>
                    <a:pt x="12700" y="12700"/>
                  </a:lnTo>
                </a:path>
              </a:pathLst>
            </a:custGeom>
            <a:noFill/>
            <a:ln w="8890">
              <a:solidFill>
                <a:srgbClr val="A9ADB2"/>
              </a:solidFill>
              <a:round/>
              <a:tailEnd type="triangle" w="sm" len="sm"/>
            </a:ln>
          </p:spPr>
          <p:txBody>
            <a:bodyPr/>
            <a:lstStyle/>
            <a:p>
              <a:endParaRPr lang="en-NL"/>
            </a:p>
          </p:txBody>
        </p:sp>
        <p:sp>
          <p:nvSpPr>
            <p:cNvPr id="1207" name="Shifted sigmoid curve"/>
            <p:cNvSpPr/>
            <p:nvPr/>
          </p:nvSpPr>
          <p:spPr>
            <a:xfrm>
              <a:off x="660400" y="1703259"/>
              <a:ext cx="3454400" cy="774294"/>
            </a:xfrm>
            <a:custGeom>
              <a:avLst/>
              <a:gdLst/>
              <a:ahLst/>
              <a:cxnLst/>
              <a:rect l="0" t="0" r="r" b="b"/>
              <a:pathLst>
                <a:path w="3454400" h="774294" fill="none">
                  <a:moveTo>
                    <a:pt x="12700" y="761594"/>
                  </a:moveTo>
                  <a:lnTo>
                    <a:pt x="24130" y="761591"/>
                  </a:lnTo>
                  <a:lnTo>
                    <a:pt x="35560" y="761588"/>
                  </a:lnTo>
                  <a:lnTo>
                    <a:pt x="46990" y="761584"/>
                  </a:lnTo>
                  <a:lnTo>
                    <a:pt x="58420" y="761581"/>
                  </a:lnTo>
                  <a:lnTo>
                    <a:pt x="69850" y="761577"/>
                  </a:lnTo>
                  <a:lnTo>
                    <a:pt x="81280" y="761573"/>
                  </a:lnTo>
                  <a:lnTo>
                    <a:pt x="92710" y="761568"/>
                  </a:lnTo>
                  <a:lnTo>
                    <a:pt x="104140" y="761564"/>
                  </a:lnTo>
                  <a:lnTo>
                    <a:pt x="115570" y="761559"/>
                  </a:lnTo>
                  <a:lnTo>
                    <a:pt x="127000" y="761555"/>
                  </a:lnTo>
                  <a:lnTo>
                    <a:pt x="138430" y="761550"/>
                  </a:lnTo>
                  <a:lnTo>
                    <a:pt x="149860" y="761544"/>
                  </a:lnTo>
                  <a:lnTo>
                    <a:pt x="161290" y="761539"/>
                  </a:lnTo>
                  <a:lnTo>
                    <a:pt x="172720" y="761533"/>
                  </a:lnTo>
                  <a:lnTo>
                    <a:pt x="184150" y="761527"/>
                  </a:lnTo>
                  <a:lnTo>
                    <a:pt x="195580" y="761521"/>
                  </a:lnTo>
                  <a:lnTo>
                    <a:pt x="207010" y="761514"/>
                  </a:lnTo>
                  <a:lnTo>
                    <a:pt x="218440" y="761507"/>
                  </a:lnTo>
                  <a:lnTo>
                    <a:pt x="229870" y="761500"/>
                  </a:lnTo>
                  <a:lnTo>
                    <a:pt x="241300" y="761493"/>
                  </a:lnTo>
                  <a:lnTo>
                    <a:pt x="252730" y="761485"/>
                  </a:lnTo>
                  <a:lnTo>
                    <a:pt x="264160" y="761477"/>
                  </a:lnTo>
                  <a:lnTo>
                    <a:pt x="275590" y="761468"/>
                  </a:lnTo>
                  <a:lnTo>
                    <a:pt x="287020" y="761459"/>
                  </a:lnTo>
                  <a:lnTo>
                    <a:pt x="298450" y="761450"/>
                  </a:lnTo>
                  <a:lnTo>
                    <a:pt x="309880" y="761440"/>
                  </a:lnTo>
                  <a:lnTo>
                    <a:pt x="321310" y="761430"/>
                  </a:lnTo>
                  <a:lnTo>
                    <a:pt x="332740" y="761419"/>
                  </a:lnTo>
                  <a:lnTo>
                    <a:pt x="344170" y="761408"/>
                  </a:lnTo>
                  <a:lnTo>
                    <a:pt x="355600" y="761396"/>
                  </a:lnTo>
                  <a:lnTo>
                    <a:pt x="367030" y="761384"/>
                  </a:lnTo>
                  <a:lnTo>
                    <a:pt x="378460" y="761371"/>
                  </a:lnTo>
                  <a:lnTo>
                    <a:pt x="389890" y="761358"/>
                  </a:lnTo>
                  <a:lnTo>
                    <a:pt x="401320" y="761344"/>
                  </a:lnTo>
                  <a:lnTo>
                    <a:pt x="412750" y="761329"/>
                  </a:lnTo>
                  <a:lnTo>
                    <a:pt x="424180" y="761314"/>
                  </a:lnTo>
                  <a:lnTo>
                    <a:pt x="435610" y="761298"/>
                  </a:lnTo>
                  <a:lnTo>
                    <a:pt x="447040" y="761282"/>
                  </a:lnTo>
                  <a:lnTo>
                    <a:pt x="458470" y="761264"/>
                  </a:lnTo>
                  <a:lnTo>
                    <a:pt x="469900" y="761246"/>
                  </a:lnTo>
                  <a:lnTo>
                    <a:pt x="481330" y="761227"/>
                  </a:lnTo>
                  <a:lnTo>
                    <a:pt x="492760" y="761207"/>
                  </a:lnTo>
                  <a:lnTo>
                    <a:pt x="504190" y="761186"/>
                  </a:lnTo>
                  <a:lnTo>
                    <a:pt x="515620" y="761164"/>
                  </a:lnTo>
                  <a:lnTo>
                    <a:pt x="527050" y="761142"/>
                  </a:lnTo>
                  <a:lnTo>
                    <a:pt x="538480" y="761118"/>
                  </a:lnTo>
                  <a:lnTo>
                    <a:pt x="549910" y="761093"/>
                  </a:lnTo>
                  <a:lnTo>
                    <a:pt x="561340" y="761067"/>
                  </a:lnTo>
                  <a:lnTo>
                    <a:pt x="572770" y="761040"/>
                  </a:lnTo>
                  <a:lnTo>
                    <a:pt x="584200" y="761011"/>
                  </a:lnTo>
                  <a:lnTo>
                    <a:pt x="595630" y="760982"/>
                  </a:lnTo>
                  <a:lnTo>
                    <a:pt x="607060" y="760951"/>
                  </a:lnTo>
                  <a:lnTo>
                    <a:pt x="618490" y="760918"/>
                  </a:lnTo>
                  <a:lnTo>
                    <a:pt x="629920" y="760884"/>
                  </a:lnTo>
                  <a:lnTo>
                    <a:pt x="641350" y="760849"/>
                  </a:lnTo>
                  <a:lnTo>
                    <a:pt x="652780" y="760812"/>
                  </a:lnTo>
                  <a:lnTo>
                    <a:pt x="664210" y="760773"/>
                  </a:lnTo>
                  <a:lnTo>
                    <a:pt x="675640" y="760733"/>
                  </a:lnTo>
                  <a:lnTo>
                    <a:pt x="687070" y="760690"/>
                  </a:lnTo>
                  <a:lnTo>
                    <a:pt x="698500" y="760646"/>
                  </a:lnTo>
                  <a:lnTo>
                    <a:pt x="709930" y="760600"/>
                  </a:lnTo>
                  <a:lnTo>
                    <a:pt x="721360" y="760551"/>
                  </a:lnTo>
                  <a:lnTo>
                    <a:pt x="732790" y="760501"/>
                  </a:lnTo>
                  <a:lnTo>
                    <a:pt x="744220" y="760448"/>
                  </a:lnTo>
                  <a:lnTo>
                    <a:pt x="755650" y="760393"/>
                  </a:lnTo>
                  <a:lnTo>
                    <a:pt x="767080" y="760335"/>
                  </a:lnTo>
                  <a:lnTo>
                    <a:pt x="778510" y="760275"/>
                  </a:lnTo>
                  <a:lnTo>
                    <a:pt x="789940" y="760212"/>
                  </a:lnTo>
                  <a:lnTo>
                    <a:pt x="801370" y="760146"/>
                  </a:lnTo>
                  <a:lnTo>
                    <a:pt x="812800" y="760077"/>
                  </a:lnTo>
                  <a:lnTo>
                    <a:pt x="824230" y="760005"/>
                  </a:lnTo>
                  <a:lnTo>
                    <a:pt x="835660" y="759930"/>
                  </a:lnTo>
                  <a:lnTo>
                    <a:pt x="847090" y="759851"/>
                  </a:lnTo>
                  <a:lnTo>
                    <a:pt x="858520" y="759769"/>
                  </a:lnTo>
                  <a:lnTo>
                    <a:pt x="869950" y="759683"/>
                  </a:lnTo>
                  <a:lnTo>
                    <a:pt x="881380" y="759593"/>
                  </a:lnTo>
                  <a:lnTo>
                    <a:pt x="892810" y="759499"/>
                  </a:lnTo>
                  <a:lnTo>
                    <a:pt x="904240" y="759401"/>
                  </a:lnTo>
                  <a:lnTo>
                    <a:pt x="915670" y="759298"/>
                  </a:lnTo>
                  <a:lnTo>
                    <a:pt x="927100" y="759191"/>
                  </a:lnTo>
                  <a:lnTo>
                    <a:pt x="938530" y="759079"/>
                  </a:lnTo>
                  <a:lnTo>
                    <a:pt x="949960" y="758962"/>
                  </a:lnTo>
                  <a:lnTo>
                    <a:pt x="961390" y="758839"/>
                  </a:lnTo>
                  <a:lnTo>
                    <a:pt x="972820" y="758711"/>
                  </a:lnTo>
                  <a:lnTo>
                    <a:pt x="984250" y="758578"/>
                  </a:lnTo>
                  <a:lnTo>
                    <a:pt x="995680" y="758438"/>
                  </a:lnTo>
                  <a:lnTo>
                    <a:pt x="1007110" y="758292"/>
                  </a:lnTo>
                  <a:lnTo>
                    <a:pt x="1018540" y="758139"/>
                  </a:lnTo>
                  <a:lnTo>
                    <a:pt x="1029970" y="757980"/>
                  </a:lnTo>
                  <a:lnTo>
                    <a:pt x="1041400" y="757813"/>
                  </a:lnTo>
                  <a:lnTo>
                    <a:pt x="1052830" y="757639"/>
                  </a:lnTo>
                  <a:lnTo>
                    <a:pt x="1064260" y="757457"/>
                  </a:lnTo>
                  <a:lnTo>
                    <a:pt x="1075690" y="757267"/>
                  </a:lnTo>
                  <a:lnTo>
                    <a:pt x="1087120" y="757068"/>
                  </a:lnTo>
                  <a:lnTo>
                    <a:pt x="1098550" y="756861"/>
                  </a:lnTo>
                  <a:lnTo>
                    <a:pt x="1109980" y="756644"/>
                  </a:lnTo>
                  <a:lnTo>
                    <a:pt x="1121410" y="756417"/>
                  </a:lnTo>
                  <a:lnTo>
                    <a:pt x="1132840" y="756180"/>
                  </a:lnTo>
                  <a:lnTo>
                    <a:pt x="1144270" y="755933"/>
                  </a:lnTo>
                  <a:lnTo>
                    <a:pt x="1155700" y="755674"/>
                  </a:lnTo>
                  <a:lnTo>
                    <a:pt x="1167130" y="755404"/>
                  </a:lnTo>
                  <a:lnTo>
                    <a:pt x="1178560" y="755122"/>
                  </a:lnTo>
                  <a:lnTo>
                    <a:pt x="1189990" y="754828"/>
                  </a:lnTo>
                  <a:lnTo>
                    <a:pt x="1201420" y="754520"/>
                  </a:lnTo>
                  <a:lnTo>
                    <a:pt x="1212850" y="754198"/>
                  </a:lnTo>
                  <a:lnTo>
                    <a:pt x="1224280" y="753862"/>
                  </a:lnTo>
                  <a:lnTo>
                    <a:pt x="1235710" y="753511"/>
                  </a:lnTo>
                  <a:lnTo>
                    <a:pt x="1247140" y="753145"/>
                  </a:lnTo>
                  <a:lnTo>
                    <a:pt x="1258570" y="752762"/>
                  </a:lnTo>
                  <a:lnTo>
                    <a:pt x="1270000" y="752363"/>
                  </a:lnTo>
                  <a:lnTo>
                    <a:pt x="1281430" y="751945"/>
                  </a:lnTo>
                  <a:lnTo>
                    <a:pt x="1292860" y="751509"/>
                  </a:lnTo>
                  <a:lnTo>
                    <a:pt x="1304290" y="751054"/>
                  </a:lnTo>
                  <a:lnTo>
                    <a:pt x="1315720" y="750579"/>
                  </a:lnTo>
                  <a:lnTo>
                    <a:pt x="1327150" y="750083"/>
                  </a:lnTo>
                  <a:lnTo>
                    <a:pt x="1338580" y="749565"/>
                  </a:lnTo>
                  <a:lnTo>
                    <a:pt x="1350010" y="749024"/>
                  </a:lnTo>
                  <a:lnTo>
                    <a:pt x="1361440" y="748460"/>
                  </a:lnTo>
                  <a:lnTo>
                    <a:pt x="1372870" y="747870"/>
                  </a:lnTo>
                  <a:lnTo>
                    <a:pt x="1384300" y="747255"/>
                  </a:lnTo>
                  <a:lnTo>
                    <a:pt x="1395730" y="746613"/>
                  </a:lnTo>
                  <a:lnTo>
                    <a:pt x="1407160" y="745943"/>
                  </a:lnTo>
                  <a:lnTo>
                    <a:pt x="1418590" y="745244"/>
                  </a:lnTo>
                  <a:lnTo>
                    <a:pt x="1430020" y="744515"/>
                  </a:lnTo>
                  <a:lnTo>
                    <a:pt x="1441450" y="743754"/>
                  </a:lnTo>
                  <a:lnTo>
                    <a:pt x="1452880" y="742959"/>
                  </a:lnTo>
                  <a:lnTo>
                    <a:pt x="1464310" y="742131"/>
                  </a:lnTo>
                  <a:lnTo>
                    <a:pt x="1475740" y="741267"/>
                  </a:lnTo>
                  <a:lnTo>
                    <a:pt x="1487170" y="740366"/>
                  </a:lnTo>
                  <a:lnTo>
                    <a:pt x="1498600" y="739426"/>
                  </a:lnTo>
                  <a:lnTo>
                    <a:pt x="1510030" y="738446"/>
                  </a:lnTo>
                  <a:lnTo>
                    <a:pt x="1521460" y="737425"/>
                  </a:lnTo>
                  <a:lnTo>
                    <a:pt x="1532890" y="736360"/>
                  </a:lnTo>
                  <a:lnTo>
                    <a:pt x="1544320" y="735249"/>
                  </a:lnTo>
                  <a:lnTo>
                    <a:pt x="1555750" y="734092"/>
                  </a:lnTo>
                  <a:lnTo>
                    <a:pt x="1567180" y="732887"/>
                  </a:lnTo>
                  <a:lnTo>
                    <a:pt x="1578610" y="731630"/>
                  </a:lnTo>
                  <a:lnTo>
                    <a:pt x="1590040" y="730321"/>
                  </a:lnTo>
                  <a:lnTo>
                    <a:pt x="1601470" y="728958"/>
                  </a:lnTo>
                  <a:lnTo>
                    <a:pt x="1612900" y="727538"/>
                  </a:lnTo>
                  <a:lnTo>
                    <a:pt x="1624330" y="726060"/>
                  </a:lnTo>
                  <a:lnTo>
                    <a:pt x="1635760" y="724520"/>
                  </a:lnTo>
                  <a:lnTo>
                    <a:pt x="1647190" y="722918"/>
                  </a:lnTo>
                  <a:lnTo>
                    <a:pt x="1658620" y="721251"/>
                  </a:lnTo>
                  <a:lnTo>
                    <a:pt x="1670050" y="719515"/>
                  </a:lnTo>
                  <a:lnTo>
                    <a:pt x="1681480" y="717710"/>
                  </a:lnTo>
                  <a:lnTo>
                    <a:pt x="1692910" y="715833"/>
                  </a:lnTo>
                  <a:lnTo>
                    <a:pt x="1704340" y="713881"/>
                  </a:lnTo>
                  <a:lnTo>
                    <a:pt x="1715770" y="711851"/>
                  </a:lnTo>
                  <a:lnTo>
                    <a:pt x="1727200" y="709741"/>
                  </a:lnTo>
                  <a:lnTo>
                    <a:pt x="1738630" y="707549"/>
                  </a:lnTo>
                  <a:lnTo>
                    <a:pt x="1750060" y="705272"/>
                  </a:lnTo>
                  <a:lnTo>
                    <a:pt x="1761490" y="702906"/>
                  </a:lnTo>
                  <a:lnTo>
                    <a:pt x="1772920" y="700451"/>
                  </a:lnTo>
                  <a:lnTo>
                    <a:pt x="1784350" y="697901"/>
                  </a:lnTo>
                  <a:lnTo>
                    <a:pt x="1795780" y="695256"/>
                  </a:lnTo>
                  <a:lnTo>
                    <a:pt x="1807210" y="692512"/>
                  </a:lnTo>
                  <a:lnTo>
                    <a:pt x="1818640" y="689666"/>
                  </a:lnTo>
                  <a:lnTo>
                    <a:pt x="1830070" y="686716"/>
                  </a:lnTo>
                  <a:lnTo>
                    <a:pt x="1841500" y="683658"/>
                  </a:lnTo>
                  <a:lnTo>
                    <a:pt x="1852930" y="680491"/>
                  </a:lnTo>
                  <a:lnTo>
                    <a:pt x="1864360" y="677210"/>
                  </a:lnTo>
                  <a:lnTo>
                    <a:pt x="1875790" y="673815"/>
                  </a:lnTo>
                  <a:lnTo>
                    <a:pt x="1887220" y="670301"/>
                  </a:lnTo>
                  <a:lnTo>
                    <a:pt x="1898650" y="666666"/>
                  </a:lnTo>
                  <a:lnTo>
                    <a:pt x="1910080" y="662908"/>
                  </a:lnTo>
                  <a:lnTo>
                    <a:pt x="1921510" y="659025"/>
                  </a:lnTo>
                  <a:lnTo>
                    <a:pt x="1932940" y="655013"/>
                  </a:lnTo>
                  <a:lnTo>
                    <a:pt x="1944370" y="650871"/>
                  </a:lnTo>
                  <a:lnTo>
                    <a:pt x="1955800" y="646596"/>
                  </a:lnTo>
                  <a:lnTo>
                    <a:pt x="1967230" y="642186"/>
                  </a:lnTo>
                  <a:lnTo>
                    <a:pt x="1978660" y="637640"/>
                  </a:lnTo>
                  <a:lnTo>
                    <a:pt x="1990090" y="632956"/>
                  </a:lnTo>
                  <a:lnTo>
                    <a:pt x="2001520" y="628131"/>
                  </a:lnTo>
                  <a:lnTo>
                    <a:pt x="2012950" y="623165"/>
                  </a:lnTo>
                  <a:lnTo>
                    <a:pt x="2024380" y="618057"/>
                  </a:lnTo>
                  <a:lnTo>
                    <a:pt x="2035810" y="612806"/>
                  </a:lnTo>
                  <a:lnTo>
                    <a:pt x="2047240" y="607410"/>
                  </a:lnTo>
                  <a:lnTo>
                    <a:pt x="2058670" y="601870"/>
                  </a:lnTo>
                  <a:lnTo>
                    <a:pt x="2070100" y="596185"/>
                  </a:lnTo>
                  <a:lnTo>
                    <a:pt x="2081530" y="590355"/>
                  </a:lnTo>
                  <a:lnTo>
                    <a:pt x="2092960" y="584381"/>
                  </a:lnTo>
                  <a:lnTo>
                    <a:pt x="2104390" y="578263"/>
                  </a:lnTo>
                  <a:lnTo>
                    <a:pt x="2115820" y="572002"/>
                  </a:lnTo>
                  <a:lnTo>
                    <a:pt x="2127250" y="565601"/>
                  </a:lnTo>
                  <a:lnTo>
                    <a:pt x="2138680" y="559059"/>
                  </a:lnTo>
                  <a:lnTo>
                    <a:pt x="2150110" y="552380"/>
                  </a:lnTo>
                  <a:lnTo>
                    <a:pt x="2161540" y="545566"/>
                  </a:lnTo>
                  <a:lnTo>
                    <a:pt x="2172970" y="538620"/>
                  </a:lnTo>
                  <a:lnTo>
                    <a:pt x="2184400" y="531545"/>
                  </a:lnTo>
                  <a:lnTo>
                    <a:pt x="2195830" y="524344"/>
                  </a:lnTo>
                  <a:lnTo>
                    <a:pt x="2207260" y="517021"/>
                  </a:lnTo>
                  <a:lnTo>
                    <a:pt x="2218690" y="509581"/>
                  </a:lnTo>
                  <a:lnTo>
                    <a:pt x="2230120" y="502028"/>
                  </a:lnTo>
                  <a:lnTo>
                    <a:pt x="2241550" y="494367"/>
                  </a:lnTo>
                  <a:lnTo>
                    <a:pt x="2252980" y="486604"/>
                  </a:lnTo>
                  <a:lnTo>
                    <a:pt x="2264410" y="478745"/>
                  </a:lnTo>
                  <a:lnTo>
                    <a:pt x="2275840" y="470795"/>
                  </a:lnTo>
                  <a:lnTo>
                    <a:pt x="2287270" y="462762"/>
                  </a:lnTo>
                  <a:lnTo>
                    <a:pt x="2298700" y="454650"/>
                  </a:lnTo>
                  <a:lnTo>
                    <a:pt x="2310130" y="446469"/>
                  </a:lnTo>
                  <a:lnTo>
                    <a:pt x="2321560" y="438225"/>
                  </a:lnTo>
                  <a:lnTo>
                    <a:pt x="2332990" y="429925"/>
                  </a:lnTo>
                  <a:lnTo>
                    <a:pt x="2344420" y="421577"/>
                  </a:lnTo>
                  <a:lnTo>
                    <a:pt x="2355850" y="413189"/>
                  </a:lnTo>
                  <a:lnTo>
                    <a:pt x="2367280" y="404770"/>
                  </a:lnTo>
                  <a:lnTo>
                    <a:pt x="2378710" y="396327"/>
                  </a:lnTo>
                  <a:lnTo>
                    <a:pt x="2390140" y="387868"/>
                  </a:lnTo>
                  <a:lnTo>
                    <a:pt x="2401570" y="379402"/>
                  </a:lnTo>
                  <a:lnTo>
                    <a:pt x="2413000" y="370937"/>
                  </a:lnTo>
                  <a:lnTo>
                    <a:pt x="2424430" y="362483"/>
                  </a:lnTo>
                  <a:lnTo>
                    <a:pt x="2435860" y="354045"/>
                  </a:lnTo>
                  <a:lnTo>
                    <a:pt x="2447290" y="345635"/>
                  </a:lnTo>
                  <a:lnTo>
                    <a:pt x="2458720" y="337258"/>
                  </a:lnTo>
                  <a:lnTo>
                    <a:pt x="2470150" y="328924"/>
                  </a:lnTo>
                  <a:lnTo>
                    <a:pt x="2481580" y="320640"/>
                  </a:lnTo>
                  <a:lnTo>
                    <a:pt x="2493010" y="312413"/>
                  </a:lnTo>
                  <a:lnTo>
                    <a:pt x="2504440" y="304252"/>
                  </a:lnTo>
                  <a:lnTo>
                    <a:pt x="2515870" y="296163"/>
                  </a:lnTo>
                  <a:lnTo>
                    <a:pt x="2527300" y="288154"/>
                  </a:lnTo>
                  <a:lnTo>
                    <a:pt x="2538730" y="280231"/>
                  </a:lnTo>
                  <a:lnTo>
                    <a:pt x="2550160" y="272399"/>
                  </a:lnTo>
                  <a:lnTo>
                    <a:pt x="2561590" y="264666"/>
                  </a:lnTo>
                  <a:lnTo>
                    <a:pt x="2573020" y="257037"/>
                  </a:lnTo>
                  <a:lnTo>
                    <a:pt x="2584450" y="249518"/>
                  </a:lnTo>
                  <a:lnTo>
                    <a:pt x="2595880" y="242112"/>
                  </a:lnTo>
                  <a:lnTo>
                    <a:pt x="2607310" y="234825"/>
                  </a:lnTo>
                  <a:lnTo>
                    <a:pt x="2618740" y="227661"/>
                  </a:lnTo>
                  <a:lnTo>
                    <a:pt x="2630170" y="220624"/>
                  </a:lnTo>
                  <a:lnTo>
                    <a:pt x="2641600" y="213717"/>
                  </a:lnTo>
                  <a:lnTo>
                    <a:pt x="2653030" y="206943"/>
                  </a:lnTo>
                  <a:lnTo>
                    <a:pt x="2664460" y="200305"/>
                  </a:lnTo>
                  <a:lnTo>
                    <a:pt x="2675890" y="193805"/>
                  </a:lnTo>
                  <a:lnTo>
                    <a:pt x="2687320" y="187445"/>
                  </a:lnTo>
                  <a:lnTo>
                    <a:pt x="2698750" y="181227"/>
                  </a:lnTo>
                  <a:lnTo>
                    <a:pt x="2710180" y="175152"/>
                  </a:lnTo>
                  <a:lnTo>
                    <a:pt x="2721610" y="169221"/>
                  </a:lnTo>
                  <a:lnTo>
                    <a:pt x="2733040" y="163434"/>
                  </a:lnTo>
                  <a:lnTo>
                    <a:pt x="2744470" y="157792"/>
                  </a:lnTo>
                  <a:lnTo>
                    <a:pt x="2755900" y="152295"/>
                  </a:lnTo>
                  <a:lnTo>
                    <a:pt x="2767330" y="146943"/>
                  </a:lnTo>
                  <a:lnTo>
                    <a:pt x="2778760" y="141734"/>
                  </a:lnTo>
                  <a:lnTo>
                    <a:pt x="2790190" y="136668"/>
                  </a:lnTo>
                  <a:lnTo>
                    <a:pt x="2801620" y="131745"/>
                  </a:lnTo>
                  <a:lnTo>
                    <a:pt x="2813050" y="126963"/>
                  </a:lnTo>
                  <a:lnTo>
                    <a:pt x="2824480" y="122320"/>
                  </a:lnTo>
                  <a:lnTo>
                    <a:pt x="2835910" y="117814"/>
                  </a:lnTo>
                  <a:lnTo>
                    <a:pt x="2847340" y="113445"/>
                  </a:lnTo>
                  <a:lnTo>
                    <a:pt x="2858770" y="109210"/>
                  </a:lnTo>
                  <a:lnTo>
                    <a:pt x="2870200" y="105107"/>
                  </a:lnTo>
                  <a:lnTo>
                    <a:pt x="2881630" y="101134"/>
                  </a:lnTo>
                  <a:lnTo>
                    <a:pt x="2893060" y="97288"/>
                  </a:lnTo>
                  <a:lnTo>
                    <a:pt x="2904490" y="93567"/>
                  </a:lnTo>
                  <a:lnTo>
                    <a:pt x="2915920" y="89969"/>
                  </a:lnTo>
                  <a:lnTo>
                    <a:pt x="2927350" y="86490"/>
                  </a:lnTo>
                  <a:lnTo>
                    <a:pt x="2938780" y="83129"/>
                  </a:lnTo>
                  <a:lnTo>
                    <a:pt x="2950210" y="79883"/>
                  </a:lnTo>
                  <a:lnTo>
                    <a:pt x="2961640" y="76749"/>
                  </a:lnTo>
                  <a:lnTo>
                    <a:pt x="2973070" y="73723"/>
                  </a:lnTo>
                  <a:lnTo>
                    <a:pt x="2984500" y="70805"/>
                  </a:lnTo>
                  <a:lnTo>
                    <a:pt x="2995930" y="67989"/>
                  </a:lnTo>
                  <a:lnTo>
                    <a:pt x="3007360" y="65275"/>
                  </a:lnTo>
                  <a:lnTo>
                    <a:pt x="3018790" y="62659"/>
                  </a:lnTo>
                  <a:lnTo>
                    <a:pt x="3030220" y="60138"/>
                  </a:lnTo>
                  <a:lnTo>
                    <a:pt x="3041650" y="57709"/>
                  </a:lnTo>
                  <a:lnTo>
                    <a:pt x="3053080" y="55370"/>
                  </a:lnTo>
                  <a:lnTo>
                    <a:pt x="3064510" y="53119"/>
                  </a:lnTo>
                  <a:lnTo>
                    <a:pt x="3075940" y="50951"/>
                  </a:lnTo>
                  <a:lnTo>
                    <a:pt x="3087370" y="48866"/>
                  </a:lnTo>
                  <a:lnTo>
                    <a:pt x="3098800" y="46859"/>
                  </a:lnTo>
                  <a:lnTo>
                    <a:pt x="3110230" y="44930"/>
                  </a:lnTo>
                  <a:lnTo>
                    <a:pt x="3121660" y="43074"/>
                  </a:lnTo>
                  <a:lnTo>
                    <a:pt x="3133090" y="41290"/>
                  </a:lnTo>
                  <a:lnTo>
                    <a:pt x="3144520" y="39575"/>
                  </a:lnTo>
                  <a:lnTo>
                    <a:pt x="3155950" y="37928"/>
                  </a:lnTo>
                  <a:lnTo>
                    <a:pt x="3167380" y="36344"/>
                  </a:lnTo>
                  <a:lnTo>
                    <a:pt x="3178810" y="34823"/>
                  </a:lnTo>
                  <a:lnTo>
                    <a:pt x="3190240" y="33363"/>
                  </a:lnTo>
                  <a:lnTo>
                    <a:pt x="3201670" y="31960"/>
                  </a:lnTo>
                  <a:lnTo>
                    <a:pt x="3213100" y="30613"/>
                  </a:lnTo>
                  <a:lnTo>
                    <a:pt x="3224530" y="29320"/>
                  </a:lnTo>
                  <a:lnTo>
                    <a:pt x="3235960" y="28079"/>
                  </a:lnTo>
                  <a:lnTo>
                    <a:pt x="3247390" y="26888"/>
                  </a:lnTo>
                  <a:lnTo>
                    <a:pt x="3258820" y="25745"/>
                  </a:lnTo>
                  <a:lnTo>
                    <a:pt x="3270250" y="24648"/>
                  </a:lnTo>
                  <a:lnTo>
                    <a:pt x="3281680" y="23596"/>
                  </a:lnTo>
                  <a:lnTo>
                    <a:pt x="3293110" y="22587"/>
                  </a:lnTo>
                  <a:lnTo>
                    <a:pt x="3304540" y="21620"/>
                  </a:lnTo>
                  <a:lnTo>
                    <a:pt x="3315970" y="20692"/>
                  </a:lnTo>
                  <a:lnTo>
                    <a:pt x="3327400" y="19802"/>
                  </a:lnTo>
                  <a:lnTo>
                    <a:pt x="3338830" y="18949"/>
                  </a:lnTo>
                  <a:lnTo>
                    <a:pt x="3350260" y="18131"/>
                  </a:lnTo>
                  <a:lnTo>
                    <a:pt x="3361690" y="17347"/>
                  </a:lnTo>
                  <a:lnTo>
                    <a:pt x="3373120" y="16595"/>
                  </a:lnTo>
                  <a:lnTo>
                    <a:pt x="3384550" y="15875"/>
                  </a:lnTo>
                  <a:lnTo>
                    <a:pt x="3395980" y="15184"/>
                  </a:lnTo>
                  <a:lnTo>
                    <a:pt x="3407410" y="14523"/>
                  </a:lnTo>
                  <a:lnTo>
                    <a:pt x="3418840" y="13889"/>
                  </a:lnTo>
                  <a:lnTo>
                    <a:pt x="3430270" y="13282"/>
                  </a:lnTo>
                  <a:lnTo>
                    <a:pt x="3441700" y="12700"/>
                  </a:lnTo>
                </a:path>
              </a:pathLst>
            </a:custGeom>
            <a:noFill/>
            <a:ln w="22860">
              <a:solidFill>
                <a:srgbClr val="D61016"/>
              </a:solidFill>
            </a:ln>
          </p:spPr>
          <p:txBody>
            <a:bodyPr/>
            <a:lstStyle/>
            <a:p>
              <a:endParaRPr lang="en-NL"/>
            </a:p>
          </p:txBody>
        </p:sp>
      </p:grpSp>
      <p:grpSp>
        <p:nvGrpSpPr>
          <p:cNvPr id="7001" name="!!Delta focus"/>
          <p:cNvGrpSpPr/>
          <p:nvPr/>
        </p:nvGrpSpPr>
        <p:grpSpPr>
          <a:xfrm>
            <a:off x="5906685" y="1647825"/>
            <a:ext cx="429504" cy="430267"/>
            <a:chOff x="3274060" y="1819148"/>
            <a:chExt cx="563880" cy="563880"/>
          </a:xfrm>
        </p:grpSpPr>
        <p:sp>
          <p:nvSpPr>
            <p:cNvPr id="700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700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700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4_1"/>
                  <a:stretch>
                    <a:fillRect l="-7143" b="-9836"/>
                  </a:stretch>
                </a:blipFill>
                <a:ln>
                  <a:noFill/>
                </a:ln>
              </p:spPr>
              <p:txBody>
                <a:bodyPr/>
                <a:lstStyle/>
                <a:p>
                  <a:r>
                    <a:rPr lang="en-NL">
                      <a:noFill/>
                    </a:rPr>
                    <a:t> </a:t>
                  </a:r>
                </a:p>
              </p:txBody>
            </p:sp>
          </mc:Fallback>
        </mc:AlternateContent>
      </p:gr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5524774" y="1231901"/>
            <a:ext cx="3098526" cy="717112"/>
            <a:chOff x="2772664" y="1274064"/>
            <a:chExt cx="4067940" cy="939800"/>
          </a:xfrm>
        </p:grpSpPr>
        <p:sp>
          <p:nvSpPr>
            <p:cNvPr id="5004" name="z filter input">
              <a:extLst>
                <a:ext uri="{FF2B5EF4-FFF2-40B4-BE49-F238E27FC236}">
                  <a16:creationId xmlns:a16="http://schemas.microsoft.com/office/drawing/2014/main" id="{6C077BE1-CA1D-D5A1-FDE8-1AE89BA21002}"/>
                </a:ext>
              </a:extLst>
            </p:cNvPr>
            <p:cNvSpPr/>
            <p:nvPr/>
          </p:nvSpPr>
          <p:spPr>
            <a:xfrm>
              <a:off x="2772664" y="1543303"/>
              <a:ext cx="2111757"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dirty="0"/>
            </a:p>
          </p:txBody>
        </p:sp>
        <p:sp>
          <p:nvSpPr>
            <p:cNvPr id="5005" name="w filter input">
              <a:extLst>
                <a:ext uri="{FF2B5EF4-FFF2-40B4-BE49-F238E27FC236}">
                  <a16:creationId xmlns:a16="http://schemas.microsoft.com/office/drawing/2014/main" id="{BB7A3CAC-9A8E-8832-ED3F-D43DAEDC8BC1}"/>
                </a:ext>
              </a:extLst>
            </p:cNvPr>
            <p:cNvSpPr/>
            <p:nvPr/>
          </p:nvSpPr>
          <p:spPr>
            <a:xfrm>
              <a:off x="4313938" y="1919223"/>
              <a:ext cx="570485" cy="194565"/>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2" y="154330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mc:Choice xmlns:a14="http://schemas.microsoft.com/office/drawing/2010/main" Requires="a14">
            <p:sp>
              <p:nvSpPr>
                <p:cNvPr id="5007" name="Filtered z">
                  <a:extLst>
                    <a:ext uri="{FF2B5EF4-FFF2-40B4-BE49-F238E27FC236}">
                      <a16:creationId xmlns:a16="http://schemas.microsoft.com/office/drawing/2014/main" id="{F383059B-78DF-7867-E81B-D804AC9B2C81}"/>
                    </a:ext>
                  </a:extLst>
                </p:cNvPr>
                <p:cNvSpPr/>
                <p:nvPr/>
              </p:nvSpPr>
              <p:spPr>
                <a:xfrm>
                  <a:off x="6417694" y="136569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4" y="1365693"/>
                  <a:ext cx="422910" cy="380619"/>
                </a:xfrm>
                <a:prstGeom prst="rect">
                  <a:avLst/>
                </a:prstGeom>
                <a:blipFill>
                  <a:blip r:embed="rId5"/>
                  <a:stretch>
                    <a:fillRect t="-6383" r="-77358" b="-2128"/>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2" y="191922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mc:Choice xmlns:a14="http://schemas.microsoft.com/office/drawing/2010/main" Requires="a14">
            <p:sp>
              <p:nvSpPr>
                <p:cNvPr id="5009" name="Filtered w">
                  <a:extLst>
                    <a:ext uri="{FF2B5EF4-FFF2-40B4-BE49-F238E27FC236}">
                      <a16:creationId xmlns:a16="http://schemas.microsoft.com/office/drawing/2014/main" id="{D07C0B8E-1BCA-7188-3574-2F25277AC64E}"/>
                    </a:ext>
                  </a:extLst>
                </p:cNvPr>
                <p:cNvSpPr/>
                <p:nvPr/>
              </p:nvSpPr>
              <p:spPr>
                <a:xfrm>
                  <a:off x="6417694" y="174161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4" y="1741613"/>
                  <a:ext cx="422910" cy="380619"/>
                </a:xfrm>
                <a:prstGeom prst="rect">
                  <a:avLst/>
                </a:prstGeom>
                <a:blipFill>
                  <a:blip r:embed="rId6"/>
                  <a:stretch>
                    <a:fillRect l="-9434" t="-21277" r="-45283" b="-2128"/>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3" y="1274064"/>
              <a:ext cx="939801"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mc:Choice xmlns:a14="http://schemas.microsoft.com/office/drawing/2010/main" Requires="a14">
            <p:sp>
              <p:nvSpPr>
                <p:cNvPr id="5017" name="Original filter label"/>
                <p:cNvSpPr/>
                <p:nvPr/>
              </p:nvSpPr>
              <p:spPr>
                <a:xfrm>
                  <a:off x="4897120" y="1299463"/>
                  <a:ext cx="889001"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p:sp>
              <p:nvSpPr>
                <p:cNvPr id="5017" name="Original filter label"/>
                <p:cNvSpPr>
                  <a:spLocks noRot="1" noChangeAspect="1" noMove="1" noResize="1" noEditPoints="1" noAdjustHandles="1" noChangeArrowheads="1" noChangeShapeType="1" noTextEdit="1"/>
                </p:cNvSpPr>
                <p:nvPr/>
              </p:nvSpPr>
              <p:spPr>
                <a:xfrm>
                  <a:off x="4897120" y="1299463"/>
                  <a:ext cx="889001" cy="889000"/>
                </a:xfrm>
                <a:prstGeom prst="rect">
                  <a:avLst/>
                </a:prstGeom>
                <a:blipFill>
                  <a:blip r:embed="rId7"/>
                  <a:stretch>
                    <a:fillRect/>
                  </a:stretch>
                </a:blipFill>
                <a:ln>
                  <a:noFill/>
                </a:ln>
              </p:spPr>
              <p:txBody>
                <a:bodyPr/>
                <a:lstStyle/>
                <a:p>
                  <a:r>
                    <a:rPr lang="en-NL">
                      <a:noFill/>
                    </a:rPr>
                    <a:t> </a:t>
                  </a:r>
                </a:p>
              </p:txBody>
            </p:sp>
          </mc:Fallback>
        </mc:AlternateContent>
      </p:grpSp>
      <p:sp>
        <p:nvSpPr>
          <p:cNvPr id="1205" name="Sector bounds Upper sector line"/>
          <p:cNvSpPr/>
          <p:nvPr/>
        </p:nvSpPr>
        <p:spPr>
          <a:xfrm>
            <a:off x="660400" y="1467597"/>
            <a:ext cx="3454400" cy="1890807"/>
          </a:xfrm>
          <a:custGeom>
            <a:avLst/>
            <a:gdLst/>
            <a:ahLst/>
            <a:cxnLst/>
            <a:rect l="0" t="0" r="r" b="b"/>
            <a:pathLst>
              <a:path w="3454400" h="1890807" fill="none">
                <a:moveTo>
                  <a:pt x="12700" y="1878107"/>
                </a:moveTo>
                <a:lnTo>
                  <a:pt x="3441700" y="12700"/>
                </a:lnTo>
              </a:path>
            </a:pathLst>
          </a:custGeom>
          <a:noFill/>
          <a:ln w="40640">
            <a:solidFill>
              <a:srgbClr val="747B82"/>
            </a:solidFill>
          </a:ln>
        </p:spPr>
        <p:txBody>
          <a:bodyPr/>
          <a:lstStyle/>
          <a:p>
            <a:endParaRPr lang="en-NL"/>
          </a:p>
        </p:txBody>
      </p:sp>
      <p:grpSp>
        <p:nvGrpSpPr>
          <p:cNvPr id="4" name="!!Delta focus">
            <a:extLst>
              <a:ext uri="{FF2B5EF4-FFF2-40B4-BE49-F238E27FC236}">
                <a16:creationId xmlns:a16="http://schemas.microsoft.com/office/drawing/2014/main" id="{E378A1A2-BF9D-9D6A-1E18-A701A25A2D9C}"/>
              </a:ext>
            </a:extLst>
          </p:cNvPr>
          <p:cNvGrpSpPr/>
          <p:nvPr/>
        </p:nvGrpSpPr>
        <p:grpSpPr>
          <a:xfrm>
            <a:off x="5906685" y="1646029"/>
            <a:ext cx="429504" cy="430267"/>
            <a:chOff x="3274060" y="1819148"/>
            <a:chExt cx="563880" cy="563880"/>
          </a:xfrm>
        </p:grpSpPr>
        <p:sp>
          <p:nvSpPr>
            <p:cNvPr id="5" name="Uncertainty">
              <a:extLst>
                <a:ext uri="{FF2B5EF4-FFF2-40B4-BE49-F238E27FC236}">
                  <a16:creationId xmlns:a16="http://schemas.microsoft.com/office/drawing/2014/main" id="{548E5BE6-7B12-8DFF-0C0F-05F21838D3AC}"/>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6" name="Uncertainty label">
                  <a:extLst>
                    <a:ext uri="{FF2B5EF4-FFF2-40B4-BE49-F238E27FC236}">
                      <a16:creationId xmlns:a16="http://schemas.microsoft.com/office/drawing/2014/main" id="{E1F26C50-24BE-40DF-C0DD-D03FAD0D3BB6}"/>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6" name="Uncertainty label">
                  <a:extLst>
                    <a:ext uri="{FF2B5EF4-FFF2-40B4-BE49-F238E27FC236}">
                      <a16:creationId xmlns:a16="http://schemas.microsoft.com/office/drawing/2014/main" id="{E1F26C50-24BE-40DF-C0DD-D03FAD0D3BB6}"/>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8"/>
                  <a:stretch>
                    <a:fillRect l="-7143" b="-8065"/>
                  </a:stretch>
                </a:blipFill>
                <a:ln>
                  <a:noFill/>
                  <a:prstDash val="solid"/>
                </a:ln>
              </p:spPr>
              <p:txBody>
                <a:bodyPr/>
                <a:lstStyle/>
                <a:p>
                  <a:r>
                    <a:rPr lang="en-NL">
                      <a:noFill/>
                    </a:rPr>
                    <a:t> </a:t>
                  </a:r>
                </a:p>
              </p:txBody>
            </p:sp>
          </mc:Fallback>
        </mc:AlternateContent>
      </p:grpSp>
      <p:cxnSp>
        <p:nvCxnSpPr>
          <p:cNvPr id="3" name="Straight Arrow Connector 2">
            <a:extLst>
              <a:ext uri="{FF2B5EF4-FFF2-40B4-BE49-F238E27FC236}">
                <a16:creationId xmlns:a16="http://schemas.microsoft.com/office/drawing/2014/main" id="{4BB4D905-12A7-95ED-5DFB-12E7C6318F8B}"/>
              </a:ext>
            </a:extLst>
          </p:cNvPr>
          <p:cNvCxnSpPr>
            <a:cxnSpLocks/>
            <a:endCxn id="5" idx="1"/>
          </p:cNvCxnSpPr>
          <p:nvPr/>
        </p:nvCxnSpPr>
        <p:spPr>
          <a:xfrm>
            <a:off x="5129213" y="1861163"/>
            <a:ext cx="777472"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D0B0DE09-717D-7B7C-E04D-93D1E5BBD3F9}"/>
              </a:ext>
            </a:extLst>
          </p:cNvPr>
          <p:cNvCxnSpPr>
            <a:cxnSpLocks/>
            <a:stCxn id="6" idx="3"/>
          </p:cNvCxnSpPr>
          <p:nvPr/>
        </p:nvCxnSpPr>
        <p:spPr>
          <a:xfrm>
            <a:off x="6336189" y="1861162"/>
            <a:ext cx="588486"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3" name="Uncertainty output channel">
                <a:extLst>
                  <a:ext uri="{FF2B5EF4-FFF2-40B4-BE49-F238E27FC236}">
                    <a16:creationId xmlns:a16="http://schemas.microsoft.com/office/drawing/2014/main" id="{0A5E233A-8AFB-E1E0-E3EB-00C63D4578AD}"/>
                  </a:ext>
                </a:extLst>
              </p:cNvPr>
              <p:cNvSpPr/>
              <p:nvPr/>
            </p:nvSpPr>
            <p:spPr>
              <a:xfrm>
                <a:off x="5269176" y="1857928"/>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dirty="0"/>
              </a:p>
            </p:txBody>
          </p:sp>
        </mc:Choice>
        <mc:Fallback>
          <p:sp>
            <p:nvSpPr>
              <p:cNvPr id="13" name="Uncertainty output channel">
                <a:extLst>
                  <a:ext uri="{FF2B5EF4-FFF2-40B4-BE49-F238E27FC236}">
                    <a16:creationId xmlns:a16="http://schemas.microsoft.com/office/drawing/2014/main" id="{0A5E233A-8AFB-E1E0-E3EB-00C63D4578AD}"/>
                  </a:ext>
                </a:extLst>
              </p:cNvPr>
              <p:cNvSpPr>
                <a:spLocks noRot="1" noChangeAspect="1" noMove="1" noResize="1" noEditPoints="1" noAdjustHandles="1" noChangeArrowheads="1" noChangeShapeType="1" noTextEdit="1"/>
              </p:cNvSpPr>
              <p:nvPr/>
            </p:nvSpPr>
            <p:spPr>
              <a:xfrm>
                <a:off x="5269176" y="1857928"/>
                <a:ext cx="429504" cy="290430"/>
              </a:xfrm>
              <a:prstGeom prst="rect">
                <a:avLst/>
              </a:prstGeom>
              <a:blipFill>
                <a:blip r:embed="rId9"/>
                <a:stretch>
                  <a:fillRect b="-2128"/>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5" name="Uncertainty input channel">
                <a:extLst>
                  <a:ext uri="{FF2B5EF4-FFF2-40B4-BE49-F238E27FC236}">
                    <a16:creationId xmlns:a16="http://schemas.microsoft.com/office/drawing/2014/main" id="{C87E56E4-09E3-2392-4E63-1509214553E8}"/>
                  </a:ext>
                </a:extLst>
              </p:cNvPr>
              <p:cNvSpPr/>
              <p:nvPr/>
            </p:nvSpPr>
            <p:spPr>
              <a:xfrm>
                <a:off x="6481681" y="1861161"/>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dirty="0"/>
              </a:p>
            </p:txBody>
          </p:sp>
        </mc:Choice>
        <mc:Fallback>
          <p:sp>
            <p:nvSpPr>
              <p:cNvPr id="15" name="Uncertainty input channel">
                <a:extLst>
                  <a:ext uri="{FF2B5EF4-FFF2-40B4-BE49-F238E27FC236}">
                    <a16:creationId xmlns:a16="http://schemas.microsoft.com/office/drawing/2014/main" id="{C87E56E4-09E3-2392-4E63-1509214553E8}"/>
                  </a:ext>
                </a:extLst>
              </p:cNvPr>
              <p:cNvSpPr>
                <a:spLocks noRot="1" noChangeAspect="1" noMove="1" noResize="1" noEditPoints="1" noAdjustHandles="1" noChangeArrowheads="1" noChangeShapeType="1" noTextEdit="1"/>
              </p:cNvSpPr>
              <p:nvPr/>
            </p:nvSpPr>
            <p:spPr>
              <a:xfrm>
                <a:off x="6481681" y="1861161"/>
                <a:ext cx="429504" cy="290430"/>
              </a:xfrm>
              <a:prstGeom prst="rect">
                <a:avLst/>
              </a:prstGeom>
              <a:blipFill>
                <a:blip r:embed="rId10"/>
                <a:stretch>
                  <a:fillRect b="-2083"/>
                </a:stretch>
              </a:blipFill>
              <a:ln>
                <a:noFill/>
              </a:ln>
            </p:spPr>
            <p:txBody>
              <a:bodyPr/>
              <a:lstStyle/>
              <a:p>
                <a:r>
                  <a:rPr lang="en-NL">
                    <a:noFill/>
                  </a:rPr>
                  <a:t> </a:t>
                </a:r>
              </a:p>
            </p:txBody>
          </p:sp>
        </mc:Fallback>
      </mc:AlternateContent>
      <p:grpSp>
        <p:nvGrpSpPr>
          <p:cNvPr id="16" name="Figure with corrected editable mathematics — editable labels">
            <a:extLst>
              <a:ext uri="{FF2B5EF4-FFF2-40B4-BE49-F238E27FC236}">
                <a16:creationId xmlns:a16="http://schemas.microsoft.com/office/drawing/2014/main" id="{70BB7587-C739-9F82-7FDA-BE9AA71A9241}"/>
              </a:ext>
            </a:extLst>
          </p:cNvPr>
          <p:cNvGrpSpPr/>
          <p:nvPr/>
        </p:nvGrpSpPr>
        <p:grpSpPr>
          <a:xfrm>
            <a:off x="4051300" y="2416294"/>
            <a:ext cx="5156200" cy="2578100"/>
            <a:chOff x="1993900" y="241300"/>
            <a:chExt cx="5156200" cy="2578100"/>
          </a:xfrm>
        </p:grpSpPr>
        <p:pic>
          <p:nvPicPr>
            <p:cNvPr id="17" name="Figure with corrected editable mathematics">
              <a:extLst>
                <a:ext uri="{FF2B5EF4-FFF2-40B4-BE49-F238E27FC236}">
                  <a16:creationId xmlns:a16="http://schemas.microsoft.com/office/drawing/2014/main" id="{04FD6BC8-E6F7-83BD-34E6-D006F8AA316A}"/>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18" name="Editable label Proto">
              <a:extLst>
                <a:ext uri="{FF2B5EF4-FFF2-40B4-BE49-F238E27FC236}">
                  <a16:creationId xmlns:a16="http://schemas.microsoft.com/office/drawing/2014/main" id="{65A47F65-9B9F-22E2-567C-9DE8DEA12AC0}"/>
                </a:ext>
              </a:extLst>
            </p:cNvPr>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9" name="Editable label STN">
              <a:extLst>
                <a:ext uri="{FF2B5EF4-FFF2-40B4-BE49-F238E27FC236}">
                  <a16:creationId xmlns:a16="http://schemas.microsoft.com/office/drawing/2014/main" id="{C18761C6-73BB-CBE2-2F79-78E9780E9340}"/>
                </a:ext>
              </a:extLst>
            </p:cNvPr>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 name="Synaptic sign +">
                  <a:extLst>
                    <a:ext uri="{FF2B5EF4-FFF2-40B4-BE49-F238E27FC236}">
                      <a16:creationId xmlns:a16="http://schemas.microsoft.com/office/drawing/2014/main" id="{2AC7D8AA-955B-B8CA-82A7-219E829B67B9}"/>
                    </a:ext>
                  </a:extLst>
                </p:cNvPr>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Synaptic sign −">
                  <a:extLst>
                    <a:ext uri="{FF2B5EF4-FFF2-40B4-BE49-F238E27FC236}">
                      <a16:creationId xmlns:a16="http://schemas.microsoft.com/office/drawing/2014/main" id="{24DEDC8E-0F04-1197-C563-181D02B5E247}"/>
                    </a:ext>
                  </a:extLst>
                </p:cNvPr>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 name="Synaptic sign −">
                  <a:extLst>
                    <a:ext uri="{FF2B5EF4-FFF2-40B4-BE49-F238E27FC236}">
                      <a16:creationId xmlns:a16="http://schemas.microsoft.com/office/drawing/2014/main" id="{E42F7303-F977-07E8-B964-863936F2964E}"/>
                    </a:ext>
                  </a:extLst>
                </p:cNvPr>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 name="Activation G">
                  <a:extLst>
                    <a:ext uri="{FF2B5EF4-FFF2-40B4-BE49-F238E27FC236}">
                      <a16:creationId xmlns:a16="http://schemas.microsoft.com/office/drawing/2014/main" id="{34B43371-34C6-A7E1-C74A-CE5ABAF6CAD5}"/>
                    </a:ext>
                  </a:extLst>
                </p:cNvPr>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 name="Activation input G">
                  <a:extLst>
                    <a:ext uri="{FF2B5EF4-FFF2-40B4-BE49-F238E27FC236}">
                      <a16:creationId xmlns:a16="http://schemas.microsoft.com/office/drawing/2014/main" id="{B3F29919-30AB-24F6-9103-3BA022F43151}"/>
                    </a:ext>
                  </a:extLst>
                </p:cNvPr>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Activation S">
                  <a:extLst>
                    <a:ext uri="{FF2B5EF4-FFF2-40B4-BE49-F238E27FC236}">
                      <a16:creationId xmlns:a16="http://schemas.microsoft.com/office/drawing/2014/main" id="{C79854D8-87E0-7663-1ABF-FAE9D648899F}"/>
                    </a:ext>
                  </a:extLst>
                </p:cNvPr>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Activation input S">
                  <a:extLst>
                    <a:ext uri="{FF2B5EF4-FFF2-40B4-BE49-F238E27FC236}">
                      <a16:creationId xmlns:a16="http://schemas.microsoft.com/office/drawing/2014/main" id="{57EB35B1-5B2B-4371-0FDB-E34C2AEFDB61}"/>
                    </a:ext>
                  </a:extLst>
                </p:cNvPr>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8"/>
                  <a:stretch>
                    <a:fillRect/>
                  </a:stretch>
                </a:blipFill>
                <a:ln>
                  <a:noFill/>
                </a:ln>
              </p:spPr>
              <p:txBody>
                <a:bodyPr/>
                <a:lstStyle/>
                <a:p>
                  <a:r>
                    <a:rPr lang="en-NL">
                      <a:noFill/>
                    </a:rPr>
                    <a:t> </a:t>
                  </a:r>
                </a:p>
              </p:txBody>
            </p:sp>
          </mc:Fallback>
        </mc:AlternateContent>
      </p:grpSp>
      <p:sp>
        <p:nvSpPr>
          <p:cNvPr id="34" name="Rectangle 33">
            <a:extLst>
              <a:ext uri="{FF2B5EF4-FFF2-40B4-BE49-F238E27FC236}">
                <a16:creationId xmlns:a16="http://schemas.microsoft.com/office/drawing/2014/main" id="{9E43A81B-9B52-A0B8-6284-77456851C378}"/>
              </a:ext>
            </a:extLst>
          </p:cNvPr>
          <p:cNvSpPr/>
          <p:nvPr/>
        </p:nvSpPr>
        <p:spPr>
          <a:xfrm>
            <a:off x="5397218" y="3134360"/>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Rectangle 35">
            <a:extLst>
              <a:ext uri="{FF2B5EF4-FFF2-40B4-BE49-F238E27FC236}">
                <a16:creationId xmlns:a16="http://schemas.microsoft.com/office/drawing/2014/main" id="{C6688966-C519-6C38-6E77-770BE5218EC7}"/>
              </a:ext>
            </a:extLst>
          </p:cNvPr>
          <p:cNvSpPr/>
          <p:nvPr/>
        </p:nvSpPr>
        <p:spPr>
          <a:xfrm>
            <a:off x="7164494" y="3202494"/>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8" name="Straight Connector 37">
            <a:extLst>
              <a:ext uri="{FF2B5EF4-FFF2-40B4-BE49-F238E27FC236}">
                <a16:creationId xmlns:a16="http://schemas.microsoft.com/office/drawing/2014/main" id="{5A77709F-AB50-81E8-173F-FF01D8987020}"/>
              </a:ext>
            </a:extLst>
          </p:cNvPr>
          <p:cNvCxnSpPr>
            <a:stCxn id="34" idx="0"/>
            <a:endCxn id="7002" idx="2"/>
          </p:cNvCxnSpPr>
          <p:nvPr/>
        </p:nvCxnSpPr>
        <p:spPr>
          <a:xfrm flipV="1">
            <a:off x="5811168" y="2078092"/>
            <a:ext cx="310269" cy="1056268"/>
          </a:xfrm>
          <a:prstGeom prst="line">
            <a:avLst/>
          </a:prstGeom>
          <a:ln w="28575">
            <a:solidFill>
              <a:srgbClr val="000000"/>
            </a:solidFill>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F0E604FB-4F4B-4AB9-B186-1A02E99B55BB}"/>
              </a:ext>
            </a:extLst>
          </p:cNvPr>
          <p:cNvCxnSpPr>
            <a:stCxn id="36" idx="0"/>
            <a:endCxn id="7002" idx="2"/>
          </p:cNvCxnSpPr>
          <p:nvPr/>
        </p:nvCxnSpPr>
        <p:spPr>
          <a:xfrm flipH="1" flipV="1">
            <a:off x="6121437" y="2078092"/>
            <a:ext cx="1457007" cy="1124402"/>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100">
        <p159:morph option="byObject"/>
      </p:transition>
    </mc:Choice>
    <mc:Fallback xmlns:p14="http://schemas.microsoft.com/office/powerpoint/2010/main"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0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0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0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0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0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0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001"/>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0"/>
                                          </p:stCondLst>
                                        </p:cTn>
                                        <p:tgtEl>
                                          <p:spTgt spid="4"/>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700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0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0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0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0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40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0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1" grpId="0"/>
      <p:bldP spid="1402" grpId="0"/>
      <p:bldP spid="1403" grpId="0"/>
      <p:bldP spid="1404" grpId="0"/>
      <p:bldP spid="1405" grpId="0"/>
      <p:bldP spid="1406" grpId="0"/>
      <p:bldP spid="1407" grpId="0"/>
      <p:bldP spid="1410"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The gaps between the curve and its sector</a:t>
            </a:r>
            <a:endParaRPr sz="2500"/>
          </a:p>
        </p:txBody>
      </p:sp>
      <mc:AlternateContent xmlns:mc="http://schemas.openxmlformats.org/markup-compatibility/2006" xmlns:a14="http://schemas.microsoft.com/office/drawing/2010/main">
        <mc:Choice Requires="a14">
          <p:sp>
            <p:nvSpPr>
              <p:cNvPr id="2201" name="Graph input"/>
              <p:cNvSpPr/>
              <p:nvPr/>
            </p:nvSpPr>
            <p:spPr>
              <a:xfrm>
                <a:off x="8502650" y="21463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𝑧</m:t>
                      </m:r>
                    </m:oMath>
                  </m:oMathPara>
                </a14:m>
                <a:endParaRPr sz="1500"/>
              </a:p>
            </p:txBody>
          </p:sp>
        </mc:Choice>
        <mc:Fallback xmlns="" xmlns:m="http://schemas.openxmlformats.org/officeDocument/2006/math">
          <p:sp>
            <p:nvSpPr>
              <p:cNvPr id="2201" name="Graph input"/>
              <p:cNvSpPr>
                <a:spLocks noRot="1" noChangeAspect="1" noMove="1" noResize="1" noEditPoints="1" noAdjustHandles="1" noChangeArrowheads="1" noChangeShapeType="1" noTextEdit="1"/>
              </p:cNvSpPr>
              <p:nvPr/>
            </p:nvSpPr>
            <p:spPr>
              <a:xfrm>
                <a:off x="8502650" y="2146300"/>
                <a:ext cx="317500" cy="533400"/>
              </a:xfrm>
              <a:prstGeom prst="rect">
                <a:avLst/>
              </a:prstGeom>
              <a:blipFill>
                <a:blip r:embed="rIdSectorRefinement35_3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2" name="Graph output"/>
              <p:cNvSpPr/>
              <p:nvPr/>
            </p:nvSpPr>
            <p:spPr>
              <a:xfrm>
                <a:off x="4413250" y="6477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𝑤</m:t>
                      </m:r>
                    </m:oMath>
                  </m:oMathPara>
                </a14:m>
                <a:endParaRPr sz="1500"/>
              </a:p>
            </p:txBody>
          </p:sp>
        </mc:Choice>
        <mc:Fallback xmlns="" xmlns:m="http://schemas.openxmlformats.org/officeDocument/2006/math">
          <p:sp>
            <p:nvSpPr>
              <p:cNvPr id="2202" name="Graph output"/>
              <p:cNvSpPr>
                <a:spLocks noRot="1" noChangeAspect="1" noMove="1" noResize="1" noEditPoints="1" noAdjustHandles="1" noChangeArrowheads="1" noChangeShapeType="1" noTextEdit="1"/>
              </p:cNvSpPr>
              <p:nvPr/>
            </p:nvSpPr>
            <p:spPr>
              <a:xfrm>
                <a:off x="4413250" y="647700"/>
                <a:ext cx="317500" cy="533400"/>
              </a:xfrm>
              <a:prstGeom prst="rect">
                <a:avLst/>
              </a:prstGeom>
              <a:blipFill>
                <a:blip r:embed="rIdSectorRefinement35_6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3" name="Upper boundary label"/>
              <p:cNvSpPr/>
              <p:nvPr/>
            </p:nvSpPr>
            <p:spPr>
              <a:xfrm>
                <a:off x="7721600" y="1046480"/>
                <a:ext cx="762000" cy="4978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400">
                          <a:solidFill>
                            <a:srgbClr val="252529"/>
                          </a:solidFill>
                          <a:latin typeface="Cambria Math"/>
                        </a:rPr>
                        <m:t>𝛽</m:t>
                      </m:r>
                      <m:r>
                        <a:rPr sz="1400">
                          <a:solidFill>
                            <a:srgbClr val="252529"/>
                          </a:solidFill>
                          <a:latin typeface="Cambria Math"/>
                        </a:rPr>
                        <m:t>𝑧</m:t>
                      </m:r>
                    </m:oMath>
                  </m:oMathPara>
                </a14:m>
                <a:endParaRPr sz="1400"/>
              </a:p>
            </p:txBody>
          </p:sp>
        </mc:Choice>
        <mc:Fallback xmlns="" xmlns:m="http://schemas.openxmlformats.org/officeDocument/2006/math">
          <p:sp>
            <p:nvSpPr>
              <p:cNvPr id="2203" name="Upper boundary label"/>
              <p:cNvSpPr>
                <a:spLocks noRot="1" noChangeAspect="1" noMove="1" noResize="1" noEditPoints="1" noAdjustHandles="1" noChangeArrowheads="1" noChangeShapeType="1" noTextEdit="1"/>
              </p:cNvSpPr>
              <p:nvPr/>
            </p:nvSpPr>
            <p:spPr>
              <a:xfrm>
                <a:off x="7721600" y="1046480"/>
                <a:ext cx="762000" cy="497840"/>
              </a:xfrm>
              <a:prstGeom prst="rect">
                <a:avLst/>
              </a:prstGeom>
              <a:blipFill>
                <a:blip r:embed="rIdSectorRefinement35_36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4" name="Lower boundary label"/>
              <p:cNvSpPr/>
              <p:nvPr/>
            </p:nvSpPr>
            <p:spPr>
              <a:xfrm>
                <a:off x="7461250" y="2562860"/>
                <a:ext cx="1079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𝛼</m:t>
                      </m:r>
                      <m:r>
                        <a:rPr sz="1300">
                          <a:solidFill>
                            <a:srgbClr val="252529"/>
                          </a:solidFill>
                          <a:latin typeface="Cambria Math"/>
                        </a:rPr>
                        <m:t>𝑧</m:t>
                      </m:r>
                      <m:r>
                        <a:rPr sz="1300">
                          <a:solidFill>
                            <a:srgbClr val="252529"/>
                          </a:solidFill>
                          <a:latin typeface="Cambria Math"/>
                        </a:rPr>
                        <m:t>=0</m:t>
                      </m:r>
                    </m:oMath>
                  </m:oMathPara>
                </a14:m>
                <a:endParaRPr sz="1300"/>
              </a:p>
            </p:txBody>
          </p:sp>
        </mc:Choice>
        <mc:Fallback xmlns="" xmlns:m="http://schemas.openxmlformats.org/officeDocument/2006/math">
          <p:sp>
            <p:nvSpPr>
              <p:cNvPr id="2204" name="Lower boundary label"/>
              <p:cNvSpPr>
                <a:spLocks noRot="1" noChangeAspect="1" noMove="1" noResize="1" noEditPoints="1" noAdjustHandles="1" noChangeArrowheads="1" noChangeShapeType="1" noTextEdit="1"/>
              </p:cNvSpPr>
              <p:nvPr/>
            </p:nvSpPr>
            <p:spPr>
              <a:xfrm>
                <a:off x="7461250" y="2562860"/>
                <a:ext cx="1079500" cy="462280"/>
              </a:xfrm>
              <a:prstGeom prst="rect">
                <a:avLst/>
              </a:prstGeom>
              <a:blipFill>
                <a:blip r:embed="rIdSectorRefinement35_105"/>
                <a:stretch>
                  <a:fillRect/>
                </a:stretch>
              </a:blipFill>
              <a:ln>
                <a:noFill/>
              </a:ln>
            </p:spPr>
            <p:txBody>
              <a:bodyPr/>
              <a:lstStyle/>
              <a:p>
                <a:r>
                  <a:rPr lang="en-NL">
                    <a:noFill/>
                  </a:rPr>
                  <a:t> </a:t>
                </a:r>
              </a:p>
            </p:txBody>
          </p:sp>
        </mc:Fallback>
      </mc:AlternateContent>
      <p:sp>
        <p:nvSpPr>
          <p:cNvPr id="2205" name="Input tick -400"/>
          <p:cNvSpPr/>
          <p:nvPr/>
        </p:nvSpPr>
        <p:spPr>
          <a:xfrm>
            <a:off x="145161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6" name="Input tick 400"/>
          <p:cNvSpPr/>
          <p:nvPr/>
        </p:nvSpPr>
        <p:spPr>
          <a:xfrm>
            <a:off x="712089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7" name="Origin"/>
          <p:cNvSpPr/>
          <p:nvPr/>
        </p:nvSpPr>
        <p:spPr>
          <a:xfrm>
            <a:off x="4292600" y="2492375"/>
            <a:ext cx="2540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0</a:t>
            </a:r>
            <a:endParaRPr sz="900"/>
          </a:p>
        </p:txBody>
      </p:sp>
      <mc:AlternateContent xmlns:mc="http://schemas.openxmlformats.org/markup-compatibility/2006" xmlns:a14="http://schemas.microsoft.com/office/drawing/2010/main">
        <mc:Choice Requires="a14">
          <p:sp>
            <p:nvSpPr>
              <p:cNvPr id="2208" name="Upper gap definition"/>
              <p:cNvSpPr/>
              <p:nvPr/>
            </p:nvSpPr>
            <p:spPr>
              <a:xfrm>
                <a:off x="6223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400">
                          <a:solidFill>
                            <a:srgbClr val="216F9C"/>
                          </a:solidFill>
                          <a:latin typeface="Cambria Math"/>
                        </a:rPr>
                        <m:t>𝑎</m:t>
                      </m:r>
                      <m:r>
                        <a:rPr sz="2400">
                          <a:solidFill>
                            <a:srgbClr val="216F9C"/>
                          </a:solidFill>
                          <a:latin typeface="Cambria Math"/>
                        </a:rPr>
                        <m:t>=</m:t>
                      </m:r>
                      <m:r>
                        <a:rPr sz="2400">
                          <a:solidFill>
                            <a:srgbClr val="216F9C"/>
                          </a:solidFill>
                          <a:latin typeface="Cambria Math"/>
                        </a:rPr>
                        <m:t>𝛽</m:t>
                      </m:r>
                      <m:r>
                        <a:rPr sz="2400">
                          <a:solidFill>
                            <a:srgbClr val="216F9C"/>
                          </a:solidFill>
                          <a:latin typeface="Cambria Math"/>
                        </a:rPr>
                        <m:t>𝑧</m:t>
                      </m:r>
                      <m:r>
                        <a:rPr sz="2400">
                          <a:solidFill>
                            <a:srgbClr val="216F9C"/>
                          </a:solidFill>
                          <a:latin typeface="Cambria Math"/>
                        </a:rPr>
                        <m:t>−</m:t>
                      </m:r>
                      <m:r>
                        <a:rPr sz="2400">
                          <a:solidFill>
                            <a:srgbClr val="216F9C"/>
                          </a:solidFill>
                          <a:latin typeface="Cambria Math"/>
                        </a:rPr>
                        <m:t>𝑤</m:t>
                      </m:r>
                    </m:oMath>
                  </m:oMathPara>
                </a14:m>
                <a:endParaRPr sz="2400"/>
              </a:p>
            </p:txBody>
          </p:sp>
        </mc:Choice>
        <mc:Fallback xmlns="" xmlns:m="http://schemas.openxmlformats.org/officeDocument/2006/math">
          <p:sp>
            <p:nvSpPr>
              <p:cNvPr id="2208" name="Upper gap definition"/>
              <p:cNvSpPr>
                <a:spLocks noRot="1" noChangeAspect="1" noMove="1" noResize="1" noEditPoints="1" noAdjustHandles="1" noChangeArrowheads="1" noChangeShapeType="1" noTextEdit="1"/>
              </p:cNvSpPr>
              <p:nvPr/>
            </p:nvSpPr>
            <p:spPr>
              <a:xfrm>
                <a:off x="622300" y="3764280"/>
                <a:ext cx="3937000" cy="853440"/>
              </a:xfrm>
              <a:prstGeom prst="rect">
                <a:avLst/>
              </a:prstGeom>
              <a:blipFill>
                <a:blip r:embed="rIdSectorRefinement35_26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9" name="Lower gap definition"/>
              <p:cNvSpPr/>
              <p:nvPr/>
            </p:nvSpPr>
            <p:spPr>
              <a:xfrm>
                <a:off x="46609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400">
                          <a:solidFill>
                            <a:srgbClr val="147C60"/>
                          </a:solidFill>
                          <a:latin typeface="Cambria Math"/>
                        </a:rPr>
                        <m:t>𝑏</m:t>
                      </m:r>
                      <m:r>
                        <a:rPr sz="2400">
                          <a:solidFill>
                            <a:srgbClr val="147C60"/>
                          </a:solidFill>
                          <a:latin typeface="Cambria Math"/>
                        </a:rPr>
                        <m:t>=</m:t>
                      </m:r>
                      <m:r>
                        <a:rPr sz="2400">
                          <a:solidFill>
                            <a:srgbClr val="147C60"/>
                          </a:solidFill>
                          <a:latin typeface="Cambria Math"/>
                        </a:rPr>
                        <m:t>𝑤</m:t>
                      </m:r>
                      <m:r>
                        <a:rPr sz="2400">
                          <a:solidFill>
                            <a:srgbClr val="147C60"/>
                          </a:solidFill>
                          <a:latin typeface="Cambria Math"/>
                        </a:rPr>
                        <m:t>−</m:t>
                      </m:r>
                      <m:r>
                        <a:rPr sz="2400">
                          <a:solidFill>
                            <a:srgbClr val="147C60"/>
                          </a:solidFill>
                          <a:latin typeface="Cambria Math"/>
                        </a:rPr>
                        <m:t>𝛼</m:t>
                      </m:r>
                      <m:r>
                        <a:rPr sz="2400">
                          <a:solidFill>
                            <a:srgbClr val="147C60"/>
                          </a:solidFill>
                          <a:latin typeface="Cambria Math"/>
                        </a:rPr>
                        <m:t>𝑧</m:t>
                      </m:r>
                    </m:oMath>
                  </m:oMathPara>
                </a14:m>
                <a:endParaRPr sz="2400"/>
              </a:p>
            </p:txBody>
          </p:sp>
        </mc:Choice>
        <mc:Fallback xmlns="" xmlns:m="http://schemas.openxmlformats.org/officeDocument/2006/math">
          <p:sp>
            <p:nvSpPr>
              <p:cNvPr id="2209" name="Lower gap definition"/>
              <p:cNvSpPr>
                <a:spLocks noRot="1" noChangeAspect="1" noMove="1" noResize="1" noEditPoints="1" noAdjustHandles="1" noChangeArrowheads="1" noChangeShapeType="1" noTextEdit="1"/>
              </p:cNvSpPr>
              <p:nvPr/>
            </p:nvSpPr>
            <p:spPr>
              <a:xfrm>
                <a:off x="4660900" y="3764280"/>
                <a:ext cx="3937000" cy="853440"/>
              </a:xfrm>
              <a:prstGeom prst="rect">
                <a:avLst/>
              </a:prstGeom>
              <a:blipFill>
                <a:blip r:embed="rIdSectorRefinement35_296"/>
                <a:stretch>
                  <a:fillRect/>
                </a:stretch>
              </a:blipFill>
              <a:ln>
                <a:noFill/>
              </a:ln>
            </p:spPr>
            <p:txBody>
              <a:bodyPr/>
              <a:lstStyle/>
              <a:p>
                <a:r>
                  <a:rPr lang="en-NL">
                    <a:noFill/>
                  </a:rPr>
                  <a:t> </a:t>
                </a:r>
              </a:p>
            </p:txBody>
          </p:sp>
        </mc:Fallback>
      </mc:AlternateContent>
      <p:sp>
        <p:nvSpPr>
          <p:cNvPr id="3074"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3075"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35</a:t>
            </a:r>
            <a:endParaRPr sz="800"/>
          </a:p>
        </p:txBody>
      </p:sp>
      <p:grpSp>
        <p:nvGrpSpPr>
          <p:cNvPr id="2100" name="!!Sector plot"/>
          <p:cNvGrpSpPr/>
          <p:nvPr/>
        </p:nvGrpSpPr>
        <p:grpSpPr>
          <a:xfrm>
            <a:off x="635000" y="990600"/>
            <a:ext cx="7874000" cy="2857500"/>
            <a:chOff x="482600" y="1016000"/>
            <a:chExt cx="3810000" cy="2794000"/>
          </a:xfrm>
        </p:grpSpPr>
        <p:sp>
          <p:nvSpPr>
            <p:cNvPr id="2001" name="Input axis"/>
            <p:cNvSpPr/>
            <p:nvPr/>
          </p:nvSpPr>
          <p:spPr>
            <a:xfrm>
              <a:off x="574675" y="2400300"/>
              <a:ext cx="3677285" cy="25400"/>
            </a:xfrm>
            <a:custGeom>
              <a:avLst/>
              <a:gdLst/>
              <a:ahLst/>
              <a:cxnLst/>
              <a:rect l="0" t="0" r="r" b="b"/>
              <a:pathLst>
                <a:path w="3677285" h="25400" fill="none">
                  <a:moveTo>
                    <a:pt x="12700" y="12700"/>
                  </a:moveTo>
                  <a:lnTo>
                    <a:pt x="3664585" y="12700"/>
                  </a:lnTo>
                </a:path>
              </a:pathLst>
            </a:custGeom>
            <a:noFill/>
            <a:ln w="8890">
              <a:solidFill>
                <a:srgbClr val="A9ADB2"/>
              </a:solidFill>
              <a:round/>
              <a:tailEnd type="triangle" w="sm" len="sm"/>
            </a:ln>
          </p:spPr>
          <p:txBody>
            <a:bodyPr/>
            <a:lstStyle/>
            <a:p>
              <a:endParaRPr lang="en-NL"/>
            </a:p>
          </p:txBody>
        </p:sp>
        <p:sp>
          <p:nvSpPr>
            <p:cNvPr id="2002" name="Output axis"/>
            <p:cNvSpPr/>
            <p:nvPr/>
          </p:nvSpPr>
          <p:spPr>
            <a:xfrm>
              <a:off x="2374900" y="1333500"/>
              <a:ext cx="25400" cy="2146300"/>
            </a:xfrm>
            <a:custGeom>
              <a:avLst/>
              <a:gdLst/>
              <a:ahLst/>
              <a:cxnLst/>
              <a:rect l="0" t="0" r="r" b="b"/>
              <a:pathLst>
                <a:path w="25400" h="2146300" fill="none">
                  <a:moveTo>
                    <a:pt x="12700" y="2133600"/>
                  </a:moveTo>
                  <a:lnTo>
                    <a:pt x="12700" y="12700"/>
                  </a:lnTo>
                </a:path>
              </a:pathLst>
            </a:custGeom>
            <a:noFill/>
            <a:ln w="8890">
              <a:solidFill>
                <a:srgbClr val="A9ADB2"/>
              </a:solidFill>
              <a:round/>
              <a:tailEnd type="triangle" w="sm" len="sm"/>
            </a:ln>
          </p:spPr>
          <p:txBody>
            <a:bodyPr/>
            <a:lstStyle/>
            <a:p>
              <a:endParaRPr lang="en-NL"/>
            </a:p>
          </p:txBody>
        </p:sp>
        <p:sp>
          <p:nvSpPr>
            <p:cNvPr id="2003" name="Shifted sigmoid curve"/>
            <p:cNvSpPr/>
            <p:nvPr/>
          </p:nvSpPr>
          <p:spPr>
            <a:xfrm>
              <a:off x="660400" y="1703259"/>
              <a:ext cx="3454400" cy="774294"/>
            </a:xfrm>
            <a:custGeom>
              <a:avLst/>
              <a:gdLst/>
              <a:ahLst/>
              <a:cxnLst/>
              <a:rect l="0" t="0" r="r" b="b"/>
              <a:pathLst>
                <a:path w="3454400" h="774294" fill="none">
                  <a:moveTo>
                    <a:pt x="12700" y="761594"/>
                  </a:moveTo>
                  <a:lnTo>
                    <a:pt x="24130" y="761591"/>
                  </a:lnTo>
                  <a:lnTo>
                    <a:pt x="35560" y="761588"/>
                  </a:lnTo>
                  <a:lnTo>
                    <a:pt x="46990" y="761584"/>
                  </a:lnTo>
                  <a:lnTo>
                    <a:pt x="58420" y="761581"/>
                  </a:lnTo>
                  <a:lnTo>
                    <a:pt x="69850" y="761577"/>
                  </a:lnTo>
                  <a:lnTo>
                    <a:pt x="81280" y="761573"/>
                  </a:lnTo>
                  <a:lnTo>
                    <a:pt x="92710" y="761568"/>
                  </a:lnTo>
                  <a:lnTo>
                    <a:pt x="104140" y="761564"/>
                  </a:lnTo>
                  <a:lnTo>
                    <a:pt x="115570" y="761559"/>
                  </a:lnTo>
                  <a:lnTo>
                    <a:pt x="127000" y="761555"/>
                  </a:lnTo>
                  <a:lnTo>
                    <a:pt x="138430" y="761550"/>
                  </a:lnTo>
                  <a:lnTo>
                    <a:pt x="149860" y="761544"/>
                  </a:lnTo>
                  <a:lnTo>
                    <a:pt x="161290" y="761539"/>
                  </a:lnTo>
                  <a:lnTo>
                    <a:pt x="172720" y="761533"/>
                  </a:lnTo>
                  <a:lnTo>
                    <a:pt x="184150" y="761527"/>
                  </a:lnTo>
                  <a:lnTo>
                    <a:pt x="195580" y="761521"/>
                  </a:lnTo>
                  <a:lnTo>
                    <a:pt x="207010" y="761514"/>
                  </a:lnTo>
                  <a:lnTo>
                    <a:pt x="218440" y="761507"/>
                  </a:lnTo>
                  <a:lnTo>
                    <a:pt x="229870" y="761500"/>
                  </a:lnTo>
                  <a:lnTo>
                    <a:pt x="241300" y="761493"/>
                  </a:lnTo>
                  <a:lnTo>
                    <a:pt x="252730" y="761485"/>
                  </a:lnTo>
                  <a:lnTo>
                    <a:pt x="264160" y="761477"/>
                  </a:lnTo>
                  <a:lnTo>
                    <a:pt x="275590" y="761468"/>
                  </a:lnTo>
                  <a:lnTo>
                    <a:pt x="287020" y="761459"/>
                  </a:lnTo>
                  <a:lnTo>
                    <a:pt x="298450" y="761450"/>
                  </a:lnTo>
                  <a:lnTo>
                    <a:pt x="309880" y="761440"/>
                  </a:lnTo>
                  <a:lnTo>
                    <a:pt x="321310" y="761430"/>
                  </a:lnTo>
                  <a:lnTo>
                    <a:pt x="332740" y="761419"/>
                  </a:lnTo>
                  <a:lnTo>
                    <a:pt x="344170" y="761408"/>
                  </a:lnTo>
                  <a:lnTo>
                    <a:pt x="355600" y="761396"/>
                  </a:lnTo>
                  <a:lnTo>
                    <a:pt x="367030" y="761384"/>
                  </a:lnTo>
                  <a:lnTo>
                    <a:pt x="378460" y="761371"/>
                  </a:lnTo>
                  <a:lnTo>
                    <a:pt x="389890" y="761358"/>
                  </a:lnTo>
                  <a:lnTo>
                    <a:pt x="401320" y="761344"/>
                  </a:lnTo>
                  <a:lnTo>
                    <a:pt x="412750" y="761329"/>
                  </a:lnTo>
                  <a:lnTo>
                    <a:pt x="424180" y="761314"/>
                  </a:lnTo>
                  <a:lnTo>
                    <a:pt x="435610" y="761298"/>
                  </a:lnTo>
                  <a:lnTo>
                    <a:pt x="447040" y="761282"/>
                  </a:lnTo>
                  <a:lnTo>
                    <a:pt x="458470" y="761264"/>
                  </a:lnTo>
                  <a:lnTo>
                    <a:pt x="469900" y="761246"/>
                  </a:lnTo>
                  <a:lnTo>
                    <a:pt x="481330" y="761227"/>
                  </a:lnTo>
                  <a:lnTo>
                    <a:pt x="492760" y="761207"/>
                  </a:lnTo>
                  <a:lnTo>
                    <a:pt x="504190" y="761186"/>
                  </a:lnTo>
                  <a:lnTo>
                    <a:pt x="515620" y="761164"/>
                  </a:lnTo>
                  <a:lnTo>
                    <a:pt x="527050" y="761142"/>
                  </a:lnTo>
                  <a:lnTo>
                    <a:pt x="538480" y="761118"/>
                  </a:lnTo>
                  <a:lnTo>
                    <a:pt x="549910" y="761093"/>
                  </a:lnTo>
                  <a:lnTo>
                    <a:pt x="561340" y="761067"/>
                  </a:lnTo>
                  <a:lnTo>
                    <a:pt x="572770" y="761040"/>
                  </a:lnTo>
                  <a:lnTo>
                    <a:pt x="584200" y="761011"/>
                  </a:lnTo>
                  <a:lnTo>
                    <a:pt x="595630" y="760982"/>
                  </a:lnTo>
                  <a:lnTo>
                    <a:pt x="607060" y="760951"/>
                  </a:lnTo>
                  <a:lnTo>
                    <a:pt x="618490" y="760918"/>
                  </a:lnTo>
                  <a:lnTo>
                    <a:pt x="629920" y="760884"/>
                  </a:lnTo>
                  <a:lnTo>
                    <a:pt x="641350" y="760849"/>
                  </a:lnTo>
                  <a:lnTo>
                    <a:pt x="652780" y="760812"/>
                  </a:lnTo>
                  <a:lnTo>
                    <a:pt x="664210" y="760773"/>
                  </a:lnTo>
                  <a:lnTo>
                    <a:pt x="675640" y="760733"/>
                  </a:lnTo>
                  <a:lnTo>
                    <a:pt x="687070" y="760690"/>
                  </a:lnTo>
                  <a:lnTo>
                    <a:pt x="698500" y="760646"/>
                  </a:lnTo>
                  <a:lnTo>
                    <a:pt x="709930" y="760600"/>
                  </a:lnTo>
                  <a:lnTo>
                    <a:pt x="721360" y="760551"/>
                  </a:lnTo>
                  <a:lnTo>
                    <a:pt x="732790" y="760501"/>
                  </a:lnTo>
                  <a:lnTo>
                    <a:pt x="744220" y="760448"/>
                  </a:lnTo>
                  <a:lnTo>
                    <a:pt x="755650" y="760393"/>
                  </a:lnTo>
                  <a:lnTo>
                    <a:pt x="767080" y="760335"/>
                  </a:lnTo>
                  <a:lnTo>
                    <a:pt x="778510" y="760275"/>
                  </a:lnTo>
                  <a:lnTo>
                    <a:pt x="789940" y="760212"/>
                  </a:lnTo>
                  <a:lnTo>
                    <a:pt x="801370" y="760146"/>
                  </a:lnTo>
                  <a:lnTo>
                    <a:pt x="812800" y="760077"/>
                  </a:lnTo>
                  <a:lnTo>
                    <a:pt x="824230" y="760005"/>
                  </a:lnTo>
                  <a:lnTo>
                    <a:pt x="835660" y="759930"/>
                  </a:lnTo>
                  <a:lnTo>
                    <a:pt x="847090" y="759851"/>
                  </a:lnTo>
                  <a:lnTo>
                    <a:pt x="858520" y="759769"/>
                  </a:lnTo>
                  <a:lnTo>
                    <a:pt x="869950" y="759683"/>
                  </a:lnTo>
                  <a:lnTo>
                    <a:pt x="881380" y="759593"/>
                  </a:lnTo>
                  <a:lnTo>
                    <a:pt x="892810" y="759499"/>
                  </a:lnTo>
                  <a:lnTo>
                    <a:pt x="904240" y="759401"/>
                  </a:lnTo>
                  <a:lnTo>
                    <a:pt x="915670" y="759298"/>
                  </a:lnTo>
                  <a:lnTo>
                    <a:pt x="927100" y="759191"/>
                  </a:lnTo>
                  <a:lnTo>
                    <a:pt x="938530" y="759079"/>
                  </a:lnTo>
                  <a:lnTo>
                    <a:pt x="949960" y="758962"/>
                  </a:lnTo>
                  <a:lnTo>
                    <a:pt x="961390" y="758839"/>
                  </a:lnTo>
                  <a:lnTo>
                    <a:pt x="972820" y="758711"/>
                  </a:lnTo>
                  <a:lnTo>
                    <a:pt x="984250" y="758578"/>
                  </a:lnTo>
                  <a:lnTo>
                    <a:pt x="995680" y="758438"/>
                  </a:lnTo>
                  <a:lnTo>
                    <a:pt x="1007110" y="758292"/>
                  </a:lnTo>
                  <a:lnTo>
                    <a:pt x="1018540" y="758139"/>
                  </a:lnTo>
                  <a:lnTo>
                    <a:pt x="1029970" y="757980"/>
                  </a:lnTo>
                  <a:lnTo>
                    <a:pt x="1041400" y="757813"/>
                  </a:lnTo>
                  <a:lnTo>
                    <a:pt x="1052830" y="757639"/>
                  </a:lnTo>
                  <a:lnTo>
                    <a:pt x="1064260" y="757457"/>
                  </a:lnTo>
                  <a:lnTo>
                    <a:pt x="1075690" y="757267"/>
                  </a:lnTo>
                  <a:lnTo>
                    <a:pt x="1087120" y="757068"/>
                  </a:lnTo>
                  <a:lnTo>
                    <a:pt x="1098550" y="756861"/>
                  </a:lnTo>
                  <a:lnTo>
                    <a:pt x="1109980" y="756644"/>
                  </a:lnTo>
                  <a:lnTo>
                    <a:pt x="1121410" y="756417"/>
                  </a:lnTo>
                  <a:lnTo>
                    <a:pt x="1132840" y="756180"/>
                  </a:lnTo>
                  <a:lnTo>
                    <a:pt x="1144270" y="755933"/>
                  </a:lnTo>
                  <a:lnTo>
                    <a:pt x="1155700" y="755674"/>
                  </a:lnTo>
                  <a:lnTo>
                    <a:pt x="1167130" y="755404"/>
                  </a:lnTo>
                  <a:lnTo>
                    <a:pt x="1178560" y="755122"/>
                  </a:lnTo>
                  <a:lnTo>
                    <a:pt x="1189990" y="754828"/>
                  </a:lnTo>
                  <a:lnTo>
                    <a:pt x="1201420" y="754520"/>
                  </a:lnTo>
                  <a:lnTo>
                    <a:pt x="1212850" y="754198"/>
                  </a:lnTo>
                  <a:lnTo>
                    <a:pt x="1224280" y="753862"/>
                  </a:lnTo>
                  <a:lnTo>
                    <a:pt x="1235710" y="753511"/>
                  </a:lnTo>
                  <a:lnTo>
                    <a:pt x="1247140" y="753145"/>
                  </a:lnTo>
                  <a:lnTo>
                    <a:pt x="1258570" y="752762"/>
                  </a:lnTo>
                  <a:lnTo>
                    <a:pt x="1270000" y="752363"/>
                  </a:lnTo>
                  <a:lnTo>
                    <a:pt x="1281430" y="751945"/>
                  </a:lnTo>
                  <a:lnTo>
                    <a:pt x="1292860" y="751509"/>
                  </a:lnTo>
                  <a:lnTo>
                    <a:pt x="1304290" y="751054"/>
                  </a:lnTo>
                  <a:lnTo>
                    <a:pt x="1315720" y="750579"/>
                  </a:lnTo>
                  <a:lnTo>
                    <a:pt x="1327150" y="750083"/>
                  </a:lnTo>
                  <a:lnTo>
                    <a:pt x="1338580" y="749565"/>
                  </a:lnTo>
                  <a:lnTo>
                    <a:pt x="1350010" y="749024"/>
                  </a:lnTo>
                  <a:lnTo>
                    <a:pt x="1361440" y="748460"/>
                  </a:lnTo>
                  <a:lnTo>
                    <a:pt x="1372870" y="747870"/>
                  </a:lnTo>
                  <a:lnTo>
                    <a:pt x="1384300" y="747255"/>
                  </a:lnTo>
                  <a:lnTo>
                    <a:pt x="1395730" y="746613"/>
                  </a:lnTo>
                  <a:lnTo>
                    <a:pt x="1407160" y="745943"/>
                  </a:lnTo>
                  <a:lnTo>
                    <a:pt x="1418590" y="745244"/>
                  </a:lnTo>
                  <a:lnTo>
                    <a:pt x="1430020" y="744515"/>
                  </a:lnTo>
                  <a:lnTo>
                    <a:pt x="1441450" y="743754"/>
                  </a:lnTo>
                  <a:lnTo>
                    <a:pt x="1452880" y="742959"/>
                  </a:lnTo>
                  <a:lnTo>
                    <a:pt x="1464310" y="742131"/>
                  </a:lnTo>
                  <a:lnTo>
                    <a:pt x="1475740" y="741267"/>
                  </a:lnTo>
                  <a:lnTo>
                    <a:pt x="1487170" y="740366"/>
                  </a:lnTo>
                  <a:lnTo>
                    <a:pt x="1498600" y="739426"/>
                  </a:lnTo>
                  <a:lnTo>
                    <a:pt x="1510030" y="738446"/>
                  </a:lnTo>
                  <a:lnTo>
                    <a:pt x="1521460" y="737425"/>
                  </a:lnTo>
                  <a:lnTo>
                    <a:pt x="1532890" y="736360"/>
                  </a:lnTo>
                  <a:lnTo>
                    <a:pt x="1544320" y="735249"/>
                  </a:lnTo>
                  <a:lnTo>
                    <a:pt x="1555750" y="734092"/>
                  </a:lnTo>
                  <a:lnTo>
                    <a:pt x="1567180" y="732887"/>
                  </a:lnTo>
                  <a:lnTo>
                    <a:pt x="1578610" y="731630"/>
                  </a:lnTo>
                  <a:lnTo>
                    <a:pt x="1590040" y="730321"/>
                  </a:lnTo>
                  <a:lnTo>
                    <a:pt x="1601470" y="728958"/>
                  </a:lnTo>
                  <a:lnTo>
                    <a:pt x="1612900" y="727538"/>
                  </a:lnTo>
                  <a:lnTo>
                    <a:pt x="1624330" y="726060"/>
                  </a:lnTo>
                  <a:lnTo>
                    <a:pt x="1635760" y="724520"/>
                  </a:lnTo>
                  <a:lnTo>
                    <a:pt x="1647190" y="722918"/>
                  </a:lnTo>
                  <a:lnTo>
                    <a:pt x="1658620" y="721251"/>
                  </a:lnTo>
                  <a:lnTo>
                    <a:pt x="1670050" y="719515"/>
                  </a:lnTo>
                  <a:lnTo>
                    <a:pt x="1681480" y="717710"/>
                  </a:lnTo>
                  <a:lnTo>
                    <a:pt x="1692910" y="715833"/>
                  </a:lnTo>
                  <a:lnTo>
                    <a:pt x="1704340" y="713881"/>
                  </a:lnTo>
                  <a:lnTo>
                    <a:pt x="1715770" y="711851"/>
                  </a:lnTo>
                  <a:lnTo>
                    <a:pt x="1727200" y="709741"/>
                  </a:lnTo>
                  <a:lnTo>
                    <a:pt x="1738630" y="707549"/>
                  </a:lnTo>
                  <a:lnTo>
                    <a:pt x="1750060" y="705272"/>
                  </a:lnTo>
                  <a:lnTo>
                    <a:pt x="1761490" y="702906"/>
                  </a:lnTo>
                  <a:lnTo>
                    <a:pt x="1772920" y="700451"/>
                  </a:lnTo>
                  <a:lnTo>
                    <a:pt x="1784350" y="697901"/>
                  </a:lnTo>
                  <a:lnTo>
                    <a:pt x="1795780" y="695256"/>
                  </a:lnTo>
                  <a:lnTo>
                    <a:pt x="1807210" y="692512"/>
                  </a:lnTo>
                  <a:lnTo>
                    <a:pt x="1818640" y="689666"/>
                  </a:lnTo>
                  <a:lnTo>
                    <a:pt x="1830070" y="686716"/>
                  </a:lnTo>
                  <a:lnTo>
                    <a:pt x="1841500" y="683658"/>
                  </a:lnTo>
                  <a:lnTo>
                    <a:pt x="1852930" y="680491"/>
                  </a:lnTo>
                  <a:lnTo>
                    <a:pt x="1864360" y="677210"/>
                  </a:lnTo>
                  <a:lnTo>
                    <a:pt x="1875790" y="673815"/>
                  </a:lnTo>
                  <a:lnTo>
                    <a:pt x="1887220" y="670301"/>
                  </a:lnTo>
                  <a:lnTo>
                    <a:pt x="1898650" y="666666"/>
                  </a:lnTo>
                  <a:lnTo>
                    <a:pt x="1910080" y="662908"/>
                  </a:lnTo>
                  <a:lnTo>
                    <a:pt x="1921510" y="659025"/>
                  </a:lnTo>
                  <a:lnTo>
                    <a:pt x="1932940" y="655013"/>
                  </a:lnTo>
                  <a:lnTo>
                    <a:pt x="1944370" y="650871"/>
                  </a:lnTo>
                  <a:lnTo>
                    <a:pt x="1955800" y="646596"/>
                  </a:lnTo>
                  <a:lnTo>
                    <a:pt x="1967230" y="642186"/>
                  </a:lnTo>
                  <a:lnTo>
                    <a:pt x="1978660" y="637640"/>
                  </a:lnTo>
                  <a:lnTo>
                    <a:pt x="1990090" y="632956"/>
                  </a:lnTo>
                  <a:lnTo>
                    <a:pt x="2001520" y="628131"/>
                  </a:lnTo>
                  <a:lnTo>
                    <a:pt x="2012950" y="623165"/>
                  </a:lnTo>
                  <a:lnTo>
                    <a:pt x="2024380" y="618057"/>
                  </a:lnTo>
                  <a:lnTo>
                    <a:pt x="2035810" y="612806"/>
                  </a:lnTo>
                  <a:lnTo>
                    <a:pt x="2047240" y="607410"/>
                  </a:lnTo>
                  <a:lnTo>
                    <a:pt x="2058670" y="601870"/>
                  </a:lnTo>
                  <a:lnTo>
                    <a:pt x="2070100" y="596185"/>
                  </a:lnTo>
                  <a:lnTo>
                    <a:pt x="2081530" y="590355"/>
                  </a:lnTo>
                  <a:lnTo>
                    <a:pt x="2092960" y="584381"/>
                  </a:lnTo>
                  <a:lnTo>
                    <a:pt x="2104390" y="578263"/>
                  </a:lnTo>
                  <a:lnTo>
                    <a:pt x="2115820" y="572002"/>
                  </a:lnTo>
                  <a:lnTo>
                    <a:pt x="2127250" y="565601"/>
                  </a:lnTo>
                  <a:lnTo>
                    <a:pt x="2138680" y="559059"/>
                  </a:lnTo>
                  <a:lnTo>
                    <a:pt x="2150110" y="552380"/>
                  </a:lnTo>
                  <a:lnTo>
                    <a:pt x="2161540" y="545566"/>
                  </a:lnTo>
                  <a:lnTo>
                    <a:pt x="2172970" y="538620"/>
                  </a:lnTo>
                  <a:lnTo>
                    <a:pt x="2184400" y="531545"/>
                  </a:lnTo>
                  <a:lnTo>
                    <a:pt x="2195830" y="524344"/>
                  </a:lnTo>
                  <a:lnTo>
                    <a:pt x="2207260" y="517021"/>
                  </a:lnTo>
                  <a:lnTo>
                    <a:pt x="2218690" y="509581"/>
                  </a:lnTo>
                  <a:lnTo>
                    <a:pt x="2230120" y="502028"/>
                  </a:lnTo>
                  <a:lnTo>
                    <a:pt x="2241550" y="494367"/>
                  </a:lnTo>
                  <a:lnTo>
                    <a:pt x="2252980" y="486604"/>
                  </a:lnTo>
                  <a:lnTo>
                    <a:pt x="2264410" y="478745"/>
                  </a:lnTo>
                  <a:lnTo>
                    <a:pt x="2275840" y="470795"/>
                  </a:lnTo>
                  <a:lnTo>
                    <a:pt x="2287270" y="462762"/>
                  </a:lnTo>
                  <a:lnTo>
                    <a:pt x="2298700" y="454650"/>
                  </a:lnTo>
                  <a:lnTo>
                    <a:pt x="2310130" y="446469"/>
                  </a:lnTo>
                  <a:lnTo>
                    <a:pt x="2321560" y="438225"/>
                  </a:lnTo>
                  <a:lnTo>
                    <a:pt x="2332990" y="429925"/>
                  </a:lnTo>
                  <a:lnTo>
                    <a:pt x="2344420" y="421577"/>
                  </a:lnTo>
                  <a:lnTo>
                    <a:pt x="2355850" y="413189"/>
                  </a:lnTo>
                  <a:lnTo>
                    <a:pt x="2367280" y="404770"/>
                  </a:lnTo>
                  <a:lnTo>
                    <a:pt x="2378710" y="396327"/>
                  </a:lnTo>
                  <a:lnTo>
                    <a:pt x="2390140" y="387868"/>
                  </a:lnTo>
                  <a:lnTo>
                    <a:pt x="2401570" y="379402"/>
                  </a:lnTo>
                  <a:lnTo>
                    <a:pt x="2413000" y="370937"/>
                  </a:lnTo>
                  <a:lnTo>
                    <a:pt x="2424430" y="362483"/>
                  </a:lnTo>
                  <a:lnTo>
                    <a:pt x="2435860" y="354045"/>
                  </a:lnTo>
                  <a:lnTo>
                    <a:pt x="2447290" y="345635"/>
                  </a:lnTo>
                  <a:lnTo>
                    <a:pt x="2458720" y="337258"/>
                  </a:lnTo>
                  <a:lnTo>
                    <a:pt x="2470150" y="328924"/>
                  </a:lnTo>
                  <a:lnTo>
                    <a:pt x="2481580" y="320640"/>
                  </a:lnTo>
                  <a:lnTo>
                    <a:pt x="2493010" y="312413"/>
                  </a:lnTo>
                  <a:lnTo>
                    <a:pt x="2504440" y="304252"/>
                  </a:lnTo>
                  <a:lnTo>
                    <a:pt x="2515870" y="296163"/>
                  </a:lnTo>
                  <a:lnTo>
                    <a:pt x="2527300" y="288154"/>
                  </a:lnTo>
                  <a:lnTo>
                    <a:pt x="2538730" y="280231"/>
                  </a:lnTo>
                  <a:lnTo>
                    <a:pt x="2550160" y="272399"/>
                  </a:lnTo>
                  <a:lnTo>
                    <a:pt x="2561590" y="264666"/>
                  </a:lnTo>
                  <a:lnTo>
                    <a:pt x="2573020" y="257037"/>
                  </a:lnTo>
                  <a:lnTo>
                    <a:pt x="2584450" y="249518"/>
                  </a:lnTo>
                  <a:lnTo>
                    <a:pt x="2595880" y="242112"/>
                  </a:lnTo>
                  <a:lnTo>
                    <a:pt x="2607310" y="234825"/>
                  </a:lnTo>
                  <a:lnTo>
                    <a:pt x="2618740" y="227661"/>
                  </a:lnTo>
                  <a:lnTo>
                    <a:pt x="2630170" y="220624"/>
                  </a:lnTo>
                  <a:lnTo>
                    <a:pt x="2641600" y="213717"/>
                  </a:lnTo>
                  <a:lnTo>
                    <a:pt x="2653030" y="206943"/>
                  </a:lnTo>
                  <a:lnTo>
                    <a:pt x="2664460" y="200305"/>
                  </a:lnTo>
                  <a:lnTo>
                    <a:pt x="2675890" y="193805"/>
                  </a:lnTo>
                  <a:lnTo>
                    <a:pt x="2687320" y="187445"/>
                  </a:lnTo>
                  <a:lnTo>
                    <a:pt x="2698750" y="181227"/>
                  </a:lnTo>
                  <a:lnTo>
                    <a:pt x="2710180" y="175152"/>
                  </a:lnTo>
                  <a:lnTo>
                    <a:pt x="2721610" y="169221"/>
                  </a:lnTo>
                  <a:lnTo>
                    <a:pt x="2733040" y="163434"/>
                  </a:lnTo>
                  <a:lnTo>
                    <a:pt x="2744470" y="157792"/>
                  </a:lnTo>
                  <a:lnTo>
                    <a:pt x="2755900" y="152295"/>
                  </a:lnTo>
                  <a:lnTo>
                    <a:pt x="2767330" y="146943"/>
                  </a:lnTo>
                  <a:lnTo>
                    <a:pt x="2778760" y="141734"/>
                  </a:lnTo>
                  <a:lnTo>
                    <a:pt x="2790190" y="136668"/>
                  </a:lnTo>
                  <a:lnTo>
                    <a:pt x="2801620" y="131745"/>
                  </a:lnTo>
                  <a:lnTo>
                    <a:pt x="2813050" y="126963"/>
                  </a:lnTo>
                  <a:lnTo>
                    <a:pt x="2824480" y="122320"/>
                  </a:lnTo>
                  <a:lnTo>
                    <a:pt x="2835910" y="117814"/>
                  </a:lnTo>
                  <a:lnTo>
                    <a:pt x="2847340" y="113445"/>
                  </a:lnTo>
                  <a:lnTo>
                    <a:pt x="2858770" y="109210"/>
                  </a:lnTo>
                  <a:lnTo>
                    <a:pt x="2870200" y="105107"/>
                  </a:lnTo>
                  <a:lnTo>
                    <a:pt x="2881630" y="101134"/>
                  </a:lnTo>
                  <a:lnTo>
                    <a:pt x="2893060" y="97288"/>
                  </a:lnTo>
                  <a:lnTo>
                    <a:pt x="2904490" y="93567"/>
                  </a:lnTo>
                  <a:lnTo>
                    <a:pt x="2915920" y="89969"/>
                  </a:lnTo>
                  <a:lnTo>
                    <a:pt x="2927350" y="86490"/>
                  </a:lnTo>
                  <a:lnTo>
                    <a:pt x="2938780" y="83129"/>
                  </a:lnTo>
                  <a:lnTo>
                    <a:pt x="2950210" y="79883"/>
                  </a:lnTo>
                  <a:lnTo>
                    <a:pt x="2961640" y="76749"/>
                  </a:lnTo>
                  <a:lnTo>
                    <a:pt x="2973070" y="73723"/>
                  </a:lnTo>
                  <a:lnTo>
                    <a:pt x="2984500" y="70805"/>
                  </a:lnTo>
                  <a:lnTo>
                    <a:pt x="2995930" y="67989"/>
                  </a:lnTo>
                  <a:lnTo>
                    <a:pt x="3007360" y="65275"/>
                  </a:lnTo>
                  <a:lnTo>
                    <a:pt x="3018790" y="62659"/>
                  </a:lnTo>
                  <a:lnTo>
                    <a:pt x="3030220" y="60138"/>
                  </a:lnTo>
                  <a:lnTo>
                    <a:pt x="3041650" y="57709"/>
                  </a:lnTo>
                  <a:lnTo>
                    <a:pt x="3053080" y="55370"/>
                  </a:lnTo>
                  <a:lnTo>
                    <a:pt x="3064510" y="53119"/>
                  </a:lnTo>
                  <a:lnTo>
                    <a:pt x="3075940" y="50951"/>
                  </a:lnTo>
                  <a:lnTo>
                    <a:pt x="3087370" y="48866"/>
                  </a:lnTo>
                  <a:lnTo>
                    <a:pt x="3098800" y="46859"/>
                  </a:lnTo>
                  <a:lnTo>
                    <a:pt x="3110230" y="44930"/>
                  </a:lnTo>
                  <a:lnTo>
                    <a:pt x="3121660" y="43074"/>
                  </a:lnTo>
                  <a:lnTo>
                    <a:pt x="3133090" y="41290"/>
                  </a:lnTo>
                  <a:lnTo>
                    <a:pt x="3144520" y="39575"/>
                  </a:lnTo>
                  <a:lnTo>
                    <a:pt x="3155950" y="37928"/>
                  </a:lnTo>
                  <a:lnTo>
                    <a:pt x="3167380" y="36344"/>
                  </a:lnTo>
                  <a:lnTo>
                    <a:pt x="3178810" y="34823"/>
                  </a:lnTo>
                  <a:lnTo>
                    <a:pt x="3190240" y="33363"/>
                  </a:lnTo>
                  <a:lnTo>
                    <a:pt x="3201670" y="31960"/>
                  </a:lnTo>
                  <a:lnTo>
                    <a:pt x="3213100" y="30613"/>
                  </a:lnTo>
                  <a:lnTo>
                    <a:pt x="3224530" y="29320"/>
                  </a:lnTo>
                  <a:lnTo>
                    <a:pt x="3235960" y="28079"/>
                  </a:lnTo>
                  <a:lnTo>
                    <a:pt x="3247390" y="26888"/>
                  </a:lnTo>
                  <a:lnTo>
                    <a:pt x="3258820" y="25745"/>
                  </a:lnTo>
                  <a:lnTo>
                    <a:pt x="3270250" y="24648"/>
                  </a:lnTo>
                  <a:lnTo>
                    <a:pt x="3281680" y="23596"/>
                  </a:lnTo>
                  <a:lnTo>
                    <a:pt x="3293110" y="22587"/>
                  </a:lnTo>
                  <a:lnTo>
                    <a:pt x="3304540" y="21620"/>
                  </a:lnTo>
                  <a:lnTo>
                    <a:pt x="3315970" y="20692"/>
                  </a:lnTo>
                  <a:lnTo>
                    <a:pt x="3327400" y="19802"/>
                  </a:lnTo>
                  <a:lnTo>
                    <a:pt x="3338830" y="18949"/>
                  </a:lnTo>
                  <a:lnTo>
                    <a:pt x="3350260" y="18131"/>
                  </a:lnTo>
                  <a:lnTo>
                    <a:pt x="3361690" y="17347"/>
                  </a:lnTo>
                  <a:lnTo>
                    <a:pt x="3373120" y="16595"/>
                  </a:lnTo>
                  <a:lnTo>
                    <a:pt x="3384550" y="15875"/>
                  </a:lnTo>
                  <a:lnTo>
                    <a:pt x="3395980" y="15184"/>
                  </a:lnTo>
                  <a:lnTo>
                    <a:pt x="3407410" y="14523"/>
                  </a:lnTo>
                  <a:lnTo>
                    <a:pt x="3418840" y="13889"/>
                  </a:lnTo>
                  <a:lnTo>
                    <a:pt x="3430270" y="13282"/>
                  </a:lnTo>
                  <a:lnTo>
                    <a:pt x="3441700" y="12700"/>
                  </a:lnTo>
                </a:path>
              </a:pathLst>
            </a:custGeom>
            <a:noFill/>
            <a:ln w="22860">
              <a:solidFill>
                <a:srgbClr val="D61016"/>
              </a:solidFill>
            </a:ln>
          </p:spPr>
          <p:txBody>
            <a:bodyPr/>
            <a:lstStyle/>
            <a:p>
              <a:endParaRPr lang="en-NL"/>
            </a:p>
          </p:txBody>
        </p:sp>
      </p:gr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Choose Θ so the nonlinearity is dissipative</a:t>
            </a:r>
            <a:endParaRPr sz="2500"/>
          </a:p>
        </p:txBody>
      </p:sp>
      <mc:AlternateContent xmlns:mc="http://schemas.openxmlformats.org/markup-compatibility/2006" xmlns:a14="http://schemas.microsoft.com/office/drawing/2010/main">
        <mc:Choice Requires="a14">
          <p:sp>
            <p:nvSpPr>
              <p:cNvPr id="1002" name="Parameterize Theta"/>
              <p:cNvSpPr/>
              <p:nvPr/>
            </p:nvSpPr>
            <p:spPr>
              <a:xfrm>
                <a:off x="317500" y="1028700"/>
                <a:ext cx="8509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d>
                        <m:dPr>
                          <m:ctrlPr>
                            <a:rPr sz="2500">
                              <a:solidFill>
                                <a:srgbClr val="252529"/>
                              </a:solidFill>
                              <a:latin typeface="Cambria Math"/>
                            </a:rPr>
                          </m:ctrlPr>
                        </m:dPr>
                        <m:e>
                          <m:r>
                            <a:rPr sz="2500">
                              <a:solidFill>
                                <a:srgbClr val="252529"/>
                              </a:solidFill>
                              <a:latin typeface="Cambria Math"/>
                            </a:rPr>
                            <m:t>𝑣</m:t>
                          </m:r>
                        </m:e>
                      </m:d>
                      <m:r>
                        <a:rPr sz="2500">
                          <a:solidFill>
                            <a:srgbClr val="252529"/>
                          </a:solidFill>
                          <a:latin typeface="Cambria Math"/>
                        </a:rPr>
                        <m:t>=</m:t>
                      </m:r>
                      <m:d>
                        <m:dPr>
                          <m:begChr m:val="["/>
                          <m:endChr m:val="]"/>
                          <m:ctrlPr>
                            <a:rPr sz="2500" i="1">
                              <a:solidFill>
                                <a:srgbClr val="252529"/>
                              </a:solidFill>
                              <a:latin typeface="Cambria Math" panose="02040503050406030204" pitchFamily="18" charset="0"/>
                            </a:rPr>
                          </m:ctrlPr>
                        </m:dPr>
                        <m:e>
                          <m:m>
                            <m:mPr>
                              <m:mcs>
                                <m:mc>
                                  <m:mcPr>
                                    <m:count m:val="2"/>
                                    <m:mcJc m:val="center"/>
                                  </m:mcPr>
                                </m:mc>
                              </m:mcs>
                              <m:ctrlPr>
                                <a:rPr sz="2500" i="1">
                                  <a:solidFill>
                                    <a:srgbClr val="252529"/>
                                  </a:solidFill>
                                  <a:latin typeface="Cambria Math" panose="02040503050406030204" pitchFamily="18" charset="0"/>
                                </a:rPr>
                              </m:ctrlPr>
                            </m:mPr>
                            <m:mr>
                              <m:e>
                                <m:r>
                                  <a:rPr sz="2500">
                                    <a:solidFill>
                                      <a:srgbClr val="252529"/>
                                    </a:solidFill>
                                    <a:latin typeface="Cambria Math"/>
                                  </a:rPr>
                                  <m:t>𝑣</m:t>
                                </m:r>
                              </m:e>
                              <m:e>
                                <m:r>
                                  <a:rPr sz="2500">
                                    <a:solidFill>
                                      <a:srgbClr val="252529"/>
                                    </a:solidFill>
                                    <a:latin typeface="Cambria Math"/>
                                  </a:rPr>
                                  <m:t>1</m:t>
                                </m:r>
                              </m:e>
                            </m:mr>
                            <m:mr>
                              <m:e>
                                <m:r>
                                  <a:rPr sz="2500">
                                    <a:solidFill>
                                      <a:srgbClr val="252529"/>
                                    </a:solidFill>
                                    <a:latin typeface="Cambria Math"/>
                                  </a:rPr>
                                  <m:t>𝑣</m:t>
                                </m:r>
                              </m:e>
                              <m:e>
                                <m:r>
                                  <a:rPr sz="2500">
                                    <a:solidFill>
                                      <a:srgbClr val="252529"/>
                                    </a:solidFill>
                                    <a:latin typeface="Cambria Math"/>
                                  </a:rPr>
                                  <m:t>−1</m:t>
                                </m:r>
                              </m:e>
                            </m:mr>
                          </m:m>
                        </m:e>
                      </m:d>
                      <m:d>
                        <m:dPr>
                          <m:begChr m:val="["/>
                          <m:endChr m:val="]"/>
                          <m:ctrlPr>
                            <a:rPr sz="2500" i="1">
                              <a:solidFill>
                                <a:srgbClr val="252529"/>
                              </a:solidFill>
                              <a:latin typeface="Cambria Math" panose="02040503050406030204" pitchFamily="18" charset="0"/>
                            </a:rPr>
                          </m:ctrlPr>
                        </m:dPr>
                        <m:e>
                          <m:m>
                            <m:mPr>
                              <m:mcs>
                                <m:mc>
                                  <m:mcPr>
                                    <m:count m:val="2"/>
                                    <m:mcJc m:val="center"/>
                                  </m:mcPr>
                                </m:mc>
                              </m:mcs>
                              <m:ctrlPr>
                                <a:rPr sz="2500" i="1">
                                  <a:solidFill>
                                    <a:srgbClr val="252529"/>
                                  </a:solidFill>
                                  <a:latin typeface="Cambria Math" panose="02040503050406030204" pitchFamily="18" charset="0"/>
                                </a:rPr>
                              </m:ctrlPr>
                            </m:mPr>
                            <m:mr>
                              <m:e>
                                <m:r>
                                  <a:rPr sz="2500">
                                    <a:solidFill>
                                      <a:srgbClr val="252529"/>
                                    </a:solidFill>
                                    <a:latin typeface="Cambria Math"/>
                                  </a:rPr>
                                  <m:t>𝛽</m:t>
                                </m:r>
                              </m:e>
                              <m:e>
                                <m:r>
                                  <a:rPr sz="2500">
                                    <a:solidFill>
                                      <a:srgbClr val="252529"/>
                                    </a:solidFill>
                                    <a:latin typeface="Cambria Math"/>
                                  </a:rPr>
                                  <m:t>−1</m:t>
                                </m:r>
                              </m:e>
                            </m:mr>
                            <m:mr>
                              <m:e>
                                <m:r>
                                  <a:rPr sz="2500">
                                    <a:solidFill>
                                      <a:srgbClr val="252529"/>
                                    </a:solidFill>
                                    <a:latin typeface="Cambria Math"/>
                                  </a:rPr>
                                  <m:t>−</m:t>
                                </m:r>
                                <m:r>
                                  <a:rPr sz="2500">
                                    <a:solidFill>
                                      <a:srgbClr val="252529"/>
                                    </a:solidFill>
                                    <a:latin typeface="Cambria Math"/>
                                  </a:rPr>
                                  <m:t>𝛼</m:t>
                                </m:r>
                              </m:e>
                              <m:e>
                                <m:r>
                                  <a:rPr sz="2500">
                                    <a:solidFill>
                                      <a:srgbClr val="252529"/>
                                    </a:solidFill>
                                    <a:latin typeface="Cambria Math"/>
                                  </a:rPr>
                                  <m:t>1</m:t>
                                </m:r>
                              </m:e>
                            </m:mr>
                          </m:m>
                        </m:e>
                      </m:d>
                      <m:r>
                        <a:rPr sz="2500">
                          <a:solidFill>
                            <a:srgbClr val="252529"/>
                          </a:solidFill>
                          <a:latin typeface="Cambria Math"/>
                        </a:rPr>
                        <m:t>,  </m:t>
                      </m:r>
                      <m:r>
                        <a:rPr sz="2500">
                          <a:solidFill>
                            <a:srgbClr val="252529"/>
                          </a:solidFill>
                          <a:latin typeface="Cambria Math"/>
                        </a:rPr>
                        <m:t>𝑣</m:t>
                      </m:r>
                      <m:r>
                        <a:rPr sz="2500">
                          <a:solidFill>
                            <a:srgbClr val="252529"/>
                          </a:solidFill>
                          <a:latin typeface="Cambria Math"/>
                        </a:rPr>
                        <m:t>&gt;0</m:t>
                      </m:r>
                    </m:oMath>
                  </m:oMathPara>
                </a14:m>
                <a:endParaRPr sz="2500"/>
              </a:p>
            </p:txBody>
          </p:sp>
        </mc:Choice>
        <mc:Fallback xmlns="" xmlns:m="http://schemas.openxmlformats.org/officeDocument/2006/math">
          <p:sp>
            <p:nvSpPr>
              <p:cNvPr id="1002" name="Parameterize Theta"/>
              <p:cNvSpPr>
                <a:spLocks noRot="1" noChangeAspect="1" noMove="1" noResize="1" noEditPoints="1" noAdjustHandles="1" noChangeArrowheads="1" noChangeShapeType="1" noTextEdit="1"/>
              </p:cNvSpPr>
              <p:nvPr/>
            </p:nvSpPr>
            <p:spPr>
              <a:xfrm>
                <a:off x="317500" y="1028700"/>
                <a:ext cx="8509000" cy="889000"/>
              </a:xfrm>
              <a:prstGeom prst="rect">
                <a:avLst/>
              </a:prstGeom>
              <a:blipFill>
                <a:blip r:embed="rIdSectorRefinement36_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Transformed gaps"/>
              <p:cNvSpPr/>
              <p:nvPr/>
            </p:nvSpPr>
            <p:spPr>
              <a:xfrm>
                <a:off x="444500" y="1935480"/>
                <a:ext cx="8255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400">
                              <a:solidFill>
                                <a:srgbClr val="252529"/>
                              </a:solidFill>
                              <a:latin typeface="Cambria Math"/>
                            </a:rPr>
                          </m:ctrlPr>
                        </m:accPr>
                        <m:e>
                          <m:r>
                            <a:rPr sz="2400">
                              <a:solidFill>
                                <a:srgbClr val="252529"/>
                              </a:solidFill>
                              <a:latin typeface="Cambria Math"/>
                            </a:rPr>
                            <m:t>𝑧</m:t>
                          </m:r>
                        </m:e>
                      </m:acc>
                      <m:r>
                        <a:rPr sz="2400">
                          <a:solidFill>
                            <a:srgbClr val="252529"/>
                          </a:solidFill>
                          <a:latin typeface="Cambria Math"/>
                        </a:rPr>
                        <m:t>=</m:t>
                      </m:r>
                      <m:r>
                        <a:rPr sz="2400">
                          <a:solidFill>
                            <a:srgbClr val="252529"/>
                          </a:solidFill>
                          <a:latin typeface="Cambria Math"/>
                        </a:rPr>
                        <m:t>𝑣𝑎</m:t>
                      </m:r>
                      <m:r>
                        <a:rPr sz="2400">
                          <a:solidFill>
                            <a:srgbClr val="252529"/>
                          </a:solidFill>
                          <a:latin typeface="Cambria Math"/>
                        </a:rPr>
                        <m:t>+</m:t>
                      </m:r>
                      <m:r>
                        <a:rPr sz="2400">
                          <a:solidFill>
                            <a:srgbClr val="252529"/>
                          </a:solidFill>
                          <a:latin typeface="Cambria Math"/>
                        </a:rPr>
                        <m:t>𝑏</m:t>
                      </m:r>
                      <m:r>
                        <a:rPr sz="2400">
                          <a:solidFill>
                            <a:srgbClr val="252529"/>
                          </a:solidFill>
                          <a:latin typeface="Cambria Math"/>
                        </a:rPr>
                        <m:t>,     </m:t>
                      </m:r>
                      <m:acc>
                        <m:accPr>
                          <m:chr m:val="̃"/>
                          <m:ctrlPr>
                            <a:rPr sz="2400">
                              <a:solidFill>
                                <a:srgbClr val="252529"/>
                              </a:solidFill>
                              <a:latin typeface="Cambria Math"/>
                            </a:rPr>
                          </m:ctrlPr>
                        </m:accPr>
                        <m:e>
                          <m:r>
                            <a:rPr sz="2400">
                              <a:solidFill>
                                <a:srgbClr val="252529"/>
                              </a:solidFill>
                              <a:latin typeface="Cambria Math"/>
                            </a:rPr>
                            <m:t>𝑤</m:t>
                          </m:r>
                        </m:e>
                      </m:acc>
                      <m:r>
                        <a:rPr sz="2400">
                          <a:solidFill>
                            <a:srgbClr val="252529"/>
                          </a:solidFill>
                          <a:latin typeface="Cambria Math"/>
                        </a:rPr>
                        <m:t>=</m:t>
                      </m:r>
                      <m:r>
                        <a:rPr sz="2400">
                          <a:solidFill>
                            <a:srgbClr val="252529"/>
                          </a:solidFill>
                          <a:latin typeface="Cambria Math"/>
                        </a:rPr>
                        <m:t>𝑣𝑎</m:t>
                      </m:r>
                      <m:r>
                        <a:rPr sz="2400">
                          <a:solidFill>
                            <a:srgbClr val="252529"/>
                          </a:solidFill>
                          <a:latin typeface="Cambria Math"/>
                        </a:rPr>
                        <m:t>−</m:t>
                      </m:r>
                      <m:r>
                        <a:rPr sz="2400">
                          <a:solidFill>
                            <a:srgbClr val="252529"/>
                          </a:solidFill>
                          <a:latin typeface="Cambria Math"/>
                        </a:rPr>
                        <m:t>𝑏</m:t>
                      </m:r>
                    </m:oMath>
                  </m:oMathPara>
                </a14:m>
                <a:endParaRPr sz="2400"/>
              </a:p>
            </p:txBody>
          </p:sp>
        </mc:Choice>
        <mc:Fallback xmlns="" xmlns:m="http://schemas.openxmlformats.org/officeDocument/2006/math">
          <p:sp>
            <p:nvSpPr>
              <p:cNvPr id="1003" name="Transformed gaps"/>
              <p:cNvSpPr>
                <a:spLocks noRot="1" noChangeAspect="1" noMove="1" noResize="1" noEditPoints="1" noAdjustHandles="1" noChangeArrowheads="1" noChangeShapeType="1" noTextEdit="1"/>
              </p:cNvSpPr>
              <p:nvPr/>
            </p:nvSpPr>
            <p:spPr>
              <a:xfrm>
                <a:off x="444500" y="1935480"/>
                <a:ext cx="8255000" cy="853440"/>
              </a:xfrm>
              <a:prstGeom prst="rect">
                <a:avLst/>
              </a:prstGeom>
              <a:blipFill>
                <a:blip r:embed="rIdSectorRefinement36_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4" name="Supply identity"/>
              <p:cNvSpPr/>
              <p:nvPr/>
            </p:nvSpPr>
            <p:spPr>
              <a:xfrm>
                <a:off x="254000" y="2827020"/>
                <a:ext cx="863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𝜎</m:t>
                      </m:r>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ctrlPr>
                                <a:rPr sz="2100">
                                  <a:solidFill>
                                    <a:srgbClr val="252529"/>
                                  </a:solidFill>
                                  <a:latin typeface="Cambria Math"/>
                                </a:rPr>
                              </m:ctrlPr>
                            </m:dPr>
                            <m:e>
                              <m:r>
                                <a:rPr sz="2100">
                                  <a:solidFill>
                                    <a:srgbClr val="252529"/>
                                  </a:solidFill>
                                  <a:latin typeface="Cambria Math"/>
                                </a:rPr>
                                <m:t>𝑣𝑎</m:t>
                              </m:r>
                              <m:r>
                                <a:rPr sz="2100">
                                  <a:solidFill>
                                    <a:srgbClr val="252529"/>
                                  </a:solidFill>
                                  <a:latin typeface="Cambria Math"/>
                                </a:rPr>
                                <m:t>+</m:t>
                              </m:r>
                              <m:r>
                                <a:rPr sz="2100">
                                  <a:solidFill>
                                    <a:srgbClr val="252529"/>
                                  </a:solidFill>
                                  <a:latin typeface="Cambria Math"/>
                                </a:rPr>
                                <m:t>𝑏</m:t>
                              </m:r>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ctrlPr>
                                <a:rPr sz="2100">
                                  <a:solidFill>
                                    <a:srgbClr val="252529"/>
                                  </a:solidFill>
                                  <a:latin typeface="Cambria Math"/>
                                </a:rPr>
                              </m:ctrlPr>
                            </m:dPr>
                            <m:e>
                              <m:r>
                                <a:rPr sz="2100">
                                  <a:solidFill>
                                    <a:srgbClr val="252529"/>
                                  </a:solidFill>
                                  <a:latin typeface="Cambria Math"/>
                                </a:rPr>
                                <m:t>𝑣𝑎</m:t>
                              </m:r>
                              <m:r>
                                <a:rPr sz="2100">
                                  <a:solidFill>
                                    <a:srgbClr val="252529"/>
                                  </a:solidFill>
                                  <a:latin typeface="Cambria Math"/>
                                </a:rPr>
                                <m:t>−</m:t>
                              </m:r>
                              <m:r>
                                <a:rPr sz="2100">
                                  <a:solidFill>
                                    <a:srgbClr val="252529"/>
                                  </a:solidFill>
                                  <a:latin typeface="Cambria Math"/>
                                </a:rPr>
                                <m:t>𝑏</m:t>
                              </m:r>
                            </m:e>
                          </m:d>
                        </m:e>
                        <m:sup>
                          <m:r>
                            <a:rPr sz="2100">
                              <a:solidFill>
                                <a:srgbClr val="252529"/>
                              </a:solidFill>
                              <a:latin typeface="Cambria Math"/>
                            </a:rPr>
                            <m:t>2</m:t>
                          </m:r>
                        </m:sup>
                      </m:sSup>
                      <m:r>
                        <a:rPr sz="2100">
                          <a:solidFill>
                            <a:srgbClr val="147C60"/>
                          </a:solidFill>
                          <a:latin typeface="Cambria Math"/>
                        </a:rPr>
                        <m:t>=4</m:t>
                      </m:r>
                      <m:r>
                        <a:rPr sz="2100">
                          <a:solidFill>
                            <a:srgbClr val="147C60"/>
                          </a:solidFill>
                          <a:latin typeface="Cambria Math"/>
                        </a:rPr>
                        <m:t>𝑣𝑎𝑏</m:t>
                      </m:r>
                      <m:r>
                        <a:rPr sz="2100">
                          <a:solidFill>
                            <a:srgbClr val="147C60"/>
                          </a:solidFill>
                          <a:latin typeface="Cambria Math"/>
                        </a:rPr>
                        <m:t>≥0</m:t>
                      </m:r>
                    </m:oMath>
                  </m:oMathPara>
                </a14:m>
                <a:endParaRPr sz="2100"/>
              </a:p>
            </p:txBody>
          </p:sp>
        </mc:Choice>
        <mc:Fallback xmlns="" xmlns:m="http://schemas.openxmlformats.org/officeDocument/2006/math">
          <p:sp>
            <p:nvSpPr>
              <p:cNvPr id="1004" name="Supply identity"/>
              <p:cNvSpPr>
                <a:spLocks noRot="1" noChangeAspect="1" noMove="1" noResize="1" noEditPoints="1" noAdjustHandles="1" noChangeArrowheads="1" noChangeShapeType="1" noTextEdit="1"/>
              </p:cNvSpPr>
              <p:nvPr/>
            </p:nvSpPr>
            <p:spPr>
              <a:xfrm>
                <a:off x="254000" y="2827020"/>
                <a:ext cx="8636000" cy="746760"/>
              </a:xfrm>
              <a:prstGeom prst="rect">
                <a:avLst/>
              </a:prstGeom>
              <a:blipFill>
                <a:blip r:embed="rIdSectorRefinement36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5" name="Delta dissipativity"/>
              <p:cNvSpPr/>
              <p:nvPr/>
            </p:nvSpPr>
            <p:spPr>
              <a:xfrm>
                <a:off x="444500" y="3604260"/>
                <a:ext cx="82550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2300">
                              <a:solidFill>
                                <a:srgbClr val="252529"/>
                              </a:solidFill>
                              <a:latin typeface="Cambria Math"/>
                            </a:rPr>
                          </m:ctrlPr>
                        </m:naryPr>
                        <m:sub>
                          <m:r>
                            <a:rPr sz="2300">
                              <a:solidFill>
                                <a:srgbClr val="252529"/>
                              </a:solidFill>
                              <a:latin typeface="Cambria Math"/>
                            </a:rPr>
                            <m:t>0</m:t>
                          </m:r>
                        </m:sub>
                        <m:sup>
                          <m:r>
                            <a:rPr sz="2300">
                              <a:solidFill>
                                <a:srgbClr val="252529"/>
                              </a:solidFill>
                              <a:latin typeface="Cambria Math"/>
                            </a:rPr>
                            <m:t>𝑇</m:t>
                          </m:r>
                        </m:sup>
                        <m:e>
                          <m:r>
                            <a:rPr sz="2300">
                              <a:solidFill>
                                <a:srgbClr val="252529"/>
                              </a:solidFill>
                              <a:latin typeface="Cambria Math"/>
                            </a:rPr>
                            <m:t>𝜎</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𝑑𝑡</m:t>
                          </m:r>
                        </m:e>
                      </m:nary>
                      <m:r>
                        <a:rPr sz="2300">
                          <a:solidFill>
                            <a:srgbClr val="252529"/>
                          </a:solidFill>
                          <a:latin typeface="Cambria Math"/>
                        </a:rPr>
                        <m:t>≥0,  ∀</m:t>
                      </m:r>
                      <m:r>
                        <a:rPr sz="2300">
                          <a:solidFill>
                            <a:srgbClr val="252529"/>
                          </a:solidFill>
                          <a:latin typeface="Cambria Math"/>
                        </a:rPr>
                        <m:t>𝑇</m:t>
                      </m:r>
                      <m:r>
                        <a:rPr sz="2300">
                          <a:solidFill>
                            <a:srgbClr val="252529"/>
                          </a:solidFill>
                          <a:latin typeface="Cambria Math"/>
                        </a:rPr>
                        <m:t>≥0</m:t>
                      </m:r>
                    </m:oMath>
                  </m:oMathPara>
                </a14:m>
                <a:endParaRPr sz="2300"/>
              </a:p>
            </p:txBody>
          </p:sp>
        </mc:Choice>
        <mc:Fallback xmlns="" xmlns:m="http://schemas.openxmlformats.org/officeDocument/2006/math">
          <p:sp>
            <p:nvSpPr>
              <p:cNvPr id="1005" name="Delta dissipativity"/>
              <p:cNvSpPr>
                <a:spLocks noRot="1" noChangeAspect="1" noMove="1" noResize="1" noEditPoints="1" noAdjustHandles="1" noChangeArrowheads="1" noChangeShapeType="1" noTextEdit="1"/>
              </p:cNvSpPr>
              <p:nvPr/>
            </p:nvSpPr>
            <p:spPr>
              <a:xfrm>
                <a:off x="444500" y="3604260"/>
                <a:ext cx="8255000" cy="817880"/>
              </a:xfrm>
              <a:prstGeom prst="rect">
                <a:avLst/>
              </a:prstGeom>
              <a:blipFill>
                <a:blip r:embed="rIdSectorRefinement36_3"/>
                <a:stretch>
                  <a:fillRect/>
                </a:stretch>
              </a:blipFill>
              <a:ln>
                <a:noFill/>
              </a:ln>
            </p:spPr>
            <p:txBody>
              <a:bodyPr/>
              <a:lstStyle/>
              <a:p>
                <a:r>
                  <a:rPr lang="en-NL">
                    <a:noFill/>
                  </a:rPr>
                  <a:t> </a:t>
                </a:r>
              </a:p>
            </p:txBody>
          </p:sp>
        </mc:Fallback>
      </mc:AlternateContent>
      <p:sp>
        <p:nvSpPr>
          <p:cNvPr id="1006" name="Dissipativity meaning"/>
          <p:cNvSpPr/>
          <p:nvPr/>
        </p:nvSpPr>
        <p:spPr>
          <a:xfrm>
            <a:off x="317500" y="4492625"/>
            <a:ext cx="8509000" cy="285750"/>
          </a:xfrm>
          <a:prstGeom prst="rect">
            <a:avLst/>
          </a:prstGeom>
          <a:noFill/>
          <a:ln>
            <a:noFill/>
          </a:ln>
        </p:spPr>
        <p:txBody>
          <a:bodyPr wrap="none" lIns="0" tIns="0" rIns="0" bIns="0" anchor="ctr">
            <a:noAutofit/>
          </a:bodyPr>
          <a:lstStyle/>
          <a:p>
            <a:pPr algn="ctr">
              <a:buNone/>
            </a:pPr>
            <a:r>
              <a:rPr lang="en-GB" sz="1500" b="0" i="0" u="none" baseline="0">
                <a:solidFill>
                  <a:srgbClr val="147C60"/>
                </a:solidFill>
                <a:latin typeface="Aptos"/>
                <a:ea typeface="Aptos"/>
                <a:cs typeface="Aptos"/>
              </a:rPr>
              <a:t>The transformed output energy cannot exceed the input energy.</a:t>
            </a:r>
            <a:endParaRPr sz="1500"/>
          </a:p>
        </p:txBody>
      </p:sp>
      <p:sp>
        <p:nvSpPr>
          <p:cNvPr id="1007"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08"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36</a:t>
            </a:r>
            <a:endParaRPr sz="800"/>
          </a:p>
        </p:txBody>
      </p:sp>
    </p:spTree>
  </p:cSld>
  <p:clrMapOvr>
    <a:masterClrMapping/>
  </p:clrMapOvr>
  <mc:AlternateContent xmlns:mc="http://schemas.openxmlformats.org/markup-compatibility/2006" xmlns:p14="http://schemas.microsoft.com/office/powerpoint/2010/main">
    <mc:Choice Requires="p14">
      <p:transition p14:dur="450">
        <p:fade/>
      </p:transition>
    </mc:Choice>
    <mc:Fallback xmlns="" xmlns:m="http://schemas.openxmlformats.org/officeDocument/2006/math" xmlns:a14="http://schemas.microsoft.com/office/drawing/2010/main">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3"/>
                                        </p:tgtEl>
                                        <p:attrNameLst>
                                          <p:attrName>style.visibility</p:attrName>
                                        </p:attrNameLst>
                                      </p:cBhvr>
                                      <p:to>
                                        <p:strVal val="visible"/>
                                      </p:to>
                                    </p:set>
                                    <p:animEffect transition="in" filter="fade">
                                      <p:cBhvr>
                                        <p:cTn id="7" dur="500"/>
                                        <p:tgtEl>
                                          <p:spTgt spid="100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04"/>
                                        </p:tgtEl>
                                        <p:attrNameLst>
                                          <p:attrName>style.visibility</p:attrName>
                                        </p:attrNameLst>
                                      </p:cBhvr>
                                      <p:to>
                                        <p:strVal val="visible"/>
                                      </p:to>
                                    </p:set>
                                    <p:animEffect transition="in" filter="fade">
                                      <p:cBhvr>
                                        <p:cTn id="12" dur="500"/>
                                        <p:tgtEl>
                                          <p:spTgt spid="100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05"/>
                                        </p:tgtEl>
                                        <p:attrNameLst>
                                          <p:attrName>style.visibility</p:attrName>
                                        </p:attrNameLst>
                                      </p:cBhvr>
                                      <p:to>
                                        <p:strVal val="visible"/>
                                      </p:to>
                                    </p:set>
                                    <p:animEffect transition="in" filter="fade">
                                      <p:cBhvr>
                                        <p:cTn id="17" dur="500"/>
                                        <p:tgtEl>
                                          <p:spTgt spid="1005"/>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006"/>
                                        </p:tgtEl>
                                        <p:attrNameLst>
                                          <p:attrName>style.visibility</p:attrName>
                                        </p:attrNameLst>
                                      </p:cBhvr>
                                      <p:to>
                                        <p:strVal val="visible"/>
                                      </p:to>
                                    </p:set>
                                    <p:animEffect transition="in" filter="fade">
                                      <p:cBhvr>
                                        <p:cTn id="20" dur="500"/>
                                        <p:tgtEl>
                                          <p:spTgt spid="10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3" grpId="0"/>
      <p:bldP spid="1004" grpId="0"/>
      <p:bldP spid="1005" grpId="0"/>
      <p:bldP spid="1006" grpId="0"/>
    </p:bldLst>
  </p:timing>
</p:sld>
</file>

<file path=ppt/slides/slide3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37</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m="http://schemas.openxmlformats.org/officeDocument/2006/math" xmlns="">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 xmlns:m="http://schemas.openxmlformats.org/officeDocument/2006/math" xmlns:a14="http://schemas.microsoft.com/office/drawing/2010/main">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Accumulated supply</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12000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900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600">
                              <a:solidFill>
                                <a:srgbClr val="252529"/>
                              </a:solidFill>
                              <a:latin typeface="Cambria Math"/>
                            </a:rPr>
                          </m:ctrlPr>
                        </m:naryPr>
                        <m:sub>
                          <m:r>
                            <a:rPr sz="1600">
                              <a:solidFill>
                                <a:srgbClr val="252529"/>
                              </a:solidFill>
                              <a:latin typeface="Cambria Math"/>
                            </a:rPr>
                            <m:t>0</m:t>
                          </m:r>
                        </m:sub>
                        <m:sup>
                          <m:r>
                            <a:rPr sz="1600">
                              <a:solidFill>
                                <a:srgbClr val="252529"/>
                              </a:solidFill>
                              <a:latin typeface="Cambria Math"/>
                            </a:rPr>
                            <m:t>𝑇</m:t>
                          </m:r>
                        </m:sup>
                        <m:e>
                          <m:sSub>
                            <m:sSubPr>
                              <m:ctrlPr>
                                <a:rPr sz="1600">
                                  <a:solidFill>
                                    <a:srgbClr val="252529"/>
                                  </a:solidFill>
                                  <a:latin typeface="Cambria Math"/>
                                </a:rPr>
                              </m:ctrlPr>
                            </m:sSubPr>
                            <m:e>
                              <m:r>
                                <a:rPr sz="1600">
                                  <a:solidFill>
                                    <a:srgbClr val="252529"/>
                                  </a:solidFill>
                                  <a:latin typeface="Cambria Math"/>
                                </a:rPr>
                                <m:t>𝜎</m:t>
                              </m:r>
                            </m:e>
                            <m:sub>
                              <m:r>
                                <a:rPr sz="1600">
                                  <a:solidFill>
                                    <a:srgbClr val="252529"/>
                                  </a:solidFill>
                                  <a:latin typeface="Cambria Math"/>
                                </a:rPr>
                                <m:t>𝑖</m:t>
                              </m:r>
                            </m:sub>
                          </m:sSub>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𝑑𝑡</m:t>
                          </m:r>
                        </m:e>
                      </m:nary>
                      <m:r>
                        <a:rPr sz="1600">
                          <a:solidFill>
                            <a:srgbClr val="252529"/>
                          </a:solidFill>
                          <a:latin typeface="Cambria Math"/>
                        </a:rPr>
                        <m:t>≥0</m:t>
                      </m:r>
                    </m:oMath>
                  </m:oMathPara>
                </a14:m>
                <a:endParaRPr sz="1600"/>
              </a:p>
            </p:txBody>
          </p:sp>
        </mc:Choice>
        <mc:Fallback xmlns="">
          <p:sp>
            <p:nvSpPr>
              <p:cNvPr id="900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Why the PIE–Δ interconnection is stable</a:t>
            </a:r>
            <a:endParaRPr sz="2500"/>
          </a:p>
        </p:txBody>
      </p:sp>
      <p:sp>
        <p:nvSpPr>
          <p:cNvPr id="1002" name="Delta role"/>
          <p:cNvSpPr/>
          <p:nvPr/>
        </p:nvSpPr>
        <p:spPr>
          <a:xfrm>
            <a:off x="4210050" y="1028700"/>
            <a:ext cx="46355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The sector gives</a:t>
            </a:r>
            <a:endParaRPr sz="1600"/>
          </a:p>
        </p:txBody>
      </p:sp>
      <mc:AlternateContent xmlns:mc="http://schemas.openxmlformats.org/markup-compatibility/2006" xmlns:a14="http://schemas.microsoft.com/office/drawing/2010/main">
        <mc:Choice Requires="a14">
          <p:sp>
            <p:nvSpPr>
              <p:cNvPr id="1003" name="Delta supply"/>
              <p:cNvSpPr/>
              <p:nvPr/>
            </p:nvSpPr>
            <p:spPr>
              <a:xfrm>
                <a:off x="4114800" y="13919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𝜎</m:t>
                      </m:r>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147C60"/>
                          </a:solidFill>
                          <a:latin typeface="Cambria Math"/>
                        </a:rPr>
                        <m:t>≥0</m:t>
                      </m:r>
                    </m:oMath>
                  </m:oMathPara>
                </a14:m>
                <a:endParaRPr sz="2100"/>
              </a:p>
            </p:txBody>
          </p:sp>
        </mc:Choice>
        <mc:Fallback xmlns="" xmlns:m="http://schemas.openxmlformats.org/officeDocument/2006/math">
          <p:sp>
            <p:nvSpPr>
              <p:cNvPr id="1003" name="Delta supply"/>
              <p:cNvSpPr>
                <a:spLocks noRot="1" noChangeAspect="1" noMove="1" noResize="1" noEditPoints="1" noAdjustHandles="1" noChangeArrowheads="1" noChangeShapeType="1" noTextEdit="1"/>
              </p:cNvSpPr>
              <p:nvPr/>
            </p:nvSpPr>
            <p:spPr>
              <a:xfrm>
                <a:off x="4114800" y="1391920"/>
                <a:ext cx="4826000" cy="746760"/>
              </a:xfrm>
              <a:prstGeom prst="rect">
                <a:avLst/>
              </a:prstGeom>
              <a:blipFill>
                <a:blip r:embed="rIdSectorRefinement39_2"/>
                <a:stretch>
                  <a:fillRect/>
                </a:stretch>
              </a:blipFill>
              <a:ln>
                <a:noFill/>
              </a:ln>
            </p:spPr>
            <p:txBody>
              <a:bodyPr/>
              <a:lstStyle/>
              <a:p>
                <a:r>
                  <a:rPr lang="en-NL">
                    <a:noFill/>
                  </a:rPr>
                  <a:t> </a:t>
                </a:r>
              </a:p>
            </p:txBody>
          </p:sp>
        </mc:Fallback>
      </mc:AlternateContent>
      <p:sp>
        <p:nvSpPr>
          <p:cNvPr id="1004" name="PIE role"/>
          <p:cNvSpPr/>
          <p:nvPr/>
        </p:nvSpPr>
        <p:spPr>
          <a:xfrm>
            <a:off x="4114800" y="2333625"/>
            <a:ext cx="4826000" cy="2857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Require the PIE to dissipate that supply:</a:t>
            </a:r>
            <a:endParaRPr sz="1500"/>
          </a:p>
        </p:txBody>
      </p:sp>
      <mc:AlternateContent xmlns:mc="http://schemas.openxmlformats.org/markup-compatibility/2006" xmlns:a14="http://schemas.microsoft.com/office/drawing/2010/main">
        <mc:Choice Requires="a14">
          <p:sp>
            <p:nvSpPr>
              <p:cNvPr id="1005" name="PIE decay"/>
              <p:cNvSpPr/>
              <p:nvPr/>
            </p:nvSpPr>
            <p:spPr>
              <a:xfrm>
                <a:off x="4114800" y="2692400"/>
                <a:ext cx="48260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𝑉</m:t>
                          </m:r>
                        </m:e>
                      </m:acc>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𝑤</m:t>
                                  </m:r>
                                </m:e>
                              </m:acc>
                            </m:e>
                          </m:d>
                        </m:e>
                        <m:sup>
                          <m:r>
                            <a:rPr sz="2000">
                              <a:solidFill>
                                <a:srgbClr val="252529"/>
                              </a:solidFill>
                              <a:latin typeface="Cambria Math"/>
                            </a:rPr>
                            <m:t>2</m:t>
                          </m:r>
                        </m:sup>
                      </m:sSup>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𝑧</m:t>
                                  </m:r>
                                </m:e>
                              </m:acc>
                            </m:e>
                          </m:d>
                        </m:e>
                        <m:sup>
                          <m:r>
                            <a:rPr sz="2000">
                              <a:solidFill>
                                <a:srgbClr val="252529"/>
                              </a:solidFill>
                              <a:latin typeface="Cambria Math"/>
                            </a:rPr>
                            <m:t>2</m:t>
                          </m:r>
                        </m:sup>
                      </m:sSup>
                      <m:r>
                        <a:rPr sz="2000">
                          <a:solidFill>
                            <a:srgbClr val="252529"/>
                          </a:solidFill>
                          <a:latin typeface="Cambria Math"/>
                        </a:rPr>
                        <m:t>−</m:t>
                      </m:r>
                      <m:r>
                        <a:rPr sz="2000">
                          <a:solidFill>
                            <a:srgbClr val="252529"/>
                          </a:solidFill>
                          <a:latin typeface="Cambria Math"/>
                        </a:rPr>
                        <m:t>𝜀</m:t>
                      </m:r>
                      <m:sSup>
                        <m:sSupPr>
                          <m:ctrlPr>
                            <a:rPr sz="2000" i="1">
                              <a:solidFill>
                                <a:srgbClr val="252529"/>
                              </a:solidFill>
                              <a:latin typeface="Cambria Math" panose="02040503050406030204" pitchFamily="18" charset="0"/>
                            </a:rPr>
                          </m:ctrlPr>
                        </m:sSupPr>
                        <m:e>
                          <m:d>
                            <m:dPr>
                              <m:begChr m:val="‖"/>
                              <m:endChr m:val="‖"/>
                              <m:ctrlPr>
                                <a:rPr sz="2000">
                                  <a:solidFill>
                                    <a:srgbClr val="252529"/>
                                  </a:solidFill>
                                  <a:latin typeface="Cambria Math"/>
                                </a:rPr>
                              </m:ctrlPr>
                            </m:dPr>
                            <m:e>
                              <m:r>
                                <a:rPr sz="2000">
                                  <a:solidFill>
                                    <a:srgbClr val="252529"/>
                                  </a:solidFill>
                                  <a:latin typeface="Cambria Math"/>
                                </a:rPr>
                                <m:t>𝑥</m:t>
                              </m:r>
                            </m:e>
                          </m:d>
                        </m:e>
                        <m:sup>
                          <m:r>
                            <a:rPr sz="2000">
                              <a:solidFill>
                                <a:srgbClr val="252529"/>
                              </a:solidFill>
                              <a:latin typeface="Cambria Math"/>
                            </a:rPr>
                            <m:t>2</m:t>
                          </m:r>
                        </m:sup>
                      </m:sSup>
                    </m:oMath>
                  </m:oMathPara>
                </a14:m>
                <a:endParaRPr sz="2000"/>
              </a:p>
            </p:txBody>
          </p:sp>
        </mc:Choice>
        <mc:Fallback xmlns="" xmlns:m="http://schemas.openxmlformats.org/officeDocument/2006/math">
          <p:sp>
            <p:nvSpPr>
              <p:cNvPr id="1005" name="PIE decay"/>
              <p:cNvSpPr>
                <a:spLocks noRot="1" noChangeAspect="1" noMove="1" noResize="1" noEditPoints="1" noAdjustHandles="1" noChangeArrowheads="1" noChangeShapeType="1" noTextEdit="1"/>
              </p:cNvSpPr>
              <p:nvPr/>
            </p:nvSpPr>
            <p:spPr>
              <a:xfrm>
                <a:off x="4114800" y="2692400"/>
                <a:ext cx="4826000" cy="711200"/>
              </a:xfrm>
              <a:prstGeom prst="rect">
                <a:avLst/>
              </a:prstGeom>
              <a:blipFill>
                <a:blip r:embed="rIdSectorRefinement39_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Closed loop decay"/>
              <p:cNvSpPr/>
              <p:nvPr/>
            </p:nvSpPr>
            <p:spPr>
              <a:xfrm>
                <a:off x="4114800" y="3251200"/>
                <a:ext cx="4826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  </m:t>
                      </m:r>
                      <m:acc>
                        <m:accPr>
                          <m:chr m:val="̇"/>
                          <m:ctrlPr>
                            <a:rPr sz="2500">
                              <a:solidFill>
                                <a:srgbClr val="252529"/>
                              </a:solidFill>
                              <a:latin typeface="Cambria Math"/>
                            </a:rPr>
                          </m:ctrlPr>
                        </m:accPr>
                        <m:e>
                          <m:r>
                            <a:rPr sz="2500">
                              <a:solidFill>
                                <a:srgbClr val="252529"/>
                              </a:solidFill>
                              <a:latin typeface="Cambria Math"/>
                            </a:rPr>
                            <m:t>𝑉</m:t>
                          </m:r>
                        </m:e>
                      </m:acc>
                      <m:r>
                        <a:rPr sz="2500">
                          <a:solidFill>
                            <a:srgbClr val="252529"/>
                          </a:solidFill>
                          <a:latin typeface="Cambria Math"/>
                        </a:rPr>
                        <m:t>≤−</m:t>
                      </m:r>
                      <m:r>
                        <a:rPr sz="2500">
                          <a:solidFill>
                            <a:srgbClr val="252529"/>
                          </a:solidFill>
                          <a:latin typeface="Cambria Math"/>
                        </a:rPr>
                        <m:t>𝜀</m:t>
                      </m:r>
                      <m:sSup>
                        <m:sSupPr>
                          <m:ctrlPr>
                            <a:rPr sz="2500" i="1">
                              <a:solidFill>
                                <a:srgbClr val="252529"/>
                              </a:solidFill>
                              <a:latin typeface="Cambria Math" panose="02040503050406030204" pitchFamily="18" charset="0"/>
                            </a:rPr>
                          </m:ctrlPr>
                        </m:sSupPr>
                        <m:e>
                          <m:d>
                            <m:dPr>
                              <m:begChr m:val="‖"/>
                              <m:endChr m:val="‖"/>
                              <m:ctrlPr>
                                <a:rPr sz="2500">
                                  <a:solidFill>
                                    <a:srgbClr val="252529"/>
                                  </a:solidFill>
                                  <a:latin typeface="Cambria Math"/>
                                </a:rPr>
                              </m:ctrlPr>
                            </m:dPr>
                            <m:e>
                              <m:r>
                                <a:rPr sz="2500">
                                  <a:solidFill>
                                    <a:srgbClr val="252529"/>
                                  </a:solidFill>
                                  <a:latin typeface="Cambria Math"/>
                                </a:rPr>
                                <m:t>𝑥</m:t>
                              </m:r>
                            </m:e>
                          </m:d>
                        </m:e>
                        <m:sup>
                          <m:r>
                            <a:rPr sz="2500">
                              <a:solidFill>
                                <a:srgbClr val="252529"/>
                              </a:solidFill>
                              <a:latin typeface="Cambria Math"/>
                            </a:rPr>
                            <m:t>2</m:t>
                          </m:r>
                        </m:sup>
                      </m:sSup>
                      <m:r>
                        <a:rPr sz="2500">
                          <a:solidFill>
                            <a:srgbClr val="147C60"/>
                          </a:solidFill>
                          <a:latin typeface="Cambria Math"/>
                        </a:rPr>
                        <m:t>&lt;0</m:t>
                      </m:r>
                    </m:oMath>
                  </m:oMathPara>
                </a14:m>
                <a:endParaRPr sz="2500"/>
              </a:p>
            </p:txBody>
          </p:sp>
        </mc:Choice>
        <mc:Fallback xmlns="" xmlns:m="http://schemas.openxmlformats.org/officeDocument/2006/math">
          <p:sp>
            <p:nvSpPr>
              <p:cNvPr id="1006" name="Closed loop decay"/>
              <p:cNvSpPr>
                <a:spLocks noRot="1" noChangeAspect="1" noMove="1" noResize="1" noEditPoints="1" noAdjustHandles="1" noChangeArrowheads="1" noChangeShapeType="1" noTextEdit="1"/>
              </p:cNvSpPr>
              <p:nvPr/>
            </p:nvSpPr>
            <p:spPr>
              <a:xfrm>
                <a:off x="4114800" y="3251200"/>
                <a:ext cx="4826000" cy="889000"/>
              </a:xfrm>
              <a:prstGeom prst="rect">
                <a:avLst/>
              </a:prstGeom>
              <a:blipFill>
                <a:blip r:embed="rIdSectorRefinement39_9"/>
                <a:stretch>
                  <a:fillRect/>
                </a:stretch>
              </a:blipFill>
              <a:ln>
                <a:noFill/>
              </a:ln>
            </p:spPr>
            <p:txBody>
              <a:bodyPr/>
              <a:lstStyle/>
              <a:p>
                <a:r>
                  <a:rPr lang="en-NL">
                    <a:noFill/>
                  </a:rPr>
                  <a:t> </a:t>
                </a:r>
              </a:p>
            </p:txBody>
          </p:sp>
        </mc:Fallback>
      </mc:AlternateContent>
      <p:sp>
        <p:nvSpPr>
          <p:cNvPr id="1007" name="Energy intuition"/>
          <p:cNvSpPr/>
          <p:nvPr/>
        </p:nvSpPr>
        <p:spPr>
          <a:xfrm>
            <a:off x="317500" y="4117975"/>
            <a:ext cx="8509000" cy="323850"/>
          </a:xfrm>
          <a:prstGeom prst="rect">
            <a:avLst/>
          </a:prstGeom>
          <a:noFill/>
          <a:ln>
            <a:noFill/>
          </a:ln>
        </p:spPr>
        <p:txBody>
          <a:bodyPr wrap="none" lIns="0" tIns="0" rIns="0" bIns="0" anchor="ctr">
            <a:noAutofit/>
          </a:bodyPr>
          <a:lstStyle/>
          <a:p>
            <a:pPr algn="ctr">
              <a:buNone/>
            </a:pPr>
            <a:r>
              <a:rPr lang="en-GB" sz="1700" b="0" i="0" u="none" baseline="0">
                <a:solidFill>
                  <a:srgbClr val="147C60"/>
                </a:solidFill>
                <a:latin typeface="Aptos"/>
                <a:ea typeface="Aptos"/>
                <a:cs typeface="Aptos"/>
              </a:rPr>
              <a:t>With no external input, the stored energy V can only decrease.</a:t>
            </a:r>
            <a:endParaRPr sz="1700"/>
          </a:p>
        </p:txBody>
      </p:sp>
      <mc:AlternateContent xmlns:mc="http://schemas.openxmlformats.org/markup-compatibility/2006" xmlns:a14="http://schemas.microsoft.com/office/drawing/2010/main">
        <mc:Choice Requires="a14">
          <p:sp>
            <p:nvSpPr>
              <p:cNvPr id="1008" name="Storage qualification"/>
              <p:cNvSpPr/>
              <p:nvPr/>
            </p:nvSpPr>
            <p:spPr>
              <a:xfrm>
                <a:off x="444500" y="4493260"/>
                <a:ext cx="8255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0&lt;</m:t>
                      </m:r>
                      <m:r>
                        <a:rPr sz="1300">
                          <a:solidFill>
                            <a:srgbClr val="252529"/>
                          </a:solidFill>
                          <a:latin typeface="Cambria Math"/>
                        </a:rPr>
                        <m:t>𝑚</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m:t>
                      </m:r>
                      <m:r>
                        <a:rPr sz="1300">
                          <a:solidFill>
                            <a:srgbClr val="252529"/>
                          </a:solidFill>
                          <a:latin typeface="Cambria Math"/>
                        </a:rPr>
                        <m:t>𝑉</m:t>
                      </m:r>
                      <m:r>
                        <a:rPr sz="1300">
                          <a:solidFill>
                            <a:srgbClr val="252529"/>
                          </a:solidFill>
                          <a:latin typeface="Cambria Math"/>
                        </a:rPr>
                        <m:t>≤</m:t>
                      </m:r>
                      <m:r>
                        <a:rPr sz="1300">
                          <a:solidFill>
                            <a:srgbClr val="252529"/>
                          </a:solidFill>
                          <a:latin typeface="Cambria Math"/>
                        </a:rPr>
                        <m:t>𝑀</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  </m:t>
                      </m:r>
                      <m:r>
                        <a:rPr sz="1300">
                          <a:solidFill>
                            <a:srgbClr val="252529"/>
                          </a:solidFill>
                          <a:latin typeface="Cambria Math"/>
                        </a:rPr>
                        <m:t>𝑥</m:t>
                      </m:r>
                      <m:r>
                        <a:rPr sz="1300">
                          <a:solidFill>
                            <a:srgbClr val="252529"/>
                          </a:solidFill>
                          <a:latin typeface="Cambria Math"/>
                        </a:rPr>
                        <m:t>≠0,  </m:t>
                      </m:r>
                      <m:r>
                        <a:rPr sz="1300">
                          <a:solidFill>
                            <a:srgbClr val="252529"/>
                          </a:solidFill>
                          <a:latin typeface="Cambria Math"/>
                        </a:rPr>
                        <m:t>𝜀</m:t>
                      </m:r>
                      <m:r>
                        <a:rPr sz="1300">
                          <a:solidFill>
                            <a:srgbClr val="252529"/>
                          </a:solidFill>
                          <a:latin typeface="Cambria Math"/>
                        </a:rPr>
                        <m:t>&gt;0</m:t>
                      </m:r>
                    </m:oMath>
                  </m:oMathPara>
                </a14:m>
                <a:endParaRPr sz="1300"/>
              </a:p>
            </p:txBody>
          </p:sp>
        </mc:Choice>
        <mc:Fallback xmlns="" xmlns:m="http://schemas.openxmlformats.org/officeDocument/2006/math">
          <p:sp>
            <p:nvSpPr>
              <p:cNvPr id="1008" name="Storage qualification"/>
              <p:cNvSpPr>
                <a:spLocks noRot="1" noChangeAspect="1" noMove="1" noResize="1" noEditPoints="1" noAdjustHandles="1" noChangeArrowheads="1" noChangeShapeType="1" noTextEdit="1"/>
              </p:cNvSpPr>
              <p:nvPr/>
            </p:nvSpPr>
            <p:spPr>
              <a:xfrm>
                <a:off x="444500" y="4493260"/>
                <a:ext cx="8255000" cy="462280"/>
              </a:xfrm>
              <a:prstGeom prst="rect">
                <a:avLst/>
              </a:prstGeom>
              <a:blipFill>
                <a:blip r:embed="rIdSectorRefinement39_7"/>
                <a:stretch>
                  <a:fillRect/>
                </a:stretch>
              </a:blipFill>
              <a:ln>
                <a:noFill/>
              </a:ln>
            </p:spPr>
            <p:txBody>
              <a:bodyPr/>
              <a:lstStyle/>
              <a:p>
                <a:r>
                  <a:rPr lang="en-NL">
                    <a:noFill/>
                  </a:rPr>
                  <a:t> </a:t>
                </a:r>
              </a:p>
            </p:txBody>
          </p:sp>
        </mc:Fallback>
      </mc:AlternateContent>
      <p:sp>
        <p:nvSpPr>
          <p:cNvPr id="100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1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39</a:t>
            </a:r>
            <a:endParaRPr sz="800"/>
          </a:p>
        </p:txBody>
      </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444500" y="1765300"/>
            <a:ext cx="3708400" cy="1676400"/>
            <a:chOff x="2005330" y="1274064"/>
            <a:chExt cx="4835271" cy="2180336"/>
          </a:xfrm>
        </p:grpSpPr>
        <p:sp>
          <p:nvSpPr>
            <p:cNvPr id="5002" name="Plant to uncertainty">
              <a:extLst>
                <a:ext uri="{FF2B5EF4-FFF2-40B4-BE49-F238E27FC236}">
                  <a16:creationId xmlns:a16="http://schemas.microsoft.com/office/drawing/2014/main" id="{2D19E6F6-2E0C-773F-8968-3FB60CCD5885}"/>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73DC5D71-45A2-6688-D301-57F574C3B4FC}"/>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z filter input">
              <a:extLst>
                <a:ext uri="{FF2B5EF4-FFF2-40B4-BE49-F238E27FC236}">
                  <a16:creationId xmlns:a16="http://schemas.microsoft.com/office/drawing/2014/main" id="{6C077BE1-CA1D-D5A1-FDE8-1AE89BA21002}"/>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5005" name="w filter input">
              <a:extLst>
                <a:ext uri="{FF2B5EF4-FFF2-40B4-BE49-F238E27FC236}">
                  <a16:creationId xmlns:a16="http://schemas.microsoft.com/office/drawing/2014/main" id="{BB7A3CAC-9A8E-8832-ED3F-D43DAEDC8BC1}"/>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xmlns:m="http://schemas.openxmlformats.org/officeDocument/2006/math">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SectorRefinement39_3"/>
                  <a:stretch>
                    <a:fillRect t="-4167" r="-77358" b="-2083"/>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xmlns:m="http://schemas.openxmlformats.org/officeDocument/2006/math">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SectorRefinement39_0"/>
                  <a:stretch>
                    <a:fillRect l="-7547" t="-20833" r="-4717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0" name="Uncertainty output channel">
                  <a:extLst>
                    <a:ext uri="{FF2B5EF4-FFF2-40B4-BE49-F238E27FC236}">
                      <a16:creationId xmlns:a16="http://schemas.microsoft.com/office/drawing/2014/main" id="{95BDFECA-830F-DDA6-5A0F-9505BEFCCBD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5010" name="Uncertainty output channel">
                  <a:extLst>
                    <a:ext uri="{FF2B5EF4-FFF2-40B4-BE49-F238E27FC236}">
                      <a16:creationId xmlns:a16="http://schemas.microsoft.com/office/drawing/2014/main" id="{95BDFECA-830F-DDA6-5A0F-9505BEFCCBD2}"/>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SectorRefinement39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Uncertainty input channel">
                  <a:extLst>
                    <a:ext uri="{FF2B5EF4-FFF2-40B4-BE49-F238E27FC236}">
                      <a16:creationId xmlns:a16="http://schemas.microsoft.com/office/drawing/2014/main" id="{642B7BE9-B9F2-7396-C385-832583B651C6}"/>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5011" name="Uncertainty input channel">
                  <a:extLst>
                    <a:ext uri="{FF2B5EF4-FFF2-40B4-BE49-F238E27FC236}">
                      <a16:creationId xmlns:a16="http://schemas.microsoft.com/office/drawing/2014/main" id="{642B7BE9-B9F2-7396-C385-832583B651C6}"/>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SectorRefinement39_10"/>
                  <a:stretch>
                    <a:fillRect/>
                  </a:stretch>
                </a:blipFill>
                <a:ln>
                  <a:noFill/>
                </a:ln>
              </p:spPr>
              <p:txBody>
                <a:bodyPr/>
                <a:lstStyle/>
                <a:p>
                  <a:r>
                    <a:rPr lang="en-NL">
                      <a:noFill/>
                    </a:rPr>
                    <a:t> </a:t>
                  </a:r>
                </a:p>
              </p:txBody>
            </p:sp>
          </mc:Fallback>
        </mc:AlternateContent>
        <p:sp>
          <p:nvSpPr>
            <p:cNvPr id="501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01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501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9_8"/>
                  <a:stretch>
                    <a:fillRect l="-7143" b="-8065"/>
                  </a:stretch>
                </a:blipFill>
                <a:ln>
                  <a:noFill/>
                </a:ln>
              </p:spPr>
              <p:txBody>
                <a:bodyPr/>
                <a:lstStyle/>
                <a:p>
                  <a:r>
                    <a:rPr lang="en-NL">
                      <a:noFill/>
                    </a:rPr>
                    <a:t> </a:t>
                  </a:r>
                </a:p>
              </p:txBody>
            </p:sp>
          </mc:Fallback>
        </mc:AlternateContent>
        <p:sp>
          <p:nvSpPr>
            <p:cNvPr id="5014" name="Plant">
              <a:extLst>
                <a:ext uri="{FF2B5EF4-FFF2-40B4-BE49-F238E27FC236}">
                  <a16:creationId xmlns:a16="http://schemas.microsoft.com/office/drawing/2014/main" id="{DB6423D5-F68F-B3C7-3446-53793DC0A8EC}"/>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15" name="Plant label">
                  <a:extLst>
                    <a:ext uri="{FF2B5EF4-FFF2-40B4-BE49-F238E27FC236}">
                      <a16:creationId xmlns:a16="http://schemas.microsoft.com/office/drawing/2014/main" id="{01FBD267-53A2-764E-9FEF-10615AFD0E1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5015" name="Plant label">
                  <a:extLst>
                    <a:ext uri="{FF2B5EF4-FFF2-40B4-BE49-F238E27FC236}">
                      <a16:creationId xmlns:a16="http://schemas.microsoft.com/office/drawing/2014/main" id="{01FBD267-53A2-764E-9FEF-10615AFD0E1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SectorRefinement39_4"/>
                  <a:stretch>
                    <a:fillRect l="-3390" b="-8065"/>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4"/>
                  <a:ext cx="889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xmlns:m="http://schemas.openxmlformats.org/officeDocument/2006/math">
            <p:sp>
              <p:nvSpPr>
                <p:cNvPr id="5017" name="Original filter label"/>
                <p:cNvSpPr>
                  <a:spLocks noRot="1" noChangeAspect="1" noMove="1" noResize="1" noEditPoints="1" noAdjustHandles="1" noChangeArrowheads="1" noChangeShapeType="1" noTextEdit="1"/>
                </p:cNvSpPr>
                <p:nvPr/>
              </p:nvSpPr>
              <p:spPr>
                <a:xfrm>
                  <a:off x="4897120" y="1299464"/>
                  <a:ext cx="889000" cy="889000"/>
                </a:xfrm>
                <a:prstGeom prst="rect">
                  <a:avLst/>
                </a:prstGeom>
                <a:blipFill>
                  <a:blip r:embed="rIdSectorRefinement39_1"/>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xmlns:p14="http://schemas.microsoft.com/office/powerpoint/2010/main">
    <mc:Choice Requires="p14">
      <p:transition p14:dur="450">
        <p:fade/>
      </p:transition>
    </mc:Choice>
    <mc:Fallback xmlns="" xmlns:m="http://schemas.openxmlformats.org/officeDocument/2006/math" xmlns:a14="http://schemas.microsoft.com/office/drawing/2010/main">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4"/>
                                        </p:tgtEl>
                                        <p:attrNameLst>
                                          <p:attrName>style.visibility</p:attrName>
                                        </p:attrNameLst>
                                      </p:cBhvr>
                                      <p:to>
                                        <p:strVal val="visible"/>
                                      </p:to>
                                    </p:set>
                                    <p:animEffect transition="in" filter="fade">
                                      <p:cBhvr>
                                        <p:cTn id="7" dur="400"/>
                                        <p:tgtEl>
                                          <p:spTgt spid="1004"/>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1005"/>
                                        </p:tgtEl>
                                        <p:attrNameLst>
                                          <p:attrName>style.visibility</p:attrName>
                                        </p:attrNameLst>
                                      </p:cBhvr>
                                      <p:to>
                                        <p:strVal val="visible"/>
                                      </p:to>
                                    </p:set>
                                    <p:animEffect transition="in" filter="fade">
                                      <p:cBhvr>
                                        <p:cTn id="10" dur="500"/>
                                        <p:tgtEl>
                                          <p:spTgt spid="100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06"/>
                                        </p:tgtEl>
                                        <p:attrNameLst>
                                          <p:attrName>style.visibility</p:attrName>
                                        </p:attrNameLst>
                                      </p:cBhvr>
                                      <p:to>
                                        <p:strVal val="visible"/>
                                      </p:to>
                                    </p:set>
                                    <p:animEffect transition="in" filter="fade">
                                      <p:cBhvr>
                                        <p:cTn id="15" dur="500"/>
                                        <p:tgtEl>
                                          <p:spTgt spid="1006"/>
                                        </p:tgtEl>
                                      </p:cBhvr>
                                    </p:animEffect>
                                  </p:childTnLst>
                                </p:cTn>
                              </p:par>
                              <p:par>
                                <p:cTn id="16" presetID="10" presetClass="entr" presetSubtype="0" fill="hold" grpId="0" nodeType="withEffect">
                                  <p:stCondLst>
                                    <p:cond delay="200"/>
                                  </p:stCondLst>
                                  <p:childTnLst>
                                    <p:set>
                                      <p:cBhvr>
                                        <p:cTn id="17" dur="1" fill="hold">
                                          <p:stCondLst>
                                            <p:cond delay="0"/>
                                          </p:stCondLst>
                                        </p:cTn>
                                        <p:tgtEl>
                                          <p:spTgt spid="1007"/>
                                        </p:tgtEl>
                                        <p:attrNameLst>
                                          <p:attrName>style.visibility</p:attrName>
                                        </p:attrNameLst>
                                      </p:cBhvr>
                                      <p:to>
                                        <p:strVal val="visible"/>
                                      </p:to>
                                    </p:set>
                                    <p:animEffect transition="in" filter="fade">
                                      <p:cBhvr>
                                        <p:cTn id="18" dur="500"/>
                                        <p:tgtEl>
                                          <p:spTgt spid="1007"/>
                                        </p:tgtEl>
                                      </p:cBhvr>
                                    </p:animEffect>
                                  </p:childTnLst>
                                </p:cTn>
                              </p:par>
                              <p:par>
                                <p:cTn id="19" presetID="10" presetClass="entr" presetSubtype="0" fill="hold" grpId="0" nodeType="withEffect">
                                  <p:stCondLst>
                                    <p:cond delay="200"/>
                                  </p:stCondLst>
                                  <p:childTnLst>
                                    <p:set>
                                      <p:cBhvr>
                                        <p:cTn id="20" dur="1" fill="hold">
                                          <p:stCondLst>
                                            <p:cond delay="0"/>
                                          </p:stCondLst>
                                        </p:cTn>
                                        <p:tgtEl>
                                          <p:spTgt spid="1008"/>
                                        </p:tgtEl>
                                        <p:attrNameLst>
                                          <p:attrName>style.visibility</p:attrName>
                                        </p:attrNameLst>
                                      </p:cBhvr>
                                      <p:to>
                                        <p:strVal val="visible"/>
                                      </p:to>
                                    </p:set>
                                    <p:animEffect transition="in" filter="fade">
                                      <p:cBhvr>
                                        <p:cTn id="21" dur="500"/>
                                        <p:tgtEl>
                                          <p:spTgt spid="10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4" grpId="0"/>
      <p:bldP spid="1005" grpId="0"/>
      <p:bldP spid="1006" grpId="0"/>
      <p:bldP spid="1007" grpId="0"/>
      <p:bldP spid="1008" grpId="0"/>
    </p:bldLst>
  </p:timing>
</p:sld>
</file>

<file path=ppt/slides/slide4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replace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2"/>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43</a:t>
            </a:fld>
            <a:endParaRPr lang="en-GB"/>
          </a:p>
        </p:txBody>
      </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556B0FE0-ED39-2A0D-C1C7-40D486BC1A35}"/>
                  </a:ext>
                </a:extLst>
              </p:cNvPr>
              <p:cNvSpPr txBox="1"/>
              <p:nvPr/>
            </p:nvSpPr>
            <p:spPr>
              <a:xfrm>
                <a:off x="4861470" y="984289"/>
                <a:ext cx="3590727" cy="374718"/>
              </a:xfrm>
              <a:prstGeom prst="rect">
                <a:avLst/>
              </a:prstGeom>
              <a:noFill/>
            </p:spPr>
            <p:txBody>
              <a:bodyPr wrap="none" rtlCol="0">
                <a:spAutoFit/>
              </a:bodyPr>
              <a:lstStyle/>
              <a:p>
                <a:r>
                  <a:rPr lang="en-US" dirty="0"/>
                  <a:t>Find </a:t>
                </a:r>
                <a14:m>
                  <m:oMath xmlns:m="http://schemas.openxmlformats.org/officeDocument/2006/math">
                    <m:r>
                      <a:rPr lang="el-GR" i="1" smtClean="0">
                        <a:latin typeface="Cambria Math" panose="02040503050406030204" pitchFamily="18" charset="0"/>
                        <a:ea typeface="Cambria Math" panose="02040503050406030204" pitchFamily="18" charset="0"/>
                      </a:rPr>
                      <m:t>𝛩</m:t>
                    </m:r>
                  </m:oMath>
                </a14:m>
                <a:r>
                  <a:rPr lang="en-US" dirty="0"/>
                  <a:t> such that </a:t>
                </a:r>
                <a14:m>
                  <m:oMath xmlns:m="http://schemas.openxmlformats.org/officeDocument/2006/math">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𝑢</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r>
                      <a:rPr lang="en-US" b="0" i="0" smtClean="0">
                        <a:latin typeface="Cambria Math" panose="02040503050406030204" pitchFamily="18" charset="0"/>
                      </a:rPr>
                      <m:t>≤</m:t>
                    </m:r>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𝑦</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oMath>
                </a14:m>
                <a:endParaRPr lang="en-NL" dirty="0"/>
              </a:p>
            </p:txBody>
          </p:sp>
        </mc:Choice>
        <mc:Fallback xmlns="">
          <p:sp>
            <p:nvSpPr>
              <p:cNvPr id="47" name="TextBox 46">
                <a:extLst>
                  <a:ext uri="{FF2B5EF4-FFF2-40B4-BE49-F238E27FC236}">
                    <a16:creationId xmlns:a16="http://schemas.microsoft.com/office/drawing/2014/main" id="{556B0FE0-ED39-2A0D-C1C7-40D486BC1A35}"/>
                  </a:ext>
                </a:extLst>
              </p:cNvPr>
              <p:cNvSpPr txBox="1">
                <a:spLocks noRot="1" noChangeAspect="1" noMove="1" noResize="1" noEditPoints="1" noAdjustHandles="1" noChangeArrowheads="1" noChangeShapeType="1" noTextEdit="1"/>
              </p:cNvSpPr>
              <p:nvPr/>
            </p:nvSpPr>
            <p:spPr>
              <a:xfrm>
                <a:off x="4861470" y="984289"/>
                <a:ext cx="3590727" cy="374718"/>
              </a:xfrm>
              <a:prstGeom prst="rect">
                <a:avLst/>
              </a:prstGeom>
              <a:blipFill>
                <a:blip r:embed="rId3"/>
                <a:stretch>
                  <a:fillRect l="-339" t="-95161" b="-156452"/>
                </a:stretch>
              </a:blipFill>
            </p:spPr>
            <p:txBody>
              <a:bodyPr/>
              <a:lstStyle/>
              <a:p>
                <a:r>
                  <a:rPr lang="en-NL">
                    <a:noFill/>
                  </a:rPr>
                  <a:t> </a:t>
                </a:r>
              </a:p>
            </p:txBody>
          </p:sp>
        </mc:Fallback>
      </mc:AlternateContent>
      <p:grpSp>
        <p:nvGrpSpPr>
          <p:cNvPr id="50" name="Editable paper diagram">
            <a:extLst>
              <a:ext uri="{FF2B5EF4-FFF2-40B4-BE49-F238E27FC236}">
                <a16:creationId xmlns:a16="http://schemas.microsoft.com/office/drawing/2014/main" id="{E372E85E-5635-9E8E-391F-F7D221D02B23}"/>
              </a:ext>
            </a:extLst>
          </p:cNvPr>
          <p:cNvGrpSpPr/>
          <p:nvPr/>
        </p:nvGrpSpPr>
        <p:grpSpPr>
          <a:xfrm>
            <a:off x="457200" y="984289"/>
            <a:ext cx="3138932" cy="1845056"/>
            <a:chOff x="1995932" y="2514600"/>
            <a:chExt cx="3138932" cy="1845056"/>
          </a:xfrm>
        </p:grpSpPr>
        <p:sp>
          <p:nvSpPr>
            <p:cNvPr id="51" name="Controller plant channel">
              <a:extLst>
                <a:ext uri="{FF2B5EF4-FFF2-40B4-BE49-F238E27FC236}">
                  <a16:creationId xmlns:a16="http://schemas.microsoft.com/office/drawing/2014/main" id="{40F47906-50AD-3131-824D-F0474AE48D23}"/>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4" name="Plant controller channel">
              <a:extLst>
                <a:ext uri="{FF2B5EF4-FFF2-40B4-BE49-F238E27FC236}">
                  <a16:creationId xmlns:a16="http://schemas.microsoft.com/office/drawing/2014/main" id="{8014A7C6-31FB-1455-A9D0-FAF79A5CA9A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56" name="Controller">
              <a:extLst>
                <a:ext uri="{FF2B5EF4-FFF2-40B4-BE49-F238E27FC236}">
                  <a16:creationId xmlns:a16="http://schemas.microsoft.com/office/drawing/2014/main" id="{99686D86-246C-0882-FD3F-B2420711593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60" name="Plant">
              <a:extLst>
                <a:ext uri="{FF2B5EF4-FFF2-40B4-BE49-F238E27FC236}">
                  <a16:creationId xmlns:a16="http://schemas.microsoft.com/office/drawing/2014/main" id="{7EA661EF-0B01-B12F-9056-31406A777935}"/>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62" name="Plant label">
                  <a:extLst>
                    <a:ext uri="{FF2B5EF4-FFF2-40B4-BE49-F238E27FC236}">
                      <a16:creationId xmlns:a16="http://schemas.microsoft.com/office/drawing/2014/main" id="{650F0D8C-FBFC-5213-C158-AF735FFCA28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63" name="z filtered output">
            <a:extLst>
              <a:ext uri="{FF2B5EF4-FFF2-40B4-BE49-F238E27FC236}">
                <a16:creationId xmlns:a16="http://schemas.microsoft.com/office/drawing/2014/main" id="{5EC63039-3FC5-FD7D-FC90-CD440308431F}"/>
              </a:ext>
            </a:extLst>
          </p:cNvPr>
          <p:cNvSpPr/>
          <p:nvPr/>
        </p:nvSpPr>
        <p:spPr>
          <a:xfrm>
            <a:off x="3672070" y="311680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672070" y="349272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744970" y="284756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079354" y="310176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079354" y="3101765"/>
                <a:ext cx="283732" cy="398571"/>
              </a:xfrm>
              <a:prstGeom prst="rect">
                <a:avLst/>
              </a:prstGeom>
              <a:blipFill>
                <a:blip r:embed="rId12"/>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474468" y="247831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241246" y="247831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469388" y="2473237"/>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236166" y="247323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199" name="TextBox 198">
                <a:extLst>
                  <a:ext uri="{FF2B5EF4-FFF2-40B4-BE49-F238E27FC236}">
                    <a16:creationId xmlns:a16="http://schemas.microsoft.com/office/drawing/2014/main" id="{1C440B46-D247-33E4-5530-6344AC85E059}"/>
                  </a:ext>
                </a:extLst>
              </p:cNvPr>
              <p:cNvSpPr txBox="1"/>
              <p:nvPr/>
            </p:nvSpPr>
            <p:spPr>
              <a:xfrm>
                <a:off x="4861470" y="1699232"/>
                <a:ext cx="3141181" cy="300082"/>
              </a:xfrm>
              <a:prstGeom prst="rect">
                <a:avLst/>
              </a:prstGeom>
              <a:noFill/>
            </p:spPr>
            <p:txBody>
              <a:bodyPr wrap="none" rtlCol="0">
                <a:spAutoFit/>
              </a:bodyPr>
              <a:lstStyle/>
              <a:p>
                <a:r>
                  <a:rPr lang="en-US" dirty="0"/>
                  <a:t>Set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𝑢</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=0</m:t>
                    </m:r>
                  </m:oMath>
                </a14:m>
                <a:r>
                  <a:rPr lang="en-US" dirty="0"/>
                  <a:t> then this holds for any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a14:m>
                <a:endParaRPr lang="en-NL" dirty="0"/>
              </a:p>
            </p:txBody>
          </p:sp>
        </mc:Choice>
        <mc:Fallback xmlns="">
          <p:sp>
            <p:nvSpPr>
              <p:cNvPr id="199" name="TextBox 198">
                <a:extLst>
                  <a:ext uri="{FF2B5EF4-FFF2-40B4-BE49-F238E27FC236}">
                    <a16:creationId xmlns:a16="http://schemas.microsoft.com/office/drawing/2014/main" id="{1C440B46-D247-33E4-5530-6344AC85E059}"/>
                  </a:ext>
                </a:extLst>
              </p:cNvPr>
              <p:cNvSpPr txBox="1">
                <a:spLocks noRot="1" noChangeAspect="1" noMove="1" noResize="1" noEditPoints="1" noAdjustHandles="1" noChangeArrowheads="1" noChangeShapeType="1" noTextEdit="1"/>
              </p:cNvSpPr>
              <p:nvPr/>
            </p:nvSpPr>
            <p:spPr>
              <a:xfrm>
                <a:off x="4861470" y="1699232"/>
                <a:ext cx="3141181" cy="300082"/>
              </a:xfrm>
              <a:prstGeom prst="rect">
                <a:avLst/>
              </a:prstGeom>
              <a:blipFill>
                <a:blip r:embed="rId13"/>
                <a:stretch>
                  <a:fillRect l="-388"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4" name="TextBox 203">
                <a:extLst>
                  <a:ext uri="{FF2B5EF4-FFF2-40B4-BE49-F238E27FC236}">
                    <a16:creationId xmlns:a16="http://schemas.microsoft.com/office/drawing/2014/main" id="{39C00BB5-DEDD-34ED-5F43-B5E93515CE84}"/>
                  </a:ext>
                </a:extLst>
              </p:cNvPr>
              <p:cNvSpPr txBox="1"/>
              <p:nvPr/>
            </p:nvSpPr>
            <p:spPr>
              <a:xfrm>
                <a:off x="4861470" y="2244319"/>
                <a:ext cx="2038570" cy="462371"/>
              </a:xfrm>
              <a:prstGeom prst="rect">
                <a:avLst/>
              </a:prstGeom>
              <a:noFill/>
            </p:spPr>
            <p:txBody>
              <a:bodyPr wrap="none" lIns="0" tIns="0" rIns="0" bIns="0" rtlCol="0">
                <a:spAutoFit/>
              </a:bodyPr>
              <a:lstStyle/>
              <a:p>
                <a:pPr/>
                <a14:m>
                  <m:oMathPara xmlns:m="http://schemas.openxmlformats.org/officeDocument/2006/math">
                    <m:oMath>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acc>
                                  <m:accPr>
                                    <m:chr m:val="˜"/>
                                    <m:ctrlPr>
                                      <a:rPr lang="nl-NL" i="1">
                                        <a:latin typeface="Cambria Math" panose="02040503050406030204" pitchFamily="18" charset="0"/>
                                      </a:rPr>
                                    </m:ctrlPr>
                                  </m:accPr>
                                  <m:e>
                                    <m:r>
                                      <a:rPr lang="nl-NL" i="1">
                                        <a:latin typeface="Cambria Math" panose="02040503050406030204" pitchFamily="18" charset="0"/>
                                      </a:rPr>
                                      <m:t>𝑦</m:t>
                                    </m:r>
                                  </m:e>
                                </m:acc>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en-US" b="0" i="1" smtClean="0">
                                    <a:latin typeface="Cambria Math" panose="02040503050406030204" pitchFamily="18" charset="0"/>
                                  </a:rPr>
                                  <m:t>0</m:t>
                                </m:r>
                              </m:e>
                            </m:mr>
                          </m:m>
                        </m:e>
                      </m:d>
                      <m:r>
                        <a:rPr lang="nl-NL" i="1">
                          <a:latin typeface="Cambria Math" panose="02040503050406030204" pitchFamily="18" charset="0"/>
                        </a:rPr>
                        <m:t>=</m:t>
                      </m:r>
                      <m:d>
                        <m:dPr>
                          <m:begChr m:val="["/>
                          <m:endChr m:val="]"/>
                          <m:ctrlPr>
                            <a:rPr lang="nl-NL" i="1">
                              <a:latin typeface="Cambria Math" panose="02040503050406030204" pitchFamily="18" charset="0"/>
                            </a:rPr>
                          </m:ctrlPr>
                        </m:dPr>
                        <m:e>
                          <m:m>
                            <m:mPr>
                              <m:mcs>
                                <m:mc>
                                  <m:mcPr>
                                    <m:count m:val="2"/>
                                    <m:mcJc m:val="center"/>
                                  </m:mcPr>
                                </m:mc>
                              </m:mcs>
                              <m:ctrlPr>
                                <a:rPr lang="nl-NL" i="1">
                                  <a:latin typeface="Cambria Math" panose="02040503050406030204" pitchFamily="18" charset="0"/>
                                </a:rPr>
                              </m:ctrlPr>
                            </m:mP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12</m:t>
                                    </m:r>
                                  </m:sub>
                                </m:sSub>
                              </m:e>
                            </m:m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22</m:t>
                                    </m:r>
                                  </m:sub>
                                </m:sSub>
                              </m:e>
                            </m:mr>
                          </m:m>
                        </m:e>
                      </m:d>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r>
                                  <a:rPr lang="nl-NL" i="1">
                                    <a:latin typeface="Cambria Math" panose="02040503050406030204" pitchFamily="18" charset="0"/>
                                  </a:rPr>
                                  <m:t>𝑦</m:t>
                                </m:r>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nl-NL" i="1">
                                    <a:latin typeface="Cambria Math" panose="02040503050406030204" pitchFamily="18" charset="0"/>
                                  </a:rPr>
                                  <m:t>𝑢</m:t>
                                </m:r>
                                <m:d>
                                  <m:dPr>
                                    <m:ctrlPr>
                                      <a:rPr lang="nl-NL" i="1">
                                        <a:latin typeface="Cambria Math" panose="02040503050406030204" pitchFamily="18" charset="0"/>
                                      </a:rPr>
                                    </m:ctrlPr>
                                  </m:dPr>
                                  <m:e>
                                    <m:r>
                                      <a:rPr lang="nl-NL" i="1">
                                        <a:latin typeface="Cambria Math" panose="02040503050406030204" pitchFamily="18" charset="0"/>
                                      </a:rPr>
                                      <m:t>𝑡</m:t>
                                    </m:r>
                                  </m:e>
                                </m:d>
                              </m:e>
                            </m:mr>
                          </m:m>
                        </m:e>
                      </m:d>
                    </m:oMath>
                  </m:oMathPara>
                </a14:m>
                <a:endParaRPr lang="en-NL" dirty="0"/>
              </a:p>
            </p:txBody>
          </p:sp>
        </mc:Choice>
        <mc:Fallback xmlns="">
          <p:sp>
            <p:nvSpPr>
              <p:cNvPr id="204" name="TextBox 203">
                <a:extLst>
                  <a:ext uri="{FF2B5EF4-FFF2-40B4-BE49-F238E27FC236}">
                    <a16:creationId xmlns:a16="http://schemas.microsoft.com/office/drawing/2014/main" id="{39C00BB5-DEDD-34ED-5F43-B5E93515CE84}"/>
                  </a:ext>
                </a:extLst>
              </p:cNvPr>
              <p:cNvSpPr txBox="1">
                <a:spLocks noRot="1" noChangeAspect="1" noMove="1" noResize="1" noEditPoints="1" noAdjustHandles="1" noChangeArrowheads="1" noChangeShapeType="1" noTextEdit="1"/>
              </p:cNvSpPr>
              <p:nvPr/>
            </p:nvSpPr>
            <p:spPr>
              <a:xfrm>
                <a:off x="4861470" y="2244319"/>
                <a:ext cx="2038570" cy="462371"/>
              </a:xfrm>
              <a:prstGeom prst="rect">
                <a:avLst/>
              </a:prstGeom>
              <a:blipFill>
                <a:blip r:embed="rId14"/>
                <a:stretch>
                  <a:fillRect b="-131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6D2AABB4-3B2E-6D4B-551F-3FA7EEDB1E54}"/>
                  </a:ext>
                </a:extLst>
              </p:cNvPr>
              <p:cNvSpPr txBox="1"/>
              <p:nvPr/>
            </p:nvSpPr>
            <p:spPr>
              <a:xfrm>
                <a:off x="7127764" y="2347627"/>
                <a:ext cx="1749774" cy="300082"/>
              </a:xfrm>
              <a:prstGeom prst="rect">
                <a:avLst/>
              </a:prstGeom>
              <a:noFill/>
            </p:spPr>
            <p:txBody>
              <a:bodyPr wrap="none" rtlCol="0">
                <a:spAutoFit/>
              </a:bodyPr>
              <a:lstStyle/>
              <a:p>
                <a:r>
                  <a:rPr lang="en-US" dirty="0"/>
                  <a:t>Pick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11</m:t>
                        </m:r>
                      </m:sub>
                    </m:sSub>
                    <m:r>
                      <a:rPr lang="en-US" b="0" i="1" smtClean="0">
                        <a:latin typeface="Cambria Math" panose="02040503050406030204" pitchFamily="18" charset="0"/>
                      </a:rPr>
                      <m:t>=</m:t>
                    </m:r>
                    <m:r>
                      <a:rPr lang="en-US" b="0" i="1" smtClean="0">
                        <a:latin typeface="Cambria Math" panose="02040503050406030204" pitchFamily="18" charset="0"/>
                      </a:rPr>
                      <m:t>𝐼</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12</m:t>
                        </m:r>
                      </m:sub>
                    </m:sSub>
                    <m:r>
                      <a:rPr lang="en-US" b="0" i="1" smtClean="0">
                        <a:latin typeface="Cambria Math" panose="02040503050406030204" pitchFamily="18" charset="0"/>
                      </a:rPr>
                      <m:t>=0</m:t>
                    </m:r>
                  </m:oMath>
                </a14:m>
                <a:endParaRPr lang="en-NL" dirty="0"/>
              </a:p>
            </p:txBody>
          </p:sp>
        </mc:Choice>
        <mc:Fallback xmlns="">
          <p:sp>
            <p:nvSpPr>
              <p:cNvPr id="205" name="TextBox 204">
                <a:extLst>
                  <a:ext uri="{FF2B5EF4-FFF2-40B4-BE49-F238E27FC236}">
                    <a16:creationId xmlns:a16="http://schemas.microsoft.com/office/drawing/2014/main" id="{6D2AABB4-3B2E-6D4B-551F-3FA7EEDB1E54}"/>
                  </a:ext>
                </a:extLst>
              </p:cNvPr>
              <p:cNvSpPr txBox="1">
                <a:spLocks noRot="1" noChangeAspect="1" noMove="1" noResize="1" noEditPoints="1" noAdjustHandles="1" noChangeArrowheads="1" noChangeShapeType="1" noTextEdit="1"/>
              </p:cNvSpPr>
              <p:nvPr/>
            </p:nvSpPr>
            <p:spPr>
              <a:xfrm>
                <a:off x="7127764" y="2347627"/>
                <a:ext cx="1749774" cy="300082"/>
              </a:xfrm>
              <a:prstGeom prst="rect">
                <a:avLst/>
              </a:prstGeom>
              <a:blipFill>
                <a:blip r:embed="rId15"/>
                <a:stretch>
                  <a:fillRect l="-697"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6" name="TextBox 205">
                <a:extLst>
                  <a:ext uri="{FF2B5EF4-FFF2-40B4-BE49-F238E27FC236}">
                    <a16:creationId xmlns:a16="http://schemas.microsoft.com/office/drawing/2014/main" id="{21C1290D-619C-5DA4-C5C2-38E468EAE0AB}"/>
                  </a:ext>
                </a:extLst>
              </p:cNvPr>
              <p:cNvSpPr txBox="1"/>
              <p:nvPr/>
            </p:nvSpPr>
            <p:spPr>
              <a:xfrm>
                <a:off x="4861470" y="2951695"/>
                <a:ext cx="1221809"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𝑢</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𝐾𝑦</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206" name="TextBox 205">
                <a:extLst>
                  <a:ext uri="{FF2B5EF4-FFF2-40B4-BE49-F238E27FC236}">
                    <a16:creationId xmlns:a16="http://schemas.microsoft.com/office/drawing/2014/main" id="{21C1290D-619C-5DA4-C5C2-38E468EAE0AB}"/>
                  </a:ext>
                </a:extLst>
              </p:cNvPr>
              <p:cNvSpPr txBox="1">
                <a:spLocks noRot="1" noChangeAspect="1" noMove="1" noResize="1" noEditPoints="1" noAdjustHandles="1" noChangeArrowheads="1" noChangeShapeType="1" noTextEdit="1"/>
              </p:cNvSpPr>
              <p:nvPr/>
            </p:nvSpPr>
            <p:spPr>
              <a:xfrm>
                <a:off x="4861470" y="2951695"/>
                <a:ext cx="1221809" cy="300082"/>
              </a:xfrm>
              <a:prstGeom prst="rect">
                <a:avLst/>
              </a:prstGeom>
              <a:blipFill>
                <a:blip r:embed="rId16"/>
                <a:stretch>
                  <a:fillRect b="-816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F4DAAE59-F3C1-C479-FF6A-0C4CA7E1C6F4}"/>
                  </a:ext>
                </a:extLst>
              </p:cNvPr>
              <p:cNvSpPr txBox="1"/>
              <p:nvPr/>
            </p:nvSpPr>
            <p:spPr>
              <a:xfrm>
                <a:off x="4861470" y="3390177"/>
                <a:ext cx="1958678" cy="300082"/>
              </a:xfrm>
              <a:prstGeom prst="rect">
                <a:avLst/>
              </a:prstGeom>
              <a:noFill/>
            </p:spPr>
            <p:txBody>
              <a:bodyPr wrap="none" rtlCol="0">
                <a:spAutoFit/>
              </a:bodyPr>
              <a:lstStyle/>
              <a:p>
                <a:r>
                  <a:rPr lang="en-US" dirty="0"/>
                  <a:t>Thus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21</m:t>
                        </m:r>
                      </m:sub>
                    </m:sSub>
                    <m:r>
                      <a:rPr lang="en-US" b="0" i="1" smtClean="0">
                        <a:latin typeface="Cambria Math" panose="02040503050406030204" pitchFamily="18" charset="0"/>
                      </a:rPr>
                      <m:t>=−</m:t>
                    </m:r>
                    <m:r>
                      <a:rPr lang="en-US" b="0" i="1" smtClean="0">
                        <a:latin typeface="Cambria Math" panose="02040503050406030204" pitchFamily="18" charset="0"/>
                      </a:rPr>
                      <m:t>𝐾</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22</m:t>
                        </m:r>
                      </m:sub>
                    </m:sSub>
                    <m:r>
                      <a:rPr lang="en-US" b="0" i="1" smtClean="0">
                        <a:latin typeface="Cambria Math" panose="02040503050406030204" pitchFamily="18" charset="0"/>
                      </a:rPr>
                      <m:t>=</m:t>
                    </m:r>
                    <m:r>
                      <a:rPr lang="en-US" b="0" i="1" smtClean="0">
                        <a:latin typeface="Cambria Math" panose="02040503050406030204" pitchFamily="18" charset="0"/>
                      </a:rPr>
                      <m:t>𝐼</m:t>
                    </m:r>
                  </m:oMath>
                </a14:m>
                <a:endParaRPr lang="en-NL" dirty="0"/>
              </a:p>
            </p:txBody>
          </p:sp>
        </mc:Choice>
        <mc:Fallback xmlns="">
          <p:sp>
            <p:nvSpPr>
              <p:cNvPr id="207" name="TextBox 206">
                <a:extLst>
                  <a:ext uri="{FF2B5EF4-FFF2-40B4-BE49-F238E27FC236}">
                    <a16:creationId xmlns:a16="http://schemas.microsoft.com/office/drawing/2014/main" id="{F4DAAE59-F3C1-C479-FF6A-0C4CA7E1C6F4}"/>
                  </a:ext>
                </a:extLst>
              </p:cNvPr>
              <p:cNvSpPr txBox="1">
                <a:spLocks noRot="1" noChangeAspect="1" noMove="1" noResize="1" noEditPoints="1" noAdjustHandles="1" noChangeArrowheads="1" noChangeShapeType="1" noTextEdit="1"/>
              </p:cNvSpPr>
              <p:nvPr/>
            </p:nvSpPr>
            <p:spPr>
              <a:xfrm>
                <a:off x="4861470" y="3390177"/>
                <a:ext cx="1958678" cy="300082"/>
              </a:xfrm>
              <a:prstGeom prst="rect">
                <a:avLst/>
              </a:prstGeom>
              <a:blipFill>
                <a:blip r:embed="rId17"/>
                <a:stretch>
                  <a:fillRect l="-621"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1016D2EC-3E51-21D0-F981-C80AFFD89621}"/>
                  </a:ext>
                </a:extLst>
              </p:cNvPr>
              <p:cNvSpPr txBox="1"/>
              <p:nvPr/>
            </p:nvSpPr>
            <p:spPr>
              <a:xfrm>
                <a:off x="5057101" y="4093224"/>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1016D2EC-3E51-21D0-F981-C80AFFD89621}"/>
                  </a:ext>
                </a:extLst>
              </p:cNvPr>
              <p:cNvSpPr txBox="1">
                <a:spLocks noRot="1" noChangeAspect="1" noMove="1" noResize="1" noEditPoints="1" noAdjustHandles="1" noChangeArrowheads="1" noChangeShapeType="1" noTextEdit="1"/>
              </p:cNvSpPr>
              <p:nvPr/>
            </p:nvSpPr>
            <p:spPr>
              <a:xfrm>
                <a:off x="5057101" y="4093224"/>
                <a:ext cx="1026178" cy="345094"/>
              </a:xfrm>
              <a:prstGeom prst="rect">
                <a:avLst/>
              </a:prstGeom>
              <a:blipFill>
                <a:blip r:embed="rId18"/>
                <a:stretch>
                  <a:fillRect l="-3571" t="-1754" b="-15789"/>
                </a:stretch>
              </a:blipFill>
            </p:spPr>
            <p:txBody>
              <a:bodyPr/>
              <a:lstStyle/>
              <a:p>
                <a:r>
                  <a:rPr lang="en-NL">
                    <a:noFill/>
                  </a:rPr>
                  <a:t> </a:t>
                </a:r>
              </a:p>
            </p:txBody>
          </p:sp>
        </mc:Fallback>
      </mc:AlternateContent>
    </p:spTree>
    <p:extLst>
      <p:ext uri="{BB962C8B-B14F-4D97-AF65-F5344CB8AC3E}">
        <p14:creationId xmlns:p14="http://schemas.microsoft.com/office/powerpoint/2010/main" val="190081851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B7E7A-11BB-394B-06B9-40CAF8886DE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48B8776-B77B-C279-5203-95D68FE3A63B}"/>
                  </a:ext>
                </a:extLst>
              </p:cNvPr>
              <p:cNvSpPr>
                <a:spLocks noGrp="1"/>
              </p:cNvSpPr>
              <p:nvPr>
                <p:ph type="title"/>
              </p:nvPr>
            </p:nvSpPr>
            <p:spPr/>
            <p:txBody>
              <a:bodyPr/>
              <a:lstStyle/>
              <a:p>
                <a:r>
                  <a:rPr lang="en-US" dirty="0"/>
                  <a:t>Thought experiment replace </a:t>
                </a:r>
                <a14:m>
                  <m:oMath xmlns:m="http://schemas.openxmlformats.org/officeDocument/2006/math">
                    <m:sSup>
                      <m:sSupPr>
                        <m:ctrlPr>
                          <a:rPr lang="en-US" b="1" i="1" smtClean="0">
                            <a:latin typeface="Cambria Math" panose="02040503050406030204" pitchFamily="18" charset="0"/>
                          </a:rPr>
                        </m:ctrlPr>
                      </m:sSupPr>
                      <m:e>
                        <m:r>
                          <m:rPr>
                            <m:sty m:val="p"/>
                          </m:rPr>
                          <a:rPr lang="en-US" b="1" i="1" smtClean="0">
                            <a:latin typeface="Cambria Math" panose="02040503050406030204" pitchFamily="18" charset="0"/>
                          </a:rPr>
                          <m:t>K</m:t>
                        </m:r>
                      </m:e>
                      <m:sup>
                        <m:r>
                          <a:rPr lang="en-US" b="1" i="1" smtClean="0">
                            <a:latin typeface="Cambria Math" panose="02040503050406030204" pitchFamily="18" charset="0"/>
                          </a:rPr>
                          <m:t>⊤</m:t>
                        </m:r>
                      </m:sup>
                    </m:sSup>
                  </m:oMath>
                </a14:m>
                <a:r>
                  <a:rPr lang="en-US" dirty="0"/>
                  <a:t> by </a:t>
                </a:r>
                <a14:m>
                  <m:oMath xmlns:m="http://schemas.openxmlformats.org/officeDocument/2006/math">
                    <m:bar>
                      <m:barPr>
                        <m:pos m:val="bot"/>
                        <m:ctrlPr>
                          <a:rPr lang="en-US" b="1" i="1" smtClean="0">
                            <a:latin typeface="Cambria Math" panose="02040503050406030204" pitchFamily="18" charset="0"/>
                          </a:rPr>
                        </m:ctrlPr>
                      </m:barPr>
                      <m:e>
                        <m:r>
                          <m:rPr>
                            <m:sty m:val="p"/>
                          </m:rPr>
                          <a:rPr lang="en-US" b="1" i="1" smtClean="0">
                            <a:latin typeface="Cambria Math" panose="02040503050406030204" pitchFamily="18" charset="0"/>
                          </a:rPr>
                          <m:t>Θ</m:t>
                        </m:r>
                      </m:e>
                    </m:bar>
                  </m:oMath>
                </a14:m>
                <a:endParaRPr lang="en-NL" dirty="0"/>
              </a:p>
            </p:txBody>
          </p:sp>
        </mc:Choice>
        <mc:Fallback xmlns="">
          <p:sp>
            <p:nvSpPr>
              <p:cNvPr id="2" name="Title 1">
                <a:extLst>
                  <a:ext uri="{FF2B5EF4-FFF2-40B4-BE49-F238E27FC236}">
                    <a16:creationId xmlns:a16="http://schemas.microsoft.com/office/drawing/2014/main" id="{D48B8776-B77B-C279-5203-95D68FE3A63B}"/>
                  </a:ext>
                </a:extLst>
              </p:cNvPr>
              <p:cNvSpPr>
                <a:spLocks noGrp="1" noRot="1" noChangeAspect="1" noMove="1" noResize="1" noEditPoints="1" noAdjustHandles="1" noChangeArrowheads="1" noChangeShapeType="1" noTextEdit="1"/>
              </p:cNvSpPr>
              <p:nvPr>
                <p:ph type="title"/>
              </p:nvPr>
            </p:nvSpPr>
            <p:spPr>
              <a:blipFill>
                <a:blip r:embed="rId2"/>
                <a:stretch>
                  <a:fillRect l="-2296" t="-9639" b="-2168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23827CAB-CFEC-F92D-1356-61F172497AF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5B421FA2-5E5E-C767-84FC-051F96EE934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44</a:t>
            </a:fld>
            <a:endParaRPr lang="en-GB"/>
          </a:p>
        </p:txBody>
      </p:sp>
      <p:sp>
        <p:nvSpPr>
          <p:cNvPr id="207" name="TextBox 206">
            <a:extLst>
              <a:ext uri="{FF2B5EF4-FFF2-40B4-BE49-F238E27FC236}">
                <a16:creationId xmlns:a16="http://schemas.microsoft.com/office/drawing/2014/main" id="{FDF1BF96-665A-5738-B7A7-59E1F49713F0}"/>
              </a:ext>
            </a:extLst>
          </p:cNvPr>
          <p:cNvSpPr txBox="1"/>
          <p:nvPr/>
        </p:nvSpPr>
        <p:spPr>
          <a:xfrm>
            <a:off x="4713851" y="1107536"/>
            <a:ext cx="4269310" cy="300082"/>
          </a:xfrm>
          <a:prstGeom prst="rect">
            <a:avLst/>
          </a:prstGeom>
          <a:noFill/>
        </p:spPr>
        <p:txBody>
          <a:bodyPr wrap="none" rtlCol="0">
            <a:spAutoFit/>
          </a:bodyPr>
          <a:lstStyle/>
          <a:p>
            <a:r>
              <a:rPr lang="en-US" dirty="0"/>
              <a:t>We can follow the same steps on the dual side and find</a:t>
            </a:r>
            <a:endParaRPr lang="en-NL"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2417D041-F859-5F85-E45F-FE904E5A4BC7}"/>
                  </a:ext>
                </a:extLst>
              </p:cNvPr>
              <p:cNvSpPr txBox="1"/>
              <p:nvPr/>
            </p:nvSpPr>
            <p:spPr>
              <a:xfrm>
                <a:off x="4909482" y="1810583"/>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2417D041-F859-5F85-E45F-FE904E5A4BC7}"/>
                  </a:ext>
                </a:extLst>
              </p:cNvPr>
              <p:cNvSpPr txBox="1">
                <a:spLocks noRot="1" noChangeAspect="1" noMove="1" noResize="1" noEditPoints="1" noAdjustHandles="1" noChangeArrowheads="1" noChangeShapeType="1" noTextEdit="1"/>
              </p:cNvSpPr>
              <p:nvPr/>
            </p:nvSpPr>
            <p:spPr>
              <a:xfrm>
                <a:off x="4909482" y="1810583"/>
                <a:ext cx="1126911" cy="345094"/>
              </a:xfrm>
              <a:prstGeom prst="rect">
                <a:avLst/>
              </a:prstGeom>
              <a:blipFill>
                <a:blip r:embed="rId3"/>
                <a:stretch>
                  <a:fillRect l="-3243" t="-1754" b="-15789"/>
                </a:stretch>
              </a:blipFill>
            </p:spPr>
            <p:txBody>
              <a:bodyPr/>
              <a:lstStyle/>
              <a:p>
                <a:r>
                  <a:rPr lang="en-NL">
                    <a:noFill/>
                  </a:rPr>
                  <a:t> </a:t>
                </a:r>
              </a:p>
            </p:txBody>
          </p:sp>
        </mc:Fallback>
      </mc:AlternateContent>
      <p:grpSp>
        <p:nvGrpSpPr>
          <p:cNvPr id="24" name="Group 23">
            <a:extLst>
              <a:ext uri="{FF2B5EF4-FFF2-40B4-BE49-F238E27FC236}">
                <a16:creationId xmlns:a16="http://schemas.microsoft.com/office/drawing/2014/main" id="{3F329399-BB67-01B2-FD85-2DE61C1CEF78}"/>
              </a:ext>
            </a:extLst>
          </p:cNvPr>
          <p:cNvGrpSpPr/>
          <p:nvPr/>
        </p:nvGrpSpPr>
        <p:grpSpPr>
          <a:xfrm>
            <a:off x="457200" y="1308149"/>
            <a:ext cx="4258843" cy="2803080"/>
            <a:chOff x="457200" y="1308149"/>
            <a:chExt cx="4258843" cy="2803080"/>
          </a:xfrm>
        </p:grpSpPr>
        <p:grpSp>
          <p:nvGrpSpPr>
            <p:cNvPr id="5" name="Editable paper diagram">
              <a:extLst>
                <a:ext uri="{FF2B5EF4-FFF2-40B4-BE49-F238E27FC236}">
                  <a16:creationId xmlns:a16="http://schemas.microsoft.com/office/drawing/2014/main" id="{3E720622-1F8A-F2B1-0146-AC827FE1C58C}"/>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541190D4-1CE5-93BE-B68E-92B669ADB84B}"/>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F2A1E204-3DE2-89D7-1004-5DDCB5428EB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91CF5C72-BD9A-F939-9908-A4B0D78F263F}"/>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F52EFE7D-8EE8-35B7-491A-DA6604DDE3B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EFD9C1D-1584-B429-5B4E-E97FBADDB120}"/>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64461D3-9FED-609F-085E-0D3477925D58}"/>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3175"/>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C8D1CB86-F141-AEC7-A01B-A16931C1D3AA}"/>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A05EFA2A-23E7-E923-49B1-32B1CFA2B41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7"/>
                    <a:stretch>
                      <a:fillRect/>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68944B2D-AEC1-60B0-5074-FBF5CBC19A08}"/>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965A9B1C-DAD1-3BE1-30FB-AEDE6748E66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15" name="Filtered z">
                  <a:extLst>
                    <a:ext uri="{FF2B5EF4-FFF2-40B4-BE49-F238E27FC236}">
                      <a16:creationId xmlns:a16="http://schemas.microsoft.com/office/drawing/2014/main" id="{965A9B1C-DAD1-3BE1-30FB-AEDE6748E66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8"/>
                  <a:stretch>
                    <a:fillRect r="-30000" b="-3175"/>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CB928799-9D30-09B2-D68B-1FBF1846286F}"/>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391DED61-11C6-3A04-3F50-780E564604F6}"/>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17" name="Filtered w">
                  <a:extLst>
                    <a:ext uri="{FF2B5EF4-FFF2-40B4-BE49-F238E27FC236}">
                      <a16:creationId xmlns:a16="http://schemas.microsoft.com/office/drawing/2014/main" id="{391DED61-11C6-3A04-3F50-780E564604F6}"/>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9"/>
                  <a:stretch>
                    <a:fillRect r="-30435"/>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F466BE69-BC73-0953-9C63-3FD78C61054D}"/>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88BAB54-4038-5FE9-31AA-185B9246CEB3}"/>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p:sp>
              <p:nvSpPr>
                <p:cNvPr id="19" name="TextBox 18">
                  <a:extLst>
                    <a:ext uri="{FF2B5EF4-FFF2-40B4-BE49-F238E27FC236}">
                      <a16:creationId xmlns:a16="http://schemas.microsoft.com/office/drawing/2014/main" id="{888BAB54-4038-5FE9-31AA-185B9246CEB3}"/>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10"/>
                  <a:stretch>
                    <a:fillRect/>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6DB3580D-D76A-BEF1-1F0A-5887011ABABD}"/>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82DCF2F4-07E8-5C49-A7CE-8C1F7430CAA4}"/>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1FE80A19-4B48-271E-9C77-F63C1771857C}"/>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AE3DBA11-7644-65B0-EC95-0C9DB124CA75}"/>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spTree>
    <p:extLst>
      <p:ext uri="{BB962C8B-B14F-4D97-AF65-F5344CB8AC3E}">
        <p14:creationId xmlns:p14="http://schemas.microsoft.com/office/powerpoint/2010/main" val="262238849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6ED19-C599-62B9-81BB-B2A394F06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D0ABB-510C-F080-8AED-0AB443F8BDE2}"/>
              </a:ext>
            </a:extLst>
          </p:cNvPr>
          <p:cNvSpPr>
            <a:spLocks noGrp="1"/>
          </p:cNvSpPr>
          <p:nvPr>
            <p:ph type="title"/>
          </p:nvPr>
        </p:nvSpPr>
        <p:spPr/>
        <p:txBody>
          <a:bodyPr/>
          <a:lstStyle/>
          <a:p>
            <a:r>
              <a:rPr lang="en-US" dirty="0"/>
              <a:t>Comparing our results</a:t>
            </a:r>
            <a:endParaRPr lang="en-NL" dirty="0"/>
          </a:p>
        </p:txBody>
      </p:sp>
      <p:sp>
        <p:nvSpPr>
          <p:cNvPr id="3" name="Footer Placeholder 2">
            <a:extLst>
              <a:ext uri="{FF2B5EF4-FFF2-40B4-BE49-F238E27FC236}">
                <a16:creationId xmlns:a16="http://schemas.microsoft.com/office/drawing/2014/main" id="{D224C89E-BFC8-F46E-97AB-F7836E8AB52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B28239B9-2B5F-5FF7-E28A-C92D2D8B23B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45</a:t>
            </a:fld>
            <a:endParaRPr lang="en-GB"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AE2A97D3-E40F-1FE6-35C1-5270D32F3C84}"/>
                  </a:ext>
                </a:extLst>
              </p:cNvPr>
              <p:cNvSpPr txBox="1"/>
              <p:nvPr/>
            </p:nvSpPr>
            <p:spPr>
              <a:xfrm>
                <a:off x="5626195" y="3318955"/>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xmlns:m="http://schemas.openxmlformats.org/officeDocument/2006/math">
          <p:sp>
            <p:nvSpPr>
              <p:cNvPr id="208" name="TextBox 207">
                <a:extLst>
                  <a:ext uri="{FF2B5EF4-FFF2-40B4-BE49-F238E27FC236}">
                    <a16:creationId xmlns:a16="http://schemas.microsoft.com/office/drawing/2014/main" id="{AE2A97D3-E40F-1FE6-35C1-5270D32F3C84}"/>
                  </a:ext>
                </a:extLst>
              </p:cNvPr>
              <p:cNvSpPr txBox="1">
                <a:spLocks noRot="1" noChangeAspect="1" noMove="1" noResize="1" noEditPoints="1" noAdjustHandles="1" noChangeArrowheads="1" noChangeShapeType="1" noTextEdit="1"/>
              </p:cNvSpPr>
              <p:nvPr/>
            </p:nvSpPr>
            <p:spPr>
              <a:xfrm>
                <a:off x="5626195" y="3318955"/>
                <a:ext cx="1126911" cy="345094"/>
              </a:xfrm>
              <a:prstGeom prst="rect">
                <a:avLst/>
              </a:prstGeom>
              <a:blipFill>
                <a:blip r:embed="rId2"/>
                <a:stretch>
                  <a:fillRect l="-3243" t="-1754" b="-15789"/>
                </a:stretch>
              </a:blipFill>
            </p:spPr>
            <p:txBody>
              <a:bodyPr/>
              <a:lstStyle/>
              <a:p>
                <a:r>
                  <a:rPr lang="en-NL">
                    <a:noFill/>
                  </a:rPr>
                  <a:t> </a:t>
                </a:r>
              </a:p>
            </p:txBody>
          </p:sp>
        </mc:Fallback>
      </mc:AlternateContent>
      <p:grpSp>
        <p:nvGrpSpPr>
          <p:cNvPr id="41" name="Group 40">
            <a:extLst>
              <a:ext uri="{FF2B5EF4-FFF2-40B4-BE49-F238E27FC236}">
                <a16:creationId xmlns:a16="http://schemas.microsoft.com/office/drawing/2014/main" id="{599ACC59-C692-FD94-98DB-504E28AAE7E3}"/>
              </a:ext>
            </a:extLst>
          </p:cNvPr>
          <p:cNvGrpSpPr/>
          <p:nvPr/>
        </p:nvGrpSpPr>
        <p:grpSpPr>
          <a:xfrm>
            <a:off x="5011475" y="773228"/>
            <a:ext cx="3242168" cy="2133926"/>
            <a:chOff x="457200" y="1308149"/>
            <a:chExt cx="4258843" cy="2803080"/>
          </a:xfrm>
        </p:grpSpPr>
        <p:grpSp>
          <p:nvGrpSpPr>
            <p:cNvPr id="5" name="Editable paper diagram">
              <a:extLst>
                <a:ext uri="{FF2B5EF4-FFF2-40B4-BE49-F238E27FC236}">
                  <a16:creationId xmlns:a16="http://schemas.microsoft.com/office/drawing/2014/main" id="{493A489D-BB80-6F52-EAE9-51F0A98212B3}"/>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1DED56E4-01EA-1A62-2E7F-314B68E750BA}"/>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4E139EE1-B320-B1F9-9055-2F2997CF0424}"/>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31474593-960A-AE51-9AC4-B78989D6548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181D140A-8B49-7008-042A-60FE826AA5E7}"/>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9" name="Controller label">
                    <a:extLst>
                      <a:ext uri="{FF2B5EF4-FFF2-40B4-BE49-F238E27FC236}">
                        <a16:creationId xmlns:a16="http://schemas.microsoft.com/office/drawing/2014/main" id="{181D140A-8B49-7008-042A-60FE826AA5E7}"/>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3"/>
                    <a:stretch>
                      <a:fillRect l="-20238" t="-3226" b="-806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0457591B-640E-0490-B00B-C3EDC6C37E9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0" name="Controller external channel">
                    <a:extLst>
                      <a:ext uri="{FF2B5EF4-FFF2-40B4-BE49-F238E27FC236}">
                        <a16:creationId xmlns:a16="http://schemas.microsoft.com/office/drawing/2014/main" id="{0457591B-640E-0490-B00B-C3EDC6C37E99}"/>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4"/>
                    <a:stretch>
                      <a:fillRect b="-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3C4CB5A-2ED5-5D07-93CD-FD0F6A4BBD06}"/>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11" name="Plant measured channel">
                    <a:extLst>
                      <a:ext uri="{FF2B5EF4-FFF2-40B4-BE49-F238E27FC236}">
                        <a16:creationId xmlns:a16="http://schemas.microsoft.com/office/drawing/2014/main" id="{B3C4CB5A-2ED5-5D07-93CD-FD0F6A4BBD06}"/>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5"/>
                    <a:stretch>
                      <a:fillRect b="-20833"/>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A5434F1E-9DA5-C179-C1AA-6BB860217CA2}"/>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4C78814A-0A84-F6FB-478F-1CD6589A187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3" name="Plant label">
                    <a:extLst>
                      <a:ext uri="{FF2B5EF4-FFF2-40B4-BE49-F238E27FC236}">
                        <a16:creationId xmlns:a16="http://schemas.microsoft.com/office/drawing/2014/main" id="{4C78814A-0A84-F6FB-478F-1CD6589A187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6"/>
                    <a:stretch>
                      <a:fillRect t="-3279" b="-9836"/>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42C37682-9DA6-22D3-1C52-B1E76165AA60}"/>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C3BC4164-5584-B360-ECD1-3DF94FD7ACF7}"/>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15" name="Filtered z">
                  <a:extLst>
                    <a:ext uri="{FF2B5EF4-FFF2-40B4-BE49-F238E27FC236}">
                      <a16:creationId xmlns:a16="http://schemas.microsoft.com/office/drawing/2014/main" id="{C3BC4164-5584-B360-ECD1-3DF94FD7ACF7}"/>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7"/>
                  <a:stretch>
                    <a:fillRect l="-5660" t="-14894" r="-50943" b="-21277"/>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24B2D67A-1EB7-FECB-2CF5-8358AAF889E6}"/>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6F7055CB-40D0-A2DE-E86B-F54D92AED0D9}"/>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17" name="Filtered w">
                  <a:extLst>
                    <a:ext uri="{FF2B5EF4-FFF2-40B4-BE49-F238E27FC236}">
                      <a16:creationId xmlns:a16="http://schemas.microsoft.com/office/drawing/2014/main" id="{6F7055CB-40D0-A2DE-E86B-F54D92AED0D9}"/>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8"/>
                  <a:stretch>
                    <a:fillRect t="-6250" r="-49057"/>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AC98461C-724B-330C-F5CA-B7D6291F0315}"/>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2567E37-B80E-6D1D-8A3B-D250E15E4968}"/>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xmlns:m="http://schemas.openxmlformats.org/officeDocument/2006/math">
            <p:sp>
              <p:nvSpPr>
                <p:cNvPr id="19" name="TextBox 18">
                  <a:extLst>
                    <a:ext uri="{FF2B5EF4-FFF2-40B4-BE49-F238E27FC236}">
                      <a16:creationId xmlns:a16="http://schemas.microsoft.com/office/drawing/2014/main" id="{B2567E37-B80E-6D1D-8A3B-D250E15E4968}"/>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9"/>
                  <a:stretch>
                    <a:fillRect l="-2857" b="-25000"/>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39ECEAEE-F823-2041-A285-2A76D257C1E4}"/>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2468149D-F614-EB34-9B4B-9ACA62430A27}"/>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5CEF782D-481C-126F-B9A2-153F9F1D09FB}"/>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BD4EECDD-78D4-E8F7-5005-F6223BDE6FEA}"/>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grpSp>
        <p:nvGrpSpPr>
          <p:cNvPr id="43" name="Group 42">
            <a:extLst>
              <a:ext uri="{FF2B5EF4-FFF2-40B4-BE49-F238E27FC236}">
                <a16:creationId xmlns:a16="http://schemas.microsoft.com/office/drawing/2014/main" id="{798F3A07-AC50-DA80-C8D3-64B32D895ACC}"/>
              </a:ext>
            </a:extLst>
          </p:cNvPr>
          <p:cNvGrpSpPr/>
          <p:nvPr/>
        </p:nvGrpSpPr>
        <p:grpSpPr>
          <a:xfrm>
            <a:off x="890357" y="1049691"/>
            <a:ext cx="2398384" cy="1758556"/>
            <a:chOff x="4852337" y="1150927"/>
            <a:chExt cx="3822946" cy="2803080"/>
          </a:xfrm>
        </p:grpSpPr>
        <p:grpSp>
          <p:nvGrpSpPr>
            <p:cNvPr id="24" name="Editable paper diagram">
              <a:extLst>
                <a:ext uri="{FF2B5EF4-FFF2-40B4-BE49-F238E27FC236}">
                  <a16:creationId xmlns:a16="http://schemas.microsoft.com/office/drawing/2014/main" id="{4826EC0E-538C-33C5-A33E-CA53E101B7C9}"/>
                </a:ext>
              </a:extLst>
            </p:cNvPr>
            <p:cNvGrpSpPr/>
            <p:nvPr/>
          </p:nvGrpSpPr>
          <p:grpSpPr>
            <a:xfrm>
              <a:off x="4852337" y="1150927"/>
              <a:ext cx="3138932" cy="1845056"/>
              <a:chOff x="1995932" y="2514600"/>
              <a:chExt cx="3138932" cy="1845056"/>
            </a:xfrm>
          </p:grpSpPr>
          <p:sp>
            <p:nvSpPr>
              <p:cNvPr id="25" name="Controller plant channel">
                <a:extLst>
                  <a:ext uri="{FF2B5EF4-FFF2-40B4-BE49-F238E27FC236}">
                    <a16:creationId xmlns:a16="http://schemas.microsoft.com/office/drawing/2014/main" id="{3D57FF94-D4AE-20C6-CFB3-2B70D9BB58AF}"/>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6" name="Plant controller channel">
                <a:extLst>
                  <a:ext uri="{FF2B5EF4-FFF2-40B4-BE49-F238E27FC236}">
                    <a16:creationId xmlns:a16="http://schemas.microsoft.com/office/drawing/2014/main" id="{B0183AB3-6FCD-AF08-61A9-1BA1B765B6E6}"/>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27" name="Controller">
                <a:extLst>
                  <a:ext uri="{FF2B5EF4-FFF2-40B4-BE49-F238E27FC236}">
                    <a16:creationId xmlns:a16="http://schemas.microsoft.com/office/drawing/2014/main" id="{770094BB-26BD-9D1D-924F-088780E4EB1D}"/>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8" name="Controller label">
                    <a:extLst>
                      <a:ext uri="{FF2B5EF4-FFF2-40B4-BE49-F238E27FC236}">
                        <a16:creationId xmlns:a16="http://schemas.microsoft.com/office/drawing/2014/main" id="{D1F05A0F-DA1C-49F1-1FAA-C65EFCCC4FA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28" name="Controller label">
                    <a:extLst>
                      <a:ext uri="{FF2B5EF4-FFF2-40B4-BE49-F238E27FC236}">
                        <a16:creationId xmlns:a16="http://schemas.microsoft.com/office/drawing/2014/main" id="{D1F05A0F-DA1C-49F1-1FAA-C65EFCCC4FAF}"/>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10"/>
                    <a:stretch>
                      <a:fillRect l="-13043" t="-5882" b="-196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Controller external channel">
                    <a:extLst>
                      <a:ext uri="{FF2B5EF4-FFF2-40B4-BE49-F238E27FC236}">
                        <a16:creationId xmlns:a16="http://schemas.microsoft.com/office/drawing/2014/main" id="{470FD384-6AF8-496D-AF47-BD8C6A74A70E}"/>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9" name="Controller external channel">
                    <a:extLst>
                      <a:ext uri="{FF2B5EF4-FFF2-40B4-BE49-F238E27FC236}">
                        <a16:creationId xmlns:a16="http://schemas.microsoft.com/office/drawing/2014/main" id="{470FD384-6AF8-496D-AF47-BD8C6A74A70E}"/>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11"/>
                    <a:stretch>
                      <a:fillRect b="-1282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 name="Plant measured channel">
                    <a:extLst>
                      <a:ext uri="{FF2B5EF4-FFF2-40B4-BE49-F238E27FC236}">
                        <a16:creationId xmlns:a16="http://schemas.microsoft.com/office/drawing/2014/main" id="{C57EA000-FF0D-B5C2-D968-EC8D37F2979C}"/>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xmlns:m="http://schemas.openxmlformats.org/officeDocument/2006/math">
              <p:sp>
                <p:nvSpPr>
                  <p:cNvPr id="30" name="Plant measured channel">
                    <a:extLst>
                      <a:ext uri="{FF2B5EF4-FFF2-40B4-BE49-F238E27FC236}">
                        <a16:creationId xmlns:a16="http://schemas.microsoft.com/office/drawing/2014/main" id="{C57EA000-FF0D-B5C2-D968-EC8D37F2979C}"/>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12"/>
                    <a:stretch>
                      <a:fillRect l="-1724" b="-48718"/>
                    </a:stretch>
                  </a:blipFill>
                  <a:ln>
                    <a:noFill/>
                  </a:ln>
                </p:spPr>
                <p:txBody>
                  <a:bodyPr/>
                  <a:lstStyle/>
                  <a:p>
                    <a:r>
                      <a:rPr lang="en-NL">
                        <a:noFill/>
                      </a:rPr>
                      <a:t> </a:t>
                    </a:r>
                  </a:p>
                </p:txBody>
              </p:sp>
            </mc:Fallback>
          </mc:AlternateContent>
          <p:sp>
            <p:nvSpPr>
              <p:cNvPr id="31" name="Plant">
                <a:extLst>
                  <a:ext uri="{FF2B5EF4-FFF2-40B4-BE49-F238E27FC236}">
                    <a16:creationId xmlns:a16="http://schemas.microsoft.com/office/drawing/2014/main" id="{306EDB80-6439-1A9B-97B8-1CE2BE569791}"/>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2" name="Plant label">
                    <a:extLst>
                      <a:ext uri="{FF2B5EF4-FFF2-40B4-BE49-F238E27FC236}">
                        <a16:creationId xmlns:a16="http://schemas.microsoft.com/office/drawing/2014/main" id="{5895DCDF-4817-F7B4-224F-7AB28823D4D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32" name="Plant label">
                    <a:extLst>
                      <a:ext uri="{FF2B5EF4-FFF2-40B4-BE49-F238E27FC236}">
                        <a16:creationId xmlns:a16="http://schemas.microsoft.com/office/drawing/2014/main" id="{5895DCDF-4817-F7B4-224F-7AB28823D4D2}"/>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3"/>
                    <a:stretch>
                      <a:fillRect t="-3922" b="-21569"/>
                    </a:stretch>
                  </a:blipFill>
                  <a:ln>
                    <a:noFill/>
                  </a:ln>
                </p:spPr>
                <p:txBody>
                  <a:bodyPr/>
                  <a:lstStyle/>
                  <a:p>
                    <a:r>
                      <a:rPr lang="en-NL">
                        <a:noFill/>
                      </a:rPr>
                      <a:t> </a:t>
                    </a:r>
                  </a:p>
                </p:txBody>
              </p:sp>
            </mc:Fallback>
          </mc:AlternateContent>
        </p:grpSp>
        <p:sp>
          <p:nvSpPr>
            <p:cNvPr id="33" name="z filtered output">
              <a:extLst>
                <a:ext uri="{FF2B5EF4-FFF2-40B4-BE49-F238E27FC236}">
                  <a16:creationId xmlns:a16="http://schemas.microsoft.com/office/drawing/2014/main" id="{94F57564-54F2-B095-D190-9F8063B7F892}"/>
                </a:ext>
              </a:extLst>
            </p:cNvPr>
            <p:cNvSpPr/>
            <p:nvPr/>
          </p:nvSpPr>
          <p:spPr>
            <a:xfrm>
              <a:off x="8067207" y="328344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4" name="w filtered output">
              <a:extLst>
                <a:ext uri="{FF2B5EF4-FFF2-40B4-BE49-F238E27FC236}">
                  <a16:creationId xmlns:a16="http://schemas.microsoft.com/office/drawing/2014/main" id="{2A9FABA9-988F-8AB0-BD52-2EC4B72559DC}"/>
                </a:ext>
              </a:extLst>
            </p:cNvPr>
            <p:cNvSpPr/>
            <p:nvPr/>
          </p:nvSpPr>
          <p:spPr>
            <a:xfrm>
              <a:off x="8067207" y="365936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5" name="Dynamic filter">
              <a:extLst>
                <a:ext uri="{FF2B5EF4-FFF2-40B4-BE49-F238E27FC236}">
                  <a16:creationId xmlns:a16="http://schemas.microsoft.com/office/drawing/2014/main" id="{0FFA6D40-7908-29BA-21FE-FF6B8CCCE936}"/>
                </a:ext>
              </a:extLst>
            </p:cNvPr>
            <p:cNvSpPr/>
            <p:nvPr/>
          </p:nvSpPr>
          <p:spPr>
            <a:xfrm>
              <a:off x="7140107" y="3014207"/>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9E042DC-8883-4A17-080C-B4BF761081D5}"/>
                    </a:ext>
                  </a:extLst>
                </p:cNvPr>
                <p:cNvSpPr txBox="1"/>
                <p:nvPr/>
              </p:nvSpPr>
              <p:spPr>
                <a:xfrm>
                  <a:off x="7474491" y="3268403"/>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xmlns:m="http://schemas.openxmlformats.org/officeDocument/2006/math">
            <p:sp>
              <p:nvSpPr>
                <p:cNvPr id="36" name="TextBox 35">
                  <a:extLst>
                    <a:ext uri="{FF2B5EF4-FFF2-40B4-BE49-F238E27FC236}">
                      <a16:creationId xmlns:a16="http://schemas.microsoft.com/office/drawing/2014/main" id="{89E042DC-8883-4A17-080C-B4BF761081D5}"/>
                    </a:ext>
                  </a:extLst>
                </p:cNvPr>
                <p:cNvSpPr txBox="1">
                  <a:spLocks noRot="1" noChangeAspect="1" noMove="1" noResize="1" noEditPoints="1" noAdjustHandles="1" noChangeArrowheads="1" noChangeShapeType="1" noTextEdit="1"/>
                </p:cNvSpPr>
                <p:nvPr/>
              </p:nvSpPr>
              <p:spPr>
                <a:xfrm>
                  <a:off x="7474491" y="3268403"/>
                  <a:ext cx="283732" cy="398571"/>
                </a:xfrm>
                <a:prstGeom prst="rect">
                  <a:avLst/>
                </a:prstGeom>
                <a:blipFill>
                  <a:blip r:embed="rId14"/>
                  <a:stretch>
                    <a:fillRect l="-65517" r="-82759" b="-68293"/>
                  </a:stretch>
                </a:blipFill>
              </p:spPr>
              <p:txBody>
                <a:bodyPr/>
                <a:lstStyle/>
                <a:p>
                  <a:r>
                    <a:rPr lang="en-NL">
                      <a:noFill/>
                    </a:rPr>
                    <a:t> </a:t>
                  </a:r>
                </a:p>
              </p:txBody>
            </p:sp>
          </mc:Fallback>
        </mc:AlternateContent>
        <p:sp>
          <p:nvSpPr>
            <p:cNvPr id="37" name="Connector: Elbow 54">
              <a:extLst>
                <a:ext uri="{FF2B5EF4-FFF2-40B4-BE49-F238E27FC236}">
                  <a16:creationId xmlns:a16="http://schemas.microsoft.com/office/drawing/2014/main" id="{D988B71F-762C-35D5-A026-0B7A8D6D61FE}"/>
                </a:ext>
              </a:extLst>
            </p:cNvPr>
            <p:cNvSpPr/>
            <p:nvPr/>
          </p:nvSpPr>
          <p:spPr>
            <a:xfrm>
              <a:off x="6869605" y="2644955"/>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8" name="Connector: Elbow 60">
              <a:extLst>
                <a:ext uri="{FF2B5EF4-FFF2-40B4-BE49-F238E27FC236}">
                  <a16:creationId xmlns:a16="http://schemas.microsoft.com/office/drawing/2014/main" id="{5F8695F7-6BAF-AD3D-F53A-40468F26BC2B}"/>
                </a:ext>
              </a:extLst>
            </p:cNvPr>
            <p:cNvSpPr/>
            <p:nvPr/>
          </p:nvSpPr>
          <p:spPr>
            <a:xfrm>
              <a:off x="5636383" y="2644955"/>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9" name="Signal tap 200">
              <a:extLst>
                <a:ext uri="{FF2B5EF4-FFF2-40B4-BE49-F238E27FC236}">
                  <a16:creationId xmlns:a16="http://schemas.microsoft.com/office/drawing/2014/main" id="{8BEC5FF8-2A5D-A89B-AA36-EA4F81210DB8}"/>
                </a:ext>
              </a:extLst>
            </p:cNvPr>
            <p:cNvSpPr/>
            <p:nvPr/>
          </p:nvSpPr>
          <p:spPr>
            <a:xfrm>
              <a:off x="6864525" y="2639875"/>
              <a:ext cx="35560" cy="35560"/>
            </a:xfrm>
            <a:prstGeom prst="ellipse">
              <a:avLst/>
            </a:prstGeom>
            <a:solidFill>
              <a:srgbClr val="252529"/>
            </a:solidFill>
            <a:ln>
              <a:noFill/>
            </a:ln>
          </p:spPr>
          <p:txBody>
            <a:bodyPr/>
            <a:lstStyle/>
            <a:p>
              <a:endParaRPr lang="en-NL"/>
            </a:p>
          </p:txBody>
        </p:sp>
        <p:sp>
          <p:nvSpPr>
            <p:cNvPr id="40" name="Signal tap 201">
              <a:extLst>
                <a:ext uri="{FF2B5EF4-FFF2-40B4-BE49-F238E27FC236}">
                  <a16:creationId xmlns:a16="http://schemas.microsoft.com/office/drawing/2014/main" id="{D578B09D-C1DD-BE95-1D67-5283D70816D7}"/>
                </a:ext>
              </a:extLst>
            </p:cNvPr>
            <p:cNvSpPr/>
            <p:nvPr/>
          </p:nvSpPr>
          <p:spPr>
            <a:xfrm>
              <a:off x="5631303" y="2639875"/>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5001" name="Primal filtered y"/>
                <p:cNvSpPr/>
                <p:nvPr/>
              </p:nvSpPr>
              <p:spPr>
                <a:xfrm>
                  <a:off x="8573683" y="299134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𝑦</m:t>
                            </m:r>
                          </m:e>
                        </m:acc>
                      </m:oMath>
                    </m:oMathPara>
                  </a14:m>
                  <a:endParaRPr sz="2000"/>
                </a:p>
              </p:txBody>
            </p:sp>
          </mc:Choice>
          <mc:Fallback xmlns="">
            <p:sp>
              <p:nvSpPr>
                <p:cNvPr id="5001" name="Primal filtered y"/>
                <p:cNvSpPr>
                  <a:spLocks noRot="1" noChangeAspect="1" noMove="1" noResize="1" noEditPoints="1" noAdjustHandles="1" noChangeArrowheads="1" noChangeShapeType="1" noTextEdit="1"/>
                </p:cNvSpPr>
                <p:nvPr/>
              </p:nvSpPr>
              <p:spPr>
                <a:xfrm>
                  <a:off x="8573683" y="2991347"/>
                  <a:ext cx="482600" cy="609600"/>
                </a:xfrm>
                <a:prstGeom prst="rect">
                  <a:avLst/>
                </a:prstGeom>
                <a:blipFill>
                  <a:blip r:embed="rId15"/>
                  <a:stretch>
                    <a:fillRect l="-12000" r="-5200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Primal filtered u"/>
                <p:cNvSpPr/>
                <p:nvPr/>
              </p:nvSpPr>
              <p:spPr>
                <a:xfrm>
                  <a:off x="8573683" y="336726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𝑢</m:t>
                            </m:r>
                          </m:e>
                        </m:acc>
                      </m:oMath>
                    </m:oMathPara>
                  </a14:m>
                  <a:endParaRPr sz="2000"/>
                </a:p>
              </p:txBody>
            </p:sp>
          </mc:Choice>
          <mc:Fallback xmlns="">
            <p:sp>
              <p:nvSpPr>
                <p:cNvPr id="5002" name="Primal filtered u"/>
                <p:cNvSpPr>
                  <a:spLocks noRot="1" noChangeAspect="1" noMove="1" noResize="1" noEditPoints="1" noAdjustHandles="1" noChangeArrowheads="1" noChangeShapeType="1" noTextEdit="1"/>
                </p:cNvSpPr>
                <p:nvPr/>
              </p:nvSpPr>
              <p:spPr>
                <a:xfrm>
                  <a:off x="8573683" y="3367267"/>
                  <a:ext cx="482600" cy="609600"/>
                </a:xfrm>
                <a:prstGeom prst="rect">
                  <a:avLst/>
                </a:prstGeom>
                <a:blipFill>
                  <a:blip r:embed="rId16"/>
                  <a:stretch>
                    <a:fillRect l="-6000" r="-48000"/>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886013C1-3F4C-B4AE-4303-8773B61DB26C}"/>
                  </a:ext>
                </a:extLst>
              </p:cNvPr>
              <p:cNvSpPr txBox="1"/>
              <p:nvPr/>
            </p:nvSpPr>
            <p:spPr>
              <a:xfrm>
                <a:off x="1792302" y="3332577"/>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xmlns:m="http://schemas.openxmlformats.org/officeDocument/2006/math">
          <p:sp>
            <p:nvSpPr>
              <p:cNvPr id="45" name="TextBox 44">
                <a:extLst>
                  <a:ext uri="{FF2B5EF4-FFF2-40B4-BE49-F238E27FC236}">
                    <a16:creationId xmlns:a16="http://schemas.microsoft.com/office/drawing/2014/main" id="{886013C1-3F4C-B4AE-4303-8773B61DB26C}"/>
                  </a:ext>
                </a:extLst>
              </p:cNvPr>
              <p:cNvSpPr txBox="1">
                <a:spLocks noRot="1" noChangeAspect="1" noMove="1" noResize="1" noEditPoints="1" noAdjustHandles="1" noChangeArrowheads="1" noChangeShapeType="1" noTextEdit="1"/>
              </p:cNvSpPr>
              <p:nvPr/>
            </p:nvSpPr>
            <p:spPr>
              <a:xfrm>
                <a:off x="1792302" y="3332577"/>
                <a:ext cx="1026178" cy="345094"/>
              </a:xfrm>
              <a:prstGeom prst="rect">
                <a:avLst/>
              </a:prstGeom>
              <a:blipFill>
                <a:blip r:embed="rId17"/>
                <a:stretch>
                  <a:fillRect l="-3571" t="-3571" b="-1785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8EBAE6E4-ACAE-C9BB-A81C-CC2DB5CB91CC}"/>
                  </a:ext>
                </a:extLst>
              </p:cNvPr>
              <p:cNvSpPr txBox="1"/>
              <p:nvPr/>
            </p:nvSpPr>
            <p:spPr>
              <a:xfrm>
                <a:off x="1797250" y="4315243"/>
                <a:ext cx="5827429" cy="313612"/>
              </a:xfrm>
              <a:prstGeom prst="rect">
                <a:avLst/>
              </a:prstGeom>
              <a:noFill/>
            </p:spPr>
            <p:txBody>
              <a:bodyPr wrap="none" rtlCol="0">
                <a:spAutoFit/>
              </a:bodyPr>
              <a:lstStyle/>
              <a:p>
                <a:r>
                  <a:rPr lang="en-US" dirty="0"/>
                  <a:t>We see that </a:t>
                </a:r>
                <a14:m>
                  <m:oMath xmlns:m="http://schemas.openxmlformats.org/officeDocument/2006/math">
                    <m:r>
                      <m:rPr>
                        <m:sty m:val="p"/>
                      </m:rPr>
                      <a:rPr lang="en-US" b="0" i="1"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e>
                      <m:sup>
                        <m:r>
                          <a:rPr lang="en-US" b="0" i="1" smtClean="0">
                            <a:latin typeface="Cambria Math" panose="02040503050406030204" pitchFamily="18" charset="0"/>
                          </a:rPr>
                          <m:t>⊤</m:t>
                        </m:r>
                      </m:sup>
                    </m:sSup>
                  </m:oMath>
                </a14:m>
                <a:r>
                  <a:rPr lang="en-US" dirty="0"/>
                  <a:t> so what operation could possibly describe this relation?</a:t>
                </a:r>
                <a:endParaRPr lang="en-NL" dirty="0"/>
              </a:p>
            </p:txBody>
          </p:sp>
        </mc:Choice>
        <mc:Fallback xmlns="" xmlns:m="http://schemas.openxmlformats.org/officeDocument/2006/math">
          <p:sp>
            <p:nvSpPr>
              <p:cNvPr id="46" name="TextBox 45">
                <a:extLst>
                  <a:ext uri="{FF2B5EF4-FFF2-40B4-BE49-F238E27FC236}">
                    <a16:creationId xmlns:a16="http://schemas.microsoft.com/office/drawing/2014/main" id="{8EBAE6E4-ACAE-C9BB-A81C-CC2DB5CB91CC}"/>
                  </a:ext>
                </a:extLst>
              </p:cNvPr>
              <p:cNvSpPr txBox="1">
                <a:spLocks noRot="1" noChangeAspect="1" noMove="1" noResize="1" noEditPoints="1" noAdjustHandles="1" noChangeArrowheads="1" noChangeShapeType="1" noTextEdit="1"/>
              </p:cNvSpPr>
              <p:nvPr/>
            </p:nvSpPr>
            <p:spPr>
              <a:xfrm>
                <a:off x="1797250" y="4315243"/>
                <a:ext cx="5827429" cy="313612"/>
              </a:xfrm>
              <a:prstGeom prst="rect">
                <a:avLst/>
              </a:prstGeom>
              <a:blipFill>
                <a:blip r:embed="rId18"/>
                <a:stretch>
                  <a:fillRect l="-314" t="-1961" b="-17647"/>
                </a:stretch>
              </a:blipFill>
            </p:spPr>
            <p:txBody>
              <a:bodyPr/>
              <a:lstStyle/>
              <a:p>
                <a:r>
                  <a:rPr lang="en-NL">
                    <a:noFill/>
                  </a:rPr>
                  <a:t> </a:t>
                </a:r>
              </a:p>
            </p:txBody>
          </p:sp>
        </mc:Fallback>
      </mc:AlternateContent>
    </p:spTree>
    <p:extLst>
      <p:ext uri="{BB962C8B-B14F-4D97-AF65-F5344CB8AC3E}">
        <p14:creationId xmlns:p14="http://schemas.microsoft.com/office/powerpoint/2010/main" val="394660674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46</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48</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spTree>
    <p:extLst>
      <p:ext uri="{BB962C8B-B14F-4D97-AF65-F5344CB8AC3E}">
        <p14:creationId xmlns:p14="http://schemas.microsoft.com/office/powerpoint/2010/main" val="196267245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m="http://schemas.openxmlformats.org/officeDocument/2006/math"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53</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54</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55</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5503</TotalTime>
  <Words>8914</Words>
  <Application>Microsoft Office PowerPoint</Application>
  <PresentationFormat>On-screen Show (16:9)</PresentationFormat>
  <Paragraphs>1474</Paragraphs>
  <Slides>56</Slides>
  <Notes>44</Notes>
  <HiddenSlides>0</HiddenSlides>
  <MMClips>10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56</vt:i4>
      </vt:variant>
    </vt:vector>
  </HeadingPairs>
  <TitlesOfParts>
    <vt:vector size="62"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PowerPoint Presentation</vt:lpstr>
      <vt:lpstr>PowerPoint Presentation</vt:lpstr>
      <vt:lpstr>PowerPoint Presentation</vt:lpstr>
      <vt:lpstr>PowerPoint Presentation</vt:lpstr>
      <vt:lpstr>PowerPoint Presentation</vt:lpstr>
      <vt:lpstr>PowerPoint Presentation</vt:lpstr>
      <vt:lpstr>Alternative system representation</vt:lpstr>
      <vt:lpstr>PowerPoint Presentation</vt:lpstr>
      <vt:lpstr>PowerPoint Presentation</vt:lpstr>
      <vt:lpstr>PowerPoint Presentation</vt:lpstr>
      <vt:lpstr>PowerPoint Presentation</vt:lpstr>
      <vt:lpstr>PowerPoint Presentation</vt:lpstr>
      <vt:lpstr>PowerPoint Presentation</vt:lpstr>
      <vt:lpstr>Feedback stabilization</vt:lpstr>
      <vt:lpstr>PowerPoint Presentation</vt:lpstr>
      <vt:lpstr>PowerPoint Presentation</vt:lpstr>
      <vt:lpstr>PowerPoint Presentation</vt:lpstr>
      <vt:lpstr>PowerPoint Presentation</vt:lpstr>
      <vt:lpstr>Thought experiment replace K by \Θ</vt:lpstr>
      <vt:lpstr>Thought experiment replace K^⊤ by ▁Θ</vt:lpstr>
      <vt:lpstr>Comparing our results</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Thijs Lenssen</cp:lastModifiedBy>
  <cp:revision>34</cp:revision>
  <dcterms:created xsi:type="dcterms:W3CDTF">2019-11-27T15:26:32Z</dcterms:created>
  <dcterms:modified xsi:type="dcterms:W3CDTF">2026-09-27T15:39:49Z</dcterms:modified>
</cp:coreProperties>
</file>