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7"/>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48" r:id="rId36"/>
    <p:sldId id="449" r:id="rId52"/>
    <p:sldId id="439" r:id="rId37"/>
    <p:sldId id="421" r:id="rId38"/>
    <p:sldId id="427" r:id="rId39"/>
    <p:sldId id="431" r:id="rId40"/>
    <p:sldId id="428" r:id="rId41"/>
    <p:sldId id="429" r:id="rId42"/>
    <p:sldId id="432" r:id="rId43"/>
    <p:sldId id="430" r:id="rId44"/>
    <p:sldId id="433" r:id="rId45"/>
    <p:sldId id="434" r:id="rId46"/>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00" d="100"/>
          <a:sy n="100" d="100"/>
        </p:scale>
        <p:origin x="1360" y="18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52"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45</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550">
                          <a:solidFill>
                            <a:srgbClr val="252529"/>
                          </a:solidFill>
                          <a:latin typeface="Cambria Math"/>
                        </a:rPr>
                        <m:t xml:space="preserve">𝐺</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𝑇</m:t>
                      </m:r>
                      <m:acc>
                        <m:accPr>
                          <m:chr m:val="̇"/>
                          <m:ctrlPr>
                            <a:rPr lang="en-US" sz="1550">
                              <a:solidFill>
                                <a:srgbClr val="252529"/>
                              </a:solidFill>
                              <a:latin typeface="Cambria Math"/>
                            </a:rPr>
                          </m:ctrlPr>
                        </m:accPr>
                        <m:e>
                          <m:r>
                            <m:rPr>
                              <m:sty m:val="p"/>
                            </m:rPr>
                            <a:rPr lang="en-US" sz="1550">
                              <a:solidFill>
                                <a:srgbClr val="252529"/>
                              </a:solidFill>
                              <a:latin typeface="Cambria Math"/>
                            </a:rPr>
                            <m:t xml:space="preserve">𝑥</m:t>
                          </m:r>
                        </m:e>
                      </m:acc>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𝐴</m:t>
                      </m:r>
                      <m:r>
                        <m:rPr>
                          <m:sty m:val="p"/>
                        </m:rPr>
                        <a:rPr lang="en-US" sz="1550">
                          <a:solidFill>
                            <a:srgbClr val="252529"/>
                          </a:solidFill>
                          <a:latin typeface="Cambria Math"/>
                        </a:rPr>
                        <m:t xml:space="preserve">𝑥</m:t>
                      </m:r>
                      <m:r>
                        <m:rPr>
                          <m:sty m:val="p"/>
                        </m:rPr>
                        <a:rPr lang="en-US" sz="1550">
                          <a:solidFill>
                            <a:srgbClr val="252529"/>
                          </a:solidFill>
                          <a:latin typeface="Cambria Math"/>
                        </a:rPr>
                        <m:t xml:space="preserve">+</m:t>
                      </m:r>
                      <m:sSub>
                        <m:sSubPr>
                          <m:ctrlPr>
                            <a:rPr lang="en-US" sz="1550">
                              <a:solidFill>
                                <a:srgbClr val="252529"/>
                              </a:solidFill>
                              <a:latin typeface="Cambria Math"/>
                            </a:rPr>
                          </m:ctrlPr>
                        </m:sSubPr>
                        <m:e>
                          <m:r>
                            <m:rPr>
                              <m:sty m:val="p"/>
                            </m:rPr>
                            <a:rPr lang="en-US" sz="1550">
                              <a:solidFill>
                                <a:srgbClr val="252529"/>
                              </a:solidFill>
                              <a:latin typeface="Cambria Math"/>
                            </a:rPr>
                            <m:t xml:space="preserve">𝐵</m:t>
                          </m:r>
                        </m:e>
                        <m:sub>
                          <m:r>
                            <m:rPr>
                              <m:sty m:val="p"/>
                            </m:rPr>
                            <a:rPr lang="en-US" sz="1550">
                              <a:solidFill>
                                <a:srgbClr val="252529"/>
                              </a:solidFill>
                              <a:latin typeface="Cambria Math"/>
                            </a:rPr>
                            <m:t xml:space="preserve">u</m:t>
                          </m:r>
                        </m:sub>
                      </m:sSub>
                      <m:r>
                        <m:rPr>
                          <m:sty m:val="p"/>
                        </m:rPr>
                        <a:rPr lang="en-US" sz="1550">
                          <a:solidFill>
                            <a:srgbClr val="252529"/>
                          </a:solidFill>
                          <a:latin typeface="Cambria Math"/>
                        </a:rPr>
                        <m:t xml:space="preserve">𝑢</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𝑦</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𝑥</m:t>
                      </m:r>
                    </m:oMath>
                  </m:oMathPara>
                </a14:m>
                <a:endParaRPr sz="1550">
                  <a:latin typeface="Cambria Math"/>
                </a:endParaRPr>
              </a:p>
            </p:txBody>
          </p:sp>
        </mc:Choice>
        <mc:Fallback>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550">
                          <a:solidFill>
                            <a:srgbClr val="252529"/>
                          </a:solidFill>
                          <a:latin typeface="Cambria Math"/>
                        </a:rPr>
                        <m:t xml:space="preserve">𝑢</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𝐾</m:t>
                      </m:r>
                      <m:r>
                        <m:rPr>
                          <m:sty m:val="p"/>
                        </m:rPr>
                        <a:rPr lang="en-US" sz="1550">
                          <a:solidFill>
                            <a:srgbClr val="252529"/>
                          </a:solidFill>
                          <a:latin typeface="Cambria Math"/>
                        </a:rPr>
                        <m:t xml:space="preserve">𝑦</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𝑇</m:t>
                      </m:r>
                      <m:acc>
                        <m:accPr>
                          <m:chr m:val="̇"/>
                          <m:ctrlPr>
                            <a:rPr lang="en-US" sz="1550">
                              <a:solidFill>
                                <a:srgbClr val="252529"/>
                              </a:solidFill>
                              <a:latin typeface="Cambria Math"/>
                            </a:rPr>
                          </m:ctrlPr>
                        </m:accPr>
                        <m:e>
                          <m:r>
                            <m:rPr>
                              <m:sty m:val="p"/>
                            </m:rPr>
                            <a:rPr lang="en-US" sz="1550">
                              <a:solidFill>
                                <a:srgbClr val="252529"/>
                              </a:solidFill>
                              <a:latin typeface="Cambria Math"/>
                            </a:rPr>
                            <m:t xml:space="preserve">𝑥</m:t>
                          </m:r>
                        </m:e>
                      </m:acc>
                      <m:r>
                        <m:rPr>
                          <m:sty m:val="p"/>
                        </m:rPr>
                        <a:rPr lang="en-US" sz="1550">
                          <a:solidFill>
                            <a:srgbClr val="252529"/>
                          </a:solidFill>
                          <a:latin typeface="Cambria Math"/>
                        </a:rPr>
                        <m:t xml:space="preserve">=</m:t>
                      </m:r>
                      <m:d>
                        <m:dPr>
                          <m:begChr m:val="("/>
                          <m:endChr m:val=")"/>
                          <m:ctrlPr>
                            <a:rPr lang="en-US" sz="1550">
                              <a:solidFill>
                                <a:srgbClr val="252529"/>
                              </a:solidFill>
                              <a:latin typeface="Cambria Math"/>
                            </a:rPr>
                          </m:ctrlPr>
                        </m:dPr>
                        <m:e>
                          <m:r>
                            <m:rPr>
                              <m:sty m:val="p"/>
                            </m:rPr>
                            <a:rPr lang="en-US" sz="1550">
                              <a:solidFill>
                                <a:srgbClr val="252529"/>
                              </a:solidFill>
                              <a:latin typeface="Cambria Math"/>
                            </a:rPr>
                            <m:t xml:space="preserve">𝐴</m:t>
                          </m:r>
                          <m:r>
                            <m:rPr>
                              <m:sty m:val="p"/>
                            </m:rPr>
                            <a:rPr lang="en-US" sz="1550">
                              <a:solidFill>
                                <a:srgbClr val="252529"/>
                              </a:solidFill>
                              <a:latin typeface="Cambria Math"/>
                            </a:rPr>
                            <m:t xml:space="preserve">+</m:t>
                          </m:r>
                          <m:sSub>
                            <m:sSubPr>
                              <m:ctrlPr>
                                <a:rPr lang="en-US" sz="1550">
                                  <a:solidFill>
                                    <a:srgbClr val="252529"/>
                                  </a:solidFill>
                                  <a:latin typeface="Cambria Math"/>
                                </a:rPr>
                              </m:ctrlPr>
                            </m:sSubPr>
                            <m:e>
                              <m:r>
                                <m:rPr>
                                  <m:sty m:val="p"/>
                                </m:rPr>
                                <a:rPr lang="en-US" sz="1550">
                                  <a:solidFill>
                                    <a:srgbClr val="252529"/>
                                  </a:solidFill>
                                  <a:latin typeface="Cambria Math"/>
                                </a:rPr>
                                <m:t xml:space="preserve">𝐵</m:t>
                              </m:r>
                            </m:e>
                            <m:sub>
                              <m:r>
                                <m:rPr>
                                  <m:sty m:val="p"/>
                                </m:rPr>
                                <a:rPr lang="en-US" sz="1550">
                                  <a:solidFill>
                                    <a:srgbClr val="252529"/>
                                  </a:solidFill>
                                  <a:latin typeface="Cambria Math"/>
                                </a:rPr>
                                <m:t xml:space="preserve">u</m:t>
                              </m:r>
                            </m:sub>
                          </m:sSub>
                          <m:r>
                            <m:rPr>
                              <m:sty m:val="p"/>
                            </m:rPr>
                            <a:rPr lang="en-US" sz="1550">
                              <a:solidFill>
                                <a:srgbClr val="252529"/>
                              </a:solidFill>
                              <a:latin typeface="Cambria Math"/>
                            </a:rPr>
                            <m:t xml:space="preserve">𝐾</m:t>
                          </m:r>
                        </m:e>
                      </m:d>
                      <m:r>
                        <m:rPr>
                          <m:sty m:val="p"/>
                        </m:rPr>
                        <a:rPr lang="en-US" sz="1550">
                          <a:solidFill>
                            <a:srgbClr val="252529"/>
                          </a:solidFill>
                          <a:latin typeface="Cambria Math"/>
                        </a:rPr>
                        <m:t xml:space="preserve">𝑥</m:t>
                      </m:r>
                    </m:oMath>
                  </m:oMathPara>
                </a14:m>
                <a:endParaRPr sz="1550">
                  <a:latin typeface="Cambria Math"/>
                </a:endParaRPr>
              </a:p>
            </p:txBody>
          </p:sp>
        </mc:Choice>
        <mc:Fallback>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550">
                          <a:solidFill>
                            <a:srgbClr val="252529"/>
                          </a:solidFill>
                          <a:latin typeface="Cambria Math"/>
                        </a:rPr>
                        <m:t xml:space="preserve">Θ</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d>
                        <m:dPr>
                          <m:begChr m:val="{"/>
                          <m:endChr m:val=""/>
                          <m:ctrlPr>
                            <a:rPr lang="en-US" sz="1550">
                              <a:solidFill>
                                <a:srgbClr val="252529"/>
                              </a:solidFill>
                              <a:latin typeface="Cambria Math"/>
                            </a:rPr>
                          </m:ctrlPr>
                        </m:dPr>
                        <m:e>
                          <m:eqArr>
                            <m:eqArrPr>
                              <m:ctrlPr>
                                <a:rPr lang="en-US" sz="1550">
                                  <a:solidFill>
                                    <a:srgbClr val="252529"/>
                                  </a:solidFill>
                                  <a:latin typeface="Cambria Math"/>
                                </a:rPr>
                              </m:ctrlPr>
                            </m:eqArrPr>
                            <m:e>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acc>
                                          <m:accPr>
                                            <m:chr m:val="̃"/>
                                            <m:ctrlPr>
                                              <a:rPr lang="en-US" sz="1550">
                                                <a:solidFill>
                                                  <a:srgbClr val="252529"/>
                                                </a:solidFill>
                                                <a:latin typeface="Cambria Math"/>
                                              </a:rPr>
                                            </m:ctrlPr>
                                          </m:accPr>
                                          <m:e>
                                            <m:r>
                                              <m:rPr>
                                                <m:sty m:val="p"/>
                                              </m:rPr>
                                              <a:rPr lang="en-US" sz="1550">
                                                <a:solidFill>
                                                  <a:srgbClr val="252529"/>
                                                </a:solidFill>
                                                <a:latin typeface="Cambria Math"/>
                                              </a:rPr>
                                              <m:t xml:space="preserve">𝑦</m:t>
                                            </m:r>
                                          </m:e>
                                        </m:acc>
                                      </m:e>
                                    </m:mr>
                                    <m:mr>
                                      <m:e>
                                        <m:acc>
                                          <m:accPr>
                                            <m:chr m:val="̃"/>
                                            <m:ctrlPr>
                                              <a:rPr lang="en-US" sz="1550">
                                                <a:solidFill>
                                                  <a:srgbClr val="252529"/>
                                                </a:solidFill>
                                                <a:latin typeface="Cambria Math"/>
                                              </a:rPr>
                                            </m:ctrlPr>
                                          </m:accPr>
                                          <m:e>
                                            <m:r>
                                              <m:rPr>
                                                <m:sty m:val="p"/>
                                              </m:rPr>
                                              <a:rPr lang="en-US" sz="1550">
                                                <a:solidFill>
                                                  <a:srgbClr val="252529"/>
                                                </a:solidFill>
                                                <a:latin typeface="Cambria Math"/>
                                              </a:rPr>
                                              <m:t xml:space="preserve">𝑢</m:t>
                                            </m:r>
                                          </m:e>
                                        </m:acc>
                                      </m:e>
                                    </m:mr>
                                  </m:m>
                                </m:e>
                              </m:d>
                              <m:r>
                                <m:rPr>
                                  <m:sty m:val="p"/>
                                </m:rPr>
                                <a:rPr lang="en-US" sz="1550">
                                  <a:solidFill>
                                    <a:srgbClr val="252529"/>
                                  </a:solidFill>
                                  <a:latin typeface="Cambria Math"/>
                                </a:rPr>
                                <m:t xml:space="preserve">=</m:t>
                              </m:r>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r>
                                          <m:rPr>
                                            <m:sty m:val="p"/>
                                          </m:rPr>
                                          <a:rPr lang="en-US" sz="1550">
                                            <a:solidFill>
                                              <a:srgbClr val="252529"/>
                                            </a:solidFill>
                                            <a:latin typeface="Cambria Math"/>
                                          </a:rPr>
                                          <m:t xml:space="preserve">𝐼</m:t>
                                        </m:r>
                                      </m:e>
                                      <m:e>
                                        <m:r>
                                          <m:rPr>
                                            <m:sty m:val="p"/>
                                          </m:rPr>
                                          <a:rPr lang="en-US" sz="1550">
                                            <a:solidFill>
                                              <a:srgbClr val="252529"/>
                                            </a:solidFill>
                                            <a:latin typeface="Cambria Math"/>
                                          </a:rPr>
                                          <m:t xml:space="preserve">0</m:t>
                                        </m:r>
                                      </m:e>
                                    </m:mr>
                                    <m:mr>
                                      <m:e>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𝐾</m:t>
                                        </m:r>
                                      </m:e>
                                      <m:e>
                                        <m:r>
                                          <m:rPr>
                                            <m:sty m:val="p"/>
                                          </m:rPr>
                                          <a:rPr lang="en-US" sz="1550">
                                            <a:solidFill>
                                              <a:srgbClr val="252529"/>
                                            </a:solidFill>
                                            <a:latin typeface="Cambria Math"/>
                                          </a:rPr>
                                          <m:t xml:space="preserve">𝐼</m:t>
                                        </m:r>
                                      </m:e>
                                    </m:mr>
                                  </m:m>
                                </m:e>
                              </m:d>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r>
                                          <m:rPr>
                                            <m:sty m:val="p"/>
                                          </m:rPr>
                                          <a:rPr lang="en-US" sz="1550">
                                            <a:solidFill>
                                              <a:srgbClr val="252529"/>
                                            </a:solidFill>
                                            <a:latin typeface="Cambria Math"/>
                                          </a:rPr>
                                          <m:t xml:space="preserve">𝑦</m:t>
                                        </m:r>
                                      </m:e>
                                    </m:mr>
                                    <m:mr>
                                      <m:e>
                                        <m:r>
                                          <m:rPr>
                                            <m:sty m:val="p"/>
                                          </m:rPr>
                                          <a:rPr lang="en-US" sz="1550">
                                            <a:solidFill>
                                              <a:srgbClr val="252529"/>
                                            </a:solidFill>
                                            <a:latin typeface="Cambria Math"/>
                                          </a:rPr>
                                          <m:t xml:space="preserve">𝑢</m:t>
                                        </m:r>
                                      </m:e>
                                    </m:mr>
                                  </m:m>
                                </m:e>
                              </m:d>
                            </m:e>
                          </m:eqArr>
                        </m:e>
                      </m:d>
                    </m:oMath>
                  </m:oMathPara>
                </a14:m>
                <a:endParaRPr sz="1550">
                  <a:latin typeface="Cambria Math"/>
                </a:endParaRPr>
              </a:p>
            </p:txBody>
          </p:sp>
        </mc:Choice>
        <mc:Fallback>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650">
                              <a:solidFill>
                                <a:srgbClr val="252529"/>
                              </a:solidFill>
                              <a:latin typeface="Cambria Math"/>
                            </a:rPr>
                          </m:ctrlPr>
                        </m:accPr>
                        <m:e>
                          <m:r>
                            <m:rPr>
                              <m:sty m:val="p"/>
                            </m:rPr>
                            <a:rPr lang="en-US" sz="1650">
                              <a:solidFill>
                                <a:srgbClr val="252529"/>
                              </a:solidFill>
                              <a:latin typeface="Cambria Math"/>
                            </a:rPr>
                            <m:t xml:space="preserve">𝑢</m:t>
                          </m:r>
                        </m:e>
                      </m:acc>
                      <m:r>
                        <m:rPr>
                          <m:sty m:val="p"/>
                        </m:rPr>
                        <a:rPr lang="en-US" sz="1650">
                          <a:solidFill>
                            <a:srgbClr val="252529"/>
                          </a:solidFill>
                          <a:latin typeface="Cambria Math"/>
                        </a:rPr>
                        <m:t xml:space="preserve">=</m:t>
                      </m:r>
                      <m:r>
                        <m:rPr>
                          <m:sty m:val="p"/>
                        </m:rPr>
                        <a:rPr lang="en-US" sz="1650">
                          <a:solidFill>
                            <a:srgbClr val="252529"/>
                          </a:solidFill>
                          <a:latin typeface="Cambria Math"/>
                        </a:rPr>
                        <m:t xml:space="preserve">𝑢</m:t>
                      </m:r>
                      <m:r>
                        <m:rPr>
                          <m:sty m:val="p"/>
                        </m:rPr>
                        <a:rPr lang="en-US" sz="1650">
                          <a:solidFill>
                            <a:srgbClr val="252529"/>
                          </a:solidFill>
                          <a:latin typeface="Cambria Math"/>
                        </a:rPr>
                        <m:t xml:space="preserve">−</m:t>
                      </m:r>
                      <m:r>
                        <m:rPr>
                          <m:sty m:val="p"/>
                        </m:rPr>
                        <a:rPr lang="en-US" sz="1650">
                          <a:solidFill>
                            <a:srgbClr val="252529"/>
                          </a:solidFill>
                          <a:latin typeface="Cambria Math"/>
                        </a:rPr>
                        <m:t xml:space="preserve">𝐾</m:t>
                      </m:r>
                      <m:r>
                        <m:rPr>
                          <m:sty m:val="p"/>
                        </m:rPr>
                        <a:rPr lang="en-US" sz="1650">
                          <a:solidFill>
                            <a:srgbClr val="252529"/>
                          </a:solidFill>
                          <a:latin typeface="Cambria Math"/>
                        </a:rPr>
                        <m:t xml:space="preserve">𝑦</m:t>
                      </m:r>
                      <m:r>
                        <m:rPr>
                          <m:sty m:val="p"/>
                        </m:rPr>
                        <a:rPr lang="en-US" sz="1650">
                          <a:solidFill>
                            <a:srgbClr val="252529"/>
                          </a:solidFill>
                          <a:latin typeface="Cambria Math"/>
                        </a:rPr>
                        <m:t xml:space="preserve"> </m:t>
                      </m:r>
                      <m:r>
                        <m:rPr>
                          <m:sty m:val="p"/>
                        </m:rPr>
                        <a:rPr lang="en-US" sz="1650">
                          <a:solidFill>
                            <a:srgbClr val="252529"/>
                          </a:solidFill>
                          <a:latin typeface="Cambria Math"/>
                        </a:rPr>
                        <m:t xml:space="preserve"> </m:t>
                      </m:r>
                      <m:r>
                        <m:rPr>
                          <m:sty m:val="p"/>
                        </m:rPr>
                        <a:rPr lang="en-US" sz="1650">
                          <a:solidFill>
                            <a:srgbClr val="252529"/>
                          </a:solidFill>
                          <a:latin typeface="Cambria Math"/>
                        </a:rPr>
                        <m:t xml:space="preserve">⇔</m:t>
                      </m:r>
                      <m:r>
                        <m:rPr>
                          <m:sty m:val="p"/>
                        </m:rPr>
                        <a:rPr lang="en-US" sz="1650">
                          <a:solidFill>
                            <a:srgbClr val="252529"/>
                          </a:solidFill>
                          <a:latin typeface="Cambria Math"/>
                        </a:rPr>
                        <m:t xml:space="preserve"> </m:t>
                      </m:r>
                      <m:r>
                        <m:rPr>
                          <m:sty m:val="p"/>
                        </m:rPr>
                        <a:rPr lang="en-US" sz="1650">
                          <a:solidFill>
                            <a:srgbClr val="252529"/>
                          </a:solidFill>
                          <a:latin typeface="Cambria Math"/>
                        </a:rPr>
                        <m:t xml:space="preserve"> </m:t>
                      </m:r>
                      <m:r>
                        <m:rPr>
                          <m:sty m:val="p"/>
                        </m:rPr>
                        <a:rPr lang="en-US" sz="1650">
                          <a:solidFill>
                            <a:srgbClr val="252529"/>
                          </a:solidFill>
                          <a:latin typeface="Cambria Math"/>
                        </a:rPr>
                        <m:t xml:space="preserve">𝑢</m:t>
                      </m:r>
                      <m:r>
                        <m:rPr>
                          <m:sty m:val="p"/>
                        </m:rPr>
                        <a:rPr lang="en-US" sz="1650">
                          <a:solidFill>
                            <a:srgbClr val="252529"/>
                          </a:solidFill>
                          <a:latin typeface="Cambria Math"/>
                        </a:rPr>
                        <m:t xml:space="preserve">=</m:t>
                      </m:r>
                      <m:r>
                        <m:rPr>
                          <m:sty m:val="p"/>
                        </m:rPr>
                        <a:rPr lang="en-US" sz="1650">
                          <a:solidFill>
                            <a:srgbClr val="252529"/>
                          </a:solidFill>
                          <a:latin typeface="Cambria Math"/>
                        </a:rPr>
                        <m:t xml:space="preserve">𝐾</m:t>
                      </m:r>
                      <m:r>
                        <m:rPr>
                          <m:sty m:val="p"/>
                        </m:rPr>
                        <a:rPr lang="en-US" sz="1650">
                          <a:solidFill>
                            <a:srgbClr val="252529"/>
                          </a:solidFill>
                          <a:latin typeface="Cambria Math"/>
                        </a:rPr>
                        <m:t xml:space="preserve">𝑦</m:t>
                      </m:r>
                      <m:r>
                        <m:rPr>
                          <m:sty m:val="p"/>
                        </m:rPr>
                        <a:rPr lang="en-US" sz="1650">
                          <a:solidFill>
                            <a:srgbClr val="252529"/>
                          </a:solidFill>
                          <a:latin typeface="Cambria Math"/>
                        </a:rPr>
                        <m:t xml:space="preserve">+</m:t>
                      </m:r>
                      <m:acc>
                        <m:accPr>
                          <m:chr m:val="̃"/>
                          <m:ctrlPr>
                            <a:rPr lang="en-US" sz="1650">
                              <a:solidFill>
                                <a:srgbClr val="252529"/>
                              </a:solidFill>
                              <a:latin typeface="Cambria Math"/>
                            </a:rPr>
                          </m:ctrlPr>
                        </m:accPr>
                        <m:e>
                          <m:r>
                            <m:rPr>
                              <m:sty m:val="p"/>
                            </m:rPr>
                            <a:rPr lang="en-US" sz="1650">
                              <a:solidFill>
                                <a:srgbClr val="252529"/>
                              </a:solidFill>
                              <a:latin typeface="Cambria Math"/>
                            </a:rPr>
                            <m:t xml:space="preserve">𝑢</m:t>
                          </m:r>
                        </m:e>
                      </m:acc>
                    </m:oMath>
                  </m:oMathPara>
                </a14:m>
                <a:endParaRPr sz="1650">
                  <a:latin typeface="Cambria Math"/>
                </a:endParaRPr>
              </a:p>
            </p:txBody>
          </p:sp>
        </mc:Choice>
        <mc:Fallback>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r>
                                <m:rPr>
                                  <m:sty m:val="p"/>
                                </m:rPr>
                                <a:rPr lang="en-US" sz="1600">
                                  <a:solidFill>
                                    <a:srgbClr val="252529"/>
                                  </a:solidFill>
                                  <a:latin typeface="Cambria Math"/>
                                </a:rPr>
                                <m:t xml:space="preserve">𝑇</m:t>
                              </m:r>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𝑥</m:t>
                                  </m:r>
                                </m:e>
                              </m:acc>
                              <m:r>
                                <m:rPr>
                                  <m:sty m:val="p"/>
                                </m:rPr>
                                <a:rPr lang="en-US" sz="1600">
                                  <a:solidFill>
                                    <a:srgbClr val="252529"/>
                                  </a:solidFill>
                                  <a:latin typeface="Cambria Math"/>
                                </a:rPr>
                                <m:t xml:space="preserve">=</m:t>
                              </m:r>
                              <m:d>
                                <m:dPr>
                                  <m:begChr m:val="("/>
                                  <m:endChr m:val=")"/>
                                  <m:ctrlPr>
                                    <a:rPr lang="en-US" sz="1600">
                                      <a:solidFill>
                                        <a:srgbClr val="252529"/>
                                      </a:solidFill>
                                      <a:latin typeface="Cambria Math"/>
                                    </a:rPr>
                                  </m:ctrlPr>
                                </m:dPr>
                                <m:e>
                                  <m:r>
                                    <m:rPr>
                                      <m:sty m:val="p"/>
                                    </m:rPr>
                                    <a:rPr lang="en-US" sz="1600">
                                      <a:solidFill>
                                        <a:srgbClr val="252529"/>
                                      </a:solidFill>
                                      <a:latin typeface="Cambria Math"/>
                                    </a:rPr>
                                    <m:t xml:space="preserve">𝐴</m:t>
                                  </m:r>
                                  <m:r>
                                    <m:rPr>
                                      <m:sty m:val="p"/>
                                    </m:rPr>
                                    <a:rPr lang="en-US" sz="1600">
                                      <a:solidFill>
                                        <a:srgbClr val="252529"/>
                                      </a:solidFill>
                                      <a:latin typeface="Cambria Math"/>
                                    </a:rPr>
                                    <m:t xml:space="preserve">+</m:t>
                                  </m:r>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r>
                                    <m:rPr>
                                      <m:sty m:val="p"/>
                                    </m:rPr>
                                    <a:rPr lang="en-US" sz="1600">
                                      <a:solidFill>
                                        <a:srgbClr val="252529"/>
                                      </a:solidFill>
                                      <a:latin typeface="Cambria Math"/>
                                    </a:rPr>
                                    <m:t xml:space="preserve">𝐾</m:t>
                                  </m:r>
                                </m:e>
                              </m:d>
                              <m:r>
                                <m:rPr>
                                  <m:sty m:val="p"/>
                                </m:rPr>
                                <a:rPr lang="en-US" sz="1600">
                                  <a:solidFill>
                                    <a:srgbClr val="252529"/>
                                  </a:solidFill>
                                  <a:latin typeface="Cambria Math"/>
                                </a:rPr>
                                <m:t xml:space="preserve">𝑥</m:t>
                              </m:r>
                              <m:r>
                                <m:rPr>
                                  <m:sty m:val="p"/>
                                </m:rPr>
                                <a:rPr lang="en-US" sz="1600">
                                  <a:solidFill>
                                    <a:srgbClr val="252529"/>
                                  </a:solidFill>
                                  <a:latin typeface="Cambria Math"/>
                                </a:rPr>
                                <m:t xml:space="preserve">+</m:t>
                              </m:r>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𝑢</m:t>
                                  </m:r>
                                </m:e>
                              </m:acc>
                            </m:e>
                            <m:e>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𝑦</m:t>
                                  </m:r>
                                </m:e>
                              </m:acc>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𝑦</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𝑥</m:t>
                              </m:r>
                            </m:e>
                          </m:eqArr>
                        </m:e>
                      </m:d>
                    </m:oMath>
                  </m:oMathPara>
                </a14:m>
                <a:endParaRPr sz="1600">
                  <a:latin typeface="Cambria Math"/>
                </a:endParaRPr>
              </a:p>
            </p:txBody>
          </p:sp>
        </mc:Choice>
        <mc:Fallback>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800">
                              <a:solidFill>
                                <a:srgbClr val="252529"/>
                              </a:solidFill>
                              <a:latin typeface="Cambria Math"/>
                            </a:rPr>
                          </m:ctrlPr>
                        </m:accPr>
                        <m:e>
                          <m:r>
                            <m:rPr>
                              <m:sty m:val="p"/>
                            </m:rPr>
                            <a:rPr lang="en-US" sz="1800">
                              <a:solidFill>
                                <a:srgbClr val="252529"/>
                              </a:solidFill>
                              <a:latin typeface="Cambria Math"/>
                            </a:rPr>
                            <m:t xml:space="preserve">𝑢</m:t>
                          </m:r>
                        </m:e>
                      </m:acc>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0</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𝑢</m:t>
                      </m:r>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𝐾</m:t>
                      </m:r>
                      <m:r>
                        <m:rPr>
                          <m:sty m:val="p"/>
                        </m:rPr>
                        <a:rPr lang="en-US" sz="1800">
                          <a:solidFill>
                            <a:srgbClr val="252529"/>
                          </a:solidFill>
                          <a:latin typeface="Cambria Math"/>
                        </a:rPr>
                        <m:t xml:space="preserve">𝑦</m:t>
                      </m:r>
                    </m:oMath>
                  </m:oMathPara>
                </a14:m>
                <a:endParaRPr sz="1800">
                  <a:latin typeface="Cambria Math"/>
                </a:endParaRPr>
              </a:p>
            </p:txBody>
          </p:sp>
        </mc:Choice>
        <mc:Fallback>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800">
                              <a:solidFill>
                                <a:srgbClr val="252529"/>
                              </a:solidFill>
                              <a:latin typeface="Cambria Math"/>
                            </a:rPr>
                          </m:ctrlPr>
                        </m:accPr>
                        <m:e>
                          <m:bar>
                            <m:barPr>
                              <m:pos m:val="bot"/>
                              <m:ctrlPr>
                                <a:rPr lang="en-US" sz="1800">
                                  <a:solidFill>
                                    <a:srgbClr val="252529"/>
                                  </a:solidFill>
                                  <a:latin typeface="Cambria Math"/>
                                </a:rPr>
                              </m:ctrlPr>
                            </m:barPr>
                            <m:e>
                              <m:r>
                                <m:rPr>
                                  <m:sty m:val="p"/>
                                </m:rPr>
                                <a:rPr lang="en-US" sz="1800">
                                  <a:solidFill>
                                    <a:srgbClr val="252529"/>
                                  </a:solidFill>
                                  <a:latin typeface="Cambria Math"/>
                                </a:rPr>
                                <m:t xml:space="preserve">𝑢</m:t>
                              </m:r>
                            </m:e>
                          </m:bar>
                        </m:e>
                      </m:acc>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0</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 </m:t>
                      </m:r>
                      <m:bar>
                        <m:barPr>
                          <m:pos m:val="bot"/>
                          <m:ctrlPr>
                            <a:rPr lang="en-US" sz="1800">
                              <a:solidFill>
                                <a:srgbClr val="252529"/>
                              </a:solidFill>
                              <a:latin typeface="Cambria Math"/>
                            </a:rPr>
                          </m:ctrlPr>
                        </m:barPr>
                        <m:e>
                          <m:r>
                            <m:rPr>
                              <m:sty m:val="p"/>
                            </m:rPr>
                            <a:rPr lang="en-US" sz="1800">
                              <a:solidFill>
                                <a:srgbClr val="252529"/>
                              </a:solidFill>
                              <a:latin typeface="Cambria Math"/>
                            </a:rPr>
                            <m:t xml:space="preserve">𝑢</m:t>
                          </m:r>
                        </m:e>
                      </m:bar>
                      <m:r>
                        <m:rPr>
                          <m:sty m:val="p"/>
                        </m:rPr>
                        <a:rPr lang="en-US" sz="1800">
                          <a:solidFill>
                            <a:srgbClr val="252529"/>
                          </a:solidFill>
                          <a:latin typeface="Cambria Math"/>
                        </a:rPr>
                        <m:t xml:space="preserve">=</m:t>
                      </m:r>
                      <m:sSup>
                        <m:sSupPr>
                          <m:ctrlPr>
                            <a:rPr lang="en-US" sz="1800">
                              <a:solidFill>
                                <a:srgbClr val="252529"/>
                              </a:solidFill>
                              <a:latin typeface="Cambria Math"/>
                            </a:rPr>
                          </m:ctrlPr>
                        </m:sSupPr>
                        <m:e>
                          <m:r>
                            <m:rPr>
                              <m:sty m:val="p"/>
                            </m:rPr>
                            <a:rPr lang="en-US" sz="1800">
                              <a:solidFill>
                                <a:srgbClr val="252529"/>
                              </a:solidFill>
                              <a:latin typeface="Cambria Math"/>
                            </a:rPr>
                            <m:t xml:space="preserve">𝐾</m:t>
                          </m:r>
                        </m:e>
                        <m:sup>
                          <m:r>
                            <m:rPr>
                              <m:sty m:val="p"/>
                            </m:rPr>
                            <a:rPr lang="en-US" sz="1800">
                              <a:solidFill>
                                <a:srgbClr val="252529"/>
                              </a:solidFill>
                              <a:latin typeface="Cambria Math"/>
                            </a:rPr>
                            <m:t xml:space="preserve">*</m:t>
                          </m:r>
                        </m:sup>
                      </m:sSup>
                      <m:bar>
                        <m:barPr>
                          <m:pos m:val="bot"/>
                          <m:ctrlPr>
                            <a:rPr lang="en-US" sz="1800">
                              <a:solidFill>
                                <a:srgbClr val="252529"/>
                              </a:solidFill>
                              <a:latin typeface="Cambria Math"/>
                            </a:rPr>
                          </m:ctrlPr>
                        </m:barPr>
                        <m:e>
                          <m:r>
                            <m:rPr>
                              <m:sty m:val="p"/>
                            </m:rPr>
                            <a:rPr lang="en-US" sz="1800">
                              <a:solidFill>
                                <a:srgbClr val="252529"/>
                              </a:solidFill>
                              <a:latin typeface="Cambria Math"/>
                            </a:rPr>
                            <m:t xml:space="preserve">𝑦</m:t>
                          </m:r>
                        </m:e>
                      </m:bar>
                    </m:oMath>
                  </m:oMathPara>
                </a14:m>
                <a:endParaRPr sz="1800">
                  <a:latin typeface="Cambria Math"/>
                </a:endParaRPr>
              </a:p>
            </p:txBody>
          </p:sp>
        </mc:Choice>
        <mc:Fallback>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 xml:space="preserve">𝐺</m:t>
                          </m:r>
                        </m:e>
                        <m:sup>
                          <m:r>
                            <m:rPr>
                              <m:sty m:val="p"/>
                            </m:rPr>
                            <a:rPr lang="en-US" sz="1550">
                              <a:solidFill>
                                <a:srgbClr val="252529"/>
                              </a:solidFill>
                              <a:latin typeface="Cambria Math"/>
                            </a:rPr>
                            <m:t xml:space="preserve">⊤</m:t>
                          </m:r>
                        </m:sup>
                      </m:sSup>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d>
                        <m:dPr>
                          <m:begChr m:val="{"/>
                          <m:endChr m:val=""/>
                          <m:ctrlPr>
                            <a:rPr lang="en-US" sz="1550">
                              <a:solidFill>
                                <a:srgbClr val="252529"/>
                              </a:solidFill>
                              <a:latin typeface="Cambria Math"/>
                            </a:rPr>
                          </m:ctrlPr>
                        </m:dPr>
                        <m:e>
                          <m:eqArr>
                            <m:eqArrPr>
                              <m:ctrlPr>
                                <a:rPr lang="en-US" sz="1550">
                                  <a:solidFill>
                                    <a:srgbClr val="252529"/>
                                  </a:solidFill>
                                  <a:latin typeface="Cambria Math"/>
                                </a:rPr>
                              </m:ctrlPr>
                            </m:eqArrPr>
                            <m:e>
                              <m:sSup>
                                <m:sSupPr>
                                  <m:ctrlPr>
                                    <a:rPr lang="en-US" sz="1550">
                                      <a:solidFill>
                                        <a:srgbClr val="252529"/>
                                      </a:solidFill>
                                      <a:latin typeface="Cambria Math"/>
                                    </a:rPr>
                                  </m:ctrlPr>
                                </m:sSupPr>
                                <m:e>
                                  <m:r>
                                    <m:rPr>
                                      <m:sty m:val="p"/>
                                    </m:rPr>
                                    <a:rPr lang="en-US" sz="1550">
                                      <a:solidFill>
                                        <a:srgbClr val="252529"/>
                                      </a:solidFill>
                                      <a:latin typeface="Cambria Math"/>
                                    </a:rPr>
                                    <m:t xml:space="preserve">𝑇</m:t>
                                  </m:r>
                                </m:e>
                                <m:sup>
                                  <m:r>
                                    <m:rPr>
                                      <m:sty m:val="p"/>
                                    </m:rPr>
                                    <a:rPr lang="en-US" sz="1550">
                                      <a:solidFill>
                                        <a:srgbClr val="252529"/>
                                      </a:solidFill>
                                      <a:latin typeface="Cambria Math"/>
                                    </a:rPr>
                                    <m:t xml:space="preserve">*</m:t>
                                  </m:r>
                                </m:sup>
                              </m:sSup>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𝑥</m:t>
                                      </m:r>
                                    </m:e>
                                  </m:bar>
                                </m:e>
                              </m:acc>
                              <m:r>
                                <m:rPr>
                                  <m:sty m:val="p"/>
                                </m:rPr>
                                <a:rPr lang="en-US" sz="1550">
                                  <a:solidFill>
                                    <a:srgbClr val="252529"/>
                                  </a:solidFill>
                                  <a:latin typeface="Cambria Math"/>
                                </a:rPr>
                                <m:t xml:space="preserve">=</m:t>
                              </m:r>
                              <m:sSup>
                                <m:sSupPr>
                                  <m:ctrlPr>
                                    <a:rPr lang="en-US" sz="1550">
                                      <a:solidFill>
                                        <a:srgbClr val="252529"/>
                                      </a:solidFill>
                                      <a:latin typeface="Cambria Math"/>
                                    </a:rPr>
                                  </m:ctrlPr>
                                </m:sSupPr>
                                <m:e>
                                  <m:r>
                                    <m:rPr>
                                      <m:sty m:val="p"/>
                                    </m:rPr>
                                    <a:rPr lang="en-US" sz="1550">
                                      <a:solidFill>
                                        <a:srgbClr val="252529"/>
                                      </a:solidFill>
                                      <a:latin typeface="Cambria Math"/>
                                    </a:rPr>
                                    <m:t xml:space="preserve">𝐴</m:t>
                                  </m:r>
                                </m:e>
                                <m:sup>
                                  <m:r>
                                    <m:rPr>
                                      <m:sty m:val="p"/>
                                    </m:rPr>
                                    <a:rPr lang="en-US" sz="1550">
                                      <a:solidFill>
                                        <a:srgbClr val="252529"/>
                                      </a:solidFill>
                                      <a:latin typeface="Cambria Math"/>
                                    </a:rPr>
                                    <m:t xml:space="preserve">*</m:t>
                                  </m:r>
                                </m:sup>
                              </m:sSup>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𝑥</m:t>
                                  </m:r>
                                </m:e>
                              </m:bar>
                              <m:r>
                                <m:rPr>
                                  <m:sty m:val="p"/>
                                </m:rPr>
                                <a:rPr lang="en-US" sz="1550">
                                  <a:solidFill>
                                    <a:srgbClr val="252529"/>
                                  </a:solidFill>
                                  <a:latin typeface="Cambria Math"/>
                                </a:rPr>
                                <m:t xml:space="preserve">+</m:t>
                              </m:r>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r>
                                <m:rPr>
                                  <m:sty m:val="p"/>
                                </m:rPr>
                                <a:rPr lang="en-US" sz="1550">
                                  <a:solidFill>
                                    <a:srgbClr val="252529"/>
                                  </a:solidFill>
                                  <a:latin typeface="Cambria Math"/>
                                </a:rPr>
                                <m:t xml:space="preserve">=</m:t>
                              </m:r>
                              <m:sSup>
                                <m:sSupPr>
                                  <m:ctrlPr>
                                    <a:rPr lang="en-US" sz="1550">
                                      <a:solidFill>
                                        <a:srgbClr val="252529"/>
                                      </a:solidFill>
                                      <a:latin typeface="Cambria Math"/>
                                    </a:rPr>
                                  </m:ctrlPr>
                                </m:sSupPr>
                                <m:e>
                                  <m:sSub>
                                    <m:sSubPr>
                                      <m:ctrlPr>
                                        <a:rPr lang="en-US" sz="1550">
                                          <a:solidFill>
                                            <a:srgbClr val="252529"/>
                                          </a:solidFill>
                                          <a:latin typeface="Cambria Math"/>
                                        </a:rPr>
                                      </m:ctrlPr>
                                    </m:sSubPr>
                                    <m:e>
                                      <m:r>
                                        <m:rPr>
                                          <m:sty m:val="p"/>
                                        </m:rPr>
                                        <a:rPr lang="en-US" sz="1550">
                                          <a:solidFill>
                                            <a:srgbClr val="252529"/>
                                          </a:solidFill>
                                          <a:latin typeface="Cambria Math"/>
                                        </a:rPr>
                                        <m:t xml:space="preserve">𝐵</m:t>
                                      </m:r>
                                    </m:e>
                                    <m:sub>
                                      <m:r>
                                        <m:rPr>
                                          <m:sty m:val="p"/>
                                        </m:rPr>
                                        <a:rPr lang="en-US" sz="1550">
                                          <a:solidFill>
                                            <a:srgbClr val="252529"/>
                                          </a:solidFill>
                                          <a:latin typeface="Cambria Math"/>
                                        </a:rPr>
                                        <m:t xml:space="preserve">u</m:t>
                                      </m:r>
                                    </m:sub>
                                  </m:sSub>
                                </m:e>
                                <m:sup>
                                  <m:r>
                                    <m:rPr>
                                      <m:sty m:val="p"/>
                                    </m:rPr>
                                    <a:rPr lang="en-US" sz="1550">
                                      <a:solidFill>
                                        <a:srgbClr val="252529"/>
                                      </a:solidFill>
                                      <a:latin typeface="Cambria Math"/>
                                    </a:rPr>
                                    <m:t xml:space="preserve">*</m:t>
                                  </m:r>
                                </m:sup>
                              </m:sSup>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𝑥</m:t>
                                  </m:r>
                                </m:e>
                              </m:bar>
                            </m:e>
                          </m:eqArr>
                        </m:e>
                      </m:d>
                    </m:oMath>
                  </m:oMathPara>
                </a14:m>
                <a:endParaRPr sz="1550">
                  <a:latin typeface="Cambria Math"/>
                </a:endParaRPr>
              </a:p>
            </p:txBody>
          </p:sp>
        </mc:Choice>
        <mc:Fallback>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 xml:space="preserve">Θ</m:t>
                          </m:r>
                        </m:e>
                        <m:sup>
                          <m:r>
                            <m:rPr>
                              <m:sty m:val="p"/>
                            </m:rPr>
                            <a:rPr lang="en-US" sz="1550">
                              <a:solidFill>
                                <a:srgbClr val="252529"/>
                              </a:solidFill>
                              <a:latin typeface="Cambria Math"/>
                            </a:rPr>
                            <m:t xml:space="preserve">⊤</m:t>
                          </m:r>
                        </m:sup>
                      </m:sSup>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d>
                        <m:dPr>
                          <m:begChr m:val="{"/>
                          <m:endChr m:val=""/>
                          <m:ctrlPr>
                            <a:rPr lang="en-US" sz="1550">
                              <a:solidFill>
                                <a:srgbClr val="252529"/>
                              </a:solidFill>
                              <a:latin typeface="Cambria Math"/>
                            </a:rPr>
                          </m:ctrlPr>
                        </m:dPr>
                        <m:e>
                          <m:eqArr>
                            <m:eqArrPr>
                              <m:ctrlPr>
                                <a:rPr lang="en-US" sz="1550">
                                  <a:solidFill>
                                    <a:srgbClr val="252529"/>
                                  </a:solidFill>
                                  <a:latin typeface="Cambria Math"/>
                                </a:rPr>
                              </m:ctrlPr>
                            </m:eqArrPr>
                            <m:e>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acc>
                                      </m:e>
                                    </m:mr>
                                    <m:mr>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acc>
                                      </m:e>
                                    </m:mr>
                                  </m:m>
                                </m:e>
                              </m:d>
                              <m:r>
                                <m:rPr>
                                  <m:sty m:val="p"/>
                                </m:rPr>
                                <a:rPr lang="en-US" sz="1550">
                                  <a:solidFill>
                                    <a:srgbClr val="252529"/>
                                  </a:solidFill>
                                  <a:latin typeface="Cambria Math"/>
                                </a:rPr>
                                <m:t xml:space="preserve">=</m:t>
                              </m:r>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r>
                                          <m:rPr>
                                            <m:sty m:val="p"/>
                                          </m:rPr>
                                          <a:rPr lang="en-US" sz="1550">
                                            <a:solidFill>
                                              <a:srgbClr val="252529"/>
                                            </a:solidFill>
                                            <a:latin typeface="Cambria Math"/>
                                          </a:rPr>
                                          <m:t xml:space="preserve">𝐼</m:t>
                                        </m:r>
                                      </m:e>
                                      <m:e>
                                        <m:r>
                                          <m:rPr>
                                            <m:sty m:val="p"/>
                                          </m:rPr>
                                          <a:rPr lang="en-US" sz="1550">
                                            <a:solidFill>
                                              <a:srgbClr val="252529"/>
                                            </a:solidFill>
                                            <a:latin typeface="Cambria Math"/>
                                          </a:rPr>
                                          <m:t xml:space="preserve">−</m:t>
                                        </m:r>
                                        <m:sSup>
                                          <m:sSupPr>
                                            <m:ctrlPr>
                                              <a:rPr lang="en-US" sz="1550">
                                                <a:solidFill>
                                                  <a:srgbClr val="252529"/>
                                                </a:solidFill>
                                                <a:latin typeface="Cambria Math"/>
                                              </a:rPr>
                                            </m:ctrlPr>
                                          </m:sSupPr>
                                          <m:e>
                                            <m:r>
                                              <m:rPr>
                                                <m:sty m:val="p"/>
                                              </m:rPr>
                                              <a:rPr lang="en-US" sz="1550">
                                                <a:solidFill>
                                                  <a:srgbClr val="252529"/>
                                                </a:solidFill>
                                                <a:latin typeface="Cambria Math"/>
                                              </a:rPr>
                                              <m:t xml:space="preserve">𝐾</m:t>
                                            </m:r>
                                          </m:e>
                                          <m:sup>
                                            <m:r>
                                              <m:rPr>
                                                <m:sty m:val="p"/>
                                              </m:rPr>
                                              <a:rPr lang="en-US" sz="1550">
                                                <a:solidFill>
                                                  <a:srgbClr val="252529"/>
                                                </a:solidFill>
                                                <a:latin typeface="Cambria Math"/>
                                              </a:rPr>
                                              <m:t xml:space="preserve">*</m:t>
                                            </m:r>
                                          </m:sup>
                                        </m:sSup>
                                      </m:e>
                                    </m:mr>
                                    <m:mr>
                                      <m:e>
                                        <m:r>
                                          <m:rPr>
                                            <m:sty m:val="p"/>
                                          </m:rPr>
                                          <a:rPr lang="en-US" sz="1550">
                                            <a:solidFill>
                                              <a:srgbClr val="252529"/>
                                            </a:solidFill>
                                            <a:latin typeface="Cambria Math"/>
                                          </a:rPr>
                                          <m:t xml:space="preserve">0</m:t>
                                        </m:r>
                                      </m:e>
                                      <m:e>
                                        <m:r>
                                          <m:rPr>
                                            <m:sty m:val="p"/>
                                          </m:rPr>
                                          <a:rPr lang="en-US" sz="1550">
                                            <a:solidFill>
                                              <a:srgbClr val="252529"/>
                                            </a:solidFill>
                                            <a:latin typeface="Cambria Math"/>
                                          </a:rPr>
                                          <m:t xml:space="preserve">𝐼</m:t>
                                        </m:r>
                                      </m:e>
                                    </m:mr>
                                  </m:m>
                                </m:e>
                              </m:d>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mr>
                                    <m:m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mr>
                                  </m:m>
                                </m:e>
                              </m:d>
                            </m:e>
                          </m:eqArr>
                        </m:e>
                      </m:d>
                    </m:oMath>
                  </m:oMathPara>
                </a14:m>
                <a:endParaRPr sz="1550">
                  <a:latin typeface="Cambria Math"/>
                </a:endParaRPr>
              </a:p>
            </p:txBody>
          </p:sp>
        </mc:Choice>
        <mc:Fallback>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900">
                              <a:solidFill>
                                <a:srgbClr val="252529"/>
                              </a:solidFill>
                              <a:latin typeface="Cambria Math"/>
                            </a:rPr>
                          </m:ctrlPr>
                        </m:accPr>
                        <m:e>
                          <m:bar>
                            <m:barPr>
                              <m:pos m:val="bot"/>
                              <m:ctrlPr>
                                <a:rPr lang="en-US" sz="1900">
                                  <a:solidFill>
                                    <a:srgbClr val="252529"/>
                                  </a:solidFill>
                                  <a:latin typeface="Cambria Math"/>
                                </a:rPr>
                              </m:ctrlPr>
                            </m:barPr>
                            <m:e>
                              <m:r>
                                <m:rPr>
                                  <m:sty m:val="p"/>
                                </m:rPr>
                                <a:rPr lang="en-US" sz="1900">
                                  <a:solidFill>
                                    <a:srgbClr val="252529"/>
                                  </a:solidFill>
                                  <a:latin typeface="Cambria Math"/>
                                </a:rPr>
                                <m:t xml:space="preserve">𝑢</m:t>
                              </m:r>
                            </m:e>
                          </m:bar>
                        </m:e>
                      </m:acc>
                      <m:r>
                        <m:rPr>
                          <m:sty m:val="p"/>
                        </m:rPr>
                        <a:rPr lang="en-US" sz="1900">
                          <a:solidFill>
                            <a:srgbClr val="252529"/>
                          </a:solidFill>
                          <a:latin typeface="Cambria Math"/>
                        </a:rPr>
                        <m:t xml:space="preserve">=</m:t>
                      </m:r>
                      <m:bar>
                        <m:barPr>
                          <m:pos m:val="bot"/>
                          <m:ctrlPr>
                            <a:rPr lang="en-US" sz="1900">
                              <a:solidFill>
                                <a:srgbClr val="252529"/>
                              </a:solidFill>
                              <a:latin typeface="Cambria Math"/>
                            </a:rPr>
                          </m:ctrlPr>
                        </m:barPr>
                        <m:e>
                          <m:r>
                            <m:rPr>
                              <m:sty m:val="p"/>
                            </m:rPr>
                            <a:rPr lang="en-US" sz="1900">
                              <a:solidFill>
                                <a:srgbClr val="252529"/>
                              </a:solidFill>
                              <a:latin typeface="Cambria Math"/>
                            </a:rPr>
                            <m:t xml:space="preserve">𝑢</m:t>
                          </m:r>
                        </m:e>
                      </m:bar>
                      <m:r>
                        <m:rPr>
                          <m:sty m:val="p"/>
                        </m:rPr>
                        <a:rPr lang="en-US" sz="1900">
                          <a:solidFill>
                            <a:srgbClr val="252529"/>
                          </a:solidFill>
                          <a:latin typeface="Cambria Math"/>
                        </a:rPr>
                        <m:t xml:space="preserve">=</m:t>
                      </m:r>
                      <m:sSup>
                        <m:sSupPr>
                          <m:ctrlPr>
                            <a:rPr lang="en-US" sz="1900">
                              <a:solidFill>
                                <a:srgbClr val="252529"/>
                              </a:solidFill>
                              <a:latin typeface="Cambria Math"/>
                            </a:rPr>
                          </m:ctrlPr>
                        </m:sSupPr>
                        <m:e>
                          <m:r>
                            <m:rPr>
                              <m:sty m:val="p"/>
                            </m:rPr>
                            <a:rPr lang="en-US" sz="1900">
                              <a:solidFill>
                                <a:srgbClr val="252529"/>
                              </a:solidFill>
                              <a:latin typeface="Cambria Math"/>
                            </a:rPr>
                            <m:t xml:space="preserve">𝐾</m:t>
                          </m:r>
                        </m:e>
                        <m:sup>
                          <m:r>
                            <m:rPr>
                              <m:sty m:val="p"/>
                            </m:rPr>
                            <a:rPr lang="en-US" sz="1900">
                              <a:solidFill>
                                <a:srgbClr val="252529"/>
                              </a:solidFill>
                              <a:latin typeface="Cambria Math"/>
                            </a:rPr>
                            <m:t xml:space="preserve">*</m:t>
                          </m:r>
                        </m:sup>
                      </m:sSup>
                      <m:bar>
                        <m:barPr>
                          <m:pos m:val="bot"/>
                          <m:ctrlPr>
                            <a:rPr lang="en-US" sz="1900">
                              <a:solidFill>
                                <a:srgbClr val="252529"/>
                              </a:solidFill>
                              <a:latin typeface="Cambria Math"/>
                            </a:rPr>
                          </m:ctrlPr>
                        </m:barPr>
                        <m:e>
                          <m:r>
                            <m:rPr>
                              <m:sty m:val="p"/>
                            </m:rPr>
                            <a:rPr lang="en-US" sz="1900">
                              <a:solidFill>
                                <a:srgbClr val="252529"/>
                              </a:solidFill>
                              <a:latin typeface="Cambria Math"/>
                            </a:rPr>
                            <m:t xml:space="preserve">𝑦</m:t>
                          </m:r>
                        </m:e>
                      </m:bar>
                      <m:r>
                        <m:rPr>
                          <m:sty m:val="p"/>
                        </m:rPr>
                        <a:rPr lang="en-US" sz="1900">
                          <a:solidFill>
                            <a:srgbClr val="C81919"/>
                          </a:solidFill>
                          <a:latin typeface="Cambria Math"/>
                        </a:rPr>
                        <m:t xml:space="preserve">≠</m:t>
                      </m:r>
                      <m:r>
                        <m:rPr>
                          <m:sty m:val="p"/>
                        </m:rPr>
                        <a:rPr lang="en-US" sz="1900">
                          <a:solidFill>
                            <a:srgbClr val="C81919"/>
                          </a:solidFill>
                          <a:latin typeface="Cambria Math"/>
                        </a:rPr>
                        <m:t xml:space="preserve">0</m:t>
                      </m:r>
                    </m:oMath>
                  </m:oMathPara>
                </a14:m>
                <a:endParaRPr sz="1900">
                  <a:latin typeface="Cambria Math"/>
                </a:endParaRPr>
              </a:p>
            </p:txBody>
          </p:sp>
        </mc:Choice>
        <mc:Fallback>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2200">
                          <a:solidFill>
                            <a:srgbClr val="252529"/>
                          </a:solidFill>
                          <a:latin typeface="Cambria Math"/>
                        </a:rPr>
                        <m:t xml:space="preserve">𝐃</m:t>
                      </m:r>
                      <m:d>
                        <m:dPr>
                          <m:begChr m:val="("/>
                          <m:endChr m:val=")"/>
                          <m:ctrlPr>
                            <a:rPr lang="en-US" sz="2200">
                              <a:solidFill>
                                <a:srgbClr val="252529"/>
                              </a:solidFill>
                              <a:latin typeface="Cambria Math"/>
                            </a:rPr>
                          </m:ctrlPr>
                        </m:dPr>
                        <m:e>
                          <m:r>
                            <m:rPr>
                              <m:sty m:val="p"/>
                            </m:rPr>
                            <a:rPr lang="en-US" sz="2200">
                              <a:solidFill>
                                <a:srgbClr val="252529"/>
                              </a:solidFill>
                              <a:latin typeface="Cambria Math"/>
                            </a:rPr>
                            <m:t xml:space="preserve">Θ</m:t>
                          </m:r>
                        </m:e>
                      </m:d>
                    </m:oMath>
                  </m:oMathPara>
                </a14:m>
                <a:endParaRPr sz="2200">
                  <a:latin typeface="Cambria Math"/>
                </a:endParaRPr>
              </a:p>
            </p:txBody>
          </p:sp>
        </mc:Choice>
        <mc:Fallback>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2100">
                          <a:solidFill>
                            <a:srgbClr val="252529"/>
                          </a:solidFill>
                          <a:latin typeface="Cambria Math"/>
                        </a:rPr>
                        <m:t xml:space="preserve">𝐃</m:t>
                      </m:r>
                      <m:d>
                        <m:dPr>
                          <m:begChr m:val="("/>
                          <m:endChr m:val=")"/>
                          <m:ctrlPr>
                            <a:rPr lang="en-US" sz="2100">
                              <a:solidFill>
                                <a:srgbClr val="252529"/>
                              </a:solidFill>
                              <a:latin typeface="Cambria Math"/>
                            </a:rPr>
                          </m:ctrlPr>
                        </m:dPr>
                        <m:e>
                          <m:r>
                            <m:rPr>
                              <m:sty m:val="p"/>
                            </m:rPr>
                            <a:rPr lang="en-US" sz="2100">
                              <a:solidFill>
                                <a:srgbClr val="252529"/>
                              </a:solidFill>
                              <a:latin typeface="Cambria Math"/>
                            </a:rPr>
                            <m:t xml:space="preserve">Θ</m:t>
                          </m:r>
                        </m:e>
                      </m:d>
                      <m:r>
                        <m:rPr>
                          <m:sty m:val="p"/>
                        </m:rPr>
                        <a:rPr lang="en-US" sz="2100">
                          <a:solidFill>
                            <a:srgbClr val="252529"/>
                          </a:solidFill>
                          <a:latin typeface="Cambria Math"/>
                        </a:rPr>
                        <m:t xml:space="preserve">:</m:t>
                      </m:r>
                      <m:r>
                        <m:rPr>
                          <m:sty m:val="p"/>
                        </m:rPr>
                        <a:rPr lang="en-US" sz="2100">
                          <a:solidFill>
                            <a:srgbClr val="252529"/>
                          </a:solidFill>
                          <a:latin typeface="Cambria Math"/>
                        </a:rPr>
                        <m:t xml:space="preserve">=</m:t>
                      </m:r>
                      <m:sSup>
                        <m:sSupPr>
                          <m:ctrlPr>
                            <a:rPr lang="en-US" sz="2100">
                              <a:solidFill>
                                <a:srgbClr val="252529"/>
                              </a:solidFill>
                              <a:latin typeface="Cambria Math"/>
                            </a:rPr>
                          </m:ctrlPr>
                        </m:sSupPr>
                        <m:e>
                          <m:d>
                            <m:dPr>
                              <m:begChr m:val="("/>
                              <m:endChr m:val=")"/>
                              <m:ctrlPr>
                                <a:rPr lang="en-US" sz="2100">
                                  <a:solidFill>
                                    <a:srgbClr val="252529"/>
                                  </a:solidFill>
                                  <a:latin typeface="Cambria Math"/>
                                </a:rPr>
                              </m:ctrlPr>
                            </m:dPr>
                            <m:e>
                              <m:sSup>
                                <m:sSupPr>
                                  <m:ctrlPr>
                                    <a:rPr lang="en-US" sz="2100">
                                      <a:solidFill>
                                        <a:srgbClr val="252529"/>
                                      </a:solidFill>
                                      <a:latin typeface="Cambria Math"/>
                                    </a:rPr>
                                  </m:ctrlPr>
                                </m:sSupPr>
                                <m:e>
                                  <m:acc>
                                    <m:accPr>
                                      <m:chr m:val="̂"/>
                                      <m:ctrlPr>
                                        <a:rPr lang="en-US" sz="2100">
                                          <a:solidFill>
                                            <a:srgbClr val="252529"/>
                                          </a:solidFill>
                                          <a:latin typeface="Cambria Math"/>
                                        </a:rPr>
                                      </m:ctrlPr>
                                    </m:accPr>
                                    <m:e>
                                      <m:r>
                                        <m:rPr>
                                          <m:sty m:val="p"/>
                                        </m:rPr>
                                        <a:rPr lang="en-US" sz="2100">
                                          <a:solidFill>
                                            <a:srgbClr val="252529"/>
                                          </a:solidFill>
                                          <a:latin typeface="Cambria Math"/>
                                        </a:rPr>
                                        <m:t xml:space="preserve">𝐽</m:t>
                                      </m:r>
                                    </m:e>
                                  </m:acc>
                                </m:e>
                                <m:sup>
                                  <m:r>
                                    <m:rPr>
                                      <m:sty m:val="p"/>
                                    </m:rPr>
                                    <a:rPr lang="en-US" sz="2100">
                                      <a:solidFill>
                                        <a:srgbClr val="252529"/>
                                      </a:solidFill>
                                      <a:latin typeface="Cambria Math"/>
                                    </a:rPr>
                                    <m:t xml:space="preserve">*</m:t>
                                  </m:r>
                                </m:sup>
                              </m:sSup>
                              <m:sSup>
                                <m:sSupPr>
                                  <m:ctrlPr>
                                    <a:rPr lang="en-US" sz="2100">
                                      <a:solidFill>
                                        <a:srgbClr val="252529"/>
                                      </a:solidFill>
                                      <a:latin typeface="Cambria Math"/>
                                    </a:rPr>
                                  </m:ctrlPr>
                                </m:sSupPr>
                                <m:e>
                                  <m:r>
                                    <m:rPr>
                                      <m:sty m:val="p"/>
                                    </m:rPr>
                                    <a:rPr lang="en-US" sz="2100">
                                      <a:solidFill>
                                        <a:srgbClr val="252529"/>
                                      </a:solidFill>
                                      <a:latin typeface="Cambria Math"/>
                                    </a:rPr>
                                    <m:t xml:space="preserve">Θ</m:t>
                                  </m:r>
                                </m:e>
                                <m:sup>
                                  <m:r>
                                    <m:rPr>
                                      <m:sty m:val="p"/>
                                    </m:rPr>
                                    <a:rPr lang="en-US" sz="2100">
                                      <a:solidFill>
                                        <a:srgbClr val="252529"/>
                                      </a:solidFill>
                                      <a:latin typeface="Cambria Math"/>
                                    </a:rPr>
                                    <m:t xml:space="preserve">⊤</m:t>
                                  </m:r>
                                </m:sup>
                              </m:sSup>
                              <m:acc>
                                <m:accPr>
                                  <m:chr m:val="̂"/>
                                  <m:ctrlPr>
                                    <a:rPr lang="en-US" sz="2100">
                                      <a:solidFill>
                                        <a:srgbClr val="252529"/>
                                      </a:solidFill>
                                      <a:latin typeface="Cambria Math"/>
                                    </a:rPr>
                                  </m:ctrlPr>
                                </m:accPr>
                                <m:e>
                                  <m:r>
                                    <m:rPr>
                                      <m:sty m:val="p"/>
                                    </m:rPr>
                                    <a:rPr lang="en-US" sz="2100">
                                      <a:solidFill>
                                        <a:srgbClr val="252529"/>
                                      </a:solidFill>
                                      <a:latin typeface="Cambria Math"/>
                                    </a:rPr>
                                    <m:t xml:space="preserve">𝐽</m:t>
                                  </m:r>
                                </m:e>
                              </m:acc>
                            </m:e>
                          </m:d>
                        </m:e>
                        <m:sup>
                          <m:r>
                            <m:rPr>
                              <m:sty m:val="p"/>
                            </m:rPr>
                            <a:rPr lang="en-US" sz="2100">
                              <a:solidFill>
                                <a:srgbClr val="252529"/>
                              </a:solidFill>
                              <a:latin typeface="Cambria Math"/>
                            </a:rPr>
                            <m:t xml:space="preserve">−</m:t>
                          </m:r>
                          <m:r>
                            <m:rPr>
                              <m:sty m:val="p"/>
                            </m:rPr>
                            <a:rPr lang="en-US" sz="2100">
                              <a:solidFill>
                                <a:srgbClr val="252529"/>
                              </a:solidFill>
                              <a:latin typeface="Cambria Math"/>
                            </a:rPr>
                            <m:t xml:space="preserve">1</m:t>
                          </m:r>
                        </m:sup>
                      </m:sSup>
                    </m:oMath>
                  </m:oMathPara>
                </a14:m>
                <a:endParaRPr sz="2100">
                  <a:latin typeface="Cambria Math"/>
                </a:endParaRPr>
              </a:p>
            </p:txBody>
          </p:sp>
        </mc:Choice>
        <mc:Fallback>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𝐽</m:t>
                          </m:r>
                        </m:e>
                      </m:acc>
                      <m:r>
                        <m:rPr>
                          <m:sty m:val="p"/>
                        </m:rPr>
                        <a:rPr lang="en-US" sz="1600">
                          <a:solidFill>
                            <a:srgbClr val="252529"/>
                          </a:solidFill>
                          <a:latin typeface="Cambria Math"/>
                        </a:rPr>
                        <m:t xml:space="preserve">=</m:t>
                      </m:r>
                      <m:d>
                        <m:dPr>
                          <m:begChr m:val="["/>
                          <m:endChr m:val="]"/>
                          <m:ctrlPr>
                            <a:rPr lang="en-US" sz="1600">
                              <a:solidFill>
                                <a:srgbClr val="252529"/>
                              </a:solidFill>
                              <a:latin typeface="Cambria Math"/>
                            </a:rPr>
                          </m:ctrlPr>
                        </m:dPr>
                        <m:e>
                          <m:m>
                            <m:mPr>
                              <m:ctrlPr>
                                <a:rPr lang="en-US" sz="1600">
                                  <a:solidFill>
                                    <a:srgbClr val="252529"/>
                                  </a:solidFill>
                                  <a:latin typeface="Cambria Math"/>
                                </a:rPr>
                              </m:ctrlPr>
                            </m:mPr>
                            <m:mr>
                              <m:e>
                                <m:r>
                                  <m:rPr>
                                    <m:sty m:val="p"/>
                                  </m:rPr>
                                  <a:rPr lang="en-US" sz="1600">
                                    <a:solidFill>
                                      <a:srgbClr val="252529"/>
                                    </a:solidFill>
                                    <a:latin typeface="Cambria Math"/>
                                  </a:rPr>
                                  <m:t xml:space="preserve">0</m:t>
                                </m:r>
                              </m:e>
                              <m:e>
                                <m:r>
                                  <m:rPr>
                                    <m:sty m:val="p"/>
                                  </m:rPr>
                                  <a:rPr lang="en-US" sz="1600">
                                    <a:solidFill>
                                      <a:srgbClr val="252529"/>
                                    </a:solidFill>
                                    <a:latin typeface="Cambria Math"/>
                                  </a:rPr>
                                  <m:t xml:space="preserve">𝐼</m:t>
                                </m:r>
                              </m:e>
                            </m:mr>
                            <m:mr>
                              <m:e>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𝐼</m:t>
                                </m:r>
                              </m:e>
                              <m:e>
                                <m:r>
                                  <m:rPr>
                                    <m:sty m:val="p"/>
                                  </m:rPr>
                                  <a:rPr lang="en-US" sz="1600">
                                    <a:solidFill>
                                      <a:srgbClr val="252529"/>
                                    </a:solidFill>
                                    <a:latin typeface="Cambria Math"/>
                                  </a:rPr>
                                  <m:t xml:space="preserve">0</m:t>
                                </m:r>
                              </m:e>
                            </m:mr>
                          </m:m>
                        </m:e>
                      </m:d>
                    </m:oMath>
                  </m:oMathPara>
                </a14:m>
                <a:endParaRPr sz="1600">
                  <a:latin typeface="Cambria Math"/>
                </a:endParaRPr>
              </a:p>
            </p:txBody>
          </p:sp>
        </mc:Choice>
        <mc:Fallback>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37</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2200">
                          <a:solidFill>
                            <a:srgbClr val="252529"/>
                          </a:solidFill>
                          <a:latin typeface="Cambria Math"/>
                        </a:rPr>
                        <m:t xml:space="preserve">𝐃</m:t>
                      </m:r>
                      <m:d>
                        <m:dPr>
                          <m:begChr m:val="("/>
                          <m:endChr m:val=")"/>
                          <m:ctrlPr>
                            <a:rPr lang="en-US" sz="2200">
                              <a:solidFill>
                                <a:srgbClr val="252529"/>
                              </a:solidFill>
                              <a:latin typeface="Cambria Math"/>
                            </a:rPr>
                          </m:ctrlPr>
                        </m:dPr>
                        <m:e>
                          <m:r>
                            <m:rPr>
                              <m:sty m:val="p"/>
                            </m:rPr>
                            <a:rPr lang="en-US" sz="2200">
                              <a:solidFill>
                                <a:srgbClr val="252529"/>
                              </a:solidFill>
                              <a:latin typeface="Cambria Math"/>
                            </a:rPr>
                            <m:t xml:space="preserve">Θ</m:t>
                          </m:r>
                        </m:e>
                      </m:d>
                    </m:oMath>
                  </m:oMathPara>
                </a14:m>
                <a:endParaRPr sz="2200">
                  <a:latin typeface="Cambria Math"/>
                </a:endParaRPr>
              </a:p>
            </p:txBody>
          </p:sp>
        </mc:Choice>
        <mc:Fallback>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650">
                              <a:solidFill>
                                <a:srgbClr val="252529"/>
                              </a:solidFill>
                              <a:latin typeface="Cambria Math"/>
                            </a:rPr>
                          </m:ctrlPr>
                        </m:sSupPr>
                        <m:e>
                          <m:r>
                            <m:rPr>
                              <m:sty m:val="p"/>
                            </m:rPr>
                            <a:rPr lang="en-US" sz="1650">
                              <a:solidFill>
                                <a:srgbClr val="252529"/>
                              </a:solidFill>
                              <a:latin typeface="Cambria Math"/>
                            </a:rPr>
                            <m:t xml:space="preserve">𝑇</m:t>
                          </m:r>
                        </m:e>
                        <m:sup>
                          <m:r>
                            <m:rPr>
                              <m:sty m:val="p"/>
                            </m:rPr>
                            <a:rPr lang="en-US" sz="1650">
                              <a:solidFill>
                                <a:srgbClr val="252529"/>
                              </a:solidFill>
                              <a:latin typeface="Cambria Math"/>
                            </a:rPr>
                            <m:t xml:space="preserve">*</m:t>
                          </m:r>
                        </m:sup>
                      </m:sSup>
                      <m:acc>
                        <m:accPr>
                          <m:chr m:val="̇"/>
                          <m:ctrlPr>
                            <a:rPr lang="en-US" sz="1650">
                              <a:solidFill>
                                <a:srgbClr val="252529"/>
                              </a:solidFill>
                              <a:latin typeface="Cambria Math"/>
                            </a:rPr>
                          </m:ctrlPr>
                        </m:accPr>
                        <m:e>
                          <m:bar>
                            <m:barPr>
                              <m:pos m:val="bot"/>
                              <m:ctrlPr>
                                <a:rPr lang="en-US" sz="1650">
                                  <a:solidFill>
                                    <a:srgbClr val="252529"/>
                                  </a:solidFill>
                                  <a:latin typeface="Cambria Math"/>
                                </a:rPr>
                              </m:ctrlPr>
                            </m:barPr>
                            <m:e>
                              <m:r>
                                <m:rPr>
                                  <m:sty m:val="p"/>
                                </m:rPr>
                                <a:rPr lang="en-US" sz="1650">
                                  <a:solidFill>
                                    <a:srgbClr val="252529"/>
                                  </a:solidFill>
                                  <a:latin typeface="Cambria Math"/>
                                </a:rPr>
                                <m:t xml:space="preserve">𝑥</m:t>
                              </m:r>
                            </m:e>
                          </m:bar>
                        </m:e>
                      </m:acc>
                      <m:r>
                        <m:rPr>
                          <m:sty m:val="p"/>
                        </m:rPr>
                        <a:rPr lang="en-US" sz="1650">
                          <a:solidFill>
                            <a:srgbClr val="252529"/>
                          </a:solidFill>
                          <a:latin typeface="Cambria Math"/>
                        </a:rPr>
                        <m:t xml:space="preserve">=</m:t>
                      </m:r>
                      <m:d>
                        <m:dPr>
                          <m:begChr m:val="("/>
                          <m:endChr m:val=")"/>
                          <m:ctrlPr>
                            <a:rPr lang="en-US" sz="1650">
                              <a:solidFill>
                                <a:srgbClr val="252529"/>
                              </a:solidFill>
                              <a:latin typeface="Cambria Math"/>
                            </a:rPr>
                          </m:ctrlPr>
                        </m:dPr>
                        <m:e>
                          <m:sSup>
                            <m:sSupPr>
                              <m:ctrlPr>
                                <a:rPr lang="en-US" sz="1650">
                                  <a:solidFill>
                                    <a:srgbClr val="252529"/>
                                  </a:solidFill>
                                  <a:latin typeface="Cambria Math"/>
                                </a:rPr>
                              </m:ctrlPr>
                            </m:sSupPr>
                            <m:e>
                              <m:r>
                                <m:rPr>
                                  <m:sty m:val="p"/>
                                </m:rPr>
                                <a:rPr lang="en-US" sz="1650">
                                  <a:solidFill>
                                    <a:srgbClr val="252529"/>
                                  </a:solidFill>
                                  <a:latin typeface="Cambria Math"/>
                                </a:rPr>
                                <m:t xml:space="preserve">𝐴</m:t>
                              </m:r>
                            </m:e>
                            <m:sup>
                              <m:r>
                                <m:rPr>
                                  <m:sty m:val="p"/>
                                </m:rPr>
                                <a:rPr lang="en-US" sz="1650">
                                  <a:solidFill>
                                    <a:srgbClr val="252529"/>
                                  </a:solidFill>
                                  <a:latin typeface="Cambria Math"/>
                                </a:rPr>
                                <m:t xml:space="preserve">*</m:t>
                              </m:r>
                            </m:sup>
                          </m:sSup>
                          <m:r>
                            <m:rPr>
                              <m:sty m:val="p"/>
                            </m:rPr>
                            <a:rPr lang="en-US" sz="1650">
                              <a:solidFill>
                                <a:srgbClr val="252529"/>
                              </a:solidFill>
                              <a:latin typeface="Cambria Math"/>
                            </a:rPr>
                            <m:t xml:space="preserve">+</m:t>
                          </m:r>
                          <m:sSup>
                            <m:sSupPr>
                              <m:ctrlPr>
                                <a:rPr lang="en-US" sz="1650">
                                  <a:solidFill>
                                    <a:srgbClr val="252529"/>
                                  </a:solidFill>
                                  <a:latin typeface="Cambria Math"/>
                                </a:rPr>
                              </m:ctrlPr>
                            </m:sSupPr>
                            <m:e>
                              <m:r>
                                <m:rPr>
                                  <m:sty m:val="p"/>
                                </m:rPr>
                                <a:rPr lang="en-US" sz="1650">
                                  <a:solidFill>
                                    <a:srgbClr val="252529"/>
                                  </a:solidFill>
                                  <a:latin typeface="Cambria Math"/>
                                </a:rPr>
                                <m:t xml:space="preserve">𝐾</m:t>
                              </m:r>
                            </m:e>
                            <m:sup>
                              <m:r>
                                <m:rPr>
                                  <m:sty m:val="p"/>
                                </m:rPr>
                                <a:rPr lang="en-US" sz="1650">
                                  <a:solidFill>
                                    <a:srgbClr val="252529"/>
                                  </a:solidFill>
                                  <a:latin typeface="Cambria Math"/>
                                </a:rPr>
                                <m:t xml:space="preserve">*</m:t>
                              </m:r>
                            </m:sup>
                          </m:sSup>
                          <m:sSup>
                            <m:sSupPr>
                              <m:ctrlPr>
                                <a:rPr lang="en-US" sz="1650">
                                  <a:solidFill>
                                    <a:srgbClr val="252529"/>
                                  </a:solidFill>
                                  <a:latin typeface="Cambria Math"/>
                                </a:rPr>
                              </m:ctrlPr>
                            </m:sSupPr>
                            <m:e>
                              <m:sSub>
                                <m:sSubPr>
                                  <m:ctrlPr>
                                    <a:rPr lang="en-US" sz="1650">
                                      <a:solidFill>
                                        <a:srgbClr val="252529"/>
                                      </a:solidFill>
                                      <a:latin typeface="Cambria Math"/>
                                    </a:rPr>
                                  </m:ctrlPr>
                                </m:sSubPr>
                                <m:e>
                                  <m:r>
                                    <m:rPr>
                                      <m:sty m:val="p"/>
                                    </m:rPr>
                                    <a:rPr lang="en-US" sz="1650">
                                      <a:solidFill>
                                        <a:srgbClr val="252529"/>
                                      </a:solidFill>
                                      <a:latin typeface="Cambria Math"/>
                                    </a:rPr>
                                    <m:t xml:space="preserve">𝐵</m:t>
                                  </m:r>
                                </m:e>
                                <m:sub>
                                  <m:r>
                                    <m:rPr>
                                      <m:sty m:val="p"/>
                                    </m:rPr>
                                    <a:rPr lang="en-US" sz="1650">
                                      <a:solidFill>
                                        <a:srgbClr val="252529"/>
                                      </a:solidFill>
                                      <a:latin typeface="Cambria Math"/>
                                    </a:rPr>
                                    <m:t xml:space="preserve">u</m:t>
                                  </m:r>
                                </m:sub>
                              </m:sSub>
                            </m:e>
                            <m:sup>
                              <m:r>
                                <m:rPr>
                                  <m:sty m:val="p"/>
                                </m:rPr>
                                <a:rPr lang="en-US" sz="1650">
                                  <a:solidFill>
                                    <a:srgbClr val="252529"/>
                                  </a:solidFill>
                                  <a:latin typeface="Cambria Math"/>
                                </a:rPr>
                                <m:t xml:space="preserve">*</m:t>
                              </m:r>
                            </m:sup>
                          </m:sSup>
                        </m:e>
                      </m:d>
                      <m:bar>
                        <m:barPr>
                          <m:pos m:val="bot"/>
                          <m:ctrlPr>
                            <a:rPr lang="en-US" sz="1650">
                              <a:solidFill>
                                <a:srgbClr val="252529"/>
                              </a:solidFill>
                              <a:latin typeface="Cambria Math"/>
                            </a:rPr>
                          </m:ctrlPr>
                        </m:barPr>
                        <m:e>
                          <m:r>
                            <m:rPr>
                              <m:sty m:val="p"/>
                            </m:rPr>
                            <a:rPr lang="en-US" sz="1650">
                              <a:solidFill>
                                <a:srgbClr val="252529"/>
                              </a:solidFill>
                              <a:latin typeface="Cambria Math"/>
                            </a:rPr>
                            <m:t xml:space="preserve">𝑥</m:t>
                          </m:r>
                        </m:e>
                      </m:bar>
                    </m:oMath>
                  </m:oMathPara>
                </a14:m>
                <a:endParaRPr sz="1650">
                  <a:latin typeface="Cambria Math"/>
                </a:endParaRPr>
              </a:p>
            </p:txBody>
          </p:sp>
        </mc:Choice>
        <mc:Fallback>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550">
                          <a:solidFill>
                            <a:srgbClr val="252529"/>
                          </a:solidFill>
                          <a:latin typeface="Cambria Math"/>
                        </a:rPr>
                        <m:t xml:space="preserve">𝐃</m:t>
                      </m:r>
                      <m:d>
                        <m:dPr>
                          <m:begChr m:val="("/>
                          <m:endChr m:val=")"/>
                          <m:ctrlPr>
                            <a:rPr lang="en-US" sz="1550">
                              <a:solidFill>
                                <a:srgbClr val="252529"/>
                              </a:solidFill>
                              <a:latin typeface="Cambria Math"/>
                            </a:rPr>
                          </m:ctrlPr>
                        </m:dPr>
                        <m:e>
                          <m:r>
                            <m:rPr>
                              <m:sty m:val="p"/>
                            </m:rPr>
                            <a:rPr lang="en-US" sz="1550">
                              <a:solidFill>
                                <a:srgbClr val="252529"/>
                              </a:solidFill>
                              <a:latin typeface="Cambria Math"/>
                            </a:rPr>
                            <m:t xml:space="preserve">Θ</m:t>
                          </m:r>
                        </m:e>
                      </m:d>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d>
                        <m:dPr>
                          <m:begChr m:val="{"/>
                          <m:endChr m:val=""/>
                          <m:ctrlPr>
                            <a:rPr lang="en-US" sz="1550">
                              <a:solidFill>
                                <a:srgbClr val="252529"/>
                              </a:solidFill>
                              <a:latin typeface="Cambria Math"/>
                            </a:rPr>
                          </m:ctrlPr>
                        </m:dPr>
                        <m:e>
                          <m:eqArr>
                            <m:eqArrPr>
                              <m:ctrlPr>
                                <a:rPr lang="en-US" sz="1550">
                                  <a:solidFill>
                                    <a:srgbClr val="252529"/>
                                  </a:solidFill>
                                  <a:latin typeface="Cambria Math"/>
                                </a:rPr>
                              </m:ctrlPr>
                            </m:eqArrPr>
                            <m:e>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acc>
                                      </m:e>
                                    </m:mr>
                                    <m:mr>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acc>
                                      </m:e>
                                    </m:mr>
                                  </m:m>
                                </m:e>
                              </m:d>
                              <m:r>
                                <m:rPr>
                                  <m:sty m:val="p"/>
                                </m:rPr>
                                <a:rPr lang="en-US" sz="1550">
                                  <a:solidFill>
                                    <a:srgbClr val="252529"/>
                                  </a:solidFill>
                                  <a:latin typeface="Cambria Math"/>
                                </a:rPr>
                                <m:t xml:space="preserve">=</m:t>
                              </m:r>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r>
                                          <m:rPr>
                                            <m:sty m:val="p"/>
                                          </m:rPr>
                                          <a:rPr lang="en-US" sz="1550">
                                            <a:solidFill>
                                              <a:srgbClr val="252529"/>
                                            </a:solidFill>
                                            <a:latin typeface="Cambria Math"/>
                                          </a:rPr>
                                          <m:t xml:space="preserve">𝐼</m:t>
                                        </m:r>
                                      </m:e>
                                      <m:e>
                                        <m:r>
                                          <m:rPr>
                                            <m:sty m:val="p"/>
                                          </m:rPr>
                                          <a:rPr lang="en-US" sz="1550">
                                            <a:solidFill>
                                              <a:srgbClr val="252529"/>
                                            </a:solidFill>
                                            <a:latin typeface="Cambria Math"/>
                                          </a:rPr>
                                          <m:t xml:space="preserve">0</m:t>
                                        </m:r>
                                      </m:e>
                                    </m:mr>
                                    <m:mr>
                                      <m:e>
                                        <m:r>
                                          <m:rPr>
                                            <m:sty m:val="p"/>
                                          </m:rPr>
                                          <a:rPr lang="en-US" sz="1550">
                                            <a:solidFill>
                                              <a:srgbClr val="252529"/>
                                            </a:solidFill>
                                            <a:latin typeface="Cambria Math"/>
                                          </a:rPr>
                                          <m:t xml:space="preserve">−</m:t>
                                        </m:r>
                                        <m:sSup>
                                          <m:sSupPr>
                                            <m:ctrlPr>
                                              <a:rPr lang="en-US" sz="1550">
                                                <a:solidFill>
                                                  <a:srgbClr val="252529"/>
                                                </a:solidFill>
                                                <a:latin typeface="Cambria Math"/>
                                              </a:rPr>
                                            </m:ctrlPr>
                                          </m:sSupPr>
                                          <m:e>
                                            <m:r>
                                              <m:rPr>
                                                <m:sty m:val="p"/>
                                              </m:rPr>
                                              <a:rPr lang="en-US" sz="1550">
                                                <a:solidFill>
                                                  <a:srgbClr val="252529"/>
                                                </a:solidFill>
                                                <a:latin typeface="Cambria Math"/>
                                              </a:rPr>
                                              <m:t xml:space="preserve">𝐾</m:t>
                                            </m:r>
                                          </m:e>
                                          <m:sup>
                                            <m:r>
                                              <m:rPr>
                                                <m:sty m:val="p"/>
                                              </m:rPr>
                                              <a:rPr lang="en-US" sz="1550">
                                                <a:solidFill>
                                                  <a:srgbClr val="252529"/>
                                                </a:solidFill>
                                                <a:latin typeface="Cambria Math"/>
                                              </a:rPr>
                                              <m:t xml:space="preserve">*</m:t>
                                            </m:r>
                                          </m:sup>
                                        </m:sSup>
                                      </m:e>
                                      <m:e>
                                        <m:r>
                                          <m:rPr>
                                            <m:sty m:val="p"/>
                                          </m:rPr>
                                          <a:rPr lang="en-US" sz="1550">
                                            <a:solidFill>
                                              <a:srgbClr val="252529"/>
                                            </a:solidFill>
                                            <a:latin typeface="Cambria Math"/>
                                          </a:rPr>
                                          <m:t xml:space="preserve">𝐼</m:t>
                                        </m:r>
                                      </m:e>
                                    </m:mr>
                                  </m:m>
                                </m:e>
                              </m:d>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mr>
                                    <m:m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mr>
                                  </m:m>
                                </m:e>
                              </m:d>
                            </m:e>
                          </m:eqArr>
                        </m:e>
                      </m:d>
                    </m:oMath>
                  </m:oMathPara>
                </a14:m>
                <a:endParaRPr sz="1550">
                  <a:latin typeface="Cambria Math"/>
                </a:endParaRPr>
              </a:p>
            </p:txBody>
          </p:sp>
        </mc:Choice>
        <mc:Fallback>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m:oMathParaPr>
                      <m:jc m:val="left"/>
                    </m:oMathParaPr>
                    <m:oMath>
                      <m:bar>
                        <m:barPr>
                          <m:pos m:val="bot"/>
                          <m:ctrlPr>
                            <a:rPr lang="en-US" sz="1800">
                              <a:solidFill>
                                <a:srgbClr val="252529"/>
                              </a:solidFill>
                              <a:latin typeface="Cambria Math"/>
                            </a:rPr>
                          </m:ctrlPr>
                        </m:barPr>
                        <m:e>
                          <m:r>
                            <m:rPr>
                              <m:sty m:val="p"/>
                            </m:rPr>
                            <a:rPr lang="en-US" sz="1800">
                              <a:solidFill>
                                <a:srgbClr val="252529"/>
                              </a:solidFill>
                              <a:latin typeface="Cambria Math"/>
                            </a:rPr>
                            <m:t xml:space="preserve">𝑢</m:t>
                          </m:r>
                        </m:e>
                      </m:bar>
                      <m:r>
                        <m:rPr>
                          <m:sty m:val="p"/>
                        </m:rPr>
                        <a:rPr lang="en-US" sz="1800">
                          <a:solidFill>
                            <a:srgbClr val="252529"/>
                          </a:solidFill>
                          <a:latin typeface="Cambria Math"/>
                        </a:rPr>
                        <m:t xml:space="preserve">=</m:t>
                      </m:r>
                      <m:sSup>
                        <m:sSupPr>
                          <m:ctrlPr>
                            <a:rPr lang="en-US" sz="1800">
                              <a:solidFill>
                                <a:srgbClr val="252529"/>
                              </a:solidFill>
                              <a:latin typeface="Cambria Math"/>
                            </a:rPr>
                          </m:ctrlPr>
                        </m:sSupPr>
                        <m:e>
                          <m:r>
                            <m:rPr>
                              <m:sty m:val="p"/>
                            </m:rPr>
                            <a:rPr lang="en-US" sz="1800">
                              <a:solidFill>
                                <a:srgbClr val="252529"/>
                              </a:solidFill>
                              <a:latin typeface="Cambria Math"/>
                            </a:rPr>
                            <m:t xml:space="preserve">𝐾</m:t>
                          </m:r>
                        </m:e>
                        <m:sup>
                          <m:r>
                            <m:rPr>
                              <m:sty m:val="p"/>
                            </m:rPr>
                            <a:rPr lang="en-US" sz="1800">
                              <a:solidFill>
                                <a:srgbClr val="252529"/>
                              </a:solidFill>
                              <a:latin typeface="Cambria Math"/>
                            </a:rPr>
                            <m:t xml:space="preserve">*</m:t>
                          </m:r>
                        </m:sup>
                      </m:sSup>
                      <m:bar>
                        <m:barPr>
                          <m:pos m:val="bot"/>
                          <m:ctrlPr>
                            <a:rPr lang="en-US" sz="1800">
                              <a:solidFill>
                                <a:srgbClr val="252529"/>
                              </a:solidFill>
                              <a:latin typeface="Cambria Math"/>
                            </a:rPr>
                          </m:ctrlPr>
                        </m:barPr>
                        <m:e>
                          <m:r>
                            <m:rPr>
                              <m:sty m:val="p"/>
                            </m:rPr>
                            <a:rPr lang="en-US" sz="1800">
                              <a:solidFill>
                                <a:srgbClr val="252529"/>
                              </a:solidFill>
                              <a:latin typeface="Cambria Math"/>
                            </a:rPr>
                            <m:t xml:space="preserve">𝑦</m:t>
                          </m:r>
                        </m:e>
                      </m:bar>
                      <m:r>
                        <m:rPr>
                          <m:sty m:val="p"/>
                        </m:rPr>
                        <a:rPr lang="en-US" sz="1800">
                          <a:solidFill>
                            <a:srgbClr val="252529"/>
                          </a:solidFill>
                          <a:latin typeface="Cambria Math"/>
                        </a:rPr>
                        <m:t xml:space="preserve">+</m:t>
                      </m:r>
                      <m:acc>
                        <m:accPr>
                          <m:chr m:val="̃"/>
                          <m:ctrlPr>
                            <a:rPr lang="en-US" sz="1800">
                              <a:solidFill>
                                <a:srgbClr val="252529"/>
                              </a:solidFill>
                              <a:latin typeface="Cambria Math"/>
                            </a:rPr>
                          </m:ctrlPr>
                        </m:accPr>
                        <m:e>
                          <m:bar>
                            <m:barPr>
                              <m:pos m:val="bot"/>
                              <m:ctrlPr>
                                <a:rPr lang="en-US" sz="1800">
                                  <a:solidFill>
                                    <a:srgbClr val="252529"/>
                                  </a:solidFill>
                                  <a:latin typeface="Cambria Math"/>
                                </a:rPr>
                              </m:ctrlPr>
                            </m:barPr>
                            <m:e>
                              <m:r>
                                <m:rPr>
                                  <m:sty m:val="p"/>
                                </m:rPr>
                                <a:rPr lang="en-US" sz="1800">
                                  <a:solidFill>
                                    <a:srgbClr val="252529"/>
                                  </a:solidFill>
                                  <a:latin typeface="Cambria Math"/>
                                </a:rPr>
                                <m:t xml:space="preserve">𝑢</m:t>
                              </m:r>
                            </m:e>
                          </m:bar>
                        </m:e>
                      </m:acc>
                    </m:oMath>
                  </m:oMathPara>
                </a14:m>
                <a:endParaRPr sz="1800">
                  <a:latin typeface="Cambria Math"/>
                </a:endParaRPr>
              </a:p>
            </p:txBody>
          </p:sp>
        </mc:Choice>
        <mc:Fallback>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550">
                              <a:solidFill>
                                <a:srgbClr val="252529"/>
                              </a:solidFill>
                              <a:latin typeface="Cambria Math"/>
                            </a:rPr>
                          </m:ctrlPr>
                        </m:dPr>
                        <m:e>
                          <m:eqArr>
                            <m:eqArrPr>
                              <m:ctrlPr>
                                <a:rPr lang="en-US" sz="1550">
                                  <a:solidFill>
                                    <a:srgbClr val="252529"/>
                                  </a:solidFill>
                                  <a:latin typeface="Cambria Math"/>
                                </a:rPr>
                              </m:ctrlPr>
                            </m:eqArrPr>
                            <m:e>
                              <m:sSup>
                                <m:sSupPr>
                                  <m:ctrlPr>
                                    <a:rPr lang="en-US" sz="1550">
                                      <a:solidFill>
                                        <a:srgbClr val="252529"/>
                                      </a:solidFill>
                                      <a:latin typeface="Cambria Math"/>
                                    </a:rPr>
                                  </m:ctrlPr>
                                </m:sSupPr>
                                <m:e>
                                  <m:r>
                                    <m:rPr>
                                      <m:sty m:val="p"/>
                                    </m:rPr>
                                    <a:rPr lang="en-US" sz="1550">
                                      <a:solidFill>
                                        <a:srgbClr val="252529"/>
                                      </a:solidFill>
                                      <a:latin typeface="Cambria Math"/>
                                    </a:rPr>
                                    <m:t xml:space="preserve">𝑇</m:t>
                                  </m:r>
                                </m:e>
                                <m:sup>
                                  <m:r>
                                    <m:rPr>
                                      <m:sty m:val="p"/>
                                    </m:rPr>
                                    <a:rPr lang="en-US" sz="1550">
                                      <a:solidFill>
                                        <a:srgbClr val="252529"/>
                                      </a:solidFill>
                                      <a:latin typeface="Cambria Math"/>
                                    </a:rPr>
                                    <m:t xml:space="preserve">*</m:t>
                                  </m:r>
                                </m:sup>
                              </m:sSup>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𝑥</m:t>
                                      </m:r>
                                    </m:e>
                                  </m:bar>
                                </m:e>
                              </m:acc>
                              <m:r>
                                <m:rPr>
                                  <m:sty m:val="p"/>
                                </m:rPr>
                                <a:rPr lang="en-US" sz="1550">
                                  <a:solidFill>
                                    <a:srgbClr val="252529"/>
                                  </a:solidFill>
                                  <a:latin typeface="Cambria Math"/>
                                </a:rPr>
                                <m:t xml:space="preserve">=</m:t>
                              </m:r>
                              <m:d>
                                <m:dPr>
                                  <m:begChr m:val="("/>
                                  <m:endChr m:val=")"/>
                                  <m:ctrlPr>
                                    <a:rPr lang="en-US" sz="1550">
                                      <a:solidFill>
                                        <a:srgbClr val="252529"/>
                                      </a:solidFill>
                                      <a:latin typeface="Cambria Math"/>
                                    </a:rPr>
                                  </m:ctrlPr>
                                </m:dPr>
                                <m:e>
                                  <m:sSup>
                                    <m:sSupPr>
                                      <m:ctrlPr>
                                        <a:rPr lang="en-US" sz="1550">
                                          <a:solidFill>
                                            <a:srgbClr val="252529"/>
                                          </a:solidFill>
                                          <a:latin typeface="Cambria Math"/>
                                        </a:rPr>
                                      </m:ctrlPr>
                                    </m:sSupPr>
                                    <m:e>
                                      <m:r>
                                        <m:rPr>
                                          <m:sty m:val="p"/>
                                        </m:rPr>
                                        <a:rPr lang="en-US" sz="1550">
                                          <a:solidFill>
                                            <a:srgbClr val="252529"/>
                                          </a:solidFill>
                                          <a:latin typeface="Cambria Math"/>
                                        </a:rPr>
                                        <m:t xml:space="preserve">𝐴</m:t>
                                      </m:r>
                                    </m:e>
                                    <m:sup>
                                      <m:r>
                                        <m:rPr>
                                          <m:sty m:val="p"/>
                                        </m:rPr>
                                        <a:rPr lang="en-US" sz="1550">
                                          <a:solidFill>
                                            <a:srgbClr val="252529"/>
                                          </a:solidFill>
                                          <a:latin typeface="Cambria Math"/>
                                        </a:rPr>
                                        <m:t xml:space="preserve">*</m:t>
                                      </m:r>
                                    </m:sup>
                                  </m:sSup>
                                  <m:r>
                                    <m:rPr>
                                      <m:sty m:val="p"/>
                                    </m:rPr>
                                    <a:rPr lang="en-US" sz="1550">
                                      <a:solidFill>
                                        <a:srgbClr val="252529"/>
                                      </a:solidFill>
                                      <a:latin typeface="Cambria Math"/>
                                    </a:rPr>
                                    <m:t xml:space="preserve">+</m:t>
                                  </m:r>
                                  <m:sSup>
                                    <m:sSupPr>
                                      <m:ctrlPr>
                                        <a:rPr lang="en-US" sz="1550">
                                          <a:solidFill>
                                            <a:srgbClr val="252529"/>
                                          </a:solidFill>
                                          <a:latin typeface="Cambria Math"/>
                                        </a:rPr>
                                      </m:ctrlPr>
                                    </m:sSupPr>
                                    <m:e>
                                      <m:r>
                                        <m:rPr>
                                          <m:sty m:val="p"/>
                                        </m:rPr>
                                        <a:rPr lang="en-US" sz="1550">
                                          <a:solidFill>
                                            <a:srgbClr val="252529"/>
                                          </a:solidFill>
                                          <a:latin typeface="Cambria Math"/>
                                        </a:rPr>
                                        <m:t xml:space="preserve">𝐾</m:t>
                                      </m:r>
                                    </m:e>
                                    <m:sup>
                                      <m:r>
                                        <m:rPr>
                                          <m:sty m:val="p"/>
                                        </m:rPr>
                                        <a:rPr lang="en-US" sz="1550">
                                          <a:solidFill>
                                            <a:srgbClr val="252529"/>
                                          </a:solidFill>
                                          <a:latin typeface="Cambria Math"/>
                                        </a:rPr>
                                        <m:t xml:space="preserve">*</m:t>
                                      </m:r>
                                    </m:sup>
                                  </m:sSup>
                                  <m:sSup>
                                    <m:sSupPr>
                                      <m:ctrlPr>
                                        <a:rPr lang="en-US" sz="1550">
                                          <a:solidFill>
                                            <a:srgbClr val="252529"/>
                                          </a:solidFill>
                                          <a:latin typeface="Cambria Math"/>
                                        </a:rPr>
                                      </m:ctrlPr>
                                    </m:sSupPr>
                                    <m:e>
                                      <m:sSub>
                                        <m:sSubPr>
                                          <m:ctrlPr>
                                            <a:rPr lang="en-US" sz="1550">
                                              <a:solidFill>
                                                <a:srgbClr val="252529"/>
                                              </a:solidFill>
                                              <a:latin typeface="Cambria Math"/>
                                            </a:rPr>
                                          </m:ctrlPr>
                                        </m:sSubPr>
                                        <m:e>
                                          <m:r>
                                            <m:rPr>
                                              <m:sty m:val="p"/>
                                            </m:rPr>
                                            <a:rPr lang="en-US" sz="1550">
                                              <a:solidFill>
                                                <a:srgbClr val="252529"/>
                                              </a:solidFill>
                                              <a:latin typeface="Cambria Math"/>
                                            </a:rPr>
                                            <m:t xml:space="preserve">𝐵</m:t>
                                          </m:r>
                                        </m:e>
                                        <m:sub>
                                          <m:r>
                                            <m:rPr>
                                              <m:sty m:val="p"/>
                                            </m:rPr>
                                            <a:rPr lang="en-US" sz="1550">
                                              <a:solidFill>
                                                <a:srgbClr val="252529"/>
                                              </a:solidFill>
                                              <a:latin typeface="Cambria Math"/>
                                            </a:rPr>
                                            <m:t xml:space="preserve">u</m:t>
                                          </m:r>
                                        </m:sub>
                                      </m:sSub>
                                    </m:e>
                                    <m:sup>
                                      <m:r>
                                        <m:rPr>
                                          <m:sty m:val="p"/>
                                        </m:rPr>
                                        <a:rPr lang="en-US" sz="1550">
                                          <a:solidFill>
                                            <a:srgbClr val="252529"/>
                                          </a:solidFill>
                                          <a:latin typeface="Cambria Math"/>
                                        </a:rPr>
                                        <m:t xml:space="preserve">*</m:t>
                                      </m:r>
                                    </m:sup>
                                  </m:sSup>
                                </m:e>
                              </m:d>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𝑥</m:t>
                                  </m:r>
                                </m:e>
                              </m:bar>
                              <m:r>
                                <m:rPr>
                                  <m:sty m:val="p"/>
                                </m:rPr>
                                <a:rPr lang="en-US" sz="1550">
                                  <a:solidFill>
                                    <a:srgbClr val="252529"/>
                                  </a:solidFill>
                                  <a:latin typeface="Cambria Math"/>
                                </a:rPr>
                                <m:t xml:space="preserve">+</m:t>
                              </m:r>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acc>
                            </m:e>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acc>
                              <m:r>
                                <m:rPr>
                                  <m:sty m:val="p"/>
                                </m:rPr>
                                <a:rPr lang="en-US" sz="1550">
                                  <a:solidFill>
                                    <a:srgbClr val="252529"/>
                                  </a:solidFill>
                                  <a:latin typeface="Cambria Math"/>
                                </a:rPr>
                                <m:t xml:space="preserve">=</m:t>
                              </m:r>
                              <m:sSup>
                                <m:sSupPr>
                                  <m:ctrlPr>
                                    <a:rPr lang="en-US" sz="1550">
                                      <a:solidFill>
                                        <a:srgbClr val="252529"/>
                                      </a:solidFill>
                                      <a:latin typeface="Cambria Math"/>
                                    </a:rPr>
                                  </m:ctrlPr>
                                </m:sSupPr>
                                <m:e>
                                  <m:sSub>
                                    <m:sSubPr>
                                      <m:ctrlPr>
                                        <a:rPr lang="en-US" sz="1550">
                                          <a:solidFill>
                                            <a:srgbClr val="252529"/>
                                          </a:solidFill>
                                          <a:latin typeface="Cambria Math"/>
                                        </a:rPr>
                                      </m:ctrlPr>
                                    </m:sSubPr>
                                    <m:e>
                                      <m:r>
                                        <m:rPr>
                                          <m:sty m:val="p"/>
                                        </m:rPr>
                                        <a:rPr lang="en-US" sz="1550">
                                          <a:solidFill>
                                            <a:srgbClr val="252529"/>
                                          </a:solidFill>
                                          <a:latin typeface="Cambria Math"/>
                                        </a:rPr>
                                        <m:t xml:space="preserve">𝐵</m:t>
                                      </m:r>
                                    </m:e>
                                    <m:sub>
                                      <m:r>
                                        <m:rPr>
                                          <m:sty m:val="p"/>
                                        </m:rPr>
                                        <a:rPr lang="en-US" sz="1550">
                                          <a:solidFill>
                                            <a:srgbClr val="252529"/>
                                          </a:solidFill>
                                          <a:latin typeface="Cambria Math"/>
                                        </a:rPr>
                                        <m:t xml:space="preserve">u</m:t>
                                      </m:r>
                                    </m:sub>
                                  </m:sSub>
                                </m:e>
                                <m:sup>
                                  <m:r>
                                    <m:rPr>
                                      <m:sty m:val="p"/>
                                    </m:rPr>
                                    <a:rPr lang="en-US" sz="1550">
                                      <a:solidFill>
                                        <a:srgbClr val="252529"/>
                                      </a:solidFill>
                                      <a:latin typeface="Cambria Math"/>
                                    </a:rPr>
                                    <m:t xml:space="preserve">*</m:t>
                                  </m:r>
                                </m:sup>
                              </m:sSup>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𝑥</m:t>
                                  </m:r>
                                </m:e>
                              </m:bar>
                            </m:e>
                          </m:eqArr>
                        </m:e>
                      </m:d>
                    </m:oMath>
                  </m:oMathPara>
                </a14:m>
                <a:endParaRPr sz="1550">
                  <a:latin typeface="Cambria Math"/>
                </a:endParaRPr>
              </a:p>
            </p:txBody>
          </p:sp>
        </mc:Choice>
        <mc:Fallback>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700">
                              <a:solidFill>
                                <a:srgbClr val="252529"/>
                              </a:solidFill>
                              <a:latin typeface="Cambria Math"/>
                            </a:rPr>
                          </m:ctrlPr>
                        </m:accPr>
                        <m:e>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𝑢</m:t>
                              </m:r>
                            </m:e>
                          </m:bar>
                        </m:e>
                      </m:acc>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0</m:t>
                      </m:r>
                      <m:r>
                        <m:rPr>
                          <m:sty m:val="p"/>
                        </m:rPr>
                        <a:rPr lang="en-US" sz="1700">
                          <a:solidFill>
                            <a:srgbClr val="252529"/>
                          </a:solidFill>
                          <a:latin typeface="Cambria Math"/>
                        </a:rPr>
                        <m:t xml:space="preserve"> </m:t>
                      </m:r>
                      <m:r>
                        <m:rPr>
                          <m:sty m:val="p"/>
                        </m:rPr>
                        <a:rPr lang="en-US" sz="1700">
                          <a:solidFill>
                            <a:srgbClr val="252529"/>
                          </a:solidFill>
                          <a:latin typeface="Cambria Math"/>
                        </a:rPr>
                        <m:t xml:space="preserve"> </m:t>
                      </m:r>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 </m:t>
                      </m:r>
                      <m:r>
                        <m:rPr>
                          <m:sty m:val="p"/>
                        </m:rPr>
                        <a:rPr lang="en-US" sz="1700">
                          <a:solidFill>
                            <a:srgbClr val="252529"/>
                          </a:solidFill>
                          <a:latin typeface="Cambria Math"/>
                        </a:rPr>
                        <m:t xml:space="preserve"> </m:t>
                      </m:r>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𝑢</m:t>
                          </m:r>
                        </m:e>
                      </m:bar>
                      <m:r>
                        <m:rPr>
                          <m:sty m:val="p"/>
                        </m:rPr>
                        <a:rPr lang="en-US" sz="1700">
                          <a:solidFill>
                            <a:srgbClr val="252529"/>
                          </a:solidFill>
                          <a:latin typeface="Cambria Math"/>
                        </a:rPr>
                        <m:t xml:space="preserve">=</m:t>
                      </m:r>
                      <m:sSup>
                        <m:sSupPr>
                          <m:ctrlPr>
                            <a:rPr lang="en-US" sz="1700">
                              <a:solidFill>
                                <a:srgbClr val="252529"/>
                              </a:solidFill>
                              <a:latin typeface="Cambria Math"/>
                            </a:rPr>
                          </m:ctrlPr>
                        </m:sSupPr>
                        <m:e>
                          <m:r>
                            <m:rPr>
                              <m:sty m:val="p"/>
                            </m:rPr>
                            <a:rPr lang="en-US" sz="1700">
                              <a:solidFill>
                                <a:srgbClr val="252529"/>
                              </a:solidFill>
                              <a:latin typeface="Cambria Math"/>
                            </a:rPr>
                            <m:t xml:space="preserve">𝐾</m:t>
                          </m:r>
                        </m:e>
                        <m:sup>
                          <m:r>
                            <m:rPr>
                              <m:sty m:val="p"/>
                            </m:rPr>
                            <a:rPr lang="en-US" sz="1700">
                              <a:solidFill>
                                <a:srgbClr val="252529"/>
                              </a:solidFill>
                              <a:latin typeface="Cambria Math"/>
                            </a:rPr>
                            <m:t xml:space="preserve">*</m:t>
                          </m:r>
                        </m:sup>
                      </m:sSup>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𝑦</m:t>
                          </m:r>
                        </m:e>
                      </m:bar>
                    </m:oMath>
                  </m:oMathPara>
                </a14:m>
                <a:endParaRPr sz="1700">
                  <a:latin typeface="Cambria Math"/>
                </a:endParaRPr>
              </a:p>
            </p:txBody>
          </p:sp>
        </mc:Choice>
        <mc:Fallback>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2791</TotalTime>
  <Words>4534</Words>
  <Application>Microsoft Office PowerPoint</Application>
  <PresentationFormat>On-screen Show (16:9)</PresentationFormat>
  <Paragraphs>483</Paragraphs>
  <Slides>45</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Alternative controller schematic</vt:lpstr>
      <vt:lpstr>Transposing the systems</vt:lpstr>
      <vt:lpstr>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23</cp:revision>
  <dcterms:created xsi:type="dcterms:W3CDTF">2019-11-27T15:26:32Z</dcterms:created>
  <dcterms:modified xsi:type="dcterms:W3CDTF">2026-09-25T14:58:40Z</dcterms:modified>
</cp:coreProperties>
</file>