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259" r:id="rId38"/>
    <p:sldId id="453" r:id="rId39"/>
    <p:sldId id="441" r:id="rId40"/>
    <p:sldId id="442" r:id="rId41"/>
    <p:sldId id="443" r:id="rId42"/>
    <p:sldId id="450" r:id="rId43"/>
    <p:sldId id="451" r:id="rId44"/>
    <p:sldId id="452" r:id="rId45"/>
    <p:sldId id="439" r:id="rId46"/>
    <p:sldId id="458" r:id="rId47"/>
    <p:sldId id="421" r:id="rId48"/>
    <p:sldId id="427" r:id="rId49"/>
    <p:sldId id="431" r:id="rId50"/>
    <p:sldId id="428" r:id="rId51"/>
    <p:sldId id="429" r:id="rId52"/>
    <p:sldId id="432" r:id="rId53"/>
    <p:sldId id="430" r:id="rId54"/>
    <p:sldId id="433" r:id="rId55"/>
    <p:sldId id="434" r:id="rId5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s>
</file>

<file path=ppt/slides/_rels/slide3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s>
</file>

<file path=ppt/slides/_rels/slide36.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s>
</file>

<file path=ppt/slides/_rels/slide37.xml.rels><?xml version="1.0" encoding="UTF-8" standalone="yes"?>
<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20"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1"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The shifted sigmoid lies in a sector</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txBody>
          <a:bodyPr/>
          <a:lstStyle/>
          <a:p>
            <a:endParaRPr lang="en-NL"/>
          </a:p>
        </p:txBody>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txBody>
          <a:bodyPr/>
          <a:lstStyle/>
          <a:p>
            <a:endParaRPr lang="en-NL"/>
          </a:p>
        </p:txBody>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xmlns="">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xmlns="">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p:sp>
        <p:nvSpPr>
          <p:cNvPr id="118" name="Nonlinearity input"/>
          <p:cNvSpPr/>
          <p:nvPr/>
        </p:nvSpPr>
        <p:spPr>
          <a:xfrm>
            <a:off x="53086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txBody>
          <a:bodyPr/>
          <a:lstStyle/>
          <a:p>
            <a:endParaRPr lang="en-NL"/>
          </a:p>
        </p:txBody>
      </p:sp>
      <p:sp>
        <p:nvSpPr>
          <p:cNvPr id="119" name="Nonlinearity output"/>
          <p:cNvSpPr/>
          <p:nvPr/>
        </p:nvSpPr>
        <p:spPr>
          <a:xfrm>
            <a:off x="6934200" y="1752600"/>
            <a:ext cx="1333500" cy="25400"/>
          </a:xfrm>
          <a:custGeom>
            <a:avLst/>
            <a:gdLst/>
            <a:ahLst/>
            <a:cxnLst/>
            <a:rect l="0" t="0" r="r" b="b"/>
            <a:pathLst>
              <a:path w="1333500" h="25400" fill="none">
                <a:moveTo>
                  <a:pt x="12700" y="12700"/>
                </a:moveTo>
                <a:lnTo>
                  <a:pt x="1320800" y="12700"/>
                </a:lnTo>
              </a:path>
            </a:pathLst>
          </a:custGeom>
          <a:noFill/>
          <a:ln w="12700">
            <a:solidFill>
              <a:srgbClr val="252529"/>
            </a:solidFill>
            <a:round/>
            <a:tailEnd type="triangle" w="sm" len="sm"/>
          </a:ln>
        </p:spPr>
        <p:txBody>
          <a:bodyPr/>
          <a:lstStyle/>
          <a:p>
            <a:endParaRPr lang="en-NL"/>
          </a:p>
        </p:txBody>
      </p:sp>
      <p:sp>
        <p:nvSpPr>
          <p:cNvPr id="120" name="Shifted activation block"/>
          <p:cNvSpPr/>
          <p:nvPr/>
        </p:nvSpPr>
        <p:spPr>
          <a:xfrm>
            <a:off x="6261100" y="1460500"/>
            <a:ext cx="685800" cy="609600"/>
          </a:xfrm>
          <a:prstGeom prst="rect">
            <a:avLst/>
          </a:prstGeom>
          <a:noFill/>
          <a:ln w="1270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21" name="Nonlinearity label"/>
              <p:cNvSpPr/>
              <p:nvPr/>
            </p:nvSpPr>
            <p:spPr>
              <a:xfrm>
                <a:off x="6318250" y="1320800"/>
                <a:ext cx="571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D61016"/>
                          </a:solidFill>
                          <a:latin typeface="Cambria Math"/>
                        </a:rPr>
                        <m:t>𝜑</m:t>
                      </m:r>
                    </m:oMath>
                  </m:oMathPara>
                </a14:m>
                <a:endParaRPr sz="2500"/>
              </a:p>
            </p:txBody>
          </p:sp>
        </mc:Choice>
        <mc:Fallback xmlns="">
          <p:sp>
            <p:nvSpPr>
              <p:cNvPr id="121" name="Nonlinearity label"/>
              <p:cNvSpPr>
                <a:spLocks noRot="1" noChangeAspect="1" noMove="1" noResize="1" noEditPoints="1" noAdjustHandles="1" noChangeArrowheads="1" noChangeShapeType="1" noTextEdit="1"/>
              </p:cNvSpPr>
              <p:nvPr/>
            </p:nvSpPr>
            <p:spPr>
              <a:xfrm>
                <a:off x="6318250" y="1320800"/>
                <a:ext cx="571500" cy="8890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Input label"/>
              <p:cNvSpPr/>
              <p:nvPr/>
            </p:nvSpPr>
            <p:spPr>
              <a:xfrm>
                <a:off x="53784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p:sp>
            <p:nvSpPr>
              <p:cNvPr id="122" name="Input label"/>
              <p:cNvSpPr>
                <a:spLocks noRot="1" noChangeAspect="1" noMove="1" noResize="1" noEditPoints="1" noAdjustHandles="1" noChangeArrowheads="1" noChangeShapeType="1" noTextEdit="1"/>
              </p:cNvSpPr>
              <p:nvPr/>
            </p:nvSpPr>
            <p:spPr>
              <a:xfrm>
                <a:off x="5378450" y="1257300"/>
                <a:ext cx="571500" cy="5334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Output label"/>
              <p:cNvSpPr/>
              <p:nvPr/>
            </p:nvSpPr>
            <p:spPr>
              <a:xfrm>
                <a:off x="73850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p:sp>
            <p:nvSpPr>
              <p:cNvPr id="123" name="Output label"/>
              <p:cNvSpPr>
                <a:spLocks noRot="1" noChangeAspect="1" noMove="1" noResize="1" noEditPoints="1" noAdjustHandles="1" noChangeArrowheads="1" noChangeShapeType="1" noTextEdit="1"/>
              </p:cNvSpPr>
              <p:nvPr/>
            </p:nvSpPr>
            <p:spPr>
              <a:xfrm>
                <a:off x="7385050" y="1257300"/>
                <a:ext cx="571500" cy="5334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Shifted map"/>
              <p:cNvSpPr/>
              <p:nvPr/>
            </p:nvSpPr>
            <p:spPr>
              <a:xfrm>
                <a:off x="4762500" y="2237740"/>
                <a:ext cx="3810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r>
                        <a:rPr sz="1700">
                          <a:solidFill>
                            <a:srgbClr val="252529"/>
                          </a:solidFill>
                          <a:latin typeface="Cambria Math"/>
                        </a:rPr>
                        <m:t>=</m:t>
                      </m:r>
                      <m:r>
                        <a:rPr sz="1700">
                          <a:solidFill>
                            <a:srgbClr val="252529"/>
                          </a:solidFill>
                          <a:latin typeface="Cambria Math"/>
                        </a:rPr>
                        <m:t>𝜑</m:t>
                      </m:r>
                      <m:d>
                        <m:dPr>
                          <m:ctrlPr>
                            <a:rPr sz="1700">
                              <a:solidFill>
                                <a:srgbClr val="252529"/>
                              </a:solidFill>
                              <a:latin typeface="Cambria Math"/>
                            </a:rPr>
                          </m:ctrlPr>
                        </m:dPr>
                        <m:e>
                          <m:r>
                            <a:rPr sz="1700">
                              <a:solidFill>
                                <a:srgbClr val="252529"/>
                              </a:solidFill>
                              <a:latin typeface="Cambria Math"/>
                            </a:rPr>
                            <m:t>𝑧</m:t>
                          </m:r>
                        </m:e>
                      </m:d>
                      <m:r>
                        <a:rPr sz="1700">
                          <a:solidFill>
                            <a:srgbClr val="252529"/>
                          </a:solidFill>
                          <a:latin typeface="Cambria Math"/>
                        </a:rPr>
                        <m:t>,   </m:t>
                      </m:r>
                      <m:r>
                        <a:rPr sz="1700">
                          <a:solidFill>
                            <a:srgbClr val="252529"/>
                          </a:solidFill>
                          <a:latin typeface="Cambria Math"/>
                        </a:rPr>
                        <m:t>𝜑</m:t>
                      </m:r>
                      <m:d>
                        <m:dPr>
                          <m:ctrlPr>
                            <a:rPr sz="1700">
                              <a:solidFill>
                                <a:srgbClr val="252529"/>
                              </a:solidFill>
                              <a:latin typeface="Cambria Math"/>
                            </a:rPr>
                          </m:ctrlPr>
                        </m:dPr>
                        <m:e>
                          <m:r>
                            <a:rPr sz="1700">
                              <a:solidFill>
                                <a:srgbClr val="252529"/>
                              </a:solidFill>
                              <a:latin typeface="Cambria Math"/>
                            </a:rPr>
                            <m:t>0</m:t>
                          </m:r>
                        </m:e>
                      </m:d>
                      <m:r>
                        <a:rPr sz="1700">
                          <a:solidFill>
                            <a:srgbClr val="252529"/>
                          </a:solidFill>
                          <a:latin typeface="Cambria Math"/>
                        </a:rPr>
                        <m:t>=0</m:t>
                      </m:r>
                    </m:oMath>
                  </m:oMathPara>
                </a14:m>
                <a:endParaRPr sz="1700"/>
              </a:p>
            </p:txBody>
          </p:sp>
        </mc:Choice>
        <mc:Fallback xmlns="">
          <p:sp>
            <p:nvSpPr>
              <p:cNvPr id="124" name="Shifted map"/>
              <p:cNvSpPr>
                <a:spLocks noRot="1" noChangeAspect="1" noMove="1" noResize="1" noEditPoints="1" noAdjustHandles="1" noChangeArrowheads="1" noChangeShapeType="1" noTextEdit="1"/>
              </p:cNvSpPr>
              <p:nvPr/>
            </p:nvSpPr>
            <p:spPr>
              <a:xfrm>
                <a:off x="4762500" y="2237740"/>
                <a:ext cx="3810000" cy="604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Global sector"/>
              <p:cNvSpPr/>
              <p:nvPr/>
            </p:nvSpPr>
            <p:spPr>
              <a:xfrm>
                <a:off x="4730750" y="2682240"/>
                <a:ext cx="3873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xmlns="">
          <p:sp>
            <p:nvSpPr>
              <p:cNvPr id="125" name="Global sector"/>
              <p:cNvSpPr>
                <a:spLocks noRot="1" noChangeAspect="1" noMove="1" noResize="1" noEditPoints="1" noAdjustHandles="1" noChangeArrowheads="1" noChangeShapeType="1" noTextEdit="1"/>
              </p:cNvSpPr>
              <p:nvPr/>
            </p:nvSpPr>
            <p:spPr>
              <a:xfrm>
                <a:off x="4730750" y="2682240"/>
                <a:ext cx="3873500" cy="604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Equilibrium-shifted sigmoid"/>
              <p:cNvSpPr/>
              <p:nvPr/>
            </p:nvSpPr>
            <p:spPr>
              <a:xfrm>
                <a:off x="444500" y="3792220"/>
                <a:ext cx="8255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𝜑</m:t>
                      </m:r>
                      <m:d>
                        <m:dPr>
                          <m:ctrlPr>
                            <a:rPr sz="1600">
                              <a:solidFill>
                                <a:srgbClr val="252529"/>
                              </a:solidFill>
                              <a:latin typeface="Cambria Math"/>
                            </a:rPr>
                          </m:ctrlPr>
                        </m:dPr>
                        <m:e>
                          <m:r>
                            <a:rPr sz="1600">
                              <a:solidFill>
                                <a:srgbClr val="252529"/>
                              </a:solidFill>
                              <a:latin typeface="Cambria Math"/>
                            </a:rPr>
                            <m:t>𝑧</m:t>
                          </m:r>
                        </m:e>
                      </m:d>
                      <m:r>
                        <a:rPr sz="1600">
                          <a:solidFill>
                            <a:srgbClr val="252529"/>
                          </a:solidFill>
                          <a:latin typeface="Cambria Math"/>
                        </a:rPr>
                        <m:t>=</m:t>
                      </m:r>
                      <m:f>
                        <m:fPr>
                          <m:ctrlPr>
                            <a:rPr sz="1600">
                              <a:solidFill>
                                <a:srgbClr val="252529"/>
                              </a:solidFill>
                              <a:latin typeface="Cambria Math"/>
                            </a:rPr>
                          </m:ctrlPr>
                        </m:fPr>
                        <m:num>
                          <m:r>
                            <a:rPr sz="1600">
                              <a:solidFill>
                                <a:srgbClr val="252529"/>
                              </a:solidFill>
                              <a:latin typeface="Cambria Math"/>
                            </a:rPr>
                            <m:t>𝑀</m:t>
                          </m:r>
                        </m:num>
                        <m:den>
                          <m:r>
                            <a:rPr sz="1600">
                              <a:solidFill>
                                <a:srgbClr val="252529"/>
                              </a:solidFill>
                              <a:latin typeface="Cambria Math"/>
                            </a:rPr>
                            <m:t>2</m:t>
                          </m:r>
                        </m:den>
                      </m:f>
                      <m:d>
                        <m:dPr>
                          <m:begChr m:val="["/>
                          <m:endChr m:val="]"/>
                          <m:ctrlPr>
                            <a:rPr sz="1600">
                              <a:solidFill>
                                <a:srgbClr val="252529"/>
                              </a:solidFill>
                              <a:latin typeface="Cambria Math"/>
                            </a:rPr>
                          </m:ctrlPr>
                        </m:dPr>
                        <m:e>
                          <m:r>
                            <m:rPr>
                              <m:sty m:val="p"/>
                            </m:rPr>
                            <a:rPr sz="1600">
                              <a:solidFill>
                                <a:srgbClr val="252529"/>
                              </a:solidFill>
                              <a:latin typeface="Cambria Math"/>
                            </a:rPr>
                            <m:t>tanh</m:t>
                          </m:r>
                          <m:d>
                            <m:dPr>
                              <m:ctrlPr>
                                <a:rPr sz="1600" i="1">
                                  <a:solidFill>
                                    <a:srgbClr val="252529"/>
                                  </a:solidFill>
                                  <a:latin typeface="Cambria Math" panose="02040503050406030204" pitchFamily="18" charset="0"/>
                                </a:rPr>
                              </m:ctrlPr>
                            </m:dPr>
                            <m:e>
                              <m:f>
                                <m:fPr>
                                  <m:ctrlPr>
                                    <a:rPr sz="1600">
                                      <a:solidFill>
                                        <a:srgbClr val="252529"/>
                                      </a:solidFill>
                                      <a:latin typeface="Cambria Math"/>
                                    </a:rPr>
                                  </m:ctrlPr>
                                </m:fPr>
                                <m:num>
                                  <m:r>
                                    <a:rPr sz="1600">
                                      <a:solidFill>
                                        <a:srgbClr val="252529"/>
                                      </a:solidFill>
                                      <a:latin typeface="Cambria Math"/>
                                    </a:rPr>
                                    <m:t>2</m:t>
                                  </m:r>
                                  <m:d>
                                    <m:dPr>
                                      <m:ctrlPr>
                                        <a:rPr sz="1600" i="1">
                                          <a:solidFill>
                                            <a:srgbClr val="252529"/>
                                          </a:solidFill>
                                          <a:latin typeface="Cambria Math" panose="02040503050406030204" pitchFamily="18" charset="0"/>
                                        </a:rPr>
                                      </m:ctrlPr>
                                    </m:dPr>
                                    <m:e>
                                      <m:sSup>
                                        <m:sSupPr>
                                          <m:ctrlPr>
                                            <a:rPr sz="1600">
                                              <a:solidFill>
                                                <a:srgbClr val="252529"/>
                                              </a:solidFill>
                                              <a:latin typeface="Cambria Math"/>
                                            </a:rPr>
                                          </m:ctrlPr>
                                        </m:sSupPr>
                                        <m:e>
                                          <m:r>
                                            <a:rPr sz="1600">
                                              <a:solidFill>
                                                <a:srgbClr val="252529"/>
                                              </a:solidFill>
                                              <a:latin typeface="Cambria Math"/>
                                            </a:rPr>
                                            <m:t>𝑧</m:t>
                                          </m:r>
                                        </m:e>
                                        <m:sup>
                                          <m:r>
                                            <a:rPr sz="1600">
                                              <a:solidFill>
                                                <a:srgbClr val="252529"/>
                                              </a:solidFill>
                                              <a:latin typeface="Cambria Math"/>
                                            </a:rPr>
                                            <m:t>∗</m:t>
                                          </m:r>
                                        </m:sup>
                                      </m:sSup>
                                      <m:r>
                                        <a:rPr sz="1600">
                                          <a:solidFill>
                                            <a:srgbClr val="252529"/>
                                          </a:solidFill>
                                          <a:latin typeface="Cambria Math"/>
                                        </a:rPr>
                                        <m:t>+</m:t>
                                      </m:r>
                                      <m:r>
                                        <a:rPr sz="1600">
                                          <a:solidFill>
                                            <a:srgbClr val="252529"/>
                                          </a:solidFill>
                                          <a:latin typeface="Cambria Math"/>
                                        </a:rPr>
                                        <m:t>𝑧</m:t>
                                      </m:r>
                                    </m:e>
                                  </m:d>
                                </m:num>
                                <m:den>
                                  <m:r>
                                    <a:rPr sz="1600">
                                      <a:solidFill>
                                        <a:srgbClr val="252529"/>
                                      </a:solidFill>
                                      <a:latin typeface="Cambria Math"/>
                                    </a:rPr>
                                    <m:t>𝑀</m:t>
                                  </m:r>
                                </m:den>
                              </m:f>
                            </m:e>
                          </m:d>
                          <m:r>
                            <a:rPr sz="1600">
                              <a:solidFill>
                                <a:srgbClr val="252529"/>
                              </a:solidFill>
                              <a:latin typeface="Cambria Math"/>
                            </a:rPr>
                            <m:t>−</m:t>
                          </m:r>
                          <m:r>
                            <m:rPr>
                              <m:sty m:val="p"/>
                            </m:rPr>
                            <a:rPr sz="1600">
                              <a:solidFill>
                                <a:srgbClr val="252529"/>
                              </a:solidFill>
                              <a:latin typeface="Cambria Math"/>
                            </a:rPr>
                            <m:t>tanh</m:t>
                          </m:r>
                          <m:d>
                            <m:dPr>
                              <m:ctrlPr>
                                <a:rPr sz="1600" i="1">
                                  <a:solidFill>
                                    <a:srgbClr val="252529"/>
                                  </a:solidFill>
                                  <a:latin typeface="Cambria Math" panose="02040503050406030204" pitchFamily="18" charset="0"/>
                                </a:rPr>
                              </m:ctrlPr>
                            </m:dPr>
                            <m:e>
                              <m:f>
                                <m:fPr>
                                  <m:ctrlPr>
                                    <a:rPr sz="1600">
                                      <a:solidFill>
                                        <a:srgbClr val="252529"/>
                                      </a:solidFill>
                                      <a:latin typeface="Cambria Math"/>
                                    </a:rPr>
                                  </m:ctrlPr>
                                </m:fPr>
                                <m:num>
                                  <m:r>
                                    <a:rPr sz="1600">
                                      <a:solidFill>
                                        <a:srgbClr val="252529"/>
                                      </a:solidFill>
                                      <a:latin typeface="Cambria Math"/>
                                    </a:rPr>
                                    <m:t>2</m:t>
                                  </m:r>
                                  <m:sSup>
                                    <m:sSupPr>
                                      <m:ctrlPr>
                                        <a:rPr sz="1600">
                                          <a:solidFill>
                                            <a:srgbClr val="252529"/>
                                          </a:solidFill>
                                          <a:latin typeface="Cambria Math"/>
                                        </a:rPr>
                                      </m:ctrlPr>
                                    </m:sSupPr>
                                    <m:e>
                                      <m:r>
                                        <a:rPr sz="1600">
                                          <a:solidFill>
                                            <a:srgbClr val="252529"/>
                                          </a:solidFill>
                                          <a:latin typeface="Cambria Math"/>
                                        </a:rPr>
                                        <m:t>𝑧</m:t>
                                      </m:r>
                                    </m:e>
                                    <m:sup>
                                      <m:r>
                                        <a:rPr sz="1600">
                                          <a:solidFill>
                                            <a:srgbClr val="252529"/>
                                          </a:solidFill>
                                          <a:latin typeface="Cambria Math"/>
                                        </a:rPr>
                                        <m:t>∗</m:t>
                                      </m:r>
                                    </m:sup>
                                  </m:sSup>
                                </m:num>
                                <m:den>
                                  <m:r>
                                    <a:rPr sz="1600">
                                      <a:solidFill>
                                        <a:srgbClr val="252529"/>
                                      </a:solidFill>
                                      <a:latin typeface="Cambria Math"/>
                                    </a:rPr>
                                    <m:t>𝑀</m:t>
                                  </m:r>
                                </m:den>
                              </m:f>
                            </m:e>
                          </m:d>
                        </m:e>
                      </m:d>
                    </m:oMath>
                  </m:oMathPara>
                </a14:m>
                <a:endParaRPr sz="1600"/>
              </a:p>
            </p:txBody>
          </p:sp>
        </mc:Choice>
        <mc:Fallback xmlns="">
          <p:sp>
            <p:nvSpPr>
              <p:cNvPr id="126" name="Equilibrium-shifted sigmoid"/>
              <p:cNvSpPr>
                <a:spLocks noRot="1" noChangeAspect="1" noMove="1" noResize="1" noEditPoints="1" noAdjustHandles="1" noChangeArrowheads="1" noChangeShapeType="1" noTextEdit="1"/>
              </p:cNvSpPr>
              <p:nvPr/>
            </p:nvSpPr>
            <p:spPr>
              <a:xfrm>
                <a:off x="444500" y="3792220"/>
                <a:ext cx="8255000" cy="56896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7" name="STN parameters"/>
              <p:cNvSpPr/>
              <p:nvPr/>
            </p:nvSpPr>
            <p:spPr>
              <a:xfrm>
                <a:off x="762000" y="4302760"/>
                <a:ext cx="7620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𝑀</m:t>
                      </m:r>
                      <m:r>
                        <a:rPr sz="1300">
                          <a:solidFill>
                            <a:srgbClr val="252529"/>
                          </a:solidFill>
                          <a:latin typeface="Cambria Math"/>
                        </a:rPr>
                        <m:t>=300,   </m:t>
                      </m:r>
                      <m:sSup>
                        <m:sSupPr>
                          <m:ctrlPr>
                            <a:rPr sz="1300">
                              <a:solidFill>
                                <a:srgbClr val="252529"/>
                              </a:solidFill>
                              <a:latin typeface="Cambria Math"/>
                            </a:rPr>
                          </m:ctrlPr>
                        </m:sSupPr>
                        <m:e>
                          <m:r>
                            <a:rPr sz="1300">
                              <a:solidFill>
                                <a:srgbClr val="252529"/>
                              </a:solidFill>
                              <a:latin typeface="Cambria Math"/>
                            </a:rPr>
                            <m:t>𝑧</m:t>
                          </m:r>
                        </m:e>
                        <m:sup>
                          <m:r>
                            <a:rPr sz="1300">
                              <a:solidFill>
                                <a:srgbClr val="252529"/>
                              </a:solidFill>
                              <a:latin typeface="Cambria Math"/>
                            </a:rPr>
                            <m:t>∗</m:t>
                          </m:r>
                        </m:sup>
                      </m:sSup>
                      <m:r>
                        <a:rPr sz="1300">
                          <a:solidFill>
                            <a:srgbClr val="252529"/>
                          </a:solidFill>
                          <a:latin typeface="Cambria Math"/>
                        </a:rPr>
                        <m:t>≈−196.17</m:t>
                      </m:r>
                    </m:oMath>
                  </m:oMathPara>
                </a14:m>
                <a:endParaRPr sz="1300"/>
              </a:p>
            </p:txBody>
          </p:sp>
        </mc:Choice>
        <mc:Fallback xmlns="">
          <p:sp>
            <p:nvSpPr>
              <p:cNvPr id="127" name="STN parameters"/>
              <p:cNvSpPr>
                <a:spLocks noRot="1" noChangeAspect="1" noMove="1" noResize="1" noEditPoints="1" noAdjustHandles="1" noChangeArrowheads="1" noChangeShapeType="1" noTextEdit="1"/>
              </p:cNvSpPr>
              <p:nvPr/>
            </p:nvSpPr>
            <p:spPr>
              <a:xfrm>
                <a:off x="762000" y="4302760"/>
                <a:ext cx="7620000" cy="462280"/>
              </a:xfrm>
              <a:prstGeom prst="rect">
                <a:avLst/>
              </a:prstGeom>
              <a:blipFill>
                <a:blip r:embed="rId13"/>
                <a:stretch>
                  <a:fillRect/>
                </a:stretch>
              </a:blipFill>
              <a:ln>
                <a:noFill/>
              </a:ln>
            </p:spPr>
            <p:txBody>
              <a:bodyPr/>
              <a:lstStyle/>
              <a:p>
                <a:r>
                  <a:rPr lang="en-NL">
                    <a:noFill/>
                  </a:rPr>
                  <a:t> </a:t>
                </a:r>
              </a:p>
            </p:txBody>
          </p:sp>
        </mc:Fallback>
      </mc:AlternateContent>
      <p:sp>
        <p:nvSpPr>
          <p:cNvPr id="128"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9"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1</a:t>
            </a:r>
            <a:endParaRPr sz="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The sector gives two signed gaps</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txBody>
          <a:bodyPr/>
          <a:lstStyle/>
          <a:p>
            <a:endParaRPr lang="en-NL"/>
          </a:p>
        </p:txBody>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txBody>
          <a:bodyPr/>
          <a:lstStyle/>
          <a:p>
            <a:endParaRPr lang="en-NL"/>
          </a:p>
        </p:txBody>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txBody>
          <a:bodyPr/>
          <a:lstStyle/>
          <a:p>
            <a:endParaRPr lang="en-NL" dirty="0"/>
          </a:p>
        </p:txBody>
      </p:sp>
      <mc:AlternateContent xmlns:mc="http://schemas.openxmlformats.org/markup-compatibility/2006" xmlns:a14="http://schemas.microsoft.com/office/drawing/2010/main">
        <mc:Choice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xmlns="">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xmlns="">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txBody>
          <a:bodyPr/>
          <a:lstStyle/>
          <a:p>
            <a:endParaRPr lang="en-NL"/>
          </a:p>
        </p:txBody>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txBody>
          <a:bodyPr/>
          <a:lstStyle/>
          <a:p>
            <a:endParaRPr lang="en-NL"/>
          </a:p>
        </p:txBody>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2" name="Sample point"/>
          <p:cNvSpPr/>
          <p:nvPr/>
        </p:nvSpPr>
        <p:spPr>
          <a:xfrm>
            <a:off x="2818765" y="2085168"/>
            <a:ext cx="63500" cy="63500"/>
          </a:xfrm>
          <a:prstGeom prst="ellipse">
            <a:avLst/>
          </a:prstGeom>
          <a:solidFill>
            <a:srgbClr val="D61016"/>
          </a:solidFill>
          <a:ln>
            <a:noFill/>
          </a:ln>
        </p:spPr>
        <p:txBody>
          <a:bodyPr/>
          <a:lstStyle/>
          <a:p>
            <a:endParaRPr lang="en-NL"/>
          </a:p>
        </p:txBody>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p:sp>
        <p:nvSpPr>
          <p:cNvPr id="124" name="Nonlinearity input"/>
          <p:cNvSpPr/>
          <p:nvPr/>
        </p:nvSpPr>
        <p:spPr>
          <a:xfrm>
            <a:off x="53086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txBody>
          <a:bodyPr/>
          <a:lstStyle/>
          <a:p>
            <a:endParaRPr lang="en-NL"/>
          </a:p>
        </p:txBody>
      </p:sp>
      <p:sp>
        <p:nvSpPr>
          <p:cNvPr id="125" name="Nonlinearity output"/>
          <p:cNvSpPr/>
          <p:nvPr/>
        </p:nvSpPr>
        <p:spPr>
          <a:xfrm>
            <a:off x="6934200" y="1752600"/>
            <a:ext cx="1333500" cy="25400"/>
          </a:xfrm>
          <a:custGeom>
            <a:avLst/>
            <a:gdLst/>
            <a:ahLst/>
            <a:cxnLst/>
            <a:rect l="0" t="0" r="r" b="b"/>
            <a:pathLst>
              <a:path w="1333500" h="25400" fill="none">
                <a:moveTo>
                  <a:pt x="12700" y="12700"/>
                </a:moveTo>
                <a:lnTo>
                  <a:pt x="1320800" y="12700"/>
                </a:lnTo>
              </a:path>
            </a:pathLst>
          </a:custGeom>
          <a:noFill/>
          <a:ln w="12700">
            <a:solidFill>
              <a:srgbClr val="252529"/>
            </a:solidFill>
            <a:round/>
            <a:tailEnd type="triangle" w="sm" len="sm"/>
          </a:ln>
        </p:spPr>
        <p:txBody>
          <a:bodyPr/>
          <a:lstStyle/>
          <a:p>
            <a:endParaRPr lang="en-NL"/>
          </a:p>
        </p:txBody>
      </p:sp>
      <p:sp>
        <p:nvSpPr>
          <p:cNvPr id="126" name="Shifted activation block"/>
          <p:cNvSpPr/>
          <p:nvPr/>
        </p:nvSpPr>
        <p:spPr>
          <a:xfrm>
            <a:off x="6261100" y="1460500"/>
            <a:ext cx="685800" cy="609600"/>
          </a:xfrm>
          <a:prstGeom prst="rect">
            <a:avLst/>
          </a:prstGeom>
          <a:noFill/>
          <a:ln w="1270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27" name="Nonlinearity label"/>
              <p:cNvSpPr/>
              <p:nvPr/>
            </p:nvSpPr>
            <p:spPr>
              <a:xfrm>
                <a:off x="6318250" y="1320800"/>
                <a:ext cx="571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D61016"/>
                          </a:solidFill>
                          <a:latin typeface="Cambria Math"/>
                        </a:rPr>
                        <m:t>𝜑</m:t>
                      </m:r>
                    </m:oMath>
                  </m:oMathPara>
                </a14:m>
                <a:endParaRPr sz="2500"/>
              </a:p>
            </p:txBody>
          </p:sp>
        </mc:Choice>
        <mc:Fallback xmlns="">
          <p:sp>
            <p:nvSpPr>
              <p:cNvPr id="127" name="Nonlinearity label"/>
              <p:cNvSpPr>
                <a:spLocks noRot="1" noChangeAspect="1" noMove="1" noResize="1" noEditPoints="1" noAdjustHandles="1" noChangeArrowheads="1" noChangeShapeType="1" noTextEdit="1"/>
              </p:cNvSpPr>
              <p:nvPr/>
            </p:nvSpPr>
            <p:spPr>
              <a:xfrm>
                <a:off x="6318250" y="1320800"/>
                <a:ext cx="571500" cy="8890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8" name="Input label"/>
              <p:cNvSpPr/>
              <p:nvPr/>
            </p:nvSpPr>
            <p:spPr>
              <a:xfrm>
                <a:off x="53784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p:sp>
            <p:nvSpPr>
              <p:cNvPr id="128" name="Input label"/>
              <p:cNvSpPr>
                <a:spLocks noRot="1" noChangeAspect="1" noMove="1" noResize="1" noEditPoints="1" noAdjustHandles="1" noChangeArrowheads="1" noChangeShapeType="1" noTextEdit="1"/>
              </p:cNvSpPr>
              <p:nvPr/>
            </p:nvSpPr>
            <p:spPr>
              <a:xfrm>
                <a:off x="5378450" y="1257300"/>
                <a:ext cx="571500" cy="5334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9" name="Output label"/>
              <p:cNvSpPr/>
              <p:nvPr/>
            </p:nvSpPr>
            <p:spPr>
              <a:xfrm>
                <a:off x="73850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p:sp>
            <p:nvSpPr>
              <p:cNvPr id="129" name="Output label"/>
              <p:cNvSpPr>
                <a:spLocks noRot="1" noChangeAspect="1" noMove="1" noResize="1" noEditPoints="1" noAdjustHandles="1" noChangeArrowheads="1" noChangeShapeType="1" noTextEdit="1"/>
              </p:cNvSpPr>
              <p:nvPr/>
            </p:nvSpPr>
            <p:spPr>
              <a:xfrm>
                <a:off x="7385050" y="1257300"/>
                <a:ext cx="571500" cy="5334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0" name="Upper gap"/>
              <p:cNvSpPr/>
              <p:nvPr/>
            </p:nvSpPr>
            <p:spPr>
              <a:xfrm>
                <a:off x="4857750" y="2171700"/>
                <a:ext cx="3619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16F9C"/>
                          </a:solidFill>
                          <a:latin typeface="Cambria Math"/>
                        </a:rPr>
                        <m:t>𝑎</m:t>
                      </m:r>
                      <m:r>
                        <a:rPr sz="2000">
                          <a:solidFill>
                            <a:srgbClr val="216F9C"/>
                          </a:solidFill>
                          <a:latin typeface="Cambria Math"/>
                        </a:rPr>
                        <m:t>=</m:t>
                      </m:r>
                      <m:r>
                        <a:rPr sz="2000">
                          <a:solidFill>
                            <a:srgbClr val="216F9C"/>
                          </a:solidFill>
                          <a:latin typeface="Cambria Math"/>
                        </a:rPr>
                        <m:t>𝛽</m:t>
                      </m:r>
                      <m:r>
                        <a:rPr sz="2000">
                          <a:solidFill>
                            <a:srgbClr val="216F9C"/>
                          </a:solidFill>
                          <a:latin typeface="Cambria Math"/>
                        </a:rPr>
                        <m:t>𝑧</m:t>
                      </m:r>
                      <m:r>
                        <a:rPr sz="2000">
                          <a:solidFill>
                            <a:srgbClr val="216F9C"/>
                          </a:solidFill>
                          <a:latin typeface="Cambria Math"/>
                        </a:rPr>
                        <m:t>−</m:t>
                      </m:r>
                      <m:r>
                        <a:rPr sz="2000">
                          <a:solidFill>
                            <a:srgbClr val="216F9C"/>
                          </a:solidFill>
                          <a:latin typeface="Cambria Math"/>
                        </a:rPr>
                        <m:t>𝑤</m:t>
                      </m:r>
                    </m:oMath>
                  </m:oMathPara>
                </a14:m>
                <a:endParaRPr sz="2000"/>
              </a:p>
            </p:txBody>
          </p:sp>
        </mc:Choice>
        <mc:Fallback xmlns="">
          <p:sp>
            <p:nvSpPr>
              <p:cNvPr id="130" name="Upper gap"/>
              <p:cNvSpPr>
                <a:spLocks noRot="1" noChangeAspect="1" noMove="1" noResize="1" noEditPoints="1" noAdjustHandles="1" noChangeArrowheads="1" noChangeShapeType="1" noTextEdit="1"/>
              </p:cNvSpPr>
              <p:nvPr/>
            </p:nvSpPr>
            <p:spPr>
              <a:xfrm>
                <a:off x="4857750" y="2171700"/>
                <a:ext cx="3619500" cy="711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1" name="Lower gap"/>
              <p:cNvSpPr/>
              <p:nvPr/>
            </p:nvSpPr>
            <p:spPr>
              <a:xfrm>
                <a:off x="4635500" y="2654300"/>
                <a:ext cx="4064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47C60"/>
                          </a:solidFill>
                          <a:latin typeface="Cambria Math"/>
                        </a:rPr>
                        <m:t>𝑏</m:t>
                      </m:r>
                      <m:r>
                        <a:rPr sz="2000">
                          <a:solidFill>
                            <a:srgbClr val="147C60"/>
                          </a:solidFill>
                          <a:latin typeface="Cambria Math"/>
                        </a:rPr>
                        <m:t>=</m:t>
                      </m:r>
                      <m:r>
                        <a:rPr sz="2000">
                          <a:solidFill>
                            <a:srgbClr val="147C60"/>
                          </a:solidFill>
                          <a:latin typeface="Cambria Math"/>
                        </a:rPr>
                        <m:t>𝑤</m:t>
                      </m:r>
                      <m:r>
                        <a:rPr sz="2000">
                          <a:solidFill>
                            <a:srgbClr val="147C60"/>
                          </a:solidFill>
                          <a:latin typeface="Cambria Math"/>
                        </a:rPr>
                        <m:t>−</m:t>
                      </m:r>
                      <m:r>
                        <a:rPr sz="2000">
                          <a:solidFill>
                            <a:srgbClr val="147C60"/>
                          </a:solidFill>
                          <a:latin typeface="Cambria Math"/>
                        </a:rPr>
                        <m:t>𝛼</m:t>
                      </m:r>
                      <m:r>
                        <a:rPr sz="2000">
                          <a:solidFill>
                            <a:srgbClr val="147C60"/>
                          </a:solidFill>
                          <a:latin typeface="Cambria Math"/>
                        </a:rPr>
                        <m:t>𝑧</m:t>
                      </m:r>
                      <m:r>
                        <a:rPr sz="2000">
                          <a:solidFill>
                            <a:srgbClr val="147C60"/>
                          </a:solidFill>
                          <a:latin typeface="Cambria Math"/>
                        </a:rPr>
                        <m:t>=</m:t>
                      </m:r>
                      <m:r>
                        <a:rPr sz="2000">
                          <a:solidFill>
                            <a:srgbClr val="147C60"/>
                          </a:solidFill>
                          <a:latin typeface="Cambria Math"/>
                        </a:rPr>
                        <m:t>𝑤</m:t>
                      </m:r>
                    </m:oMath>
                  </m:oMathPara>
                </a14:m>
                <a:endParaRPr sz="2000"/>
              </a:p>
            </p:txBody>
          </p:sp>
        </mc:Choice>
        <mc:Fallback xmlns="">
          <p:sp>
            <p:nvSpPr>
              <p:cNvPr id="131" name="Lower gap"/>
              <p:cNvSpPr>
                <a:spLocks noRot="1" noChangeAspect="1" noMove="1" noResize="1" noEditPoints="1" noAdjustHandles="1" noChangeArrowheads="1" noChangeShapeType="1" noTextEdit="1"/>
              </p:cNvSpPr>
              <p:nvPr/>
            </p:nvSpPr>
            <p:spPr>
              <a:xfrm>
                <a:off x="4635500" y="2654300"/>
                <a:ext cx="4064000" cy="71120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2" name="Gap filter"/>
              <p:cNvSpPr/>
              <p:nvPr/>
            </p:nvSpPr>
            <p:spPr>
              <a:xfrm>
                <a:off x="444500" y="3695700"/>
                <a:ext cx="8255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000" i="1">
                              <a:solidFill>
                                <a:srgbClr val="252529"/>
                              </a:solidFill>
                              <a:latin typeface="Cambria Math" panose="02040503050406030204" pitchFamily="18" charset="0"/>
                            </a:rPr>
                          </m:ctrlPr>
                        </m:dPr>
                        <m:e>
                          <m:m>
                            <m:mPr>
                              <m:mcs>
                                <m:mc>
                                  <m:mcPr>
                                    <m:count m:val="1"/>
                                    <m:mcJc m:val="center"/>
                                  </m:mcPr>
                                </m:mc>
                              </m:mcs>
                              <m:ctrlPr>
                                <a:rPr sz="2000" i="1">
                                  <a:solidFill>
                                    <a:srgbClr val="252529"/>
                                  </a:solidFill>
                                  <a:latin typeface="Cambria Math" panose="02040503050406030204" pitchFamily="18" charset="0"/>
                                </a:rPr>
                              </m:ctrlPr>
                            </m:mPr>
                            <m:mr>
                              <m:e>
                                <m:r>
                                  <a:rPr sz="2000">
                                    <a:solidFill>
                                      <a:srgbClr val="216F9C"/>
                                    </a:solidFill>
                                    <a:latin typeface="Cambria Math"/>
                                  </a:rPr>
                                  <m:t>𝑎</m:t>
                                </m:r>
                              </m:e>
                            </m:mr>
                            <m:mr>
                              <m:e>
                                <m:r>
                                  <a:rPr sz="2000">
                                    <a:solidFill>
                                      <a:srgbClr val="147C60"/>
                                    </a:solidFill>
                                    <a:latin typeface="Cambria Math"/>
                                  </a:rPr>
                                  <m:t>𝑏</m:t>
                                </m:r>
                              </m:e>
                            </m:mr>
                          </m:m>
                        </m:e>
                      </m:d>
                      <m:r>
                        <a:rPr sz="2000">
                          <a:solidFill>
                            <a:srgbClr val="252529"/>
                          </a:solidFill>
                          <a:latin typeface="Cambria Math"/>
                        </a:rPr>
                        <m:t>=</m:t>
                      </m:r>
                      <m:d>
                        <m:dPr>
                          <m:begChr m:val="["/>
                          <m:endChr m:val="]"/>
                          <m:ctrlPr>
                            <a:rPr sz="2000" i="1">
                              <a:solidFill>
                                <a:srgbClr val="252529"/>
                              </a:solidFill>
                              <a:latin typeface="Cambria Math" panose="02040503050406030204" pitchFamily="18" charset="0"/>
                            </a:rPr>
                          </m:ctrlPr>
                        </m:dPr>
                        <m:e>
                          <m:m>
                            <m:mPr>
                              <m:mcs>
                                <m:mc>
                                  <m:mcPr>
                                    <m:count m:val="2"/>
                                    <m:mcJc m:val="center"/>
                                  </m:mcPr>
                                </m:mc>
                              </m:mcs>
                              <m:ctrlPr>
                                <a:rPr sz="2000" i="1">
                                  <a:solidFill>
                                    <a:srgbClr val="252529"/>
                                  </a:solidFill>
                                  <a:latin typeface="Cambria Math" panose="02040503050406030204" pitchFamily="18" charset="0"/>
                                </a:rPr>
                              </m:ctrlPr>
                            </m:mPr>
                            <m:mr>
                              <m:e>
                                <m:r>
                                  <a:rPr sz="2000">
                                    <a:solidFill>
                                      <a:srgbClr val="252529"/>
                                    </a:solidFill>
                                    <a:latin typeface="Cambria Math"/>
                                  </a:rPr>
                                  <m:t>𝛽</m:t>
                                </m:r>
                              </m:e>
                              <m:e>
                                <m:r>
                                  <a:rPr sz="2000">
                                    <a:solidFill>
                                      <a:srgbClr val="252529"/>
                                    </a:solidFill>
                                    <a:latin typeface="Cambria Math"/>
                                  </a:rPr>
                                  <m:t>−1</m:t>
                                </m:r>
                              </m:e>
                            </m:mr>
                            <m:mr>
                              <m:e>
                                <m:r>
                                  <a:rPr sz="2000">
                                    <a:solidFill>
                                      <a:srgbClr val="252529"/>
                                    </a:solidFill>
                                    <a:latin typeface="Cambria Math"/>
                                  </a:rPr>
                                  <m:t>0</m:t>
                                </m:r>
                              </m:e>
                              <m:e>
                                <m:r>
                                  <a:rPr sz="2000">
                                    <a:solidFill>
                                      <a:srgbClr val="252529"/>
                                    </a:solidFill>
                                    <a:latin typeface="Cambria Math"/>
                                  </a:rPr>
                                  <m:t>1</m:t>
                                </m:r>
                              </m:e>
                            </m:mr>
                          </m:m>
                        </m:e>
                      </m:d>
                      <m:d>
                        <m:dPr>
                          <m:begChr m:val="["/>
                          <m:endChr m:val="]"/>
                          <m:ctrlPr>
                            <a:rPr sz="2000" i="1">
                              <a:solidFill>
                                <a:srgbClr val="252529"/>
                              </a:solidFill>
                              <a:latin typeface="Cambria Math" panose="02040503050406030204" pitchFamily="18" charset="0"/>
                            </a:rPr>
                          </m:ctrlPr>
                        </m:dPr>
                        <m:e>
                          <m:m>
                            <m:mPr>
                              <m:mcs>
                                <m:mc>
                                  <m:mcPr>
                                    <m:count m:val="1"/>
                                    <m:mcJc m:val="center"/>
                                  </m:mcPr>
                                </m:mc>
                              </m:mcs>
                              <m:ctrlPr>
                                <a:rPr sz="2000" i="1">
                                  <a:solidFill>
                                    <a:srgbClr val="252529"/>
                                  </a:solidFill>
                                  <a:latin typeface="Cambria Math" panose="02040503050406030204" pitchFamily="18" charset="0"/>
                                </a:rPr>
                              </m:ctrlPr>
                            </m:mPr>
                            <m:mr>
                              <m:e>
                                <m:r>
                                  <a:rPr sz="2000">
                                    <a:solidFill>
                                      <a:srgbClr val="252529"/>
                                    </a:solidFill>
                                    <a:latin typeface="Cambria Math"/>
                                  </a:rPr>
                                  <m:t>𝑧</m:t>
                                </m:r>
                              </m:e>
                            </m:mr>
                            <m:mr>
                              <m:e>
                                <m:r>
                                  <a:rPr sz="2000">
                                    <a:solidFill>
                                      <a:srgbClr val="252529"/>
                                    </a:solidFill>
                                    <a:latin typeface="Cambria Math"/>
                                  </a:rPr>
                                  <m:t>𝑤</m:t>
                                </m:r>
                              </m:e>
                            </m:mr>
                          </m:m>
                        </m:e>
                      </m:d>
                    </m:oMath>
                  </m:oMathPara>
                </a14:m>
                <a:endParaRPr sz="2000"/>
              </a:p>
            </p:txBody>
          </p:sp>
        </mc:Choice>
        <mc:Fallback xmlns="">
          <p:sp>
            <p:nvSpPr>
              <p:cNvPr id="132" name="Gap filter"/>
              <p:cNvSpPr>
                <a:spLocks noRot="1" noChangeAspect="1" noMove="1" noResize="1" noEditPoints="1" noAdjustHandles="1" noChangeArrowheads="1" noChangeShapeType="1" noTextEdit="1"/>
              </p:cNvSpPr>
              <p:nvPr/>
            </p:nvSpPr>
            <p:spPr>
              <a:xfrm>
                <a:off x="444500" y="3695700"/>
                <a:ext cx="8255000" cy="711200"/>
              </a:xfrm>
              <a:prstGeom prst="rect">
                <a:avLst/>
              </a:prstGeom>
              <a:blipFill>
                <a:blip r:embed="rId12"/>
                <a:stretch>
                  <a:fillRect/>
                </a:stretch>
              </a:blipFill>
              <a:ln>
                <a:noFill/>
              </a:ln>
            </p:spPr>
            <p:txBody>
              <a:bodyPr/>
              <a:lstStyle/>
              <a:p>
                <a:r>
                  <a:rPr lang="en-NL">
                    <a:noFill/>
                  </a:rPr>
                  <a:t> </a:t>
                </a:r>
              </a:p>
            </p:txBody>
          </p:sp>
        </mc:Fallback>
      </mc:AlternateContent>
      <p:sp>
        <p:nvSpPr>
          <p:cNvPr id="133" name="Gap interpret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Inside the sector, the two gaps have the same sign.</a:t>
            </a:r>
            <a:endParaRPr sz="1500"/>
          </a:p>
        </p:txBody>
      </p:sp>
      <p:sp>
        <p:nvSpPr>
          <p:cNvPr id="13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3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a:t>
            </a:r>
            <a:endParaRPr sz="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Transform the gaps into input and output</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txBody>
          <a:bodyPr/>
          <a:lstStyle/>
          <a:p>
            <a:endParaRPr lang="en-NL"/>
          </a:p>
        </p:txBody>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txBody>
          <a:bodyPr/>
          <a:lstStyle/>
          <a:p>
            <a:endParaRPr lang="en-NL"/>
          </a:p>
        </p:txBody>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xmlns="">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xmlns="">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txBody>
          <a:bodyPr/>
          <a:lstStyle/>
          <a:p>
            <a:endParaRPr lang="en-NL"/>
          </a:p>
        </p:txBody>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txBody>
          <a:bodyPr/>
          <a:lstStyle/>
          <a:p>
            <a:endParaRPr lang="en-NL"/>
          </a:p>
        </p:txBody>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2" name="Sample point"/>
          <p:cNvSpPr/>
          <p:nvPr/>
        </p:nvSpPr>
        <p:spPr>
          <a:xfrm>
            <a:off x="2818765" y="2085168"/>
            <a:ext cx="63500" cy="63500"/>
          </a:xfrm>
          <a:prstGeom prst="ellipse">
            <a:avLst/>
          </a:prstGeom>
          <a:solidFill>
            <a:srgbClr val="D61016"/>
          </a:solidFill>
          <a:ln>
            <a:noFill/>
          </a:ln>
        </p:spPr>
        <p:txBody>
          <a:bodyPr/>
          <a:lstStyle/>
          <a:p>
            <a:endParaRPr lang="en-NL"/>
          </a:p>
        </p:txBody>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mc:AlternateContent xmlns:mc="http://schemas.openxmlformats.org/markup-compatibility/2006" xmlns:a14="http://schemas.microsoft.com/office/drawing/2010/main">
        <mc:Choice Requires="a14">
          <p:sp>
            <p:nvSpPr>
              <p:cNvPr id="124" name="Transformed input"/>
              <p:cNvSpPr/>
              <p:nvPr/>
            </p:nvSpPr>
            <p:spPr>
              <a:xfrm>
                <a:off x="4635500" y="1295400"/>
                <a:ext cx="4064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𝑧</m:t>
                          </m:r>
                        </m:e>
                      </m:acc>
                      <m:r>
                        <a:rPr sz="2000">
                          <a:solidFill>
                            <a:srgbClr val="252529"/>
                          </a:solidFill>
                          <a:latin typeface="Cambria Math"/>
                        </a:rPr>
                        <m:t>=</m:t>
                      </m:r>
                      <m:r>
                        <a:rPr sz="2000">
                          <a:solidFill>
                            <a:srgbClr val="252529"/>
                          </a:solidFill>
                          <a:latin typeface="Cambria Math"/>
                        </a:rPr>
                        <m:t>𝑎</m:t>
                      </m:r>
                      <m:r>
                        <a:rPr sz="2000">
                          <a:solidFill>
                            <a:srgbClr val="252529"/>
                          </a:solidFill>
                          <a:latin typeface="Cambria Math"/>
                        </a:rPr>
                        <m:t>+</m:t>
                      </m:r>
                      <m:r>
                        <a:rPr sz="2000">
                          <a:solidFill>
                            <a:srgbClr val="252529"/>
                          </a:solidFill>
                          <a:latin typeface="Cambria Math"/>
                        </a:rPr>
                        <m:t>𝑏</m:t>
                      </m:r>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𝑧</m:t>
                      </m:r>
                    </m:oMath>
                  </m:oMathPara>
                </a14:m>
                <a:endParaRPr sz="2000"/>
              </a:p>
            </p:txBody>
          </p:sp>
        </mc:Choice>
        <mc:Fallback xmlns="">
          <p:sp>
            <p:nvSpPr>
              <p:cNvPr id="124" name="Transformed input"/>
              <p:cNvSpPr>
                <a:spLocks noRot="1" noChangeAspect="1" noMove="1" noResize="1" noEditPoints="1" noAdjustHandles="1" noChangeArrowheads="1" noChangeShapeType="1" noTextEdit="1"/>
              </p:cNvSpPr>
              <p:nvPr/>
            </p:nvSpPr>
            <p:spPr>
              <a:xfrm>
                <a:off x="4635500" y="1295400"/>
                <a:ext cx="4064000" cy="7112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Transformed output"/>
              <p:cNvSpPr/>
              <p:nvPr/>
            </p:nvSpPr>
            <p:spPr>
              <a:xfrm>
                <a:off x="4603750" y="19431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𝑤</m:t>
                          </m:r>
                        </m:e>
                      </m:acc>
                      <m:r>
                        <a:rPr sz="2000">
                          <a:solidFill>
                            <a:srgbClr val="252529"/>
                          </a:solidFill>
                          <a:latin typeface="Cambria Math"/>
                        </a:rPr>
                        <m:t>=</m:t>
                      </m:r>
                      <m:r>
                        <a:rPr sz="2000">
                          <a:solidFill>
                            <a:srgbClr val="252529"/>
                          </a:solidFill>
                          <a:latin typeface="Cambria Math"/>
                        </a:rPr>
                        <m:t>𝑎</m:t>
                      </m:r>
                      <m:r>
                        <a:rPr sz="2000">
                          <a:solidFill>
                            <a:srgbClr val="252529"/>
                          </a:solidFill>
                          <a:latin typeface="Cambria Math"/>
                        </a:rPr>
                        <m:t>−</m:t>
                      </m:r>
                      <m:r>
                        <a:rPr sz="2000">
                          <a:solidFill>
                            <a:srgbClr val="252529"/>
                          </a:solidFill>
                          <a:latin typeface="Cambria Math"/>
                        </a:rPr>
                        <m:t>𝑏</m:t>
                      </m:r>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𝑧</m:t>
                      </m:r>
                      <m:r>
                        <a:rPr sz="2000">
                          <a:solidFill>
                            <a:srgbClr val="252529"/>
                          </a:solidFill>
                          <a:latin typeface="Cambria Math"/>
                        </a:rPr>
                        <m:t>−2</m:t>
                      </m:r>
                      <m:r>
                        <a:rPr sz="2000">
                          <a:solidFill>
                            <a:srgbClr val="252529"/>
                          </a:solidFill>
                          <a:latin typeface="Cambria Math"/>
                        </a:rPr>
                        <m:t>𝑤</m:t>
                      </m:r>
                    </m:oMath>
                  </m:oMathPara>
                </a14:m>
                <a:endParaRPr sz="2000"/>
              </a:p>
            </p:txBody>
          </p:sp>
        </mc:Choice>
        <mc:Fallback xmlns="">
          <p:sp>
            <p:nvSpPr>
              <p:cNvPr id="125" name="Transformed output"/>
              <p:cNvSpPr>
                <a:spLocks noRot="1" noChangeAspect="1" noMove="1" noResize="1" noEditPoints="1" noAdjustHandles="1" noChangeArrowheads="1" noChangeShapeType="1" noTextEdit="1"/>
              </p:cNvSpPr>
              <p:nvPr/>
            </p:nvSpPr>
            <p:spPr>
              <a:xfrm>
                <a:off x="4603750" y="1943100"/>
                <a:ext cx="4127500" cy="7112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Contraction"/>
              <p:cNvSpPr/>
              <p:nvPr/>
            </p:nvSpPr>
            <p:spPr>
              <a:xfrm>
                <a:off x="5080000" y="2562860"/>
                <a:ext cx="317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acc>
                            <m:accPr>
                              <m:chr m:val="̃"/>
                              <m:ctrlPr>
                                <a:rPr sz="2300">
                                  <a:solidFill>
                                    <a:srgbClr val="252529"/>
                                  </a:solidFill>
                                  <a:latin typeface="Cambria Math"/>
                                </a:rPr>
                              </m:ctrlPr>
                            </m:accPr>
                            <m:e>
                              <m:r>
                                <a:rPr sz="2300">
                                  <a:solidFill>
                                    <a:srgbClr val="252529"/>
                                  </a:solidFill>
                                  <a:latin typeface="Cambria Math"/>
                                </a:rPr>
                                <m:t>𝑤</m:t>
                              </m:r>
                            </m:e>
                          </m:acc>
                        </m:e>
                      </m:d>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acc>
                            <m:accPr>
                              <m:chr m:val="̃"/>
                              <m:ctrlPr>
                                <a:rPr sz="2300">
                                  <a:solidFill>
                                    <a:srgbClr val="252529"/>
                                  </a:solidFill>
                                  <a:latin typeface="Cambria Math"/>
                                </a:rPr>
                              </m:ctrlPr>
                            </m:accPr>
                            <m:e>
                              <m:r>
                                <a:rPr sz="2300">
                                  <a:solidFill>
                                    <a:srgbClr val="252529"/>
                                  </a:solidFill>
                                  <a:latin typeface="Cambria Math"/>
                                </a:rPr>
                                <m:t>𝑧</m:t>
                              </m:r>
                            </m:e>
                          </m:acc>
                        </m:e>
                      </m:d>
                    </m:oMath>
                  </m:oMathPara>
                </a14:m>
                <a:endParaRPr sz="2300"/>
              </a:p>
            </p:txBody>
          </p:sp>
        </mc:Choice>
        <mc:Fallback xmlns="">
          <p:sp>
            <p:nvSpPr>
              <p:cNvPr id="126" name="Contraction"/>
              <p:cNvSpPr>
                <a:spLocks noRot="1" noChangeAspect="1" noMove="1" noResize="1" noEditPoints="1" noAdjustHandles="1" noChangeArrowheads="1" noChangeShapeType="1" noTextEdit="1"/>
              </p:cNvSpPr>
              <p:nvPr/>
            </p:nvSpPr>
            <p:spPr>
              <a:xfrm>
                <a:off x="5080000" y="2562860"/>
                <a:ext cx="3175000" cy="8178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7" name="Complete filter"/>
              <p:cNvSpPr/>
              <p:nvPr/>
            </p:nvSpPr>
            <p:spPr>
              <a:xfrm>
                <a:off x="381000" y="37769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d>
                        <m:dPr>
                          <m:begChr m:val="["/>
                          <m:endChr m:val="]"/>
                          <m:ctrlPr>
                            <a:rPr sz="1900" i="1">
                              <a:solidFill>
                                <a:srgbClr val="252529"/>
                              </a:solidFill>
                              <a:latin typeface="Cambria Math" panose="02040503050406030204" pitchFamily="18" charset="0"/>
                            </a:rPr>
                          </m:ctrlPr>
                        </m:dPr>
                        <m:e>
                          <m:m>
                            <m:mPr>
                              <m:mcs>
                                <m:mc>
                                  <m:mcPr>
                                    <m:count m:val="2"/>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1</m:t>
                                </m:r>
                              </m:e>
                              <m:e>
                                <m:r>
                                  <a:rPr sz="1900">
                                    <a:solidFill>
                                      <a:srgbClr val="252529"/>
                                    </a:solidFill>
                                    <a:latin typeface="Cambria Math"/>
                                  </a:rPr>
                                  <m:t>1</m:t>
                                </m:r>
                              </m:e>
                            </m:mr>
                            <m:mr>
                              <m:e>
                                <m:r>
                                  <a:rPr sz="1900">
                                    <a:solidFill>
                                      <a:srgbClr val="252529"/>
                                    </a:solidFill>
                                    <a:latin typeface="Cambria Math"/>
                                  </a:rPr>
                                  <m:t>1</m:t>
                                </m:r>
                              </m:e>
                              <m:e>
                                <m:r>
                                  <a:rPr sz="1900">
                                    <a:solidFill>
                                      <a:srgbClr val="252529"/>
                                    </a:solidFill>
                                    <a:latin typeface="Cambria Math"/>
                                  </a:rPr>
                                  <m:t>−1</m:t>
                                </m:r>
                              </m:e>
                            </m:mr>
                          </m:m>
                        </m:e>
                      </m:d>
                      <m:d>
                        <m:dPr>
                          <m:begChr m:val="["/>
                          <m:endChr m:val="]"/>
                          <m:ctrlPr>
                            <a:rPr sz="1900" i="1">
                              <a:solidFill>
                                <a:srgbClr val="252529"/>
                              </a:solidFill>
                              <a:latin typeface="Cambria Math" panose="02040503050406030204" pitchFamily="18" charset="0"/>
                            </a:rPr>
                          </m:ctrlPr>
                        </m:dPr>
                        <m:e>
                          <m:m>
                            <m:mPr>
                              <m:mcs>
                                <m:mc>
                                  <m:mcPr>
                                    <m:count m:val="2"/>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𝛽</m:t>
                                </m:r>
                              </m:e>
                              <m:e>
                                <m:r>
                                  <a:rPr sz="1900">
                                    <a:solidFill>
                                      <a:srgbClr val="252529"/>
                                    </a:solidFill>
                                    <a:latin typeface="Cambria Math"/>
                                  </a:rPr>
                                  <m:t>−1</m:t>
                                </m:r>
                              </m:e>
                            </m:mr>
                            <m:mr>
                              <m:e>
                                <m:r>
                                  <a:rPr sz="1900">
                                    <a:solidFill>
                                      <a:srgbClr val="252529"/>
                                    </a:solidFill>
                                    <a:latin typeface="Cambria Math"/>
                                  </a:rPr>
                                  <m:t>0</m:t>
                                </m:r>
                              </m:e>
                              <m:e>
                                <m:r>
                                  <a:rPr sz="1900">
                                    <a:solidFill>
                                      <a:srgbClr val="252529"/>
                                    </a:solidFill>
                                    <a:latin typeface="Cambria Math"/>
                                  </a:rPr>
                                  <m:t>1</m:t>
                                </m:r>
                              </m:e>
                            </m:mr>
                          </m:m>
                        </m:e>
                      </m:d>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xmlns="">
          <p:sp>
            <p:nvSpPr>
              <p:cNvPr id="127" name="Complete filter"/>
              <p:cNvSpPr>
                <a:spLocks noRot="1" noChangeAspect="1" noMove="1" noResize="1" noEditPoints="1" noAdjustHandles="1" noChangeArrowheads="1" noChangeShapeType="1" noTextEdit="1"/>
              </p:cNvSpPr>
              <p:nvPr/>
            </p:nvSpPr>
            <p:spPr>
              <a:xfrm>
                <a:off x="381000" y="3776980"/>
                <a:ext cx="8382000" cy="675640"/>
              </a:xfrm>
              <a:prstGeom prst="rect">
                <a:avLst/>
              </a:prstGeom>
              <a:blipFill>
                <a:blip r:embed="rId10"/>
                <a:stretch>
                  <a:fillRect/>
                </a:stretch>
              </a:blipFill>
              <a:ln>
                <a:noFill/>
              </a:ln>
            </p:spPr>
            <p:txBody>
              <a:bodyPr/>
              <a:lstStyle/>
              <a:p>
                <a:r>
                  <a:rPr lang="en-NL">
                    <a:noFill/>
                  </a:rPr>
                  <a:t> </a:t>
                </a:r>
              </a:p>
            </p:txBody>
          </p:sp>
        </mc:Fallback>
      </mc:AlternateContent>
      <p:sp>
        <p:nvSpPr>
          <p:cNvPr id="128" name="Scaling choice"/>
          <p:cNvSpPr/>
          <p:nvPr/>
        </p:nvSpPr>
        <p:spPr>
          <a:xfrm>
            <a:off x="444500" y="4511675"/>
            <a:ext cx="8255000" cy="247650"/>
          </a:xfrm>
          <a:prstGeom prst="rect">
            <a:avLst/>
          </a:prstGeom>
          <a:noFill/>
          <a:ln>
            <a:noFill/>
          </a:ln>
        </p:spPr>
        <p:txBody>
          <a:bodyPr wrap="none" lIns="0" tIns="0" rIns="0" bIns="0" anchor="ctr">
            <a:noAutofit/>
          </a:bodyPr>
          <a:lstStyle/>
          <a:p>
            <a:pPr algn="ctr">
              <a:buNone/>
            </a:pPr>
            <a:r>
              <a:rPr lang="en-GB" sz="1300" b="0" i="0" u="none" baseline="0">
                <a:solidFill>
                  <a:srgbClr val="747B82"/>
                </a:solidFill>
                <a:latin typeface="Aptos"/>
                <a:ea typeface="Aptos"/>
                <a:cs typeface="Aptos"/>
              </a:rPr>
              <a:t>Choose unit scaling: the transformed input depends only on z.</a:t>
            </a:r>
            <a:endParaRPr sz="1300"/>
          </a:p>
        </p:txBody>
      </p:sp>
      <p:sp>
        <p:nvSpPr>
          <p:cNvPr id="12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3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The transformed nonlinearity is dissipative</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txBody>
          <a:bodyPr/>
          <a:lstStyle/>
          <a:p>
            <a:endParaRPr lang="en-NL"/>
          </a:p>
        </p:txBody>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txBody>
          <a:bodyPr/>
          <a:lstStyle/>
          <a:p>
            <a:endParaRPr lang="en-NL"/>
          </a:p>
        </p:txBody>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xmlns="">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txBody>
          <a:bodyPr/>
          <a:lstStyle/>
          <a:p>
            <a:endParaRPr lang="en-NL"/>
          </a:p>
        </p:txBody>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txBody>
          <a:bodyPr/>
          <a:lstStyle/>
          <a:p>
            <a:endParaRPr lang="en-NL"/>
          </a:p>
        </p:txBody>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txBody>
          <a:bodyPr/>
          <a:lstStyle/>
          <a:p>
            <a:endParaRPr lang="en-NL"/>
          </a:p>
        </p:txBody>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txBody>
          <a:bodyPr/>
          <a:lstStyle/>
          <a:p>
            <a:endParaRPr lang="en-NL"/>
          </a:p>
        </p:txBody>
      </p:sp>
      <p:sp>
        <p:nvSpPr>
          <p:cNvPr id="122" name="Sample point"/>
          <p:cNvSpPr/>
          <p:nvPr/>
        </p:nvSpPr>
        <p:spPr>
          <a:xfrm>
            <a:off x="2818765" y="2085168"/>
            <a:ext cx="63500" cy="63500"/>
          </a:xfrm>
          <a:prstGeom prst="ellipse">
            <a:avLst/>
          </a:prstGeom>
          <a:solidFill>
            <a:srgbClr val="D61016"/>
          </a:solidFill>
          <a:ln>
            <a:noFill/>
          </a:ln>
        </p:spPr>
        <p:txBody>
          <a:bodyPr/>
          <a:lstStyle/>
          <a:p>
            <a:endParaRPr lang="en-NL"/>
          </a:p>
        </p:txBody>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p:sp>
        <p:nvSpPr>
          <p:cNvPr id="124" name="Transformed input"/>
          <p:cNvSpPr/>
          <p:nvPr/>
        </p:nvSpPr>
        <p:spPr>
          <a:xfrm>
            <a:off x="5232400" y="1676400"/>
            <a:ext cx="1028700" cy="25400"/>
          </a:xfrm>
          <a:custGeom>
            <a:avLst/>
            <a:gdLst/>
            <a:ahLst/>
            <a:cxnLst/>
            <a:rect l="0" t="0" r="r" b="b"/>
            <a:pathLst>
              <a:path w="1028700" h="25400" fill="none">
                <a:moveTo>
                  <a:pt x="12700" y="12700"/>
                </a:moveTo>
                <a:lnTo>
                  <a:pt x="1016000" y="12700"/>
                </a:lnTo>
              </a:path>
            </a:pathLst>
          </a:custGeom>
          <a:noFill/>
          <a:ln w="12700">
            <a:solidFill>
              <a:srgbClr val="252529"/>
            </a:solidFill>
            <a:round/>
            <a:tailEnd type="triangle" w="sm" len="sm"/>
          </a:ln>
        </p:spPr>
        <p:txBody>
          <a:bodyPr/>
          <a:lstStyle/>
          <a:p>
            <a:endParaRPr lang="en-NL"/>
          </a:p>
        </p:txBody>
      </p:sp>
      <p:sp>
        <p:nvSpPr>
          <p:cNvPr id="125" name="Transformed output"/>
          <p:cNvSpPr/>
          <p:nvPr/>
        </p:nvSpPr>
        <p:spPr>
          <a:xfrm>
            <a:off x="6997700" y="1676400"/>
            <a:ext cx="1270000" cy="25400"/>
          </a:xfrm>
          <a:custGeom>
            <a:avLst/>
            <a:gdLst/>
            <a:ahLst/>
            <a:cxnLst/>
            <a:rect l="0" t="0" r="r" b="b"/>
            <a:pathLst>
              <a:path w="1270000" h="25400" fill="none">
                <a:moveTo>
                  <a:pt x="12700" y="12700"/>
                </a:moveTo>
                <a:lnTo>
                  <a:pt x="1257300" y="12700"/>
                </a:lnTo>
              </a:path>
            </a:pathLst>
          </a:custGeom>
          <a:noFill/>
          <a:ln w="12700">
            <a:solidFill>
              <a:srgbClr val="252529"/>
            </a:solidFill>
            <a:round/>
            <a:tailEnd type="triangle" w="sm" len="sm"/>
          </a:ln>
        </p:spPr>
        <p:txBody>
          <a:bodyPr/>
          <a:lstStyle/>
          <a:p>
            <a:endParaRPr lang="en-NL"/>
          </a:p>
        </p:txBody>
      </p:sp>
      <p:sp>
        <p:nvSpPr>
          <p:cNvPr id="126" name="Transformed activation"/>
          <p:cNvSpPr/>
          <p:nvPr/>
        </p:nvSpPr>
        <p:spPr>
          <a:xfrm>
            <a:off x="6248400" y="1384300"/>
            <a:ext cx="762000" cy="609600"/>
          </a:xfrm>
          <a:prstGeom prst="rect">
            <a:avLst/>
          </a:prstGeom>
          <a:noFill/>
          <a:ln w="1270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27" name="Transformed activation label"/>
              <p:cNvSpPr/>
              <p:nvPr/>
            </p:nvSpPr>
            <p:spPr>
              <a:xfrm>
                <a:off x="6311900" y="1262380"/>
                <a:ext cx="63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𝜑</m:t>
                          </m:r>
                        </m:e>
                      </m:acc>
                    </m:oMath>
                  </m:oMathPara>
                </a14:m>
                <a:endParaRPr sz="2400"/>
              </a:p>
            </p:txBody>
          </p:sp>
        </mc:Choice>
        <mc:Fallback xmlns="">
          <p:sp>
            <p:nvSpPr>
              <p:cNvPr id="127" name="Transformed activation label"/>
              <p:cNvSpPr>
                <a:spLocks noRot="1" noChangeAspect="1" noMove="1" noResize="1" noEditPoints="1" noAdjustHandles="1" noChangeArrowheads="1" noChangeShapeType="1" noTextEdit="1"/>
              </p:cNvSpPr>
              <p:nvPr/>
            </p:nvSpPr>
            <p:spPr>
              <a:xfrm>
                <a:off x="6311900" y="1262380"/>
                <a:ext cx="635000" cy="853440"/>
              </a:xfrm>
              <a:prstGeom prst="rect">
                <a:avLst/>
              </a:prstGeom>
              <a:blipFill>
                <a:blip r:embed="rId7"/>
                <a:stretch>
                  <a:fillRect r="-2761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8" name="Transformed input label"/>
              <p:cNvSpPr/>
              <p:nvPr/>
            </p:nvSpPr>
            <p:spPr>
              <a:xfrm>
                <a:off x="5353050" y="1137920"/>
                <a:ext cx="5715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600">
                              <a:solidFill>
                                <a:srgbClr val="252529"/>
                              </a:solidFill>
                              <a:latin typeface="Cambria Math"/>
                            </a:rPr>
                          </m:ctrlPr>
                        </m:accPr>
                        <m:e>
                          <m:r>
                            <a:rPr sz="1600">
                              <a:solidFill>
                                <a:srgbClr val="252529"/>
                              </a:solidFill>
                              <a:latin typeface="Cambria Math"/>
                            </a:rPr>
                            <m:t>𝑧</m:t>
                          </m:r>
                        </m:e>
                      </m:acc>
                    </m:oMath>
                  </m:oMathPara>
                </a14:m>
                <a:endParaRPr sz="1600"/>
              </a:p>
            </p:txBody>
          </p:sp>
        </mc:Choice>
        <mc:Fallback xmlns="">
          <p:sp>
            <p:nvSpPr>
              <p:cNvPr id="128" name="Transformed input label"/>
              <p:cNvSpPr>
                <a:spLocks noRot="1" noChangeAspect="1" noMove="1" noResize="1" noEditPoints="1" noAdjustHandles="1" noChangeArrowheads="1" noChangeShapeType="1" noTextEdit="1"/>
              </p:cNvSpPr>
              <p:nvPr/>
            </p:nvSpPr>
            <p:spPr>
              <a:xfrm>
                <a:off x="5353050" y="1137920"/>
                <a:ext cx="571500" cy="568960"/>
              </a:xfrm>
              <a:prstGeom prst="rect">
                <a:avLst/>
              </a:prstGeom>
              <a:blipFill>
                <a:blip r:embed="rId8"/>
                <a:stretch>
                  <a:fillRect r="-63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9" name="Transformed output label"/>
              <p:cNvSpPr/>
              <p:nvPr/>
            </p:nvSpPr>
            <p:spPr>
              <a:xfrm>
                <a:off x="7385050" y="1137920"/>
                <a:ext cx="5715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600">
                              <a:solidFill>
                                <a:srgbClr val="252529"/>
                              </a:solidFill>
                              <a:latin typeface="Cambria Math"/>
                            </a:rPr>
                          </m:ctrlPr>
                        </m:accPr>
                        <m:e>
                          <m:r>
                            <a:rPr sz="1600">
                              <a:solidFill>
                                <a:srgbClr val="252529"/>
                              </a:solidFill>
                              <a:latin typeface="Cambria Math"/>
                            </a:rPr>
                            <m:t>𝑤</m:t>
                          </m:r>
                        </m:e>
                      </m:acc>
                    </m:oMath>
                  </m:oMathPara>
                </a14:m>
                <a:endParaRPr sz="1600"/>
              </a:p>
            </p:txBody>
          </p:sp>
        </mc:Choice>
        <mc:Fallback xmlns="">
          <p:sp>
            <p:nvSpPr>
              <p:cNvPr id="129" name="Transformed output label"/>
              <p:cNvSpPr>
                <a:spLocks noRot="1" noChangeAspect="1" noMove="1" noResize="1" noEditPoints="1" noAdjustHandles="1" noChangeArrowheads="1" noChangeShapeType="1" noTextEdit="1"/>
              </p:cNvSpPr>
              <p:nvPr/>
            </p:nvSpPr>
            <p:spPr>
              <a:xfrm>
                <a:off x="7385050" y="1137920"/>
                <a:ext cx="571500" cy="568960"/>
              </a:xfrm>
              <a:prstGeom prst="rect">
                <a:avLst/>
              </a:prstGeom>
              <a:blipFill>
                <a:blip r:embed="rId9"/>
                <a:stretch>
                  <a:fillRect r="-29787"/>
                </a:stretch>
              </a:blipFill>
              <a:ln>
                <a:noFill/>
              </a:ln>
            </p:spPr>
            <p:txBody>
              <a:bodyPr/>
              <a:lstStyle/>
              <a:p>
                <a:r>
                  <a:rPr lang="en-NL">
                    <a:noFill/>
                  </a:rPr>
                  <a:t> </a:t>
                </a:r>
              </a:p>
            </p:txBody>
          </p:sp>
        </mc:Fallback>
      </mc:AlternateContent>
      <p:sp>
        <p:nvSpPr>
          <p:cNvPr id="130" name="Energy interpretation"/>
          <p:cNvSpPr/>
          <p:nvPr/>
        </p:nvSpPr>
        <p:spPr>
          <a:xfrm>
            <a:off x="4591050" y="2441575"/>
            <a:ext cx="41275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Output energy cannot exceed input energy.</a:t>
            </a:r>
            <a:endParaRPr sz="1300"/>
          </a:p>
        </p:txBody>
      </p:sp>
      <mc:AlternateContent xmlns:mc="http://schemas.openxmlformats.org/markup-compatibility/2006" xmlns:a14="http://schemas.microsoft.com/office/drawing/2010/main">
        <mc:Choice Requires="a14">
          <p:sp>
            <p:nvSpPr>
              <p:cNvPr id="131" name="Zero storage"/>
              <p:cNvSpPr/>
              <p:nvPr/>
            </p:nvSpPr>
            <p:spPr>
              <a:xfrm>
                <a:off x="4876800" y="2712720"/>
                <a:ext cx="355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𝑉</m:t>
                      </m:r>
                      <m:r>
                        <a:rPr sz="2100">
                          <a:solidFill>
                            <a:srgbClr val="252529"/>
                          </a:solidFill>
                          <a:latin typeface="Cambria Math"/>
                        </a:rPr>
                        <m:t>≡0</m:t>
                      </m:r>
                    </m:oMath>
                  </m:oMathPara>
                </a14:m>
                <a:endParaRPr sz="2100"/>
              </a:p>
            </p:txBody>
          </p:sp>
        </mc:Choice>
        <mc:Fallback xmlns="">
          <p:sp>
            <p:nvSpPr>
              <p:cNvPr id="131" name="Zero storage"/>
              <p:cNvSpPr>
                <a:spLocks noRot="1" noChangeAspect="1" noMove="1" noResize="1" noEditPoints="1" noAdjustHandles="1" noChangeArrowheads="1" noChangeShapeType="1" noTextEdit="1"/>
              </p:cNvSpPr>
              <p:nvPr/>
            </p:nvSpPr>
            <p:spPr>
              <a:xfrm>
                <a:off x="4876800" y="2712720"/>
                <a:ext cx="3556000" cy="7467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2" name="Supply rate"/>
              <p:cNvSpPr/>
              <p:nvPr/>
            </p:nvSpPr>
            <p:spPr>
              <a:xfrm>
                <a:off x="444500" y="36398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nl-NL" sz="2100" i="1" smtClean="0">
                          <a:solidFill>
                            <a:srgbClr val="252529"/>
                          </a:solidFill>
                          <a:latin typeface="Cambria Math" panose="02040503050406030204" pitchFamily="18" charset="0"/>
                        </a:rPr>
                        <m:t>𝜎</m:t>
                      </m:r>
                      <m:r>
                        <a:rPr lang="nl-NL" sz="2100" i="1" smtClean="0">
                          <a:solidFill>
                            <a:srgbClr val="252529"/>
                          </a:solidFill>
                          <a:latin typeface="Cambria Math" panose="02040503050406030204" pitchFamily="18" charset="0"/>
                        </a:rPr>
                        <m:t>=</m:t>
                      </m:r>
                      <m:sSup>
                        <m:sSupPr>
                          <m:ctrlPr>
                            <a:rPr lang="nl-NL" sz="2100" i="1" smtClean="0">
                              <a:solidFill>
                                <a:srgbClr val="252529"/>
                              </a:solidFill>
                              <a:latin typeface="Cambria Math" panose="02040503050406030204" pitchFamily="18" charset="0"/>
                            </a:rPr>
                          </m:ctrlPr>
                        </m:sSupPr>
                        <m:e>
                          <m:d>
                            <m:dPr>
                              <m:begChr m:val="‖"/>
                              <m:endChr m:val="‖"/>
                              <m:ctrlPr>
                                <a:rPr lang="nl-NL" sz="2100" i="1" smtClean="0">
                                  <a:solidFill>
                                    <a:srgbClr val="252529"/>
                                  </a:solidFill>
                                  <a:latin typeface="Cambria Math" panose="02040503050406030204" pitchFamily="18" charset="0"/>
                                </a:rPr>
                              </m:ctrlPr>
                            </m:dPr>
                            <m:e>
                              <m:acc>
                                <m:accPr>
                                  <m:chr m:val="̃"/>
                                  <m:ctrlPr>
                                    <a:rPr lang="nl-NL" sz="2100" i="1" smtClean="0">
                                      <a:solidFill>
                                        <a:srgbClr val="252529"/>
                                      </a:solidFill>
                                      <a:latin typeface="Cambria Math" panose="02040503050406030204" pitchFamily="18" charset="0"/>
                                    </a:rPr>
                                  </m:ctrlPr>
                                </m:accPr>
                                <m:e>
                                  <m:r>
                                    <a:rPr lang="nl-NL" sz="2100" i="1" smtClean="0">
                                      <a:solidFill>
                                        <a:srgbClr val="252529"/>
                                      </a:solidFill>
                                      <a:latin typeface="Cambria Math" panose="02040503050406030204" pitchFamily="18" charset="0"/>
                                    </a:rPr>
                                    <m:t>𝑧</m:t>
                                  </m:r>
                                </m:e>
                              </m:acc>
                            </m:e>
                          </m:d>
                        </m:e>
                        <m:sup>
                          <m:r>
                            <a:rPr lang="nl-NL" sz="2100" i="1" smtClean="0">
                              <a:solidFill>
                                <a:srgbClr val="252529"/>
                              </a:solidFill>
                              <a:latin typeface="Cambria Math" panose="02040503050406030204" pitchFamily="18" charset="0"/>
                            </a:rPr>
                            <m:t>2</m:t>
                          </m:r>
                        </m:sup>
                      </m:sSup>
                      <m:r>
                        <a:rPr lang="nl-NL" sz="2100" i="1" smtClean="0">
                          <a:solidFill>
                            <a:srgbClr val="252529"/>
                          </a:solidFill>
                          <a:latin typeface="Cambria Math" panose="02040503050406030204" pitchFamily="18" charset="0"/>
                        </a:rPr>
                        <m:t>−</m:t>
                      </m:r>
                      <m:sSup>
                        <m:sSupPr>
                          <m:ctrlPr>
                            <a:rPr lang="nl-NL" sz="2100" i="1" smtClean="0">
                              <a:solidFill>
                                <a:srgbClr val="252529"/>
                              </a:solidFill>
                              <a:latin typeface="Cambria Math" panose="02040503050406030204" pitchFamily="18" charset="0"/>
                            </a:rPr>
                          </m:ctrlPr>
                        </m:sSupPr>
                        <m:e>
                          <m:d>
                            <m:dPr>
                              <m:begChr m:val="‖"/>
                              <m:endChr m:val="‖"/>
                              <m:ctrlPr>
                                <a:rPr lang="nl-NL" sz="2100" i="1" smtClean="0">
                                  <a:solidFill>
                                    <a:srgbClr val="252529"/>
                                  </a:solidFill>
                                  <a:latin typeface="Cambria Math" panose="02040503050406030204" pitchFamily="18" charset="0"/>
                                </a:rPr>
                              </m:ctrlPr>
                            </m:dPr>
                            <m:e>
                              <m:acc>
                                <m:accPr>
                                  <m:chr m:val="̃"/>
                                  <m:ctrlPr>
                                    <a:rPr lang="nl-NL" sz="2100" i="1" smtClean="0">
                                      <a:solidFill>
                                        <a:srgbClr val="252529"/>
                                      </a:solidFill>
                                      <a:latin typeface="Cambria Math" panose="02040503050406030204" pitchFamily="18" charset="0"/>
                                    </a:rPr>
                                  </m:ctrlPr>
                                </m:accPr>
                                <m:e>
                                  <m:r>
                                    <a:rPr lang="nl-NL" sz="2100" i="1" smtClean="0">
                                      <a:solidFill>
                                        <a:srgbClr val="252529"/>
                                      </a:solidFill>
                                      <a:latin typeface="Cambria Math" panose="02040503050406030204" pitchFamily="18" charset="0"/>
                                    </a:rPr>
                                    <m:t>𝑤</m:t>
                                  </m:r>
                                </m:e>
                              </m:acc>
                            </m:e>
                          </m:d>
                        </m:e>
                        <m:sup>
                          <m:r>
                            <a:rPr lang="nl-NL" sz="2100" i="1" smtClean="0">
                              <a:solidFill>
                                <a:srgbClr val="252529"/>
                              </a:solidFill>
                              <a:latin typeface="Cambria Math" panose="02040503050406030204" pitchFamily="18" charset="0"/>
                            </a:rPr>
                            <m:t>2</m:t>
                          </m:r>
                        </m:sup>
                      </m:sSup>
                      <m:r>
                        <a:rPr lang="nl-NL" sz="2100" i="1" smtClean="0">
                          <a:solidFill>
                            <a:srgbClr val="252529"/>
                          </a:solidFill>
                          <a:latin typeface="Cambria Math" panose="02040503050406030204" pitchFamily="18" charset="0"/>
                        </a:rPr>
                        <m:t>=4</m:t>
                      </m:r>
                      <m:r>
                        <a:rPr lang="nl-NL" sz="2100" i="1" smtClean="0">
                          <a:solidFill>
                            <a:srgbClr val="252529"/>
                          </a:solidFill>
                          <a:latin typeface="Cambria Math" panose="02040503050406030204" pitchFamily="18" charset="0"/>
                        </a:rPr>
                        <m:t>𝑎𝑏</m:t>
                      </m:r>
                      <m:r>
                        <a:rPr lang="nl-NL" sz="2100" i="1" smtClean="0">
                          <a:solidFill>
                            <a:srgbClr val="252529"/>
                          </a:solidFill>
                          <a:latin typeface="Cambria Math" panose="02040503050406030204" pitchFamily="18" charset="0"/>
                        </a:rPr>
                        <m:t>≥0</m:t>
                      </m:r>
                    </m:oMath>
                  </m:oMathPara>
                </a14:m>
                <a:endParaRPr sz="2100" dirty="0"/>
              </a:p>
            </p:txBody>
          </p:sp>
        </mc:Choice>
        <mc:Fallback xmlns="">
          <p:sp>
            <p:nvSpPr>
              <p:cNvPr id="132" name="Supply rate"/>
              <p:cNvSpPr>
                <a:spLocks noRot="1" noChangeAspect="1" noMove="1" noResize="1" noEditPoints="1" noAdjustHandles="1" noChangeArrowheads="1" noChangeShapeType="1" noTextEdit="1"/>
              </p:cNvSpPr>
              <p:nvPr/>
            </p:nvSpPr>
            <p:spPr>
              <a:xfrm>
                <a:off x="444500" y="3639820"/>
                <a:ext cx="8255000" cy="74676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3" name="Dissipativity inequality"/>
              <p:cNvSpPr/>
              <p:nvPr/>
            </p:nvSpPr>
            <p:spPr>
              <a:xfrm>
                <a:off x="444500" y="4213860"/>
                <a:ext cx="825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𝑉</m:t>
                      </m:r>
                      <m:d>
                        <m:dPr>
                          <m:ctrlPr>
                            <a:rPr sz="1800">
                              <a:solidFill>
                                <a:srgbClr val="252529"/>
                              </a:solidFill>
                              <a:latin typeface="Cambria Math"/>
                            </a:rPr>
                          </m:ctrlPr>
                        </m:dPr>
                        <m:e>
                          <m:r>
                            <a:rPr sz="1800">
                              <a:solidFill>
                                <a:srgbClr val="252529"/>
                              </a:solidFill>
                              <a:latin typeface="Cambria Math"/>
                            </a:rPr>
                            <m:t>𝑇</m:t>
                          </m:r>
                        </m:e>
                      </m:d>
                      <m:r>
                        <a:rPr sz="1800">
                          <a:solidFill>
                            <a:srgbClr val="252529"/>
                          </a:solidFill>
                          <a:latin typeface="Cambria Math"/>
                        </a:rPr>
                        <m:t>−</m:t>
                      </m:r>
                      <m:r>
                        <a:rPr sz="1800">
                          <a:solidFill>
                            <a:srgbClr val="252529"/>
                          </a:solidFill>
                          <a:latin typeface="Cambria Math"/>
                        </a:rPr>
                        <m:t>𝑉</m:t>
                      </m:r>
                      <m:d>
                        <m:dPr>
                          <m:ctrlPr>
                            <a:rPr sz="1800">
                              <a:solidFill>
                                <a:srgbClr val="252529"/>
                              </a:solidFill>
                              <a:latin typeface="Cambria Math"/>
                            </a:rPr>
                          </m:ctrlPr>
                        </m:dPr>
                        <m:e>
                          <m:r>
                            <a:rPr sz="1800">
                              <a:solidFill>
                                <a:srgbClr val="252529"/>
                              </a:solidFill>
                              <a:latin typeface="Cambria Math"/>
                            </a:rPr>
                            <m:t>0</m:t>
                          </m:r>
                        </m:e>
                      </m:d>
                      <m:r>
                        <a:rPr sz="1800">
                          <a:solidFill>
                            <a:srgbClr val="252529"/>
                          </a:solidFill>
                          <a:latin typeface="Cambria Math"/>
                        </a:rPr>
                        <m:t>=0≤</m:t>
                      </m:r>
                      <m:nary>
                        <m:naryPr>
                          <m:limLoc m:val="subSup"/>
                          <m:ctrlPr>
                            <a:rPr sz="1800">
                              <a:solidFill>
                                <a:srgbClr val="252529"/>
                              </a:solidFill>
                              <a:latin typeface="Cambria Math"/>
                            </a:rPr>
                          </m:ctrlPr>
                        </m:naryPr>
                        <m:sub>
                          <m:r>
                            <a:rPr sz="1800">
                              <a:solidFill>
                                <a:srgbClr val="252529"/>
                              </a:solidFill>
                              <a:latin typeface="Cambria Math"/>
                            </a:rPr>
                            <m:t>0</m:t>
                          </m:r>
                        </m:sub>
                        <m:sup>
                          <m:r>
                            <a:rPr sz="1800">
                              <a:solidFill>
                                <a:srgbClr val="252529"/>
                              </a:solidFill>
                              <a:latin typeface="Cambria Math"/>
                            </a:rPr>
                            <m:t>𝑇</m:t>
                          </m:r>
                        </m:sup>
                        <m:e>
                          <m:r>
                            <a:rPr sz="1800">
                              <a:solidFill>
                                <a:srgbClr val="252529"/>
                              </a:solidFill>
                              <a:latin typeface="Cambria Math"/>
                            </a:rPr>
                            <m:t>𝜎</m:t>
                          </m:r>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 </m:t>
                          </m:r>
                          <m:r>
                            <a:rPr sz="1800">
                              <a:solidFill>
                                <a:srgbClr val="252529"/>
                              </a:solidFill>
                              <a:latin typeface="Cambria Math"/>
                            </a:rPr>
                            <m:t>𝑑𝑡</m:t>
                          </m:r>
                        </m:e>
                      </m:nary>
                      <m:r>
                        <a:rPr sz="1800">
                          <a:solidFill>
                            <a:srgbClr val="252529"/>
                          </a:solidFill>
                          <a:latin typeface="Cambria Math"/>
                        </a:rPr>
                        <m:t>   ∀</m:t>
                      </m:r>
                      <m:r>
                        <a:rPr sz="1800">
                          <a:solidFill>
                            <a:srgbClr val="252529"/>
                          </a:solidFill>
                          <a:latin typeface="Cambria Math"/>
                        </a:rPr>
                        <m:t>𝑇</m:t>
                      </m:r>
                      <m:r>
                        <a:rPr sz="1800">
                          <a:solidFill>
                            <a:srgbClr val="252529"/>
                          </a:solidFill>
                          <a:latin typeface="Cambria Math"/>
                        </a:rPr>
                        <m:t>≥0</m:t>
                      </m:r>
                    </m:oMath>
                  </m:oMathPara>
                </a14:m>
                <a:endParaRPr sz="1800"/>
              </a:p>
            </p:txBody>
          </p:sp>
        </mc:Choice>
        <mc:Fallback xmlns="">
          <p:sp>
            <p:nvSpPr>
              <p:cNvPr id="133" name="Dissipativity inequality"/>
              <p:cNvSpPr>
                <a:spLocks noRot="1" noChangeAspect="1" noMove="1" noResize="1" noEditPoints="1" noAdjustHandles="1" noChangeArrowheads="1" noChangeShapeType="1" noTextEdit="1"/>
              </p:cNvSpPr>
              <p:nvPr/>
            </p:nvSpPr>
            <p:spPr>
              <a:xfrm>
                <a:off x="444500" y="4213860"/>
                <a:ext cx="8255000" cy="640080"/>
              </a:xfrm>
              <a:prstGeom prst="rect">
                <a:avLst/>
              </a:prstGeom>
              <a:blipFill>
                <a:blip r:embed="rId12"/>
                <a:stretch>
                  <a:fillRect/>
                </a:stretch>
              </a:blipFill>
              <a:ln>
                <a:noFill/>
              </a:ln>
            </p:spPr>
            <p:txBody>
              <a:bodyPr/>
              <a:lstStyle/>
              <a:p>
                <a:r>
                  <a:rPr lang="en-NL">
                    <a:noFill/>
                  </a:rPr>
                  <a:t> </a:t>
                </a:r>
              </a:p>
            </p:txBody>
          </p:sp>
        </mc:Fallback>
      </mc:AlternateContent>
      <p:sp>
        <p:nvSpPr>
          <p:cNvPr id="13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3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a:t>
            </a:r>
            <a:endParaRPr sz="800"/>
          </a:p>
        </p:txBody>
      </p:sp>
      <p:grpSp>
        <p:nvGrpSpPr>
          <p:cNvPr id="2" name="Editable paper diagram">
            <a:extLst>
              <a:ext uri="{FF2B5EF4-FFF2-40B4-BE49-F238E27FC236}">
                <a16:creationId xmlns:a16="http://schemas.microsoft.com/office/drawing/2014/main" id="{CED5CE51-B07D-5170-3334-5FF768871855}"/>
              </a:ext>
            </a:extLst>
          </p:cNvPr>
          <p:cNvGrpSpPr/>
          <p:nvPr/>
        </p:nvGrpSpPr>
        <p:grpSpPr>
          <a:xfrm>
            <a:off x="4514215" y="1437894"/>
            <a:ext cx="4844669" cy="2859341"/>
            <a:chOff x="1995932" y="1274064"/>
            <a:chExt cx="4844669" cy="2859341"/>
          </a:xfrm>
        </p:grpSpPr>
        <p:sp>
          <p:nvSpPr>
            <p:cNvPr id="3"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4"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6"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7"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8"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13"/>
                  <a:stretch>
                    <a:fillRect r="-52174"/>
                  </a:stretch>
                </a:blipFill>
                <a:ln>
                  <a:noFill/>
                </a:ln>
              </p:spPr>
              <p:txBody>
                <a:bodyPr/>
                <a:lstStyle/>
                <a:p>
                  <a:r>
                    <a:rPr lang="en-NL">
                      <a:noFill/>
                    </a:rPr>
                    <a:t> </a:t>
                  </a:r>
                </a:p>
              </p:txBody>
            </p:sp>
          </mc:Fallback>
        </mc:AlternateContent>
        <p:sp>
          <p:nvSpPr>
            <p:cNvPr id="9"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14"/>
                  <a:stretch>
                    <a:fillRect t="-4839" r="-4782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BF412642-7E61-6E9D-B1AA-D93D8FC20EE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7840E7AE-AF7E-4AA8-43C3-38FD8774BD9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7"/>
                  <a:stretch>
                    <a:fillRect/>
                  </a:stretch>
                </a:blipFill>
                <a:ln>
                  <a:noFill/>
                </a:ln>
              </p:spPr>
              <p:txBody>
                <a:bodyPr/>
                <a:lstStyle/>
                <a:p>
                  <a:r>
                    <a:rPr lang="en-NL">
                      <a:noFill/>
                    </a:rPr>
                    <a:t> </a:t>
                  </a:r>
                </a:p>
              </p:txBody>
            </p:sp>
          </mc:Fallback>
        </mc:AlternateContent>
        <p:sp>
          <p:nvSpPr>
            <p:cNvPr id="21"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2"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8"/>
                  <a:stretch>
                    <a:fillRect/>
                  </a:stretch>
                </a:blipFill>
                <a:ln>
                  <a:noFill/>
                </a:ln>
              </p:spPr>
              <p:txBody>
                <a:bodyPr/>
                <a:lstStyle/>
                <a:p>
                  <a:r>
                    <a:rPr lang="en-NL">
                      <a:noFill/>
                    </a:rPr>
                    <a:t> </a:t>
                  </a:r>
                </a:p>
              </p:txBody>
            </p:sp>
          </mc:Fallback>
        </mc:AlternateContent>
        <p:sp>
          <p:nvSpPr>
            <p:cNvPr id="23"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4"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24"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9"/>
                  <a:stretch>
                    <a:fillRect/>
                  </a:stretch>
                </a:blipFill>
                <a:ln>
                  <a:noFill/>
                </a:ln>
              </p:spPr>
              <p:txBody>
                <a:bodyPr/>
                <a:lstStyle/>
                <a:p>
                  <a:r>
                    <a:rPr lang="en-NL">
                      <a:noFill/>
                    </a:rPr>
                    <a:t> </a:t>
                  </a:r>
                </a:p>
              </p:txBody>
            </p:sp>
          </mc:Fallback>
        </mc:AlternateContent>
        <p:sp>
          <p:nvSpPr>
            <p:cNvPr id="25"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341DE8BF-592A-E947-698E-CC01C6995A1F}"/>
                  </a:ext>
                </a:extLst>
              </p:cNvPr>
              <p:cNvSpPr txBox="1"/>
              <p:nvPr/>
            </p:nvSpPr>
            <p:spPr>
              <a:xfrm>
                <a:off x="7724387" y="169209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26" name="TextBox 25">
                <a:extLst>
                  <a:ext uri="{FF2B5EF4-FFF2-40B4-BE49-F238E27FC236}">
                    <a16:creationId xmlns:a16="http://schemas.microsoft.com/office/drawing/2014/main" id="{341DE8BF-592A-E947-698E-CC01C6995A1F}"/>
                  </a:ext>
                </a:extLst>
              </p:cNvPr>
              <p:cNvSpPr txBox="1">
                <a:spLocks noRot="1" noChangeAspect="1" noMove="1" noResize="1" noEditPoints="1" noAdjustHandles="1" noChangeArrowheads="1" noChangeShapeType="1" noTextEdit="1"/>
              </p:cNvSpPr>
              <p:nvPr/>
            </p:nvSpPr>
            <p:spPr>
              <a:xfrm>
                <a:off x="7724387" y="1692090"/>
                <a:ext cx="283732" cy="398571"/>
              </a:xfrm>
              <a:prstGeom prst="rect">
                <a:avLst/>
              </a:prstGeom>
              <a:blipFill>
                <a:blip r:embed="rId20"/>
                <a:stretch>
                  <a:fillRect l="-25532" r="-27660" b="-4615"/>
                </a:stretch>
              </a:blipFill>
            </p:spPr>
            <p:txBody>
              <a:bodyPr/>
              <a:lstStyle/>
              <a:p>
                <a:r>
                  <a:rPr lang="en-NL">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