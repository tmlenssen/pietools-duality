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56.xml" ContentType="application/vnd.openxmlformats-officedocument.presentationml.slide+xml"/>
  <Override PartName="/ppt/notesSlides/notesSlide4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7"/>
  </p:notesMasterIdLst>
  <p:sldIdLst>
    <p:sldId id="258" r:id="rId37"/>
    <p:sldId id="259" r:id="rId38"/>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EEE8E8"/>
    <a:srgbClr val="000000"/>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SectorStability"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29.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0.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1.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Theta is the cascade of the signed-gap map [[beta,-1],[-alpha,1]] and the weighted sum/difference map [[v,1],[v,-1]]. It observes the existing LFR signals z,w and returns ztilde,wtilde; it does not replace the original nonlinearity or alter the feedback connection. The cleaned schematic follows the supplied LFR, with the original Delta–PIE loop, solid K block, and two signal taps to Theta. The simulation uses v=1.
Previous notes: The transformed memoryless nonlinearity is dissipative with supply sigma=ztilde^2-wtilde^2=4ab and storage V identically zero. The supply is pointwise nonnegative, so its integral is nonnegative for every finite T&gt;=0. For two channels, sum the channel supplies; for a spatial pointwise nonlinearity also integrate over space. These are mathematical input/output energy measures, not necessarily physical energy. No multiplier Pi or IQC formalism is needed for this explanation. Dissipativity of the isolated nonlinearity does not by itself prove stability of its feedback interconnection.</a:t>
            </a:r>
            <a:endParaRPr sz="1200"/>
          </a:p>
        </p:txBody>
      </p:sp>
    </p:spTree>
  </p:cSld>
  <p:clrMapOvr>
    <a:masterClrMapping/>
  </p:clrMapOvr>
</p:notes>
</file>

<file path=ppt/notesSlides/notesSlide32.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4039284536"/>
      </p:ext>
    </p:extLst>
  </p:cSld>
  <p:clrMapOvr>
    <a:masterClrMapping/>
  </p:clrMapOvr>
</p:notes>
</file>

<file path=ppt/notesSlides/notesSlide44.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BlockMorph21_10" Type="http://schemas.openxmlformats.org/officeDocument/2006/relationships/image" Target="../media/blockmorph21_extraction20_image70.png"/><Relationship Id="rId4" Type="http://schemas.openxmlformats.org/officeDocument/2006/relationships/image" Target="../media/image7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130.png"/><Relationship Id="rId3" Type="http://schemas.openxmlformats.org/officeDocument/2006/relationships/image" Target="../media/image311.png"/><Relationship Id="rId7" Type="http://schemas.openxmlformats.org/officeDocument/2006/relationships/image" Target="../media/image7.png"/><Relationship Id="rId12" Type="http://schemas.openxmlformats.org/officeDocument/2006/relationships/image" Target="../media/image120.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13.png"/><Relationship Id="rId5" Type="http://schemas.openxmlformats.org/officeDocument/2006/relationships/image" Target="../media/image511.png"/><Relationship Id="rId10" Type="http://schemas.openxmlformats.org/officeDocument/2006/relationships/image" Target="../media/image10.png"/><Relationship Id="rId4" Type="http://schemas.openxmlformats.org/officeDocument/2006/relationships/image" Target="../media/image412.png"/><Relationship Id="rId9" Type="http://schemas.openxmlformats.org/officeDocument/2006/relationships/image" Target="../media/image910.png"/><Relationship Id="rIdZoom13" Type="http://schemas.openxmlformats.org/officeDocument/2006/relationships/image" Target="../media/revised_lfr19_image102.png"/><Relationship Id="rIdSectorStory34_0" Type="http://schemas.openxmlformats.org/officeDocument/2006/relationships/image" Target="../media/sectorstory34_image103.png"/><Relationship Id="rIdSectorStory34_1" Type="http://schemas.openxmlformats.org/officeDocument/2006/relationships/image" Target="../media/sectorstory34_image98.png"/><Relationship Id="rIdSectorStory34_2" Type="http://schemas.openxmlformats.org/officeDocument/2006/relationships/image" Target="../media/sectorstory34_image102.png"/><Relationship Id="rIdSectorStory34_4" Type="http://schemas.openxmlformats.org/officeDocument/2006/relationships/image" Target="../media/sectorstory34_revised_lfr19_image102.png"/><Relationship Id="rIdSectorStory34_6" Type="http://schemas.openxmlformats.org/officeDocument/2006/relationships/image" Target="../media/sectorstory34_image101.png"/><Relationship Id="rIdSectorStory34_7" Type="http://schemas.openxmlformats.org/officeDocument/2006/relationships/image" Target="../media/sectorstory34_image106.png"/><Relationship Id="rIdSectorStory34_8" Type="http://schemas.openxmlformats.org/officeDocument/2006/relationships/image" Target="../media/sectorstory34_image100.png"/><Relationship Id="rIdSectorStory34_9" Type="http://schemas.openxmlformats.org/officeDocument/2006/relationships/image" Target="../media/sectorstory34_image105.png"/><Relationship Id="rIdSectorStory34_10" Type="http://schemas.openxmlformats.org/officeDocument/2006/relationships/image" Target="../media/sectorstory34_image99.png"/><Relationship Id="rIdSectorStory34_11" Type="http://schemas.openxmlformats.org/officeDocument/2006/relationships/image" Target="../media/sectorstory34_image104.png"/></Relationships>
</file>

<file path=ppt/slides/_rels/slide35.xml.rels><?xml version="1.0" encoding="utf-8"?><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311.png"/><Relationship Id="rId7" Type="http://schemas.openxmlformats.org/officeDocument/2006/relationships/image" Target="../media/image7.png"/><Relationship Id="rId12" Type="http://schemas.openxmlformats.org/officeDocument/2006/relationships/image" Target="../media/image16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50.png"/><Relationship Id="rId5" Type="http://schemas.openxmlformats.org/officeDocument/2006/relationships/image" Target="../media/image511.png"/><Relationship Id="rId10" Type="http://schemas.openxmlformats.org/officeDocument/2006/relationships/image" Target="../media/image140.png"/><Relationship Id="rId4" Type="http://schemas.openxmlformats.org/officeDocument/2006/relationships/image" Target="../media/image412.png"/><Relationship Id="rId9" Type="http://schemas.openxmlformats.org/officeDocument/2006/relationships/image" Target="../media/image910.png"/><Relationship Id="rIdSectorStory35_0" Type="http://schemas.openxmlformats.org/officeDocument/2006/relationships/image" Target="../media/sectorstory35_image100.png"/><Relationship Id="rIdSectorStory35_1" Type="http://schemas.openxmlformats.org/officeDocument/2006/relationships/image" Target="../media/sectorstory35_image111.png"/><Relationship Id="rIdSectorStory35_3" Type="http://schemas.openxmlformats.org/officeDocument/2006/relationships/image" Target="../media/sectorstory35_image99.png"/><Relationship Id="rIdSectorStory35_4" Type="http://schemas.openxmlformats.org/officeDocument/2006/relationships/image" Target="../media/sectorstory35_image110.png"/><Relationship Id="rIdSectorStory35_5" Type="http://schemas.openxmlformats.org/officeDocument/2006/relationships/video" Target="../media/sectorstory35_media6.mp4"/><Relationship Id="rIdSectorStory35_6" Type="http://schemas.microsoft.com/office/2007/relationships/media" Target="../media/sectorstory35_media6.mp4"/><Relationship Id="rIdSectorStory35_7" Type="http://schemas.openxmlformats.org/officeDocument/2006/relationships/image" Target="../media/sectorstory35_image98.png"/><Relationship Id="rIdSectorStory35_8" Type="http://schemas.openxmlformats.org/officeDocument/2006/relationships/image" Target="../media/sectorstory35_image109.png"/><Relationship Id="rIdSectorStory35_9" Type="http://schemas.openxmlformats.org/officeDocument/2006/relationships/image" Target="../media/sectorstory35_image107.png"/><Relationship Id="rIdSectorStory35_10" Type="http://schemas.openxmlformats.org/officeDocument/2006/relationships/image" Target="../media/sectorstory35_image113.png"/><Relationship Id="rIdSectorStory35_11" Type="http://schemas.openxmlformats.org/officeDocument/2006/relationships/image" Target="../media/sectorstory35_image108.png"/><Relationship Id="rIdSectorStory35_13" Type="http://schemas.openxmlformats.org/officeDocument/2006/relationships/image" Target="../media/sectorstory35_image101.png"/><Relationship Id="rIdSectorStory35_14" Type="http://schemas.openxmlformats.org/officeDocument/2006/relationships/image" Target="../media/sectorstory35_image112.png"/></Relationships>
</file>

<file path=ppt/slides/_rels/slide36.xml.rels><?xml version="1.0" encoding="utf-8"?><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311.png"/><Relationship Id="rId7" Type="http://schemas.openxmlformats.org/officeDocument/2006/relationships/image" Target="../media/image171.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11.png"/><Relationship Id="rId10" Type="http://schemas.openxmlformats.org/officeDocument/2006/relationships/image" Target="../media/image200.png"/><Relationship Id="rId4" Type="http://schemas.openxmlformats.org/officeDocument/2006/relationships/image" Target="../media/image412.png"/><Relationship Id="rId9" Type="http://schemas.openxmlformats.org/officeDocument/2006/relationships/image" Target="../media/image191.png"/><Relationship Id="rIdSectorStory36_0" Type="http://schemas.openxmlformats.org/officeDocument/2006/relationships/image" Target="../media/sectorstory36_image114.png"/><Relationship Id="rIdSectorStory36_3" Type="http://schemas.openxmlformats.org/officeDocument/2006/relationships/image" Target="../media/sectorstory36_image116.png"/><Relationship Id="rIdSectorStory36_4" Type="http://schemas.openxmlformats.org/officeDocument/2006/relationships/image" Target="../media/sectorstory36_image115.png"/></Relationships>
</file>

<file path=ppt/slides/_rels/slide37.xml.rels><?xml version="1.0" encoding="utf-8"?><Relationships xmlns="http://schemas.openxmlformats.org/package/2006/relationships"><Relationship Id="rId8" Type="http://schemas.openxmlformats.org/officeDocument/2006/relationships/image" Target="../media/image221.png"/><Relationship Id="rId13" Type="http://schemas.openxmlformats.org/officeDocument/2006/relationships/image" Target="../media/image940.png"/><Relationship Id="rId18" Type="http://schemas.openxmlformats.org/officeDocument/2006/relationships/image" Target="../media/image102.png"/><Relationship Id="rId3" Type="http://schemas.openxmlformats.org/officeDocument/2006/relationships/image" Target="../media/image311.png"/><Relationship Id="rId7" Type="http://schemas.openxmlformats.org/officeDocument/2006/relationships/image" Target="../media/image210.png"/><Relationship Id="rId12" Type="http://schemas.openxmlformats.org/officeDocument/2006/relationships/image" Target="../media/image261.png"/><Relationship Id="rId17" Type="http://schemas.openxmlformats.org/officeDocument/2006/relationships/image" Target="../media/image101.png"/><Relationship Id="rId2" Type="http://schemas.openxmlformats.org/officeDocument/2006/relationships/notesSlide" Target="../notesSlides/notesSlide31.xml"/><Relationship Id="rId16" Type="http://schemas.openxmlformats.org/officeDocument/2006/relationships/image" Target="../media/image100.png"/><Relationship Id="rId20" Type="http://schemas.openxmlformats.org/officeDocument/2006/relationships/image" Target="../media/image99.png"/><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251.png"/><Relationship Id="rId15" Type="http://schemas.openxmlformats.org/officeDocument/2006/relationships/image" Target="../media/image961.png"/><Relationship Id="rId5" Type="http://schemas.openxmlformats.org/officeDocument/2006/relationships/image" Target="../media/image971.png"/><Relationship Id="rId10" Type="http://schemas.openxmlformats.org/officeDocument/2006/relationships/image" Target="../media/image240.png"/><Relationship Id="rId19" Type="http://schemas.openxmlformats.org/officeDocument/2006/relationships/image" Target="../media/image98.png"/><Relationship Id="rId4" Type="http://schemas.openxmlformats.org/officeDocument/2006/relationships/image" Target="../media/image412.png"/><Relationship Id="rId9" Type="http://schemas.openxmlformats.org/officeDocument/2006/relationships/image" Target="../media/image230.png"/><Relationship Id="rId14" Type="http://schemas.openxmlformats.org/officeDocument/2006/relationships/image" Target="../media/image950.png"/><Relationship Id="rIdSectorStory37_0" Type="http://schemas.openxmlformats.org/officeDocument/2006/relationships/image" Target="../media/sectorstory37_image122.png"/><Relationship Id="rIdSectorStory37_1" Type="http://schemas.openxmlformats.org/officeDocument/2006/relationships/image" Target="../media/sectorstory37_image117.png"/><Relationship Id="rIdSectorStory37_2" Type="http://schemas.openxmlformats.org/officeDocument/2006/relationships/image" Target="../media/sectorstory37_image121.png"/><Relationship Id="rIdSectorStory37_3" Type="http://schemas.openxmlformats.org/officeDocument/2006/relationships/image" Target="../media/sectorstory37_image126.png"/><Relationship Id="rIdSectorStory37_6" Type="http://schemas.openxmlformats.org/officeDocument/2006/relationships/image" Target="../media/sectorstory37_image120.png"/><Relationship Id="rIdSectorStory37_7" Type="http://schemas.openxmlformats.org/officeDocument/2006/relationships/image" Target="../media/sectorstory37_image125.png"/><Relationship Id="rIdSectorStory37_8" Type="http://schemas.openxmlformats.org/officeDocument/2006/relationships/image" Target="../media/sectorstory37_image119.png"/><Relationship Id="rIdSectorStory37_9" Type="http://schemas.openxmlformats.org/officeDocument/2006/relationships/image" Target="../media/sectorstory37_image124.png"/><Relationship Id="rIdSectorStory37_10" Type="http://schemas.openxmlformats.org/officeDocument/2006/relationships/image" Target="../media/sectorstory37_image118.png"/><Relationship Id="rIdSectorStory37_11" Type="http://schemas.openxmlformats.org/officeDocument/2006/relationships/image" Target="../media/sectorstory37_image123.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3.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104.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5.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3.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06.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3.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4.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07.png"/><Relationship Id="rIdClosing4" Type="http://schemas.openxmlformats.org/officeDocument/2006/relationships/image" Target="../media/image33.png"/><Relationship Id="rId4" Type="http://schemas.openxmlformats.org/officeDocument/2006/relationships/image" Target="../media/image7.jpg"/></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0.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09.png"/></Relationships>
</file>

<file path=ppt/slides/_rels/slide53.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08.png"/><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110.png"/></Relationships>
</file>

<file path=ppt/slides/_rels/slide5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2.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1.png"/></Relationships>
</file>

<file path=ppt/slides/_rels/slide5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3.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2.png"/></Relationships>
</file>

<file path=ppt/slides/_rels/slide56.xml.rels><?xml version="1.0" encoding="utf-8"?><Relationships xmlns="http://schemas.openxmlformats.org/package/2006/relationships"><Relationship Id="rId1" Type="http://schemas.openxmlformats.org/officeDocument/2006/relationships/slideLayout" Target="../slideLayouts/slideLayout12.xml"/><Relationship Id="rIdHeatNotes" Type="http://schemas.openxmlformats.org/officeDocument/2006/relationships/notesSlide" Target="../notesSlides/notesSlide44.xml"/><Relationship Id="rIdSectorStory40_0" Type="http://schemas.openxmlformats.org/officeDocument/2006/relationships/image" Target="../media/sectorstory40_image130.png"/><Relationship Id="rIdSectorStory40_1" Type="http://schemas.openxmlformats.org/officeDocument/2006/relationships/image" Target="../media/sectorstory40_image134.png"/><Relationship Id="rIdSectorStory40_4" Type="http://schemas.openxmlformats.org/officeDocument/2006/relationships/image" Target="../media/sectorstory40_image133.png"/><Relationship Id="rIdSectorStory40_5" Type="http://schemas.openxmlformats.org/officeDocument/2006/relationships/image" Target="../media/sectorstory40_image132.png"/><Relationship Id="rIdSectorStory40_6" Type="http://schemas.openxmlformats.org/officeDocument/2006/relationships/image" Target="../media/sectorstory40_image13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mc:Choice xmlns:a14="http://schemas.microsoft.com/office/drawing/2010/main"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 xmlns:m="http://schemas.openxmlformats.org/officeDocument/2006/math">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mc:Choice xmlns:p14="http://schemas.microsoft.com/office/powerpoint/2010/main" Requires="p14">
      <p:transition p14:dur="0" advClick="0" advTm="0"/>
    </mc:Choice>
    <mc:Fallback>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advClick="0" advTm="0">
        <p159:morph option="byObject"/>
      </p:transition>
    </mc:Choice>
    <mc:Fallback>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mc:Choice xmlns:p14="http://schemas.microsoft.com/office/powerpoint/2010/main" Requires="p14">
      <p:transition p14:dur="0" advClick="0" advTm="0"/>
    </mc:Choice>
    <mc:Fallback>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0">
        <p159:morph option="byObject"/>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y</m:t>
                        </m:r>
                      </m:oMath>
                    </m:oMathPara>
                  </a14:m>
                  <a:endParaRPr sz="1998" dirty="0"/>
                </a:p>
              </p:txBody>
            </p:sp>
          </mc:Choice>
          <mc:Fallback>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mc:Choice xmlns:p14="http://schemas.microsoft.com/office/powerpoint/2010/main" Requires="p14">
      <p:transition p14:dur="10" advClick="0" advTm="0"/>
    </mc:Choice>
    <mc:Fallback>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1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sp>
      <p:sp>
        <p:nvSpPr>
          <p:cNvPr id="11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sp>
      <p:sp>
        <p:nvSpPr>
          <p:cNvPr id="11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sp>
      <p:sp>
        <p:nvSpPr>
          <p:cNvPr id="11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11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sp>
      <p:sp>
        <p:nvSpPr>
          <p:cNvPr id="11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sp>
      <p:sp>
        <p:nvSpPr>
          <p:cNvPr id="11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sp>
      <mc:AlternateContent xmlns:mc="http://schemas.openxmlformats.org/markup-compatibility/2006">
        <mc:Choice xmlns:a14="http://schemas.microsoft.com/office/drawing/2010/main" Requires="a14">
          <p:sp>
            <p:nvSpPr>
              <p:cNvPr id="12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a:p>
            </p:txBody>
          </p:sp>
        </mc:Choice>
        <mc:Fallback>
          <p:sp>
            <p:nvSpPr>
              <p:cNvPr id="12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Story34_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p:sp>
            <p:nvSpPr>
              <p:cNvPr id="12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Story34_10"/>
                <a:stretch>
                  <a:fillRect/>
                </a:stretch>
              </a:blipFill>
              <a:ln>
                <a:noFill/>
              </a:ln>
            </p:spPr>
            <p:txBody>
              <a:bodyPr/>
              <a:lstStyle/>
              <a:p>
                <a:r>
                  <a:rPr lang="en-NL">
                    <a:noFill/>
                  </a:rPr>
                  <a:t> </a:t>
                </a:r>
              </a:p>
            </p:txBody>
          </p:sp>
        </mc:Fallback>
      </mc:AlternateContent>
      <p:sp>
        <p:nvSpPr>
          <p:cNvPr id="12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2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2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mc:Choice xmlns:a14="http://schemas.microsoft.com/office/drawing/2010/main" Requires="a14">
          <p:sp>
            <p:nvSpPr>
              <p:cNvPr id="12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oMath>
                  </m:oMathPara>
                </a14:m>
                <a:endParaRPr sz="1300"/>
              </a:p>
            </p:txBody>
          </p:sp>
        </mc:Choice>
        <mc:Fallback>
          <p:sp>
            <p:nvSpPr>
              <p:cNvPr id="12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SectorStory34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p:sp>
            <p:nvSpPr>
              <p:cNvPr id="12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Story34_6"/>
                <a:stretch>
                  <a:fillRect/>
                </a:stretch>
              </a:blipFill>
              <a:ln>
                <a:noFill/>
              </a:ln>
            </p:spPr>
            <p:txBody>
              <a:bodyPr/>
              <a:lstStyle/>
              <a:p>
                <a:r>
                  <a:rPr lang="en-NL">
                    <a:noFill/>
                  </a:rPr>
                  <a:t> </a:t>
                </a:r>
              </a:p>
            </p:txBody>
          </p:sp>
        </mc:Fallback>
      </mc:AlternateContent>
      <p:sp>
        <p:nvSpPr>
          <p:cNvPr id="1208" name="Graph description"/>
          <p:cNvSpPr/>
          <p:nvPr/>
        </p:nvSpPr>
        <p:spPr>
          <a:xfrm>
            <a:off x="514350" y="3810000"/>
            <a:ext cx="3746500" cy="22860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Shifted STN activation</a:t>
            </a:r>
            <a:endParaRPr sz="1200"/>
          </a:p>
        </p:txBody>
      </p:sp>
      <p:sp>
        <p:nvSpPr>
          <p:cNvPr id="1209" name="Delta input"/>
          <p:cNvSpPr/>
          <p:nvPr/>
        </p:nvSpPr>
        <p:spPr>
          <a:xfrm>
            <a:off x="5168900" y="1752600"/>
            <a:ext cx="965200" cy="25400"/>
          </a:xfrm>
          <a:custGeom>
            <a:avLst/>
            <a:gdLst/>
            <a:ahLst/>
            <a:cxnLst/>
            <a:rect l="0" t="0" r="r" b="b"/>
            <a:pathLst>
              <a:path w="965200" h="25400" fill="none">
                <a:moveTo>
                  <a:pt x="12700" y="12700"/>
                </a:moveTo>
                <a:lnTo>
                  <a:pt x="952500" y="12700"/>
                </a:lnTo>
              </a:path>
            </a:pathLst>
          </a:custGeom>
          <a:noFill/>
          <a:ln w="12700">
            <a:solidFill>
              <a:srgbClr val="252529"/>
            </a:solidFill>
            <a:round/>
            <a:tailEnd type="triangle" w="sm" len="sm"/>
          </a:ln>
        </p:spPr>
      </p:sp>
      <p:sp>
        <p:nvSpPr>
          <p:cNvPr id="1210" name="Delta output"/>
          <p:cNvSpPr/>
          <p:nvPr/>
        </p:nvSpPr>
        <p:spPr>
          <a:xfrm>
            <a:off x="7073900" y="1752600"/>
            <a:ext cx="1257300" cy="25400"/>
          </a:xfrm>
          <a:custGeom>
            <a:avLst/>
            <a:gdLst/>
            <a:ahLst/>
            <a:cxnLst/>
            <a:rect l="0" t="0" r="r" b="b"/>
            <a:pathLst>
              <a:path w="1257300" h="25400" fill="none">
                <a:moveTo>
                  <a:pt x="12700" y="12700"/>
                </a:moveTo>
                <a:lnTo>
                  <a:pt x="1244600" y="127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211" name="Delta input label"/>
              <p:cNvSpPr/>
              <p:nvPr/>
            </p:nvSpPr>
            <p:spPr>
              <a:xfrm>
                <a:off x="5270500" y="1183640"/>
                <a:ext cx="635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oMath>
                  </m:oMathPara>
                </a14:m>
                <a:endParaRPr sz="1700"/>
              </a:p>
            </p:txBody>
          </p:sp>
        </mc:Choice>
        <mc:Fallback>
          <p:sp>
            <p:nvSpPr>
              <p:cNvPr id="1211" name="Delta input label"/>
              <p:cNvSpPr>
                <a:spLocks noRot="1" noChangeAspect="1" noMove="1" noResize="1" noEditPoints="1" noAdjustHandles="1" noChangeArrowheads="1" noChangeShapeType="1" noTextEdit="1"/>
              </p:cNvSpPr>
              <p:nvPr/>
            </p:nvSpPr>
            <p:spPr>
              <a:xfrm>
                <a:off x="5270500" y="1183640"/>
                <a:ext cx="635000" cy="604520"/>
              </a:xfrm>
              <a:prstGeom prst="rect">
                <a:avLst/>
              </a:prstGeom>
              <a:blipFill>
                <a:blip r:embed="rIdSectorStory34_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2" name="Delta output label"/>
              <p:cNvSpPr/>
              <p:nvPr/>
            </p:nvSpPr>
            <p:spPr>
              <a:xfrm>
                <a:off x="7454900" y="1183640"/>
                <a:ext cx="635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𝑤</m:t>
                      </m:r>
                    </m:oMath>
                  </m:oMathPara>
                </a14:m>
                <a:endParaRPr sz="1700"/>
              </a:p>
            </p:txBody>
          </p:sp>
        </mc:Choice>
        <mc:Fallback>
          <p:sp>
            <p:nvSpPr>
              <p:cNvPr id="1212" name="Delta output label"/>
              <p:cNvSpPr>
                <a:spLocks noRot="1" noChangeAspect="1" noMove="1" noResize="1" noEditPoints="1" noAdjustHandles="1" noChangeArrowheads="1" noChangeShapeType="1" noTextEdit="1"/>
              </p:cNvSpPr>
              <p:nvPr/>
            </p:nvSpPr>
            <p:spPr>
              <a:xfrm>
                <a:off x="7454900" y="1183640"/>
                <a:ext cx="635000" cy="604520"/>
              </a:xfrm>
              <a:prstGeom prst="rect">
                <a:avLst/>
              </a:prstGeom>
              <a:blipFill>
                <a:blip r:embed="rIdSectorStory34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3" name="Shifted map"/>
              <p:cNvSpPr/>
              <p:nvPr/>
            </p:nvSpPr>
            <p:spPr>
              <a:xfrm>
                <a:off x="4533900" y="2306320"/>
                <a:ext cx="41402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𝑤</m:t>
                      </m:r>
                      <m:r>
                        <a:rPr sz="2100">
                          <a:solidFill>
                            <a:srgbClr val="252529"/>
                          </a:solidFill>
                          <a:latin typeface="Cambria Math"/>
                        </a:rPr>
                        <m:t>=</m:t>
                      </m:r>
                      <m:r>
                        <a:rPr sz="2100">
                          <a:solidFill>
                            <a:srgbClr val="252529"/>
                          </a:solidFill>
                          <a:latin typeface="Cambria Math"/>
                        </a:rPr>
                        <m:t>𝛥</m:t>
                      </m:r>
                      <m:d>
                        <m:dPr>
                          <m:ctrlPr>
                            <a:rPr sz="2100">
                              <a:solidFill>
                                <a:srgbClr val="252529"/>
                              </a:solidFill>
                              <a:latin typeface="Cambria Math"/>
                            </a:rPr>
                          </m:ctrlPr>
                        </m:dPr>
                        <m:e>
                          <m:r>
                            <a:rPr sz="2100">
                              <a:solidFill>
                                <a:srgbClr val="252529"/>
                              </a:solidFill>
                              <a:latin typeface="Cambria Math"/>
                            </a:rPr>
                            <m:t>𝑧</m:t>
                          </m:r>
                        </m:e>
                      </m:d>
                      <m:r>
                        <a:rPr sz="2100">
                          <a:solidFill>
                            <a:srgbClr val="252529"/>
                          </a:solidFill>
                          <a:latin typeface="Cambria Math"/>
                        </a:rPr>
                        <m:t>,  </m:t>
                      </m:r>
                      <m:r>
                        <a:rPr sz="2100">
                          <a:solidFill>
                            <a:srgbClr val="252529"/>
                          </a:solidFill>
                          <a:latin typeface="Cambria Math"/>
                        </a:rPr>
                        <m:t>𝛥</m:t>
                      </m:r>
                      <m:d>
                        <m:dPr>
                          <m:ctrlPr>
                            <a:rPr sz="2100">
                              <a:solidFill>
                                <a:srgbClr val="252529"/>
                              </a:solidFill>
                              <a:latin typeface="Cambria Math"/>
                            </a:rPr>
                          </m:ctrlPr>
                        </m:dPr>
                        <m:e>
                          <m:r>
                            <a:rPr sz="2100">
                              <a:solidFill>
                                <a:srgbClr val="252529"/>
                              </a:solidFill>
                              <a:latin typeface="Cambria Math"/>
                            </a:rPr>
                            <m:t>0</m:t>
                          </m:r>
                        </m:e>
                      </m:d>
                      <m:r>
                        <a:rPr sz="2100">
                          <a:solidFill>
                            <a:srgbClr val="252529"/>
                          </a:solidFill>
                          <a:latin typeface="Cambria Math"/>
                        </a:rPr>
                        <m:t>=0</m:t>
                      </m:r>
                    </m:oMath>
                  </m:oMathPara>
                </a14:m>
                <a:endParaRPr sz="2100"/>
              </a:p>
            </p:txBody>
          </p:sp>
        </mc:Choice>
        <mc:Fallback>
          <p:sp>
            <p:nvSpPr>
              <p:cNvPr id="1213" name="Shifted map"/>
              <p:cNvSpPr>
                <a:spLocks noRot="1" noChangeAspect="1" noMove="1" noResize="1" noEditPoints="1" noAdjustHandles="1" noChangeArrowheads="1" noChangeShapeType="1" noTextEdit="1"/>
              </p:cNvSpPr>
              <p:nvPr/>
            </p:nvSpPr>
            <p:spPr>
              <a:xfrm>
                <a:off x="4533900" y="2306320"/>
                <a:ext cx="4140200" cy="746760"/>
              </a:xfrm>
              <a:prstGeom prst="rect">
                <a:avLst/>
              </a:prstGeom>
              <a:blipFill>
                <a:blip r:embed="rIdSectorStory34_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4" name="Sector condition"/>
              <p:cNvSpPr/>
              <p:nvPr/>
            </p:nvSpPr>
            <p:spPr>
              <a:xfrm>
                <a:off x="4508500" y="3073400"/>
                <a:ext cx="4191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𝛼</m:t>
                      </m:r>
                      <m:r>
                        <a:rPr sz="2000">
                          <a:solidFill>
                            <a:srgbClr val="252529"/>
                          </a:solidFill>
                          <a:latin typeface="Cambria Math"/>
                        </a:rPr>
                        <m:t>≤</m:t>
                      </m:r>
                      <m:f>
                        <m:fPr>
                          <m:ctrlPr>
                            <a:rPr sz="2000">
                              <a:solidFill>
                                <a:srgbClr val="252529"/>
                              </a:solidFill>
                              <a:latin typeface="Cambria Math"/>
                            </a:rPr>
                          </m:ctrlPr>
                        </m:fPr>
                        <m:num>
                          <m:r>
                            <a:rPr sz="2000">
                              <a:solidFill>
                                <a:srgbClr val="252529"/>
                              </a:solidFill>
                              <a:latin typeface="Cambria Math"/>
                            </a:rPr>
                            <m:t>𝛥</m:t>
                          </m:r>
                          <m:d>
                            <m:dPr>
                              <m:ctrlPr>
                                <a:rPr sz="2000">
                                  <a:solidFill>
                                    <a:srgbClr val="252529"/>
                                  </a:solidFill>
                                  <a:latin typeface="Cambria Math"/>
                                </a:rPr>
                              </m:ctrlPr>
                            </m:dPr>
                            <m:e>
                              <m:r>
                                <a:rPr sz="2000">
                                  <a:solidFill>
                                    <a:srgbClr val="252529"/>
                                  </a:solidFill>
                                  <a:latin typeface="Cambria Math"/>
                                </a:rPr>
                                <m:t>𝑧</m:t>
                              </m:r>
                            </m:e>
                          </m:d>
                        </m:num>
                        <m:den>
                          <m:r>
                            <a:rPr sz="2000">
                              <a:solidFill>
                                <a:srgbClr val="252529"/>
                              </a:solidFill>
                              <a:latin typeface="Cambria Math"/>
                            </a:rPr>
                            <m:t>𝑧</m:t>
                          </m:r>
                        </m:den>
                      </m:f>
                      <m:r>
                        <a:rPr sz="2000">
                          <a:solidFill>
                            <a:srgbClr val="252529"/>
                          </a:solidFill>
                          <a:latin typeface="Cambria Math"/>
                        </a:rPr>
                        <m:t>≤</m:t>
                      </m:r>
                      <m:r>
                        <a:rPr sz="2000">
                          <a:solidFill>
                            <a:srgbClr val="252529"/>
                          </a:solidFill>
                          <a:latin typeface="Cambria Math"/>
                        </a:rPr>
                        <m:t>𝛽</m:t>
                      </m:r>
                      <m:r>
                        <a:rPr sz="2000">
                          <a:solidFill>
                            <a:srgbClr val="252529"/>
                          </a:solidFill>
                          <a:latin typeface="Cambria Math"/>
                        </a:rPr>
                        <m:t>,  </m:t>
                      </m:r>
                      <m:r>
                        <a:rPr sz="2000">
                          <a:solidFill>
                            <a:srgbClr val="252529"/>
                          </a:solidFill>
                          <a:latin typeface="Cambria Math"/>
                        </a:rPr>
                        <m:t>𝑧</m:t>
                      </m:r>
                      <m:r>
                        <a:rPr sz="2000">
                          <a:solidFill>
                            <a:srgbClr val="252529"/>
                          </a:solidFill>
                          <a:latin typeface="Cambria Math"/>
                        </a:rPr>
                        <m:t>≠0</m:t>
                      </m:r>
                    </m:oMath>
                  </m:oMathPara>
                </a14:m>
                <a:endParaRPr sz="2000"/>
              </a:p>
            </p:txBody>
          </p:sp>
        </mc:Choice>
        <mc:Fallback>
          <p:sp>
            <p:nvSpPr>
              <p:cNvPr id="1214" name="Sector condition"/>
              <p:cNvSpPr>
                <a:spLocks noRot="1" noChangeAspect="1" noMove="1" noResize="1" noEditPoints="1" noAdjustHandles="1" noChangeArrowheads="1" noChangeShapeType="1" noTextEdit="1"/>
              </p:cNvSpPr>
              <p:nvPr/>
            </p:nvSpPr>
            <p:spPr>
              <a:xfrm>
                <a:off x="4508500" y="3073400"/>
                <a:ext cx="4191000" cy="711200"/>
              </a:xfrm>
              <a:prstGeom prst="rect">
                <a:avLst/>
              </a:prstGeom>
              <a:blipFill>
                <a:blip r:embed="rIdSectorStory34_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5" name="Sector values"/>
              <p:cNvSpPr/>
              <p:nvPr/>
            </p:nvSpPr>
            <p:spPr>
              <a:xfrm>
                <a:off x="4508500" y="3761740"/>
                <a:ext cx="4191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𝛼</m:t>
                      </m:r>
                      <m:r>
                        <a:rPr sz="1700">
                          <a:solidFill>
                            <a:srgbClr val="252529"/>
                          </a:solidFill>
                          <a:latin typeface="Cambria Math"/>
                        </a:rPr>
                        <m:t>=0,  </m:t>
                      </m:r>
                      <m:r>
                        <a:rPr sz="1700">
                          <a:solidFill>
                            <a:srgbClr val="252529"/>
                          </a:solidFill>
                          <a:latin typeface="Cambria Math"/>
                        </a:rPr>
                        <m:t>𝛽</m:t>
                      </m:r>
                      <m:r>
                        <a:rPr sz="1700">
                          <a:solidFill>
                            <a:srgbClr val="252529"/>
                          </a:solidFill>
                          <a:latin typeface="Cambria Math"/>
                        </a:rPr>
                        <m:t>≈0.7344</m:t>
                      </m:r>
                    </m:oMath>
                  </m:oMathPara>
                </a14:m>
                <a:endParaRPr sz="1700"/>
              </a:p>
            </p:txBody>
          </p:sp>
        </mc:Choice>
        <mc:Fallback>
          <p:sp>
            <p:nvSpPr>
              <p:cNvPr id="1215" name="Sector values"/>
              <p:cNvSpPr>
                <a:spLocks noRot="1" noChangeAspect="1" noMove="1" noResize="1" noEditPoints="1" noAdjustHandles="1" noChangeArrowheads="1" noChangeShapeType="1" noTextEdit="1"/>
              </p:cNvSpPr>
              <p:nvPr/>
            </p:nvSpPr>
            <p:spPr>
              <a:xfrm>
                <a:off x="4508500" y="3761740"/>
                <a:ext cx="4191000" cy="604520"/>
              </a:xfrm>
              <a:prstGeom prst="rect">
                <a:avLst/>
              </a:prstGeom>
              <a:blipFill>
                <a:blip r:embed="rIdSectorStory34_7"/>
                <a:stretch>
                  <a:fillRect/>
                </a:stretch>
              </a:blipFill>
              <a:ln>
                <a:noFill/>
              </a:ln>
            </p:spPr>
            <p:txBody>
              <a:bodyPr/>
              <a:lstStyle/>
              <a:p>
                <a:r>
                  <a:rPr lang="en-NL">
                    <a:noFill/>
                  </a:rPr>
                  <a:t> </a:t>
                </a:r>
              </a:p>
            </p:txBody>
          </p:sp>
        </mc:Fallback>
      </mc:AlternateContent>
      <p:sp>
        <p:nvSpPr>
          <p:cNvPr id="1216" name="Shifted explanation"/>
          <p:cNvSpPr/>
          <p:nvPr/>
        </p:nvSpPr>
        <p:spPr>
          <a:xfrm>
            <a:off x="444500" y="4454525"/>
            <a:ext cx="8255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The sector is measured about the shifted equilibrium.</a:t>
            </a:r>
            <a:endParaRPr sz="1500"/>
          </a:p>
        </p:txBody>
      </p:sp>
      <p:sp>
        <p:nvSpPr>
          <p:cNvPr id="121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501" name="!!Delta focus"/>
          <p:cNvGrpSpPr/>
          <p:nvPr/>
        </p:nvGrpSpPr>
        <p:grpSpPr>
          <a:xfrm>
            <a:off x="6121400" y="1282700"/>
            <a:ext cx="965200" cy="965200"/>
            <a:chOff x="3274060" y="1819148"/>
            <a:chExt cx="563880" cy="563880"/>
          </a:xfrm>
        </p:grpSpPr>
        <p:sp>
          <p:nvSpPr>
            <p:cNvPr id="15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5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5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Story34_4"/>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200"/>
                                  </p:stCondLst>
                                  <p:childTnLst>
                                    <p:set>
                                      <p:cBhvr>
                                        <p:cTn id="6" dur="1" fill="hold">
                                          <p:stCondLst>
                                            <p:cond delay="0"/>
                                          </p:stCondLst>
                                        </p:cTn>
                                        <p:tgtEl>
                                          <p:spTgt spid="1107"/>
                                        </p:tgtEl>
                                        <p:attrNameLst>
                                          <p:attrName>style.visibility</p:attrName>
                                        </p:attrNameLst>
                                      </p:cBhvr>
                                      <p:to>
                                        <p:strVal val="visible"/>
                                      </p:to>
                                    </p:set>
                                    <p:animEffect transition="in" filter="wipe(left)">
                                      <p:cBhvr>
                                        <p:cTn id="7" dur="1200"/>
                                        <p:tgtEl>
                                          <p:spTgt spid="110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01"/>
                                        </p:tgtEl>
                                        <p:attrNameLst>
                                          <p:attrName>style.visibility</p:attrName>
                                        </p:attrNameLst>
                                      </p:cBhvr>
                                      <p:to>
                                        <p:strVal val="visible"/>
                                      </p:to>
                                    </p:set>
                                    <p:animEffect transition="in" filter="fade">
                                      <p:cBhvr>
                                        <p:cTn id="12" dur="500"/>
                                        <p:tgtEl>
                                          <p:spTgt spid="1101"/>
                                        </p:tgtEl>
                                      </p:cBhvr>
                                    </p:animEffect>
                                  </p:childTnLst>
                                </p:cTn>
                              </p:par>
                              <p:par>
                                <p:cTn id="13" presetID="10" presetClass="entr" presetSubtype="0" fill="hold" nodeType="withEffect">
                                  <p:stCondLst>
                                    <p:cond delay="0"/>
                                  </p:stCondLst>
                                  <p:childTnLst>
                                    <p:set>
                                      <p:cBhvr>
                                        <p:cTn id="14" dur="1" fill="hold">
                                          <p:stCondLst>
                                            <p:cond delay="0"/>
                                          </p:stCondLst>
                                        </p:cTn>
                                        <p:tgtEl>
                                          <p:spTgt spid="1102"/>
                                        </p:tgtEl>
                                        <p:attrNameLst>
                                          <p:attrName>style.visibility</p:attrName>
                                        </p:attrNameLst>
                                      </p:cBhvr>
                                      <p:to>
                                        <p:strVal val="visible"/>
                                      </p:to>
                                    </p:set>
                                    <p:animEffect transition="in" filter="fade">
                                      <p:cBhvr>
                                        <p:cTn id="15" dur="500"/>
                                        <p:tgtEl>
                                          <p:spTgt spid="1102"/>
                                        </p:tgtEl>
                                      </p:cBhvr>
                                    </p:animEffect>
                                  </p:childTnLst>
                                </p:cTn>
                              </p:par>
                              <p:par>
                                <p:cTn id="16" presetID="10" presetClass="entr" presetSubtype="0" fill="hold" nodeType="withEffect">
                                  <p:stCondLst>
                                    <p:cond delay="0"/>
                                  </p:stCondLst>
                                  <p:childTnLst>
                                    <p:set>
                                      <p:cBhvr>
                                        <p:cTn id="17" dur="1" fill="hold">
                                          <p:stCondLst>
                                            <p:cond delay="0"/>
                                          </p:stCondLst>
                                        </p:cTn>
                                        <p:tgtEl>
                                          <p:spTgt spid="1105"/>
                                        </p:tgtEl>
                                        <p:attrNameLst>
                                          <p:attrName>style.visibility</p:attrName>
                                        </p:attrNameLst>
                                      </p:cBhvr>
                                      <p:to>
                                        <p:strVal val="visible"/>
                                      </p:to>
                                    </p:set>
                                    <p:animEffect transition="in" filter="fade">
                                      <p:cBhvr>
                                        <p:cTn id="18" dur="500"/>
                                        <p:tgtEl>
                                          <p:spTgt spid="1105"/>
                                        </p:tgtEl>
                                      </p:cBhvr>
                                    </p:animEffect>
                                  </p:childTnLst>
                                </p:cTn>
                              </p:par>
                              <p:par>
                                <p:cTn id="19" presetID="10" presetClass="entr" presetSubtype="0" fill="hold" nodeType="withEffect">
                                  <p:stCondLst>
                                    <p:cond delay="0"/>
                                  </p:stCondLst>
                                  <p:childTnLst>
                                    <p:set>
                                      <p:cBhvr>
                                        <p:cTn id="20" dur="1" fill="hold">
                                          <p:stCondLst>
                                            <p:cond delay="0"/>
                                          </p:stCondLst>
                                        </p:cTn>
                                        <p:tgtEl>
                                          <p:spTgt spid="1106"/>
                                        </p:tgtEl>
                                        <p:attrNameLst>
                                          <p:attrName>style.visibility</p:attrName>
                                        </p:attrNameLst>
                                      </p:cBhvr>
                                      <p:to>
                                        <p:strVal val="visible"/>
                                      </p:to>
                                    </p:set>
                                    <p:animEffect transition="in" filter="fade">
                                      <p:cBhvr>
                                        <p:cTn id="21" dur="500"/>
                                        <p:tgtEl>
                                          <p:spTgt spid="11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06"/>
                                        </p:tgtEl>
                                        <p:attrNameLst>
                                          <p:attrName>style.visibility</p:attrName>
                                        </p:attrNameLst>
                                      </p:cBhvr>
                                      <p:to>
                                        <p:strVal val="visible"/>
                                      </p:to>
                                    </p:set>
                                    <p:animEffect transition="in" filter="fade">
                                      <p:cBhvr>
                                        <p:cTn id="24" dur="500"/>
                                        <p:tgtEl>
                                          <p:spTgt spid="120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07"/>
                                        </p:tgtEl>
                                        <p:attrNameLst>
                                          <p:attrName>style.visibility</p:attrName>
                                        </p:attrNameLst>
                                      </p:cBhvr>
                                      <p:to>
                                        <p:strVal val="visible"/>
                                      </p:to>
                                    </p:set>
                                    <p:animEffect transition="in" filter="fade">
                                      <p:cBhvr>
                                        <p:cTn id="27" dur="500"/>
                                        <p:tgtEl>
                                          <p:spTgt spid="120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14"/>
                                        </p:tgtEl>
                                        <p:attrNameLst>
                                          <p:attrName>style.visibility</p:attrName>
                                        </p:attrNameLst>
                                      </p:cBhvr>
                                      <p:to>
                                        <p:strVal val="visible"/>
                                      </p:to>
                                    </p:set>
                                    <p:animEffect transition="in" filter="fade">
                                      <p:cBhvr>
                                        <p:cTn id="30" dur="500"/>
                                        <p:tgtEl>
                                          <p:spTgt spid="12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15"/>
                                        </p:tgtEl>
                                        <p:attrNameLst>
                                          <p:attrName>style.visibility</p:attrName>
                                        </p:attrNameLst>
                                      </p:cBhvr>
                                      <p:to>
                                        <p:strVal val="visible"/>
                                      </p:to>
                                    </p:set>
                                    <p:animEffect transition="in" filter="fade">
                                      <p:cBhvr>
                                        <p:cTn id="33" dur="500"/>
                                        <p:tgtEl>
                                          <p:spTgt spid="12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16"/>
                                        </p:tgtEl>
                                        <p:attrNameLst>
                                          <p:attrName>style.visibility</p:attrName>
                                        </p:attrNameLst>
                                      </p:cBhvr>
                                      <p:to>
                                        <p:strVal val="visible"/>
                                      </p:to>
                                    </p:set>
                                    <p:animEffect transition="in" filter="fade">
                                      <p:cBhvr>
                                        <p:cTn id="36" dur="500"/>
                                        <p:tgtEl>
                                          <p:spTgt spid="1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6" grpId="0"/>
      <p:bldP spid="1207" grpId="0"/>
      <p:bldP spid="1214" grpId="0"/>
      <p:bldP spid="1215" grpId="0"/>
      <p:bldP spid="1216" grpId="0"/>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pic>
        <p:nvPicPr>
          <p:cNvPr id="2" name="Signed sector gaps">
            <a:hlinkClick r:id="" action="ppaction://media"/>
            <a:extLst>
              <a:ext uri="{FF2B5EF4-FFF2-40B4-BE49-F238E27FC236}">
                <a16:creationId xmlns:a16="http://schemas.microsoft.com/office/drawing/2014/main" id="{CEFB5E77-0AC8-101F-AABE-05D31808A0C3}"/>
              </a:ext>
            </a:extLst>
          </p:cNvPr>
          <p:cNvPicPr>
            <a:picLocks noChangeAspect="1"/>
          </p:cNvPicPr>
          <p:nvPr>
            <a:videoFile r:link="rIdSectorStory35_5"/>
            <p:extLst>
              <p:ext uri="{DAA4B4D4-6D71-4841-9C94-3DE7FCFB9230}">
                <p14:media xmlns:p14="http://schemas.microsoft.com/office/powerpoint/2010/main" r:embed="rIdSectorStory35_6"/>
              </p:ext>
            </p:extLst>
          </p:nvPr>
        </p:nvPicPr>
        <p:blipFill>
          <a:blip r:embed="rIdSectorStory35_9"/>
          <a:stretch>
            <a:fillRect/>
          </a:stretch>
        </p:blipFill>
        <p:spPr>
          <a:xfrm>
            <a:off x="482601" y="1016001"/>
            <a:ext cx="3809843" cy="279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sector gives two signed gaps</a:t>
            </a:r>
            <a:endParaRPr sz="2500"/>
          </a:p>
        </p:txBody>
      </p:sp>
      <mc:AlternateContent xmlns:mc="http://schemas.openxmlformats.org/markup-compatibility/2006">
        <mc:Choice xmlns:a14="http://schemas.microsoft.com/office/drawing/2010/main" Requires="a14">
          <p:sp>
            <p:nvSpPr>
              <p:cNvPr id="1002"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a:p>
            </p:txBody>
          </p:sp>
        </mc:Choice>
        <mc:Fallback>
          <p:sp>
            <p:nvSpPr>
              <p:cNvPr id="1002"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Story35_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p:sp>
            <p:nvSpPr>
              <p:cNvPr id="1003"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Story35_3"/>
                <a:stretch>
                  <a:fillRect/>
                </a:stretch>
              </a:blipFill>
              <a:ln>
                <a:noFill/>
              </a:ln>
            </p:spPr>
            <p:txBody>
              <a:bodyPr/>
              <a:lstStyle/>
              <a:p>
                <a:r>
                  <a:rPr lang="en-NL">
                    <a:noFill/>
                  </a:rPr>
                  <a:t> </a:t>
                </a:r>
              </a:p>
            </p:txBody>
          </p:sp>
        </mc:Fallback>
      </mc:AlternateContent>
      <p:sp>
        <p:nvSpPr>
          <p:cNvPr id="1004"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005"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006"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mc:Choice xmlns:a14="http://schemas.microsoft.com/office/drawing/2010/main" Requires="a14">
          <p:sp>
            <p:nvSpPr>
              <p:cNvPr id="1007"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oMath>
                  </m:oMathPara>
                </a14:m>
                <a:endParaRPr sz="1300"/>
              </a:p>
            </p:txBody>
          </p:sp>
        </mc:Choice>
        <mc:Fallback>
          <p:sp>
            <p:nvSpPr>
              <p:cNvPr id="1007"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SectorStory35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8"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p:sp>
            <p:nvSpPr>
              <p:cNvPr id="1008"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Story35_13"/>
                <a:stretch>
                  <a:fillRect/>
                </a:stretch>
              </a:blipFill>
              <a:ln>
                <a:noFill/>
              </a:ln>
            </p:spPr>
            <p:txBody>
              <a:bodyPr/>
              <a:lstStyle/>
              <a:p>
                <a:r>
                  <a:rPr lang="en-NL">
                    <a:noFill/>
                  </a:rPr>
                  <a:t> </a:t>
                </a:r>
              </a:p>
            </p:txBody>
          </p:sp>
        </mc:Fallback>
      </mc:AlternateContent>
      <p:sp>
        <p:nvSpPr>
          <p:cNvPr id="1009" name="Graph description"/>
          <p:cNvSpPr/>
          <p:nvPr/>
        </p:nvSpPr>
        <p:spPr>
          <a:xfrm>
            <a:off x="514350" y="3810000"/>
            <a:ext cx="3746500" cy="22860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Shifted STN activation</a:t>
            </a:r>
            <a:endParaRPr sz="1200"/>
          </a:p>
        </p:txBody>
      </p:sp>
      <mc:AlternateContent xmlns:mc="http://schemas.openxmlformats.org/markup-compatibility/2006">
        <mc:Choice xmlns:a14="http://schemas.microsoft.com/office/drawing/2010/main" Requires="a14">
          <p:sp>
            <p:nvSpPr>
              <p:cNvPr id="1010" name="Upper gap"/>
              <p:cNvSpPr/>
              <p:nvPr/>
            </p:nvSpPr>
            <p:spPr>
              <a:xfrm>
                <a:off x="4540250" y="1267460"/>
                <a:ext cx="4127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16F9C"/>
                          </a:solidFill>
                          <a:latin typeface="Cambria Math"/>
                        </a:rPr>
                        <m:t>𝑎</m:t>
                      </m:r>
                      <m:r>
                        <a:rPr sz="2300">
                          <a:solidFill>
                            <a:srgbClr val="216F9C"/>
                          </a:solidFill>
                          <a:latin typeface="Cambria Math"/>
                        </a:rPr>
                        <m:t>=</m:t>
                      </m:r>
                      <m:r>
                        <a:rPr sz="2300">
                          <a:solidFill>
                            <a:srgbClr val="216F9C"/>
                          </a:solidFill>
                          <a:latin typeface="Cambria Math"/>
                        </a:rPr>
                        <m:t>𝛽</m:t>
                      </m:r>
                      <m:r>
                        <a:rPr sz="2300">
                          <a:solidFill>
                            <a:srgbClr val="216F9C"/>
                          </a:solidFill>
                          <a:latin typeface="Cambria Math"/>
                        </a:rPr>
                        <m:t>𝑧</m:t>
                      </m:r>
                      <m:r>
                        <a:rPr sz="2300">
                          <a:solidFill>
                            <a:srgbClr val="216F9C"/>
                          </a:solidFill>
                          <a:latin typeface="Cambria Math"/>
                        </a:rPr>
                        <m:t>−</m:t>
                      </m:r>
                      <m:r>
                        <a:rPr sz="2300">
                          <a:solidFill>
                            <a:srgbClr val="216F9C"/>
                          </a:solidFill>
                          <a:latin typeface="Cambria Math"/>
                        </a:rPr>
                        <m:t>𝑤</m:t>
                      </m:r>
                    </m:oMath>
                  </m:oMathPara>
                </a14:m>
                <a:endParaRPr sz="2300"/>
              </a:p>
            </p:txBody>
          </p:sp>
        </mc:Choice>
        <mc:Fallback>
          <p:sp>
            <p:nvSpPr>
              <p:cNvPr id="1010" name="Upper gap"/>
              <p:cNvSpPr>
                <a:spLocks noRot="1" noChangeAspect="1" noMove="1" noResize="1" noEditPoints="1" noAdjustHandles="1" noChangeArrowheads="1" noChangeShapeType="1" noTextEdit="1"/>
              </p:cNvSpPr>
              <p:nvPr/>
            </p:nvSpPr>
            <p:spPr>
              <a:xfrm>
                <a:off x="4540250" y="1267460"/>
                <a:ext cx="4127500" cy="817880"/>
              </a:xfrm>
              <a:prstGeom prst="rect">
                <a:avLst/>
              </a:prstGeom>
              <a:blipFill>
                <a:blip r:embed="rIdSectorStory35_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1" name="Lower gap"/>
              <p:cNvSpPr/>
              <p:nvPr/>
            </p:nvSpPr>
            <p:spPr>
              <a:xfrm>
                <a:off x="4540250" y="1864360"/>
                <a:ext cx="4127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147C60"/>
                          </a:solidFill>
                          <a:latin typeface="Cambria Math"/>
                        </a:rPr>
                        <m:t>𝑏</m:t>
                      </m:r>
                      <m:r>
                        <a:rPr sz="2300">
                          <a:solidFill>
                            <a:srgbClr val="147C60"/>
                          </a:solidFill>
                          <a:latin typeface="Cambria Math"/>
                        </a:rPr>
                        <m:t>=</m:t>
                      </m:r>
                      <m:r>
                        <a:rPr sz="2300">
                          <a:solidFill>
                            <a:srgbClr val="147C60"/>
                          </a:solidFill>
                          <a:latin typeface="Cambria Math"/>
                        </a:rPr>
                        <m:t>𝑤</m:t>
                      </m:r>
                      <m:r>
                        <a:rPr sz="2300">
                          <a:solidFill>
                            <a:srgbClr val="147C60"/>
                          </a:solidFill>
                          <a:latin typeface="Cambria Math"/>
                        </a:rPr>
                        <m:t>−</m:t>
                      </m:r>
                      <m:r>
                        <a:rPr sz="2300">
                          <a:solidFill>
                            <a:srgbClr val="147C60"/>
                          </a:solidFill>
                          <a:latin typeface="Cambria Math"/>
                        </a:rPr>
                        <m:t>𝛼</m:t>
                      </m:r>
                      <m:r>
                        <a:rPr sz="2300">
                          <a:solidFill>
                            <a:srgbClr val="147C60"/>
                          </a:solidFill>
                          <a:latin typeface="Cambria Math"/>
                        </a:rPr>
                        <m:t>𝑧</m:t>
                      </m:r>
                    </m:oMath>
                  </m:oMathPara>
                </a14:m>
                <a:endParaRPr sz="2300"/>
              </a:p>
            </p:txBody>
          </p:sp>
        </mc:Choice>
        <mc:Fallback>
          <p:sp>
            <p:nvSpPr>
              <p:cNvPr id="1011" name="Lower gap"/>
              <p:cNvSpPr>
                <a:spLocks noRot="1" noChangeAspect="1" noMove="1" noResize="1" noEditPoints="1" noAdjustHandles="1" noChangeArrowheads="1" noChangeShapeType="1" noTextEdit="1"/>
              </p:cNvSpPr>
              <p:nvPr/>
            </p:nvSpPr>
            <p:spPr>
              <a:xfrm>
                <a:off x="4540250" y="1864360"/>
                <a:ext cx="4127500" cy="817880"/>
              </a:xfrm>
              <a:prstGeom prst="rect">
                <a:avLst/>
              </a:prstGeom>
              <a:blipFill>
                <a:blip r:embed="rIdSectorStory35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2" name="Positive input"/>
              <p:cNvSpPr/>
              <p:nvPr/>
            </p:nvSpPr>
            <p:spPr>
              <a:xfrm>
                <a:off x="4540250" y="2628900"/>
                <a:ext cx="4127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𝑧</m:t>
                      </m:r>
                      <m:r>
                        <a:rPr sz="2000">
                          <a:solidFill>
                            <a:srgbClr val="252529"/>
                          </a:solidFill>
                          <a:latin typeface="Cambria Math"/>
                        </a:rPr>
                        <m:t>&gt;0:  </m:t>
                      </m:r>
                      <m:r>
                        <a:rPr sz="2000">
                          <a:solidFill>
                            <a:srgbClr val="252529"/>
                          </a:solidFill>
                          <a:latin typeface="Cambria Math"/>
                        </a:rPr>
                        <m:t>𝑎</m:t>
                      </m:r>
                      <m:r>
                        <a:rPr sz="2000">
                          <a:solidFill>
                            <a:srgbClr val="252529"/>
                          </a:solidFill>
                          <a:latin typeface="Cambria Math"/>
                        </a:rPr>
                        <m:t>&gt;0, </m:t>
                      </m:r>
                      <m:r>
                        <a:rPr sz="2000">
                          <a:solidFill>
                            <a:srgbClr val="252529"/>
                          </a:solidFill>
                          <a:latin typeface="Cambria Math"/>
                        </a:rPr>
                        <m:t>𝑏</m:t>
                      </m:r>
                      <m:r>
                        <a:rPr sz="2000">
                          <a:solidFill>
                            <a:srgbClr val="252529"/>
                          </a:solidFill>
                          <a:latin typeface="Cambria Math"/>
                        </a:rPr>
                        <m:t>&gt;0</m:t>
                      </m:r>
                    </m:oMath>
                  </m:oMathPara>
                </a14:m>
                <a:endParaRPr sz="2000"/>
              </a:p>
            </p:txBody>
          </p:sp>
        </mc:Choice>
        <mc:Fallback>
          <p:sp>
            <p:nvSpPr>
              <p:cNvPr id="1012" name="Positive input"/>
              <p:cNvSpPr>
                <a:spLocks noRot="1" noChangeAspect="1" noMove="1" noResize="1" noEditPoints="1" noAdjustHandles="1" noChangeArrowheads="1" noChangeShapeType="1" noTextEdit="1"/>
              </p:cNvSpPr>
              <p:nvPr/>
            </p:nvSpPr>
            <p:spPr>
              <a:xfrm>
                <a:off x="4540250" y="2628900"/>
                <a:ext cx="4127500" cy="711200"/>
              </a:xfrm>
              <a:prstGeom prst="rect">
                <a:avLst/>
              </a:prstGeom>
              <a:blipFill>
                <a:blip r:embed="rIdSectorStory35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3" name="Negative input"/>
              <p:cNvSpPr/>
              <p:nvPr/>
            </p:nvSpPr>
            <p:spPr>
              <a:xfrm>
                <a:off x="4540250" y="2628900"/>
                <a:ext cx="4127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𝑧</m:t>
                      </m:r>
                      <m:r>
                        <a:rPr sz="2000">
                          <a:solidFill>
                            <a:srgbClr val="252529"/>
                          </a:solidFill>
                          <a:latin typeface="Cambria Math"/>
                        </a:rPr>
                        <m:t>&lt;0:  </m:t>
                      </m:r>
                      <m:r>
                        <a:rPr sz="2000">
                          <a:solidFill>
                            <a:srgbClr val="252529"/>
                          </a:solidFill>
                          <a:latin typeface="Cambria Math"/>
                        </a:rPr>
                        <m:t>𝑎</m:t>
                      </m:r>
                      <m:r>
                        <a:rPr sz="2000">
                          <a:solidFill>
                            <a:srgbClr val="252529"/>
                          </a:solidFill>
                          <a:latin typeface="Cambria Math"/>
                        </a:rPr>
                        <m:t>&lt;0, </m:t>
                      </m:r>
                      <m:r>
                        <a:rPr sz="2000">
                          <a:solidFill>
                            <a:srgbClr val="252529"/>
                          </a:solidFill>
                          <a:latin typeface="Cambria Math"/>
                        </a:rPr>
                        <m:t>𝑏</m:t>
                      </m:r>
                      <m:r>
                        <a:rPr sz="2000">
                          <a:solidFill>
                            <a:srgbClr val="252529"/>
                          </a:solidFill>
                          <a:latin typeface="Cambria Math"/>
                        </a:rPr>
                        <m:t>&lt;0</m:t>
                      </m:r>
                    </m:oMath>
                  </m:oMathPara>
                </a14:m>
                <a:endParaRPr sz="2000"/>
              </a:p>
            </p:txBody>
          </p:sp>
        </mc:Choice>
        <mc:Fallback>
          <p:sp>
            <p:nvSpPr>
              <p:cNvPr id="1013" name="Negative input"/>
              <p:cNvSpPr>
                <a:spLocks noRot="1" noChangeAspect="1" noMove="1" noResize="1" noEditPoints="1" noAdjustHandles="1" noChangeArrowheads="1" noChangeShapeType="1" noTextEdit="1"/>
              </p:cNvSpPr>
              <p:nvPr/>
            </p:nvSpPr>
            <p:spPr>
              <a:xfrm>
                <a:off x="4540250" y="2628900"/>
                <a:ext cx="4127500" cy="711200"/>
              </a:xfrm>
              <a:prstGeom prst="rect">
                <a:avLst/>
              </a:prstGeom>
              <a:blipFill>
                <a:blip r:embed="rIdSectorStory35_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4" name="Gap product"/>
              <p:cNvSpPr/>
              <p:nvPr/>
            </p:nvSpPr>
            <p:spPr>
              <a:xfrm>
                <a:off x="4699000" y="3070860"/>
                <a:ext cx="3810000" cy="995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800">
                          <a:solidFill>
                            <a:srgbClr val="147C60"/>
                          </a:solidFill>
                          <a:latin typeface="Cambria Math"/>
                        </a:rPr>
                        <m:t>𝑎𝑏</m:t>
                      </m:r>
                      <m:r>
                        <a:rPr sz="2800">
                          <a:solidFill>
                            <a:srgbClr val="147C60"/>
                          </a:solidFill>
                          <a:latin typeface="Cambria Math"/>
                        </a:rPr>
                        <m:t>≥0</m:t>
                      </m:r>
                    </m:oMath>
                  </m:oMathPara>
                </a14:m>
                <a:endParaRPr sz="2800"/>
              </a:p>
            </p:txBody>
          </p:sp>
        </mc:Choice>
        <mc:Fallback>
          <p:sp>
            <p:nvSpPr>
              <p:cNvPr id="1014" name="Gap product"/>
              <p:cNvSpPr>
                <a:spLocks noRot="1" noChangeAspect="1" noMove="1" noResize="1" noEditPoints="1" noAdjustHandles="1" noChangeArrowheads="1" noChangeShapeType="1" noTextEdit="1"/>
              </p:cNvSpPr>
              <p:nvPr/>
            </p:nvSpPr>
            <p:spPr>
              <a:xfrm>
                <a:off x="4699000" y="3070860"/>
                <a:ext cx="3810000" cy="995680"/>
              </a:xfrm>
              <a:prstGeom prst="rect">
                <a:avLst/>
              </a:prstGeom>
              <a:blipFill>
                <a:blip r:embed="rIdSectorStory35_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5" name="Gap filter"/>
              <p:cNvSpPr/>
              <p:nvPr/>
            </p:nvSpPr>
            <p:spPr>
              <a:xfrm>
                <a:off x="444500" y="39192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100" i="1">
                              <a:solidFill>
                                <a:srgbClr val="252529"/>
                              </a:solidFill>
                              <a:latin typeface="Cambria Math" panose="02040503050406030204" pitchFamily="18" charset="0"/>
                            </a:rPr>
                          </m:ctrlPr>
                        </m:dPr>
                        <m:e>
                          <m:m>
                            <m:mPr>
                              <m:mcs>
                                <m:mc>
                                  <m:mcPr>
                                    <m:count m:val="1"/>
                                    <m:mcJc m:val="center"/>
                                  </m:mcPr>
                                </m:mc>
                              </m:mcs>
                              <m:ctrlPr>
                                <a:rPr sz="2100" i="1">
                                  <a:solidFill>
                                    <a:srgbClr val="252529"/>
                                  </a:solidFill>
                                  <a:latin typeface="Cambria Math" panose="02040503050406030204" pitchFamily="18" charset="0"/>
                                </a:rPr>
                              </m:ctrlPr>
                            </m:mPr>
                            <m:mr>
                              <m:e>
                                <m:r>
                                  <a:rPr sz="2100">
                                    <a:solidFill>
                                      <a:srgbClr val="216F9C"/>
                                    </a:solidFill>
                                    <a:latin typeface="Cambria Math"/>
                                  </a:rPr>
                                  <m:t>𝑎</m:t>
                                </m:r>
                              </m:e>
                            </m:mr>
                            <m:mr>
                              <m:e>
                                <m:r>
                                  <a:rPr sz="2100">
                                    <a:solidFill>
                                      <a:srgbClr val="147C60"/>
                                    </a:solidFill>
                                    <a:latin typeface="Cambria Math"/>
                                  </a:rPr>
                                  <m:t>𝑏</m:t>
                                </m:r>
                              </m:e>
                            </m:mr>
                          </m:m>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𝛽</m:t>
                                </m:r>
                              </m:e>
                              <m:e>
                                <m:r>
                                  <a:rPr sz="2100">
                                    <a:solidFill>
                                      <a:srgbClr val="252529"/>
                                    </a:solidFill>
                                    <a:latin typeface="Cambria Math"/>
                                  </a:rPr>
                                  <m:t>−1</m:t>
                                </m:r>
                              </m:e>
                            </m:mr>
                            <m:mr>
                              <m:e>
                                <m:r>
                                  <a:rPr sz="2100">
                                    <a:solidFill>
                                      <a:srgbClr val="252529"/>
                                    </a:solidFill>
                                    <a:latin typeface="Cambria Math"/>
                                  </a:rPr>
                                  <m:t>−</m:t>
                                </m:r>
                                <m:r>
                                  <a:rPr sz="2100">
                                    <a:solidFill>
                                      <a:srgbClr val="252529"/>
                                    </a:solidFill>
                                    <a:latin typeface="Cambria Math"/>
                                  </a:rPr>
                                  <m:t>𝛼</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1"/>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𝑧</m:t>
                                </m:r>
                              </m:e>
                            </m:mr>
                            <m:mr>
                              <m:e>
                                <m:r>
                                  <a:rPr sz="2100">
                                    <a:solidFill>
                                      <a:srgbClr val="252529"/>
                                    </a:solidFill>
                                    <a:latin typeface="Cambria Math"/>
                                  </a:rPr>
                                  <m:t>𝑤</m:t>
                                </m:r>
                              </m:e>
                            </m:mr>
                          </m:m>
                        </m:e>
                      </m:d>
                    </m:oMath>
                  </m:oMathPara>
                </a14:m>
                <a:endParaRPr sz="2100"/>
              </a:p>
            </p:txBody>
          </p:sp>
        </mc:Choice>
        <mc:Fallback>
          <p:sp>
            <p:nvSpPr>
              <p:cNvPr id="1015" name="Gap filter"/>
              <p:cNvSpPr>
                <a:spLocks noRot="1" noChangeAspect="1" noMove="1" noResize="1" noEditPoints="1" noAdjustHandles="1" noChangeArrowheads="1" noChangeShapeType="1" noTextEdit="1"/>
              </p:cNvSpPr>
              <p:nvPr/>
            </p:nvSpPr>
            <p:spPr>
              <a:xfrm>
                <a:off x="444500" y="3919220"/>
                <a:ext cx="8255000" cy="746760"/>
              </a:xfrm>
              <a:prstGeom prst="rect">
                <a:avLst/>
              </a:prstGeom>
              <a:blipFill>
                <a:blip r:embed="rIdSectorStory35_10"/>
                <a:stretch>
                  <a:fillRect/>
                </a:stretch>
              </a:blipFill>
              <a:ln>
                <a:noFill/>
              </a:ln>
            </p:spPr>
            <p:txBody>
              <a:bodyPr/>
              <a:lstStyle/>
              <a:p>
                <a:r>
                  <a:rPr lang="en-NL">
                    <a:noFill/>
                  </a:rPr>
                  <a:t> </a:t>
                </a:r>
              </a:p>
            </p:txBody>
          </p:sp>
        </mc:Fallback>
      </mc:AlternateContent>
      <p:sp>
        <p:nvSpPr>
          <p:cNvPr id="1016" name="Zero gaps"/>
          <p:cNvSpPr/>
          <p:nvPr/>
        </p:nvSpPr>
        <p:spPr>
          <a:xfrm>
            <a:off x="444500" y="4606925"/>
            <a:ext cx="8255000" cy="209550"/>
          </a:xfrm>
          <a:prstGeom prst="rect">
            <a:avLst/>
          </a:prstGeom>
          <a:noFill/>
          <a:ln>
            <a:noFill/>
          </a:ln>
        </p:spPr>
        <p:txBody>
          <a:bodyPr wrap="none" lIns="0" tIns="0" rIns="0" bIns="0" anchor="ctr">
            <a:noAutofit/>
          </a:bodyPr>
          <a:lstStyle/>
          <a:p>
            <a:pPr algn="ctr">
              <a:buNone/>
            </a:pPr>
            <a:r>
              <a:rPr lang="en-GB" sz="1100" b="0" i="0" u="none" baseline="0">
                <a:solidFill>
                  <a:srgbClr val="747B82"/>
                </a:solidFill>
                <a:latin typeface="Aptos"/>
                <a:ea typeface="Aptos"/>
                <a:cs typeface="Aptos"/>
              </a:rPr>
              <a:t>Gaps can be zero at the origin or on a sector boundary.</a:t>
            </a:r>
            <a:endParaRPr sz="1100"/>
          </a:p>
        </p:txBody>
      </p:sp>
      <p:sp>
        <p:nvSpPr>
          <p:cNvPr id="101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000" fill="hold"/>
                                        <p:tgtEl>
                                          <p:spTgt spid="2"/>
                                        </p:tgtEl>
                                      </p:cBhvr>
                                    </p:cmd>
                                  </p:childTnLst>
                                </p:cTn>
                              </p:par>
                              <p:par>
                                <p:cTn id="7" presetID="10" presetClass="entr" presetSubtype="0" fill="hold" grpId="0" nodeType="withEffect">
                                  <p:stCondLst>
                                    <p:cond delay="150"/>
                                  </p:stCondLst>
                                  <p:childTnLst>
                                    <p:set>
                                      <p:cBhvr>
                                        <p:cTn id="8" dur="1" fill="hold">
                                          <p:stCondLst>
                                            <p:cond delay="0"/>
                                          </p:stCondLst>
                                        </p:cTn>
                                        <p:tgtEl>
                                          <p:spTgt spid="1012"/>
                                        </p:tgtEl>
                                        <p:attrNameLst>
                                          <p:attrName>style.visibility</p:attrName>
                                        </p:attrNameLst>
                                      </p:cBhvr>
                                      <p:to>
                                        <p:strVal val="visible"/>
                                      </p:to>
                                    </p:set>
                                    <p:animEffect transition="in" filter="fade">
                                      <p:cBhvr>
                                        <p:cTn id="9" dur="200"/>
                                        <p:tgtEl>
                                          <p:spTgt spid="1012"/>
                                        </p:tgtEl>
                                      </p:cBhvr>
                                    </p:animEffect>
                                  </p:childTnLst>
                                </p:cTn>
                              </p:par>
                              <p:par>
                                <p:cTn id="10" presetID="10" presetClass="exit" presetSubtype="0" fill="hold" grpId="1" nodeType="withEffect">
                                  <p:stCondLst>
                                    <p:cond delay="5850"/>
                                  </p:stCondLst>
                                  <p:childTnLst>
                                    <p:animEffect transition="out" filter="fade">
                                      <p:cBhvr>
                                        <p:cTn id="11" dur="150"/>
                                        <p:tgtEl>
                                          <p:spTgt spid="1012"/>
                                        </p:tgtEl>
                                      </p:cBhvr>
                                    </p:animEffect>
                                    <p:set>
                                      <p:cBhvr>
                                        <p:cTn id="12" dur="1" fill="hold">
                                          <p:stCondLst>
                                            <p:cond delay="149"/>
                                          </p:stCondLst>
                                        </p:cTn>
                                        <p:tgtEl>
                                          <p:spTgt spid="1012"/>
                                        </p:tgtEl>
                                        <p:attrNameLst>
                                          <p:attrName>style.visibility</p:attrName>
                                        </p:attrNameLst>
                                      </p:cBhvr>
                                      <p:to>
                                        <p:strVal val="hidden"/>
                                      </p:to>
                                    </p:set>
                                  </p:childTnLst>
                                </p:cTn>
                              </p:par>
                              <p:par>
                                <p:cTn id="13" presetID="10" presetClass="entr" presetSubtype="0" fill="hold" grpId="0" nodeType="withEffect">
                                  <p:stCondLst>
                                    <p:cond delay="6150"/>
                                  </p:stCondLst>
                                  <p:childTnLst>
                                    <p:set>
                                      <p:cBhvr>
                                        <p:cTn id="14" dur="1" fill="hold">
                                          <p:stCondLst>
                                            <p:cond delay="0"/>
                                          </p:stCondLst>
                                        </p:cTn>
                                        <p:tgtEl>
                                          <p:spTgt spid="1013"/>
                                        </p:tgtEl>
                                        <p:attrNameLst>
                                          <p:attrName>style.visibility</p:attrName>
                                        </p:attrNameLst>
                                      </p:cBhvr>
                                      <p:to>
                                        <p:strVal val="visible"/>
                                      </p:to>
                                    </p:set>
                                    <p:animEffect transition="in" filter="fade">
                                      <p:cBhvr>
                                        <p:cTn id="15" dur="200"/>
                                        <p:tgtEl>
                                          <p:spTgt spid="1013"/>
                                        </p:tgtEl>
                                      </p:cBhvr>
                                    </p:animEffect>
                                  </p:childTnLst>
                                </p:cTn>
                              </p:par>
                              <p:par>
                                <p:cTn id="16" presetID="10" presetClass="exit" presetSubtype="0" fill="hold" grpId="1" nodeType="withEffect">
                                  <p:stCondLst>
                                    <p:cond delay="11800"/>
                                  </p:stCondLst>
                                  <p:childTnLst>
                                    <p:animEffect transition="out" filter="fade">
                                      <p:cBhvr>
                                        <p:cTn id="17" dur="200"/>
                                        <p:tgtEl>
                                          <p:spTgt spid="1013"/>
                                        </p:tgtEl>
                                      </p:cBhvr>
                                    </p:animEffect>
                                    <p:set>
                                      <p:cBhvr>
                                        <p:cTn id="18" dur="1" fill="hold">
                                          <p:stCondLst>
                                            <p:cond delay="199"/>
                                          </p:stCondLst>
                                        </p:cTn>
                                        <p:tgtEl>
                                          <p:spTgt spid="10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2"/>
                </p:tgtEl>
              </p:cMediaNode>
            </p:video>
          </p:childTnLst>
        </p:cTn>
      </p:par>
    </p:tnLst>
    <p:bldLst>
      <p:bldP spid="1012" grpId="0"/>
      <p:bldP spid="1012" grpId="1"/>
      <p:bldP spid="1013" grpId="0"/>
      <p:bldP spid="1013" grpId="1"/>
    </p:bldLst>
  </p:timing>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gaps into a dissipative description</a:t>
            </a:r>
            <a:endParaRPr sz="2500"/>
          </a:p>
        </p:txBody>
      </p:sp>
      <mc:AlternateContent xmlns:mc="http://schemas.openxmlformats.org/markup-compatibility/2006">
        <mc:Choice xmlns:a14="http://schemas.microsoft.com/office/drawing/2010/main" Requires="a14">
          <p:sp>
            <p:nvSpPr>
              <p:cNvPr id="1002" name="Gap transformation"/>
              <p:cNvSpPr/>
              <p:nvPr/>
            </p:nvSpPr>
            <p:spPr>
              <a:xfrm>
                <a:off x="444500" y="1018540"/>
                <a:ext cx="8255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700" i="1">
                              <a:solidFill>
                                <a:srgbClr val="252529"/>
                              </a:solidFill>
                              <a:latin typeface="Cambria Math" panose="02040503050406030204" pitchFamily="18" charset="0"/>
                            </a:rPr>
                          </m:ctrlPr>
                        </m:dPr>
                        <m:e>
                          <m:m>
                            <m:mPr>
                              <m:mcs>
                                <m:mc>
                                  <m:mcPr>
                                    <m:count m:val="1"/>
                                    <m:mcJc m:val="center"/>
                                  </m:mcPr>
                                </m:mc>
                              </m:mcs>
                              <m:ctrlPr>
                                <a:rPr sz="2700" i="1">
                                  <a:solidFill>
                                    <a:srgbClr val="252529"/>
                                  </a:solidFill>
                                  <a:latin typeface="Cambria Math" panose="02040503050406030204" pitchFamily="18" charset="0"/>
                                </a:rPr>
                              </m:ctrlPr>
                            </m:mPr>
                            <m:mr>
                              <m:e>
                                <m:acc>
                                  <m:accPr>
                                    <m:chr m:val="̃"/>
                                    <m:ctrlPr>
                                      <a:rPr sz="2700">
                                        <a:solidFill>
                                          <a:srgbClr val="252529"/>
                                        </a:solidFill>
                                        <a:latin typeface="Cambria Math"/>
                                      </a:rPr>
                                    </m:ctrlPr>
                                  </m:accPr>
                                  <m:e>
                                    <m:r>
                                      <a:rPr sz="2700">
                                        <a:solidFill>
                                          <a:srgbClr val="252529"/>
                                        </a:solidFill>
                                        <a:latin typeface="Cambria Math"/>
                                      </a:rPr>
                                      <m:t>𝑧</m:t>
                                    </m:r>
                                  </m:e>
                                </m:acc>
                              </m:e>
                            </m:mr>
                            <m:mr>
                              <m:e>
                                <m:acc>
                                  <m:accPr>
                                    <m:chr m:val="̃"/>
                                    <m:ctrlPr>
                                      <a:rPr sz="2700">
                                        <a:solidFill>
                                          <a:srgbClr val="252529"/>
                                        </a:solidFill>
                                        <a:latin typeface="Cambria Math"/>
                                      </a:rPr>
                                    </m:ctrlPr>
                                  </m:accPr>
                                  <m:e>
                                    <m:r>
                                      <a:rPr sz="2700">
                                        <a:solidFill>
                                          <a:srgbClr val="252529"/>
                                        </a:solidFill>
                                        <a:latin typeface="Cambria Math"/>
                                      </a:rPr>
                                      <m:t>𝑤</m:t>
                                    </m:r>
                                  </m:e>
                                </m:acc>
                              </m:e>
                            </m:mr>
                          </m:m>
                        </m:e>
                      </m:d>
                      <m:r>
                        <a:rPr sz="2700">
                          <a:solidFill>
                            <a:srgbClr val="252529"/>
                          </a:solidFill>
                          <a:latin typeface="Cambria Math"/>
                        </a:rPr>
                        <m:t>=</m:t>
                      </m:r>
                      <m:d>
                        <m:dPr>
                          <m:begChr m:val="["/>
                          <m:endChr m:val="]"/>
                          <m:ctrlPr>
                            <a:rPr sz="2700" i="1">
                              <a:solidFill>
                                <a:srgbClr val="252529"/>
                              </a:solidFill>
                              <a:latin typeface="Cambria Math" panose="02040503050406030204" pitchFamily="18" charset="0"/>
                            </a:rPr>
                          </m:ctrlPr>
                        </m:dPr>
                        <m:e>
                          <m:m>
                            <m:mPr>
                              <m:mcs>
                                <m:mc>
                                  <m:mcPr>
                                    <m:count m:val="2"/>
                                    <m:mcJc m:val="center"/>
                                  </m:mcPr>
                                </m:mc>
                              </m:mcs>
                              <m:ctrlPr>
                                <a:rPr sz="2700" i="1">
                                  <a:solidFill>
                                    <a:srgbClr val="252529"/>
                                  </a:solidFill>
                                  <a:latin typeface="Cambria Math" panose="02040503050406030204" pitchFamily="18" charset="0"/>
                                </a:rPr>
                              </m:ctrlPr>
                            </m:mPr>
                            <m:mr>
                              <m:e>
                                <m:r>
                                  <a:rPr sz="2700">
                                    <a:solidFill>
                                      <a:srgbClr val="252529"/>
                                    </a:solidFill>
                                    <a:latin typeface="Cambria Math"/>
                                  </a:rPr>
                                  <m:t>𝑣</m:t>
                                </m:r>
                              </m:e>
                              <m:e>
                                <m:r>
                                  <a:rPr sz="2700">
                                    <a:solidFill>
                                      <a:srgbClr val="252529"/>
                                    </a:solidFill>
                                    <a:latin typeface="Cambria Math"/>
                                  </a:rPr>
                                  <m:t>1</m:t>
                                </m:r>
                              </m:e>
                            </m:mr>
                            <m:mr>
                              <m:e>
                                <m:r>
                                  <a:rPr sz="2700">
                                    <a:solidFill>
                                      <a:srgbClr val="252529"/>
                                    </a:solidFill>
                                    <a:latin typeface="Cambria Math"/>
                                  </a:rPr>
                                  <m:t>𝑣</m:t>
                                </m:r>
                              </m:e>
                              <m:e>
                                <m:r>
                                  <a:rPr sz="2700">
                                    <a:solidFill>
                                      <a:srgbClr val="252529"/>
                                    </a:solidFill>
                                    <a:latin typeface="Cambria Math"/>
                                  </a:rPr>
                                  <m:t>−1</m:t>
                                </m:r>
                              </m:e>
                            </m:mr>
                          </m:m>
                        </m:e>
                      </m:d>
                      <m:d>
                        <m:dPr>
                          <m:begChr m:val="["/>
                          <m:endChr m:val="]"/>
                          <m:ctrlPr>
                            <a:rPr sz="2700" i="1">
                              <a:solidFill>
                                <a:srgbClr val="252529"/>
                              </a:solidFill>
                              <a:latin typeface="Cambria Math" panose="02040503050406030204" pitchFamily="18" charset="0"/>
                            </a:rPr>
                          </m:ctrlPr>
                        </m:dPr>
                        <m:e>
                          <m:m>
                            <m:mPr>
                              <m:mcs>
                                <m:mc>
                                  <m:mcPr>
                                    <m:count m:val="1"/>
                                    <m:mcJc m:val="center"/>
                                  </m:mcPr>
                                </m:mc>
                              </m:mcs>
                              <m:ctrlPr>
                                <a:rPr sz="2700" i="1">
                                  <a:solidFill>
                                    <a:srgbClr val="252529"/>
                                  </a:solidFill>
                                  <a:latin typeface="Cambria Math" panose="02040503050406030204" pitchFamily="18" charset="0"/>
                                </a:rPr>
                              </m:ctrlPr>
                            </m:mPr>
                            <m:mr>
                              <m:e>
                                <m:r>
                                  <a:rPr sz="2700">
                                    <a:solidFill>
                                      <a:srgbClr val="216F9C"/>
                                    </a:solidFill>
                                    <a:latin typeface="Cambria Math"/>
                                  </a:rPr>
                                  <m:t>𝑎</m:t>
                                </m:r>
                              </m:e>
                            </m:mr>
                            <m:mr>
                              <m:e>
                                <m:r>
                                  <a:rPr sz="2700">
                                    <a:solidFill>
                                      <a:srgbClr val="147C60"/>
                                    </a:solidFill>
                                    <a:latin typeface="Cambria Math"/>
                                  </a:rPr>
                                  <m:t>𝑏</m:t>
                                </m:r>
                              </m:e>
                            </m:mr>
                          </m:m>
                        </m:e>
                      </m:d>
                      <m:r>
                        <a:rPr sz="2700">
                          <a:solidFill>
                            <a:srgbClr val="252529"/>
                          </a:solidFill>
                          <a:latin typeface="Cambria Math"/>
                        </a:rPr>
                        <m:t>,  </m:t>
                      </m:r>
                      <m:r>
                        <a:rPr sz="2700">
                          <a:solidFill>
                            <a:srgbClr val="252529"/>
                          </a:solidFill>
                          <a:latin typeface="Cambria Math"/>
                        </a:rPr>
                        <m:t>𝑣</m:t>
                      </m:r>
                      <m:r>
                        <a:rPr sz="2700">
                          <a:solidFill>
                            <a:srgbClr val="252529"/>
                          </a:solidFill>
                          <a:latin typeface="Cambria Math"/>
                        </a:rPr>
                        <m:t>&gt;0</m:t>
                      </m:r>
                    </m:oMath>
                  </m:oMathPara>
                </a14:m>
                <a:endParaRPr sz="2700"/>
              </a:p>
            </p:txBody>
          </p:sp>
        </mc:Choice>
        <mc:Fallback>
          <p:sp>
            <p:nvSpPr>
              <p:cNvPr id="1002" name="Gap transformation"/>
              <p:cNvSpPr>
                <a:spLocks noRot="1" noChangeAspect="1" noMove="1" noResize="1" noEditPoints="1" noAdjustHandles="1" noChangeArrowheads="1" noChangeShapeType="1" noTextEdit="1"/>
              </p:cNvSpPr>
              <p:nvPr/>
            </p:nvSpPr>
            <p:spPr>
              <a:xfrm>
                <a:off x="444500" y="1018540"/>
                <a:ext cx="8255000" cy="960120"/>
              </a:xfrm>
              <a:prstGeom prst="rect">
                <a:avLst/>
              </a:prstGeom>
              <a:blipFill>
                <a:blip r:embed="rIdSectorStory36_0"/>
                <a:stretch>
                  <a:fillRect/>
                </a:stretch>
              </a:blipFill>
              <a:ln>
                <a:noFill/>
              </a:ln>
            </p:spPr>
            <p:txBody>
              <a:bodyPr/>
              <a:lstStyle/>
              <a:p>
                <a:r>
                  <a:rPr lang="en-NL">
                    <a:noFill/>
                  </a:rPr>
                  <a:t> </a:t>
                </a:r>
              </a:p>
            </p:txBody>
          </p:sp>
        </mc:Fallback>
      </mc:AlternateContent>
      <p:sp>
        <p:nvSpPr>
          <p:cNvPr id="1003" name="Sum versus difference"/>
          <p:cNvSpPr/>
          <p:nvPr/>
        </p:nvSpPr>
        <p:spPr>
          <a:xfrm>
            <a:off x="412750" y="2212975"/>
            <a:ext cx="83185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Same-sign gaps: the weighted sum has the larger magnitude.</a:t>
            </a:r>
            <a:endParaRPr sz="1700"/>
          </a:p>
        </p:txBody>
      </p:sp>
      <mc:AlternateContent xmlns:mc="http://schemas.openxmlformats.org/markup-compatibility/2006">
        <mc:Choice xmlns:a14="http://schemas.microsoft.com/office/drawing/2010/main" Requires="a14">
          <p:sp>
            <p:nvSpPr>
              <p:cNvPr id="1004" name="Supply identity"/>
              <p:cNvSpPr/>
              <p:nvPr/>
            </p:nvSpPr>
            <p:spPr>
              <a:xfrm>
                <a:off x="254000" y="2700020"/>
                <a:ext cx="863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𝑣𝑎𝑏</m:t>
                      </m:r>
                      <m:r>
                        <a:rPr sz="2100">
                          <a:solidFill>
                            <a:srgbClr val="147C60"/>
                          </a:solidFill>
                          <a:latin typeface="Cambria Math"/>
                        </a:rPr>
                        <m:t>≥0</m:t>
                      </m:r>
                    </m:oMath>
                  </m:oMathPara>
                </a14:m>
                <a:endParaRPr sz="2100"/>
              </a:p>
            </p:txBody>
          </p:sp>
        </mc:Choice>
        <mc:Fallback>
          <p:sp>
            <p:nvSpPr>
              <p:cNvPr id="1004" name="Supply identity"/>
              <p:cNvSpPr>
                <a:spLocks noRot="1" noChangeAspect="1" noMove="1" noResize="1" noEditPoints="1" noAdjustHandles="1" noChangeArrowheads="1" noChangeShapeType="1" noTextEdit="1"/>
              </p:cNvSpPr>
              <p:nvPr/>
            </p:nvSpPr>
            <p:spPr>
              <a:xfrm>
                <a:off x="254000" y="2700020"/>
                <a:ext cx="8636000" cy="746760"/>
              </a:xfrm>
              <a:prstGeom prst="rect">
                <a:avLst/>
              </a:prstGeom>
              <a:blipFill>
                <a:blip r:embed="rIdSectorStory36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5" name="Delta dissipativity"/>
              <p:cNvSpPr/>
              <p:nvPr/>
            </p:nvSpPr>
            <p:spPr>
              <a:xfrm>
                <a:off x="381000" y="3583940"/>
                <a:ext cx="8382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200">
                              <a:solidFill>
                                <a:srgbClr val="252529"/>
                              </a:solidFill>
                              <a:latin typeface="Cambria Math"/>
                            </a:rPr>
                          </m:ctrlPr>
                        </m:sSubPr>
                        <m:e>
                          <m:r>
                            <a:rPr sz="2200">
                              <a:solidFill>
                                <a:srgbClr val="252529"/>
                              </a:solidFill>
                              <a:latin typeface="Cambria Math"/>
                            </a:rPr>
                            <m:t>𝑆</m:t>
                          </m:r>
                        </m:e>
                        <m:sub>
                          <m:r>
                            <a:rPr sz="2200">
                              <a:solidFill>
                                <a:srgbClr val="252529"/>
                              </a:solidFill>
                              <a:latin typeface="Cambria Math"/>
                            </a:rPr>
                            <m:t>𝛥</m:t>
                          </m:r>
                        </m:sub>
                      </m:sSub>
                      <m:r>
                        <a:rPr sz="2200">
                          <a:solidFill>
                            <a:srgbClr val="252529"/>
                          </a:solidFill>
                          <a:latin typeface="Cambria Math"/>
                        </a:rPr>
                        <m:t>≡0:   0≤</m:t>
                      </m:r>
                      <m:nary>
                        <m:naryPr>
                          <m:limLoc m:val="subSup"/>
                          <m:ctrlPr>
                            <a:rPr sz="2200">
                              <a:solidFill>
                                <a:srgbClr val="252529"/>
                              </a:solidFill>
                              <a:latin typeface="Cambria Math"/>
                            </a:rPr>
                          </m:ctrlPr>
                        </m:naryPr>
                        <m:sub>
                          <m:r>
                            <a:rPr sz="2200">
                              <a:solidFill>
                                <a:srgbClr val="252529"/>
                              </a:solidFill>
                              <a:latin typeface="Cambria Math"/>
                            </a:rPr>
                            <m:t>0</m:t>
                          </m:r>
                        </m:sub>
                        <m:sup>
                          <m:r>
                            <a:rPr sz="2200">
                              <a:solidFill>
                                <a:srgbClr val="252529"/>
                              </a:solidFill>
                              <a:latin typeface="Cambria Math"/>
                            </a:rPr>
                            <m:t>𝑇</m:t>
                          </m:r>
                        </m:sup>
                        <m:e>
                          <m:r>
                            <a:rPr sz="2200">
                              <a:solidFill>
                                <a:srgbClr val="252529"/>
                              </a:solidFill>
                              <a:latin typeface="Cambria Math"/>
                            </a:rPr>
                            <m:t>𝜎</m:t>
                          </m:r>
                          <m:d>
                            <m:dPr>
                              <m:ctrlPr>
                                <a:rPr sz="2200">
                                  <a:solidFill>
                                    <a:srgbClr val="252529"/>
                                  </a:solidFill>
                                  <a:latin typeface="Cambria Math"/>
                                </a:rPr>
                              </m:ctrlPr>
                            </m:dPr>
                            <m:e>
                              <m:r>
                                <a:rPr sz="2200">
                                  <a:solidFill>
                                    <a:srgbClr val="252529"/>
                                  </a:solidFill>
                                  <a:latin typeface="Cambria Math"/>
                                </a:rPr>
                                <m:t>𝑡</m:t>
                              </m:r>
                            </m:e>
                          </m:d>
                          <m:r>
                            <a:rPr sz="2200">
                              <a:solidFill>
                                <a:srgbClr val="252529"/>
                              </a:solidFill>
                              <a:latin typeface="Cambria Math"/>
                            </a:rPr>
                            <m:t>𝑑𝑡</m:t>
                          </m:r>
                        </m:e>
                      </m:nary>
                      <m:r>
                        <a:rPr sz="2200">
                          <a:solidFill>
                            <a:srgbClr val="252529"/>
                          </a:solidFill>
                          <a:latin typeface="Cambria Math"/>
                        </a:rPr>
                        <m:t>,  ∀</m:t>
                      </m:r>
                      <m:r>
                        <a:rPr sz="2200">
                          <a:solidFill>
                            <a:srgbClr val="252529"/>
                          </a:solidFill>
                          <a:latin typeface="Cambria Math"/>
                        </a:rPr>
                        <m:t>𝑇</m:t>
                      </m:r>
                      <m:r>
                        <a:rPr sz="2200">
                          <a:solidFill>
                            <a:srgbClr val="252529"/>
                          </a:solidFill>
                          <a:latin typeface="Cambria Math"/>
                        </a:rPr>
                        <m:t>≥0</m:t>
                      </m:r>
                    </m:oMath>
                  </m:oMathPara>
                </a14:m>
                <a:endParaRPr sz="2200"/>
              </a:p>
            </p:txBody>
          </p:sp>
        </mc:Choice>
        <mc:Fallback>
          <p:sp>
            <p:nvSpPr>
              <p:cNvPr id="1005" name="Delta dissipativity"/>
              <p:cNvSpPr>
                <a:spLocks noRot="1" noChangeAspect="1" noMove="1" noResize="1" noEditPoints="1" noAdjustHandles="1" noChangeArrowheads="1" noChangeShapeType="1" noTextEdit="1"/>
              </p:cNvSpPr>
              <p:nvPr/>
            </p:nvSpPr>
            <p:spPr>
              <a:xfrm>
                <a:off x="381000" y="3583940"/>
                <a:ext cx="8382000" cy="782320"/>
              </a:xfrm>
              <a:prstGeom prst="rect">
                <a:avLst/>
              </a:prstGeom>
              <a:blipFill>
                <a:blip r:embed="rIdSectorStory36_3"/>
                <a:stretch>
                  <a:fillRect/>
                </a:stretch>
              </a:blipFill>
              <a:ln>
                <a:noFill/>
              </a:ln>
            </p:spPr>
            <p:txBody>
              <a:bodyPr/>
              <a:lstStyle/>
              <a:p>
                <a:r>
                  <a:rPr lang="en-NL">
                    <a:noFill/>
                  </a:rPr>
                  <a:t> </a:t>
                </a:r>
              </a:p>
            </p:txBody>
          </p:sp>
        </mc:Fallback>
      </mc:AlternateContent>
      <p:sp>
        <p:nvSpPr>
          <p:cNvPr id="1006" name="Dissipativity meaning"/>
          <p:cNvSpPr/>
          <p:nvPr/>
        </p:nvSpPr>
        <p:spPr>
          <a:xfrm>
            <a:off x="381000" y="4406900"/>
            <a:ext cx="8382000" cy="304800"/>
          </a:xfrm>
          <a:prstGeom prst="rect">
            <a:avLst/>
          </a:prstGeom>
          <a:noFill/>
          <a:ln>
            <a:noFill/>
          </a:ln>
        </p:spPr>
        <p:txBody>
          <a:bodyPr wrap="none" lIns="0" tIns="0" rIns="0" bIns="0" anchor="ctr">
            <a:noAutofit/>
          </a:bodyPr>
          <a:lstStyle/>
          <a:p>
            <a:pPr algn="ctr">
              <a:buNone/>
            </a:pPr>
            <a:r>
              <a:rPr lang="en-GB" sz="1600" b="0" i="0" u="none" baseline="0">
                <a:solidFill>
                  <a:srgbClr val="147C60"/>
                </a:solidFill>
                <a:latin typeface="Aptos"/>
                <a:ea typeface="Aptos"/>
                <a:cs typeface="Aptos"/>
              </a:rPr>
              <a:t>The transformed output cannot supply more energy than its input.</a:t>
            </a:r>
            <a:endParaRPr sz="16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600"/>
                                        <p:tgtEl>
                                          <p:spTgt spid="100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5"/>
                                        </p:tgtEl>
                                        <p:attrNameLst>
                                          <p:attrName>style.visibility</p:attrName>
                                        </p:attrNameLst>
                                      </p:cBhvr>
                                      <p:to>
                                        <p:strVal val="visible"/>
                                      </p:to>
                                    </p:set>
                                    <p:animEffect transition="in" filter="fade">
                                      <p:cBhvr>
                                        <p:cTn id="12" dur="600"/>
                                        <p:tgtEl>
                                          <p:spTgt spid="1005"/>
                                        </p:tgtEl>
                                      </p:cBhvr>
                                    </p:animEffect>
                                  </p:childTnLst>
                                </p:cTn>
                              </p:par>
                              <p:par>
                                <p:cTn id="13" presetID="10" presetClass="entr" presetSubtype="0" fill="hold" grpId="0" nodeType="withEffect">
                                  <p:stCondLst>
                                    <p:cond delay="20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Lst>
  </p:timing>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Construct Θ and connect it to the LFR</a:t>
            </a:r>
            <a:endParaRPr sz="2500"/>
          </a:p>
        </p:txBody>
      </p:sp>
      <mc:AlternateContent xmlns:mc="http://schemas.openxmlformats.org/markup-compatibility/2006">
        <mc:Choice xmlns:a14="http://schemas.microsoft.com/office/drawing/2010/main" Requires="a14">
          <p:sp>
            <p:nvSpPr>
              <p:cNvPr id="1002" name="Construct Theta"/>
              <p:cNvSpPr/>
              <p:nvPr/>
            </p:nvSpPr>
            <p:spPr>
              <a:xfrm>
                <a:off x="444500" y="1325880"/>
                <a:ext cx="8255000" cy="1031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900">
                          <a:solidFill>
                            <a:srgbClr val="252529"/>
                          </a:solidFill>
                          <a:latin typeface="Cambria Math"/>
                        </a:rPr>
                        <m:t>𝛩</m:t>
                      </m:r>
                      <m:r>
                        <a:rPr sz="2900">
                          <a:solidFill>
                            <a:srgbClr val="252529"/>
                          </a:solidFill>
                          <a:latin typeface="Cambria Math"/>
                        </a:rPr>
                        <m:t>=</m:t>
                      </m:r>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𝑣</m:t>
                                </m:r>
                              </m:e>
                              <m:e>
                                <m:r>
                                  <a:rPr sz="2900">
                                    <a:solidFill>
                                      <a:srgbClr val="252529"/>
                                    </a:solidFill>
                                    <a:latin typeface="Cambria Math"/>
                                  </a:rPr>
                                  <m:t>1</m:t>
                                </m:r>
                              </m:e>
                            </m:mr>
                            <m:mr>
                              <m:e>
                                <m:r>
                                  <a:rPr sz="2900">
                                    <a:solidFill>
                                      <a:srgbClr val="252529"/>
                                    </a:solidFill>
                                    <a:latin typeface="Cambria Math"/>
                                  </a:rPr>
                                  <m:t>𝑣</m:t>
                                </m:r>
                              </m:e>
                              <m:e>
                                <m:r>
                                  <a:rPr sz="2900">
                                    <a:solidFill>
                                      <a:srgbClr val="252529"/>
                                    </a:solidFill>
                                    <a:latin typeface="Cambria Math"/>
                                  </a:rPr>
                                  <m:t>−1</m:t>
                                </m:r>
                              </m:e>
                            </m:mr>
                          </m:m>
                        </m:e>
                      </m:d>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𝛽</m:t>
                                </m:r>
                              </m:e>
                              <m:e>
                                <m:r>
                                  <a:rPr sz="2900">
                                    <a:solidFill>
                                      <a:srgbClr val="252529"/>
                                    </a:solidFill>
                                    <a:latin typeface="Cambria Math"/>
                                  </a:rPr>
                                  <m:t>−1</m:t>
                                </m:r>
                              </m:e>
                            </m:mr>
                            <m:mr>
                              <m:e>
                                <m:r>
                                  <a:rPr sz="2900">
                                    <a:solidFill>
                                      <a:srgbClr val="252529"/>
                                    </a:solidFill>
                                    <a:latin typeface="Cambria Math"/>
                                  </a:rPr>
                                  <m:t>−</m:t>
                                </m:r>
                                <m:r>
                                  <a:rPr sz="2900">
                                    <a:solidFill>
                                      <a:srgbClr val="252529"/>
                                    </a:solidFill>
                                    <a:latin typeface="Cambria Math"/>
                                  </a:rPr>
                                  <m:t>𝛼</m:t>
                                </m:r>
                              </m:e>
                              <m:e>
                                <m:r>
                                  <a:rPr sz="2900">
                                    <a:solidFill>
                                      <a:srgbClr val="252529"/>
                                    </a:solidFill>
                                    <a:latin typeface="Cambria Math"/>
                                  </a:rPr>
                                  <m:t>1</m:t>
                                </m:r>
                              </m:e>
                            </m:mr>
                          </m:m>
                        </m:e>
                      </m:d>
                    </m:oMath>
                  </m:oMathPara>
                </a14:m>
                <a:endParaRPr sz="2900"/>
              </a:p>
            </p:txBody>
          </p:sp>
        </mc:Choice>
        <mc:Fallback>
          <p:sp>
            <p:nvSpPr>
              <p:cNvPr id="1002" name="Construct Theta"/>
              <p:cNvSpPr>
                <a:spLocks noRot="1" noChangeAspect="1" noMove="1" noResize="1" noEditPoints="1" noAdjustHandles="1" noChangeArrowheads="1" noChangeShapeType="1" noTextEdit="1"/>
              </p:cNvSpPr>
              <p:nvPr/>
            </p:nvSpPr>
            <p:spPr>
              <a:xfrm>
                <a:off x="444500" y="1325880"/>
                <a:ext cx="8255000" cy="1031240"/>
              </a:xfrm>
              <a:prstGeom prst="rect">
                <a:avLst/>
              </a:prstGeom>
              <a:blipFill>
                <a:blip r:embed="rIdSectorStory37_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Filtered signals"/>
              <p:cNvSpPr/>
              <p:nvPr/>
            </p:nvSpPr>
            <p:spPr>
              <a:xfrm>
                <a:off x="444500" y="2522220"/>
                <a:ext cx="825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acc>
                                  <m:accPr>
                                    <m:chr m:val="̃"/>
                                    <m:ctrlPr>
                                      <a:rPr sz="2600">
                                        <a:solidFill>
                                          <a:srgbClr val="252529"/>
                                        </a:solidFill>
                                        <a:latin typeface="Cambria Math"/>
                                      </a:rPr>
                                    </m:ctrlPr>
                                  </m:accPr>
                                  <m:e>
                                    <m:r>
                                      <a:rPr sz="2600">
                                        <a:solidFill>
                                          <a:srgbClr val="252529"/>
                                        </a:solidFill>
                                        <a:latin typeface="Cambria Math"/>
                                      </a:rPr>
                                      <m:t>𝑧</m:t>
                                    </m:r>
                                  </m:e>
                                </m:acc>
                              </m:e>
                            </m:mr>
                            <m:mr>
                              <m:e>
                                <m:acc>
                                  <m:accPr>
                                    <m:chr m:val="̃"/>
                                    <m:ctrlPr>
                                      <a:rPr sz="2600">
                                        <a:solidFill>
                                          <a:srgbClr val="252529"/>
                                        </a:solidFill>
                                        <a:latin typeface="Cambria Math"/>
                                      </a:rPr>
                                    </m:ctrlPr>
                                  </m:accPr>
                                  <m:e>
                                    <m:r>
                                      <a:rPr sz="2600">
                                        <a:solidFill>
                                          <a:srgbClr val="252529"/>
                                        </a:solidFill>
                                        <a:latin typeface="Cambria Math"/>
                                      </a:rPr>
                                      <m:t>𝑤</m:t>
                                    </m:r>
                                  </m:e>
                                </m:acc>
                              </m:e>
                            </m:mr>
                          </m:m>
                        </m:e>
                      </m:d>
                      <m:r>
                        <a:rPr sz="2600">
                          <a:solidFill>
                            <a:srgbClr val="252529"/>
                          </a:solidFill>
                          <a:latin typeface="Cambria Math"/>
                        </a:rPr>
                        <m:t>=</m:t>
                      </m:r>
                      <m:r>
                        <a:rPr sz="2600">
                          <a:solidFill>
                            <a:srgbClr val="252529"/>
                          </a:solidFill>
                          <a:latin typeface="Cambria Math"/>
                        </a:rPr>
                        <m:t>𝛩</m:t>
                      </m:r>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r>
                                  <a:rPr sz="2600">
                                    <a:solidFill>
                                      <a:srgbClr val="252529"/>
                                    </a:solidFill>
                                    <a:latin typeface="Cambria Math"/>
                                  </a:rPr>
                                  <m:t>𝑧</m:t>
                                </m:r>
                              </m:e>
                            </m:mr>
                            <m:mr>
                              <m:e>
                                <m:r>
                                  <a:rPr sz="2600">
                                    <a:solidFill>
                                      <a:srgbClr val="252529"/>
                                    </a:solidFill>
                                    <a:latin typeface="Cambria Math"/>
                                  </a:rPr>
                                  <m:t>𝑤</m:t>
                                </m:r>
                              </m:e>
                            </m:mr>
                          </m:m>
                        </m:e>
                      </m:d>
                    </m:oMath>
                  </m:oMathPara>
                </a14:m>
                <a:endParaRPr sz="2600"/>
              </a:p>
            </p:txBody>
          </p:sp>
        </mc:Choice>
        <mc:Fallback>
          <p:sp>
            <p:nvSpPr>
              <p:cNvPr id="1003" name="Filtered signals"/>
              <p:cNvSpPr>
                <a:spLocks noRot="1" noChangeAspect="1" noMove="1" noResize="1" noEditPoints="1" noAdjustHandles="1" noChangeArrowheads="1" noChangeShapeType="1" noTextEdit="1"/>
              </p:cNvSpPr>
              <p:nvPr/>
            </p:nvSpPr>
            <p:spPr>
              <a:xfrm>
                <a:off x="444500" y="2522220"/>
                <a:ext cx="8255000" cy="924560"/>
              </a:xfrm>
              <a:prstGeom prst="rect">
                <a:avLst/>
              </a:prstGeom>
              <a:blipFill>
                <a:blip r:embed="rIdSectorStory37_10"/>
                <a:stretch>
                  <a:fillRect/>
                </a:stretch>
              </a:blipFill>
              <a:ln>
                <a:noFill/>
              </a:ln>
            </p:spPr>
            <p:txBody>
              <a:bodyPr/>
              <a:lstStyle/>
              <a:p>
                <a:r>
                  <a:rPr lang="en-NL">
                    <a:noFill/>
                  </a:rPr>
                  <a:t> </a:t>
                </a:r>
              </a:p>
            </p:txBody>
          </p:sp>
        </mc:Fallback>
      </mc:AlternateContent>
      <p:sp>
        <p:nvSpPr>
          <p:cNvPr id="1004" name="Filter role"/>
          <p:cNvSpPr/>
          <p:nvPr/>
        </p:nvSpPr>
        <p:spPr>
          <a:xfrm>
            <a:off x="444500" y="3816350"/>
            <a:ext cx="8255000" cy="342900"/>
          </a:xfrm>
          <a:prstGeom prst="rect">
            <a:avLst/>
          </a:prstGeom>
          <a:noFill/>
          <a:ln>
            <a:noFill/>
          </a:ln>
        </p:spPr>
        <p:txBody>
          <a:bodyPr wrap="none" lIns="0" tIns="0" rIns="0" bIns="0" anchor="ctr">
            <a:noAutofit/>
          </a:bodyPr>
          <a:lstStyle/>
          <a:p>
            <a:pPr algn="ctr">
              <a:buNone/>
            </a:pPr>
            <a:r>
              <a:rPr lang="en-GB" sz="1800" b="0" i="0" u="none" baseline="0">
                <a:solidFill>
                  <a:srgbClr val="252529"/>
                </a:solidFill>
                <a:latin typeface="Aptos"/>
                <a:ea typeface="Aptos"/>
                <a:cs typeface="Aptos"/>
              </a:rPr>
              <a:t>Θ transforms the existing signals z and w.</a:t>
            </a:r>
            <a:endParaRPr sz="1800"/>
          </a:p>
        </p:txBody>
      </p:sp>
      <p:sp>
        <p:nvSpPr>
          <p:cNvPr id="1032"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33"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37</a:t>
            </a:r>
            <a:endParaRPr sz="800"/>
          </a:p>
        </p:txBody>
      </p:sp>
      <p:grpSp>
        <p:nvGrpSpPr>
          <p:cNvPr id="1031" name="Connected LFR"/>
          <p:cNvGrpSpPr/>
          <p:nvPr/>
        </p:nvGrpSpPr>
        <p:grpSpPr>
          <a:xfrm>
            <a:off x="1333500" y="990600"/>
            <a:ext cx="7137400" cy="3467100"/>
            <a:chOff x="1333500" y="990600"/>
            <a:chExt cx="7137400" cy="3467100"/>
          </a:xfrm>
        </p:grpSpPr>
        <p:sp>
          <p:nvSpPr>
            <p:cNvPr id="1006" name="Delta"/>
            <p:cNvSpPr/>
            <p:nvPr/>
          </p:nvSpPr>
          <p:spPr>
            <a:xfrm>
              <a:off x="2565400" y="1320800"/>
              <a:ext cx="762000" cy="609600"/>
            </a:xfrm>
            <a:prstGeom prst="roundRect">
              <a:avLst>
                <a:gd name="adj" fmla="val 5000"/>
              </a:avLst>
            </a:prstGeom>
            <a:solidFill>
              <a:srgbClr val="FFFFFF"/>
            </a:solidFill>
            <a:ln w="10795">
              <a:solidFill>
                <a:srgbClr val="252529"/>
              </a:solidFill>
              <a:prstDash val="dash"/>
            </a:ln>
          </p:spPr>
        </p:sp>
        <p:sp>
          <p:nvSpPr>
            <p:cNvPr id="1007" name="Delta label"/>
            <p:cNvSpPr/>
            <p:nvPr/>
          </p:nvSpPr>
          <p:spPr>
            <a:xfrm>
              <a:off x="2565400" y="1387475"/>
              <a:ext cx="7620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Δ</a:t>
              </a:r>
              <a:endParaRPr sz="2500"/>
            </a:p>
          </p:txBody>
        </p:sp>
        <p:sp>
          <p:nvSpPr>
            <p:cNvPr id="1008" name="PIE"/>
            <p:cNvSpPr/>
            <p:nvPr/>
          </p:nvSpPr>
          <p:spPr>
            <a:xfrm>
              <a:off x="2400300" y="2527300"/>
              <a:ext cx="1092200" cy="889000"/>
            </a:xfrm>
            <a:prstGeom prst="roundRect">
              <a:avLst>
                <a:gd name="adj" fmla="val 5000"/>
              </a:avLst>
            </a:prstGeom>
            <a:solidFill>
              <a:srgbClr val="FFFFFF"/>
            </a:solidFill>
            <a:ln w="10795">
              <a:solidFill>
                <a:srgbClr val="252529"/>
              </a:solidFill>
            </a:ln>
          </p:spPr>
        </p:sp>
        <p:sp>
          <p:nvSpPr>
            <p:cNvPr id="1009" name="PIE label"/>
            <p:cNvSpPr/>
            <p:nvPr/>
          </p:nvSpPr>
          <p:spPr>
            <a:xfrm>
              <a:off x="2400300" y="2733675"/>
              <a:ext cx="10922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PIE</a:t>
              </a:r>
              <a:endParaRPr sz="2500"/>
            </a:p>
          </p:txBody>
        </p:sp>
        <p:sp>
          <p:nvSpPr>
            <p:cNvPr id="1010" name="Controller K"/>
            <p:cNvSpPr/>
            <p:nvPr/>
          </p:nvSpPr>
          <p:spPr>
            <a:xfrm>
              <a:off x="2590800" y="3898900"/>
              <a:ext cx="711200" cy="533400"/>
            </a:xfrm>
            <a:prstGeom prst="roundRect">
              <a:avLst>
                <a:gd name="adj" fmla="val 5000"/>
              </a:avLst>
            </a:prstGeom>
            <a:solidFill>
              <a:srgbClr val="FFFFFF"/>
            </a:solidFill>
            <a:ln w="10795">
              <a:solidFill>
                <a:srgbClr val="252529"/>
              </a:solidFill>
            </a:ln>
          </p:spPr>
        </p:sp>
        <p:sp>
          <p:nvSpPr>
            <p:cNvPr id="1011" name="Controller K label"/>
            <p:cNvSpPr/>
            <p:nvPr/>
          </p:nvSpPr>
          <p:spPr>
            <a:xfrm>
              <a:off x="2590800" y="3946525"/>
              <a:ext cx="711200" cy="438150"/>
            </a:xfrm>
            <a:prstGeom prst="rect">
              <a:avLst/>
            </a:prstGeom>
            <a:noFill/>
            <a:ln>
              <a:noFill/>
            </a:ln>
          </p:spPr>
          <p:txBody>
            <a:bodyPr wrap="none" lIns="0" tIns="0" rIns="0" bIns="0" anchor="ctr">
              <a:noAutofit/>
            </a:bodyPr>
            <a:lstStyle/>
            <a:p>
              <a:pPr algn="ctr">
                <a:buNone/>
              </a:pPr>
              <a:r>
                <a:rPr lang="en-GB" sz="2300" b="0" i="0" u="none" baseline="0">
                  <a:solidFill>
                    <a:srgbClr val="252529"/>
                  </a:solidFill>
                  <a:latin typeface="Aptos"/>
                  <a:ea typeface="Aptos"/>
                  <a:cs typeface="Aptos"/>
                </a:rPr>
                <a:t>K</a:t>
              </a:r>
              <a:endParaRPr sz="2300"/>
            </a:p>
          </p:txBody>
        </p:sp>
        <p:sp>
          <p:nvSpPr>
            <p:cNvPr id="1012" name="Plant to Delta"/>
            <p:cNvSpPr/>
            <p:nvPr/>
          </p:nvSpPr>
          <p:spPr>
            <a:xfrm>
              <a:off x="1752600" y="1612900"/>
              <a:ext cx="825500" cy="1104900"/>
            </a:xfrm>
            <a:custGeom>
              <a:avLst/>
              <a:gdLst/>
              <a:ahLst/>
              <a:cxnLst/>
              <a:rect l="0" t="0" r="r" b="b"/>
              <a:pathLst>
                <a:path w="825500" h="1104900" fill="none">
                  <a:moveTo>
                    <a:pt x="647700" y="1092200"/>
                  </a:moveTo>
                  <a:lnTo>
                    <a:pt x="12700" y="1092200"/>
                  </a:lnTo>
                  <a:lnTo>
                    <a:pt x="12700" y="12700"/>
                  </a:lnTo>
                  <a:lnTo>
                    <a:pt x="812800" y="12700"/>
                  </a:lnTo>
                </a:path>
              </a:pathLst>
            </a:custGeom>
            <a:noFill/>
            <a:ln w="12700">
              <a:solidFill>
                <a:srgbClr val="252529"/>
              </a:solidFill>
              <a:round/>
              <a:tailEnd type="triangle" w="sm" len="sm"/>
            </a:ln>
          </p:spPr>
        </p:sp>
        <p:sp>
          <p:nvSpPr>
            <p:cNvPr id="1013" name="Delta to plant"/>
            <p:cNvSpPr/>
            <p:nvPr/>
          </p:nvSpPr>
          <p:spPr>
            <a:xfrm>
              <a:off x="3314700" y="1612900"/>
              <a:ext cx="825500" cy="1104900"/>
            </a:xfrm>
            <a:custGeom>
              <a:avLst/>
              <a:gdLst/>
              <a:ahLst/>
              <a:cxnLst/>
              <a:rect l="0" t="0" r="r" b="b"/>
              <a:pathLst>
                <a:path w="825500" h="1104900" fill="none">
                  <a:moveTo>
                    <a:pt x="12700" y="12700"/>
                  </a:moveTo>
                  <a:lnTo>
                    <a:pt x="812800" y="12700"/>
                  </a:lnTo>
                  <a:lnTo>
                    <a:pt x="812800" y="1092200"/>
                  </a:lnTo>
                  <a:lnTo>
                    <a:pt x="177800" y="1092200"/>
                  </a:lnTo>
                </a:path>
              </a:pathLst>
            </a:custGeom>
            <a:noFill/>
            <a:ln w="12700">
              <a:solidFill>
                <a:srgbClr val="252529"/>
              </a:solidFill>
              <a:round/>
              <a:tailEnd type="triangle" w="sm" len="sm"/>
            </a:ln>
          </p:spPr>
        </p:sp>
        <p:sp>
          <p:nvSpPr>
            <p:cNvPr id="1014" name="Measured output to K"/>
            <p:cNvSpPr/>
            <p:nvPr/>
          </p:nvSpPr>
          <p:spPr>
            <a:xfrm>
              <a:off x="3289300" y="3225800"/>
              <a:ext cx="850900" cy="952500"/>
            </a:xfrm>
            <a:custGeom>
              <a:avLst/>
              <a:gdLst/>
              <a:ahLst/>
              <a:cxnLst/>
              <a:rect l="0" t="0" r="r" b="b"/>
              <a:pathLst>
                <a:path w="850900" h="952500" fill="none">
                  <a:moveTo>
                    <a:pt x="203200" y="12700"/>
                  </a:moveTo>
                  <a:lnTo>
                    <a:pt x="838200" y="12700"/>
                  </a:lnTo>
                  <a:lnTo>
                    <a:pt x="838200" y="939800"/>
                  </a:lnTo>
                  <a:lnTo>
                    <a:pt x="12700" y="939800"/>
                  </a:lnTo>
                </a:path>
              </a:pathLst>
            </a:custGeom>
            <a:noFill/>
            <a:ln w="12700">
              <a:solidFill>
                <a:srgbClr val="252529"/>
              </a:solidFill>
              <a:round/>
              <a:tailEnd type="triangle" w="sm" len="sm"/>
            </a:ln>
          </p:spPr>
        </p:sp>
        <p:sp>
          <p:nvSpPr>
            <p:cNvPr id="1015" name="Controller to plant"/>
            <p:cNvSpPr/>
            <p:nvPr/>
          </p:nvSpPr>
          <p:spPr>
            <a:xfrm>
              <a:off x="1752600" y="3225800"/>
              <a:ext cx="850900" cy="952500"/>
            </a:xfrm>
            <a:custGeom>
              <a:avLst/>
              <a:gdLst/>
              <a:ahLst/>
              <a:cxnLst/>
              <a:rect l="0" t="0" r="r" b="b"/>
              <a:pathLst>
                <a:path w="850900" h="952500" fill="none">
                  <a:moveTo>
                    <a:pt x="838200" y="939800"/>
                  </a:moveTo>
                  <a:lnTo>
                    <a:pt x="12700" y="939800"/>
                  </a:lnTo>
                  <a:lnTo>
                    <a:pt x="12700" y="12700"/>
                  </a:lnTo>
                  <a:lnTo>
                    <a:pt x="647700" y="127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016" name="LFR z"/>
                <p:cNvSpPr/>
                <p:nvPr/>
              </p:nvSpPr>
              <p:spPr>
                <a:xfrm>
                  <a:off x="13017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oMath>
                    </m:oMathPara>
                  </a14:m>
                  <a:endParaRPr sz="1700"/>
                </a:p>
              </p:txBody>
            </p:sp>
          </mc:Choice>
          <mc:Fallback>
            <p:sp>
              <p:nvSpPr>
                <p:cNvPr id="1016" name="LFR z"/>
                <p:cNvSpPr>
                  <a:spLocks noRot="1" noChangeAspect="1" noMove="1" noResize="1" noEditPoints="1" noAdjustHandles="1" noChangeArrowheads="1" noChangeShapeType="1" noTextEdit="1"/>
                </p:cNvSpPr>
                <p:nvPr/>
              </p:nvSpPr>
              <p:spPr>
                <a:xfrm>
                  <a:off x="1301750" y="1932940"/>
                  <a:ext cx="444500" cy="604520"/>
                </a:xfrm>
                <a:prstGeom prst="rect">
                  <a:avLst/>
                </a:prstGeom>
                <a:blipFill>
                  <a:blip r:embed="rIdSectorStory37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7" name="LFR w"/>
                <p:cNvSpPr/>
                <p:nvPr/>
              </p:nvSpPr>
              <p:spPr>
                <a:xfrm>
                  <a:off x="41719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𝑤</m:t>
                        </m:r>
                      </m:oMath>
                    </m:oMathPara>
                  </a14:m>
                  <a:endParaRPr sz="1700"/>
                </a:p>
              </p:txBody>
            </p:sp>
          </mc:Choice>
          <mc:Fallback>
            <p:sp>
              <p:nvSpPr>
                <p:cNvPr id="1017" name="LFR w"/>
                <p:cNvSpPr>
                  <a:spLocks noRot="1" noChangeAspect="1" noMove="1" noResize="1" noEditPoints="1" noAdjustHandles="1" noChangeArrowheads="1" noChangeShapeType="1" noTextEdit="1"/>
                </p:cNvSpPr>
                <p:nvPr/>
              </p:nvSpPr>
              <p:spPr>
                <a:xfrm>
                  <a:off x="4171950" y="1932940"/>
                  <a:ext cx="444500" cy="604520"/>
                </a:xfrm>
                <a:prstGeom prst="rect">
                  <a:avLst/>
                </a:prstGeom>
                <a:blipFill>
                  <a:blip r:embed="rIdSectorStory37_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8" name="LFR u"/>
                <p:cNvSpPr/>
                <p:nvPr/>
              </p:nvSpPr>
              <p:spPr>
                <a:xfrm>
                  <a:off x="13017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𝑢</m:t>
                        </m:r>
                      </m:oMath>
                    </m:oMathPara>
                  </a14:m>
                  <a:endParaRPr sz="1700"/>
                </a:p>
              </p:txBody>
            </p:sp>
          </mc:Choice>
          <mc:Fallback>
            <p:sp>
              <p:nvSpPr>
                <p:cNvPr id="1018" name="LFR u"/>
                <p:cNvSpPr>
                  <a:spLocks noRot="1" noChangeAspect="1" noMove="1" noResize="1" noEditPoints="1" noAdjustHandles="1" noChangeArrowheads="1" noChangeShapeType="1" noTextEdit="1"/>
                </p:cNvSpPr>
                <p:nvPr/>
              </p:nvSpPr>
              <p:spPr>
                <a:xfrm>
                  <a:off x="1301750" y="3279140"/>
                  <a:ext cx="444500" cy="604520"/>
                </a:xfrm>
                <a:prstGeom prst="rect">
                  <a:avLst/>
                </a:prstGeom>
                <a:blipFill>
                  <a:blip r:embed="rIdSectorStory37_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9" name="LFR y"/>
                <p:cNvSpPr/>
                <p:nvPr/>
              </p:nvSpPr>
              <p:spPr>
                <a:xfrm>
                  <a:off x="41719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𝑦</m:t>
                        </m:r>
                      </m:oMath>
                    </m:oMathPara>
                  </a14:m>
                  <a:endParaRPr sz="1700"/>
                </a:p>
              </p:txBody>
            </p:sp>
          </mc:Choice>
          <mc:Fallback>
            <p:sp>
              <p:nvSpPr>
                <p:cNvPr id="1019" name="LFR y"/>
                <p:cNvSpPr>
                  <a:spLocks noRot="1" noChangeAspect="1" noMove="1" noResize="1" noEditPoints="1" noAdjustHandles="1" noChangeArrowheads="1" noChangeShapeType="1" noTextEdit="1"/>
                </p:cNvSpPr>
                <p:nvPr/>
              </p:nvSpPr>
              <p:spPr>
                <a:xfrm>
                  <a:off x="4171950" y="3279140"/>
                  <a:ext cx="444500" cy="604520"/>
                </a:xfrm>
                <a:prstGeom prst="rect">
                  <a:avLst/>
                </a:prstGeom>
                <a:blipFill>
                  <a:blip r:embed="rIdSectorStory37_0"/>
                  <a:stretch>
                    <a:fillRect/>
                  </a:stretch>
                </a:blipFill>
                <a:ln>
                  <a:noFill/>
                </a:ln>
              </p:spPr>
              <p:txBody>
                <a:bodyPr/>
                <a:lstStyle/>
                <a:p>
                  <a:r>
                    <a:rPr lang="en-NL">
                      <a:noFill/>
                    </a:rPr>
                    <a:t> </a:t>
                  </a:r>
                </a:p>
              </p:txBody>
            </p:sp>
          </mc:Fallback>
        </mc:AlternateContent>
        <p:sp>
          <p:nvSpPr>
            <p:cNvPr id="1020" name="z signal tap to Theta"/>
            <p:cNvSpPr/>
            <p:nvPr/>
          </p:nvSpPr>
          <p:spPr>
            <a:xfrm>
              <a:off x="2082800" y="1003300"/>
              <a:ext cx="3594100" cy="635000"/>
            </a:xfrm>
            <a:custGeom>
              <a:avLst/>
              <a:gdLst/>
              <a:ahLst/>
              <a:cxnLst/>
              <a:rect l="0" t="0" r="r" b="b"/>
              <a:pathLst>
                <a:path w="3594100" h="635000" fill="none">
                  <a:moveTo>
                    <a:pt x="12700" y="622300"/>
                  </a:moveTo>
                  <a:lnTo>
                    <a:pt x="12700" y="12700"/>
                  </a:lnTo>
                  <a:lnTo>
                    <a:pt x="3251200" y="12700"/>
                  </a:lnTo>
                  <a:lnTo>
                    <a:pt x="3251200" y="419100"/>
                  </a:lnTo>
                  <a:lnTo>
                    <a:pt x="3581400" y="419100"/>
                  </a:lnTo>
                </a:path>
              </a:pathLst>
            </a:custGeom>
            <a:noFill/>
            <a:ln w="12700">
              <a:solidFill>
                <a:srgbClr val="252529"/>
              </a:solidFill>
              <a:round/>
              <a:tailEnd type="triangle" w="sm" len="sm"/>
            </a:ln>
          </p:spPr>
        </p:sp>
        <p:sp>
          <p:nvSpPr>
            <p:cNvPr id="1021" name="w signal tap to Theta"/>
            <p:cNvSpPr/>
            <p:nvPr/>
          </p:nvSpPr>
          <p:spPr>
            <a:xfrm>
              <a:off x="3797300" y="1612900"/>
              <a:ext cx="1879600" cy="279400"/>
            </a:xfrm>
            <a:custGeom>
              <a:avLst/>
              <a:gdLst/>
              <a:ahLst/>
              <a:cxnLst/>
              <a:rect l="0" t="0" r="r" b="b"/>
              <a:pathLst>
                <a:path w="1879600" h="279400" fill="none">
                  <a:moveTo>
                    <a:pt x="12700" y="12700"/>
                  </a:moveTo>
                  <a:lnTo>
                    <a:pt x="12700" y="266700"/>
                  </a:lnTo>
                  <a:lnTo>
                    <a:pt x="1866900" y="266700"/>
                  </a:lnTo>
                </a:path>
              </a:pathLst>
            </a:custGeom>
            <a:noFill/>
            <a:ln w="12700">
              <a:solidFill>
                <a:srgbClr val="252529"/>
              </a:solidFill>
              <a:round/>
              <a:tailEnd type="triangle" w="sm" len="sm"/>
            </a:ln>
          </p:spPr>
        </p:sp>
        <p:sp>
          <p:nvSpPr>
            <p:cNvPr id="1022" name="Filter Theta"/>
            <p:cNvSpPr/>
            <p:nvPr/>
          </p:nvSpPr>
          <p:spPr>
            <a:xfrm>
              <a:off x="5664200" y="1168400"/>
              <a:ext cx="1168400" cy="965200"/>
            </a:xfrm>
            <a:prstGeom prst="roundRect">
              <a:avLst>
                <a:gd name="adj" fmla="val 5000"/>
              </a:avLst>
            </a:prstGeom>
            <a:solidFill>
              <a:srgbClr val="FFFFFF"/>
            </a:solidFill>
            <a:ln w="10795">
              <a:solidFill>
                <a:srgbClr val="252529"/>
              </a:solidFill>
            </a:ln>
          </p:spPr>
        </p:sp>
        <p:sp>
          <p:nvSpPr>
            <p:cNvPr id="1023" name="Filter Theta label"/>
            <p:cNvSpPr/>
            <p:nvPr/>
          </p:nvSpPr>
          <p:spPr>
            <a:xfrm>
              <a:off x="5664200" y="1393825"/>
              <a:ext cx="1168400" cy="514350"/>
            </a:xfrm>
            <a:prstGeom prst="rect">
              <a:avLst/>
            </a:prstGeom>
            <a:noFill/>
            <a:ln>
              <a:noFill/>
            </a:ln>
          </p:spPr>
          <p:txBody>
            <a:bodyPr wrap="none" lIns="0" tIns="0" rIns="0" bIns="0" anchor="ctr">
              <a:noAutofit/>
            </a:bodyPr>
            <a:lstStyle/>
            <a:p>
              <a:pPr algn="ctr">
                <a:buNone/>
              </a:pPr>
              <a:r>
                <a:rPr lang="en-GB" sz="2700" b="0" i="0" u="none" baseline="0">
                  <a:solidFill>
                    <a:srgbClr val="252529"/>
                  </a:solidFill>
                  <a:latin typeface="Aptos"/>
                  <a:ea typeface="Aptos"/>
                  <a:cs typeface="Aptos"/>
                </a:rPr>
                <a:t>Θ</a:t>
              </a:r>
              <a:endParaRPr sz="2700"/>
            </a:p>
          </p:txBody>
        </p:sp>
        <p:sp>
          <p:nvSpPr>
            <p:cNvPr id="1024" name="Filtered z output"/>
            <p:cNvSpPr/>
            <p:nvPr/>
          </p:nvSpPr>
          <p:spPr>
            <a:xfrm>
              <a:off x="6819900" y="14097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sp>
        <p:sp>
          <p:nvSpPr>
            <p:cNvPr id="1025" name="Filtered w output"/>
            <p:cNvSpPr/>
            <p:nvPr/>
          </p:nvSpPr>
          <p:spPr>
            <a:xfrm>
              <a:off x="6819900" y="18669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026" name="Filtered z label"/>
                <p:cNvSpPr/>
                <p:nvPr/>
              </p:nvSpPr>
              <p:spPr>
                <a:xfrm>
                  <a:off x="7854950" y="10845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𝑧</m:t>
                            </m:r>
                          </m:e>
                        </m:acc>
                      </m:oMath>
                    </m:oMathPara>
                  </a14:m>
                  <a:endParaRPr sz="1900"/>
                </a:p>
              </p:txBody>
            </p:sp>
          </mc:Choice>
          <mc:Fallback>
            <p:sp>
              <p:nvSpPr>
                <p:cNvPr id="1026" name="Filtered z label"/>
                <p:cNvSpPr>
                  <a:spLocks noRot="1" noChangeAspect="1" noMove="1" noResize="1" noEditPoints="1" noAdjustHandles="1" noChangeArrowheads="1" noChangeShapeType="1" noTextEdit="1"/>
                </p:cNvSpPr>
                <p:nvPr/>
              </p:nvSpPr>
              <p:spPr>
                <a:xfrm>
                  <a:off x="7854950" y="1084580"/>
                  <a:ext cx="571500" cy="675640"/>
                </a:xfrm>
                <a:prstGeom prst="rect">
                  <a:avLst/>
                </a:prstGeom>
                <a:blipFill>
                  <a:blip r:embed="rIdSectorStory37_11"/>
                  <a:stretch>
                    <a:fillRect r="-2258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7" name="Filtered w label"/>
                <p:cNvSpPr/>
                <p:nvPr/>
              </p:nvSpPr>
              <p:spPr>
                <a:xfrm>
                  <a:off x="7854950" y="15417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𝑤</m:t>
                            </m:r>
                          </m:e>
                        </m:acc>
                      </m:oMath>
                    </m:oMathPara>
                  </a14:m>
                  <a:endParaRPr sz="1900"/>
                </a:p>
              </p:txBody>
            </p:sp>
          </mc:Choice>
          <mc:Fallback>
            <p:sp>
              <p:nvSpPr>
                <p:cNvPr id="1027" name="Filtered w label"/>
                <p:cNvSpPr>
                  <a:spLocks noRot="1" noChangeAspect="1" noMove="1" noResize="1" noEditPoints="1" noAdjustHandles="1" noChangeArrowheads="1" noChangeShapeType="1" noTextEdit="1"/>
                </p:cNvSpPr>
                <p:nvPr/>
              </p:nvSpPr>
              <p:spPr>
                <a:xfrm>
                  <a:off x="7854950" y="1541780"/>
                  <a:ext cx="571500" cy="675640"/>
                </a:xfrm>
                <a:prstGeom prst="rect">
                  <a:avLst/>
                </a:prstGeom>
                <a:blipFill>
                  <a:blip r:embed="rIdSectorStory37_9"/>
                  <a:stretch>
                    <a:fillRect r="-4516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8" name="Connected filter formula"/>
                <p:cNvSpPr/>
                <p:nvPr/>
              </p:nvSpPr>
              <p:spPr>
                <a:xfrm>
                  <a:off x="4254500" y="2860040"/>
                  <a:ext cx="4318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𝛩</m:t>
                        </m:r>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𝑣</m:t>
                                  </m:r>
                                </m:e>
                                <m:e>
                                  <m:r>
                                    <a:rPr sz="1700">
                                      <a:solidFill>
                                        <a:srgbClr val="252529"/>
                                      </a:solidFill>
                                      <a:latin typeface="Cambria Math"/>
                                    </a:rPr>
                                    <m:t>1</m:t>
                                  </m:r>
                                </m:e>
                              </m:mr>
                              <m:mr>
                                <m:e>
                                  <m:r>
                                    <a:rPr sz="1700">
                                      <a:solidFill>
                                        <a:srgbClr val="252529"/>
                                      </a:solidFill>
                                      <a:latin typeface="Cambria Math"/>
                                    </a:rPr>
                                    <m:t>𝑣</m:t>
                                  </m:r>
                                </m:e>
                                <m:e>
                                  <m:r>
                                    <a:rPr sz="1700">
                                      <a:solidFill>
                                        <a:srgbClr val="252529"/>
                                      </a:solidFill>
                                      <a:latin typeface="Cambria Math"/>
                                    </a:rPr>
                                    <m:t>−1</m:t>
                                  </m:r>
                                </m:e>
                              </m:mr>
                            </m:m>
                          </m:e>
                        </m:d>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𝛽</m:t>
                                  </m:r>
                                </m:e>
                                <m:e>
                                  <m:r>
                                    <a:rPr sz="1700">
                                      <a:solidFill>
                                        <a:srgbClr val="252529"/>
                                      </a:solidFill>
                                      <a:latin typeface="Cambria Math"/>
                                    </a:rPr>
                                    <m:t>−1</m:t>
                                  </m:r>
                                </m:e>
                              </m:mr>
                              <m:mr>
                                <m:e>
                                  <m:r>
                                    <a:rPr sz="1700">
                                      <a:solidFill>
                                        <a:srgbClr val="252529"/>
                                      </a:solidFill>
                                      <a:latin typeface="Cambria Math"/>
                                    </a:rPr>
                                    <m:t>−</m:t>
                                  </m:r>
                                  <m:r>
                                    <a:rPr sz="1700">
                                      <a:solidFill>
                                        <a:srgbClr val="252529"/>
                                      </a:solidFill>
                                      <a:latin typeface="Cambria Math"/>
                                    </a:rPr>
                                    <m:t>𝛼</m:t>
                                  </m:r>
                                </m:e>
                                <m:e>
                                  <m:r>
                                    <a:rPr sz="1700">
                                      <a:solidFill>
                                        <a:srgbClr val="252529"/>
                                      </a:solidFill>
                                      <a:latin typeface="Cambria Math"/>
                                    </a:rPr>
                                    <m:t>1</m:t>
                                  </m:r>
                                </m:e>
                              </m:mr>
                            </m:m>
                          </m:e>
                        </m:d>
                      </m:oMath>
                    </m:oMathPara>
                  </a14:m>
                  <a:endParaRPr sz="1700"/>
                </a:p>
              </p:txBody>
            </p:sp>
          </mc:Choice>
          <mc:Fallback>
            <p:sp>
              <p:nvSpPr>
                <p:cNvPr id="1028" name="Connected filter formula"/>
                <p:cNvSpPr>
                  <a:spLocks noRot="1" noChangeAspect="1" noMove="1" noResize="1" noEditPoints="1" noAdjustHandles="1" noChangeArrowheads="1" noChangeShapeType="1" noTextEdit="1"/>
                </p:cNvSpPr>
                <p:nvPr/>
              </p:nvSpPr>
              <p:spPr>
                <a:xfrm>
                  <a:off x="4254500" y="2860040"/>
                  <a:ext cx="4318000" cy="604520"/>
                </a:xfrm>
                <a:prstGeom prst="rect">
                  <a:avLst/>
                </a:prstGeom>
                <a:blipFill>
                  <a:blip r:embed="rIdSectorStory37_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9" name="Connected supply"/>
                <p:cNvSpPr/>
                <p:nvPr/>
              </p:nvSpPr>
              <p:spPr>
                <a:xfrm>
                  <a:off x="4318000" y="3604260"/>
                  <a:ext cx="4191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𝜎</m:t>
                        </m:r>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𝑧</m:t>
                                    </m:r>
                                  </m:e>
                                </m:acc>
                              </m:e>
                            </m:d>
                          </m:e>
                          <m:sup>
                            <m:r>
                              <a:rPr sz="1800">
                                <a:solidFill>
                                  <a:srgbClr val="252529"/>
                                </a:solidFill>
                                <a:latin typeface="Cambria Math"/>
                              </a:rPr>
                              <m:t>2</m:t>
                            </m:r>
                          </m:sup>
                        </m:sSup>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𝑤</m:t>
                                    </m:r>
                                  </m:e>
                                </m:acc>
                              </m:e>
                            </m:d>
                          </m:e>
                          <m:sup>
                            <m:r>
                              <a:rPr sz="1800">
                                <a:solidFill>
                                  <a:srgbClr val="252529"/>
                                </a:solidFill>
                                <a:latin typeface="Cambria Math"/>
                              </a:rPr>
                              <m:t>2</m:t>
                            </m:r>
                          </m:sup>
                        </m:sSup>
                        <m:r>
                          <a:rPr sz="1800">
                            <a:solidFill>
                              <a:srgbClr val="147C60"/>
                            </a:solidFill>
                            <a:latin typeface="Cambria Math"/>
                          </a:rPr>
                          <m:t>≥0</m:t>
                        </m:r>
                      </m:oMath>
                    </m:oMathPara>
                  </a14:m>
                  <a:endParaRPr sz="1800"/>
                </a:p>
              </p:txBody>
            </p:sp>
          </mc:Choice>
          <mc:Fallback>
            <p:sp>
              <p:nvSpPr>
                <p:cNvPr id="1029" name="Connected supply"/>
                <p:cNvSpPr>
                  <a:spLocks noRot="1" noChangeAspect="1" noMove="1" noResize="1" noEditPoints="1" noAdjustHandles="1" noChangeArrowheads="1" noChangeShapeType="1" noTextEdit="1"/>
                </p:cNvSpPr>
                <p:nvPr/>
              </p:nvSpPr>
              <p:spPr>
                <a:xfrm>
                  <a:off x="4318000" y="3604260"/>
                  <a:ext cx="4191000" cy="640080"/>
                </a:xfrm>
                <a:prstGeom prst="rect">
                  <a:avLst/>
                </a:prstGeom>
                <a:blipFill>
                  <a:blip r:embed="rIdSectorStory37_3"/>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set>
                                      <p:cBhvr>
                                        <p:cTn id="6" dur="1" fill="hold">
                                          <p:stCondLst>
                                            <p:cond delay="1099"/>
                                          </p:stCondLst>
                                        </p:cTn>
                                        <p:tgtEl>
                                          <p:spTgt spid="1002"/>
                                        </p:tgtEl>
                                        <p:attrNameLst>
                                          <p:attrName>style.visibility</p:attrName>
                                        </p:attrNameLst>
                                      </p:cBhvr>
                                      <p:to>
                                        <p:strVal val="visible"/>
                                      </p:to>
                                    </p:set>
                                    <p:animMotion origin="layout" path="M 0 0 L 0.18333333 -0.03703704 E" pathEditMode="relative">
                                      <p:cBhvr from="" to="">
                                        <p:cTn id="7" dur="1100" fill="hold">
                                          <p:stCondLst>
                                            <p:cond delay="0"/>
                                          </p:stCondLst>
                                        </p:cTn>
                                        <p:tgtEl>
                                          <p:spTgt spid="1002"/>
                                        </p:tgtEl>
                                        <p:attrNameLst>
                                          <p:attrName>ppt_x</p:attrName>
                                          <p:attrName>ppt_y</p:attrName>
                                        </p:attrNameLst>
                                      </p:cBhvr>
                                    </p:animMotion>
                                    <p:animScale>
                                      <p:cBhvr>
                                        <p:cTn id="8" dur="1100" fill="hold">
                                          <p:stCondLst>
                                            <p:cond delay="0"/>
                                          </p:stCondLst>
                                        </p:cTn>
                                        <p:tgtEl>
                                          <p:spTgt spid="1002"/>
                                        </p:tgtEl>
                                      </p:cBhvr>
                                      <p:from x="100000" y="100000"/>
                                      <p:to x="20000" y="20000"/>
                                    </p:animScale>
                                  </p:childTnLst>
                                </p:cTn>
                              </p:par>
                              <p:par>
                                <p:cTn id="9" presetID="10" presetClass="exit" presetSubtype="0" fill="hold" grpId="0" nodeType="withEffect">
                                  <p:stCondLst>
                                    <p:cond delay="0"/>
                                  </p:stCondLst>
                                  <p:childTnLst>
                                    <p:animEffect transition="out" filter="fade">
                                      <p:cBhvr>
                                        <p:cTn id="10" dur="450"/>
                                        <p:tgtEl>
                                          <p:spTgt spid="1003"/>
                                        </p:tgtEl>
                                      </p:cBhvr>
                                    </p:animEffect>
                                    <p:set>
                                      <p:cBhvr>
                                        <p:cTn id="11" dur="1" fill="hold">
                                          <p:stCondLst>
                                            <p:cond delay="449"/>
                                          </p:stCondLst>
                                        </p:cTn>
                                        <p:tgtEl>
                                          <p:spTgt spid="1003"/>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450"/>
                                        <p:tgtEl>
                                          <p:spTgt spid="1004"/>
                                        </p:tgtEl>
                                      </p:cBhvr>
                                    </p:animEffect>
                                    <p:set>
                                      <p:cBhvr>
                                        <p:cTn id="14" dur="1" fill="hold">
                                          <p:stCondLst>
                                            <p:cond delay="449"/>
                                          </p:stCondLst>
                                        </p:cTn>
                                        <p:tgtEl>
                                          <p:spTgt spid="1004"/>
                                        </p:tgtEl>
                                        <p:attrNameLst>
                                          <p:attrName>style.visibility</p:attrName>
                                        </p:attrNameLst>
                                      </p:cBhvr>
                                      <p:to>
                                        <p:strVal val="hidden"/>
                                      </p:to>
                                    </p:set>
                                  </p:childTnLst>
                                </p:cTn>
                              </p:par>
                              <p:par>
                                <p:cTn id="15" presetID="10" presetClass="exit" presetSubtype="0" fill="hold" grpId="1" nodeType="withEffect">
                                  <p:stCondLst>
                                    <p:cond delay="800"/>
                                  </p:stCondLst>
                                  <p:childTnLst>
                                    <p:animEffect transition="out" filter="fade">
                                      <p:cBhvr>
                                        <p:cTn id="16" dur="300"/>
                                        <p:tgtEl>
                                          <p:spTgt spid="1002"/>
                                        </p:tgtEl>
                                      </p:cBhvr>
                                    </p:animEffect>
                                    <p:set>
                                      <p:cBhvr>
                                        <p:cTn id="17" dur="1" fill="hold">
                                          <p:stCondLst>
                                            <p:cond delay="299"/>
                                          </p:stCondLst>
                                        </p:cTn>
                                        <p:tgtEl>
                                          <p:spTgt spid="1002"/>
                                        </p:tgtEl>
                                        <p:attrNameLst>
                                          <p:attrName>style.visibility</p:attrName>
                                        </p:attrNameLst>
                                      </p:cBhvr>
                                      <p:to>
                                        <p:strVal val="hidden"/>
                                      </p:to>
                                    </p:set>
                                  </p:childTnLst>
                                </p:cTn>
                              </p:par>
                              <p:par>
                                <p:cTn id="18" presetID="10" presetClass="entr" presetSubtype="0" fill="hold" nodeType="withEffect">
                                  <p:stCondLst>
                                    <p:cond delay="800"/>
                                  </p:stCondLst>
                                  <p:childTnLst>
                                    <p:set>
                                      <p:cBhvr>
                                        <p:cTn id="19" dur="1" fill="hold">
                                          <p:stCondLst>
                                            <p:cond delay="0"/>
                                          </p:stCondLst>
                                        </p:cTn>
                                        <p:tgtEl>
                                          <p:spTgt spid="1031"/>
                                        </p:tgtEl>
                                        <p:attrNameLst>
                                          <p:attrName>style.visibility</p:attrName>
                                        </p:attrNameLst>
                                      </p:cBhvr>
                                      <p:to>
                                        <p:strVal val="visible"/>
                                      </p:to>
                                    </p:set>
                                    <p:animEffect transition="in" filter="fade">
                                      <p:cBhvr>
                                        <p:cTn id="20" dur="650"/>
                                        <p:tgtEl>
                                          <p:spTgt spid="1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 grpId="0"/>
      <p:bldP spid="1002" grpId="1"/>
      <p:bldP spid="1003" grpId="0"/>
      <p:bldP spid="1004"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38</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m:oMathParaPr>
                  <m:jc m:val="center"/>
                </m:oMathParaPr>
                <m:oMath>
                  <m:nary>
                    <m:naryPr>
                      <m:chr m:val="∫"/>
                      <m:limLoc m:val="subSup"/>
                      <m:ctrlPr>
                        <a:rPr sz="1600">
                          <a:solidFill>
                            <a:srgbClr val="252529"/>
                          </a:solidFill>
                          <a:latin typeface="Cambria Math"/>
                        </a:rPr>
                      </m:ctrlPr>
                    </m:naryPr>
                    <m:sub>
                      <m:r>
                        <m:rPr>
                          <m:sty m:val="p"/>
                        </m:rPr>
                        <a:rPr sz="1600">
                          <a:solidFill>
                            <a:srgbClr val="252529"/>
                          </a:solidFill>
                          <a:latin typeface="Cambria Math"/>
                        </a:rPr>
                        <m:t xml:space="preserve">0</m:t>
                      </m:r>
                    </m:sub>
                    <m:sup>
                      <m:r>
                        <m:rPr>
                          <m:sty m:val="i"/>
                        </m:rPr>
                        <a:rPr sz="1600">
                          <a:solidFill>
                            <a:srgbClr val="252529"/>
                          </a:solidFill>
                          <a:latin typeface="Cambria Math"/>
                        </a:rPr>
                        <m:t xml:space="preserve">T</m:t>
                      </m:r>
                    </m:sup>
                    <m:e>
                      <m:sSub>
                        <m:sSubPr>
                          <m:ctrlPr>
                            <a:rPr sz="1600">
                              <a:solidFill>
                                <a:srgbClr val="252529"/>
                              </a:solidFill>
                              <a:latin typeface="Cambria Math"/>
                            </a:rPr>
                          </m:ctrlPr>
                        </m:sSubPr>
                        <m:e>
                          <m:r>
                            <m:rPr>
                              <m:sty m:val="i"/>
                            </m:rPr>
                            <a:rPr sz="1600">
                              <a:solidFill>
                                <a:srgbClr val="252529"/>
                              </a:solidFill>
                              <a:latin typeface="Cambria Math"/>
                            </a:rPr>
                            <m:t xml:space="preserve">σ</m:t>
                          </m:r>
                        </m:e>
                        <m:sub>
                          <m:r>
                            <m:rPr>
                              <m:sty m:val="i"/>
                            </m:rPr>
                            <a:rPr sz="1600">
                              <a:solidFill>
                                <a:srgbClr val="252529"/>
                              </a:solidFill>
                              <a:latin typeface="Cambria Math"/>
                            </a:rPr>
                            <m:t xml:space="preserve">i</m:t>
                          </m:r>
                        </m:sub>
                      </m:sSub>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r>
                        <m:rPr>
                          <m:sty m:val="i"/>
                        </m:rPr>
                        <a:rPr sz="1600">
                          <a:solidFill>
                            <a:srgbClr val="252529"/>
                          </a:solidFill>
                          <a:latin typeface="Cambria Math"/>
                        </a:rPr>
                        <m:t xml:space="preserve">d</m:t>
                      </m:r>
                      <m:r>
                        <m:rPr>
                          <m:sty m:val="i"/>
                        </m:rPr>
                        <a:rPr sz="1600">
                          <a:solidFill>
                            <a:srgbClr val="252529"/>
                          </a:solidFill>
                          <a:latin typeface="Cambria Math"/>
                        </a:rPr>
                        <m:t xml:space="preserve">t</m:t>
                      </m:r>
                    </m:e>
                  </m:nary>
                  <m:r>
                    <m:rPr>
                      <m:sty m:val="i"/>
                    </m:rPr>
                    <a:rPr sz="1600">
                      <a:solidFill>
                        <a:srgbClr val="252529"/>
                      </a:solidFill>
                      <a:latin typeface="Cambria Math"/>
                    </a:rPr>
                    <m:t xml:space="preserve">≥</m:t>
                  </m:r>
                  <m:r>
                    <m:rPr>
                      <m:sty m:val="i"/>
                    </m:rPr>
                    <a:rPr sz="1600">
                      <a:solidFill>
                        <a:srgbClr val="252529"/>
                      </a:solidFill>
                      <a:latin typeface="Cambria Math"/>
                    </a:rPr>
                    <m:t xml:space="preserve">0</m:t>
                  </m:r>
                </m:oMath>
              </m:oMathPara>
            </a14:m>
            <a:endParaRPr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Tree>
    <p:extLst>
      <p:ext uri="{BB962C8B-B14F-4D97-AF65-F5344CB8AC3E}">
        <p14:creationId xmlns:p14="http://schemas.microsoft.com/office/powerpoint/2010/main" val="19626724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56</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this gives closed-loop stability</a:t>
            </a:r>
            <a:endParaRPr sz="2500"/>
          </a:p>
        </p:txBody>
      </p:sp>
      <p:sp>
        <p:nvSpPr>
          <p:cNvPr id="1002" name="Certificate setup"/>
          <p:cNvSpPr/>
          <p:nvPr/>
        </p:nvSpPr>
        <p:spPr>
          <a:xfrm>
            <a:off x="444500" y="911225"/>
            <a:ext cx="8255000" cy="285750"/>
          </a:xfrm>
          <a:prstGeom prst="rect">
            <a:avLst/>
          </a:prstGeom>
          <a:noFill/>
          <a:ln>
            <a:noFill/>
          </a:ln>
        </p:spPr>
        <p:txBody>
          <a:bodyPr wrap="none" lIns="0" tIns="0" rIns="0" bIns="0" anchor="ctr">
            <a:noAutofit/>
          </a:bodyPr>
          <a:lstStyle/>
          <a:p>
            <a:pPr algn="ctr">
              <a:buNone/>
            </a:pPr>
            <a:r>
              <a:rPr lang="en-GB" sz="1500" b="0" i="0" u="none" baseline="0">
                <a:solidFill>
                  <a:srgbClr val="747B82"/>
                </a:solidFill>
                <a:latin typeface="Aptos"/>
                <a:ea typeface="Aptos"/>
                <a:cs typeface="Aptos"/>
              </a:rPr>
              <a:t>For the unforced loop, find a common storage V.</a:t>
            </a:r>
            <a:endParaRPr sz="1500"/>
          </a:p>
        </p:txBody>
      </p:sp>
      <mc:AlternateContent xmlns:mc="http://schemas.openxmlformats.org/markup-compatibility/2006">
        <mc:Choice xmlns:a14="http://schemas.microsoft.com/office/drawing/2010/main" Requires="a14">
          <p:sp>
            <p:nvSpPr>
              <p:cNvPr id="1003" name="Requested dissipativity inequality"/>
              <p:cNvSpPr/>
              <p:nvPr/>
            </p:nvSpPr>
            <p:spPr>
              <a:xfrm>
                <a:off x="381000" y="1170940"/>
                <a:ext cx="8382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700">
                              <a:solidFill>
                                <a:srgbClr val="252529"/>
                              </a:solidFill>
                              <a:latin typeface="Cambria Math"/>
                            </a:rPr>
                          </m:ctrlPr>
                        </m:accPr>
                        <m:e>
                          <m:r>
                            <a:rPr sz="2700">
                              <a:solidFill>
                                <a:srgbClr val="252529"/>
                              </a:solidFill>
                              <a:latin typeface="Cambria Math"/>
                            </a:rPr>
                            <m:t>𝑉</m:t>
                          </m:r>
                        </m:e>
                      </m:acc>
                      <m:d>
                        <m:dPr>
                          <m:ctrlPr>
                            <a:rPr sz="2700">
                              <a:solidFill>
                                <a:srgbClr val="252529"/>
                              </a:solidFill>
                              <a:latin typeface="Cambria Math"/>
                            </a:rPr>
                          </m:ctrlPr>
                        </m:dPr>
                        <m:e>
                          <m:r>
                            <a:rPr sz="2700">
                              <a:solidFill>
                                <a:srgbClr val="252529"/>
                              </a:solidFill>
                              <a:latin typeface="Cambria Math"/>
                            </a:rPr>
                            <m:t>𝑡</m:t>
                          </m:r>
                        </m:e>
                      </m:d>
                      <m:r>
                        <a:rPr sz="2700">
                          <a:solidFill>
                            <a:srgbClr val="252529"/>
                          </a:solidFill>
                          <a:latin typeface="Cambria Math"/>
                        </a:rPr>
                        <m:t>+</m:t>
                      </m:r>
                      <m:sSup>
                        <m:sSupPr>
                          <m:ctrlPr>
                            <a:rPr sz="2700" i="1">
                              <a:solidFill>
                                <a:srgbClr val="252529"/>
                              </a:solidFill>
                              <a:latin typeface="Cambria Math" panose="02040503050406030204" pitchFamily="18" charset="0"/>
                            </a:rPr>
                          </m:ctrlPr>
                        </m:sSupPr>
                        <m:e>
                          <m:d>
                            <m:dPr>
                              <m:begChr m:val="‖"/>
                              <m:endChr m:val="‖"/>
                              <m:ctrlPr>
                                <a:rPr sz="2700" i="1">
                                  <a:solidFill>
                                    <a:srgbClr val="252529"/>
                                  </a:solidFill>
                                  <a:latin typeface="Cambria Math" panose="02040503050406030204" pitchFamily="18" charset="0"/>
                                </a:rPr>
                              </m:ctrlPr>
                            </m:dPr>
                            <m:e>
                              <m:acc>
                                <m:accPr>
                                  <m:chr m:val="̃"/>
                                  <m:ctrlPr>
                                    <a:rPr sz="2700">
                                      <a:solidFill>
                                        <a:srgbClr val="252529"/>
                                      </a:solidFill>
                                      <a:latin typeface="Cambria Math"/>
                                    </a:rPr>
                                  </m:ctrlPr>
                                </m:accPr>
                                <m:e>
                                  <m:r>
                                    <a:rPr sz="2700">
                                      <a:solidFill>
                                        <a:srgbClr val="252529"/>
                                      </a:solidFill>
                                      <a:latin typeface="Cambria Math"/>
                                    </a:rPr>
                                    <m:t>𝑧</m:t>
                                  </m:r>
                                </m:e>
                              </m:acc>
                            </m:e>
                          </m:d>
                        </m:e>
                        <m:sup>
                          <m:r>
                            <a:rPr sz="2700">
                              <a:solidFill>
                                <a:srgbClr val="252529"/>
                              </a:solidFill>
                              <a:latin typeface="Cambria Math"/>
                            </a:rPr>
                            <m:t>2</m:t>
                          </m:r>
                        </m:sup>
                      </m:sSup>
                      <m:r>
                        <a:rPr sz="2700">
                          <a:solidFill>
                            <a:srgbClr val="252529"/>
                          </a:solidFill>
                          <a:latin typeface="Cambria Math"/>
                        </a:rPr>
                        <m:t>−</m:t>
                      </m:r>
                      <m:sSup>
                        <m:sSupPr>
                          <m:ctrlPr>
                            <a:rPr sz="2700" i="1">
                              <a:solidFill>
                                <a:srgbClr val="252529"/>
                              </a:solidFill>
                              <a:latin typeface="Cambria Math" panose="02040503050406030204" pitchFamily="18" charset="0"/>
                            </a:rPr>
                          </m:ctrlPr>
                        </m:sSupPr>
                        <m:e>
                          <m:d>
                            <m:dPr>
                              <m:begChr m:val="‖"/>
                              <m:endChr m:val="‖"/>
                              <m:ctrlPr>
                                <a:rPr sz="2700" i="1">
                                  <a:solidFill>
                                    <a:srgbClr val="252529"/>
                                  </a:solidFill>
                                  <a:latin typeface="Cambria Math" panose="02040503050406030204" pitchFamily="18" charset="0"/>
                                </a:rPr>
                              </m:ctrlPr>
                            </m:dPr>
                            <m:e>
                              <m:acc>
                                <m:accPr>
                                  <m:chr m:val="̃"/>
                                  <m:ctrlPr>
                                    <a:rPr sz="2700">
                                      <a:solidFill>
                                        <a:srgbClr val="252529"/>
                                      </a:solidFill>
                                      <a:latin typeface="Cambria Math"/>
                                    </a:rPr>
                                  </m:ctrlPr>
                                </m:accPr>
                                <m:e>
                                  <m:r>
                                    <a:rPr sz="2700">
                                      <a:solidFill>
                                        <a:srgbClr val="252529"/>
                                      </a:solidFill>
                                      <a:latin typeface="Cambria Math"/>
                                    </a:rPr>
                                    <m:t>𝑤</m:t>
                                  </m:r>
                                </m:e>
                              </m:acc>
                            </m:e>
                          </m:d>
                        </m:e>
                        <m:sup>
                          <m:r>
                            <a:rPr sz="2700">
                              <a:solidFill>
                                <a:srgbClr val="252529"/>
                              </a:solidFill>
                              <a:latin typeface="Cambria Math"/>
                            </a:rPr>
                            <m:t>2</m:t>
                          </m:r>
                        </m:sup>
                      </m:sSup>
                      <m:r>
                        <a:rPr sz="2700">
                          <a:solidFill>
                            <a:srgbClr val="252529"/>
                          </a:solidFill>
                          <a:latin typeface="Cambria Math"/>
                        </a:rPr>
                        <m:t>&lt;0</m:t>
                      </m:r>
                    </m:oMath>
                  </m:oMathPara>
                </a14:m>
                <a:endParaRPr sz="2700"/>
              </a:p>
            </p:txBody>
          </p:sp>
        </mc:Choice>
        <mc:Fallback>
          <p:sp>
            <p:nvSpPr>
              <p:cNvPr id="1003" name="Requested dissipativity inequality"/>
              <p:cNvSpPr>
                <a:spLocks noRot="1" noChangeAspect="1" noMove="1" noResize="1" noEditPoints="1" noAdjustHandles="1" noChangeArrowheads="1" noChangeShapeType="1" noTextEdit="1"/>
              </p:cNvSpPr>
              <p:nvPr/>
            </p:nvSpPr>
            <p:spPr>
              <a:xfrm>
                <a:off x="381000" y="1170940"/>
                <a:ext cx="8382000" cy="960120"/>
              </a:xfrm>
              <a:prstGeom prst="rect">
                <a:avLst/>
              </a:prstGeom>
              <a:blipFill>
                <a:blip r:embed="rIdSectorStory40_0"/>
                <a:stretch>
                  <a:fillRect/>
                </a:stretch>
              </a:blipFill>
              <a:ln>
                <a:noFill/>
              </a:ln>
            </p:spPr>
            <p:txBody>
              <a:bodyPr/>
              <a:lstStyle/>
              <a:p>
                <a:r>
                  <a:rPr lang="en-NL">
                    <a:noFill/>
                  </a:rPr>
                  <a:t> </a:t>
                </a:r>
              </a:p>
            </p:txBody>
          </p:sp>
        </mc:Fallback>
      </mc:AlternateContent>
      <p:sp>
        <p:nvSpPr>
          <p:cNvPr id="1004" name="Strictness qualification"/>
          <p:cNvSpPr/>
          <p:nvPr/>
        </p:nvSpPr>
        <p:spPr>
          <a:xfrm>
            <a:off x="444500" y="1955800"/>
            <a:ext cx="8255000" cy="22860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For nonzero states; use a uniform strict margin.</a:t>
            </a:r>
            <a:endParaRPr sz="1200"/>
          </a:p>
        </p:txBody>
      </p:sp>
      <mc:AlternateContent xmlns:mc="http://schemas.openxmlformats.org/markup-compatibility/2006">
        <mc:Choice xmlns:a14="http://schemas.microsoft.com/office/drawing/2010/main" Requires="a14">
          <p:sp>
            <p:nvSpPr>
              <p:cNvPr id="1005" name="Sector condition for stability"/>
              <p:cNvSpPr/>
              <p:nvPr/>
            </p:nvSpPr>
            <p:spPr>
              <a:xfrm>
                <a:off x="501650" y="2349500"/>
                <a:ext cx="34925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147C60"/>
                          </a:solidFill>
                          <a:latin typeface="Cambria Math"/>
                        </a:rPr>
                        <m:t>𝜎</m:t>
                      </m:r>
                      <m:r>
                        <a:rPr sz="2500">
                          <a:solidFill>
                            <a:srgbClr val="147C60"/>
                          </a:solidFill>
                          <a:latin typeface="Cambria Math"/>
                        </a:rPr>
                        <m:t>≥0</m:t>
                      </m:r>
                    </m:oMath>
                  </m:oMathPara>
                </a14:m>
                <a:endParaRPr sz="2500"/>
              </a:p>
            </p:txBody>
          </p:sp>
        </mc:Choice>
        <mc:Fallback>
          <p:sp>
            <p:nvSpPr>
              <p:cNvPr id="1005" name="Sector condition for stability"/>
              <p:cNvSpPr>
                <a:spLocks noRot="1" noChangeAspect="1" noMove="1" noResize="1" noEditPoints="1" noAdjustHandles="1" noChangeArrowheads="1" noChangeShapeType="1" noTextEdit="1"/>
              </p:cNvSpPr>
              <p:nvPr/>
            </p:nvSpPr>
            <p:spPr>
              <a:xfrm>
                <a:off x="501650" y="2349500"/>
                <a:ext cx="3492500" cy="889000"/>
              </a:xfrm>
              <a:prstGeom prst="rect">
                <a:avLst/>
              </a:prstGeom>
              <a:blipFill>
                <a:blip r:embed="rIdSectorStory40_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6" name="Uniform plant certificate"/>
              <p:cNvSpPr/>
              <p:nvPr/>
            </p:nvSpPr>
            <p:spPr>
              <a:xfrm>
                <a:off x="4044950" y="2402840"/>
                <a:ext cx="4635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𝑉</m:t>
                          </m:r>
                        </m:e>
                      </m:acc>
                      <m:r>
                        <a:rPr sz="2200">
                          <a:solidFill>
                            <a:srgbClr val="252529"/>
                          </a:solidFill>
                          <a:latin typeface="Cambria Math"/>
                        </a:rPr>
                        <m:t>+</m:t>
                      </m:r>
                      <m:r>
                        <a:rPr sz="2200">
                          <a:solidFill>
                            <a:srgbClr val="252529"/>
                          </a:solidFill>
                          <a:latin typeface="Cambria Math"/>
                        </a:rPr>
                        <m:t>𝜎</m:t>
                      </m:r>
                      <m:r>
                        <a:rPr sz="2200">
                          <a:solidFill>
                            <a:srgbClr val="252529"/>
                          </a:solidFill>
                          <a:latin typeface="Cambria Math"/>
                        </a:rPr>
                        <m:t>≤−</m:t>
                      </m:r>
                      <m:r>
                        <a:rPr sz="2200">
                          <a:solidFill>
                            <a:srgbClr val="252529"/>
                          </a:solidFill>
                          <a:latin typeface="Cambria Math"/>
                        </a:rPr>
                        <m:t>𝜀</m:t>
                      </m:r>
                      <m:sSup>
                        <m:sSupPr>
                          <m:ctrlPr>
                            <a:rPr sz="2200" i="1">
                              <a:solidFill>
                                <a:srgbClr val="252529"/>
                              </a:solidFill>
                              <a:latin typeface="Cambria Math" panose="02040503050406030204" pitchFamily="18" charset="0"/>
                            </a:rPr>
                          </m:ctrlPr>
                        </m:sSupPr>
                        <m:e>
                          <m:d>
                            <m:dPr>
                              <m:begChr m:val="‖"/>
                              <m:endChr m:val="‖"/>
                              <m:ctrlPr>
                                <a:rPr sz="2200">
                                  <a:solidFill>
                                    <a:srgbClr val="252529"/>
                                  </a:solidFill>
                                  <a:latin typeface="Cambria Math"/>
                                </a:rPr>
                              </m:ctrlPr>
                            </m:dPr>
                            <m:e>
                              <m:r>
                                <a:rPr sz="2200">
                                  <a:solidFill>
                                    <a:srgbClr val="252529"/>
                                  </a:solidFill>
                                  <a:latin typeface="Cambria Math"/>
                                </a:rPr>
                                <m:t>𝑥</m:t>
                              </m:r>
                            </m:e>
                          </m:d>
                        </m:e>
                        <m:sup>
                          <m:r>
                            <a:rPr sz="2200">
                              <a:solidFill>
                                <a:srgbClr val="252529"/>
                              </a:solidFill>
                              <a:latin typeface="Cambria Math"/>
                            </a:rPr>
                            <m:t>2</m:t>
                          </m:r>
                        </m:sup>
                      </m:sSup>
                      <m:r>
                        <a:rPr sz="2200">
                          <a:solidFill>
                            <a:srgbClr val="252529"/>
                          </a:solidFill>
                          <a:latin typeface="Cambria Math"/>
                        </a:rPr>
                        <m:t>, </m:t>
                      </m:r>
                      <m:r>
                        <a:rPr sz="2200">
                          <a:solidFill>
                            <a:srgbClr val="252529"/>
                          </a:solidFill>
                          <a:latin typeface="Cambria Math"/>
                        </a:rPr>
                        <m:t>𝜀</m:t>
                      </m:r>
                      <m:r>
                        <a:rPr sz="2200">
                          <a:solidFill>
                            <a:srgbClr val="252529"/>
                          </a:solidFill>
                          <a:latin typeface="Cambria Math"/>
                        </a:rPr>
                        <m:t>&gt;0</m:t>
                      </m:r>
                    </m:oMath>
                  </m:oMathPara>
                </a14:m>
                <a:endParaRPr sz="2200"/>
              </a:p>
            </p:txBody>
          </p:sp>
        </mc:Choice>
        <mc:Fallback>
          <p:sp>
            <p:nvSpPr>
              <p:cNvPr id="1006" name="Uniform plant certificate"/>
              <p:cNvSpPr>
                <a:spLocks noRot="1" noChangeAspect="1" noMove="1" noResize="1" noEditPoints="1" noAdjustHandles="1" noChangeArrowheads="1" noChangeShapeType="1" noTextEdit="1"/>
              </p:cNvSpPr>
              <p:nvPr/>
            </p:nvSpPr>
            <p:spPr>
              <a:xfrm>
                <a:off x="4044950" y="2402840"/>
                <a:ext cx="4635500" cy="782320"/>
              </a:xfrm>
              <a:prstGeom prst="rect">
                <a:avLst/>
              </a:prstGeom>
              <a:blipFill>
                <a:blip r:embed="rIdSectorStory40_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7" name="Closed loop decay"/>
              <p:cNvSpPr/>
              <p:nvPr/>
            </p:nvSpPr>
            <p:spPr>
              <a:xfrm>
                <a:off x="444500" y="2987040"/>
                <a:ext cx="8255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700">
                          <a:solidFill>
                            <a:srgbClr val="252529"/>
                          </a:solidFill>
                          <a:latin typeface="Cambria Math"/>
                        </a:rPr>
                        <m:t>⇒  </m:t>
                      </m:r>
                      <m:acc>
                        <m:accPr>
                          <m:chr m:val="̇"/>
                          <m:ctrlPr>
                            <a:rPr sz="2700">
                              <a:solidFill>
                                <a:srgbClr val="252529"/>
                              </a:solidFill>
                              <a:latin typeface="Cambria Math"/>
                            </a:rPr>
                          </m:ctrlPr>
                        </m:accPr>
                        <m:e>
                          <m:r>
                            <a:rPr sz="2700">
                              <a:solidFill>
                                <a:srgbClr val="252529"/>
                              </a:solidFill>
                              <a:latin typeface="Cambria Math"/>
                            </a:rPr>
                            <m:t>𝑉</m:t>
                          </m:r>
                        </m:e>
                      </m:acc>
                      <m:r>
                        <a:rPr sz="2700">
                          <a:solidFill>
                            <a:srgbClr val="252529"/>
                          </a:solidFill>
                          <a:latin typeface="Cambria Math"/>
                        </a:rPr>
                        <m:t>≤−</m:t>
                      </m:r>
                      <m:r>
                        <a:rPr sz="2700">
                          <a:solidFill>
                            <a:srgbClr val="252529"/>
                          </a:solidFill>
                          <a:latin typeface="Cambria Math"/>
                        </a:rPr>
                        <m:t>𝜀</m:t>
                      </m:r>
                      <m:sSup>
                        <m:sSupPr>
                          <m:ctrlPr>
                            <a:rPr sz="2700" i="1">
                              <a:solidFill>
                                <a:srgbClr val="252529"/>
                              </a:solidFill>
                              <a:latin typeface="Cambria Math" panose="02040503050406030204" pitchFamily="18" charset="0"/>
                            </a:rPr>
                          </m:ctrlPr>
                        </m:sSupPr>
                        <m:e>
                          <m:d>
                            <m:dPr>
                              <m:begChr m:val="‖"/>
                              <m:endChr m:val="‖"/>
                              <m:ctrlPr>
                                <a:rPr sz="2700">
                                  <a:solidFill>
                                    <a:srgbClr val="252529"/>
                                  </a:solidFill>
                                  <a:latin typeface="Cambria Math"/>
                                </a:rPr>
                              </m:ctrlPr>
                            </m:dPr>
                            <m:e>
                              <m:r>
                                <a:rPr sz="2700">
                                  <a:solidFill>
                                    <a:srgbClr val="252529"/>
                                  </a:solidFill>
                                  <a:latin typeface="Cambria Math"/>
                                </a:rPr>
                                <m:t>𝑥</m:t>
                              </m:r>
                            </m:e>
                          </m:d>
                        </m:e>
                        <m:sup>
                          <m:r>
                            <a:rPr sz="2700">
                              <a:solidFill>
                                <a:srgbClr val="252529"/>
                              </a:solidFill>
                              <a:latin typeface="Cambria Math"/>
                            </a:rPr>
                            <m:t>2</m:t>
                          </m:r>
                        </m:sup>
                      </m:sSup>
                    </m:oMath>
                  </m:oMathPara>
                </a14:m>
                <a:endParaRPr sz="2700"/>
              </a:p>
            </p:txBody>
          </p:sp>
        </mc:Choice>
        <mc:Fallback>
          <p:sp>
            <p:nvSpPr>
              <p:cNvPr id="1007" name="Closed loop decay"/>
              <p:cNvSpPr>
                <a:spLocks noRot="1" noChangeAspect="1" noMove="1" noResize="1" noEditPoints="1" noAdjustHandles="1" noChangeArrowheads="1" noChangeShapeType="1" noTextEdit="1"/>
              </p:cNvSpPr>
              <p:nvPr/>
            </p:nvSpPr>
            <p:spPr>
              <a:xfrm>
                <a:off x="444500" y="2987040"/>
                <a:ext cx="8255000" cy="960120"/>
              </a:xfrm>
              <a:prstGeom prst="rect">
                <a:avLst/>
              </a:prstGeom>
              <a:blipFill>
                <a:blip r:embed="rIdSectorStory40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8" name="Coercive storage and rate"/>
              <p:cNvSpPr/>
              <p:nvPr/>
            </p:nvSpPr>
            <p:spPr>
              <a:xfrm>
                <a:off x="381000" y="3713480"/>
                <a:ext cx="8382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𝑚</m:t>
                      </m:r>
                      <m:sSup>
                        <m:sSupPr>
                          <m:ctrlPr>
                            <a:rPr sz="1900" i="1">
                              <a:solidFill>
                                <a:srgbClr val="252529"/>
                              </a:solidFill>
                              <a:latin typeface="Cambria Math" panose="02040503050406030204" pitchFamily="18" charset="0"/>
                            </a:rPr>
                          </m:ctrlPr>
                        </m:sSupPr>
                        <m:e>
                          <m:d>
                            <m:dPr>
                              <m:begChr m:val="‖"/>
                              <m:endChr m:val="‖"/>
                              <m:ctrlPr>
                                <a:rPr sz="1900">
                                  <a:solidFill>
                                    <a:srgbClr val="252529"/>
                                  </a:solidFill>
                                  <a:latin typeface="Cambria Math"/>
                                </a:rPr>
                              </m:ctrlPr>
                            </m:dPr>
                            <m:e>
                              <m:r>
                                <a:rPr sz="1900">
                                  <a:solidFill>
                                    <a:srgbClr val="252529"/>
                                  </a:solidFill>
                                  <a:latin typeface="Cambria Math"/>
                                </a:rPr>
                                <m:t>𝑥</m:t>
                              </m:r>
                            </m:e>
                          </m:d>
                        </m:e>
                        <m:sup>
                          <m:r>
                            <a:rPr sz="1900">
                              <a:solidFill>
                                <a:srgbClr val="252529"/>
                              </a:solidFill>
                              <a:latin typeface="Cambria Math"/>
                            </a:rPr>
                            <m:t>2</m:t>
                          </m:r>
                        </m:sup>
                      </m:sSup>
                      <m:r>
                        <a:rPr sz="1900">
                          <a:solidFill>
                            <a:srgbClr val="252529"/>
                          </a:solidFill>
                          <a:latin typeface="Cambria Math"/>
                        </a:rPr>
                        <m:t>≤</m:t>
                      </m:r>
                      <m:r>
                        <a:rPr sz="1900">
                          <a:solidFill>
                            <a:srgbClr val="252529"/>
                          </a:solidFill>
                          <a:latin typeface="Cambria Math"/>
                        </a:rPr>
                        <m:t>𝑉</m:t>
                      </m:r>
                      <m:r>
                        <a:rPr sz="1900">
                          <a:solidFill>
                            <a:srgbClr val="252529"/>
                          </a:solidFill>
                          <a:latin typeface="Cambria Math"/>
                        </a:rPr>
                        <m:t>≤</m:t>
                      </m:r>
                      <m:r>
                        <a:rPr sz="1900">
                          <a:solidFill>
                            <a:srgbClr val="252529"/>
                          </a:solidFill>
                          <a:latin typeface="Cambria Math"/>
                        </a:rPr>
                        <m:t>𝑀</m:t>
                      </m:r>
                      <m:sSup>
                        <m:sSupPr>
                          <m:ctrlPr>
                            <a:rPr sz="1900" i="1">
                              <a:solidFill>
                                <a:srgbClr val="252529"/>
                              </a:solidFill>
                              <a:latin typeface="Cambria Math" panose="02040503050406030204" pitchFamily="18" charset="0"/>
                            </a:rPr>
                          </m:ctrlPr>
                        </m:sSupPr>
                        <m:e>
                          <m:d>
                            <m:dPr>
                              <m:begChr m:val="‖"/>
                              <m:endChr m:val="‖"/>
                              <m:ctrlPr>
                                <a:rPr sz="1900">
                                  <a:solidFill>
                                    <a:srgbClr val="252529"/>
                                  </a:solidFill>
                                  <a:latin typeface="Cambria Math"/>
                                </a:rPr>
                              </m:ctrlPr>
                            </m:dPr>
                            <m:e>
                              <m:r>
                                <a:rPr sz="1900">
                                  <a:solidFill>
                                    <a:srgbClr val="252529"/>
                                  </a:solidFill>
                                  <a:latin typeface="Cambria Math"/>
                                </a:rPr>
                                <m:t>𝑥</m:t>
                              </m:r>
                            </m:e>
                          </m:d>
                        </m:e>
                        <m:sup>
                          <m:r>
                            <a:rPr sz="1900">
                              <a:solidFill>
                                <a:srgbClr val="252529"/>
                              </a:solidFill>
                              <a:latin typeface="Cambria Math"/>
                            </a:rPr>
                            <m:t>2</m:t>
                          </m:r>
                        </m:sup>
                      </m:sSup>
                      <m:r>
                        <a:rPr sz="1900">
                          <a:solidFill>
                            <a:srgbClr val="252529"/>
                          </a:solidFill>
                          <a:latin typeface="Cambria Math"/>
                        </a:rPr>
                        <m:t>  ⇒  </m:t>
                      </m:r>
                      <m:r>
                        <a:rPr sz="1900">
                          <a:solidFill>
                            <a:srgbClr val="252529"/>
                          </a:solidFill>
                          <a:latin typeface="Cambria Math"/>
                        </a:rPr>
                        <m:t>𝑉</m:t>
                      </m:r>
                      <m:d>
                        <m:dPr>
                          <m:ctrlPr>
                            <a:rPr sz="1900">
                              <a:solidFill>
                                <a:srgbClr val="252529"/>
                              </a:solidFill>
                              <a:latin typeface="Cambria Math"/>
                            </a:rPr>
                          </m:ctrlPr>
                        </m:dPr>
                        <m:e>
                          <m:r>
                            <a:rPr sz="1900">
                              <a:solidFill>
                                <a:srgbClr val="252529"/>
                              </a:solidFill>
                              <a:latin typeface="Cambria Math"/>
                            </a:rPr>
                            <m:t>𝑡</m:t>
                          </m:r>
                        </m:e>
                      </m:d>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𝑒</m:t>
                          </m:r>
                        </m:e>
                        <m:sup>
                          <m:r>
                            <a:rPr sz="1900">
                              <a:solidFill>
                                <a:srgbClr val="252529"/>
                              </a:solidFill>
                              <a:latin typeface="Cambria Math"/>
                            </a:rPr>
                            <m:t>−</m:t>
                          </m:r>
                          <m:r>
                            <a:rPr sz="1900">
                              <a:solidFill>
                                <a:srgbClr val="252529"/>
                              </a:solidFill>
                              <a:latin typeface="Cambria Math"/>
                            </a:rPr>
                            <m:t>𝜀</m:t>
                          </m:r>
                          <m:r>
                            <a:rPr sz="1900">
                              <a:solidFill>
                                <a:srgbClr val="252529"/>
                              </a:solidFill>
                              <a:latin typeface="Cambria Math"/>
                            </a:rPr>
                            <m:t>𝑡</m:t>
                          </m:r>
                          <m:r>
                            <a:rPr sz="1900">
                              <a:solidFill>
                                <a:srgbClr val="252529"/>
                              </a:solidFill>
                              <a:latin typeface="Cambria Math"/>
                            </a:rPr>
                            <m:t>/</m:t>
                          </m:r>
                          <m:r>
                            <a:rPr sz="1900">
                              <a:solidFill>
                                <a:srgbClr val="252529"/>
                              </a:solidFill>
                              <a:latin typeface="Cambria Math"/>
                            </a:rPr>
                            <m:t>𝑀</m:t>
                          </m:r>
                        </m:sup>
                      </m:sSup>
                      <m:r>
                        <a:rPr sz="1900">
                          <a:solidFill>
                            <a:srgbClr val="252529"/>
                          </a:solidFill>
                          <a:latin typeface="Cambria Math"/>
                        </a:rPr>
                        <m:t>𝑉</m:t>
                      </m:r>
                      <m:d>
                        <m:dPr>
                          <m:ctrlPr>
                            <a:rPr sz="1900">
                              <a:solidFill>
                                <a:srgbClr val="252529"/>
                              </a:solidFill>
                              <a:latin typeface="Cambria Math"/>
                            </a:rPr>
                          </m:ctrlPr>
                        </m:dPr>
                        <m:e>
                          <m:r>
                            <a:rPr sz="1900">
                              <a:solidFill>
                                <a:srgbClr val="252529"/>
                              </a:solidFill>
                              <a:latin typeface="Cambria Math"/>
                            </a:rPr>
                            <m:t>0</m:t>
                          </m:r>
                        </m:e>
                      </m:d>
                    </m:oMath>
                  </m:oMathPara>
                </a14:m>
                <a:endParaRPr sz="1900"/>
              </a:p>
            </p:txBody>
          </p:sp>
        </mc:Choice>
        <mc:Fallback>
          <p:sp>
            <p:nvSpPr>
              <p:cNvPr id="1008" name="Coercive storage and rate"/>
              <p:cNvSpPr>
                <a:spLocks noRot="1" noChangeAspect="1" noMove="1" noResize="1" noEditPoints="1" noAdjustHandles="1" noChangeArrowheads="1" noChangeShapeType="1" noTextEdit="1"/>
              </p:cNvSpPr>
              <p:nvPr/>
            </p:nvSpPr>
            <p:spPr>
              <a:xfrm>
                <a:off x="381000" y="3713480"/>
                <a:ext cx="8382000" cy="675640"/>
              </a:xfrm>
              <a:prstGeom prst="rect">
                <a:avLst/>
              </a:prstGeom>
              <a:blipFill>
                <a:blip r:embed="rIdSectorStory40_1"/>
                <a:stretch>
                  <a:fillRect/>
                </a:stretch>
              </a:blipFill>
              <a:ln>
                <a:noFill/>
              </a:ln>
            </p:spPr>
            <p:txBody>
              <a:bodyPr/>
              <a:lstStyle/>
              <a:p>
                <a:r>
                  <a:rPr lang="en-NL">
                    <a:noFill/>
                  </a:rPr>
                  <a:t> </a:t>
                </a:r>
              </a:p>
            </p:txBody>
          </p:sp>
        </mc:Fallback>
      </mc:AlternateContent>
      <p:sp>
        <p:nvSpPr>
          <p:cNvPr id="1009" name="Robust conclusion"/>
          <p:cNvSpPr/>
          <p:nvPr/>
        </p:nvSpPr>
        <p:spPr>
          <a:xfrm>
            <a:off x="444500" y="4378325"/>
            <a:ext cx="8255000" cy="361950"/>
          </a:xfrm>
          <a:prstGeom prst="rect">
            <a:avLst/>
          </a:prstGeom>
          <a:noFill/>
          <a:ln>
            <a:noFill/>
          </a:ln>
        </p:spPr>
        <p:txBody>
          <a:bodyPr wrap="none" lIns="0" tIns="0" rIns="0" bIns="0" anchor="ctr">
            <a:noAutofit/>
          </a:bodyPr>
          <a:lstStyle/>
          <a:p>
            <a:pPr algn="ctr">
              <a:buNone/>
            </a:pPr>
            <a:r>
              <a:rPr lang="en-GB" sz="1900" b="1" i="0" u="none" baseline="0">
                <a:solidFill>
                  <a:srgbClr val="147C60"/>
                </a:solidFill>
                <a:latin typeface="Aptos"/>
                <a:ea typeface="Aptos"/>
                <a:cs typeface="Aptos"/>
              </a:rPr>
              <a:t>Stable for every Δ in the sector.</a:t>
            </a:r>
            <a:endParaRPr sz="1900"/>
          </a:p>
        </p:txBody>
      </p:sp>
      <p:sp>
        <p:nvSpPr>
          <p:cNvPr id="101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5"/>
                                        </p:tgtEl>
                                        <p:attrNameLst>
                                          <p:attrName>style.visibility</p:attrName>
                                        </p:attrNameLst>
                                      </p:cBhvr>
                                      <p:to>
                                        <p:strVal val="visible"/>
                                      </p:to>
                                    </p:set>
                                    <p:animEffect transition="in" filter="fade">
                                      <p:cBhvr>
                                        <p:cTn id="7" dur="500"/>
                                        <p:tgtEl>
                                          <p:spTgt spid="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06"/>
                                        </p:tgtEl>
                                        <p:attrNameLst>
                                          <p:attrName>style.visibility</p:attrName>
                                        </p:attrNameLst>
                                      </p:cBhvr>
                                      <p:to>
                                        <p:strVal val="visible"/>
                                      </p:to>
                                    </p:set>
                                    <p:animEffect transition="in" filter="fade">
                                      <p:cBhvr>
                                        <p:cTn id="10" dur="500"/>
                                        <p:tgtEl>
                                          <p:spTgt spid="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7"/>
                                        </p:tgtEl>
                                        <p:attrNameLst>
                                          <p:attrName>style.visibility</p:attrName>
                                        </p:attrNameLst>
                                      </p:cBhvr>
                                      <p:to>
                                        <p:strVal val="visible"/>
                                      </p:to>
                                    </p:set>
                                    <p:animEffect transition="in" filter="fade">
                                      <p:cBhvr>
                                        <p:cTn id="15" dur="500"/>
                                        <p:tgtEl>
                                          <p:spTgt spid="1007"/>
                                        </p:tgtEl>
                                      </p:cBhvr>
                                    </p:animEffect>
                                  </p:childTnLst>
                                </p:cTn>
                              </p:par>
                              <p:par>
                                <p:cTn id="16" presetID="10" presetClass="entr" presetSubtype="0" fill="hold" grpId="0" nodeType="withEffect">
                                  <p:stCondLst>
                                    <p:cond delay="350"/>
                                  </p:stCondLst>
                                  <p:childTnLst>
                                    <p:set>
                                      <p:cBhvr>
                                        <p:cTn id="17" dur="1" fill="hold">
                                          <p:stCondLst>
                                            <p:cond delay="0"/>
                                          </p:stCondLst>
                                        </p:cTn>
                                        <p:tgtEl>
                                          <p:spTgt spid="1008"/>
                                        </p:tgtEl>
                                        <p:attrNameLst>
                                          <p:attrName>style.visibility</p:attrName>
                                        </p:attrNameLst>
                                      </p:cBhvr>
                                      <p:to>
                                        <p:strVal val="visible"/>
                                      </p:to>
                                    </p:set>
                                    <p:animEffect transition="in" filter="fade">
                                      <p:cBhvr>
                                        <p:cTn id="18" dur="500"/>
                                        <p:tgtEl>
                                          <p:spTgt spid="1008"/>
                                        </p:tgtEl>
                                      </p:cBhvr>
                                    </p:animEffect>
                                  </p:childTnLst>
                                </p:cTn>
                              </p:par>
                              <p:par>
                                <p:cTn id="19" presetID="10" presetClass="entr" presetSubtype="0" fill="hold" grpId="0" nodeType="withEffect">
                                  <p:stCondLst>
                                    <p:cond delay="600"/>
                                  </p:stCondLst>
                                  <p:childTnLst>
                                    <p:set>
                                      <p:cBhvr>
                                        <p:cTn id="20" dur="1" fill="hold">
                                          <p:stCondLst>
                                            <p:cond delay="0"/>
                                          </p:stCondLst>
                                        </p:cTn>
                                        <p:tgtEl>
                                          <p:spTgt spid="1009"/>
                                        </p:tgtEl>
                                        <p:attrNameLst>
                                          <p:attrName>style.visibility</p:attrName>
                                        </p:attrNameLst>
                                      </p:cBhvr>
                                      <p:to>
                                        <p:strVal val="visible"/>
                                      </p:to>
                                    </p:set>
                                    <p:animEffect transition="in" filter="fade">
                                      <p:cBhvr>
                                        <p:cTn id="21" dur="500"/>
                                        <p:tgtEl>
                                          <p:spTgt spid="1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5" grpId="0"/>
      <p:bldP spid="1006" grpId="0"/>
      <p:bldP spid="1007" grpId="0"/>
      <p:bldP spid="1008" grpId="0"/>
      <p:bldP spid="1009" grpId="0"/>
    </p:bldLst>
  </p:timing>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5427</TotalTime>
  <Words>6863</Words>
  <Application>Microsoft Office PowerPoint</Application>
  <PresentationFormat>On-screen Show (16:9)</PresentationFormat>
  <Paragraphs>1044</Paragraphs>
  <Slides>55</Slides>
  <Notes>43</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31</cp:revision>
  <dcterms:created xsi:type="dcterms:W3CDTF">2019-11-27T15:26:32Z</dcterms:created>
  <dcterms:modified xsi:type="dcterms:W3CDTF">2026-09-27T13:37:44Z</dcterms:modified>
</cp:coreProperties>
</file>