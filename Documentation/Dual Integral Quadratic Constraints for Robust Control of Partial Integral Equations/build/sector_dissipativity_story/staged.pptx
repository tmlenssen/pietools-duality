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259" r:id="rId38"/>
    <p:sldId id="453" r:id="rId39"/>
    <p:sldId id="441" r:id="rId40"/>
    <p:sldId id="471" r:id="rIdSectorStability"/>
    <p:sldId id="442" r:id="rId41"/>
    <p:sldId id="443" r:id="rId42"/>
    <p:sldId id="450" r:id="rId43"/>
    <p:sldId id="451" r:id="rId44"/>
    <p:sldId id="452" r:id="rId45"/>
    <p:sldId id="439" r:id="rId46"/>
    <p:sldId id="458" r:id="rId47"/>
    <p:sldId id="421" r:id="rId48"/>
    <p:sldId id="427" r:id="rId49"/>
    <p:sldId id="431" r:id="rId50"/>
    <p:sldId id="428" r:id="rId51"/>
    <p:sldId id="429" r:id="rId52"/>
    <p:sldId id="432" r:id="rId53"/>
    <p:sldId id="430" r:id="rId54"/>
    <p:sldId id="433" r:id="rId55"/>
    <p:sldId id="434" r:id="rId5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SectorStability"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 Id="rIdZoom13" Type="http://schemas.openxmlformats.org/officeDocument/2006/relationships/image" Target="../media/revised_lfr19_image102.png"/></Relationships>
</file>

<file path=ppt/slides/_rels/slide3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s>
</file>

<file path=ppt/slides/_rels/slide36.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s>
</file>

<file path=ppt/slides/_rels/slide37.xml.rels><?xml version="1.0" encoding="UTF-8" standalone="yes"?>
<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fill="norm">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fill="norm">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z</m:t>
                  </m:r>
                </m:oMath>
              </m:oMathPara>
            </a14:m>
            <a:endParaRPr sz="1300"/>
          </a:p>
        </p:txBody>
      </p:sp>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w</m:t>
                  </m:r>
                </m:oMath>
              </m:oMathPara>
            </a14:m>
            <a:endParaRPr sz="1300"/>
          </a:p>
        </p:txBody>
      </p:sp>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β</m:t>
                  </m:r>
                  <m:r>
                    <m:rPr>
                      <m:sty m:val="i"/>
                    </m:rPr>
                    <a:rPr sz="1300">
                      <a:solidFill>
                        <a:srgbClr val="252529"/>
                      </a:solidFill>
                      <a:latin typeface="Cambria Math"/>
                    </a:rPr>
                    <m:t xml:space="preserve">z</m:t>
                  </m:r>
                </m:oMath>
              </m:oMathPara>
            </a14:m>
            <a:endParaRPr sz="1300"/>
          </a:p>
        </p:txBody>
      </p:sp>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α</m:t>
                  </m:r>
                  <m:r>
                    <m:rPr>
                      <m:sty m:val="i"/>
                    </m:rPr>
                    <a:rPr sz="1200">
                      <a:solidFill>
                        <a:srgbClr val="252529"/>
                      </a:solidFill>
                      <a:latin typeface="Cambria Math"/>
                    </a:rPr>
                    <m:t xml:space="preserve">z</m:t>
                  </m:r>
                  <m:r>
                    <m:rPr>
                      <m:sty m:val="i"/>
                    </m:rPr>
                    <a:rPr sz="1200">
                      <a:solidFill>
                        <a:srgbClr val="252529"/>
                      </a:solidFill>
                      <a:latin typeface="Cambria Math"/>
                    </a:rPr>
                    <m:t xml:space="preserve">=</m:t>
                  </m:r>
                  <m:r>
                    <m:rPr>
                      <m:sty m:val="i"/>
                    </m:rPr>
                    <a:rPr sz="1200">
                      <a:solidFill>
                        <a:srgbClr val="252529"/>
                      </a:solidFill>
                      <a:latin typeface="Cambria Math"/>
                    </a:rPr>
                    <m:t xml:space="preserve">0</m:t>
                  </m:r>
                </m:oMath>
              </m:oMathPara>
            </a14:m>
            <a:endParaRPr sz="1200"/>
          </a:p>
        </p:txBody>
      </p:sp>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oMath>
              </m:oMathPara>
            </a14:m>
            <a:endParaRPr sz="1700"/>
          </a:p>
        </p:txBody>
      </p:sp>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w</m:t>
                  </m:r>
                </m:oMath>
              </m:oMathPara>
            </a14:m>
            <a:endParaRPr sz="1700"/>
          </a:p>
        </p:txBody>
      </p:sp>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w</m:t>
                  </m:r>
                  <m:r>
                    <m:rPr>
                      <m:sty m:val="i"/>
                    </m:rPr>
                    <a:rPr sz="2100">
                      <a:solidFill>
                        <a:srgbClr val="252529"/>
                      </a:solidFill>
                      <a:latin typeface="Cambria Math"/>
                    </a:rPr>
                    <m:t xml:space="preserve">=</m:t>
                  </m:r>
                  <m:r>
                    <m:rPr>
                      <m:sty m:val="i"/>
                    </m:rPr>
                    <a:rPr sz="2100">
                      <a:solidFill>
                        <a:srgbClr val="252529"/>
                      </a:solidFill>
                      <a:latin typeface="Cambria Math"/>
                    </a:rPr>
                    <m:t xml:space="preserve">Δ</m:t>
                  </m:r>
                  <m:d>
                    <m:dPr>
                      <m:begChr m:val="("/>
                      <m:endChr m:val=")"/>
                      <m:ctrlPr>
                        <a:rPr sz="2100">
                          <a:solidFill>
                            <a:srgbClr val="252529"/>
                          </a:solidFill>
                          <a:latin typeface="Cambria Math"/>
                        </a:rPr>
                      </m:ctrlPr>
                    </m:dPr>
                    <m:e>
                      <m:r>
                        <m:rPr>
                          <m:sty m:val="i"/>
                        </m:rPr>
                        <a:rPr sz="2100">
                          <a:solidFill>
                            <a:srgbClr val="252529"/>
                          </a:solidFill>
                          <a:latin typeface="Cambria Math"/>
                        </a:rPr>
                        <m:t xml:space="preserve">z</m:t>
                      </m:r>
                    </m:e>
                  </m:d>
                  <m:r>
                    <m:rPr>
                      <m:sty m:val="i"/>
                    </m:rPr>
                    <a:rPr sz="2100">
                      <a:solidFill>
                        <a:srgbClr val="252529"/>
                      </a:solidFill>
                      <a:latin typeface="Cambria Math"/>
                    </a:rPr>
                    <m:t xml:space="preserve">,</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Δ</m:t>
                  </m:r>
                  <m:d>
                    <m:dPr>
                      <m:begChr m:val="("/>
                      <m:endChr m:val=")"/>
                      <m:ctrlPr>
                        <a:rPr sz="2100">
                          <a:solidFill>
                            <a:srgbClr val="252529"/>
                          </a:solidFill>
                          <a:latin typeface="Cambria Math"/>
                        </a:rPr>
                      </m:ctrlPr>
                    </m:dPr>
                    <m:e>
                      <m:r>
                        <m:rPr>
                          <m:sty m:val="i"/>
                        </m:rPr>
                        <a:rPr sz="2100">
                          <a:solidFill>
                            <a:srgbClr val="252529"/>
                          </a:solidFill>
                          <a:latin typeface="Cambria Math"/>
                        </a:rPr>
                        <m:t xml:space="preserve">0</m:t>
                      </m:r>
                    </m:e>
                  </m:d>
                  <m:r>
                    <m:rPr>
                      <m:sty m:val="i"/>
                    </m:rPr>
                    <a:rPr sz="2100">
                      <a:solidFill>
                        <a:srgbClr val="252529"/>
                      </a:solidFill>
                      <a:latin typeface="Cambria Math"/>
                    </a:rPr>
                    <m:t xml:space="preserve">=</m:t>
                  </m:r>
                  <m:r>
                    <m:rPr>
                      <m:sty m:val="i"/>
                    </m:rPr>
                    <a:rPr sz="2100">
                      <a:solidFill>
                        <a:srgbClr val="252529"/>
                      </a:solidFill>
                      <a:latin typeface="Cambria Math"/>
                    </a:rPr>
                    <m:t xml:space="preserve">0</m:t>
                  </m:r>
                </m:oMath>
              </m:oMathPara>
            </a14:m>
            <a:endParaRPr sz="2100"/>
          </a:p>
        </p:txBody>
      </p:sp>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000">
                      <a:solidFill>
                        <a:srgbClr val="252529"/>
                      </a:solidFill>
                      <a:latin typeface="Cambria Math"/>
                    </a:rPr>
                    <m:t xml:space="preserve">α</m:t>
                  </m:r>
                  <m:r>
                    <m:rPr>
                      <m:sty m:val="i"/>
                    </m:rPr>
                    <a:rPr sz="2000">
                      <a:solidFill>
                        <a:srgbClr val="252529"/>
                      </a:solidFill>
                      <a:latin typeface="Cambria Math"/>
                    </a:rPr>
                    <m:t xml:space="preserve">≤</m:t>
                  </m:r>
                  <m:f>
                    <m:fPr>
                      <m:ctrlPr>
                        <a:rPr sz="2000">
                          <a:solidFill>
                            <a:srgbClr val="252529"/>
                          </a:solidFill>
                          <a:latin typeface="Cambria Math"/>
                        </a:rPr>
                      </m:ctrlPr>
                    </m:fPr>
                    <m:num>
                      <m:r>
                        <m:rPr>
                          <m:sty m:val="i"/>
                        </m:rPr>
                        <a:rPr sz="2000">
                          <a:solidFill>
                            <a:srgbClr val="252529"/>
                          </a:solidFill>
                          <a:latin typeface="Cambria Math"/>
                        </a:rPr>
                        <m:t xml:space="preserve">Δ</m:t>
                      </m:r>
                      <m:d>
                        <m:dPr>
                          <m:begChr m:val="("/>
                          <m:endChr m:val=")"/>
                          <m:ctrlPr>
                            <a:rPr sz="2000">
                              <a:solidFill>
                                <a:srgbClr val="252529"/>
                              </a:solidFill>
                              <a:latin typeface="Cambria Math"/>
                            </a:rPr>
                          </m:ctrlPr>
                        </m:dPr>
                        <m:e>
                          <m:r>
                            <m:rPr>
                              <m:sty m:val="i"/>
                            </m:rPr>
                            <a:rPr sz="2000">
                              <a:solidFill>
                                <a:srgbClr val="252529"/>
                              </a:solidFill>
                              <a:latin typeface="Cambria Math"/>
                            </a:rPr>
                            <m:t xml:space="preserve">z</m:t>
                          </m:r>
                        </m:e>
                      </m:d>
                    </m:num>
                    <m:den>
                      <m:r>
                        <m:rPr>
                          <m:sty m:val="i"/>
                        </m:rPr>
                        <a:rPr sz="2000">
                          <a:solidFill>
                            <a:srgbClr val="252529"/>
                          </a:solidFill>
                          <a:latin typeface="Cambria Math"/>
                        </a:rPr>
                        <m:t xml:space="preserve">z</m:t>
                      </m:r>
                    </m:den>
                  </m:f>
                  <m:r>
                    <m:rPr>
                      <m:sty m:val="i"/>
                    </m:rPr>
                    <a:rPr sz="2000">
                      <a:solidFill>
                        <a:srgbClr val="252529"/>
                      </a:solidFill>
                      <a:latin typeface="Cambria Math"/>
                    </a:rPr>
                    <m:t xml:space="preserve">≤</m:t>
                  </m:r>
                  <m:r>
                    <m:rPr>
                      <m:sty m:val="i"/>
                    </m:rPr>
                    <a:rPr sz="2000">
                      <a:solidFill>
                        <a:srgbClr val="252529"/>
                      </a:solidFill>
                      <a:latin typeface="Cambria Math"/>
                    </a:rPr>
                    <m:t xml:space="preserve">β</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z</m:t>
                  </m:r>
                  <m:r>
                    <m:rPr>
                      <m:sty m:val="i"/>
                    </m:rPr>
                    <a:rPr sz="2000">
                      <a:solidFill>
                        <a:srgbClr val="252529"/>
                      </a:solidFill>
                      <a:latin typeface="Cambria Math"/>
                    </a:rPr>
                    <m:t xml:space="preserve">≠</m:t>
                  </m:r>
                  <m:r>
                    <m:rPr>
                      <m:sty m:val="i"/>
                    </m:rPr>
                    <a:rPr sz="2000">
                      <a:solidFill>
                        <a:srgbClr val="252529"/>
                      </a:solidFill>
                      <a:latin typeface="Cambria Math"/>
                    </a:rPr>
                    <m:t xml:space="preserve">0</m:t>
                  </m:r>
                </m:oMath>
              </m:oMathPara>
            </a14:m>
            <a:endParaRPr sz="2000"/>
          </a:p>
        </p:txBody>
      </p:sp>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α</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β</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3</m:t>
                  </m:r>
                  <m:r>
                    <m:rPr>
                      <m:sty m:val="i"/>
                    </m:rPr>
                    <a:rPr sz="1700">
                      <a:solidFill>
                        <a:srgbClr val="252529"/>
                      </a:solidFill>
                      <a:latin typeface="Cambria Math"/>
                    </a:rPr>
                    <m:t xml:space="preserve">4</m:t>
                  </m:r>
                  <m:r>
                    <m:rPr>
                      <m:sty m:val="i"/>
                    </m:rPr>
                    <a:rPr sz="1700">
                      <a:solidFill>
                        <a:srgbClr val="252529"/>
                      </a:solidFill>
                      <a:latin typeface="Cambria Math"/>
                    </a:rPr>
                    <m:t xml:space="preserve">4</m:t>
                  </m:r>
                </m:oMath>
              </m:oMathPara>
            </a14:m>
            <a:endParaRPr sz="1700"/>
          </a:p>
        </p:txBody>
      </p:sp>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Zoom1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100">
        <p159:morph option="byObject"/>
      </p:transition>
    </mc:Choice>
    <mc:Fallback>
      <p:transition>
        <p:fade/>
      </p:transition>
    </mc:Fallback>
  </mc:AlternateContent>
</p:sld>
</file>

<file path=ppt/slides/slide35.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The sector gives two signed gaps</a:t>
            </a:r>
            <a:endParaRPr sz="2500"/>
          </a:p>
        </p:txBody>
      </p:sp>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z</m:t>
                  </m:r>
                </m:oMath>
              </m:oMathPara>
            </a14:m>
            <a:endParaRPr sz="1300"/>
          </a:p>
        </p:txBody>
      </p:sp>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w</m:t>
                  </m:r>
                </m:oMath>
              </m:oMathPara>
            </a14:m>
            <a:endParaRPr sz="1300"/>
          </a:p>
        </p:txBody>
      </p:sp>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β</m:t>
                  </m:r>
                  <m:r>
                    <m:rPr>
                      <m:sty m:val="i"/>
                    </m:rPr>
                    <a:rPr sz="1300">
                      <a:solidFill>
                        <a:srgbClr val="252529"/>
                      </a:solidFill>
                      <a:latin typeface="Cambria Math"/>
                    </a:rPr>
                    <m:t xml:space="preserve">z</m:t>
                  </m:r>
                </m:oMath>
              </m:oMathPara>
            </a14:m>
            <a:endParaRPr sz="1300"/>
          </a:p>
        </p:txBody>
      </p:sp>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α</m:t>
                  </m:r>
                  <m:r>
                    <m:rPr>
                      <m:sty m:val="i"/>
                    </m:rPr>
                    <a:rPr sz="1200">
                      <a:solidFill>
                        <a:srgbClr val="252529"/>
                      </a:solidFill>
                      <a:latin typeface="Cambria Math"/>
                    </a:rPr>
                    <m:t xml:space="preserve">z</m:t>
                  </m:r>
                  <m:r>
                    <m:rPr>
                      <m:sty m:val="i"/>
                    </m:rPr>
                    <a:rPr sz="1200">
                      <a:solidFill>
                        <a:srgbClr val="252529"/>
                      </a:solidFill>
                      <a:latin typeface="Cambria Math"/>
                    </a:rPr>
                    <m:t xml:space="preserve">=</m:t>
                  </m:r>
                  <m:r>
                    <m:rPr>
                      <m:sty m:val="i"/>
                    </m:rPr>
                    <a:rPr sz="1200">
                      <a:solidFill>
                        <a:srgbClr val="252529"/>
                      </a:solidFill>
                      <a:latin typeface="Cambria Math"/>
                    </a:rPr>
                    <m:t xml:space="preserve">0</m:t>
                  </m:r>
                </m:oMath>
              </m:oMathPara>
            </a14:m>
            <a:endParaRPr sz="1200"/>
          </a:p>
        </p:txBody>
      </p:sp>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Shifted STN activation</a:t>
            </a:r>
            <a:endParaRPr sz="1200"/>
          </a:p>
        </p:txBody>
      </p:sp>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16F9C"/>
                      </a:solidFill>
                      <a:latin typeface="Cambria Math"/>
                    </a:rPr>
                    <m:t xml:space="preserve">a</m:t>
                  </m:r>
                  <m:r>
                    <m:rPr>
                      <m:sty m:val="i"/>
                    </m:rPr>
                    <a:rPr sz="2300">
                      <a:solidFill>
                        <a:srgbClr val="216F9C"/>
                      </a:solidFill>
                      <a:latin typeface="Cambria Math"/>
                    </a:rPr>
                    <m:t xml:space="preserve">=</m:t>
                  </m:r>
                  <m:r>
                    <m:rPr>
                      <m:sty m:val="i"/>
                    </m:rPr>
                    <a:rPr sz="2300">
                      <a:solidFill>
                        <a:srgbClr val="216F9C"/>
                      </a:solidFill>
                      <a:latin typeface="Cambria Math"/>
                    </a:rPr>
                    <m:t xml:space="preserve">β</m:t>
                  </m:r>
                  <m:r>
                    <m:rPr>
                      <m:sty m:val="i"/>
                    </m:rPr>
                    <a:rPr sz="2300">
                      <a:solidFill>
                        <a:srgbClr val="216F9C"/>
                      </a:solidFill>
                      <a:latin typeface="Cambria Math"/>
                    </a:rPr>
                    <m:t xml:space="preserve">z</m:t>
                  </m:r>
                  <m:r>
                    <m:rPr>
                      <m:sty m:val="i"/>
                    </m:rPr>
                    <a:rPr sz="2300">
                      <a:solidFill>
                        <a:srgbClr val="216F9C"/>
                      </a:solidFill>
                      <a:latin typeface="Cambria Math"/>
                    </a:rPr>
                    <m:t xml:space="preserve">−</m:t>
                  </m:r>
                  <m:r>
                    <m:rPr>
                      <m:sty m:val="i"/>
                    </m:rPr>
                    <a:rPr sz="2300">
                      <a:solidFill>
                        <a:srgbClr val="216F9C"/>
                      </a:solidFill>
                      <a:latin typeface="Cambria Math"/>
                    </a:rPr>
                    <m:t xml:space="preserve">w</m:t>
                  </m:r>
                </m:oMath>
              </m:oMathPara>
            </a14:m>
            <a:endParaRPr sz="2300"/>
          </a:p>
        </p:txBody>
      </p:sp>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147C60"/>
                      </a:solidFill>
                      <a:latin typeface="Cambria Math"/>
                    </a:rPr>
                    <m:t xml:space="preserve">b</m:t>
                  </m:r>
                  <m:r>
                    <m:rPr>
                      <m:sty m:val="i"/>
                    </m:rPr>
                    <a:rPr sz="2300">
                      <a:solidFill>
                        <a:srgbClr val="147C60"/>
                      </a:solidFill>
                      <a:latin typeface="Cambria Math"/>
                    </a:rPr>
                    <m:t xml:space="preserve">=</m:t>
                  </m:r>
                  <m:r>
                    <m:rPr>
                      <m:sty m:val="i"/>
                    </m:rPr>
                    <a:rPr sz="2300">
                      <a:solidFill>
                        <a:srgbClr val="147C60"/>
                      </a:solidFill>
                      <a:latin typeface="Cambria Math"/>
                    </a:rPr>
                    <m:t xml:space="preserve">w</m:t>
                  </m:r>
                  <m:r>
                    <m:rPr>
                      <m:sty m:val="i"/>
                    </m:rPr>
                    <a:rPr sz="2300">
                      <a:solidFill>
                        <a:srgbClr val="147C60"/>
                      </a:solidFill>
                      <a:latin typeface="Cambria Math"/>
                    </a:rPr>
                    <m:t xml:space="preserve">−</m:t>
                  </m:r>
                  <m:r>
                    <m:rPr>
                      <m:sty m:val="i"/>
                    </m:rPr>
                    <a:rPr sz="2300">
                      <a:solidFill>
                        <a:srgbClr val="147C60"/>
                      </a:solidFill>
                      <a:latin typeface="Cambria Math"/>
                    </a:rPr>
                    <m:t xml:space="preserve">α</m:t>
                  </m:r>
                  <m:r>
                    <m:rPr>
                      <m:sty m:val="i"/>
                    </m:rPr>
                    <a:rPr sz="2300">
                      <a:solidFill>
                        <a:srgbClr val="147C60"/>
                      </a:solidFill>
                      <a:latin typeface="Cambria Math"/>
                    </a:rPr>
                    <m:t xml:space="preserve">z</m:t>
                  </m:r>
                </m:oMath>
              </m:oMathPara>
            </a14:m>
            <a:endParaRPr sz="2300"/>
          </a:p>
        </p:txBody>
      </p:sp>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000">
                      <a:solidFill>
                        <a:srgbClr val="252529"/>
                      </a:solidFill>
                      <a:latin typeface="Cambria Math"/>
                    </a:rPr>
                    <m:t xml:space="preserve">z</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a</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b</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oMath>
              </m:oMathPara>
            </a14:m>
            <a:endParaRPr sz="2000"/>
          </a:p>
        </p:txBody>
      </p:sp>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000">
                      <a:solidFill>
                        <a:srgbClr val="252529"/>
                      </a:solidFill>
                      <a:latin typeface="Cambria Math"/>
                    </a:rPr>
                    <m:t xml:space="preserve">z</m:t>
                  </m:r>
                  <m:r>
                    <m:rPr>
                      <m:sty m:val="i"/>
                    </m:rPr>
                    <a:rPr sz="2000">
                      <a:solidFill>
                        <a:srgbClr val="252529"/>
                      </a:solidFill>
                      <a:latin typeface="Cambria Math"/>
                    </a:rPr>
                    <m:t xml:space="preserve">&lt;</m:t>
                  </m:r>
                  <m:r>
                    <m:rPr>
                      <m:sty m:val="i"/>
                    </m:rPr>
                    <a:rPr sz="2000">
                      <a:solidFill>
                        <a:srgbClr val="252529"/>
                      </a:solidFill>
                      <a:latin typeface="Cambria Math"/>
                    </a:rPr>
                    <m:t xml:space="preserve">0</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a</m:t>
                  </m:r>
                  <m:r>
                    <m:rPr>
                      <m:sty m:val="i"/>
                    </m:rPr>
                    <a:rPr sz="2000">
                      <a:solidFill>
                        <a:srgbClr val="252529"/>
                      </a:solidFill>
                      <a:latin typeface="Cambria Math"/>
                    </a:rPr>
                    <m:t xml:space="preserve">&lt;</m:t>
                  </m:r>
                  <m:r>
                    <m:rPr>
                      <m:sty m:val="i"/>
                    </m:rPr>
                    <a:rPr sz="2000">
                      <a:solidFill>
                        <a:srgbClr val="252529"/>
                      </a:solidFill>
                      <a:latin typeface="Cambria Math"/>
                    </a:rPr>
                    <m:t xml:space="preserve">0</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b</m:t>
                  </m:r>
                  <m:r>
                    <m:rPr>
                      <m:sty m:val="i"/>
                    </m:rPr>
                    <a:rPr sz="2000">
                      <a:solidFill>
                        <a:srgbClr val="252529"/>
                      </a:solidFill>
                      <a:latin typeface="Cambria Math"/>
                    </a:rPr>
                    <m:t xml:space="preserve">&lt;</m:t>
                  </m:r>
                  <m:r>
                    <m:rPr>
                      <m:sty m:val="i"/>
                    </m:rPr>
                    <a:rPr sz="2000">
                      <a:solidFill>
                        <a:srgbClr val="252529"/>
                      </a:solidFill>
                      <a:latin typeface="Cambria Math"/>
                    </a:rPr>
                    <m:t xml:space="preserve">0</m:t>
                  </m:r>
                </m:oMath>
              </m:oMathPara>
            </a14:m>
            <a:endParaRPr sz="2000"/>
          </a:p>
        </p:txBody>
      </p:sp>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800">
                      <a:solidFill>
                        <a:srgbClr val="147C60"/>
                      </a:solidFill>
                      <a:latin typeface="Cambria Math"/>
                    </a:rPr>
                    <m:t xml:space="preserve">a</m:t>
                  </m:r>
                  <m:r>
                    <m:rPr>
                      <m:sty m:val="i"/>
                    </m:rPr>
                    <a:rPr sz="2800">
                      <a:solidFill>
                        <a:srgbClr val="147C60"/>
                      </a:solidFill>
                      <a:latin typeface="Cambria Math"/>
                    </a:rPr>
                    <m:t xml:space="preserve">b</m:t>
                  </m:r>
                  <m:r>
                    <m:rPr>
                      <m:sty m:val="i"/>
                    </m:rPr>
                    <a:rPr sz="2800">
                      <a:solidFill>
                        <a:srgbClr val="147C60"/>
                      </a:solidFill>
                      <a:latin typeface="Cambria Math"/>
                    </a:rPr>
                    <m:t xml:space="preserve">≥</m:t>
                  </m:r>
                  <m:r>
                    <m:rPr>
                      <m:sty m:val="i"/>
                    </m:rPr>
                    <a:rPr sz="2800">
                      <a:solidFill>
                        <a:srgbClr val="147C60"/>
                      </a:solidFill>
                      <a:latin typeface="Cambria Math"/>
                    </a:rPr>
                    <m:t xml:space="preserve">0</m:t>
                  </m:r>
                </m:oMath>
              </m:oMathPara>
            </a14:m>
            <a:endParaRPr sz="2800"/>
          </a:p>
        </p:txBody>
      </p:sp>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100">
                          <a:solidFill>
                            <a:srgbClr val="252529"/>
                          </a:solidFill>
                          <a:latin typeface="Cambria Math"/>
                        </a:rPr>
                      </m:ctrlPr>
                    </m:dPr>
                    <m:e>
                      <m:m>
                        <m:mPr>
                          <m:mcs>
                            <m:mc>
                              <m:mcPr>
                                <m:count m:val="1"/>
                                <m:mcJc m:val="center"/>
                              </m:mcPr>
                            </m:mc>
                          </m:mcs>
                          <m:ctrlPr>
                            <a:rPr sz="2100">
                              <a:solidFill>
                                <a:srgbClr val="252529"/>
                              </a:solidFill>
                              <a:latin typeface="Cambria Math"/>
                            </a:rPr>
                          </m:ctrlPr>
                        </m:mPr>
                        <m:mr>
                          <m:e>
                            <m:r>
                              <m:rPr>
                                <m:sty m:val="i"/>
                              </m:rPr>
                              <a:rPr sz="2100">
                                <a:solidFill>
                                  <a:srgbClr val="216F9C"/>
                                </a:solidFill>
                                <a:latin typeface="Cambria Math"/>
                              </a:rPr>
                              <m:t xml:space="preserve">a</m:t>
                            </m:r>
                          </m:e>
                        </m:mr>
                        <m:mr>
                          <m:e>
                            <m:r>
                              <m:rPr>
                                <m:sty m:val="i"/>
                              </m:rPr>
                              <a:rPr sz="2100">
                                <a:solidFill>
                                  <a:srgbClr val="147C60"/>
                                </a:solidFill>
                                <a:latin typeface="Cambria Math"/>
                              </a:rPr>
                              <m:t xml:space="preserve">b</m:t>
                            </m:r>
                          </m:e>
                        </m:mr>
                      </m:m>
                    </m:e>
                  </m:d>
                  <m:r>
                    <m:rPr>
                      <m:sty m:val="i"/>
                    </m:rPr>
                    <a:rPr sz="2100">
                      <a:solidFill>
                        <a:srgbClr val="252529"/>
                      </a:solidFill>
                      <a:latin typeface="Cambria Math"/>
                    </a:rPr>
                    <m:t xml:space="preserve">=</m:t>
                  </m:r>
                  <m:d>
                    <m:dPr>
                      <m:begChr m:val="["/>
                      <m:endChr m:val="]"/>
                      <m:ctrlPr>
                        <a:rPr sz="2100">
                          <a:solidFill>
                            <a:srgbClr val="252529"/>
                          </a:solidFill>
                          <a:latin typeface="Cambria Math"/>
                        </a:rPr>
                      </m:ctrlPr>
                    </m:dPr>
                    <m:e>
                      <m:m>
                        <m:mPr>
                          <m:mcs>
                            <m:mc>
                              <m:mcPr>
                                <m:count m:val="2"/>
                                <m:mcJc m:val="center"/>
                              </m:mcPr>
                            </m:mc>
                          </m:mcs>
                          <m:ctrlPr>
                            <a:rPr sz="2100">
                              <a:solidFill>
                                <a:srgbClr val="252529"/>
                              </a:solidFill>
                              <a:latin typeface="Cambria Math"/>
                            </a:rPr>
                          </m:ctrlPr>
                        </m:mPr>
                        <m:mr>
                          <m:e>
                            <m:r>
                              <m:rPr>
                                <m:sty m:val="i"/>
                              </m:rPr>
                              <a:rPr sz="2100">
                                <a:solidFill>
                                  <a:srgbClr val="252529"/>
                                </a:solidFill>
                                <a:latin typeface="Cambria Math"/>
                              </a:rPr>
                              <m:t xml:space="preserve">β</m:t>
                            </m:r>
                          </m:e>
                          <m:e>
                            <m:r>
                              <m:rPr>
                                <m:sty m:val="i"/>
                              </m:rPr>
                              <a:rPr sz="2100">
                                <a:solidFill>
                                  <a:srgbClr val="252529"/>
                                </a:solidFill>
                                <a:latin typeface="Cambria Math"/>
                              </a:rPr>
                              <m:t xml:space="preserve">−</m:t>
                            </m:r>
                            <m:r>
                              <m:rPr>
                                <m:sty m:val="i"/>
                              </m:rPr>
                              <a:rPr sz="2100">
                                <a:solidFill>
                                  <a:srgbClr val="252529"/>
                                </a:solidFill>
                                <a:latin typeface="Cambria Math"/>
                              </a:rPr>
                              <m:t xml:space="preserve">1</m:t>
                            </m:r>
                          </m:e>
                        </m:mr>
                        <m:mr>
                          <m:e>
                            <m:r>
                              <m:rPr>
                                <m:sty m:val="i"/>
                              </m:rPr>
                              <a:rPr sz="2100">
                                <a:solidFill>
                                  <a:srgbClr val="252529"/>
                                </a:solidFill>
                                <a:latin typeface="Cambria Math"/>
                              </a:rPr>
                              <m:t xml:space="preserve">−</m:t>
                            </m:r>
                            <m:r>
                              <m:rPr>
                                <m:sty m:val="i"/>
                              </m:rPr>
                              <a:rPr sz="2100">
                                <a:solidFill>
                                  <a:srgbClr val="252529"/>
                                </a:solidFill>
                                <a:latin typeface="Cambria Math"/>
                              </a:rPr>
                              <m:t xml:space="preserve">α</m:t>
                            </m:r>
                          </m:e>
                          <m:e>
                            <m:r>
                              <m:rPr>
                                <m:sty m:val="i"/>
                              </m:rPr>
                              <a:rPr sz="2100">
                                <a:solidFill>
                                  <a:srgbClr val="252529"/>
                                </a:solidFill>
                                <a:latin typeface="Cambria Math"/>
                              </a:rPr>
                              <m:t xml:space="preserve">1</m:t>
                            </m:r>
                          </m:e>
                        </m:mr>
                      </m:m>
                    </m:e>
                  </m:d>
                  <m:d>
                    <m:dPr>
                      <m:begChr m:val="["/>
                      <m:endChr m:val="]"/>
                      <m:ctrlPr>
                        <a:rPr sz="2100">
                          <a:solidFill>
                            <a:srgbClr val="252529"/>
                          </a:solidFill>
                          <a:latin typeface="Cambria Math"/>
                        </a:rPr>
                      </m:ctrlPr>
                    </m:dPr>
                    <m:e>
                      <m:m>
                        <m:mPr>
                          <m:mcs>
                            <m:mc>
                              <m:mcPr>
                                <m:count m:val="1"/>
                                <m:mcJc m:val="center"/>
                              </m:mcPr>
                            </m:mc>
                          </m:mcs>
                          <m:ctrlPr>
                            <a:rPr sz="2100">
                              <a:solidFill>
                                <a:srgbClr val="252529"/>
                              </a:solidFill>
                              <a:latin typeface="Cambria Math"/>
                            </a:rPr>
                          </m:ctrlPr>
                        </m:mPr>
                        <m:mr>
                          <m:e>
                            <m:r>
                              <m:rPr>
                                <m:sty m:val="i"/>
                              </m:rPr>
                              <a:rPr sz="2100">
                                <a:solidFill>
                                  <a:srgbClr val="252529"/>
                                </a:solidFill>
                                <a:latin typeface="Cambria Math"/>
                              </a:rPr>
                              <m:t xml:space="preserve">z</m:t>
                            </m:r>
                          </m:e>
                        </m:mr>
                        <m:mr>
                          <m:e>
                            <m:r>
                              <m:rPr>
                                <m:sty m:val="i"/>
                              </m:rPr>
                              <a:rPr sz="2100">
                                <a:solidFill>
                                  <a:srgbClr val="252529"/>
                                </a:solidFill>
                                <a:latin typeface="Cambria Math"/>
                              </a:rPr>
                              <m:t xml:space="preserve">w</m:t>
                            </m:r>
                          </m:e>
                        </m:mr>
                      </m:m>
                    </m:e>
                  </m:d>
                </m:oMath>
              </m:oMathPara>
            </a14:m>
            <a:endParaRPr sz="2100"/>
          </a:p>
        </p:txBody>
      </p:sp>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35</a:t>
            </a:r>
            <a:endParaRPr sz="800"/>
          </a:p>
        </p:txBody>
      </p:sp>
    </p:spTree>
  </p:cSld>
  <p:clrMapOvr>
    <a:masterClrMapping/>
  </p:clrMapOvr>
  <p:transition xmlns:p14="http://schemas.microsoft.com/office/powerpoint/2010/main" p14:dur="450">
    <p:fade/>
  </p:transition>
</p:sld>
</file>

<file path=ppt/slides/slide36.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Turn the gaps into a dissipative description</a:t>
            </a:r>
            <a:endParaRPr sz="2500"/>
          </a:p>
        </p:txBody>
      </p:sp>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700">
                          <a:solidFill>
                            <a:srgbClr val="252529"/>
                          </a:solidFill>
                          <a:latin typeface="Cambria Math"/>
                        </a:rPr>
                      </m:ctrlPr>
                    </m:dPr>
                    <m:e>
                      <m:m>
                        <m:mPr>
                          <m:mcs>
                            <m:mc>
                              <m:mcPr>
                                <m:count m:val="1"/>
                                <m:mcJc m:val="center"/>
                              </m:mcPr>
                            </m:mc>
                          </m:mcs>
                          <m:ctrlPr>
                            <a:rPr sz="2700">
                              <a:solidFill>
                                <a:srgbClr val="252529"/>
                              </a:solidFill>
                              <a:latin typeface="Cambria Math"/>
                            </a:rPr>
                          </m:ctrlPr>
                        </m:mPr>
                        <m:mr>
                          <m:e>
                            <m:acc>
                              <m:accPr>
                                <m:chr m:val="̃"/>
                                <m:ctrlPr>
                                  <a:rPr sz="2700">
                                    <a:solidFill>
                                      <a:srgbClr val="252529"/>
                                    </a:solidFill>
                                    <a:latin typeface="Cambria Math"/>
                                  </a:rPr>
                                </m:ctrlPr>
                              </m:accPr>
                              <m:e>
                                <m:r>
                                  <m:rPr>
                                    <m:sty m:val="i"/>
                                  </m:rPr>
                                  <a:rPr sz="2700">
                                    <a:solidFill>
                                      <a:srgbClr val="252529"/>
                                    </a:solidFill>
                                    <a:latin typeface="Cambria Math"/>
                                  </a:rPr>
                                  <m:t xml:space="preserve">z</m:t>
                                </m:r>
                              </m:e>
                            </m:acc>
                          </m:e>
                        </m:mr>
                        <m:mr>
                          <m:e>
                            <m:acc>
                              <m:accPr>
                                <m:chr m:val="̃"/>
                                <m:ctrlPr>
                                  <a:rPr sz="2700">
                                    <a:solidFill>
                                      <a:srgbClr val="252529"/>
                                    </a:solidFill>
                                    <a:latin typeface="Cambria Math"/>
                                  </a:rPr>
                                </m:ctrlPr>
                              </m:accPr>
                              <m:e>
                                <m:r>
                                  <m:rPr>
                                    <m:sty m:val="i"/>
                                  </m:rPr>
                                  <a:rPr sz="2700">
                                    <a:solidFill>
                                      <a:srgbClr val="252529"/>
                                    </a:solidFill>
                                    <a:latin typeface="Cambria Math"/>
                                  </a:rPr>
                                  <m:t xml:space="preserve">w</m:t>
                                </m:r>
                              </m:e>
                            </m:acc>
                          </m:e>
                        </m:mr>
                      </m:m>
                    </m:e>
                  </m:d>
                  <m:r>
                    <m:rPr>
                      <m:sty m:val="i"/>
                    </m:rPr>
                    <a:rPr sz="2700">
                      <a:solidFill>
                        <a:srgbClr val="252529"/>
                      </a:solidFill>
                      <a:latin typeface="Cambria Math"/>
                    </a:rPr>
                    <m:t xml:space="preserve">=</m:t>
                  </m:r>
                  <m:d>
                    <m:dPr>
                      <m:begChr m:val="["/>
                      <m:endChr m:val="]"/>
                      <m:ctrlPr>
                        <a:rPr sz="2700">
                          <a:solidFill>
                            <a:srgbClr val="252529"/>
                          </a:solidFill>
                          <a:latin typeface="Cambria Math"/>
                        </a:rPr>
                      </m:ctrlPr>
                    </m:dPr>
                    <m:e>
                      <m:m>
                        <m:mPr>
                          <m:mcs>
                            <m:mc>
                              <m:mcPr>
                                <m:count m:val="2"/>
                                <m:mcJc m:val="center"/>
                              </m:mcPr>
                            </m:mc>
                          </m:mcs>
                          <m:ctrlPr>
                            <a:rPr sz="2700">
                              <a:solidFill>
                                <a:srgbClr val="252529"/>
                              </a:solidFill>
                              <a:latin typeface="Cambria Math"/>
                            </a:rPr>
                          </m:ctrlPr>
                        </m:mPr>
                        <m:mr>
                          <m:e>
                            <m:r>
                              <m:rPr>
                                <m:sty m:val="i"/>
                              </m:rPr>
                              <a:rPr sz="2700">
                                <a:solidFill>
                                  <a:srgbClr val="252529"/>
                                </a:solidFill>
                                <a:latin typeface="Cambria Math"/>
                              </a:rPr>
                              <m:t xml:space="preserve">v</m:t>
                            </m:r>
                          </m:e>
                          <m:e>
                            <m:r>
                              <m:rPr>
                                <m:sty m:val="i"/>
                              </m:rPr>
                              <a:rPr sz="2700">
                                <a:solidFill>
                                  <a:srgbClr val="252529"/>
                                </a:solidFill>
                                <a:latin typeface="Cambria Math"/>
                              </a:rPr>
                              <m:t xml:space="preserve">1</m:t>
                            </m:r>
                          </m:e>
                        </m:mr>
                        <m:mr>
                          <m:e>
                            <m:r>
                              <m:rPr>
                                <m:sty m:val="i"/>
                              </m:rPr>
                              <a:rPr sz="2700">
                                <a:solidFill>
                                  <a:srgbClr val="252529"/>
                                </a:solidFill>
                                <a:latin typeface="Cambria Math"/>
                              </a:rPr>
                              <m:t xml:space="preserve">v</m:t>
                            </m:r>
                          </m:e>
                          <m:e>
                            <m:r>
                              <m:rPr>
                                <m:sty m:val="i"/>
                              </m:rPr>
                              <a:rPr sz="2700">
                                <a:solidFill>
                                  <a:srgbClr val="252529"/>
                                </a:solidFill>
                                <a:latin typeface="Cambria Math"/>
                              </a:rPr>
                              <m:t xml:space="preserve">−</m:t>
                            </m:r>
                            <m:r>
                              <m:rPr>
                                <m:sty m:val="i"/>
                              </m:rPr>
                              <a:rPr sz="2700">
                                <a:solidFill>
                                  <a:srgbClr val="252529"/>
                                </a:solidFill>
                                <a:latin typeface="Cambria Math"/>
                              </a:rPr>
                              <m:t xml:space="preserve">1</m:t>
                            </m:r>
                          </m:e>
                        </m:mr>
                      </m:m>
                    </m:e>
                  </m:d>
                  <m:d>
                    <m:dPr>
                      <m:begChr m:val="["/>
                      <m:endChr m:val="]"/>
                      <m:ctrlPr>
                        <a:rPr sz="2700">
                          <a:solidFill>
                            <a:srgbClr val="252529"/>
                          </a:solidFill>
                          <a:latin typeface="Cambria Math"/>
                        </a:rPr>
                      </m:ctrlPr>
                    </m:dPr>
                    <m:e>
                      <m:m>
                        <m:mPr>
                          <m:mcs>
                            <m:mc>
                              <m:mcPr>
                                <m:count m:val="1"/>
                                <m:mcJc m:val="center"/>
                              </m:mcPr>
                            </m:mc>
                          </m:mcs>
                          <m:ctrlPr>
                            <a:rPr sz="2700">
                              <a:solidFill>
                                <a:srgbClr val="252529"/>
                              </a:solidFill>
                              <a:latin typeface="Cambria Math"/>
                            </a:rPr>
                          </m:ctrlPr>
                        </m:mPr>
                        <m:mr>
                          <m:e>
                            <m:r>
                              <m:rPr>
                                <m:sty m:val="i"/>
                              </m:rPr>
                              <a:rPr sz="2700">
                                <a:solidFill>
                                  <a:srgbClr val="216F9C"/>
                                </a:solidFill>
                                <a:latin typeface="Cambria Math"/>
                              </a:rPr>
                              <m:t xml:space="preserve">a</m:t>
                            </m:r>
                          </m:e>
                        </m:mr>
                        <m:mr>
                          <m:e>
                            <m:r>
                              <m:rPr>
                                <m:sty m:val="i"/>
                              </m:rPr>
                              <a:rPr sz="2700">
                                <a:solidFill>
                                  <a:srgbClr val="147C60"/>
                                </a:solidFill>
                                <a:latin typeface="Cambria Math"/>
                              </a:rPr>
                              <m:t xml:space="preserve">b</m:t>
                            </m:r>
                          </m:e>
                        </m:mr>
                      </m:m>
                    </m:e>
                  </m:d>
                  <m:r>
                    <m:rPr>
                      <m:sty m:val="i"/>
                    </m:rPr>
                    <a:rPr sz="2700">
                      <a:solidFill>
                        <a:srgbClr val="252529"/>
                      </a:solidFill>
                      <a:latin typeface="Cambria Math"/>
                    </a:rPr>
                    <m:t xml:space="preserve">,</m:t>
                  </m:r>
                  <m:r>
                    <m:rPr>
                      <m:sty m:val="i"/>
                    </m:rPr>
                    <a:rPr sz="2700">
                      <a:solidFill>
                        <a:srgbClr val="252529"/>
                      </a:solidFill>
                      <a:latin typeface="Cambria Math"/>
                    </a:rPr>
                    <m:t xml:space="preserve"> </m:t>
                  </m:r>
                  <m:r>
                    <m:rPr>
                      <m:sty m:val="i"/>
                    </m:rPr>
                    <a:rPr sz="2700">
                      <a:solidFill>
                        <a:srgbClr val="252529"/>
                      </a:solidFill>
                      <a:latin typeface="Cambria Math"/>
                    </a:rPr>
                    <m:t xml:space="preserve"> </m:t>
                  </m:r>
                  <m:r>
                    <m:rPr>
                      <m:sty m:val="i"/>
                    </m:rPr>
                    <a:rPr sz="2700">
                      <a:solidFill>
                        <a:srgbClr val="252529"/>
                      </a:solidFill>
                      <a:latin typeface="Cambria Math"/>
                    </a:rPr>
                    <m:t xml:space="preserve">v</m:t>
                  </m:r>
                  <m:r>
                    <m:rPr>
                      <m:sty m:val="i"/>
                    </m:rPr>
                    <a:rPr sz="2700">
                      <a:solidFill>
                        <a:srgbClr val="252529"/>
                      </a:solidFill>
                      <a:latin typeface="Cambria Math"/>
                    </a:rPr>
                    <m:t xml:space="preserve">&gt;</m:t>
                  </m:r>
                  <m:r>
                    <m:rPr>
                      <m:sty m:val="i"/>
                    </m:rPr>
                    <a:rPr sz="2700">
                      <a:solidFill>
                        <a:srgbClr val="252529"/>
                      </a:solidFill>
                      <a:latin typeface="Cambria Math"/>
                    </a:rPr>
                    <m:t xml:space="preserve">0</m:t>
                  </m:r>
                </m:oMath>
              </m:oMathPara>
            </a14:m>
            <a:endParaRPr sz="2700"/>
          </a:p>
        </p:txBody>
      </p:sp>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Same-sign gaps: the weighted sum has the larger magnitude.</a:t>
            </a:r>
            <a:endParaRPr sz="1700"/>
          </a:p>
        </p:txBody>
      </p:sp>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σ</m:t>
                  </m:r>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z</m:t>
                              </m:r>
                            </m:e>
                          </m:acc>
                        </m:e>
                      </m:d>
                    </m:e>
                    <m:sup>
                      <m:r>
                        <m:rPr>
                          <m:sty m:val="p"/>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w</m:t>
                              </m:r>
                            </m:e>
                          </m:acc>
                        </m:e>
                      </m:d>
                    </m:e>
                    <m:sup>
                      <m:r>
                        <m:rPr>
                          <m:sty m:val="p"/>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r>
                            <m:rPr>
                              <m:sty m:val="i"/>
                            </m:rPr>
                            <a:rPr sz="2100">
                              <a:solidFill>
                                <a:srgbClr val="252529"/>
                              </a:solidFill>
                              <a:latin typeface="Cambria Math"/>
                            </a:rPr>
                            <m:t xml:space="preserve">v</m:t>
                          </m:r>
                          <m:r>
                            <m:rPr>
                              <m:sty m:val="i"/>
                            </m:rPr>
                            <a:rPr sz="2100">
                              <a:solidFill>
                                <a:srgbClr val="252529"/>
                              </a:solidFill>
                              <a:latin typeface="Cambria Math"/>
                            </a:rPr>
                            <m:t xml:space="preserve">a</m:t>
                          </m:r>
                          <m:r>
                            <m:rPr>
                              <m:sty m:val="i"/>
                            </m:rPr>
                            <a:rPr sz="2100">
                              <a:solidFill>
                                <a:srgbClr val="252529"/>
                              </a:solidFill>
                              <a:latin typeface="Cambria Math"/>
                            </a:rPr>
                            <m:t xml:space="preserve">+</m:t>
                          </m:r>
                          <m:r>
                            <m:rPr>
                              <m:sty m:val="i"/>
                            </m:rPr>
                            <a:rPr sz="2100">
                              <a:solidFill>
                                <a:srgbClr val="252529"/>
                              </a:solidFill>
                              <a:latin typeface="Cambria Math"/>
                            </a:rPr>
                            <m:t xml:space="preserve">b</m:t>
                          </m:r>
                        </m:e>
                      </m:d>
                    </m:e>
                    <m:sup>
                      <m:r>
                        <m:rPr>
                          <m:sty m:val="i"/>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r>
                            <m:rPr>
                              <m:sty m:val="i"/>
                            </m:rPr>
                            <a:rPr sz="2100">
                              <a:solidFill>
                                <a:srgbClr val="252529"/>
                              </a:solidFill>
                              <a:latin typeface="Cambria Math"/>
                            </a:rPr>
                            <m:t xml:space="preserve">v</m:t>
                          </m:r>
                          <m:r>
                            <m:rPr>
                              <m:sty m:val="i"/>
                            </m:rPr>
                            <a:rPr sz="2100">
                              <a:solidFill>
                                <a:srgbClr val="252529"/>
                              </a:solidFill>
                              <a:latin typeface="Cambria Math"/>
                            </a:rPr>
                            <m:t xml:space="preserve">a</m:t>
                          </m:r>
                          <m:r>
                            <m:rPr>
                              <m:sty m:val="i"/>
                            </m:rPr>
                            <a:rPr sz="2100">
                              <a:solidFill>
                                <a:srgbClr val="252529"/>
                              </a:solidFill>
                              <a:latin typeface="Cambria Math"/>
                            </a:rPr>
                            <m:t xml:space="preserve">−</m:t>
                          </m:r>
                          <m:r>
                            <m:rPr>
                              <m:sty m:val="i"/>
                            </m:rPr>
                            <a:rPr sz="2100">
                              <a:solidFill>
                                <a:srgbClr val="252529"/>
                              </a:solidFill>
                              <a:latin typeface="Cambria Math"/>
                            </a:rPr>
                            <m:t xml:space="preserve">b</m:t>
                          </m:r>
                        </m:e>
                      </m:d>
                    </m:e>
                    <m:sup>
                      <m:r>
                        <m:rPr>
                          <m:sty m:val="i"/>
                        </m:rPr>
                        <a:rPr sz="2100">
                          <a:solidFill>
                            <a:srgbClr val="252529"/>
                          </a:solidFill>
                          <a:latin typeface="Cambria Math"/>
                        </a:rPr>
                        <m:t xml:space="preserve">2</m:t>
                      </m:r>
                    </m:sup>
                  </m:sSup>
                  <m:r>
                    <m:rPr>
                      <m:sty m:val="i"/>
                    </m:rPr>
                    <a:rPr sz="2100">
                      <a:solidFill>
                        <a:srgbClr val="147C60"/>
                      </a:solidFill>
                      <a:latin typeface="Cambria Math"/>
                    </a:rPr>
                    <m:t xml:space="preserve">=</m:t>
                  </m:r>
                  <m:r>
                    <m:rPr>
                      <m:sty m:val="i"/>
                    </m:rPr>
                    <a:rPr sz="2100">
                      <a:solidFill>
                        <a:srgbClr val="147C60"/>
                      </a:solidFill>
                      <a:latin typeface="Cambria Math"/>
                    </a:rPr>
                    <m:t xml:space="preserve">4</m:t>
                  </m:r>
                  <m:r>
                    <m:rPr>
                      <m:sty m:val="i"/>
                    </m:rPr>
                    <a:rPr sz="2100">
                      <a:solidFill>
                        <a:srgbClr val="147C60"/>
                      </a:solidFill>
                      <a:latin typeface="Cambria Math"/>
                    </a:rPr>
                    <m:t xml:space="preserve">v</m:t>
                  </m:r>
                  <m:r>
                    <m:rPr>
                      <m:sty m:val="i"/>
                    </m:rPr>
                    <a:rPr sz="2100">
                      <a:solidFill>
                        <a:srgbClr val="147C60"/>
                      </a:solidFill>
                      <a:latin typeface="Cambria Math"/>
                    </a:rPr>
                    <m:t xml:space="preserve">a</m:t>
                  </m:r>
                  <m:r>
                    <m:rPr>
                      <m:sty m:val="i"/>
                    </m:rPr>
                    <a:rPr sz="2100">
                      <a:solidFill>
                        <a:srgbClr val="147C60"/>
                      </a:solidFill>
                      <a:latin typeface="Cambria Math"/>
                    </a:rPr>
                    <m:t xml:space="preserve">b</m:t>
                  </m:r>
                  <m:r>
                    <m:rPr>
                      <m:sty m:val="i"/>
                    </m:rPr>
                    <a:rPr sz="2100">
                      <a:solidFill>
                        <a:srgbClr val="147C60"/>
                      </a:solidFill>
                      <a:latin typeface="Cambria Math"/>
                    </a:rPr>
                    <m:t xml:space="preserve">≥</m:t>
                  </m:r>
                  <m:r>
                    <m:rPr>
                      <m:sty m:val="i"/>
                    </m:rPr>
                    <a:rPr sz="2100">
                      <a:solidFill>
                        <a:srgbClr val="147C60"/>
                      </a:solidFill>
                      <a:latin typeface="Cambria Math"/>
                    </a:rPr>
                    <m:t xml:space="preserve">0</m:t>
                  </m:r>
                </m:oMath>
              </m:oMathPara>
            </a14:m>
            <a:endParaRPr sz="2100"/>
          </a:p>
        </p:txBody>
      </p:sp>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200">
                          <a:solidFill>
                            <a:srgbClr val="252529"/>
                          </a:solidFill>
                          <a:latin typeface="Cambria Math"/>
                        </a:rPr>
                      </m:ctrlPr>
                    </m:sSubPr>
                    <m:e>
                      <m:r>
                        <m:rPr>
                          <m:sty m:val="i"/>
                        </m:rPr>
                        <a:rPr sz="2200">
                          <a:solidFill>
                            <a:srgbClr val="252529"/>
                          </a:solidFill>
                          <a:latin typeface="Cambria Math"/>
                        </a:rPr>
                        <m:t xml:space="preserve">S</m:t>
                      </m:r>
                    </m:e>
                    <m:sub>
                      <m:r>
                        <m:rPr>
                          <m:sty m:val="i"/>
                        </m:rPr>
                        <a:rPr sz="2200">
                          <a:solidFill>
                            <a:srgbClr val="252529"/>
                          </a:solidFill>
                          <a:latin typeface="Cambria Math"/>
                        </a:rPr>
                        <m:t xml:space="preserve">Δ</m:t>
                      </m:r>
                    </m:sub>
                  </m:sSub>
                  <m:r>
                    <m:rPr>
                      <m:sty m:val="i"/>
                    </m:rPr>
                    <a:rPr sz="2200">
                      <a:solidFill>
                        <a:srgbClr val="252529"/>
                      </a:solidFill>
                      <a:latin typeface="Cambria Math"/>
                    </a:rPr>
                    <m:t xml:space="preserve">≡</m:t>
                  </m:r>
                  <m:r>
                    <m:rPr>
                      <m:sty m:val="i"/>
                    </m:rPr>
                    <a:rPr sz="2200">
                      <a:solidFill>
                        <a:srgbClr val="252529"/>
                      </a:solidFill>
                      <a:latin typeface="Cambria Math"/>
                    </a:rPr>
                    <m:t xml:space="preserve">0</m:t>
                  </m:r>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0</m:t>
                  </m:r>
                  <m:r>
                    <m:rPr>
                      <m:sty m:val="i"/>
                    </m:rPr>
                    <a:rPr sz="2200">
                      <a:solidFill>
                        <a:srgbClr val="252529"/>
                      </a:solidFill>
                      <a:latin typeface="Cambria Math"/>
                    </a:rPr>
                    <m:t xml:space="preserve">≤</m:t>
                  </m:r>
                  <m:nary>
                    <m:naryPr>
                      <m:chr m:val="∫"/>
                      <m:limLoc m:val="subSup"/>
                      <m:ctrlPr>
                        <a:rPr sz="2200">
                          <a:solidFill>
                            <a:srgbClr val="252529"/>
                          </a:solidFill>
                          <a:latin typeface="Cambria Math"/>
                        </a:rPr>
                      </m:ctrlPr>
                    </m:naryPr>
                    <m:sub>
                      <m:r>
                        <m:rPr>
                          <m:sty m:val="p"/>
                        </m:rPr>
                        <a:rPr sz="2200">
                          <a:solidFill>
                            <a:srgbClr val="252529"/>
                          </a:solidFill>
                          <a:latin typeface="Cambria Math"/>
                        </a:rPr>
                        <m:t xml:space="preserve">0</m:t>
                      </m:r>
                    </m:sub>
                    <m:sup>
                      <m:r>
                        <m:rPr>
                          <m:sty m:val="i"/>
                        </m:rPr>
                        <a:rPr sz="2200">
                          <a:solidFill>
                            <a:srgbClr val="252529"/>
                          </a:solidFill>
                          <a:latin typeface="Cambria Math"/>
                        </a:rPr>
                        <m:t xml:space="preserve">T</m:t>
                      </m:r>
                    </m:sup>
                    <m:e>
                      <m:r>
                        <m:rPr>
                          <m:sty m:val="i"/>
                        </m:rPr>
                        <a:rPr sz="2200">
                          <a:solidFill>
                            <a:srgbClr val="252529"/>
                          </a:solidFill>
                          <a:latin typeface="Cambria Math"/>
                        </a:rPr>
                        <m:t xml:space="preserve">σ</m:t>
                      </m:r>
                      <m:d>
                        <m:dPr>
                          <m:begChr m:val="("/>
                          <m:endChr m:val=")"/>
                          <m:ctrlPr>
                            <a:rPr sz="2200">
                              <a:solidFill>
                                <a:srgbClr val="252529"/>
                              </a:solidFill>
                              <a:latin typeface="Cambria Math"/>
                            </a:rPr>
                          </m:ctrlPr>
                        </m:dPr>
                        <m:e>
                          <m:r>
                            <m:rPr>
                              <m:sty m:val="i"/>
                            </m:rPr>
                            <a:rPr sz="2200">
                              <a:solidFill>
                                <a:srgbClr val="252529"/>
                              </a:solidFill>
                              <a:latin typeface="Cambria Math"/>
                            </a:rPr>
                            <m:t xml:space="preserve">t</m:t>
                          </m:r>
                        </m:e>
                      </m:d>
                      <m:r>
                        <m:rPr>
                          <m:sty m:val="i"/>
                        </m:rPr>
                        <a:rPr sz="2200">
                          <a:solidFill>
                            <a:srgbClr val="252529"/>
                          </a:solidFill>
                          <a:latin typeface="Cambria Math"/>
                        </a:rPr>
                        <m:t xml:space="preserve">d</m:t>
                      </m:r>
                      <m:r>
                        <m:rPr>
                          <m:sty m:val="i"/>
                        </m:rPr>
                        <a:rPr sz="2200">
                          <a:solidFill>
                            <a:srgbClr val="252529"/>
                          </a:solidFill>
                          <a:latin typeface="Cambria Math"/>
                        </a:rPr>
                        <m:t xml:space="preserve">t</m:t>
                      </m:r>
                    </m:e>
                  </m:nary>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m:t>
                  </m:r>
                  <m:r>
                    <m:rPr>
                      <m:sty m:val="i"/>
                    </m:rPr>
                    <a:rPr sz="2200">
                      <a:solidFill>
                        <a:srgbClr val="252529"/>
                      </a:solidFill>
                      <a:latin typeface="Cambria Math"/>
                    </a:rPr>
                    <m:t xml:space="preserve">T</m:t>
                  </m:r>
                  <m:r>
                    <m:rPr>
                      <m:sty m:val="i"/>
                    </m:rPr>
                    <a:rPr sz="2200">
                      <a:solidFill>
                        <a:srgbClr val="252529"/>
                      </a:solidFill>
                      <a:latin typeface="Cambria Math"/>
                    </a:rPr>
                    <m:t xml:space="preserve">≥</m:t>
                  </m:r>
                  <m:r>
                    <m:rPr>
                      <m:sty m:val="i"/>
                    </m:rPr>
                    <a:rPr sz="2200">
                      <a:solidFill>
                        <a:srgbClr val="252529"/>
                      </a:solidFill>
                      <a:latin typeface="Cambria Math"/>
                    </a:rPr>
                    <m:t xml:space="preserve">0</m:t>
                  </m:r>
                </m:oMath>
              </m:oMathPara>
            </a14:m>
            <a:endParaRPr sz="2200"/>
          </a:p>
        </p:txBody>
      </p:sp>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aseline="0" b="0" i="0" u="none">
                <a:solidFill>
                  <a:srgbClr val="147C60"/>
                </a:solidFill>
                <a:latin typeface="Aptos"/>
                <a:ea typeface="Aptos"/>
                <a:cs typeface="Aptos"/>
              </a:rPr>
              <a:t xml:space="preserve">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36</a:t>
            </a:r>
            <a:endParaRPr sz="800"/>
          </a:p>
        </p:txBody>
      </p:sp>
    </p:spTree>
  </p:cSld>
  <p:clrMapOvr>
    <a:masterClrMapping/>
  </p:clrMapOvr>
  <p:transition xmlns:p14="http://schemas.microsoft.com/office/powerpoint/2010/main" p14:dur="450">
    <p:fade/>
  </p:transition>
</p:sld>
</file>

<file path=ppt/slides/slide37.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Construct Θ and connect it to the LFR</a:t>
            </a:r>
            <a:endParaRPr sz="2500"/>
          </a:p>
        </p:txBody>
      </p:sp>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900">
                      <a:solidFill>
                        <a:srgbClr val="252529"/>
                      </a:solidFill>
                      <a:latin typeface="Cambria Math"/>
                    </a:rPr>
                    <m:t xml:space="preserve">Θ</m:t>
                  </m:r>
                  <m:r>
                    <m:rPr>
                      <m:sty m:val="i"/>
                    </m:rPr>
                    <a:rPr sz="2900">
                      <a:solidFill>
                        <a:srgbClr val="252529"/>
                      </a:solidFill>
                      <a:latin typeface="Cambria Math"/>
                    </a:rPr>
                    <m:t xml:space="preserve">=</m:t>
                  </m:r>
                  <m:d>
                    <m:dPr>
                      <m:begChr m:val="["/>
                      <m:endChr m:val="]"/>
                      <m:ctrlPr>
                        <a:rPr sz="2900">
                          <a:solidFill>
                            <a:srgbClr val="252529"/>
                          </a:solidFill>
                          <a:latin typeface="Cambria Math"/>
                        </a:rPr>
                      </m:ctrlPr>
                    </m:dPr>
                    <m:e>
                      <m:m>
                        <m:mPr>
                          <m:mcs>
                            <m:mc>
                              <m:mcPr>
                                <m:count m:val="2"/>
                                <m:mcJc m:val="center"/>
                              </m:mcPr>
                            </m:mc>
                          </m:mcs>
                          <m:ctrlPr>
                            <a:rPr sz="2900">
                              <a:solidFill>
                                <a:srgbClr val="252529"/>
                              </a:solidFill>
                              <a:latin typeface="Cambria Math"/>
                            </a:rPr>
                          </m:ctrlPr>
                        </m:mPr>
                        <m:mr>
                          <m:e>
                            <m:r>
                              <m:rPr>
                                <m:sty m:val="i"/>
                              </m:rPr>
                              <a:rPr sz="2900">
                                <a:solidFill>
                                  <a:srgbClr val="252529"/>
                                </a:solidFill>
                                <a:latin typeface="Cambria Math"/>
                              </a:rPr>
                              <m:t xml:space="preserve">v</m:t>
                            </m:r>
                          </m:e>
                          <m:e>
                            <m:r>
                              <m:rPr>
                                <m:sty m:val="i"/>
                              </m:rPr>
                              <a:rPr sz="2900">
                                <a:solidFill>
                                  <a:srgbClr val="252529"/>
                                </a:solidFill>
                                <a:latin typeface="Cambria Math"/>
                              </a:rPr>
                              <m:t xml:space="preserve">1</m:t>
                            </m:r>
                          </m:e>
                        </m:mr>
                        <m:mr>
                          <m:e>
                            <m:r>
                              <m:rPr>
                                <m:sty m:val="i"/>
                              </m:rPr>
                              <a:rPr sz="2900">
                                <a:solidFill>
                                  <a:srgbClr val="252529"/>
                                </a:solidFill>
                                <a:latin typeface="Cambria Math"/>
                              </a:rPr>
                              <m:t xml:space="preserve">v</m:t>
                            </m:r>
                          </m:e>
                          <m:e>
                            <m:r>
                              <m:rPr>
                                <m:sty m:val="i"/>
                              </m:rPr>
                              <a:rPr sz="2900">
                                <a:solidFill>
                                  <a:srgbClr val="252529"/>
                                </a:solidFill>
                                <a:latin typeface="Cambria Math"/>
                              </a:rPr>
                              <m:t xml:space="preserve">−</m:t>
                            </m:r>
                            <m:r>
                              <m:rPr>
                                <m:sty m:val="i"/>
                              </m:rPr>
                              <a:rPr sz="2900">
                                <a:solidFill>
                                  <a:srgbClr val="252529"/>
                                </a:solidFill>
                                <a:latin typeface="Cambria Math"/>
                              </a:rPr>
                              <m:t xml:space="preserve">1</m:t>
                            </m:r>
                          </m:e>
                        </m:mr>
                      </m:m>
                    </m:e>
                  </m:d>
                  <m:d>
                    <m:dPr>
                      <m:begChr m:val="["/>
                      <m:endChr m:val="]"/>
                      <m:ctrlPr>
                        <a:rPr sz="2900">
                          <a:solidFill>
                            <a:srgbClr val="252529"/>
                          </a:solidFill>
                          <a:latin typeface="Cambria Math"/>
                        </a:rPr>
                      </m:ctrlPr>
                    </m:dPr>
                    <m:e>
                      <m:m>
                        <m:mPr>
                          <m:mcs>
                            <m:mc>
                              <m:mcPr>
                                <m:count m:val="2"/>
                                <m:mcJc m:val="center"/>
                              </m:mcPr>
                            </m:mc>
                          </m:mcs>
                          <m:ctrlPr>
                            <a:rPr sz="2900">
                              <a:solidFill>
                                <a:srgbClr val="252529"/>
                              </a:solidFill>
                              <a:latin typeface="Cambria Math"/>
                            </a:rPr>
                          </m:ctrlPr>
                        </m:mPr>
                        <m:mr>
                          <m:e>
                            <m:r>
                              <m:rPr>
                                <m:sty m:val="i"/>
                              </m:rPr>
                              <a:rPr sz="2900">
                                <a:solidFill>
                                  <a:srgbClr val="252529"/>
                                </a:solidFill>
                                <a:latin typeface="Cambria Math"/>
                              </a:rPr>
                              <m:t xml:space="preserve">β</m:t>
                            </m:r>
                          </m:e>
                          <m:e>
                            <m:r>
                              <m:rPr>
                                <m:sty m:val="i"/>
                              </m:rPr>
                              <a:rPr sz="2900">
                                <a:solidFill>
                                  <a:srgbClr val="252529"/>
                                </a:solidFill>
                                <a:latin typeface="Cambria Math"/>
                              </a:rPr>
                              <m:t xml:space="preserve">−</m:t>
                            </m:r>
                            <m:r>
                              <m:rPr>
                                <m:sty m:val="i"/>
                              </m:rPr>
                              <a:rPr sz="2900">
                                <a:solidFill>
                                  <a:srgbClr val="252529"/>
                                </a:solidFill>
                                <a:latin typeface="Cambria Math"/>
                              </a:rPr>
                              <m:t xml:space="preserve">1</m:t>
                            </m:r>
                          </m:e>
                        </m:mr>
                        <m:mr>
                          <m:e>
                            <m:r>
                              <m:rPr>
                                <m:sty m:val="i"/>
                              </m:rPr>
                              <a:rPr sz="2900">
                                <a:solidFill>
                                  <a:srgbClr val="252529"/>
                                </a:solidFill>
                                <a:latin typeface="Cambria Math"/>
                              </a:rPr>
                              <m:t xml:space="preserve">−</m:t>
                            </m:r>
                            <m:r>
                              <m:rPr>
                                <m:sty m:val="i"/>
                              </m:rPr>
                              <a:rPr sz="2900">
                                <a:solidFill>
                                  <a:srgbClr val="252529"/>
                                </a:solidFill>
                                <a:latin typeface="Cambria Math"/>
                              </a:rPr>
                              <m:t xml:space="preserve">α</m:t>
                            </m:r>
                          </m:e>
                          <m:e>
                            <m:r>
                              <m:rPr>
                                <m:sty m:val="i"/>
                              </m:rPr>
                              <a:rPr sz="2900">
                                <a:solidFill>
                                  <a:srgbClr val="252529"/>
                                </a:solidFill>
                                <a:latin typeface="Cambria Math"/>
                              </a:rPr>
                              <m:t xml:space="preserve">1</m:t>
                            </m:r>
                          </m:e>
                        </m:mr>
                      </m:m>
                    </m:e>
                  </m:d>
                </m:oMath>
              </m:oMathPara>
            </a14:m>
            <a:endParaRPr sz="2900"/>
          </a:p>
        </p:txBody>
      </p:sp>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600">
                          <a:solidFill>
                            <a:srgbClr val="252529"/>
                          </a:solidFill>
                          <a:latin typeface="Cambria Math"/>
                        </a:rPr>
                      </m:ctrlPr>
                    </m:dPr>
                    <m:e>
                      <m:m>
                        <m:mPr>
                          <m:mcs>
                            <m:mc>
                              <m:mcPr>
                                <m:count m:val="1"/>
                                <m:mcJc m:val="center"/>
                              </m:mcPr>
                            </m:mc>
                          </m:mcs>
                          <m:ctrlPr>
                            <a:rPr sz="2600">
                              <a:solidFill>
                                <a:srgbClr val="252529"/>
                              </a:solidFill>
                              <a:latin typeface="Cambria Math"/>
                            </a:rPr>
                          </m:ctrlPr>
                        </m:mPr>
                        <m:mr>
                          <m:e>
                            <m:acc>
                              <m:accPr>
                                <m:chr m:val="̃"/>
                                <m:ctrlPr>
                                  <a:rPr sz="2600">
                                    <a:solidFill>
                                      <a:srgbClr val="252529"/>
                                    </a:solidFill>
                                    <a:latin typeface="Cambria Math"/>
                                  </a:rPr>
                                </m:ctrlPr>
                              </m:accPr>
                              <m:e>
                                <m:r>
                                  <m:rPr>
                                    <m:sty m:val="i"/>
                                  </m:rPr>
                                  <a:rPr sz="2600">
                                    <a:solidFill>
                                      <a:srgbClr val="252529"/>
                                    </a:solidFill>
                                    <a:latin typeface="Cambria Math"/>
                                  </a:rPr>
                                  <m:t xml:space="preserve">z</m:t>
                                </m:r>
                              </m:e>
                            </m:acc>
                          </m:e>
                        </m:mr>
                        <m:mr>
                          <m:e>
                            <m:acc>
                              <m:accPr>
                                <m:chr m:val="̃"/>
                                <m:ctrlPr>
                                  <a:rPr sz="2600">
                                    <a:solidFill>
                                      <a:srgbClr val="252529"/>
                                    </a:solidFill>
                                    <a:latin typeface="Cambria Math"/>
                                  </a:rPr>
                                </m:ctrlPr>
                              </m:accPr>
                              <m:e>
                                <m:r>
                                  <m:rPr>
                                    <m:sty m:val="i"/>
                                  </m:rPr>
                                  <a:rPr sz="2600">
                                    <a:solidFill>
                                      <a:srgbClr val="252529"/>
                                    </a:solidFill>
                                    <a:latin typeface="Cambria Math"/>
                                  </a:rPr>
                                  <m:t xml:space="preserve">w</m:t>
                                </m:r>
                              </m:e>
                            </m:acc>
                          </m:e>
                        </m:mr>
                      </m:m>
                    </m:e>
                  </m:d>
                  <m:r>
                    <m:rPr>
                      <m:sty m:val="i"/>
                    </m:rPr>
                    <a:rPr sz="2600">
                      <a:solidFill>
                        <a:srgbClr val="252529"/>
                      </a:solidFill>
                      <a:latin typeface="Cambria Math"/>
                    </a:rPr>
                    <m:t xml:space="preserve">=</m:t>
                  </m:r>
                  <m:r>
                    <m:rPr>
                      <m:sty m:val="i"/>
                    </m:rPr>
                    <a:rPr sz="2600">
                      <a:solidFill>
                        <a:srgbClr val="252529"/>
                      </a:solidFill>
                      <a:latin typeface="Cambria Math"/>
                    </a:rPr>
                    <m:t xml:space="preserve">Θ</m:t>
                  </m:r>
                  <m:d>
                    <m:dPr>
                      <m:begChr m:val="["/>
                      <m:endChr m:val="]"/>
                      <m:ctrlPr>
                        <a:rPr sz="2600">
                          <a:solidFill>
                            <a:srgbClr val="252529"/>
                          </a:solidFill>
                          <a:latin typeface="Cambria Math"/>
                        </a:rPr>
                      </m:ctrlPr>
                    </m:dPr>
                    <m:e>
                      <m:m>
                        <m:mPr>
                          <m:mcs>
                            <m:mc>
                              <m:mcPr>
                                <m:count m:val="1"/>
                                <m:mcJc m:val="center"/>
                              </m:mcPr>
                            </m:mc>
                          </m:mcs>
                          <m:ctrlPr>
                            <a:rPr sz="2600">
                              <a:solidFill>
                                <a:srgbClr val="252529"/>
                              </a:solidFill>
                              <a:latin typeface="Cambria Math"/>
                            </a:rPr>
                          </m:ctrlPr>
                        </m:mPr>
                        <m:mr>
                          <m:e>
                            <m:r>
                              <m:rPr>
                                <m:sty m:val="i"/>
                              </m:rPr>
                              <a:rPr sz="2600">
                                <a:solidFill>
                                  <a:srgbClr val="252529"/>
                                </a:solidFill>
                                <a:latin typeface="Cambria Math"/>
                              </a:rPr>
                              <m:t xml:space="preserve">z</m:t>
                            </m:r>
                          </m:e>
                        </m:mr>
                        <m:mr>
                          <m:e>
                            <m:r>
                              <m:rPr>
                                <m:sty m:val="i"/>
                              </m:rPr>
                              <a:rPr sz="2600">
                                <a:solidFill>
                                  <a:srgbClr val="252529"/>
                                </a:solidFill>
                                <a:latin typeface="Cambria Math"/>
                              </a:rPr>
                              <m:t xml:space="preserve">w</m:t>
                            </m:r>
                          </m:e>
                        </m:mr>
                      </m:m>
                    </m:e>
                  </m:d>
                </m:oMath>
              </m:oMathPara>
            </a14:m>
            <a:endParaRPr sz="2600"/>
          </a:p>
        </p:txBody>
      </p:sp>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aseline="0" b="0" i="0" u="none">
                <a:solidFill>
                  <a:srgbClr val="252529"/>
                </a:solidFill>
                <a:latin typeface="Aptos"/>
                <a:ea typeface="Aptos"/>
                <a:cs typeface="Aptos"/>
              </a:rPr>
              <a:t xml:space="preserve">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aseline="0" b="0" i="0" u="none">
                  <a:solidFill>
                    <a:srgbClr val="252529"/>
                  </a:solidFill>
                  <a:latin typeface="Aptos"/>
                  <a:ea typeface="Aptos"/>
                  <a:cs typeface="Aptos"/>
                </a:rPr>
                <a:t xml:space="preserve">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aseline="0" b="0" i="0" u="none">
                  <a:solidFill>
                    <a:srgbClr val="252529"/>
                  </a:solidFill>
                  <a:latin typeface="Aptos"/>
                  <a:ea typeface="Aptos"/>
                  <a:cs typeface="Aptos"/>
                </a:rPr>
                <a:t xml:space="preserve">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aseline="0" b="0" i="0" u="none">
                  <a:solidFill>
                    <a:srgbClr val="252529"/>
                  </a:solidFill>
                  <a:latin typeface="Aptos"/>
                  <a:ea typeface="Aptos"/>
                  <a:cs typeface="Aptos"/>
                </a:rPr>
                <a:t xml:space="preserve">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oMath>
                </m:oMathPara>
              </a14:m>
              <a:endParaRPr sz="1700"/>
            </a:p>
          </p:txBody>
        </p:sp>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w</m:t>
                    </m:r>
                  </m:oMath>
                </m:oMathPara>
              </a14:m>
              <a:endParaRPr sz="1700"/>
            </a:p>
          </p:txBody>
        </p:sp>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u</m:t>
                    </m:r>
                  </m:oMath>
                </m:oMathPara>
              </a14:m>
              <a:endParaRPr sz="1700"/>
            </a:p>
          </p:txBody>
        </p:sp>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y</m:t>
                    </m:r>
                  </m:oMath>
                </m:oMathPara>
              </a14:m>
              <a:endParaRPr sz="1700"/>
            </a:p>
          </p:txBody>
        </p:sp>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aseline="0" b="0" i="0" u="none">
                  <a:solidFill>
                    <a:srgbClr val="252529"/>
                  </a:solidFill>
                  <a:latin typeface="Aptos"/>
                  <a:ea typeface="Aptos"/>
                  <a:cs typeface="Aptos"/>
                </a:rPr>
                <a:t xml:space="preserve">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900">
                            <a:solidFill>
                              <a:srgbClr val="252529"/>
                            </a:solidFill>
                            <a:latin typeface="Cambria Math"/>
                          </a:rPr>
                        </m:ctrlPr>
                      </m:accPr>
                      <m:e>
                        <m:r>
                          <m:rPr>
                            <m:sty m:val="i"/>
                          </m:rPr>
                          <a:rPr sz="1900">
                            <a:solidFill>
                              <a:srgbClr val="252529"/>
                            </a:solidFill>
                            <a:latin typeface="Cambria Math"/>
                          </a:rPr>
                          <m:t xml:space="preserve">z</m:t>
                        </m:r>
                      </m:e>
                    </m:acc>
                  </m:oMath>
                </m:oMathPara>
              </a14:m>
              <a:endParaRPr sz="1900"/>
            </a:p>
          </p:txBody>
        </p:sp>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900">
                            <a:solidFill>
                              <a:srgbClr val="252529"/>
                            </a:solidFill>
                            <a:latin typeface="Cambria Math"/>
                          </a:rPr>
                        </m:ctrlPr>
                      </m:accPr>
                      <m:e>
                        <m:r>
                          <m:rPr>
                            <m:sty m:val="i"/>
                          </m:rPr>
                          <a:rPr sz="1900">
                            <a:solidFill>
                              <a:srgbClr val="252529"/>
                            </a:solidFill>
                            <a:latin typeface="Cambria Math"/>
                          </a:rPr>
                          <m:t xml:space="preserve">w</m:t>
                        </m:r>
                      </m:e>
                    </m:acc>
                  </m:oMath>
                </m:oMathPara>
              </a14:m>
              <a:endParaRPr sz="1900"/>
            </a:p>
          </p:txBody>
        </p:sp>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Θ</m:t>
                    </m:r>
                    <m:r>
                      <m:rPr>
                        <m:sty m:val="i"/>
                      </m:rPr>
                      <a:rPr sz="1700">
                        <a:solidFill>
                          <a:srgbClr val="252529"/>
                        </a:solidFill>
                        <a:latin typeface="Cambria Math"/>
                      </a:rPr>
                      <m:t xml:space="preserve">=</m:t>
                    </m:r>
                    <m:d>
                      <m:dPr>
                        <m:begChr m:val="["/>
                        <m:endChr m:val="]"/>
                        <m:ctrlPr>
                          <a:rPr sz="1700">
                            <a:solidFill>
                              <a:srgbClr val="252529"/>
                            </a:solidFill>
                            <a:latin typeface="Cambria Math"/>
                          </a:rPr>
                        </m:ctrlPr>
                      </m:dPr>
                      <m:e>
                        <m:m>
                          <m:mPr>
                            <m:mcs>
                              <m:mc>
                                <m:mcPr>
                                  <m:count m:val="2"/>
                                  <m:mcJc m:val="center"/>
                                </m:mcPr>
                              </m:mc>
                            </m:mcs>
                            <m:ctrlPr>
                              <a:rPr sz="1700">
                                <a:solidFill>
                                  <a:srgbClr val="252529"/>
                                </a:solidFill>
                                <a:latin typeface="Cambria Math"/>
                              </a:rPr>
                            </m:ctrlPr>
                          </m:mPr>
                          <m:mr>
                            <m:e>
                              <m:r>
                                <m:rPr>
                                  <m:sty m:val="i"/>
                                </m:rPr>
                                <a:rPr sz="1700">
                                  <a:solidFill>
                                    <a:srgbClr val="252529"/>
                                  </a:solidFill>
                                  <a:latin typeface="Cambria Math"/>
                                </a:rPr>
                                <m:t xml:space="preserve">v</m:t>
                              </m:r>
                            </m:e>
                            <m:e>
                              <m:r>
                                <m:rPr>
                                  <m:sty m:val="i"/>
                                </m:rPr>
                                <a:rPr sz="1700">
                                  <a:solidFill>
                                    <a:srgbClr val="252529"/>
                                  </a:solidFill>
                                  <a:latin typeface="Cambria Math"/>
                                </a:rPr>
                                <m:t xml:space="preserve">1</m:t>
                              </m:r>
                            </m:e>
                          </m:mr>
                          <m:mr>
                            <m:e>
                              <m:r>
                                <m:rPr>
                                  <m:sty m:val="i"/>
                                </m:rPr>
                                <a:rPr sz="1700">
                                  <a:solidFill>
                                    <a:srgbClr val="252529"/>
                                  </a:solidFill>
                                  <a:latin typeface="Cambria Math"/>
                                </a:rPr>
                                <m:t xml:space="preserve">v</m:t>
                              </m:r>
                            </m:e>
                            <m:e>
                              <m:r>
                                <m:rPr>
                                  <m:sty m:val="i"/>
                                </m:rPr>
                                <a:rPr sz="1700">
                                  <a:solidFill>
                                    <a:srgbClr val="252529"/>
                                  </a:solidFill>
                                  <a:latin typeface="Cambria Math"/>
                                </a:rPr>
                                <m:t xml:space="preserve">−</m:t>
                              </m:r>
                              <m:r>
                                <m:rPr>
                                  <m:sty m:val="i"/>
                                </m:rPr>
                                <a:rPr sz="1700">
                                  <a:solidFill>
                                    <a:srgbClr val="252529"/>
                                  </a:solidFill>
                                  <a:latin typeface="Cambria Math"/>
                                </a:rPr>
                                <m:t xml:space="preserve">1</m:t>
                              </m:r>
                            </m:e>
                          </m:mr>
                        </m:m>
                      </m:e>
                    </m:d>
                    <m:d>
                      <m:dPr>
                        <m:begChr m:val="["/>
                        <m:endChr m:val="]"/>
                        <m:ctrlPr>
                          <a:rPr sz="1700">
                            <a:solidFill>
                              <a:srgbClr val="252529"/>
                            </a:solidFill>
                            <a:latin typeface="Cambria Math"/>
                          </a:rPr>
                        </m:ctrlPr>
                      </m:dPr>
                      <m:e>
                        <m:m>
                          <m:mPr>
                            <m:mcs>
                              <m:mc>
                                <m:mcPr>
                                  <m:count m:val="2"/>
                                  <m:mcJc m:val="center"/>
                                </m:mcPr>
                              </m:mc>
                            </m:mcs>
                            <m:ctrlPr>
                              <a:rPr sz="1700">
                                <a:solidFill>
                                  <a:srgbClr val="252529"/>
                                </a:solidFill>
                                <a:latin typeface="Cambria Math"/>
                              </a:rPr>
                            </m:ctrlPr>
                          </m:mPr>
                          <m:mr>
                            <m:e>
                              <m:r>
                                <m:rPr>
                                  <m:sty m:val="i"/>
                                </m:rPr>
                                <a:rPr sz="1700">
                                  <a:solidFill>
                                    <a:srgbClr val="252529"/>
                                  </a:solidFill>
                                  <a:latin typeface="Cambria Math"/>
                                </a:rPr>
                                <m:t xml:space="preserve">β</m:t>
                              </m:r>
                            </m:e>
                            <m:e>
                              <m:r>
                                <m:rPr>
                                  <m:sty m:val="i"/>
                                </m:rPr>
                                <a:rPr sz="1700">
                                  <a:solidFill>
                                    <a:srgbClr val="252529"/>
                                  </a:solidFill>
                                  <a:latin typeface="Cambria Math"/>
                                </a:rPr>
                                <m:t xml:space="preserve">−</m:t>
                              </m:r>
                              <m:r>
                                <m:rPr>
                                  <m:sty m:val="i"/>
                                </m:rPr>
                                <a:rPr sz="1700">
                                  <a:solidFill>
                                    <a:srgbClr val="252529"/>
                                  </a:solidFill>
                                  <a:latin typeface="Cambria Math"/>
                                </a:rPr>
                                <m:t xml:space="preserve">1</m:t>
                              </m:r>
                            </m:e>
                          </m:mr>
                          <m:mr>
                            <m:e>
                              <m:r>
                                <m:rPr>
                                  <m:sty m:val="i"/>
                                </m:rPr>
                                <a:rPr sz="1700">
                                  <a:solidFill>
                                    <a:srgbClr val="252529"/>
                                  </a:solidFill>
                                  <a:latin typeface="Cambria Math"/>
                                </a:rPr>
                                <m:t xml:space="preserve">−</m:t>
                              </m:r>
                              <m:r>
                                <m:rPr>
                                  <m:sty m:val="i"/>
                                </m:rPr>
                                <a:rPr sz="1700">
                                  <a:solidFill>
                                    <a:srgbClr val="252529"/>
                                  </a:solidFill>
                                  <a:latin typeface="Cambria Math"/>
                                </a:rPr>
                                <m:t xml:space="preserve">α</m:t>
                              </m:r>
                            </m:e>
                            <m:e>
                              <m:r>
                                <m:rPr>
                                  <m:sty m:val="i"/>
                                </m:rPr>
                                <a:rPr sz="1700">
                                  <a:solidFill>
                                    <a:srgbClr val="252529"/>
                                  </a:solidFill>
                                  <a:latin typeface="Cambria Math"/>
                                </a:rPr>
                                <m:t xml:space="preserve">1</m:t>
                              </m:r>
                            </m:e>
                          </m:mr>
                        </m:m>
                      </m:e>
                    </m:d>
                  </m:oMath>
                </m:oMathPara>
              </a14:m>
              <a:endParaRPr sz="1700"/>
            </a:p>
          </p:txBody>
        </p:sp>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σ</m:t>
                    </m:r>
                    <m:r>
                      <m:rPr>
                        <m:sty m:val="i"/>
                      </m:rPr>
                      <a:rPr sz="1800">
                        <a:solidFill>
                          <a:srgbClr val="252529"/>
                        </a:solidFill>
                        <a:latin typeface="Cambria Math"/>
                      </a:rPr>
                      <m:t xml:space="preserve">=</m:t>
                    </m:r>
                    <m:sSup>
                      <m:sSupPr>
                        <m:ctrlPr>
                          <a:rPr sz="1800">
                            <a:solidFill>
                              <a:srgbClr val="252529"/>
                            </a:solidFill>
                            <a:latin typeface="Cambria Math"/>
                          </a:rPr>
                        </m:ctrlPr>
                      </m:sSupPr>
                      <m:e>
                        <m:d>
                          <m:dPr>
                            <m:begChr m:val="‖"/>
                            <m:endChr m:val="‖"/>
                            <m:ctrlPr>
                              <a:rPr sz="1800">
                                <a:solidFill>
                                  <a:srgbClr val="252529"/>
                                </a:solidFill>
                                <a:latin typeface="Cambria Math"/>
                              </a:rPr>
                            </m:ctrlPr>
                          </m:dPr>
                          <m:e>
                            <m:acc>
                              <m:accPr>
                                <m:chr m:val="̃"/>
                                <m:ctrlPr>
                                  <a:rPr sz="1800">
                                    <a:solidFill>
                                      <a:srgbClr val="252529"/>
                                    </a:solidFill>
                                    <a:latin typeface="Cambria Math"/>
                                  </a:rPr>
                                </m:ctrlPr>
                              </m:accPr>
                              <m:e>
                                <m:r>
                                  <m:rPr>
                                    <m:sty m:val="i"/>
                                  </m:rPr>
                                  <a:rPr sz="1800">
                                    <a:solidFill>
                                      <a:srgbClr val="252529"/>
                                    </a:solidFill>
                                    <a:latin typeface="Cambria Math"/>
                                  </a:rPr>
                                  <m:t xml:space="preserve">z</m:t>
                                </m:r>
                              </m:e>
                            </m:acc>
                          </m:e>
                        </m:d>
                      </m:e>
                      <m:sup>
                        <m:r>
                          <m:rPr>
                            <m:sty m:val="p"/>
                          </m:rPr>
                          <a:rPr sz="1800">
                            <a:solidFill>
                              <a:srgbClr val="252529"/>
                            </a:solidFill>
                            <a:latin typeface="Cambria Math"/>
                          </a:rPr>
                          <m:t xml:space="preserve">2</m:t>
                        </m:r>
                      </m:sup>
                    </m:sSup>
                    <m:r>
                      <m:rPr>
                        <m:sty m:val="i"/>
                      </m:rPr>
                      <a:rPr sz="1800">
                        <a:solidFill>
                          <a:srgbClr val="252529"/>
                        </a:solidFill>
                        <a:latin typeface="Cambria Math"/>
                      </a:rPr>
                      <m:t xml:space="preserve">−</m:t>
                    </m:r>
                    <m:sSup>
                      <m:sSupPr>
                        <m:ctrlPr>
                          <a:rPr sz="1800">
                            <a:solidFill>
                              <a:srgbClr val="252529"/>
                            </a:solidFill>
                            <a:latin typeface="Cambria Math"/>
                          </a:rPr>
                        </m:ctrlPr>
                      </m:sSupPr>
                      <m:e>
                        <m:d>
                          <m:dPr>
                            <m:begChr m:val="‖"/>
                            <m:endChr m:val="‖"/>
                            <m:ctrlPr>
                              <a:rPr sz="1800">
                                <a:solidFill>
                                  <a:srgbClr val="252529"/>
                                </a:solidFill>
                                <a:latin typeface="Cambria Math"/>
                              </a:rPr>
                            </m:ctrlPr>
                          </m:dPr>
                          <m:e>
                            <m:acc>
                              <m:accPr>
                                <m:chr m:val="̃"/>
                                <m:ctrlPr>
                                  <a:rPr sz="1800">
                                    <a:solidFill>
                                      <a:srgbClr val="252529"/>
                                    </a:solidFill>
                                    <a:latin typeface="Cambria Math"/>
                                  </a:rPr>
                                </m:ctrlPr>
                              </m:accPr>
                              <m:e>
                                <m:r>
                                  <m:rPr>
                                    <m:sty m:val="i"/>
                                  </m:rPr>
                                  <a:rPr sz="1800">
                                    <a:solidFill>
                                      <a:srgbClr val="252529"/>
                                    </a:solidFill>
                                    <a:latin typeface="Cambria Math"/>
                                  </a:rPr>
                                  <m:t xml:space="preserve">w</m:t>
                                </m:r>
                              </m:e>
                            </m:acc>
                          </m:e>
                        </m:d>
                      </m:e>
                      <m:sup>
                        <m:r>
                          <m:rPr>
                            <m:sty m:val="p"/>
                          </m:rPr>
                          <a:rPr sz="1800">
                            <a:solidFill>
                              <a:srgbClr val="252529"/>
                            </a:solidFill>
                            <a:latin typeface="Cambria Math"/>
                          </a:rPr>
                          <m:t xml:space="preserve">2</m:t>
                        </m:r>
                      </m:sup>
                    </m:sSup>
                    <m:r>
                      <m:rPr>
                        <m:sty m:val="i"/>
                      </m:rPr>
                      <a:rPr sz="1800">
                        <a:solidFill>
                          <a:srgbClr val="147C60"/>
                        </a:solidFill>
                        <a:latin typeface="Cambria Math"/>
                      </a:rPr>
                      <m:t xml:space="preserve">≥</m:t>
                    </m:r>
                    <m:r>
                      <m:rPr>
                        <m:sty m:val="i"/>
                      </m:rPr>
                      <a:rPr sz="1800">
                        <a:solidFill>
                          <a:srgbClr val="147C60"/>
                        </a:solidFill>
                        <a:latin typeface="Cambria Math"/>
                      </a:rPr>
                      <m:t xml:space="preserve">0</m:t>
                    </m:r>
                  </m:oMath>
                </m:oMathPara>
              </a14:m>
              <a:endParaRPr sz="1800"/>
            </a:p>
          </p:txBody>
        </p:sp>
      </p:grpSp>
    </p:spTree>
  </p:cSld>
  <p:clrMapOvr>
    <a:masterClrMapping/>
  </p:clrMapOvr>
  <p:transition xmlns:p14="http://schemas.microsoft.com/office/powerpoint/2010/main" p14:dur="450">
    <p:fade/>
  </p:transition>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600">
                          <a:solidFill>
                            <a:srgbClr val="252529"/>
                          </a:solidFill>
                          <a:latin typeface="Cambria Math"/>
                        </a:rPr>
                      </m:ctrlPr>
                    </m:naryPr>
                    <m:sub>
                      <m:r>
                        <m:rPr>
                          <m:sty m:val="p"/>
                        </m:rPr>
                        <a:rPr sz="1600">
                          <a:solidFill>
                            <a:srgbClr val="252529"/>
                          </a:solidFill>
                          <a:latin typeface="Cambria Math"/>
                        </a:rPr>
                        <m:t xml:space="preserve">0</m:t>
                      </m:r>
                    </m:sub>
                    <m:sup>
                      <m:r>
                        <m:rPr>
                          <m:sty m:val="i"/>
                        </m:rPr>
                        <a:rPr sz="1600">
                          <a:solidFill>
                            <a:srgbClr val="252529"/>
                          </a:solidFill>
                          <a:latin typeface="Cambria Math"/>
                        </a:rPr>
                        <m:t xml:space="preserve">T</m:t>
                      </m:r>
                    </m:sup>
                    <m:e>
                      <m:sSub>
                        <m:sSubPr>
                          <m:ctrlPr>
                            <a:rPr sz="1600">
                              <a:solidFill>
                                <a:srgbClr val="252529"/>
                              </a:solidFill>
                              <a:latin typeface="Cambria Math"/>
                            </a:rPr>
                          </m:ctrlPr>
                        </m:sSubPr>
                        <m:e>
                          <m:r>
                            <m:rPr>
                              <m:sty m:val="i"/>
                            </m:rPr>
                            <a:rPr sz="1600">
                              <a:solidFill>
                                <a:srgbClr val="252529"/>
                              </a:solidFill>
                              <a:latin typeface="Cambria Math"/>
                            </a:rPr>
                            <m:t xml:space="preserve">σ</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d</m:t>
                      </m:r>
                      <m:r>
                        <m:rPr>
                          <m:sty m:val="i"/>
                        </m:rPr>
                        <a:rPr sz="1600">
                          <a:solidFill>
                            <a:srgbClr val="252529"/>
                          </a:solidFill>
                          <a:latin typeface="Cambria Math"/>
                        </a:rPr>
                        <m:t xml:space="preserve">t</m:t>
                      </m:r>
                    </m:e>
                  </m:nary>
                  <m:r>
                    <m:rPr>
                      <m:sty m:val="i"/>
                    </m:rPr>
                    <a:rPr sz="1600">
                      <a:solidFill>
                        <a:srgbClr val="252529"/>
                      </a:solidFill>
                      <a:latin typeface="Cambria Math"/>
                    </a:rPr>
                    <m:t xml:space="preserve">≥</m:t>
                  </m:r>
                  <m:r>
                    <m:rPr>
                      <m:sty m:val="i"/>
                    </m:rPr>
                    <a:rPr sz="1600">
                      <a:solidFill>
                        <a:srgbClr val="252529"/>
                      </a:solidFill>
                      <a:latin typeface="Cambria Math"/>
                    </a:rPr>
                    <m:t xml:space="preserve">0</m:t>
                  </m:r>
                </m:oMath>
              </m:oMathPara>
            </a14:m>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For the unforced loop, find a common storage V.</a:t>
            </a:r>
            <a:endParaRPr sz="1500"/>
          </a:p>
        </p:txBody>
      </p:sp>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700">
                          <a:solidFill>
                            <a:srgbClr val="252529"/>
                          </a:solidFill>
                          <a:latin typeface="Cambria Math"/>
                        </a:rPr>
                      </m:ctrlPr>
                    </m:accPr>
                    <m:e>
                      <m:r>
                        <m:rPr>
                          <m:sty m:val="i"/>
                        </m:rPr>
                        <a:rPr sz="2700">
                          <a:solidFill>
                            <a:srgbClr val="252529"/>
                          </a:solidFill>
                          <a:latin typeface="Cambria Math"/>
                        </a:rPr>
                        <m:t xml:space="preserve">V</m:t>
                      </m:r>
                    </m:e>
                  </m:acc>
                  <m:d>
                    <m:dPr>
                      <m:begChr m:val="("/>
                      <m:endChr m:val=")"/>
                      <m:ctrlPr>
                        <a:rPr sz="2700">
                          <a:solidFill>
                            <a:srgbClr val="252529"/>
                          </a:solidFill>
                          <a:latin typeface="Cambria Math"/>
                        </a:rPr>
                      </m:ctrlPr>
                    </m:dPr>
                    <m:e>
                      <m:r>
                        <m:rPr>
                          <m:sty m:val="i"/>
                        </m:rPr>
                        <a:rPr sz="2700">
                          <a:solidFill>
                            <a:srgbClr val="252529"/>
                          </a:solidFill>
                          <a:latin typeface="Cambria Math"/>
                        </a:rPr>
                        <m:t xml:space="preserve">t</m:t>
                      </m:r>
                    </m:e>
                  </m:d>
                  <m:r>
                    <m:rPr>
                      <m:sty m:val="i"/>
                    </m:rPr>
                    <a:rPr sz="2700">
                      <a:solidFill>
                        <a:srgbClr val="252529"/>
                      </a:solidFill>
                      <a:latin typeface="Cambria Math"/>
                    </a:rPr>
                    <m:t xml:space="preserve">+</m:t>
                  </m:r>
                  <m:sSup>
                    <m:sSupPr>
                      <m:ctrlPr>
                        <a:rPr sz="2700">
                          <a:solidFill>
                            <a:srgbClr val="252529"/>
                          </a:solidFill>
                          <a:latin typeface="Cambria Math"/>
                        </a:rPr>
                      </m:ctrlPr>
                    </m:sSupPr>
                    <m:e>
                      <m:d>
                        <m:dPr>
                          <m:begChr m:val="‖"/>
                          <m:endChr m:val="‖"/>
                          <m:ctrlPr>
                            <a:rPr sz="2700">
                              <a:solidFill>
                                <a:srgbClr val="252529"/>
                              </a:solidFill>
                              <a:latin typeface="Cambria Math"/>
                            </a:rPr>
                          </m:ctrlPr>
                        </m:dPr>
                        <m:e>
                          <m:acc>
                            <m:accPr>
                              <m:chr m:val="̃"/>
                              <m:ctrlPr>
                                <a:rPr sz="2700">
                                  <a:solidFill>
                                    <a:srgbClr val="252529"/>
                                  </a:solidFill>
                                  <a:latin typeface="Cambria Math"/>
                                </a:rPr>
                              </m:ctrlPr>
                            </m:accPr>
                            <m:e>
                              <m:r>
                                <m:rPr>
                                  <m:sty m:val="i"/>
                                </m:rPr>
                                <a:rPr sz="2700">
                                  <a:solidFill>
                                    <a:srgbClr val="252529"/>
                                  </a:solidFill>
                                  <a:latin typeface="Cambria Math"/>
                                </a:rPr>
                                <m:t xml:space="preserve">z</m:t>
                              </m:r>
                            </m:e>
                          </m:acc>
                        </m:e>
                      </m:d>
                    </m:e>
                    <m:sup>
                      <m:r>
                        <m:rPr>
                          <m:sty m:val="p"/>
                        </m:rPr>
                        <a:rPr sz="2700">
                          <a:solidFill>
                            <a:srgbClr val="252529"/>
                          </a:solidFill>
                          <a:latin typeface="Cambria Math"/>
                        </a:rPr>
                        <m:t xml:space="preserve">2</m:t>
                      </m:r>
                    </m:sup>
                  </m:sSup>
                  <m:r>
                    <m:rPr>
                      <m:sty m:val="i"/>
                    </m:rPr>
                    <a:rPr sz="2700">
                      <a:solidFill>
                        <a:srgbClr val="252529"/>
                      </a:solidFill>
                      <a:latin typeface="Cambria Math"/>
                    </a:rPr>
                    <m:t xml:space="preserve">−</m:t>
                  </m:r>
                  <m:sSup>
                    <m:sSupPr>
                      <m:ctrlPr>
                        <a:rPr sz="2700">
                          <a:solidFill>
                            <a:srgbClr val="252529"/>
                          </a:solidFill>
                          <a:latin typeface="Cambria Math"/>
                        </a:rPr>
                      </m:ctrlPr>
                    </m:sSupPr>
                    <m:e>
                      <m:d>
                        <m:dPr>
                          <m:begChr m:val="‖"/>
                          <m:endChr m:val="‖"/>
                          <m:ctrlPr>
                            <a:rPr sz="2700">
                              <a:solidFill>
                                <a:srgbClr val="252529"/>
                              </a:solidFill>
                              <a:latin typeface="Cambria Math"/>
                            </a:rPr>
                          </m:ctrlPr>
                        </m:dPr>
                        <m:e>
                          <m:acc>
                            <m:accPr>
                              <m:chr m:val="̃"/>
                              <m:ctrlPr>
                                <a:rPr sz="2700">
                                  <a:solidFill>
                                    <a:srgbClr val="252529"/>
                                  </a:solidFill>
                                  <a:latin typeface="Cambria Math"/>
                                </a:rPr>
                              </m:ctrlPr>
                            </m:accPr>
                            <m:e>
                              <m:r>
                                <m:rPr>
                                  <m:sty m:val="i"/>
                                </m:rPr>
                                <a:rPr sz="2700">
                                  <a:solidFill>
                                    <a:srgbClr val="252529"/>
                                  </a:solidFill>
                                  <a:latin typeface="Cambria Math"/>
                                </a:rPr>
                                <m:t xml:space="preserve">w</m:t>
                              </m:r>
                            </m:e>
                          </m:acc>
                        </m:e>
                      </m:d>
                    </m:e>
                    <m:sup>
                      <m:r>
                        <m:rPr>
                          <m:sty m:val="p"/>
                        </m:rPr>
                        <a:rPr sz="2700">
                          <a:solidFill>
                            <a:srgbClr val="252529"/>
                          </a:solidFill>
                          <a:latin typeface="Cambria Math"/>
                        </a:rPr>
                        <m:t xml:space="preserve">2</m:t>
                      </m:r>
                    </m:sup>
                  </m:sSup>
                  <m:r>
                    <m:rPr>
                      <m:sty m:val="i"/>
                    </m:rPr>
                    <a:rPr sz="2700">
                      <a:solidFill>
                        <a:srgbClr val="252529"/>
                      </a:solidFill>
                      <a:latin typeface="Cambria Math"/>
                    </a:rPr>
                    <m:t xml:space="preserve">&lt;</m:t>
                  </m:r>
                  <m:r>
                    <m:rPr>
                      <m:sty m:val="i"/>
                    </m:rPr>
                    <a:rPr sz="2700">
                      <a:solidFill>
                        <a:srgbClr val="252529"/>
                      </a:solidFill>
                      <a:latin typeface="Cambria Math"/>
                    </a:rPr>
                    <m:t xml:space="preserve">0</m:t>
                  </m:r>
                </m:oMath>
              </m:oMathPara>
            </a14:m>
            <a:endParaRPr sz="2700"/>
          </a:p>
        </p:txBody>
      </p:sp>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For nonzero states; use a uniform strict margin.</a:t>
            </a:r>
            <a:endParaRPr sz="1200"/>
          </a:p>
        </p:txBody>
      </p:sp>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147C60"/>
                      </a:solidFill>
                      <a:latin typeface="Cambria Math"/>
                    </a:rPr>
                    <m:t xml:space="preserve">σ</m:t>
                  </m:r>
                  <m:r>
                    <m:rPr>
                      <m:sty m:val="i"/>
                    </m:rPr>
                    <a:rPr sz="2500">
                      <a:solidFill>
                        <a:srgbClr val="147C60"/>
                      </a:solidFill>
                      <a:latin typeface="Cambria Math"/>
                    </a:rPr>
                    <m:t xml:space="preserve">≥</m:t>
                  </m:r>
                  <m:r>
                    <m:rPr>
                      <m:sty m:val="i"/>
                    </m:rPr>
                    <a:rPr sz="2500">
                      <a:solidFill>
                        <a:srgbClr val="147C60"/>
                      </a:solidFill>
                      <a:latin typeface="Cambria Math"/>
                    </a:rPr>
                    <m:t xml:space="preserve">0</m:t>
                  </m:r>
                </m:oMath>
              </m:oMathPara>
            </a14:m>
            <a:endParaRPr sz="2500"/>
          </a:p>
        </p:txBody>
      </p:sp>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200">
                          <a:solidFill>
                            <a:srgbClr val="252529"/>
                          </a:solidFill>
                          <a:latin typeface="Cambria Math"/>
                        </a:rPr>
                      </m:ctrlPr>
                    </m:accPr>
                    <m:e>
                      <m:r>
                        <m:rPr>
                          <m:sty m:val="i"/>
                        </m:rPr>
                        <a:rPr sz="2200">
                          <a:solidFill>
                            <a:srgbClr val="252529"/>
                          </a:solidFill>
                          <a:latin typeface="Cambria Math"/>
                        </a:rPr>
                        <m:t xml:space="preserve">V</m:t>
                      </m:r>
                    </m:e>
                  </m:acc>
                  <m:r>
                    <m:rPr>
                      <m:sty m:val="i"/>
                    </m:rPr>
                    <a:rPr sz="2200">
                      <a:solidFill>
                        <a:srgbClr val="252529"/>
                      </a:solidFill>
                      <a:latin typeface="Cambria Math"/>
                    </a:rPr>
                    <m:t xml:space="preserve">+</m:t>
                  </m:r>
                  <m:r>
                    <m:rPr>
                      <m:sty m:val="i"/>
                    </m:rPr>
                    <a:rPr sz="2200">
                      <a:solidFill>
                        <a:srgbClr val="252529"/>
                      </a:solidFill>
                      <a:latin typeface="Cambria Math"/>
                    </a:rPr>
                    <m:t xml:space="preserve">σ</m:t>
                  </m:r>
                  <m:r>
                    <m:rPr>
                      <m:sty m:val="i"/>
                    </m:rPr>
                    <a:rPr sz="2200">
                      <a:solidFill>
                        <a:srgbClr val="252529"/>
                      </a:solidFill>
                      <a:latin typeface="Cambria Math"/>
                    </a:rPr>
                    <m:t xml:space="preserve">≤</m:t>
                  </m:r>
                  <m:r>
                    <m:rPr>
                      <m:sty m:val="i"/>
                    </m:rPr>
                    <a:rPr sz="2200">
                      <a:solidFill>
                        <a:srgbClr val="252529"/>
                      </a:solidFill>
                      <a:latin typeface="Cambria Math"/>
                    </a:rPr>
                    <m:t xml:space="preserve">−</m:t>
                  </m:r>
                  <m:r>
                    <m:rPr>
                      <m:sty m:val="i"/>
                    </m:rPr>
                    <a:rPr sz="2200">
                      <a:solidFill>
                        <a:srgbClr val="252529"/>
                      </a:solidFill>
                      <a:latin typeface="Cambria Math"/>
                    </a:rPr>
                    <m:t xml:space="preserve">ε</m:t>
                  </m:r>
                  <m:sSup>
                    <m:sSupPr>
                      <m:ctrlPr>
                        <a:rPr sz="2200">
                          <a:solidFill>
                            <a:srgbClr val="252529"/>
                          </a:solidFill>
                          <a:latin typeface="Cambria Math"/>
                        </a:rPr>
                      </m:ctrlPr>
                    </m:sSupPr>
                    <m:e>
                      <m:d>
                        <m:dPr>
                          <m:begChr m:val="‖"/>
                          <m:endChr m:val="‖"/>
                          <m:ctrlPr>
                            <a:rPr sz="2200">
                              <a:solidFill>
                                <a:srgbClr val="252529"/>
                              </a:solidFill>
                              <a:latin typeface="Cambria Math"/>
                            </a:rPr>
                          </m:ctrlPr>
                        </m:dPr>
                        <m:e>
                          <m:r>
                            <m:rPr>
                              <m:sty m:val="i"/>
                            </m:rPr>
                            <a:rPr sz="2200">
                              <a:solidFill>
                                <a:srgbClr val="252529"/>
                              </a:solidFill>
                              <a:latin typeface="Cambria Math"/>
                            </a:rPr>
                            <m:t xml:space="preserve">x</m:t>
                          </m:r>
                        </m:e>
                      </m:d>
                    </m:e>
                    <m:sup>
                      <m:r>
                        <m:rPr>
                          <m:sty m:val="p"/>
                        </m:rPr>
                        <a:rPr sz="2200">
                          <a:solidFill>
                            <a:srgbClr val="252529"/>
                          </a:solidFill>
                          <a:latin typeface="Cambria Math"/>
                        </a:rPr>
                        <m:t xml:space="preserve">2</m:t>
                      </m:r>
                    </m:sup>
                  </m:sSup>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ε</m:t>
                  </m:r>
                  <m:r>
                    <m:rPr>
                      <m:sty m:val="i"/>
                    </m:rPr>
                    <a:rPr sz="2200">
                      <a:solidFill>
                        <a:srgbClr val="252529"/>
                      </a:solidFill>
                      <a:latin typeface="Cambria Math"/>
                    </a:rPr>
                    <m:t xml:space="preserve">&gt;</m:t>
                  </m:r>
                  <m:r>
                    <m:rPr>
                      <m:sty m:val="i"/>
                    </m:rPr>
                    <a:rPr sz="2200">
                      <a:solidFill>
                        <a:srgbClr val="252529"/>
                      </a:solidFill>
                      <a:latin typeface="Cambria Math"/>
                    </a:rPr>
                    <m:t xml:space="preserve">0</m:t>
                  </m:r>
                </m:oMath>
              </m:oMathPara>
            </a14:m>
            <a:endParaRPr sz="2200"/>
          </a:p>
        </p:txBody>
      </p:sp>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700">
                      <a:solidFill>
                        <a:srgbClr val="252529"/>
                      </a:solidFill>
                      <a:latin typeface="Cambria Math"/>
                    </a:rPr>
                    <m:t xml:space="preserve">⇒</m:t>
                  </m:r>
                  <m:r>
                    <m:rPr>
                      <m:sty m:val="i"/>
                    </m:rPr>
                    <a:rPr sz="2700">
                      <a:solidFill>
                        <a:srgbClr val="252529"/>
                      </a:solidFill>
                      <a:latin typeface="Cambria Math"/>
                    </a:rPr>
                    <m:t xml:space="preserve"> </m:t>
                  </m:r>
                  <m:r>
                    <m:rPr>
                      <m:sty m:val="i"/>
                    </m:rPr>
                    <a:rPr sz="2700">
                      <a:solidFill>
                        <a:srgbClr val="252529"/>
                      </a:solidFill>
                      <a:latin typeface="Cambria Math"/>
                    </a:rPr>
                    <m:t xml:space="preserve"> </m:t>
                  </m:r>
                  <m:acc>
                    <m:accPr>
                      <m:chr m:val="̇"/>
                      <m:ctrlPr>
                        <a:rPr sz="2700">
                          <a:solidFill>
                            <a:srgbClr val="252529"/>
                          </a:solidFill>
                          <a:latin typeface="Cambria Math"/>
                        </a:rPr>
                      </m:ctrlPr>
                    </m:accPr>
                    <m:e>
                      <m:r>
                        <m:rPr>
                          <m:sty m:val="i"/>
                        </m:rPr>
                        <a:rPr sz="2700">
                          <a:solidFill>
                            <a:srgbClr val="252529"/>
                          </a:solidFill>
                          <a:latin typeface="Cambria Math"/>
                        </a:rPr>
                        <m:t xml:space="preserve">V</m:t>
                      </m:r>
                    </m:e>
                  </m:acc>
                  <m:r>
                    <m:rPr>
                      <m:sty m:val="i"/>
                    </m:rPr>
                    <a:rPr sz="2700">
                      <a:solidFill>
                        <a:srgbClr val="252529"/>
                      </a:solidFill>
                      <a:latin typeface="Cambria Math"/>
                    </a:rPr>
                    <m:t xml:space="preserve">≤</m:t>
                  </m:r>
                  <m:r>
                    <m:rPr>
                      <m:sty m:val="i"/>
                    </m:rPr>
                    <a:rPr sz="2700">
                      <a:solidFill>
                        <a:srgbClr val="252529"/>
                      </a:solidFill>
                      <a:latin typeface="Cambria Math"/>
                    </a:rPr>
                    <m:t xml:space="preserve">−</m:t>
                  </m:r>
                  <m:r>
                    <m:rPr>
                      <m:sty m:val="i"/>
                    </m:rPr>
                    <a:rPr sz="2700">
                      <a:solidFill>
                        <a:srgbClr val="252529"/>
                      </a:solidFill>
                      <a:latin typeface="Cambria Math"/>
                    </a:rPr>
                    <m:t xml:space="preserve">ε</m:t>
                  </m:r>
                  <m:sSup>
                    <m:sSupPr>
                      <m:ctrlPr>
                        <a:rPr sz="2700">
                          <a:solidFill>
                            <a:srgbClr val="252529"/>
                          </a:solidFill>
                          <a:latin typeface="Cambria Math"/>
                        </a:rPr>
                      </m:ctrlPr>
                    </m:sSupPr>
                    <m:e>
                      <m:d>
                        <m:dPr>
                          <m:begChr m:val="‖"/>
                          <m:endChr m:val="‖"/>
                          <m:ctrlPr>
                            <a:rPr sz="2700">
                              <a:solidFill>
                                <a:srgbClr val="252529"/>
                              </a:solidFill>
                              <a:latin typeface="Cambria Math"/>
                            </a:rPr>
                          </m:ctrlPr>
                        </m:dPr>
                        <m:e>
                          <m:r>
                            <m:rPr>
                              <m:sty m:val="i"/>
                            </m:rPr>
                            <a:rPr sz="2700">
                              <a:solidFill>
                                <a:srgbClr val="252529"/>
                              </a:solidFill>
                              <a:latin typeface="Cambria Math"/>
                            </a:rPr>
                            <m:t xml:space="preserve">x</m:t>
                          </m:r>
                        </m:e>
                      </m:d>
                    </m:e>
                    <m:sup>
                      <m:r>
                        <m:rPr>
                          <m:sty m:val="p"/>
                        </m:rPr>
                        <a:rPr sz="2700">
                          <a:solidFill>
                            <a:srgbClr val="252529"/>
                          </a:solidFill>
                          <a:latin typeface="Cambria Math"/>
                        </a:rPr>
                        <m:t xml:space="preserve">2</m:t>
                      </m:r>
                    </m:sup>
                  </m:sSup>
                </m:oMath>
              </m:oMathPara>
            </a14:m>
            <a:endParaRPr sz="2700"/>
          </a:p>
        </p:txBody>
      </p:sp>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900">
                      <a:solidFill>
                        <a:srgbClr val="252529"/>
                      </a:solidFill>
                      <a:latin typeface="Cambria Math"/>
                    </a:rPr>
                    <m:t xml:space="preserve">m</m:t>
                  </m:r>
                  <m:sSup>
                    <m:sSupPr>
                      <m:ctrlPr>
                        <a:rPr sz="1900">
                          <a:solidFill>
                            <a:srgbClr val="252529"/>
                          </a:solidFill>
                          <a:latin typeface="Cambria Math"/>
                        </a:rPr>
                      </m:ctrlPr>
                    </m:sSupPr>
                    <m:e>
                      <m:d>
                        <m:dPr>
                          <m:begChr m:val="‖"/>
                          <m:endChr m:val="‖"/>
                          <m:ctrlPr>
                            <a:rPr sz="1900">
                              <a:solidFill>
                                <a:srgbClr val="252529"/>
                              </a:solidFill>
                              <a:latin typeface="Cambria Math"/>
                            </a:rPr>
                          </m:ctrlPr>
                        </m:dPr>
                        <m:e>
                          <m:r>
                            <m:rPr>
                              <m:sty m:val="i"/>
                            </m:rPr>
                            <a:rPr sz="1900">
                              <a:solidFill>
                                <a:srgbClr val="252529"/>
                              </a:solidFill>
                              <a:latin typeface="Cambria Math"/>
                            </a:rPr>
                            <m:t xml:space="preserve">x</m:t>
                          </m:r>
                        </m:e>
                      </m:d>
                    </m:e>
                    <m:sup>
                      <m:r>
                        <m:rPr>
                          <m:sty m:val="p"/>
                        </m:rPr>
                        <a:rPr sz="1900">
                          <a:solidFill>
                            <a:srgbClr val="252529"/>
                          </a:solidFill>
                          <a:latin typeface="Cambria Math"/>
                        </a:rPr>
                        <m:t xml:space="preserve">2</m:t>
                      </m:r>
                    </m:sup>
                  </m:sSup>
                  <m:r>
                    <m:rPr>
                      <m:sty m:val="i"/>
                    </m:rPr>
                    <a:rPr sz="1900">
                      <a:solidFill>
                        <a:srgbClr val="252529"/>
                      </a:solidFill>
                      <a:latin typeface="Cambria Math"/>
                    </a:rPr>
                    <m:t xml:space="preserve">≤</m:t>
                  </m:r>
                  <m:r>
                    <m:rPr>
                      <m:sty m:val="i"/>
                    </m:rPr>
                    <a:rPr sz="1900">
                      <a:solidFill>
                        <a:srgbClr val="252529"/>
                      </a:solidFill>
                      <a:latin typeface="Cambria Math"/>
                    </a:rPr>
                    <m:t xml:space="preserve">V</m:t>
                  </m:r>
                  <m:r>
                    <m:rPr>
                      <m:sty m:val="i"/>
                    </m:rPr>
                    <a:rPr sz="1900">
                      <a:solidFill>
                        <a:srgbClr val="252529"/>
                      </a:solidFill>
                      <a:latin typeface="Cambria Math"/>
                    </a:rPr>
                    <m:t xml:space="preserve">≤</m:t>
                  </m:r>
                  <m:r>
                    <m:rPr>
                      <m:sty m:val="i"/>
                    </m:rPr>
                    <a:rPr sz="1900">
                      <a:solidFill>
                        <a:srgbClr val="252529"/>
                      </a:solidFill>
                      <a:latin typeface="Cambria Math"/>
                    </a:rPr>
                    <m:t xml:space="preserve">M</m:t>
                  </m:r>
                  <m:sSup>
                    <m:sSupPr>
                      <m:ctrlPr>
                        <a:rPr sz="1900">
                          <a:solidFill>
                            <a:srgbClr val="252529"/>
                          </a:solidFill>
                          <a:latin typeface="Cambria Math"/>
                        </a:rPr>
                      </m:ctrlPr>
                    </m:sSupPr>
                    <m:e>
                      <m:d>
                        <m:dPr>
                          <m:begChr m:val="‖"/>
                          <m:endChr m:val="‖"/>
                          <m:ctrlPr>
                            <a:rPr sz="1900">
                              <a:solidFill>
                                <a:srgbClr val="252529"/>
                              </a:solidFill>
                              <a:latin typeface="Cambria Math"/>
                            </a:rPr>
                          </m:ctrlPr>
                        </m:dPr>
                        <m:e>
                          <m:r>
                            <m:rPr>
                              <m:sty m:val="i"/>
                            </m:rPr>
                            <a:rPr sz="1900">
                              <a:solidFill>
                                <a:srgbClr val="252529"/>
                              </a:solidFill>
                              <a:latin typeface="Cambria Math"/>
                            </a:rPr>
                            <m:t xml:space="preserve">x</m:t>
                          </m:r>
                        </m:e>
                      </m:d>
                    </m:e>
                    <m:sup>
                      <m:r>
                        <m:rPr>
                          <m:sty m:val="p"/>
                        </m:rPr>
                        <a:rPr sz="1900">
                          <a:solidFill>
                            <a:srgbClr val="252529"/>
                          </a:solidFill>
                          <a:latin typeface="Cambria Math"/>
                        </a:rPr>
                        <m:t xml:space="preserve">2</m:t>
                      </m:r>
                    </m:sup>
                  </m:sSup>
                  <m:r>
                    <m:rPr>
                      <m:sty m:val="i"/>
                    </m:rPr>
                    <a:rPr sz="1900">
                      <a:solidFill>
                        <a:srgbClr val="252529"/>
                      </a:solidFill>
                      <a:latin typeface="Cambria Math"/>
                    </a:rPr>
                    <m:t xml:space="preserve"> </m:t>
                  </m:r>
                  <m:r>
                    <m:rPr>
                      <m:sty m:val="i"/>
                    </m:rPr>
                    <a:rPr sz="1900">
                      <a:solidFill>
                        <a:srgbClr val="252529"/>
                      </a:solidFill>
                      <a:latin typeface="Cambria Math"/>
                    </a:rPr>
                    <m:t xml:space="preserve"> </m:t>
                  </m:r>
                  <m:r>
                    <m:rPr>
                      <m:sty m:val="i"/>
                    </m:rPr>
                    <a:rPr sz="1900">
                      <a:solidFill>
                        <a:srgbClr val="252529"/>
                      </a:solidFill>
                      <a:latin typeface="Cambria Math"/>
                    </a:rPr>
                    <m:t xml:space="preserve">⇒</m:t>
                  </m:r>
                  <m:r>
                    <m:rPr>
                      <m:sty m:val="i"/>
                    </m:rPr>
                    <a:rPr sz="1900">
                      <a:solidFill>
                        <a:srgbClr val="252529"/>
                      </a:solidFill>
                      <a:latin typeface="Cambria Math"/>
                    </a:rPr>
                    <m:t xml:space="preserve"> </m:t>
                  </m:r>
                  <m:r>
                    <m:rPr>
                      <m:sty m:val="i"/>
                    </m:rPr>
                    <a:rPr sz="1900">
                      <a:solidFill>
                        <a:srgbClr val="252529"/>
                      </a:solidFill>
                      <a:latin typeface="Cambria Math"/>
                    </a:rPr>
                    <m:t xml:space="preserve"> </m:t>
                  </m:r>
                  <m:r>
                    <m:rPr>
                      <m:sty m:val="i"/>
                    </m:rPr>
                    <a:rPr sz="1900">
                      <a:solidFill>
                        <a:srgbClr val="252529"/>
                      </a:solidFill>
                      <a:latin typeface="Cambria Math"/>
                    </a:rPr>
                    <m:t xml:space="preserve">V</m:t>
                  </m:r>
                  <m:d>
                    <m:dPr>
                      <m:begChr m:val="("/>
                      <m:endChr m:val=")"/>
                      <m:ctrlPr>
                        <a:rPr sz="1900">
                          <a:solidFill>
                            <a:srgbClr val="252529"/>
                          </a:solidFill>
                          <a:latin typeface="Cambria Math"/>
                        </a:rPr>
                      </m:ctrlPr>
                    </m:dPr>
                    <m:e>
                      <m:r>
                        <m:rPr>
                          <m:sty m:val="i"/>
                        </m:rPr>
                        <a:rPr sz="1900">
                          <a:solidFill>
                            <a:srgbClr val="252529"/>
                          </a:solidFill>
                          <a:latin typeface="Cambria Math"/>
                        </a:rPr>
                        <m:t xml:space="preserve">t</m:t>
                      </m:r>
                    </m:e>
                  </m:d>
                  <m:r>
                    <m:rPr>
                      <m:sty m:val="i"/>
                    </m:rPr>
                    <a:rPr sz="1900">
                      <a:solidFill>
                        <a:srgbClr val="252529"/>
                      </a:solidFill>
                      <a:latin typeface="Cambria Math"/>
                    </a:rPr>
                    <m:t xml:space="preserve">≤</m:t>
                  </m:r>
                  <m:sSup>
                    <m:sSupPr>
                      <m:ctrlPr>
                        <a:rPr sz="1900">
                          <a:solidFill>
                            <a:srgbClr val="252529"/>
                          </a:solidFill>
                          <a:latin typeface="Cambria Math"/>
                        </a:rPr>
                      </m:ctrlPr>
                    </m:sSupPr>
                    <m:e>
                      <m:r>
                        <m:rPr>
                          <m:sty m:val="i"/>
                        </m:rPr>
                        <a:rPr sz="1900">
                          <a:solidFill>
                            <a:srgbClr val="252529"/>
                          </a:solidFill>
                          <a:latin typeface="Cambria Math"/>
                        </a:rPr>
                        <m:t xml:space="preserve">e</m:t>
                      </m:r>
                    </m:e>
                    <m:sup>
                      <m:r>
                        <m:rPr>
                          <m:sty m:val="i"/>
                        </m:rPr>
                        <a:rPr sz="1900">
                          <a:solidFill>
                            <a:srgbClr val="252529"/>
                          </a:solidFill>
                          <a:latin typeface="Cambria Math"/>
                        </a:rPr>
                        <m:t xml:space="preserve">−</m:t>
                      </m:r>
                      <m:r>
                        <m:rPr>
                          <m:sty m:val="i"/>
                        </m:rPr>
                        <a:rPr sz="1900">
                          <a:solidFill>
                            <a:srgbClr val="252529"/>
                          </a:solidFill>
                          <a:latin typeface="Cambria Math"/>
                        </a:rPr>
                        <m:t xml:space="preserve">ε</m:t>
                      </m:r>
                      <m:r>
                        <m:rPr>
                          <m:sty m:val="i"/>
                        </m:rPr>
                        <a:rPr sz="1900">
                          <a:solidFill>
                            <a:srgbClr val="252529"/>
                          </a:solidFill>
                          <a:latin typeface="Cambria Math"/>
                        </a:rPr>
                        <m:t xml:space="preserve">t</m:t>
                      </m:r>
                      <m:r>
                        <m:rPr>
                          <m:sty m:val="i"/>
                        </m:rPr>
                        <a:rPr sz="1900">
                          <a:solidFill>
                            <a:srgbClr val="252529"/>
                          </a:solidFill>
                          <a:latin typeface="Cambria Math"/>
                        </a:rPr>
                        <m:t xml:space="preserve">/</m:t>
                      </m:r>
                      <m:r>
                        <m:rPr>
                          <m:sty m:val="i"/>
                        </m:rPr>
                        <a:rPr sz="1900">
                          <a:solidFill>
                            <a:srgbClr val="252529"/>
                          </a:solidFill>
                          <a:latin typeface="Cambria Math"/>
                        </a:rPr>
                        <m:t xml:space="preserve">M</m:t>
                      </m:r>
                    </m:sup>
                  </m:sSup>
                  <m:r>
                    <m:rPr>
                      <m:sty m:val="i"/>
                    </m:rPr>
                    <a:rPr sz="1900">
                      <a:solidFill>
                        <a:srgbClr val="252529"/>
                      </a:solidFill>
                      <a:latin typeface="Cambria Math"/>
                    </a:rPr>
                    <m:t xml:space="preserve">V</m:t>
                  </m:r>
                  <m:d>
                    <m:dPr>
                      <m:begChr m:val="("/>
                      <m:endChr m:val=")"/>
                      <m:ctrlPr>
                        <a:rPr sz="1900">
                          <a:solidFill>
                            <a:srgbClr val="252529"/>
                          </a:solidFill>
                          <a:latin typeface="Cambria Math"/>
                        </a:rPr>
                      </m:ctrlPr>
                    </m:dPr>
                    <m:e>
                      <m:r>
                        <m:rPr>
                          <m:sty m:val="i"/>
                        </m:rPr>
                        <a:rPr sz="1900">
                          <a:solidFill>
                            <a:srgbClr val="252529"/>
                          </a:solidFill>
                          <a:latin typeface="Cambria Math"/>
                        </a:rPr>
                        <m:t xml:space="preserve">0</m:t>
                      </m:r>
                    </m:e>
                  </m:d>
                </m:oMath>
              </m:oMathPara>
            </a14:m>
            <a:endParaRPr sz="1900"/>
          </a:p>
        </p:txBody>
      </p:sp>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aseline="0" b="1" i="0" u="none">
                <a:solidFill>
                  <a:srgbClr val="147C60"/>
                </a:solidFill>
                <a:latin typeface="Aptos"/>
                <a:ea typeface="Aptos"/>
                <a:cs typeface="Aptos"/>
              </a:rPr>
              <a:t xml:space="preserve">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a:t>
            </a:r>
            <a:endParaRPr sz="800"/>
          </a:p>
        </p:txBody>
      </p:sp>
    </p:spTree>
  </p:cSld>
  <p:clrMapOvr>
    <a:masterClrMapping/>
  </p:clrMapOvr>
  <p:transition xmlns:p14="http://schemas.microsoft.com/office/powerpoint/2010/main" p14:dur="450">
    <p:fade/>
  </p:transition>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