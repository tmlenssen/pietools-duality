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07" r:id="rId23"/>
    <p:sldId id="408" r:id="rId24"/>
    <p:sldId id="409" r:id="rId25"/>
    <p:sldId id="45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58" r:id="rId44"/>
    <p:sldId id="421" r:id="rId45"/>
    <p:sldId id="427" r:id="rId46"/>
    <p:sldId id="431" r:id="rId47"/>
    <p:sldId id="428" r:id="rId48"/>
    <p:sldId id="429" r:id="rId49"/>
    <p:sldId id="432" r:id="rId50"/>
    <p:sldId id="430" r:id="rId51"/>
    <p:sldId id="433" r:id="rId52"/>
    <p:sldId id="434" r:id="rId5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3" d="2"/>
        <a:sy n="3" d="2"/>
      </p:scale>
      <p:origin x="-32"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Highlight the original controller-synthesis property. Synthesis is carried out in PIE coordinates; the corresponding controller is implemented in the original system. The displayed K is a generic controller block, not a claim that arbitrary output-feedback synthesis is convex.</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Relationships xmlns="http://schemas.openxmlformats.org/package/2006/relationships"><Relationship Id="rIdExtractFinal108" Type="http://schemas.openxmlformats.org/officeDocument/2006/relationships/image" Target="../media/extraction20_revised_lfr19_image97.png"/><Relationship Id="rIdExtractFinal103" Type="http://schemas.openxmlformats.org/officeDocument/2006/relationships/image" Target="../media/extraction20_revised_lfr19_image101.png"/><Relationship Id="rId3" Type="http://schemas.openxmlformats.org/officeDocument/2006/relationships/image" Target="../media/image1.png"/><Relationship Id="rIdExtractFinal102" Type="http://schemas.openxmlformats.org/officeDocument/2006/relationships/image" Target="../media/extraction20_revised_lfr19_image96.png"/><Relationship Id="rIdExtractFinal107" Type="http://schemas.openxmlformats.org/officeDocument/2006/relationships/image" Target="../media/extraction20_revised_lfr19_image74.png"/><Relationship Id="rId2" Type="http://schemas.openxmlformats.org/officeDocument/2006/relationships/notesSlide" Target="../notesSlides/notesSlide14.xml"/><Relationship Id="rIdExtractFinal106" Type="http://schemas.openxmlformats.org/officeDocument/2006/relationships/image" Target="../media/extraction20_revised_lfr19_image100.png"/><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ExtractFinal100" Type="http://schemas.openxmlformats.org/officeDocument/2006/relationships/image" Target="../media/extraction20_revised_lfr19_image102.png"/><Relationship Id="rIdExtractFinal109" Type="http://schemas.openxmlformats.org/officeDocument/2006/relationships/image" Target="../media/extraction20_image70.png"/><Relationship Id="rId4" Type="http://schemas.openxmlformats.org/officeDocument/2006/relationships/image" Target="../media/image71.png"/><Relationship Id="rIdBlockMorph20_0" Type="http://schemas.openxmlformats.org/officeDocument/2006/relationships/image" Target="../media/blockmorph20_extraction20_revised_lfr19_image97.png"/><Relationship Id="rIdBlockMorph20_1" Type="http://schemas.openxmlformats.org/officeDocument/2006/relationships/image" Target="../media/blockmorph20_extraction20_revised_lfr19_image101.png"/><Relationship Id="rIdBlockMorph20_2" Type="http://schemas.openxmlformats.org/officeDocument/2006/relationships/image" Target="../media/blockmorph20_image74.png"/><Relationship Id="rIdBlockMorph20_3" Type="http://schemas.openxmlformats.org/officeDocument/2006/relationships/image" Target="../media/blockmorph20_image79.png"/><Relationship Id="rIdBlockMorph20_4" Type="http://schemas.openxmlformats.org/officeDocument/2006/relationships/image" Target="../media/blockmorph20_image84.png"/><Relationship Id="rIdBlockMorph20_5" Type="http://schemas.openxmlformats.org/officeDocument/2006/relationships/image" Target="../media/blockmorph20_image1.png"/><Relationship Id="rIdBlockMorph20_6" Type="http://schemas.openxmlformats.org/officeDocument/2006/relationships/image" Target="../media/blockmorph20_extraction20_revised_lfr19_image96.png"/><Relationship Id="rIdBlockMorph20_7" Type="http://schemas.openxmlformats.org/officeDocument/2006/relationships/image" Target="../media/blockmorph20_extraction20_revised_lfr19_image74.png"/><Relationship Id="rIdBlockMorph20_8" Type="http://schemas.openxmlformats.org/officeDocument/2006/relationships/image" Target="../media/blockmorph20_image71.png"/><Relationship Id="rIdBlockMorph20_9" Type="http://schemas.openxmlformats.org/officeDocument/2006/relationships/image" Target="../media/blockmorph20_image78.png"/><Relationship Id="rIdBlockMorph20_10" Type="http://schemas.openxmlformats.org/officeDocument/2006/relationships/image" Target="../media/blockmorph20_image83.png"/><Relationship Id="rIdBlockMorph20_12" Type="http://schemas.openxmlformats.org/officeDocument/2006/relationships/image" Target="../media/blockmorph20_extraction20_revised_lfr19_image100.png"/><Relationship Id="rIdBlockMorph20_13" Type="http://schemas.openxmlformats.org/officeDocument/2006/relationships/image" Target="../media/blockmorph20_image82.png"/><Relationship Id="rIdBlockMorph20_15" Type="http://schemas.openxmlformats.org/officeDocument/2006/relationships/image" Target="../media/blockmorph20_image73.png"/><Relationship Id="rIdBlockMorph20_16" Type="http://schemas.openxmlformats.org/officeDocument/2006/relationships/image" Target="../media/blockmorph20_image77.png"/><Relationship Id="rIdBlockMorph20_17" Type="http://schemas.openxmlformats.org/officeDocument/2006/relationships/image" Target="../media/blockmorph20_image72.png"/><Relationship Id="rIdBlockMorph20_18" Type="http://schemas.openxmlformats.org/officeDocument/2006/relationships/image" Target="../media/blockmorph20_image81.png"/><Relationship Id="rIdBlockMorph20_19" Type="http://schemas.openxmlformats.org/officeDocument/2006/relationships/image" Target="../media/blockmorph20_extraction20_revised_lfr19_image102.png"/><Relationship Id="rIdBlockMorph20_20" Type="http://schemas.openxmlformats.org/officeDocument/2006/relationships/image" Target="../media/blockmorph20_extraction20_image70.png"/><Relationship Id="rIdBlockMorph20_21" Type="http://schemas.openxmlformats.org/officeDocument/2006/relationships/image" Target="../media/blockmorph20_image76.png"/><Relationship Id="rIdBlockMorph20_22" Type="http://schemas.openxmlformats.org/officeDocument/2006/relationships/image" Target="../media/blockmorph20_image85.png"/><Relationship Id="rIdBlockMorph20_23" Type="http://schemas.openxmlformats.org/officeDocument/2006/relationships/image" Target="../media/blockmorph20_image75.png"/><Relationship Id="rIdBlockMorph20_24" Type="http://schemas.openxmlformats.org/officeDocument/2006/relationships/image" Target="../media/blockmorph20_image80.png"/></Relationships>
</file>

<file path=ppt/slides/_rels/slide2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 Id="rIdBlock106" Type="http://schemas.openxmlformats.org/officeDocument/2006/relationships/image" Target="../media/extraction20_image70.png"/><Relationship Id="rIdBlock107" Type="http://schemas.openxmlformats.org/officeDocument/2006/relationships/image" Target="../media/image73.png"/><Relationship Id="rIdBlockMorph21_0" Type="http://schemas.openxmlformats.org/officeDocument/2006/relationships/image" Target="../media/blockmorph21_image77.png"/><Relationship Id="rIdBlockMorph21_1" Type="http://schemas.openxmlformats.org/officeDocument/2006/relationships/image" Target="../media/blockmorph21_image82.png"/><Relationship Id="rIdBlockMorph21_2" Type="http://schemas.openxmlformats.org/officeDocument/2006/relationships/image" Target="../media/blockmorph21_image1.png"/><Relationship Id="rIdBlockMorph21_3" Type="http://schemas.openxmlformats.org/officeDocument/2006/relationships/image" Target="../media/blockmorph21_image73.png"/><Relationship Id="rIdBlockMorph21_4" Type="http://schemas.openxmlformats.org/officeDocument/2006/relationships/image" Target="../media/blockmorph21_image71.png"/><Relationship Id="rIdBlockMorph21_5" Type="http://schemas.openxmlformats.org/officeDocument/2006/relationships/image" Target="../media/blockmorph21_image81.png"/><Relationship Id="rIdBlockMorph21_7" Type="http://schemas.openxmlformats.org/officeDocument/2006/relationships/image" Target="../media/blockmorph21_image85.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11" Type="http://schemas.openxmlformats.org/officeDocument/2006/relationships/image" Target="../media/blockmorph21_image80.png"/><Relationship Id="rIdBlockMorph21_12" Type="http://schemas.openxmlformats.org/officeDocument/2006/relationships/image" Target="../media/blockmorph21_image752.png"/><Relationship Id="rIdBlockMorph21_13" Type="http://schemas.openxmlformats.org/officeDocument/2006/relationships/image" Target="../media/blockmorph21_image84.png"/><Relationship Id="rIdBlockMorph21_14" Type="http://schemas.openxmlformats.org/officeDocument/2006/relationships/image" Target="../media/blockmorph21_image79.png"/><Relationship Id="rIdBlockMorph21_15" Type="http://schemas.openxmlformats.org/officeDocument/2006/relationships/image" Target="../media/blockmorph21_image741.png"/><Relationship Id="rIdBlockMorph21_16" Type="http://schemas.openxmlformats.org/officeDocument/2006/relationships/image" Target="../media/blockmorph21_image78.png"/><Relationship Id="rIdBlockMorph21_17" Type="http://schemas.openxmlformats.org/officeDocument/2006/relationships/image" Target="../media/blockmorph21_image83.png"/></Relationships>
</file>

<file path=ppt/slides/_rels/slide22.xml.rels><?xml version="1.0" encoding="utf-8"?><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0.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Block107" Type="http://schemas.openxmlformats.org/officeDocument/2006/relationships/image" Target="../media/extraction20_image70.png"/><Relationship Id="rIdBlock108" Type="http://schemas.openxmlformats.org/officeDocument/2006/relationships/image" Target="../media/image73.png"/></Relationships>
</file>

<file path=ppt/slides/_rels/slide23.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82.png"/><Relationship Id="rId4" Type="http://schemas.openxmlformats.org/officeDocument/2006/relationships/image" Target="../media/image81.png"/><Relationship Id="rIdBlock105" Type="http://schemas.openxmlformats.org/officeDocument/2006/relationships/image" Target="../media/extraction20_image70.png"/><Relationship Id="rIdBlock106" Type="http://schemas.openxmlformats.org/officeDocument/2006/relationships/image" Target="../media/image73.png"/></Relationships>
</file>

<file path=ppt/slides/_rels/slide2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84.png"/><Relationship Id="rId4" Type="http://schemas.openxmlformats.org/officeDocument/2006/relationships/image" Target="../media/image83.png"/><Relationship Id="rIdBlock105" Type="http://schemas.openxmlformats.org/officeDocument/2006/relationships/image" Target="../media/extraction20_image70.png"/><Relationship Id="rIdBlock106" Type="http://schemas.openxmlformats.org/officeDocument/2006/relationships/image" Target="../media/image73.png"/></Relationships>
</file>

<file path=ppt/slides/_rels/slide25.xml.rels><?xml version="1.0" encoding="utf-8"?><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jpeg"/><Relationship Id="rIdRevisedLFR129" Type="http://schemas.openxmlformats.org/officeDocument/2006/relationships/image" Target="../media/revised_lfr19_image96.png"/><Relationship Id="rId3" Type="http://schemas.openxmlformats.org/officeDocument/2006/relationships/image" Target="../media/image722.png"/><Relationship Id="rId7" Type="http://schemas.openxmlformats.org/officeDocument/2006/relationships/image" Target="../media/image760.png"/><Relationship Id="rId12" Type="http://schemas.openxmlformats.org/officeDocument/2006/relationships/image" Target="../media/image811.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16"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751.png"/><Relationship Id="rId11" Type="http://schemas.openxmlformats.org/officeDocument/2006/relationships/image" Target="../media/image800.png"/><Relationship Id="rId5" Type="http://schemas.openxmlformats.org/officeDocument/2006/relationships/image" Target="../media/image740.png"/><Relationship Id="rId15" Type="http://schemas.openxmlformats.org/officeDocument/2006/relationships/image" Target="../media/image86.png"/><Relationship Id="rId10" Type="http://schemas.openxmlformats.org/officeDocument/2006/relationships/image" Target="../media/image790.png"/><Relationship Id="rId4" Type="http://schemas.openxmlformats.org/officeDocument/2006/relationships/image" Target="../media/image730.png"/><Relationship Id="rId9" Type="http://schemas.openxmlformats.org/officeDocument/2006/relationships/image" Target="../media/image780.png"/><Relationship Id="rId14" Type="http://schemas.openxmlformats.org/officeDocument/2006/relationships/image" Target="../media/image7.jpg"/><Relationship Id="rIdPillarBlock18" Type="http://schemas.openxmlformats.org/officeDocument/2006/relationships/image" Target="../media/extraction20_image70.png"/><Relationship Id="rIdPillarBlock19" Type="http://schemas.openxmlformats.org/officeDocument/2006/relationships/image" Target="../media/image7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8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8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8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9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92.png"/></Relationships>
</file>

<file path=ppt/slides/_rels/slide32.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3.png"/></Relationships>
</file>

<file path=ppt/slides/_rels/slide33.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3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95.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96.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97.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99.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9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100.png"/></Relationships>
</file>

<file path=ppt/slides/_rels/slide5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1.png"/></Relationships>
</file>

<file path=ppt/slides/_rels/slide5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BlockMorph20_5"/>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mc:Choice xmlns:a14="http://schemas.microsoft.com/office/drawing/2010/main"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mc:Choice xmlns:a14="http://schemas.microsoft.com/office/drawing/2010/main"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mc:Choice xmlns:a14="http://schemas.microsoft.com/office/drawing/2010/main"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BlockMorph21_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mc:Choice xmlns:a14="http://schemas.microsoft.com/office/drawing/2010/main"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mc:Choice xmlns:a14="http://schemas.microsoft.com/office/drawing/2010/main"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mc:Choice xmlns:a14="http://schemas.microsoft.com/office/drawing/2010/main"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9173427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52529"/>
                          </a:solidFill>
                          <a:latin typeface="Cambria Math"/>
                        </a:rPr>
                        <m:t>𝒜</m:t>
                      </m:r>
                      <m:r>
                        <a:rPr sz="2400">
                          <a:solidFill>
                            <a:srgbClr val="252529"/>
                          </a:solidFill>
                          <a:latin typeface="Cambria Math"/>
                        </a:rPr>
                        <m:t>+</m:t>
                      </m:r>
                      <m:r>
                        <a:rPr sz="2400">
                          <a:solidFill>
                            <a:srgbClr val="252529"/>
                          </a:solidFill>
                          <a:latin typeface="Cambria Math"/>
                        </a:rPr>
                        <m:t>ℬ</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52529"/>
                          </a:solidFill>
                          <a:latin typeface="Cambria Math"/>
                        </a:rPr>
                        <m:t>𝒜ℬ</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𝒜</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252529"/>
                              </a:solidFill>
                              <a:latin typeface="Cambria Math"/>
                            </a:rPr>
                          </m:ctrlPr>
                        </m:dPr>
                        <m:e>
                          <m:r>
                            <a:rPr sz="2400">
                              <a:solidFill>
                                <a:srgbClr val="252529"/>
                              </a:solidFill>
                              <a:latin typeface="Cambria Math"/>
                            </a:rPr>
                            <m:t>𝒜</m:t>
                          </m:r>
                          <m:r>
                            <a:rPr sz="2400">
                              <a:solidFill>
                                <a:srgbClr val="252529"/>
                              </a:solidFill>
                              <a:latin typeface="Cambria Math"/>
                            </a:rPr>
                            <m:t>  </m:t>
                          </m:r>
                          <m:r>
                            <a:rPr sz="2400">
                              <a:solidFill>
                                <a:srgbClr val="252529"/>
                              </a:solidFill>
                              <a:latin typeface="Cambria Math"/>
                            </a:rPr>
                            <m:t>ℬ</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mc:Choice xmlns:a14="http://schemas.microsoft.com/office/drawing/2010/main"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𝒫</m:t>
                      </m:r>
                      <m:r>
                        <a:rPr sz="2000">
                          <a:solidFill>
                            <a:srgbClr val="252529"/>
                          </a:solidFill>
                          <a:latin typeface="Cambria Math"/>
                        </a:rPr>
                        <m:t>≽</m:t>
                      </m:r>
                      <m:r>
                        <a:rPr sz="2000">
                          <a:solidFill>
                            <a:srgbClr val="252529"/>
                          </a:solidFill>
                          <a:latin typeface="Cambria Math"/>
                        </a:rPr>
                        <m:t>𝜀</m:t>
                      </m:r>
                      <m:r>
                        <a:rPr sz="2000">
                          <a:solidFill>
                            <a:srgbClr val="252529"/>
                          </a:solidFill>
                          <a:latin typeface="Cambria Math"/>
                        </a:rPr>
                        <m:t>ℐ</m:t>
                      </m:r>
                      <m:r>
                        <a:rPr sz="2000">
                          <a:solidFill>
                            <a:srgbClr val="252529"/>
                          </a:solidFill>
                          <a:latin typeface="Cambria Math"/>
                        </a:rPr>
                        <m:t>,   </m:t>
                      </m:r>
                      <m:r>
                        <a:rPr sz="2000">
                          <a:solidFill>
                            <a:srgbClr val="252529"/>
                          </a:solidFill>
                          <a:latin typeface="Cambria Math"/>
                        </a:rPr>
                        <m:t>𝜀</m:t>
                      </m:r>
                      <m:r>
                        <a:rPr sz="2000">
                          <a:solidFill>
                            <a:srgbClr val="252529"/>
                          </a:solidFill>
                          <a:latin typeface="Cambria Math"/>
                        </a:rPr>
                        <m:t>&gt;0</m:t>
                      </m:r>
                    </m:oMath>
                  </m:oMathPara>
                </a14:m>
                <a:endParaRPr sz="2000"/>
              </a:p>
            </p:txBody>
          </p:sp>
        </mc:Choice>
        <mc:Fallback>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a:solidFill>
                                <a:srgbClr val="252529"/>
                              </a:solidFill>
                              <a:latin typeface="Cambria Math"/>
                            </a:rPr>
                          </m:ctrlPr>
                        </m:sSupPr>
                        <m:e>
                          <m:r>
                            <a:rPr sz="1900">
                              <a:solidFill>
                                <a:srgbClr val="252529"/>
                              </a:solidFill>
                              <a:latin typeface="Cambria Math"/>
                            </a:rPr>
                            <m:t>𝒯</m:t>
                          </m:r>
                        </m:e>
                        <m:sup>
                          <m:r>
                            <a:rPr sz="1900">
                              <a:solidFill>
                                <a:srgbClr val="252529"/>
                              </a:solidFill>
                              <a:latin typeface="Cambria Math"/>
                            </a:rPr>
                            <m:t>∗</m:t>
                          </m:r>
                        </m:sup>
                      </m:sSup>
                      <m:r>
                        <a:rPr sz="1900">
                          <a:solidFill>
                            <a:srgbClr val="252529"/>
                          </a:solidFill>
                          <a:latin typeface="Cambria Math"/>
                        </a:rPr>
                        <m:t>𝒫𝒜</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𝒜</m:t>
                          </m:r>
                        </m:e>
                        <m:sup>
                          <m:r>
                            <a:rPr sz="1900">
                              <a:solidFill>
                                <a:srgbClr val="252529"/>
                              </a:solidFill>
                              <a:latin typeface="Cambria Math"/>
                            </a:rPr>
                            <m:t>∗</m:t>
                          </m:r>
                        </m:sup>
                      </m:sSup>
                      <m:r>
                        <a:rPr sz="1900">
                          <a:solidFill>
                            <a:srgbClr val="252529"/>
                          </a:solidFill>
                          <a:latin typeface="Cambria Math"/>
                        </a:rPr>
                        <m:t>𝒫𝒯</m:t>
                      </m:r>
                      <m:r>
                        <a:rPr sz="1900">
                          <a:solidFill>
                            <a:srgbClr val="252529"/>
                          </a:solidFill>
                          <a:latin typeface="Cambria Math"/>
                        </a:rPr>
                        <m:t>≼−</m:t>
                      </m:r>
                      <m:r>
                        <a:rPr sz="1900">
                          <a:solidFill>
                            <a:srgbClr val="252529"/>
                          </a:solidFill>
                          <a:latin typeface="Cambria Math"/>
                        </a:rPr>
                        <m:t>𝛼</m:t>
                      </m:r>
                      <m:sSup>
                        <m:sSupPr>
                          <m:ctrlPr>
                            <a:rPr sz="1900">
                              <a:solidFill>
                                <a:srgbClr val="252529"/>
                              </a:solidFill>
                              <a:latin typeface="Cambria Math"/>
                            </a:rPr>
                          </m:ctrlPr>
                        </m:sSupPr>
                        <m:e>
                          <m:r>
                            <a:rPr sz="1900">
                              <a:solidFill>
                                <a:srgbClr val="252529"/>
                              </a:solidFill>
                              <a:latin typeface="Cambria Math"/>
                            </a:rPr>
                            <m:t>𝒯</m:t>
                          </m:r>
                        </m:e>
                        <m:sup>
                          <m:r>
                            <a:rPr sz="1900">
                              <a:solidFill>
                                <a:srgbClr val="252529"/>
                              </a:solidFill>
                              <a:latin typeface="Cambria Math"/>
                            </a:rPr>
                            <m:t>∗</m:t>
                          </m:r>
                        </m:sup>
                      </m:sSup>
                      <m:r>
                        <a:rPr sz="1900">
                          <a:solidFill>
                            <a:srgbClr val="252529"/>
                          </a:solidFill>
                          <a:latin typeface="Cambria Math"/>
                        </a:rPr>
                        <m:t>𝒯</m:t>
                      </m:r>
                    </m:oMath>
                  </m:oMathPara>
                </a14:m>
                <a:endParaRPr sz="1900"/>
              </a:p>
            </p:txBody>
          </p:sp>
        </mc:Choice>
        <mc:Fallback>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PI operator parameterization → LMIs</a:t>
            </a:r>
            <a:endParaRPr sz="140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Controlled linear PIE"/>
              <p:cNvSpPr/>
              <p:nvPr/>
            </p:nvSpPr>
            <p:spPr>
              <a:xfrm>
                <a:off x="3543300" y="24726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𝑢</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1" name="Controlled linear PIE"/>
              <p:cNvSpPr>
                <a:spLocks noRot="1" noChangeAspect="1" noMove="1" noResize="1" noEditPoints="1" noAdjustHandles="1" noChangeArrowheads="1" noChangeShapeType="1" noTextEdit="1"/>
              </p:cNvSpPr>
              <p:nvPr/>
            </p:nvSpPr>
            <p:spPr>
              <a:xfrm>
                <a:off x="3543300" y="24726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Feedback controller"/>
              <p:cNvSpPr/>
              <p:nvPr/>
            </p:nvSpPr>
            <p:spPr>
              <a:xfrm>
                <a:off x="35433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𝑢</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𝐾𝑦</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2" name="Feedback controller"/>
              <p:cNvSpPr>
                <a:spLocks noRot="1" noChangeAspect="1" noMove="1" noResize="1" noEditPoints="1" noAdjustHandles="1" noChangeArrowheads="1" noChangeShapeType="1" noTextEdit="1"/>
              </p:cNvSpPr>
              <p:nvPr/>
            </p:nvSpPr>
            <p:spPr>
              <a:xfrm>
                <a:off x="3543300" y="3082290"/>
                <a:ext cx="5207000" cy="642620"/>
              </a:xfrm>
              <a:prstGeom prst="rect">
                <a:avLst/>
              </a:prstGeom>
              <a:blipFill>
                <a:blip r:embed="rId5"/>
                <a:stretch>
                  <a:fillRect/>
                </a:stretch>
              </a:blipFill>
              <a:ln>
                <a:noFill/>
              </a:ln>
            </p:spPr>
            <p:txBody>
              <a:bodyPr/>
              <a:lstStyle/>
              <a:p>
                <a:r>
                  <a:rPr lang="en-NL">
                    <a:noFill/>
                  </a:rPr>
                  <a:t> </a:t>
                </a:r>
              </a:p>
            </p:txBody>
          </p:sp>
        </mc:Fallback>
      </mc:AlternateContent>
      <p:sp>
        <p:nvSpPr>
          <p:cNvPr id="1003" name="Synthesis result"/>
          <p:cNvSpPr/>
          <p:nvPr/>
        </p:nvSpPr>
        <p:spPr>
          <a:xfrm>
            <a:off x="3543300" y="3911600"/>
            <a:ext cx="5207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Synthesize in PIE coordinates</a:t>
            </a:r>
            <a:endParaRPr sz="160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sp>
      <p:sp>
        <p:nvSpPr>
          <p:cNvPr id="20002" name="!!PIE pillar"/>
          <p:cNvSpPr/>
          <p:nvPr/>
        </p:nvSpPr>
        <p:spPr>
          <a:xfrm>
            <a:off x="5537200" y="0"/>
            <a:ext cx="3606800" cy="5143500"/>
          </a:xfrm>
          <a:prstGeom prst="rect">
            <a:avLst/>
          </a:prstGeom>
          <a:solidFill>
            <a:srgbClr val="C81919">
              <a:alpha val="50196"/>
            </a:srgbClr>
          </a:solidFill>
          <a:ln>
            <a:noFill/>
          </a:ln>
        </p:spPr>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aseline="0" b="1" i="0" u="none">
                <a:solidFill>
                  <a:srgbClr val="252529"/>
                </a:solidFill>
                <a:latin typeface="Aptos"/>
                <a:ea typeface="Aptos"/>
                <a:cs typeface="Aptos"/>
              </a:rPr>
              <a:t xml:space="preserve">Distributed models</a:t>
            </a:r>
            <a:endParaRPr sz="2200"/>
          </a:p>
        </p:txBody>
      </p:sp>
      <p:sp>
        <p:nvSpPr>
          <p:cNvPr id="20004" name="Pillar number"/>
          <p:cNvSpPr/>
          <p:nvPr/>
        </p:nvSpPr>
        <p:spPr>
          <a:xfrm>
            <a:off x="5664200" y="304800"/>
            <a:ext cx="3352800" cy="228600"/>
          </a:xfrm>
          <a:prstGeom prst="rect">
            <a:avLst/>
          </a:prstGeom>
          <a:noFill/>
          <a:ln>
            <a:noFill/>
          </a:ln>
        </p:spPr>
        <p:txBody>
          <a:bodyPr wrap="none" lIns="0" tIns="0" rIns="0" bIns="0" anchor="ctr">
            <a:noAutofit/>
          </a:bodyPr>
          <a:lstStyle/>
          <a:p>
            <a:pPr algn="ctr">
              <a:buNone/>
            </a:pPr>
            <a:r>
              <a:rPr lang="en-GB" sz="1200" baseline="0" b="1" i="0" u="none">
                <a:solidFill>
                  <a:srgbClr val="252529"/>
                </a:solidFill>
                <a:latin typeface="Aptos"/>
                <a:ea typeface="Aptos"/>
                <a:cs typeface="Aptos"/>
              </a:rPr>
              <a:t xml:space="preserve">PILLAR 1</a:t>
            </a:r>
            <a:endParaRPr sz="1200"/>
          </a:p>
        </p:txBody>
      </p:sp>
      <p:sp>
        <p:nvSpPr>
          <p:cNvPr id="20005" name="PIE heading"/>
          <p:cNvSpPr/>
          <p:nvPr/>
        </p:nvSpPr>
        <p:spPr>
          <a:xfrm>
            <a:off x="5664200" y="622300"/>
            <a:ext cx="3352800" cy="381000"/>
          </a:xfrm>
          <a:prstGeom prst="rect">
            <a:avLst/>
          </a:prstGeom>
          <a:noFill/>
          <a:ln>
            <a:noFill/>
          </a:ln>
        </p:spPr>
        <p:txBody>
          <a:bodyPr wrap="none" lIns="0" tIns="0" rIns="0" bIns="0" anchor="ctr">
            <a:noAutofit/>
          </a:bodyPr>
          <a:lstStyle/>
          <a:p>
            <a:pPr algn="ctr">
              <a:buNone/>
            </a:pPr>
            <a:r>
              <a:rPr lang="en-GB" sz="2000" baseline="0" b="1" i="0" u="none">
                <a:solidFill>
                  <a:srgbClr val="252529"/>
                </a:solidFill>
                <a:latin typeface="Aptos"/>
                <a:ea typeface="Aptos"/>
                <a:cs typeface="Aptos"/>
              </a:rPr>
              <a:t xml:space="preserve">Partial Integral Equations</a:t>
            </a:r>
            <a:endParaRPr sz="200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aseline="0" b="0" i="0" u="none">
                <a:solidFill>
                  <a:srgbClr val="633434"/>
                </a:solidFill>
                <a:latin typeface="Aptos"/>
                <a:ea typeface="Aptos"/>
                <a:cs typeface="Aptos"/>
              </a:rPr>
              <a:t xml:space="preserve">Original dynamics</a:t>
            </a:r>
            <a:endParaRPr sz="1300"/>
          </a:p>
        </p:txBody>
      </p:sp>
      <p:sp>
        <p:nvSpPr>
          <p:cNvPr id="20007" name="PIE subtitle"/>
          <p:cNvSpPr/>
          <p:nvPr/>
        </p:nvSpPr>
        <p:spPr>
          <a:xfrm>
            <a:off x="5664200" y="1031875"/>
            <a:ext cx="3352800" cy="247650"/>
          </a:xfrm>
          <a:prstGeom prst="rect">
            <a:avLst/>
          </a:prstGeom>
          <a:noFill/>
          <a:ln>
            <a:noFill/>
          </a:ln>
        </p:spPr>
        <p:txBody>
          <a:bodyPr wrap="none" lIns="0" tIns="0" rIns="0" bIns="0" anchor="ctr">
            <a:noAutofit/>
          </a:bodyPr>
          <a:lstStyle/>
          <a:p>
            <a:pPr algn="ctr">
              <a:buNone/>
            </a:pPr>
            <a:r>
              <a:rPr lang="en-GB" sz="1300" baseline="0" b="0" i="0" u="none">
                <a:solidFill>
                  <a:srgbClr val="633434"/>
                </a:solidFill>
                <a:latin typeface="Aptos"/>
                <a:ea typeface="Aptos"/>
                <a:cs typeface="Aptos"/>
              </a:rPr>
              <a:t xml:space="preserve">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633434"/>
            </a:solidFill>
            <a:round/>
            <a:tailEnd type="triangle" w="sm" len="sm"/>
          </a:ln>
        </p:spPr>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aseline="0" b="0" i="0" u="none">
                <a:solidFill>
                  <a:srgbClr val="633434"/>
                </a:solidFill>
                <a:latin typeface="Aptos"/>
                <a:ea typeface="Aptos"/>
                <a:cs typeface="Aptos"/>
              </a:rPr>
              <a:t xml:space="preserve">Tractability</a:t>
            </a:r>
            <a:endParaRPr sz="140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633434"/>
            </a:solidFill>
            <a:round/>
            <a:tailEnd type="triangle" w="sm" len="sm"/>
          </a:ln>
        </p:spPr>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aseline="0" b="0" i="0" u="none">
                <a:solidFill>
                  <a:srgbClr val="633434"/>
                </a:solidFill>
                <a:latin typeface="Aptos"/>
                <a:ea typeface="Aptos"/>
                <a:cs typeface="Aptos"/>
              </a:rPr>
              <a:t xml:space="preserve">Solutions</a:t>
            </a:r>
            <a:endParaRPr sz="140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aseline="0" b="1" i="0" u="none">
                <a:solidFill>
                  <a:srgbClr val="252529"/>
                </a:solidFill>
                <a:latin typeface="Aptos"/>
                <a:ea typeface="Aptos"/>
                <a:cs typeface="Aptos"/>
              </a:rPr>
              <a:t xml:space="preserve">Analysis and synthesis</a:t>
            </a:r>
            <a:endParaRPr sz="1800"/>
          </a:p>
        </p:txBody>
      </p:sp>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aseline="0" b="0" i="0" u="none">
                <a:solidFill>
                  <a:srgbClr val="633434"/>
                </a:solidFill>
                <a:latin typeface="Aptos"/>
                <a:ea typeface="Aptos"/>
                <a:cs typeface="Aptos"/>
              </a:rPr>
              <a:t xml:space="preserve">using LMIs</a:t>
            </a:r>
            <a:endParaRPr sz="1600"/>
          </a:p>
        </p:txBody>
      </p:sp>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16"/>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4"/>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6"/>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3"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4"/>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aseline="0" b="0" i="0" u="none">
                <a:solidFill>
                  <a:srgbClr val="633434"/>
                </a:solidFill>
                <a:latin typeface="Aptos"/>
                <a:ea typeface="Aptos"/>
                <a:cs typeface="Aptos"/>
              </a:rPr>
              <a:t xml:space="preserve">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xmlns:p14="http://schemas.microsoft.com/office/powerpoint/2010/main">
    <mc:Choice Requires="p159">
      <p:transition p14:dur="1200">
        <p159:morph option="byObject"/>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5292</TotalTime>
  <Words>5968</Words>
  <Application>Microsoft Office PowerPoint</Application>
  <PresentationFormat>On-screen Show (16:9)</PresentationFormat>
  <Paragraphs>955</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30</cp:revision>
  <dcterms:created xsi:type="dcterms:W3CDTF">2019-11-27T15:26:32Z</dcterms:created>
  <dcterms:modified xsi:type="dcterms:W3CDTF">2026-09-27T11:08:41Z</dcterms:modified>
</cp:coreProperties>
</file>