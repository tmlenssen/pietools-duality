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07" r:id="rId23"/>
    <p:sldId id="408" r:id="rId24"/>
    <p:sldId id="409" r:id="rId25"/>
    <p:sldId id="45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32"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ExtractFinal108" Type="http://schemas.openxmlformats.org/officeDocument/2006/relationships/image" Target="../media/extraction20_revised_lfr19_image97.png"/><Relationship Id="rIdExtractFinal103" Type="http://schemas.openxmlformats.org/officeDocument/2006/relationships/image" Target="../media/extraction20_revised_lfr19_image101.png"/><Relationship Id="rId3" Type="http://schemas.openxmlformats.org/officeDocument/2006/relationships/image" Target="../media/image1.png"/><Relationship Id="rIdExtractFinal102" Type="http://schemas.openxmlformats.org/officeDocument/2006/relationships/image" Target="../media/extraction20_revised_lfr19_image96.png"/><Relationship Id="rIdExtractFinal107" Type="http://schemas.openxmlformats.org/officeDocument/2006/relationships/image" Target="../media/extraction20_revised_lfr19_image74.png"/><Relationship Id="rId2" Type="http://schemas.openxmlformats.org/officeDocument/2006/relationships/notesSlide" Target="../notesSlides/notesSlide14.xml"/><Relationship Id="rIdExtractFinal106" Type="http://schemas.openxmlformats.org/officeDocument/2006/relationships/image" Target="../media/extraction20_revised_lfr19_image100.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ExtractFinal100" Type="http://schemas.openxmlformats.org/officeDocument/2006/relationships/image" Target="../media/extraction20_revised_lfr19_image102.png"/><Relationship Id="rIdExtractFinal109" Type="http://schemas.openxmlformats.org/officeDocument/2006/relationships/image" Target="../media/extraction20_image70.png"/><Relationship Id="rId4" Type="http://schemas.openxmlformats.org/officeDocument/2006/relationships/image" Target="../media/image71.png"/></Relationships>
</file>

<file path=ppt/slides/_rels/slide2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Block106" Type="http://schemas.openxmlformats.org/officeDocument/2006/relationships/image" Target="../media/extraction20_image70.png"/><Relationship Id="rIdBlock107" Type="http://schemas.openxmlformats.org/officeDocument/2006/relationships/image" Target="../media/image73.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Block107" Type="http://schemas.openxmlformats.org/officeDocument/2006/relationships/image" Target="../media/extraction20_image70.png"/><Relationship Id="rIdBlock108" Type="http://schemas.openxmlformats.org/officeDocument/2006/relationships/image" Target="../media/image73.png"/></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1.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4.png"/><Relationship Id="rId4" Type="http://schemas.openxmlformats.org/officeDocument/2006/relationships/image" Target="../media/image83.png"/><Relationship Id="rIdBlock105" Type="http://schemas.openxmlformats.org/officeDocument/2006/relationships/image" Target="../media/extraction20_image70.png"/><Relationship Id="rIdBlock106" Type="http://schemas.openxmlformats.org/officeDocument/2006/relationships/image" Target="../media/image73.png"/></Relationships>
</file>

<file path=ppt/slides/_rels/slide25.xml.rels><?xml version="1.0" encoding="utf-8"?><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86.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 Id="rIdPillarBlock18" Type="http://schemas.openxmlformats.org/officeDocument/2006/relationships/image" Target="../media/extraction20_image70.png"/><Relationship Id="rIdPillarBlock19" Type="http://schemas.openxmlformats.org/officeDocument/2006/relationships/image" Target="../media/image7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6.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m:rPr>
                              <m:aln/>
                            </m:rPr>
                            <a:rPr lang="en-NL" sz="1100" i="1" smtClean="0">
                              <a:latin typeface="Cambria Math" panose="02040503050406030204" pitchFamily="18" charset="0"/>
                            </a:rPr>
                            <m:t/>
                          </m:r>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5"/>
                <a:stretch>
                  <a:fillRect/>
                </a:stretch>
              </a:blipFill>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S</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m:oMathParaPr>
                    <m:jc m:val="right"/>
                  </m:oMathParaPr>
                  <m:oMath>
                    <m:sSub>
                      <m:sSubPr>
                        <m:ctrlPr>
                          <a:rPr sz="1050">
                            <a:solidFill>
                              <a:srgbClr val="20558B"/>
                            </a:solidFill>
                            <a:latin typeface="Cambria Math"/>
                          </a:rPr>
                        </m:ctrlPr>
                      </m:sSubPr>
                      <m:e>
                        <m:r>
                          <m:rPr>
                            <m:sty m:val="i"/>
                          </m:rPr>
                          <a:rPr sz="1050">
                            <a:solidFill>
                              <a:srgbClr val="20558B"/>
                            </a:solidFill>
                            <a:latin typeface="Cambria Math"/>
                          </a:rPr>
                          <m:t xml:space="preserve">τ</m:t>
                        </m:r>
                      </m:e>
                      <m:sub>
                        <m:r>
                          <m:rPr>
                            <m:sty m:val="p"/>
                          </m:rPr>
                          <a:rPr sz="1050">
                            <a:solidFill>
                              <a:srgbClr val="20558B"/>
                            </a:solidFill>
                            <a:latin typeface="Cambria Math"/>
                          </a:rPr>
                          <m:t xml:space="preserve">G</m:t>
                        </m:r>
                      </m:sub>
                    </m:sSub>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oMath>
                </m:oMathPara>
              </a14:m>
              <a:endParaRPr sz="1050"/>
            </a:p>
          </p:txBody>
        </p:sp>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S</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S</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S</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m:oMathParaPr>
                    <m:jc m:val="right"/>
                  </m:oMathParaPr>
                  <m:oMath>
                    <m:acc>
                      <m:accPr>
                        <m:chr m:val="̇"/>
                        <m:ctrlPr>
                          <a:rPr sz="1050">
                            <a:solidFill>
                              <a:srgbClr val="20558B"/>
                            </a:solidFill>
                            <a:latin typeface="Cambria Math"/>
                          </a:rPr>
                        </m:ctrlPr>
                      </m:accPr>
                      <m:e>
                        <m:sSub>
                          <m:sSubPr>
                            <m:ctrlPr>
                              <a:rPr sz="1050">
                                <a:solidFill>
                                  <a:srgbClr val="20558B"/>
                                </a:solidFill>
                                <a:latin typeface="Cambria Math"/>
                              </a:rPr>
                            </m:ctrlPr>
                          </m:sSubPr>
                          <m:e>
                            <m:r>
                              <m:rPr>
                                <m:sty m:val="i"/>
                              </m:rPr>
                              <a:rPr sz="1050">
                                <a:solidFill>
                                  <a:srgbClr val="20558B"/>
                                </a:solidFill>
                                <a:latin typeface="Cambria Math"/>
                              </a:rPr>
                              <m:t xml:space="preserve">x</m:t>
                            </m:r>
                          </m:e>
                          <m:sub>
                            <m:r>
                              <m:rPr>
                                <m:sty m:val="p"/>
                              </m:rPr>
                              <a:rPr sz="1050">
                                <a:solidFill>
                                  <a:srgbClr val="20558B"/>
                                </a:solidFill>
                                <a:latin typeface="Cambria Math"/>
                              </a:rPr>
                              <m:t xml:space="preserve">G</m:t>
                            </m:r>
                          </m:sub>
                        </m:sSub>
                      </m:e>
                    </m:acc>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e>
                    </m:d>
                    <m:r>
                      <m:rPr>
                        <m:sty m:val="i"/>
                      </m:rPr>
                      <a:rPr sz="1050">
                        <a:solidFill>
                          <a:srgbClr val="20558B"/>
                        </a:solidFill>
                        <a:latin typeface="Cambria Math"/>
                      </a:rPr>
                      <m:t xml:space="preserve">+</m:t>
                    </m:r>
                    <m:nary>
                      <m:naryPr>
                        <m:chr m:val="∫"/>
                        <m:limLoc m:val="subSup"/>
                        <m:ctrlPr>
                          <a:rPr sz="1050">
                            <a:solidFill>
                              <a:srgbClr val="20558B"/>
                            </a:solidFill>
                            <a:latin typeface="Cambria Math"/>
                          </a:rPr>
                        </m:ctrlPr>
                      </m:naryPr>
                      <m:sub>
                        <m:r>
                          <m:rPr>
                            <m:sty m:val="p"/>
                          </m:rPr>
                          <a:rPr sz="1050">
                            <a:solidFill>
                              <a:srgbClr val="20558B"/>
                            </a:solidFill>
                            <a:latin typeface="Cambria Math"/>
                          </a:rPr>
                          <m:t xml:space="preserve">0</m:t>
                        </m:r>
                      </m:sub>
                      <m:sup>
                        <m:r>
                          <m:rPr>
                            <m:sty m:val="i"/>
                          </m:rPr>
                          <a:rPr sz="1050">
                            <a:solidFill>
                              <a:srgbClr val="20558B"/>
                            </a:solidFill>
                            <a:latin typeface="Cambria Math"/>
                          </a:rPr>
                          <m:t xml:space="preserve">s</m:t>
                        </m:r>
                      </m:sup>
                      <m:e>
                        <m:sSub>
                          <m:sSubPr>
                            <m:ctrlPr>
                              <a:rPr sz="1050">
                                <a:solidFill>
                                  <a:srgbClr val="20558B"/>
                                </a:solidFill>
                                <a:latin typeface="Cambria Math"/>
                              </a:rPr>
                            </m:ctrlPr>
                          </m:sSubPr>
                          <m:e>
                            <m:acc>
                              <m:accPr>
                                <m:chr m:val="̇"/>
                                <m:ctrlPr>
                                  <a:rPr sz="1050">
                                    <a:solidFill>
                                      <a:srgbClr val="20558B"/>
                                    </a:solidFill>
                                    <a:latin typeface="Cambria Math"/>
                                  </a:rPr>
                                </m:ctrlPr>
                              </m:accPr>
                              <m:e>
                                <m:r>
                                  <m:rPr>
                                    <m:sty m:val="i"/>
                                  </m:rPr>
                                  <a:rPr sz="1050">
                                    <a:solidFill>
                                      <a:srgbClr val="20558B"/>
                                    </a:solidFill>
                                    <a:latin typeface="Cambria Math"/>
                                  </a:rPr>
                                  <m:t xml:space="preserve">φ</m:t>
                                </m:r>
                              </m:e>
                            </m:acc>
                          </m:e>
                          <m:sub>
                            <m:r>
                              <m:rPr>
                                <m:sty m:val="p"/>
                              </m:rPr>
                              <a:rPr sz="1050">
                                <a:solidFill>
                                  <a:srgbClr val="20558B"/>
                                </a:solidFill>
                                <a:latin typeface="Cambria Math"/>
                              </a:rPr>
                              <m:t xml:space="preserve">G</m:t>
                            </m:r>
                            <m:r>
                              <m:rPr>
                                <m:sty m:val="p"/>
                              </m:rPr>
                              <a:rPr sz="1050">
                                <a:solidFill>
                                  <a:srgbClr val="20558B"/>
                                </a:solidFill>
                                <a:latin typeface="Cambria Math"/>
                              </a:rPr>
                              <m:t xml:space="preserve">G</m:t>
                            </m:r>
                            <m:r>
                              <m:rPr>
                                <m:sty m:val="p"/>
                              </m:rPr>
                              <a:rPr sz="1050">
                                <a:solidFill>
                                  <a:srgbClr val="20558B"/>
                                </a:solidFill>
                                <a:latin typeface="Cambria Math"/>
                              </a:rPr>
                              <m:t xml:space="preserve">,</m:t>
                            </m:r>
                            <m:r>
                              <m:rPr>
                                <m:sty m:val="p"/>
                              </m:rPr>
                              <a:rPr sz="1050">
                                <a:solidFill>
                                  <a:srgbClr val="20558B"/>
                                </a:solidFill>
                                <a:latin typeface="Cambria Math"/>
                              </a:rPr>
                              <m:t xml:space="preserve">θ</m:t>
                            </m:r>
                          </m:sub>
                        </m:sSub>
                        <m:d>
                          <m:dPr>
                            <m:begChr m:val="("/>
                            <m:endChr m:val=")"/>
                            <m:ctrlPr>
                              <a:rPr sz="1050">
                                <a:solidFill>
                                  <a:srgbClr val="20558B"/>
                                </a:solidFill>
                                <a:latin typeface="Cambria Math"/>
                              </a:rPr>
                            </m:ctrlPr>
                          </m:dPr>
                          <m:e>
                            <m:r>
                              <m:rPr>
                                <m:sty m:val="i"/>
                              </m:rPr>
                              <a:rPr sz="1050">
                                <a:solidFill>
                                  <a:srgbClr val="20558B"/>
                                </a:solidFill>
                                <a:latin typeface="Cambria Math"/>
                              </a:rPr>
                              <m:t xml:space="preserve">t</m:t>
                            </m:r>
                            <m:r>
                              <m:rPr>
                                <m:sty m:val="i"/>
                              </m:rPr>
                              <a:rPr sz="1050">
                                <a:solidFill>
                                  <a:srgbClr val="20558B"/>
                                </a:solidFill>
                                <a:latin typeface="Cambria Math"/>
                              </a:rPr>
                              <m:t xml:space="preserve">,</m:t>
                            </m:r>
                            <m:r>
                              <m:rPr>
                                <m:sty m:val="i"/>
                              </m:rPr>
                              <a:rPr sz="1050">
                                <a:solidFill>
                                  <a:srgbClr val="20558B"/>
                                </a:solidFill>
                                <a:latin typeface="Cambria Math"/>
                              </a:rPr>
                              <m:t xml:space="preserve">θ</m:t>
                            </m:r>
                          </m:e>
                        </m:d>
                        <m:r>
                          <m:rPr>
                            <m:sty m:val="i"/>
                          </m:rPr>
                          <a:rPr sz="1050">
                            <a:solidFill>
                              <a:srgbClr val="20558B"/>
                            </a:solidFill>
                            <a:latin typeface="Cambria Math"/>
                          </a:rPr>
                          <m:t xml:space="preserve">d</m:t>
                        </m:r>
                        <m:r>
                          <m:rPr>
                            <m:sty m:val="i"/>
                          </m:rPr>
                          <a:rPr sz="1050">
                            <a:solidFill>
                              <a:srgbClr val="20558B"/>
                            </a:solidFill>
                            <a:latin typeface="Cambria Math"/>
                          </a:rPr>
                          <m:t xml:space="preserve">θ</m:t>
                        </m:r>
                      </m:e>
                    </m:nary>
                  </m:oMath>
                </m:oMathPara>
              </a14:m>
              <a:endParaRPr sz="1050"/>
            </a:p>
          </p:txBody>
        </p:sp>
      </p:grpSp>
      <p:grpSp>
        <p:nvGrpSpPr>
          <p:cNvPr id="40115" name="!!PIE spatial terms"/>
          <p:cNvGrpSpPr/>
          <p:nvPr/>
        </p:nvGrpSpPr>
        <p:grpSpPr>
          <a:xfrm>
            <a:off x="7924800" y="2476500"/>
            <a:ext cx="1016000" cy="2108200"/>
            <a:chOff x="7924800" y="2476500"/>
            <a:chExt cx="1016000" cy="2108200"/>
          </a:xfrm>
        </p:grpSpPr>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sSub>
                      <m:sSubPr>
                        <m:ctrlPr>
                          <a:rPr sz="1050">
                            <a:solidFill>
                              <a:srgbClr val="A82222"/>
                            </a:solidFill>
                            <a:latin typeface="Cambria Math"/>
                          </a:rPr>
                        </m:ctrlPr>
                      </m:sSubPr>
                      <m:e>
                        <m:r>
                          <m:rPr>
                            <m:sty m:val="i"/>
                          </m:rPr>
                          <a:rPr sz="1050">
                            <a:solidFill>
                              <a:srgbClr val="A82222"/>
                            </a:solidFill>
                            <a:latin typeface="Cambria Math"/>
                          </a:rPr>
                          <m:t xml:space="preserve">x</m:t>
                        </m:r>
                      </m:e>
                      <m:sub>
                        <m:r>
                          <m:rPr>
                            <m:sty m:val="p"/>
                          </m:rPr>
                          <a:rPr sz="1050">
                            <a:solidFill>
                              <a:srgbClr val="A82222"/>
                            </a:solidFill>
                            <a:latin typeface="Cambria Math"/>
                          </a:rPr>
                          <m:t xml:space="preserve">G</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e>
                    </m:d>
                  </m:oMath>
                </m:oMathPara>
              </a14:m>
              <a:endParaRPr sz="1050"/>
            </a:p>
          </p:txBody>
        </p:sp>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S</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S</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m:oMathParaPr>
                    <m:jc m:val="left"/>
                  </m:oMathParaPr>
                  <m:oMath>
                    <m:r>
                      <m:rPr>
                        <m:sty m:val="i"/>
                      </m:rPr>
                      <a:rPr sz="1050">
                        <a:solidFill>
                          <a:srgbClr val="A82222"/>
                        </a:solidFill>
                        <a:latin typeface="Cambria Math"/>
                      </a:rPr>
                      <m:t xml:space="preserve">−</m:t>
                    </m:r>
                    <m:f>
                      <m:fPr>
                        <m:ctrlPr>
                          <a:rPr sz="1050">
                            <a:solidFill>
                              <a:srgbClr val="A82222"/>
                            </a:solidFill>
                            <a:latin typeface="Cambria Math"/>
                          </a:rPr>
                        </m:ctrlPr>
                      </m:fPr>
                      <m:num>
                        <m:r>
                          <m:rPr>
                            <m:sty m:val="i"/>
                          </m:rPr>
                          <a:rPr sz="1050">
                            <a:solidFill>
                              <a:srgbClr val="A82222"/>
                            </a:solidFill>
                            <a:latin typeface="Cambria Math"/>
                          </a:rPr>
                          <m:t xml:space="preserve">1</m:t>
                        </m:r>
                      </m:num>
                      <m:den>
                        <m:sSub>
                          <m:sSubPr>
                            <m:ctrlPr>
                              <a:rPr sz="1050">
                                <a:solidFill>
                                  <a:srgbClr val="A82222"/>
                                </a:solidFill>
                                <a:latin typeface="Cambria Math"/>
                              </a:rPr>
                            </m:ctrlPr>
                          </m:sSubPr>
                          <m:e>
                            <m:r>
                              <m:rPr>
                                <m:sty m:val="i"/>
                              </m:rPr>
                              <a:rPr sz="1050">
                                <a:solidFill>
                                  <a:srgbClr val="A82222"/>
                                </a:solidFill>
                                <a:latin typeface="Cambria Math"/>
                              </a:rPr>
                              <m:t xml:space="preserve">τ</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sub>
                        </m:sSub>
                      </m:den>
                    </m:f>
                    <m:sSub>
                      <m:sSubPr>
                        <m:ctrlPr>
                          <a:rPr sz="1050">
                            <a:solidFill>
                              <a:srgbClr val="A82222"/>
                            </a:solidFill>
                            <a:latin typeface="Cambria Math"/>
                          </a:rPr>
                        </m:ctrlPr>
                      </m:sSubPr>
                      <m:e>
                        <m:r>
                          <m:rPr>
                            <m:sty m:val="i"/>
                          </m:rPr>
                          <a:rPr sz="1050">
                            <a:solidFill>
                              <a:srgbClr val="A82222"/>
                            </a:solidFill>
                            <a:latin typeface="Cambria Math"/>
                          </a:rPr>
                          <m:t xml:space="preserve">φ</m:t>
                        </m:r>
                      </m:e>
                      <m:sub>
                        <m:r>
                          <m:rPr>
                            <m:sty m:val="p"/>
                          </m:rPr>
                          <a:rPr sz="1050">
                            <a:solidFill>
                              <a:srgbClr val="A82222"/>
                            </a:solidFill>
                            <a:latin typeface="Cambria Math"/>
                          </a:rPr>
                          <m:t xml:space="preserve">G</m:t>
                        </m:r>
                        <m:r>
                          <m:rPr>
                            <m:sty m:val="p"/>
                          </m:rPr>
                          <a:rPr sz="1050">
                            <a:solidFill>
                              <a:srgbClr val="A82222"/>
                            </a:solidFill>
                            <a:latin typeface="Cambria Math"/>
                          </a:rPr>
                          <m:t xml:space="preserve">G</m:t>
                        </m:r>
                        <m:r>
                          <m:rPr>
                            <m:sty m:val="p"/>
                          </m:rPr>
                          <a:rPr sz="1050">
                            <a:solidFill>
                              <a:srgbClr val="A82222"/>
                            </a:solidFill>
                            <a:latin typeface="Cambria Math"/>
                          </a:rPr>
                          <m:t xml:space="preserve">,</m:t>
                        </m:r>
                        <m:r>
                          <m:rPr>
                            <m:sty m:val="p"/>
                          </m:rPr>
                          <a:rPr sz="1050">
                            <a:solidFill>
                              <a:srgbClr val="A82222"/>
                            </a:solidFill>
                            <a:latin typeface="Cambria Math"/>
                          </a:rPr>
                          <m:t xml:space="preserve">s</m:t>
                        </m:r>
                      </m:sub>
                    </m:sSub>
                    <m:d>
                      <m:dPr>
                        <m:begChr m:val="("/>
                        <m:endChr m:val=")"/>
                        <m:ctrlPr>
                          <a:rPr sz="1050">
                            <a:solidFill>
                              <a:srgbClr val="A82222"/>
                            </a:solidFill>
                            <a:latin typeface="Cambria Math"/>
                          </a:rPr>
                        </m:ctrlPr>
                      </m:dPr>
                      <m:e>
                        <m:r>
                          <m:rPr>
                            <m:sty m:val="i"/>
                          </m:rPr>
                          <a:rPr sz="1050">
                            <a:solidFill>
                              <a:srgbClr val="A82222"/>
                            </a:solidFill>
                            <a:latin typeface="Cambria Math"/>
                          </a:rPr>
                          <m:t xml:space="preserve">t</m:t>
                        </m:r>
                        <m:r>
                          <m:rPr>
                            <m:sty m:val="i"/>
                          </m:rPr>
                          <a:rPr sz="1050">
                            <a:solidFill>
                              <a:srgbClr val="A82222"/>
                            </a:solidFill>
                            <a:latin typeface="Cambria Math"/>
                          </a:rPr>
                          <m:t xml:space="preserve">,</m:t>
                        </m:r>
                        <m:r>
                          <m:rPr>
                            <m:sty m:val="i"/>
                          </m:rPr>
                          <a:rPr sz="1050">
                            <a:solidFill>
                              <a:srgbClr val="A82222"/>
                            </a:solidFill>
                            <a:latin typeface="Cambria Math"/>
                          </a:rPr>
                          <m:t xml:space="preserve">s</m:t>
                        </m:r>
                      </m:e>
                    </m:d>
                  </m:oMath>
                </m:oMathPara>
              </a14:m>
              <a:endParaRPr sz="1050"/>
            </a:p>
          </p:txBody>
        </p:sp>
      </p:grpSp>
      <p:grpSp>
        <p:nvGrpSpPr>
          <p:cNvPr id="40215" name="!!PIE equals terms"/>
          <p:cNvGrpSpPr/>
          <p:nvPr/>
        </p:nvGrpSpPr>
        <p:grpSpPr>
          <a:xfrm>
            <a:off x="7708900" y="2476500"/>
            <a:ext cx="254000" cy="2108200"/>
            <a:chOff x="7708900" y="2476500"/>
            <a:chExt cx="254000" cy="2108200"/>
          </a:xfrm>
        </p:grpSpPr>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050">
                        <a:solidFill>
                          <a:srgbClr val="252529"/>
                        </a:solidFill>
                        <a:latin typeface="Cambria Math"/>
                      </a:rPr>
                      <m:t xml:space="preserve">=</m:t>
                    </m:r>
                  </m:oMath>
                </m:oMathPara>
              </a14:m>
              <a:endParaRPr sz="1050"/>
            </a:p>
          </p:txBody>
        </p:sp>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ransition xmlns:p14="http://schemas.microsoft.com/office/powerpoint/2010/main" p14:dur="250">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sp>
      <p:sp>
        <p:nvSpPr>
          <p:cNvPr id="20002" name="!!PIE pillar"/>
          <p:cNvSpPr/>
          <p:nvPr/>
        </p:nvSpPr>
        <p:spPr>
          <a:xfrm>
            <a:off x="5537200" y="0"/>
            <a:ext cx="3606800" cy="5143500"/>
          </a:xfrm>
          <a:prstGeom prst="rect">
            <a:avLst/>
          </a:prstGeom>
          <a:solidFill>
            <a:srgbClr val="C81919">
              <a:alpha val="50196"/>
            </a:srgbClr>
          </a:solidFill>
          <a:ln>
            <a:noFill/>
          </a:ln>
        </p:spPr>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aseline="0" b="1" i="0" u="none">
                <a:solidFill>
                  <a:srgbClr val="252529"/>
                </a:solidFill>
                <a:latin typeface="Aptos"/>
                <a:ea typeface="Aptos"/>
                <a:cs typeface="Aptos"/>
              </a:rPr>
              <a:t xml:space="preserve">Distributed models</a:t>
            </a:r>
            <a:endParaRPr sz="2200"/>
          </a:p>
        </p:txBody>
      </p:sp>
      <p:sp>
        <p:nvSpPr>
          <p:cNvPr id="20004" name="Pillar number"/>
          <p:cNvSpPr/>
          <p:nvPr/>
        </p:nvSpPr>
        <p:spPr>
          <a:xfrm>
            <a:off x="5664200" y="304800"/>
            <a:ext cx="3352800" cy="228600"/>
          </a:xfrm>
          <a:prstGeom prst="rect">
            <a:avLst/>
          </a:prstGeom>
          <a:noFill/>
          <a:ln>
            <a:noFill/>
          </a:ln>
        </p:spPr>
        <p:txBody>
          <a:bodyPr wrap="none" lIns="0" tIns="0" rIns="0" bIns="0" anchor="ctr">
            <a:noAutofit/>
          </a:bodyPr>
          <a:lstStyle/>
          <a:p>
            <a:pPr algn="ctr">
              <a:buNone/>
            </a:pPr>
            <a:r>
              <a:rPr lang="en-GB" sz="1200" baseline="0" b="1" i="0" u="none">
                <a:solidFill>
                  <a:srgbClr val="252529"/>
                </a:solidFill>
                <a:latin typeface="Aptos"/>
                <a:ea typeface="Aptos"/>
                <a:cs typeface="Aptos"/>
              </a:rPr>
              <a:t xml:space="preserve">PILLAR 1</a:t>
            </a:r>
            <a:endParaRPr sz="1200"/>
          </a:p>
        </p:txBody>
      </p:sp>
      <p:sp>
        <p:nvSpPr>
          <p:cNvPr id="20005" name="PIE heading"/>
          <p:cNvSpPr/>
          <p:nvPr/>
        </p:nvSpPr>
        <p:spPr>
          <a:xfrm>
            <a:off x="5664200" y="622300"/>
            <a:ext cx="3352800" cy="381000"/>
          </a:xfrm>
          <a:prstGeom prst="rect">
            <a:avLst/>
          </a:prstGeom>
          <a:noFill/>
          <a:ln>
            <a:noFill/>
          </a:ln>
        </p:spPr>
        <p:txBody>
          <a:bodyPr wrap="none" lIns="0" tIns="0" rIns="0" bIns="0" anchor="ctr">
            <a:noAutofit/>
          </a:bodyPr>
          <a:lstStyle/>
          <a:p>
            <a:pPr algn="ctr">
              <a:buNone/>
            </a:pPr>
            <a:r>
              <a:rPr lang="en-GB" sz="2000" baseline="0" b="1" i="0" u="none">
                <a:solidFill>
                  <a:srgbClr val="252529"/>
                </a:solidFill>
                <a:latin typeface="Aptos"/>
                <a:ea typeface="Aptos"/>
                <a:cs typeface="Aptos"/>
              </a:rPr>
              <a:t xml:space="preserve">Partial Integral Equations</a:t>
            </a:r>
            <a:endParaRPr sz="200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Original dynamics</a:t>
            </a:r>
            <a:endParaRPr sz="1300"/>
          </a:p>
        </p:txBody>
      </p:sp>
      <p:sp>
        <p:nvSpPr>
          <p:cNvPr id="20007" name="PIE subtitle"/>
          <p:cNvSpPr/>
          <p:nvPr/>
        </p:nvSpPr>
        <p:spPr>
          <a:xfrm>
            <a:off x="5664200" y="1031875"/>
            <a:ext cx="3352800" cy="247650"/>
          </a:xfrm>
          <a:prstGeom prst="rect">
            <a:avLst/>
          </a:prstGeom>
          <a:noFill/>
          <a:ln>
            <a:noFill/>
          </a:ln>
        </p:spPr>
        <p:txBody>
          <a:bodyPr wrap="none" lIns="0" tIns="0" rIns="0" bIns="0" anchor="ctr">
            <a:noAutofit/>
          </a:bodyPr>
          <a:lstStyle/>
          <a:p>
            <a:pPr algn="ctr">
              <a:buNone/>
            </a:pPr>
            <a:r>
              <a:rPr lang="en-GB" sz="1300" baseline="0" b="0" i="0" u="none">
                <a:solidFill>
                  <a:srgbClr val="633434"/>
                </a:solidFill>
                <a:latin typeface="Aptos"/>
                <a:ea typeface="Aptos"/>
                <a:cs typeface="Aptos"/>
              </a:rPr>
              <a:t xml:space="preserve">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633434"/>
            </a:solidFill>
            <a:round/>
            <a:tailEnd type="triangle" w="sm" len="sm"/>
          </a:ln>
        </p:spPr>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Tractability</a:t>
            </a:r>
            <a:endParaRPr sz="140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633434"/>
            </a:solidFill>
            <a:round/>
            <a:tailEnd type="triangle" w="sm" len="sm"/>
          </a:ln>
        </p:spPr>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aseline="0" b="0" i="0" u="none">
                <a:solidFill>
                  <a:srgbClr val="633434"/>
                </a:solidFill>
                <a:latin typeface="Aptos"/>
                <a:ea typeface="Aptos"/>
                <a:cs typeface="Aptos"/>
              </a:rPr>
              <a:t xml:space="preserve">Solutions</a:t>
            </a:r>
            <a:endParaRPr sz="140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Analysis and synthesis</a:t>
            </a:r>
            <a:endParaRPr sz="1800"/>
          </a:p>
        </p:txBody>
      </p:sp>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aseline="0" b="0" i="0" u="none">
                <a:solidFill>
                  <a:srgbClr val="633434"/>
                </a:solidFill>
                <a:latin typeface="Aptos"/>
                <a:ea typeface="Aptos"/>
                <a:cs typeface="Aptos"/>
              </a:rPr>
              <a:t xml:space="preserve">using LMIs</a:t>
            </a:r>
            <a:endParaRPr sz="1600"/>
          </a:p>
        </p:txBody>
      </p:sp>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aseline="0" b="0" i="0" u="none">
                <a:solidFill>
                  <a:srgbClr val="633434"/>
                </a:solidFill>
                <a:latin typeface="Aptos"/>
                <a:ea typeface="Aptos"/>
                <a:cs typeface="Aptos"/>
              </a:rPr>
              <a:t xml:space="preserve">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2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5292</TotalTime>
  <Words>5968</Words>
  <Application>Microsoft Office PowerPoint</Application>
  <PresentationFormat>On-screen Show (16:9)</PresentationFormat>
  <Paragraphs>955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2026-09-27T11:08:41Z</dcterms:modified>
</cp:coreProperties>
</file>