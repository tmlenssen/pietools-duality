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07" r:id="rId23"/>
    <p:sldId id="408" r:id="rId24"/>
    <p:sldId id="409" r:id="rId25"/>
    <p:sldId id="45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s>
</file>

<file path=ppt/slides/_rels/slide25.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Final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Final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Final10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Final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Final103"/>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Final100"/>
                  <a:stretch>
                    <a:fillRect/>
                  </a:stretch>
                </a:blipFill>
                <a:ln>
                  <a:noFill/>
                </a:ln>
              </p:spPr>
              <p:txBody>
                <a:bodyPr/>
                <a:lstStyle/>
                <a:p>
                  <a:r>
                    <a:rPr lang="en-NL">
                      <a:noFill/>
                    </a:rPr>
                    <a:t> </a:t>
                  </a:r>
                </a:p>
              </p:txBody>
            </p:sp>
          </mc:Fallback>
        </mc:AlternateContent>
      </p:grpSp>
      <p:grpSp>
        <p:nvGrpSpPr>
          <p:cNvPr id="5019" name="Extracted PDE block"/>
          <p:cNvGrpSpPr/>
          <p:nvPr/>
        </p:nvGrpSpPr>
        <p:grpSpPr>
          <a:xfrm>
            <a:off x="3963860" y="2188260"/>
            <a:ext cx="1192431" cy="1192297"/>
            <a:chOff x="3086100" y="2514600"/>
            <a:chExt cx="939800" cy="939800"/>
          </a:xfrm>
        </p:grpSpPr>
        <p:sp>
          <p:nvSpPr>
            <p:cNvPr id="5020"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21"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5021"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0E0AFDE-FC17-82BA-9DFA-6185646FC229}"/>
                  </a:ext>
                </a:extLst>
              </p:cNvPr>
              <p:cNvSpPr txBox="1"/>
              <p:nvPr/>
            </p:nvSpPr>
            <p:spPr>
              <a:xfrm>
                <a:off x="5956300" y="2827941"/>
                <a:ext cx="3422732" cy="1510093"/>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nary>
                            <m:naryPr>
                              <m:limLoc m:val="subSup"/>
                              <m:ctrlPr>
                                <a:rPr lang="en-NL" sz="1100" i="1" smtClean="0">
                                  <a:latin typeface="Cambria Math" panose="02040503050406030204" pitchFamily="18" charset="0"/>
                                </a:rPr>
                              </m:ctrlPr>
                            </m:naryPr>
                            <m:sub>
                              <m:r>
                                <a:rPr lang="en-NL" sz="1100" i="1" smtClean="0">
                                  <a:latin typeface="Cambria Math" panose="02040503050406030204" pitchFamily="18" charset="0"/>
                                </a:rPr>
                                <m:t>0</m:t>
                              </m:r>
                            </m:sub>
                            <m:sup>
                              <m:r>
                                <a:rPr lang="en-NL" sz="1100" i="1" smtClean="0">
                                  <a:latin typeface="Cambria Math" panose="02040503050406030204" pitchFamily="18" charset="0"/>
                                </a:rPr>
                                <m:t>𝑠</m:t>
                              </m:r>
                            </m:sup>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𝜃</m:t>
                                  </m:r>
                                </m:sub>
                              </m:sSub>
                            </m:e>
                          </m:nary>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𝜃</m:t>
                              </m:r>
                            </m:e>
                          </m:d>
                          <m:r>
                            <a:rPr lang="en-NL" sz="1100" i="1" smtClean="0">
                              <a:latin typeface="Cambria Math" panose="02040503050406030204" pitchFamily="18" charset="0"/>
                            </a:rPr>
                            <m:t> </m:t>
                          </m:r>
                          <m:r>
                            <a:rPr lang="en-NL" sz="1100" i="1" smtClean="0">
                              <a:latin typeface="Cambria Math" panose="02040503050406030204" pitchFamily="18" charset="0"/>
                            </a:rPr>
                            <m:t>𝑑</m:t>
                          </m:r>
                          <m:r>
                            <a:rPr lang="en-NL" sz="1100" i="1" smtClean="0">
                              <a:latin typeface="Cambria Math" panose="02040503050406030204" pitchFamily="18" charset="0"/>
                            </a:rPr>
                            <m:t>𝜃</m:t>
                          </m:r>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nary>
                            <m:naryPr>
                              <m:limLoc m:val="subSup"/>
                              <m:ctrlPr>
                                <a:rPr lang="en-NL" sz="1100" i="1" smtClean="0">
                                  <a:latin typeface="Cambria Math" panose="02040503050406030204" pitchFamily="18" charset="0"/>
                                </a:rPr>
                              </m:ctrlPr>
                            </m:naryPr>
                            <m:sub>
                              <m:r>
                                <a:rPr lang="en-NL" sz="1100" i="1" smtClean="0">
                                  <a:latin typeface="Cambria Math" panose="02040503050406030204" pitchFamily="18" charset="0"/>
                                </a:rPr>
                                <m:t>0</m:t>
                              </m:r>
                            </m:sub>
                            <m:sup>
                              <m:r>
                                <a:rPr lang="en-NL" sz="1100" i="1" smtClean="0">
                                  <a:latin typeface="Cambria Math" panose="02040503050406030204" pitchFamily="18" charset="0"/>
                                </a:rPr>
                                <m:t>𝑠</m:t>
                              </m:r>
                            </m:sup>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𝜃</m:t>
                                  </m:r>
                                </m:sub>
                              </m:sSub>
                            </m:e>
                          </m:nary>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𝜃</m:t>
                              </m:r>
                            </m:e>
                          </m:d>
                          <m:r>
                            <a:rPr lang="en-NL" sz="1100" i="1" smtClean="0">
                              <a:latin typeface="Cambria Math" panose="02040503050406030204" pitchFamily="18" charset="0"/>
                            </a:rPr>
                            <m:t> </m:t>
                          </m:r>
                          <m:r>
                            <a:rPr lang="en-NL" sz="1100" i="1" smtClean="0">
                              <a:latin typeface="Cambria Math" panose="02040503050406030204" pitchFamily="18" charset="0"/>
                            </a:rPr>
                            <m:t>𝑑</m:t>
                          </m:r>
                          <m:r>
                            <a:rPr lang="en-NL" sz="1100" i="1" smtClean="0">
                              <a:latin typeface="Cambria Math" panose="02040503050406030204" pitchFamily="18" charset="0"/>
                            </a:rPr>
                            <m:t>𝜃</m:t>
                          </m:r>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nary>
                            <m:naryPr>
                              <m:limLoc m:val="subSup"/>
                              <m:ctrlPr>
                                <a:rPr lang="en-NL" sz="1100" i="1" smtClean="0">
                                  <a:latin typeface="Cambria Math" panose="02040503050406030204" pitchFamily="18" charset="0"/>
                                </a:rPr>
                              </m:ctrlPr>
                            </m:naryPr>
                            <m:sub>
                              <m:r>
                                <a:rPr lang="en-NL" sz="1100" i="1" smtClean="0">
                                  <a:latin typeface="Cambria Math" panose="02040503050406030204" pitchFamily="18" charset="0"/>
                                </a:rPr>
                                <m:t>0</m:t>
                              </m:r>
                            </m:sub>
                            <m:sup>
                              <m:r>
                                <a:rPr lang="en-NL" sz="1100" i="1" smtClean="0">
                                  <a:latin typeface="Cambria Math" panose="02040503050406030204" pitchFamily="18" charset="0"/>
                                </a:rPr>
                                <m:t>𝑠</m:t>
                              </m:r>
                            </m:sup>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𝜃</m:t>
                                  </m:r>
                                </m:sub>
                              </m:sSub>
                            </m:e>
                          </m:nary>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𝜃</m:t>
                              </m:r>
                            </m:e>
                          </m:d>
                          <m:r>
                            <a:rPr lang="en-NL" sz="1100" i="1" smtClean="0">
                              <a:latin typeface="Cambria Math" panose="02040503050406030204" pitchFamily="18" charset="0"/>
                            </a:rPr>
                            <m:t> </m:t>
                          </m:r>
                          <m:r>
                            <a:rPr lang="en-NL" sz="1100" i="1" smtClean="0">
                              <a:latin typeface="Cambria Math" panose="02040503050406030204" pitchFamily="18" charset="0"/>
                            </a:rPr>
                            <m:t>𝑑</m:t>
                          </m:r>
                          <m:r>
                            <a:rPr lang="en-NL" sz="1100" i="1" smtClean="0">
                              <a:latin typeface="Cambria Math" panose="02040503050406030204" pitchFamily="18" charset="0"/>
                            </a:rPr>
                            <m:t>𝜃</m:t>
                          </m:r>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qArr>
                    </m:oMath>
                  </m:oMathPara>
                </a14:m>
                <a:endParaRPr lang="en-NL" sz="1100" dirty="0"/>
              </a:p>
            </p:txBody>
          </p:sp>
        </mc:Choice>
        <mc:Fallback>
          <p:sp>
            <p:nvSpPr>
              <p:cNvPr id="7" name="TextBox 6">
                <a:extLst>
                  <a:ext uri="{FF2B5EF4-FFF2-40B4-BE49-F238E27FC236}">
                    <a16:creationId xmlns:a16="http://schemas.microsoft.com/office/drawing/2014/main" id="{90E0AFDE-FC17-82BA-9DFA-6185646FC229}"/>
                  </a:ext>
                </a:extLst>
              </p:cNvPr>
              <p:cNvSpPr txBox="1">
                <a:spLocks noRot="1" noChangeAspect="1" noMove="1" noResize="1" noEditPoints="1" noAdjustHandles="1" noChangeArrowheads="1" noChangeShapeType="1" noTextEdit="1"/>
              </p:cNvSpPr>
              <p:nvPr/>
            </p:nvSpPr>
            <p:spPr>
              <a:xfrm>
                <a:off x="5956300" y="2827941"/>
                <a:ext cx="3422732" cy="1510093"/>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7DFFEA6-6E90-9E9E-9CC5-25D063A2B29D}"/>
                  </a:ext>
                </a:extLst>
              </p:cNvPr>
              <p:cNvSpPr txBox="1"/>
              <p:nvPr/>
            </p:nvSpPr>
            <p:spPr>
              <a:xfrm>
                <a:off x="3460157" y="2571750"/>
                <a:ext cx="2223686" cy="1991571"/>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&amp;</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grpSp>
        <p:nvGrpSpPr>
          <p:cNvPr id="10" name="Extracted PDE block">
            <a:extLst>
              <a:ext uri="{FF2B5EF4-FFF2-40B4-BE49-F238E27FC236}">
                <a16:creationId xmlns:a16="http://schemas.microsoft.com/office/drawing/2014/main" id="{FFDF9EE7-CC94-EDDC-598C-7CAEF898B70B}"/>
              </a:ext>
            </a:extLst>
          </p:cNvPr>
          <p:cNvGrpSpPr/>
          <p:nvPr/>
        </p:nvGrpSpPr>
        <p:grpSpPr>
          <a:xfrm>
            <a:off x="7277784" y="889751"/>
            <a:ext cx="1192431" cy="1192297"/>
            <a:chOff x="3086100" y="2514599"/>
            <a:chExt cx="939800" cy="939800"/>
          </a:xfrm>
        </p:grpSpPr>
        <p:sp>
          <p:nvSpPr>
            <p:cNvPr id="12"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999"/>
                                          </p:stCondLst>
                                        </p:cTn>
                                        <p:tgtEl>
                                          <p:spTgt spid="5019"/>
                                        </p:tgtEl>
                                        <p:attrNameLst>
                                          <p:attrName>style.visibility</p:attrName>
                                        </p:attrNameLst>
                                      </p:cBhvr>
                                      <p:to>
                                        <p:strVal val="visible"/>
                                      </p:to>
                                    </p:set>
                                    <p:animMotion origin="layout" path="M 0 0 L 0.00060964 -0.25245621 E" pathEditMode="relative">
                                      <p:cBhvr from="" to="">
                                        <p:cTn id="7" dur="1000" fill="hold">
                                          <p:stCondLst>
                                            <p:cond delay="0"/>
                                          </p:stCondLst>
                                        </p:cTn>
                                        <p:tgtEl>
                                          <p:spTgt spid="5019"/>
                                        </p:tgtEl>
                                        <p:attrNameLst>
                                          <p:attrName>ppt_x</p:attrName>
                                          <p:attrName>ppt_y</p:attrName>
                                        </p:attrNameLst>
                                      </p:cBhvr>
                                    </p:animMotion>
                                    <p:animScale>
                                      <p:cBhvr>
                                        <p:cTn id="8" dur="1000" fill="hold">
                                          <p:stCondLst>
                                            <p:cond delay="0"/>
                                          </p:stCondLst>
                                        </p:cTn>
                                        <p:tgtEl>
                                          <p:spTgt spid="5019"/>
                                        </p:tgtEl>
                                      </p:cBhvr>
                                      <p:from x="100000" y="100000"/>
                                      <p:to x="60000" y="60000"/>
                                    </p:animScale>
                                  </p:childTnLst>
                                </p:cTn>
                              </p:par>
                              <p:par>
                                <p:cTn id="9" presetID="10" presetClass="exit" presetSubtype="0" fill="hold" nodeType="withEffect">
                                  <p:stCondLst>
                                    <p:cond delay="0"/>
                                  </p:stCondLst>
                                  <p:childTnLst>
                                    <p:animEffect transition="out" filter="fade">
                                      <p:cBhvr>
                                        <p:cTn id="10" dur="550"/>
                                        <p:tgtEl>
                                          <p:spTgt spid="5001"/>
                                        </p:tgtEl>
                                      </p:cBhvr>
                                    </p:animEffect>
                                    <p:set>
                                      <p:cBhvr>
                                        <p:cTn id="11" dur="1" fill="hold">
                                          <p:stCondLst>
                                            <p:cond delay="54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65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grpId="0" nodeType="withEffect">
                                  <p:stCondLst>
                                    <p:cond delay="9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9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txBody>
          <a:bodyPr/>
          <a:lstStyle/>
          <a:p>
            <a:endParaRPr lang="en-NL"/>
          </a:p>
        </p:txBody>
      </p:sp>
      <p:sp>
        <p:nvSpPr>
          <p:cNvPr id="1003" name="PIE solution pillar"/>
          <p:cNvSpPr/>
          <p:nvPr/>
        </p:nvSpPr>
        <p:spPr>
          <a:xfrm>
            <a:off x="5511800" y="1079500"/>
            <a:ext cx="3175000" cy="3606800"/>
          </a:xfrm>
          <a:prstGeom prst="rect">
            <a:avLst/>
          </a:prstGeom>
          <a:solidFill>
            <a:srgbClr val="C9141A"/>
          </a:solidFill>
          <a:ln>
            <a:noFill/>
          </a:ln>
        </p:spPr>
        <p:txBody>
          <a:bodyPr/>
          <a:lstStyle/>
          <a:p>
            <a:endParaRPr lang="en-NL"/>
          </a:p>
        </p:txBody>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1" i="0" u="none" baseline="0">
                <a:solidFill>
                  <a:srgbClr val="FFFFFF"/>
                </a:solidFill>
                <a:latin typeface="Aptos"/>
                <a:ea typeface="Aptos"/>
                <a:cs typeface="Aptos"/>
              </a:rPr>
              <a:t>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1" i="0" u="none" baseline="0">
                <a:solidFill>
                  <a:srgbClr val="FFFFFF"/>
                </a:solidFill>
                <a:latin typeface="Aptos"/>
                <a:ea typeface="Aptos"/>
                <a:cs typeface="Aptos"/>
              </a:rPr>
              <a:t>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txBody>
          <a:bodyPr/>
          <a:lstStyle/>
          <a:p>
            <a:endParaRPr lang="en-NL"/>
          </a:p>
        </p:txBody>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txBody>
          <a:bodyPr/>
          <a:lstStyle/>
          <a:p>
            <a:endParaRPr lang="en-NL"/>
          </a:p>
        </p:txBody>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1" i="0" u="none" baseline="0">
                <a:solidFill>
                  <a:srgbClr val="FFFFFF"/>
                </a:solidFill>
                <a:latin typeface="Aptos"/>
                <a:ea typeface="Aptos"/>
                <a:cs typeface="Aptos"/>
              </a:rPr>
              <a:t>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0" i="0" u="none" baseline="0">
                <a:solidFill>
                  <a:srgbClr val="FFFFFF"/>
                </a:solidFill>
                <a:latin typeface="Aptos"/>
                <a:ea typeface="Aptos"/>
                <a:cs typeface="Aptos"/>
              </a:rPr>
              <a:t>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xmlns:m="http://schemas.openxmlformats.org/officeDocument/2006/math" xmlns="">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xmlns:m="http://schemas.openxmlformats.org/officeDocument/2006/math" xmlns="">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xmlns:m="http://schemas.openxmlformats.org/officeDocument/2006/math" xmlns="">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xmlns:m="http://schemas.openxmlformats.org/officeDocument/2006/math" xmlns="">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xmlns:m="http://schemas.openxmlformats.org/officeDocument/2006/math" xmlns="">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xmlns:m="http://schemas.openxmlformats.org/officeDocument/2006/math" xmlns="">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xmlns:m="http://schemas.openxmlformats.org/officeDocument/2006/math" xmlns="">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xmlns:m="http://schemas.openxmlformats.org/officeDocument/2006/math" xmlns="">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2"/>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txBody>
          <a:bodyPr/>
          <a:lstStyle/>
          <a:p>
            <a:endParaRPr lang="en-NL"/>
          </a:p>
        </p:txBody>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0" i="0" u="none" baseline="0">
                <a:solidFill>
                  <a:srgbClr val="FFFFFF"/>
                </a:solidFill>
                <a:latin typeface="Aptos"/>
                <a:ea typeface="Aptos"/>
                <a:cs typeface="Aptos"/>
              </a:rPr>
              <a:t>STN–GPe · ASML · Canon</a:t>
            </a:r>
            <a:endParaRPr sz="1100"/>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4="http://schemas.microsoft.com/office/powerpoint/2010/main">
    <mc:Choice Requires="p14">
      <p:transition spd="slow" p14:dur="800">
        <p:fade thruBlk="1"/>
      </p:transition>
    </mc:Choice>
    <mc:Fallback xmlns:a14="http://schemas.microsoft.com/office/drawing/2010/main" xmlns:m="http://schemas.openxmlformats.org/officeDocument/2006/math" xmlns="">
      <p:transition spd="slow">
        <p:fade thruBlk="1"/>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