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618"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54.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RevisedLFR121" Type="http://schemas.openxmlformats.org/officeDocument/2006/relationships/image" Target="../media/revised_lfr19_image103.png"/><Relationship Id="rId4" Type="http://schemas.openxmlformats.org/officeDocument/2006/relationships/image" Target="../media/image68.jpeg"/><Relationship Id="rId9" Type="http://schemas.openxmlformats.org/officeDocument/2006/relationships/image" Target="../media/image72.png"/><Relationship Id="rId14" Type="http://schemas.openxmlformats.org/officeDocument/2006/relationships/image" Target="../media/image702.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46.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10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3" Type="http://schemas.openxmlformats.org/officeDocument/2006/relationships/image" Target="../media/image106.png"/><Relationship Id="rIdSectorRefinement36_4" Type="http://schemas.openxmlformats.org/officeDocument/2006/relationships/image" Target="../media/sectorrefinement36_image552.png"/><Relationship Id="rId2" Type="http://schemas.openxmlformats.org/officeDocument/2006/relationships/notesSlide" Target="../notesSlides/notesSlide31.xml"/><Relationship Id="rIdSectorRefinement36_3" Type="http://schemas.openxmlformats.org/officeDocument/2006/relationships/image" Target="../media/sectorrefinement36_image553.png"/><Relationship Id="rId1" Type="http://schemas.openxmlformats.org/officeDocument/2006/relationships/slideLayout" Target="../slideLayouts/slideLayout12.xml"/><Relationship Id="rIdSectorRefinement36_5" Type="http://schemas.openxmlformats.org/officeDocument/2006/relationships/image" Target="../media/sectorrefinement36_image551.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0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0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1.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13.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12.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14.png"/></Relationships>
</file>

<file path=ppt/slides/_rels/slide5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spd="slow" advClick="0" advTm="0">
        <p159:morph option="byObject"/>
      </p:transition>
    </mc:Choice>
    <mc:Fallback>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mc:Choice xmlns:p159="http://schemas.microsoft.com/office/powerpoint/2015/09/main" Requires="p159">
      <p:transition spd="slow" advClick="0" advTm="0">
        <p159:morph option="byObject"/>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mc:Choice xmlns:a14="http://schemas.microsoft.com/office/drawing/2010/main"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mc:Choice xmlns:p14="http://schemas.microsoft.com/office/powerpoint/2010/main" Requires="p14">
      <p:transition p14:dur="0" advTm="0"/>
    </mc:Choice>
    <mc:Fallback>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5397218" y="480801"/>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5397218" y="480801"/>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aseline="0" b="1" i="0" u="none">
                <a:solidFill>
                  <a:srgbClr val="252529"/>
                </a:solidFill>
                <a:latin typeface="Aptos"/>
                <a:ea typeface="Aptos"/>
                <a:cs typeface="Aptos"/>
              </a:rPr>
              <a:t xml:space="preserve">Turn the gap product into an energy inequality</a:t>
            </a:r>
            <a:endParaRPr sz="2500"/>
          </a:p>
        </p:txBody>
      </p:sp>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1800">
                      <a:solidFill>
                        <a:srgbClr val="147C60"/>
                      </a:solidFill>
                      <a:latin typeface="Cambria Math"/>
                    </a:rPr>
                    <m:t xml:space="preserve">a</m:t>
                  </m:r>
                  <m:r>
                    <m:rPr>
                      <m:sty m:val="i"/>
                    </m:rPr>
                    <a:rPr sz="1800">
                      <a:solidFill>
                        <a:srgbClr val="147C60"/>
                      </a:solidFill>
                      <a:latin typeface="Cambria Math"/>
                    </a:rPr>
                    <m:t xml:space="preserve">b</m:t>
                  </m:r>
                  <m:r>
                    <m:rPr>
                      <m:sty m:val="i"/>
                    </m:rPr>
                    <a:rPr sz="1800">
                      <a:solidFill>
                        <a:srgbClr val="147C60"/>
                      </a:solidFill>
                      <a:latin typeface="Cambria Math"/>
                    </a:rPr>
                    <m:t xml:space="preserve">≥</m:t>
                  </m:r>
                  <m:r>
                    <m:rPr>
                      <m:sty m:val="i"/>
                    </m:rPr>
                    <a:rPr sz="1800">
                      <a:solidFill>
                        <a:srgbClr val="147C60"/>
                      </a:solidFill>
                      <a:latin typeface="Cambria Math"/>
                    </a:rPr>
                    <m:t xml:space="preserve">0</m:t>
                  </m:r>
                </m:oMath>
              </m:oMathPara>
            </a14:m>
            <a:endParaRPr sz="1800"/>
          </a:p>
        </p:txBody>
      </p:sp>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1  Scale a</a:t>
            </a:r>
            <a:endParaRPr sz="1700"/>
          </a:p>
        </p:txBody>
      </p:sp>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200">
                      <a:solidFill>
                        <a:srgbClr val="216F9C"/>
                      </a:solidFill>
                      <a:latin typeface="Cambria Math"/>
                    </a:rPr>
                    <m:t xml:space="preserve">a</m:t>
                  </m:r>
                  <m:r>
                    <m:rPr>
                      <m:sty m:val="i"/>
                    </m:rPr>
                    <a:rPr sz="2200">
                      <a:solidFill>
                        <a:srgbClr val="252529"/>
                      </a:solidFill>
                      <a:latin typeface="Cambria Math"/>
                    </a:rPr>
                    <m:t xml:space="preserve"> </m:t>
                  </m:r>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16F9C"/>
                      </a:solidFill>
                      <a:latin typeface="Cambria Math"/>
                    </a:rPr>
                    <m:t xml:space="preserve">v</m:t>
                  </m:r>
                  <m:r>
                    <m:rPr>
                      <m:sty m:val="i"/>
                    </m:rPr>
                    <a:rPr sz="2200">
                      <a:solidFill>
                        <a:srgbClr val="216F9C"/>
                      </a:solidFill>
                      <a:latin typeface="Cambria Math"/>
                    </a:rPr>
                    <m:t xml:space="preserve">a</m:t>
                  </m:r>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v</m:t>
                  </m:r>
                  <m:r>
                    <m:rPr>
                      <m:sty m:val="i"/>
                    </m:rPr>
                    <a:rPr sz="2200">
                      <a:solidFill>
                        <a:srgbClr val="252529"/>
                      </a:solidFill>
                      <a:latin typeface="Cambria Math"/>
                    </a:rPr>
                    <m:t xml:space="preserve">&gt;</m:t>
                  </m:r>
                  <m:r>
                    <m:rPr>
                      <m:sty m:val="i"/>
                    </m:rPr>
                    <a:rPr sz="2200">
                      <a:solidFill>
                        <a:srgbClr val="252529"/>
                      </a:solidFill>
                      <a:latin typeface="Cambria Math"/>
                    </a:rPr>
                    <m:t xml:space="preserve">0</m:t>
                  </m:r>
                </m:oMath>
              </m:oMathPara>
            </a14:m>
            <a:endParaRPr sz="2200"/>
          </a:p>
        </p:txBody>
      </p:sp>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aseline="0" b="0" i="0" u="none">
                <a:solidFill>
                  <a:srgbClr val="252529"/>
                </a:solidFill>
                <a:latin typeface="Aptos"/>
                <a:ea typeface="Aptos"/>
                <a:cs typeface="Aptos"/>
              </a:rPr>
              <a:t xml:space="preserve">2  Add and subtract b</a:t>
            </a:r>
            <a:endParaRPr sz="1700"/>
          </a:p>
        </p:txBody>
      </p:sp>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m:oMathParaPr>
                  <m:jc m:val="center"/>
                </m:oMathParaPr>
                <m:oMath>
                  <m:acc>
                    <m:accPr>
                      <m:chr m:val="̃"/>
                      <m:ctrlPr>
                        <a:rPr sz="2200">
                          <a:solidFill>
                            <a:srgbClr val="252529"/>
                          </a:solidFill>
                          <a:latin typeface="Cambria Math"/>
                        </a:rPr>
                      </m:ctrlPr>
                    </m:accPr>
                    <m:e>
                      <m:r>
                        <m:rPr>
                          <m:sty m:val="i"/>
                        </m:rPr>
                        <a:rPr sz="2200">
                          <a:solidFill>
                            <a:srgbClr val="252529"/>
                          </a:solidFill>
                          <a:latin typeface="Cambria Math"/>
                        </a:rPr>
                        <m:t xml:space="preserve">z</m:t>
                      </m:r>
                    </m:e>
                  </m:acc>
                  <m:r>
                    <m:rPr>
                      <m:sty m:val="i"/>
                    </m:rPr>
                    <a:rPr sz="2200">
                      <a:solidFill>
                        <a:srgbClr val="252529"/>
                      </a:solidFill>
                      <a:latin typeface="Cambria Math"/>
                    </a:rPr>
                    <m:t xml:space="preserve">=</m:t>
                  </m:r>
                  <m:r>
                    <m:rPr>
                      <m:sty m:val="i"/>
                    </m:rPr>
                    <a:rPr sz="2200">
                      <a:solidFill>
                        <a:srgbClr val="252529"/>
                      </a:solidFill>
                      <a:latin typeface="Cambria Math"/>
                    </a:rPr>
                    <m:t xml:space="preserve">v</m:t>
                  </m:r>
                  <m:r>
                    <m:rPr>
                      <m:sty m:val="i"/>
                    </m:rPr>
                    <a:rPr sz="2200">
                      <a:solidFill>
                        <a:srgbClr val="252529"/>
                      </a:solidFill>
                      <a:latin typeface="Cambria Math"/>
                    </a:rPr>
                    <m:t xml:space="preserve">a</m:t>
                  </m:r>
                  <m:r>
                    <m:rPr>
                      <m:sty m:val="i"/>
                    </m:rPr>
                    <a:rPr sz="2200">
                      <a:solidFill>
                        <a:srgbClr val="252529"/>
                      </a:solidFill>
                      <a:latin typeface="Cambria Math"/>
                    </a:rPr>
                    <m:t xml:space="preserve">+</m:t>
                  </m:r>
                  <m:r>
                    <m:rPr>
                      <m:sty m:val="i"/>
                    </m:rPr>
                    <a:rPr sz="2200">
                      <a:solidFill>
                        <a:srgbClr val="252529"/>
                      </a:solidFill>
                      <a:latin typeface="Cambria Math"/>
                    </a:rPr>
                    <m:t xml:space="preserve">b</m:t>
                  </m:r>
                  <m:r>
                    <m:rPr>
                      <m:sty m:val="i"/>
                    </m:rPr>
                    <a:rPr sz="2200">
                      <a:solidFill>
                        <a:srgbClr val="252529"/>
                      </a:solidFill>
                      <a:latin typeface="Cambria Math"/>
                    </a:rPr>
                    <m:t xml:space="preserve">,</m:t>
                  </m:r>
                  <m:r>
                    <m:rPr>
                      <m:sty m:val="i"/>
                    </m:rPr>
                    <a:rPr sz="2200">
                      <a:solidFill>
                        <a:srgbClr val="252529"/>
                      </a:solidFill>
                      <a:latin typeface="Cambria Math"/>
                    </a:rPr>
                    <m:t xml:space="preserve"> </m:t>
                  </m:r>
                  <m:r>
                    <m:rPr>
                      <m:sty m:val="i"/>
                    </m:rPr>
                    <a:rPr sz="2200">
                      <a:solidFill>
                        <a:srgbClr val="252529"/>
                      </a:solidFill>
                      <a:latin typeface="Cambria Math"/>
                    </a:rPr>
                    <m:t xml:space="preserve"> </m:t>
                  </m:r>
                  <m:r>
                    <m:rPr>
                      <m:sty m:val="i"/>
                    </m:rPr>
                    <a:rPr sz="2200">
                      <a:solidFill>
                        <a:srgbClr val="252529"/>
                      </a:solidFill>
                      <a:latin typeface="Cambria Math"/>
                    </a:rPr>
                    <m:t xml:space="preserve"> </m:t>
                  </m:r>
                  <m:acc>
                    <m:accPr>
                      <m:chr m:val="̃"/>
                      <m:ctrlPr>
                        <a:rPr sz="2200">
                          <a:solidFill>
                            <a:srgbClr val="252529"/>
                          </a:solidFill>
                          <a:latin typeface="Cambria Math"/>
                        </a:rPr>
                      </m:ctrlPr>
                    </m:accPr>
                    <m:e>
                      <m:r>
                        <m:rPr>
                          <m:sty m:val="i"/>
                        </m:rPr>
                        <a:rPr sz="2200">
                          <a:solidFill>
                            <a:srgbClr val="252529"/>
                          </a:solidFill>
                          <a:latin typeface="Cambria Math"/>
                        </a:rPr>
                        <m:t xml:space="preserve">w</m:t>
                      </m:r>
                    </m:e>
                  </m:acc>
                  <m:r>
                    <m:rPr>
                      <m:sty m:val="i"/>
                    </m:rPr>
                    <a:rPr sz="2200">
                      <a:solidFill>
                        <a:srgbClr val="252529"/>
                      </a:solidFill>
                      <a:latin typeface="Cambria Math"/>
                    </a:rPr>
                    <m:t xml:space="preserve">=</m:t>
                  </m:r>
                  <m:r>
                    <m:rPr>
                      <m:sty m:val="i"/>
                    </m:rPr>
                    <a:rPr sz="2200">
                      <a:solidFill>
                        <a:srgbClr val="252529"/>
                      </a:solidFill>
                      <a:latin typeface="Cambria Math"/>
                    </a:rPr>
                    <m:t xml:space="preserve">v</m:t>
                  </m:r>
                  <m:r>
                    <m:rPr>
                      <m:sty m:val="i"/>
                    </m:rPr>
                    <a:rPr sz="2200">
                      <a:solidFill>
                        <a:srgbClr val="252529"/>
                      </a:solidFill>
                      <a:latin typeface="Cambria Math"/>
                    </a:rPr>
                    <m:t xml:space="preserve">a</m:t>
                  </m:r>
                  <m:r>
                    <m:rPr>
                      <m:sty m:val="i"/>
                    </m:rPr>
                    <a:rPr sz="2200">
                      <a:solidFill>
                        <a:srgbClr val="252529"/>
                      </a:solidFill>
                      <a:latin typeface="Cambria Math"/>
                    </a:rPr>
                    <m:t xml:space="preserve">−</m:t>
                  </m:r>
                  <m:r>
                    <m:rPr>
                      <m:sty m:val="i"/>
                    </m:rPr>
                    <a:rPr sz="2200">
                      <a:solidFill>
                        <a:srgbClr val="252529"/>
                      </a:solidFill>
                      <a:latin typeface="Cambria Math"/>
                    </a:rPr>
                    <m:t xml:space="preserve">b</m:t>
                  </m:r>
                </m:oMath>
              </m:oMathPara>
            </a14:m>
            <a:endParaRPr sz="2200"/>
          </a:p>
        </p:txBody>
      </p:sp>
      <p:sp>
        <p:nvSpPr>
          <p:cNvPr id="8007" name="Matrix explanation"/>
          <p:cNvSpPr/>
          <p:nvPr/>
        </p:nvSpPr>
        <p:spPr>
          <a:xfrm>
            <a:off x="457200" y="2667000"/>
            <a:ext cx="2971800" cy="304800"/>
          </a:xfrm>
          <a:prstGeom prst="rect">
            <a:avLst/>
          </a:prstGeom>
          <a:noFill/>
          <a:ln>
            <a:noFill/>
          </a:ln>
        </p:spPr>
        <p:txBody>
          <a:bodyPr wrap="none" lIns="0" tIns="0" rIns="0" bIns="0" anchor="ctr">
            <a:noAutofit/>
          </a:bodyPr>
          <a:lstStyle/>
          <a:p>
            <a:pPr algn="l">
              <a:buNone/>
            </a:pPr>
            <a:r>
              <a:rPr lang="en-GB" sz="1600" baseline="0" b="0" i="0" u="none">
                <a:solidFill>
                  <a:srgbClr val="747B82"/>
                </a:solidFill>
                <a:latin typeface="Aptos"/>
                <a:ea typeface="Aptos"/>
                <a:cs typeface="Aptos"/>
              </a:rPr>
              <a:t xml:space="preserve">In matrix form</a:t>
            </a:r>
            <a:endParaRPr sz="1600"/>
          </a:p>
        </p:txBody>
      </p:sp>
      <p:sp>
        <p:nvSpPr>
          <p:cNvPr id="8008" name="Parameterize Theta"/>
          <p:cNvSpPr/>
          <p:nvPr/>
        </p:nvSpPr>
        <p:spPr>
          <a:xfrm>
            <a:off x="3562350" y="2446020"/>
            <a:ext cx="5143500" cy="74676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100">
                      <a:solidFill>
                        <a:srgbClr val="252529"/>
                      </a:solidFill>
                      <a:latin typeface="Cambria Math"/>
                    </a:rPr>
                    <m:t xml:space="preserve">Θ</m:t>
                  </m:r>
                  <m:d>
                    <m:dPr>
                      <m:begChr m:val="("/>
                      <m:endChr m:val=")"/>
                      <m:ctrlPr>
                        <a:rPr sz="2100">
                          <a:solidFill>
                            <a:srgbClr val="252529"/>
                          </a:solidFill>
                          <a:latin typeface="Cambria Math"/>
                        </a:rPr>
                      </m:ctrlPr>
                    </m:dPr>
                    <m:e>
                      <m:r>
                        <m:rPr>
                          <m:sty m:val="i"/>
                        </m:rPr>
                        <a:rPr sz="2100">
                          <a:solidFill>
                            <a:srgbClr val="252529"/>
                          </a:solidFill>
                          <a:latin typeface="Cambria Math"/>
                        </a:rPr>
                        <m:t xml:space="preserve">v</m:t>
                      </m:r>
                    </m:e>
                  </m:d>
                  <m:r>
                    <m:rPr>
                      <m:sty m:val="i"/>
                    </m:rPr>
                    <a:rPr sz="2100">
                      <a:solidFill>
                        <a:srgbClr val="252529"/>
                      </a:solidFill>
                      <a:latin typeface="Cambria Math"/>
                    </a:rPr>
                    <m:t xml:space="preserve">=</m:t>
                  </m:r>
                  <m:d>
                    <m:dPr>
                      <m:begChr m:val="["/>
                      <m:endChr m:val="]"/>
                      <m:ctrlPr>
                        <a:rPr sz="2100">
                          <a:solidFill>
                            <a:srgbClr val="252529"/>
                          </a:solidFill>
                          <a:latin typeface="Cambria Math"/>
                        </a:rPr>
                      </m:ctrlPr>
                    </m:dPr>
                    <m:e>
                      <m:m>
                        <m:mPr>
                          <m:mcs>
                            <m:mc>
                              <m:mcPr>
                                <m:count m:val="2"/>
                                <m:mcJc m:val="center"/>
                              </m:mcPr>
                            </m:mc>
                          </m:mcs>
                          <m:ctrlPr>
                            <a:rPr sz="2100">
                              <a:solidFill>
                                <a:srgbClr val="252529"/>
                              </a:solidFill>
                              <a:latin typeface="Cambria Math"/>
                            </a:rPr>
                          </m:ctrlPr>
                        </m:mPr>
                        <m:mr>
                          <m:e>
                            <m:r>
                              <m:rPr>
                                <m:sty m:val="i"/>
                              </m:rPr>
                              <a:rPr sz="2100">
                                <a:solidFill>
                                  <a:srgbClr val="252529"/>
                                </a:solidFill>
                                <a:latin typeface="Cambria Math"/>
                              </a:rPr>
                              <m:t xml:space="preserve">v</m:t>
                            </m:r>
                          </m:e>
                          <m:e>
                            <m:r>
                              <m:rPr>
                                <m:sty m:val="i"/>
                              </m:rPr>
                              <a:rPr sz="2100">
                                <a:solidFill>
                                  <a:srgbClr val="252529"/>
                                </a:solidFill>
                                <a:latin typeface="Cambria Math"/>
                              </a:rPr>
                              <m:t xml:space="preserve">1</m:t>
                            </m:r>
                          </m:e>
                        </m:mr>
                        <m:mr>
                          <m:e>
                            <m:r>
                              <m:rPr>
                                <m:sty m:val="i"/>
                              </m:rPr>
                              <a:rPr sz="2100">
                                <a:solidFill>
                                  <a:srgbClr val="252529"/>
                                </a:solidFill>
                                <a:latin typeface="Cambria Math"/>
                              </a:rPr>
                              <m:t xml:space="preserve">v</m:t>
                            </m:r>
                          </m:e>
                          <m:e>
                            <m:r>
                              <m:rPr>
                                <m:sty m:val="i"/>
                              </m:rPr>
                              <a:rPr sz="2100">
                                <a:solidFill>
                                  <a:srgbClr val="252529"/>
                                </a:solidFill>
                                <a:latin typeface="Cambria Math"/>
                              </a:rPr>
                              <m:t xml:space="preserve">−</m:t>
                            </m:r>
                            <m:r>
                              <m:rPr>
                                <m:sty m:val="i"/>
                              </m:rPr>
                              <a:rPr sz="2100">
                                <a:solidFill>
                                  <a:srgbClr val="252529"/>
                                </a:solidFill>
                                <a:latin typeface="Cambria Math"/>
                              </a:rPr>
                              <m:t xml:space="preserve">1</m:t>
                            </m:r>
                          </m:e>
                        </m:mr>
                      </m:m>
                    </m:e>
                  </m:d>
                  <m:d>
                    <m:dPr>
                      <m:begChr m:val="["/>
                      <m:endChr m:val="]"/>
                      <m:ctrlPr>
                        <a:rPr sz="2100">
                          <a:solidFill>
                            <a:srgbClr val="252529"/>
                          </a:solidFill>
                          <a:latin typeface="Cambria Math"/>
                        </a:rPr>
                      </m:ctrlPr>
                    </m:dPr>
                    <m:e>
                      <m:m>
                        <m:mPr>
                          <m:mcs>
                            <m:mc>
                              <m:mcPr>
                                <m:count m:val="2"/>
                                <m:mcJc m:val="center"/>
                              </m:mcPr>
                            </m:mc>
                          </m:mcs>
                          <m:ctrlPr>
                            <a:rPr sz="2100">
                              <a:solidFill>
                                <a:srgbClr val="252529"/>
                              </a:solidFill>
                              <a:latin typeface="Cambria Math"/>
                            </a:rPr>
                          </m:ctrlPr>
                        </m:mPr>
                        <m:mr>
                          <m:e>
                            <m:r>
                              <m:rPr>
                                <m:sty m:val="i"/>
                              </m:rPr>
                              <a:rPr sz="2100">
                                <a:solidFill>
                                  <a:srgbClr val="252529"/>
                                </a:solidFill>
                                <a:latin typeface="Cambria Math"/>
                              </a:rPr>
                              <m:t xml:space="preserve">β</m:t>
                            </m:r>
                          </m:e>
                          <m:e>
                            <m:r>
                              <m:rPr>
                                <m:sty m:val="i"/>
                              </m:rPr>
                              <a:rPr sz="2100">
                                <a:solidFill>
                                  <a:srgbClr val="252529"/>
                                </a:solidFill>
                                <a:latin typeface="Cambria Math"/>
                              </a:rPr>
                              <m:t xml:space="preserve">−</m:t>
                            </m:r>
                            <m:r>
                              <m:rPr>
                                <m:sty m:val="i"/>
                              </m:rPr>
                              <a:rPr sz="2100">
                                <a:solidFill>
                                  <a:srgbClr val="252529"/>
                                </a:solidFill>
                                <a:latin typeface="Cambria Math"/>
                              </a:rPr>
                              <m:t xml:space="preserve">1</m:t>
                            </m:r>
                          </m:e>
                        </m:mr>
                        <m:mr>
                          <m:e>
                            <m:r>
                              <m:rPr>
                                <m:sty m:val="i"/>
                              </m:rPr>
                              <a:rPr sz="2100">
                                <a:solidFill>
                                  <a:srgbClr val="252529"/>
                                </a:solidFill>
                                <a:latin typeface="Cambria Math"/>
                              </a:rPr>
                              <m:t xml:space="preserve">−</m:t>
                            </m:r>
                            <m:r>
                              <m:rPr>
                                <m:sty m:val="i"/>
                              </m:rPr>
                              <a:rPr sz="2100">
                                <a:solidFill>
                                  <a:srgbClr val="252529"/>
                                </a:solidFill>
                                <a:latin typeface="Cambria Math"/>
                              </a:rPr>
                              <m:t xml:space="preserve">α</m:t>
                            </m:r>
                          </m:e>
                          <m:e>
                            <m:r>
                              <m:rPr>
                                <m:sty m:val="i"/>
                              </m:rPr>
                              <a:rPr sz="2100">
                                <a:solidFill>
                                  <a:srgbClr val="252529"/>
                                </a:solidFill>
                                <a:latin typeface="Cambria Math"/>
                              </a:rPr>
                              <m:t xml:space="preserve">1</m:t>
                            </m:r>
                          </m:e>
                        </m:mr>
                      </m:m>
                    </m:e>
                  </m:d>
                </m:oMath>
              </m:oMathPara>
            </a14:m>
            <a:endParaRPr sz="2100"/>
          </a:p>
        </p:txBody>
      </p:sp>
      <p:sp>
        <p:nvSpPr>
          <p:cNvPr id="8009" name="Supply identity"/>
          <p:cNvSpPr/>
          <p:nvPr/>
        </p:nvSpPr>
        <p:spPr>
          <a:xfrm>
            <a:off x="254000" y="3314700"/>
            <a:ext cx="8636000" cy="711200"/>
          </a:xfrm>
          <a:prstGeom prst="rect">
            <a:avLst/>
          </a:prstGeom>
          <a:noFill/>
          <a:ln>
            <a:noFill/>
          </a:ln>
        </p:spPr>
        <p:txBody>
          <a:bodyPr wrap="none" lIns="0" tIns="0" rIns="0" bIns="0" anchor="ctr">
            <a:noAutofit/>
          </a:bodyPr>
          <a:lstStyle/>
          <a:p>
            <a:pPr algn="ctr">
              <a:buNone/>
            </a:pPr>
            <a14:m>
              <m:oMathPara>
                <m:oMathParaPr>
                  <m:jc m:val="center"/>
                </m:oMathParaPr>
                <m:oMath>
                  <m:r>
                    <m:rPr>
                      <m:sty m:val="i"/>
                    </m:rPr>
                    <a:rPr sz="2000">
                      <a:solidFill>
                        <a:srgbClr val="252529"/>
                      </a:solidFill>
                      <a:latin typeface="Cambria Math"/>
                    </a:rPr>
                    <m:t xml:space="preserve">σ</m:t>
                  </m:r>
                  <m:r>
                    <m:rPr>
                      <m:sty m:val="i"/>
                    </m:rPr>
                    <a:rPr sz="2000">
                      <a:solidFill>
                        <a:srgbClr val="252529"/>
                      </a:solidFill>
                      <a:latin typeface="Cambria Math"/>
                    </a:rPr>
                    <m:t xml:space="preserve">=</m:t>
                  </m:r>
                  <m:sSup>
                    <m:sSupPr>
                      <m:ctrlPr>
                        <a:rPr sz="2000">
                          <a:solidFill>
                            <a:srgbClr val="252529"/>
                          </a:solidFill>
                          <a:latin typeface="Cambria Math"/>
                        </a:rPr>
                      </m:ctrlPr>
                    </m:sSupPr>
                    <m:e>
                      <m:acc>
                        <m:accPr>
                          <m:chr m:val="̃"/>
                          <m:ctrlPr>
                            <a:rPr sz="2000">
                              <a:solidFill>
                                <a:srgbClr val="252529"/>
                              </a:solidFill>
                              <a:latin typeface="Cambria Math"/>
                            </a:rPr>
                          </m:ctrlPr>
                        </m:accPr>
                        <m:e>
                          <m:r>
                            <m:rPr>
                              <m:sty m:val="i"/>
                            </m:rPr>
                            <a:rPr sz="2000">
                              <a:solidFill>
                                <a:srgbClr val="252529"/>
                              </a:solidFill>
                              <a:latin typeface="Cambria Math"/>
                            </a:rPr>
                            <m:t xml:space="preserve">z</m:t>
                          </m:r>
                        </m:e>
                      </m:acc>
                    </m:e>
                    <m:sup>
                      <m:r>
                        <m:rPr>
                          <m:sty m:val="p"/>
                        </m:rPr>
                        <a:rPr sz="2000">
                          <a:solidFill>
                            <a:srgbClr val="252529"/>
                          </a:solidFill>
                          <a:latin typeface="Cambria Math"/>
                        </a:rPr>
                        <m:t xml:space="preserve">2</m:t>
                      </m:r>
                    </m:sup>
                  </m:sSup>
                  <m:r>
                    <m:rPr>
                      <m:sty m:val="i"/>
                    </m:rPr>
                    <a:rPr sz="2000">
                      <a:solidFill>
                        <a:srgbClr val="252529"/>
                      </a:solidFill>
                      <a:latin typeface="Cambria Math"/>
                    </a:rPr>
                    <m:t xml:space="preserve">−</m:t>
                  </m:r>
                  <m:sSup>
                    <m:sSupPr>
                      <m:ctrlPr>
                        <a:rPr sz="2000">
                          <a:solidFill>
                            <a:srgbClr val="252529"/>
                          </a:solidFill>
                          <a:latin typeface="Cambria Math"/>
                        </a:rPr>
                      </m:ctrlPr>
                    </m:sSupPr>
                    <m:e>
                      <m:acc>
                        <m:accPr>
                          <m:chr m:val="̃"/>
                          <m:ctrlPr>
                            <a:rPr sz="2000">
                              <a:solidFill>
                                <a:srgbClr val="252529"/>
                              </a:solidFill>
                              <a:latin typeface="Cambria Math"/>
                            </a:rPr>
                          </m:ctrlPr>
                        </m:accPr>
                        <m:e>
                          <m:r>
                            <m:rPr>
                              <m:sty m:val="i"/>
                            </m:rPr>
                            <a:rPr sz="2000">
                              <a:solidFill>
                                <a:srgbClr val="252529"/>
                              </a:solidFill>
                              <a:latin typeface="Cambria Math"/>
                            </a:rPr>
                            <m:t xml:space="preserve">w</m:t>
                          </m:r>
                        </m:e>
                      </m:acc>
                    </m:e>
                    <m:sup>
                      <m:r>
                        <m:rPr>
                          <m:sty m:val="p"/>
                        </m:rPr>
                        <a:rPr sz="2000">
                          <a:solidFill>
                            <a:srgbClr val="252529"/>
                          </a:solidFill>
                          <a:latin typeface="Cambria Math"/>
                        </a:rPr>
                        <m:t xml:space="preserve">2</m:t>
                      </m:r>
                    </m:sup>
                  </m:sSup>
                  <m:r>
                    <m:rPr>
                      <m:sty m:val="i"/>
                    </m:rPr>
                    <a:rPr sz="2000">
                      <a:solidFill>
                        <a:srgbClr val="252529"/>
                      </a:solidFill>
                      <a:latin typeface="Cambria Math"/>
                    </a:rPr>
                    <m:t xml:space="preserve">=</m:t>
                  </m:r>
                  <m:sSup>
                    <m:sSupPr>
                      <m:ctrlPr>
                        <a:rPr sz="2000">
                          <a:solidFill>
                            <a:srgbClr val="252529"/>
                          </a:solidFill>
                          <a:latin typeface="Cambria Math"/>
                        </a:rPr>
                      </m:ctrlPr>
                    </m:sSupPr>
                    <m:e>
                      <m:d>
                        <m:dPr>
                          <m:begChr m:val="("/>
                          <m:endChr m:val=")"/>
                          <m:ctrlPr>
                            <a:rPr sz="2000">
                              <a:solidFill>
                                <a:srgbClr val="252529"/>
                              </a:solidFill>
                              <a:latin typeface="Cambria Math"/>
                            </a:rPr>
                          </m:ctrlPr>
                        </m:dPr>
                        <m:e>
                          <m:r>
                            <m:rPr>
                              <m:sty m:val="i"/>
                            </m:rPr>
                            <a:rPr sz="2000">
                              <a:solidFill>
                                <a:srgbClr val="252529"/>
                              </a:solidFill>
                              <a:latin typeface="Cambria Math"/>
                            </a:rPr>
                            <m:t xml:space="preserve">v</m:t>
                          </m:r>
                          <m:r>
                            <m:rPr>
                              <m:sty m:val="i"/>
                            </m:rPr>
                            <a:rPr sz="2000">
                              <a:solidFill>
                                <a:srgbClr val="252529"/>
                              </a:solidFill>
                              <a:latin typeface="Cambria Math"/>
                            </a:rPr>
                            <m:t xml:space="preserve">a</m:t>
                          </m:r>
                          <m:r>
                            <m:rPr>
                              <m:sty m:val="i"/>
                            </m:rPr>
                            <a:rPr sz="2000">
                              <a:solidFill>
                                <a:srgbClr val="252529"/>
                              </a:solidFill>
                              <a:latin typeface="Cambria Math"/>
                            </a:rPr>
                            <m:t xml:space="preserve">+</m:t>
                          </m:r>
                          <m:r>
                            <m:rPr>
                              <m:sty m:val="i"/>
                            </m:rPr>
                            <a:rPr sz="2000">
                              <a:solidFill>
                                <a:srgbClr val="252529"/>
                              </a:solidFill>
                              <a:latin typeface="Cambria Math"/>
                            </a:rPr>
                            <m:t xml:space="preserve">b</m:t>
                          </m:r>
                        </m:e>
                      </m:d>
                    </m:e>
                    <m:sup>
                      <m:r>
                        <m:rPr>
                          <m:sty m:val="p"/>
                        </m:rPr>
                        <a:rPr sz="2000">
                          <a:solidFill>
                            <a:srgbClr val="252529"/>
                          </a:solidFill>
                          <a:latin typeface="Cambria Math"/>
                        </a:rPr>
                        <m:t xml:space="preserve">2</m:t>
                      </m:r>
                    </m:sup>
                  </m:sSup>
                  <m:r>
                    <m:rPr>
                      <m:sty m:val="i"/>
                    </m:rPr>
                    <a:rPr sz="2000">
                      <a:solidFill>
                        <a:srgbClr val="252529"/>
                      </a:solidFill>
                      <a:latin typeface="Cambria Math"/>
                    </a:rPr>
                    <m:t xml:space="preserve">−</m:t>
                  </m:r>
                  <m:sSup>
                    <m:sSupPr>
                      <m:ctrlPr>
                        <a:rPr sz="2000">
                          <a:solidFill>
                            <a:srgbClr val="252529"/>
                          </a:solidFill>
                          <a:latin typeface="Cambria Math"/>
                        </a:rPr>
                      </m:ctrlPr>
                    </m:sSupPr>
                    <m:e>
                      <m:d>
                        <m:dPr>
                          <m:begChr m:val="("/>
                          <m:endChr m:val=")"/>
                          <m:ctrlPr>
                            <a:rPr sz="2000">
                              <a:solidFill>
                                <a:srgbClr val="252529"/>
                              </a:solidFill>
                              <a:latin typeface="Cambria Math"/>
                            </a:rPr>
                          </m:ctrlPr>
                        </m:dPr>
                        <m:e>
                          <m:r>
                            <m:rPr>
                              <m:sty m:val="i"/>
                            </m:rPr>
                            <a:rPr sz="2000">
                              <a:solidFill>
                                <a:srgbClr val="252529"/>
                              </a:solidFill>
                              <a:latin typeface="Cambria Math"/>
                            </a:rPr>
                            <m:t xml:space="preserve">v</m:t>
                          </m:r>
                          <m:r>
                            <m:rPr>
                              <m:sty m:val="i"/>
                            </m:rPr>
                            <a:rPr sz="2000">
                              <a:solidFill>
                                <a:srgbClr val="252529"/>
                              </a:solidFill>
                              <a:latin typeface="Cambria Math"/>
                            </a:rPr>
                            <m:t xml:space="preserve">a</m:t>
                          </m:r>
                          <m:r>
                            <m:rPr>
                              <m:sty m:val="i"/>
                            </m:rPr>
                            <a:rPr sz="2000">
                              <a:solidFill>
                                <a:srgbClr val="252529"/>
                              </a:solidFill>
                              <a:latin typeface="Cambria Math"/>
                            </a:rPr>
                            <m:t xml:space="preserve">−</m:t>
                          </m:r>
                          <m:r>
                            <m:rPr>
                              <m:sty m:val="i"/>
                            </m:rPr>
                            <a:rPr sz="2000">
                              <a:solidFill>
                                <a:srgbClr val="252529"/>
                              </a:solidFill>
                              <a:latin typeface="Cambria Math"/>
                            </a:rPr>
                            <m:t xml:space="preserve">b</m:t>
                          </m:r>
                        </m:e>
                      </m:d>
                    </m:e>
                    <m:sup>
                      <m:r>
                        <m:rPr>
                          <m:sty m:val="p"/>
                        </m:rPr>
                        <a:rPr sz="2000">
                          <a:solidFill>
                            <a:srgbClr val="252529"/>
                          </a:solidFill>
                          <a:latin typeface="Cambria Math"/>
                        </a:rPr>
                        <m:t xml:space="preserve">2</m:t>
                      </m:r>
                    </m:sup>
                  </m:sSup>
                  <m:r>
                    <m:rPr>
                      <m:sty m:val="i"/>
                    </m:rPr>
                    <a:rPr sz="2000">
                      <a:solidFill>
                        <a:srgbClr val="147C60"/>
                      </a:solidFill>
                      <a:latin typeface="Cambria Math"/>
                    </a:rPr>
                    <m:t xml:space="preserve">=</m:t>
                  </m:r>
                  <m:r>
                    <m:rPr>
                      <m:sty m:val="i"/>
                    </m:rPr>
                    <a:rPr sz="2000">
                      <a:solidFill>
                        <a:srgbClr val="147C60"/>
                      </a:solidFill>
                      <a:latin typeface="Cambria Math"/>
                    </a:rPr>
                    <m:t xml:space="preserve">4</m:t>
                  </m:r>
                  <m:r>
                    <m:rPr>
                      <m:sty m:val="i"/>
                    </m:rPr>
                    <a:rPr sz="2000">
                      <a:solidFill>
                        <a:srgbClr val="147C60"/>
                      </a:solidFill>
                      <a:latin typeface="Cambria Math"/>
                    </a:rPr>
                    <m:t xml:space="preserve">v</m:t>
                  </m:r>
                  <m:r>
                    <m:rPr>
                      <m:sty m:val="i"/>
                    </m:rPr>
                    <a:rPr sz="2000">
                      <a:solidFill>
                        <a:srgbClr val="147C60"/>
                      </a:solidFill>
                      <a:latin typeface="Cambria Math"/>
                    </a:rPr>
                    <m:t xml:space="preserve">a</m:t>
                  </m:r>
                  <m:r>
                    <m:rPr>
                      <m:sty m:val="i"/>
                    </m:rPr>
                    <a:rPr sz="2000">
                      <a:solidFill>
                        <a:srgbClr val="147C60"/>
                      </a:solidFill>
                      <a:latin typeface="Cambria Math"/>
                    </a:rPr>
                    <m:t xml:space="preserve">b</m:t>
                  </m:r>
                  <m:r>
                    <m:rPr>
                      <m:sty m:val="i"/>
                    </m:rPr>
                    <a:rPr sz="2000">
                      <a:solidFill>
                        <a:srgbClr val="147C60"/>
                      </a:solidFill>
                      <a:latin typeface="Cambria Math"/>
                    </a:rPr>
                    <m:t xml:space="preserve">≥</m:t>
                  </m:r>
                  <m:r>
                    <m:rPr>
                      <m:sty m:val="i"/>
                    </m:rPr>
                    <a:rPr sz="2000">
                      <a:solidFill>
                        <a:srgbClr val="147C60"/>
                      </a:solidFill>
                      <a:latin typeface="Cambria Math"/>
                    </a:rPr>
                    <m:t xml:space="preserve">0</m:t>
                  </m:r>
                </m:oMath>
              </m:oMathPara>
            </a14:m>
            <a:endParaRPr sz="2000"/>
          </a:p>
        </p:txBody>
      </p:sp>
      <p:sp>
        <p:nvSpPr>
          <p:cNvPr id="8010" name="Delta dissipativity"/>
          <p:cNvSpPr/>
          <p:nvPr/>
        </p:nvSpPr>
        <p:spPr>
          <a:xfrm>
            <a:off x="508000" y="3924300"/>
            <a:ext cx="8128000" cy="711200"/>
          </a:xfrm>
          <a:prstGeom prst="rect">
            <a:avLst/>
          </a:prstGeom>
          <a:noFill/>
          <a:ln>
            <a:noFill/>
          </a:ln>
        </p:spPr>
        <p:txBody>
          <a:bodyPr wrap="none" lIns="0" tIns="0" rIns="0" bIns="0" anchor="ctr">
            <a:noAutofit/>
          </a:bodyPr>
          <a:lstStyle/>
          <a:p>
            <a:pPr algn="ctr">
              <a:buNone/>
            </a:pPr>
            <a14:m>
              <m:oMathPara>
                <m:oMathParaPr>
                  <m:jc m:val="center"/>
                </m:oMathParaPr>
                <m:oMath>
                  <m:nary>
                    <m:naryPr>
                      <m:chr m:val="∫"/>
                      <m:limLoc m:val="subSup"/>
                      <m:ctrlPr>
                        <a:rPr sz="2000">
                          <a:solidFill>
                            <a:srgbClr val="252529"/>
                          </a:solidFill>
                          <a:latin typeface="Cambria Math"/>
                        </a:rPr>
                      </m:ctrlPr>
                    </m:naryPr>
                    <m:sub>
                      <m:r>
                        <m:rPr>
                          <m:sty m:val="p"/>
                        </m:rPr>
                        <a:rPr sz="2000">
                          <a:solidFill>
                            <a:srgbClr val="252529"/>
                          </a:solidFill>
                          <a:latin typeface="Cambria Math"/>
                        </a:rPr>
                        <m:t xml:space="preserve">0</m:t>
                      </m:r>
                    </m:sub>
                    <m:sup>
                      <m:r>
                        <m:rPr>
                          <m:sty m:val="i"/>
                        </m:rPr>
                        <a:rPr sz="2000">
                          <a:solidFill>
                            <a:srgbClr val="252529"/>
                          </a:solidFill>
                          <a:latin typeface="Cambria Math"/>
                        </a:rPr>
                        <m:t xml:space="preserve">T</m:t>
                      </m:r>
                    </m:sup>
                    <m:e>
                      <m:r>
                        <m:rPr>
                          <m:sty m:val="i"/>
                        </m:rPr>
                        <a:rPr sz="2000">
                          <a:solidFill>
                            <a:srgbClr val="252529"/>
                          </a:solidFill>
                          <a:latin typeface="Cambria Math"/>
                        </a:rPr>
                        <m:t xml:space="preserve">σ</m:t>
                      </m:r>
                      <m:d>
                        <m:dPr>
                          <m:begChr m:val="("/>
                          <m:endChr m:val=")"/>
                          <m:ctrlPr>
                            <a:rPr sz="2000">
                              <a:solidFill>
                                <a:srgbClr val="252529"/>
                              </a:solidFill>
                              <a:latin typeface="Cambria Math"/>
                            </a:rPr>
                          </m:ctrlPr>
                        </m:dPr>
                        <m:e>
                          <m:r>
                            <m:rPr>
                              <m:sty m:val="i"/>
                            </m:rPr>
                            <a:rPr sz="2000">
                              <a:solidFill>
                                <a:srgbClr val="252529"/>
                              </a:solidFill>
                              <a:latin typeface="Cambria Math"/>
                            </a:rPr>
                            <m:t xml:space="preserve">t</m:t>
                          </m:r>
                        </m:e>
                      </m:d>
                      <m:r>
                        <m:rPr>
                          <m:sty m:val="i"/>
                        </m:rPr>
                        <a:rPr sz="2000">
                          <a:solidFill>
                            <a:srgbClr val="252529"/>
                          </a:solidFill>
                          <a:latin typeface="Cambria Math"/>
                        </a:rPr>
                        <m:t xml:space="preserve">d</m:t>
                      </m:r>
                      <m:r>
                        <m:rPr>
                          <m:sty m:val="i"/>
                        </m:rPr>
                        <a:rPr sz="2000">
                          <a:solidFill>
                            <a:srgbClr val="252529"/>
                          </a:solidFill>
                          <a:latin typeface="Cambria Math"/>
                        </a:rPr>
                        <m:t xml:space="preserve">t</m:t>
                      </m:r>
                    </m:e>
                  </m:nary>
                  <m:r>
                    <m:rPr>
                      <m:sty m:val="i"/>
                    </m:rPr>
                    <a:rPr sz="2000">
                      <a:solidFill>
                        <a:srgbClr val="252529"/>
                      </a:solidFill>
                      <a:latin typeface="Cambria Math"/>
                    </a:rPr>
                    <m:t xml:space="preserve">≥</m:t>
                  </m:r>
                  <m:r>
                    <m:rPr>
                      <m:sty m:val="i"/>
                    </m:rPr>
                    <a:rPr sz="2000">
                      <a:solidFill>
                        <a:srgbClr val="252529"/>
                      </a:solidFill>
                      <a:latin typeface="Cambria Math"/>
                    </a:rPr>
                    <m:t xml:space="preserve">0</m:t>
                  </m:r>
                  <m:r>
                    <m:rPr>
                      <m:sty m:val="i"/>
                    </m:rPr>
                    <a:rPr sz="2000">
                      <a:solidFill>
                        <a:srgbClr val="252529"/>
                      </a:solidFill>
                      <a:latin typeface="Cambria Math"/>
                    </a:rPr>
                    <m:t xml:space="preserve">,</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 </m:t>
                  </m:r>
                  <m:r>
                    <m:rPr>
                      <m:sty m:val="i"/>
                    </m:rPr>
                    <a:rPr sz="2000">
                      <a:solidFill>
                        <a:srgbClr val="252529"/>
                      </a:solidFill>
                      <a:latin typeface="Cambria Math"/>
                    </a:rPr>
                    <m:t xml:space="preserve">∀</m:t>
                  </m:r>
                  <m:r>
                    <m:rPr>
                      <m:sty m:val="i"/>
                    </m:rPr>
                    <a:rPr sz="2000">
                      <a:solidFill>
                        <a:srgbClr val="252529"/>
                      </a:solidFill>
                      <a:latin typeface="Cambria Math"/>
                    </a:rPr>
                    <m:t xml:space="preserve">T</m:t>
                  </m:r>
                  <m:r>
                    <m:rPr>
                      <m:sty m:val="i"/>
                    </m:rPr>
                    <a:rPr sz="2000">
                      <a:solidFill>
                        <a:srgbClr val="252529"/>
                      </a:solidFill>
                      <a:latin typeface="Cambria Math"/>
                    </a:rPr>
                    <m:t xml:space="preserve">≥</m:t>
                  </m:r>
                  <m:r>
                    <m:rPr>
                      <m:sty m:val="i"/>
                    </m:rPr>
                    <a:rPr sz="2000">
                      <a:solidFill>
                        <a:srgbClr val="252529"/>
                      </a:solidFill>
                      <a:latin typeface="Cambria Math"/>
                    </a:rPr>
                    <m:t xml:space="preserve">0</m:t>
                  </m:r>
                </m:oMath>
              </m:oMathPara>
            </a14:m>
            <a:endParaRPr sz="2000"/>
          </a:p>
        </p:txBody>
      </p:sp>
      <p:sp>
        <p:nvSpPr>
          <p:cNvPr id="8011" name="Dissipativity meaning"/>
          <p:cNvSpPr/>
          <p:nvPr/>
        </p:nvSpPr>
        <p:spPr>
          <a:xfrm>
            <a:off x="317500" y="4565650"/>
            <a:ext cx="8509000" cy="266700"/>
          </a:xfrm>
          <a:prstGeom prst="rect">
            <a:avLst/>
          </a:prstGeom>
          <a:noFill/>
          <a:ln>
            <a:noFill/>
          </a:ln>
        </p:spPr>
        <p:txBody>
          <a:bodyPr wrap="none" lIns="0" tIns="0" rIns="0" bIns="0" anchor="ctr">
            <a:noAutofit/>
          </a:bodyPr>
          <a:lstStyle/>
          <a:p>
            <a:pPr algn="ctr">
              <a:buNone/>
            </a:pPr>
            <a:r>
              <a:rPr lang="en-GB" sz="1400" baseline="0" b="0" i="0" u="none">
                <a:solidFill>
                  <a:srgbClr val="147C60"/>
                </a:solidFill>
                <a:latin typeface="Aptos"/>
                <a:ea typeface="Aptos"/>
                <a:cs typeface="Aptos"/>
              </a:rPr>
              <a:t xml:space="preserve">The transformed output energy cannot exceed the input energy.</a:t>
            </a:r>
            <a:endParaRPr sz="14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5533</TotalTime>
  <Words>7861</Words>
  <Application>Microsoft Office PowerPoint</Application>
  <PresentationFormat>On-screen Show (16:9)</PresentationFormat>
  <Paragraphs>1032</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37</cp:revision>
  <dcterms:created xsi:type="dcterms:W3CDTF">2019-11-27T15:26:32Z</dcterms:created>
  <dcterms:modified xsi:type="dcterms:W3CDTF">2026-09-27T16:23:13Z</dcterms:modified>
</cp:coreProperties>
</file>