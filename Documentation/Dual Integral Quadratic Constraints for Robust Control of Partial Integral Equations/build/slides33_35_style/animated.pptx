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7"/>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48" r:id="rId36"/>
    <p:sldId id="439" r:id="rId37"/>
    <p:sldId id="421" r:id="rId38"/>
    <p:sldId id="427" r:id="rId39"/>
    <p:sldId id="431" r:id="rId40"/>
    <p:sldId id="428" r:id="rId41"/>
    <p:sldId id="429" r:id="rId42"/>
    <p:sldId id="432" r:id="rId43"/>
    <p:sldId id="430" r:id="rId44"/>
    <p:sldId id="433" r:id="rId45"/>
    <p:sldId id="434" r:id="rId4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5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Alternative controller schematic</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Plant label"/>
          <p:cNvSpPr txBox="1"/>
          <p:nvPr/>
        </p:nvSpPr>
        <p:spPr>
          <a:xfrm>
            <a:off x="4876800" y="10668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Take the state-feedback system</a:t>
            </a:r>
          </a:p>
        </p:txBody>
      </p:sp>
      <mc:AlternateContent xmlns:mc="http://schemas.openxmlformats.org/markup-compatibility/2006" xmlns:a14="http://schemas.microsoft.com/office/drawing/2010/main">
        <mc:Choice Requires="a14">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r>
                                <a:rPr lang="en-US" sz="1600">
                                  <a:solidFill>
                                    <a:srgbClr val="252529"/>
                                  </a:solidFill>
                                  <a:latin typeface="Cambria Math"/>
                                </a:rPr>
                                <m:t>𝐴𝑥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𝑢</m:t>
                              </m:r>
                            </m:e>
                            <m:e>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r>
                                <a:rPr lang="en-US" sz="1600">
                                  <a:solidFill>
                                    <a:srgbClr val="252529"/>
                                  </a:solidFill>
                                  <a:latin typeface="Cambria Math"/>
                                </a:rPr>
                                <m:t>,   </m:t>
                              </m:r>
                              <m:r>
                                <a:rPr lang="en-US" sz="1600">
                                  <a:solidFill>
                                    <a:srgbClr val="252529"/>
                                  </a:solidFill>
                                  <a:latin typeface="Cambria Math"/>
                                </a:rPr>
                                <m:t>𝑢</m:t>
                              </m:r>
                              <m:r>
                                <a:rPr lang="en-US" sz="1600">
                                  <a:solidFill>
                                    <a:srgbClr val="252529"/>
                                  </a:solidFill>
                                  <a:latin typeface="Cambria Math"/>
                                </a:rPr>
                                <m:t>=</m:t>
                              </m:r>
                              <m:r>
                                <a:rPr lang="en-US" sz="1600">
                                  <a:solidFill>
                                    <a:srgbClr val="252529"/>
                                  </a:solidFill>
                                  <a:latin typeface="Cambria Math"/>
                                </a:rPr>
                                <m:t>𝐾𝑦</m:t>
                              </m:r>
                            </m:e>
                          </m:eqArr>
                        </m:e>
                      </m:d>
                    </m:oMath>
                  </m:oMathPara>
                </a14:m>
                <a:endParaRPr sz="1600">
                  <a:latin typeface="Cambria Math"/>
                </a:endParaRPr>
              </a:p>
            </p:txBody>
          </p:sp>
        </mc:Choice>
        <mc:Fallback xmlns:m="http://schemas.openxmlformats.org/officeDocument/2006/math" xmlns="">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3" name="Stage1 filter"/>
              <p:cNvSpPr txBox="1"/>
              <p:nvPr/>
            </p:nvSpPr>
            <p:spPr>
              <a:xfrm>
                <a:off x="4965700" y="2095500"/>
                <a:ext cx="37211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800">
                          <a:solidFill>
                            <a:srgbClr val="252529"/>
                          </a:solidFill>
                          <a:latin typeface="Cambria Math"/>
                        </a:rPr>
                        <m:t>Θ</m:t>
                      </m:r>
                      <m:r>
                        <a:rPr lang="en-US" sz="1800">
                          <a:solidFill>
                            <a:srgbClr val="252529"/>
                          </a:solidFill>
                          <a:latin typeface="Cambria Math"/>
                        </a:rPr>
                        <m:t>=</m:t>
                      </m:r>
                      <m:d>
                        <m:dPr>
                          <m:begChr m:val="["/>
                          <m:endChr m:val="]"/>
                          <m:ctrlPr>
                            <a:rPr lang="en-US" sz="1800" i="1">
                              <a:solidFill>
                                <a:srgbClr val="252529"/>
                              </a:solidFill>
                              <a:latin typeface="Cambria Math" panose="02040503050406030204" pitchFamily="18" charset="0"/>
                            </a:rPr>
                          </m:ctrlPr>
                        </m:dPr>
                        <m:e>
                          <m:m>
                            <m:mPr>
                              <m:mcs>
                                <m:mc>
                                  <m:mcPr>
                                    <m:count m:val="2"/>
                                    <m:mcJc m:val="center"/>
                                  </m:mcPr>
                                </m:mc>
                              </m:mcs>
                              <m:ctrlPr>
                                <a:rPr lang="en-US" sz="1800" i="1">
                                  <a:solidFill>
                                    <a:srgbClr val="252529"/>
                                  </a:solidFill>
                                  <a:latin typeface="Cambria Math" panose="02040503050406030204" pitchFamily="18" charset="0"/>
                                </a:rPr>
                              </m:ctrlPr>
                            </m:mPr>
                            <m:mr>
                              <m:e>
                                <m:r>
                                  <a:rPr lang="en-US" sz="1800">
                                    <a:solidFill>
                                      <a:srgbClr val="252529"/>
                                    </a:solidFill>
                                    <a:latin typeface="Cambria Math"/>
                                  </a:rPr>
                                  <m:t>𝐼</m:t>
                                </m:r>
                              </m:e>
                              <m:e>
                                <m:r>
                                  <a:rPr lang="en-US" sz="1800">
                                    <a:solidFill>
                                      <a:srgbClr val="252529"/>
                                    </a:solidFill>
                                    <a:latin typeface="Cambria Math"/>
                                  </a:rPr>
                                  <m:t>0</m:t>
                                </m:r>
                              </m:e>
                            </m:mr>
                            <m:mr>
                              <m:e>
                                <m:r>
                                  <a:rPr lang="en-US" sz="1800">
                                    <a:solidFill>
                                      <a:srgbClr val="252529"/>
                                    </a:solidFill>
                                    <a:latin typeface="Cambria Math"/>
                                  </a:rPr>
                                  <m:t>−</m:t>
                                </m:r>
                                <m:r>
                                  <a:rPr lang="en-US" sz="1800">
                                    <a:solidFill>
                                      <a:srgbClr val="252529"/>
                                    </a:solidFill>
                                    <a:latin typeface="Cambria Math"/>
                                  </a:rPr>
                                  <m:t>𝐾</m:t>
                                </m:r>
                              </m:e>
                              <m:e>
                                <m:r>
                                  <a:rPr lang="en-US" sz="1800">
                                    <a:solidFill>
                                      <a:srgbClr val="252529"/>
                                    </a:solidFill>
                                    <a:latin typeface="Cambria Math"/>
                                  </a:rPr>
                                  <m:t>𝐼</m:t>
                                </m:r>
                              </m:e>
                            </m:mr>
                          </m:m>
                        </m:e>
                      </m:d>
                    </m:oMath>
                  </m:oMathPara>
                </a14:m>
                <a:endParaRPr sz="1800">
                  <a:latin typeface="Cambria Math"/>
                </a:endParaRPr>
              </a:p>
            </p:txBody>
          </p:sp>
        </mc:Choice>
        <mc:Fallback xmlns:m="http://schemas.openxmlformats.org/officeDocument/2006/math" xmlns="">
          <p:sp>
            <p:nvSpPr>
              <p:cNvPr id="303" name="Stage1 filter"/>
              <p:cNvSpPr txBox="1"/>
              <p:nvPr/>
            </p:nvSpPr>
            <p:spPr>
              <a:xfrm>
                <a:off x="4965700" y="2095500"/>
                <a:ext cx="37211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thus"/>
          <p:cNvSpPr txBox="1"/>
          <p:nvPr/>
        </p:nvSpPr>
        <p:spPr>
          <a:xfrm>
            <a:off x="4876800" y="27940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Thus</a:t>
            </a:r>
          </a:p>
        </p:txBody>
      </p:sp>
      <mc:AlternateContent xmlns:mc="http://schemas.openxmlformats.org/markup-compatibility/2006" xmlns:a14="http://schemas.microsoft.com/office/drawing/2010/main">
        <mc:Choice Requires="a14">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700" i="1">
                              <a:solidFill>
                                <a:srgbClr val="252529"/>
                              </a:solidFill>
                              <a:latin typeface="Cambria Math" panose="02040503050406030204" pitchFamily="18" charset="0"/>
                            </a:rPr>
                          </m:ctrlPr>
                        </m:dPr>
                        <m:e>
                          <m:eqArr>
                            <m:eqArrPr>
                              <m:ctrlPr>
                                <a:rPr lang="en-US" sz="1700" i="1">
                                  <a:solidFill>
                                    <a:srgbClr val="252529"/>
                                  </a:solidFill>
                                  <a:latin typeface="Cambria Math" panose="02040503050406030204" pitchFamily="18" charset="0"/>
                                </a:rPr>
                              </m:ctrlPr>
                            </m:eqArrPr>
                            <m:e>
                              <m:acc>
                                <m:accPr>
                                  <m:chr m:val="̃"/>
                                  <m:ctrlPr>
                                    <a:rPr lang="en-US" sz="1700">
                                      <a:solidFill>
                                        <a:srgbClr val="252529"/>
                                      </a:solidFill>
                                      <a:latin typeface="Cambria Math"/>
                                    </a:rPr>
                                  </m:ctrlPr>
                                </m:accPr>
                                <m:e>
                                  <m:r>
                                    <a:rPr lang="en-US" sz="1700">
                                      <a:solidFill>
                                        <a:srgbClr val="252529"/>
                                      </a:solidFill>
                                      <a:latin typeface="Cambria Math"/>
                                    </a:rPr>
                                    <m:t>𝑦</m:t>
                                  </m:r>
                                </m:e>
                              </m:acc>
                              <m:r>
                                <a:rPr lang="en-US" sz="1700">
                                  <a:solidFill>
                                    <a:srgbClr val="252529"/>
                                  </a:solidFill>
                                  <a:latin typeface="Cambria Math"/>
                                </a:rPr>
                                <m:t>=</m:t>
                              </m:r>
                              <m:r>
                                <a:rPr lang="en-US" sz="1700">
                                  <a:solidFill>
                                    <a:srgbClr val="252529"/>
                                  </a:solidFill>
                                  <a:latin typeface="Cambria Math"/>
                                </a:rPr>
                                <m:t>𝑦</m:t>
                              </m:r>
                              <m:r>
                                <a:rPr lang="en-US" sz="1700">
                                  <a:solidFill>
                                    <a:srgbClr val="252529"/>
                                  </a:solidFill>
                                  <a:latin typeface="Cambria Math"/>
                                </a:rPr>
                                <m:t>=</m:t>
                              </m:r>
                              <m:r>
                                <a:rPr lang="en-US" sz="1700">
                                  <a:solidFill>
                                    <a:srgbClr val="252529"/>
                                  </a:solidFill>
                                  <a:latin typeface="Cambria Math"/>
                                </a:rPr>
                                <m:t>𝑥</m:t>
                              </m:r>
                            </m:e>
                            <m:e>
                              <m:acc>
                                <m:accPr>
                                  <m:chr m:val="̃"/>
                                  <m:ctrlPr>
                                    <a:rPr lang="en-US" sz="1700">
                                      <a:solidFill>
                                        <a:srgbClr val="252529"/>
                                      </a:solidFill>
                                      <a:latin typeface="Cambria Math"/>
                                    </a:rPr>
                                  </m:ctrlPr>
                                </m:accPr>
                                <m:e>
                                  <m:r>
                                    <a:rPr lang="en-US" sz="1700">
                                      <a:solidFill>
                                        <a:srgbClr val="252529"/>
                                      </a:solidFill>
                                      <a:latin typeface="Cambria Math"/>
                                    </a:rPr>
                                    <m:t>𝑢</m:t>
                                  </m:r>
                                </m:e>
                              </m:acc>
                              <m:r>
                                <a:rPr lang="en-US" sz="1700">
                                  <a:solidFill>
                                    <a:srgbClr val="252529"/>
                                  </a:solidFill>
                                  <a:latin typeface="Cambria Math"/>
                                </a:rPr>
                                <m:t>=</m:t>
                              </m:r>
                              <m:r>
                                <a:rPr lang="en-US" sz="1700">
                                  <a:solidFill>
                                    <a:srgbClr val="252529"/>
                                  </a:solidFill>
                                  <a:latin typeface="Cambria Math"/>
                                </a:rPr>
                                <m:t>𝑢</m:t>
                              </m:r>
                              <m:r>
                                <a:rPr lang="en-US" sz="1700">
                                  <a:solidFill>
                                    <a:srgbClr val="252529"/>
                                  </a:solidFill>
                                  <a:latin typeface="Cambria Math"/>
                                </a:rPr>
                                <m:t>−</m:t>
                              </m:r>
                              <m:r>
                                <a:rPr lang="en-US" sz="1700">
                                  <a:solidFill>
                                    <a:srgbClr val="252529"/>
                                  </a:solidFill>
                                  <a:latin typeface="Cambria Math"/>
                                </a:rPr>
                                <m:t>𝐾𝑦</m:t>
                              </m:r>
                              <m:r>
                                <a:rPr lang="en-US" sz="1700">
                                  <a:solidFill>
                                    <a:srgbClr val="252529"/>
                                  </a:solidFill>
                                  <a:latin typeface="Cambria Math"/>
                                </a:rPr>
                                <m:t>=0</m:t>
                              </m:r>
                            </m:e>
                          </m:eqArr>
                        </m:e>
                      </m:d>
                    </m:oMath>
                  </m:oMathPara>
                </a14:m>
                <a:endParaRPr sz="1700">
                  <a:latin typeface="Cambria Math"/>
                </a:endParaRPr>
              </a:p>
            </p:txBody>
          </p:sp>
        </mc:Choice>
        <mc:Fallback xmlns:m="http://schemas.openxmlformats.org/officeDocument/2006/math" xmlns="">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7592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xmlns:mc="http://schemas.openxmlformats.org/markup-compatibility/2006" xmlns:a14="http://schemas.microsoft.com/office/drawing/2010/main">
        <mc:Choice Requires="a14">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700">
                          <a:solidFill>
                            <a:srgbClr val="252529"/>
                          </a:solidFill>
                          <a:latin typeface="Cambria Math"/>
                        </a:rPr>
                        <m:t>𝑇</m:t>
                      </m:r>
                      <m:acc>
                        <m:accPr>
                          <m:chr m:val="̇"/>
                          <m:ctrlPr>
                            <a:rPr lang="en-US" sz="1700">
                              <a:solidFill>
                                <a:srgbClr val="252529"/>
                              </a:solidFill>
                              <a:latin typeface="Cambria Math"/>
                            </a:rPr>
                          </m:ctrlPr>
                        </m:accPr>
                        <m:e>
                          <m:r>
                            <a:rPr lang="en-US" sz="1700">
                              <a:solidFill>
                                <a:srgbClr val="252529"/>
                              </a:solidFill>
                              <a:latin typeface="Cambria Math"/>
                            </a:rPr>
                            <m:t>𝑥</m:t>
                          </m:r>
                        </m:e>
                      </m:acc>
                      <m:r>
                        <a:rPr lang="en-US" sz="1700">
                          <a:solidFill>
                            <a:srgbClr val="252529"/>
                          </a:solidFill>
                          <a:latin typeface="Cambria Math"/>
                        </a:rPr>
                        <m:t>=</m:t>
                      </m:r>
                      <m:d>
                        <m:dPr>
                          <m:ctrlPr>
                            <a:rPr lang="en-US" sz="1700">
                              <a:solidFill>
                                <a:srgbClr val="252529"/>
                              </a:solidFill>
                              <a:latin typeface="Cambria Math"/>
                            </a:rPr>
                          </m:ctrlPr>
                        </m:dPr>
                        <m:e>
                          <m:r>
                            <a:rPr lang="en-US" sz="1700">
                              <a:solidFill>
                                <a:srgbClr val="252529"/>
                              </a:solidFill>
                              <a:latin typeface="Cambria Math"/>
                            </a:rPr>
                            <m:t>𝐴</m:t>
                          </m:r>
                          <m:r>
                            <a:rPr lang="en-US" sz="1700">
                              <a:solidFill>
                                <a:srgbClr val="252529"/>
                              </a:solidFill>
                              <a:latin typeface="Cambria Math"/>
                            </a:rPr>
                            <m:t>+</m:t>
                          </m:r>
                          <m:sSub>
                            <m:sSubPr>
                              <m:ctrlPr>
                                <a:rPr lang="en-US" sz="1700">
                                  <a:solidFill>
                                    <a:srgbClr val="252529"/>
                                  </a:solidFill>
                                  <a:latin typeface="Cambria Math"/>
                                </a:rPr>
                              </m:ctrlPr>
                            </m:sSubPr>
                            <m:e>
                              <m:r>
                                <a:rPr lang="en-US" sz="1700">
                                  <a:solidFill>
                                    <a:srgbClr val="252529"/>
                                  </a:solidFill>
                                  <a:latin typeface="Cambria Math"/>
                                </a:rPr>
                                <m:t>𝐵</m:t>
                              </m:r>
                            </m:e>
                            <m:sub>
                              <m:r>
                                <m:rPr>
                                  <m:sty m:val="p"/>
                                </m:rPr>
                                <a:rPr lang="en-US" sz="1700">
                                  <a:solidFill>
                                    <a:srgbClr val="252529"/>
                                  </a:solidFill>
                                  <a:latin typeface="Cambria Math"/>
                                </a:rPr>
                                <m:t>u</m:t>
                              </m:r>
                            </m:sub>
                          </m:sSub>
                          <m:r>
                            <a:rPr lang="en-US" sz="1700">
                              <a:solidFill>
                                <a:srgbClr val="252529"/>
                              </a:solidFill>
                              <a:latin typeface="Cambria Math"/>
                            </a:rPr>
                            <m:t>𝐾</m:t>
                          </m:r>
                        </m:e>
                      </m:d>
                      <m:r>
                        <a:rPr lang="en-US" sz="1700">
                          <a:solidFill>
                            <a:srgbClr val="252529"/>
                          </a:solidFill>
                          <a:latin typeface="Cambria Math"/>
                        </a:rPr>
                        <m:t>𝑥</m:t>
                      </m:r>
                    </m:oMath>
                  </m:oMathPara>
                </a14:m>
                <a:endParaRPr sz="1700">
                  <a:latin typeface="Cambria Math"/>
                </a:endParaRPr>
              </a:p>
            </p:txBody>
          </p:sp>
        </mc:Choice>
        <mc:Fallback xmlns:m="http://schemas.openxmlformats.org/officeDocument/2006/math" xmlns="">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The controller enforces a zero residual.</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300"/>
                                        <p:tgtEl>
                                          <p:spTgt spid="3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4"/>
                                        </p:tgtEl>
                                        <p:attrNameLst>
                                          <p:attrName>style.visibility</p:attrName>
                                        </p:attrNameLst>
                                      </p:cBhvr>
                                      <p:to>
                                        <p:strVal val="visible"/>
                                      </p:to>
                                    </p:set>
                                    <p:animEffect transition="in" filter="fade">
                                      <p:cBhvr>
                                        <p:cTn id="12" dur="300"/>
                                        <p:tgtEl>
                                          <p:spTgt spid="30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5"/>
                                        </p:tgtEl>
                                        <p:attrNameLst>
                                          <p:attrName>style.visibility</p:attrName>
                                        </p:attrNameLst>
                                      </p:cBhvr>
                                      <p:to>
                                        <p:strVal val="visible"/>
                                      </p:to>
                                    </p:set>
                                    <p:animEffect transition="in" filter="fade">
                                      <p:cBhvr>
                                        <p:cTn id="15" dur="300"/>
                                        <p:tgtEl>
                                          <p:spTgt spid="30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06"/>
                                        </p:tgtEl>
                                        <p:attrNameLst>
                                          <p:attrName>style.visibility</p:attrName>
                                        </p:attrNameLst>
                                      </p:cBhvr>
                                      <p:to>
                                        <p:strVal val="visible"/>
                                      </p:to>
                                    </p:set>
                                    <p:animEffect transition="in" filter="fade">
                                      <p:cBhvr>
                                        <p:cTn id="20" dur="300"/>
                                        <p:tgtEl>
                                          <p:spTgt spid="30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07"/>
                                        </p:tgtEl>
                                        <p:attrNameLst>
                                          <p:attrName>style.visibility</p:attrName>
                                        </p:attrNameLst>
                                      </p:cBhvr>
                                      <p:to>
                                        <p:strVal val="visible"/>
                                      </p:to>
                                    </p:set>
                                    <p:animEffect transition="in" filter="fade">
                                      <p:cBhvr>
                                        <p:cTn id="23" dur="300"/>
                                        <p:tgtEl>
                                          <p:spTgt spid="30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8"/>
                                        </p:tgtEl>
                                        <p:attrNameLst>
                                          <p:attrName>style.visibility</p:attrName>
                                        </p:attrNameLst>
                                      </p:cBhvr>
                                      <p:to>
                                        <p:strVal val="visible"/>
                                      </p:to>
                                    </p:set>
                                    <p:animEffect transition="in" filter="fade">
                                      <p:cBhvr>
                                        <p:cTn id="26" dur="3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P spid="304" grpId="0"/>
      <p:bldP spid="305" grpId="0"/>
      <p:bldP spid="306" grpId="0"/>
      <p:bldP spid="307" grpId="0"/>
      <p:bldP spid="30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mc:AlternateContent xmlns:mc="http://schemas.openxmlformats.org/markup-compatibility/2006" xmlns:a14="http://schemas.microsoft.com/office/drawing/2010/main">
        <mc:Choice Requires="a14">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00">
                              <a:solidFill>
                                <a:srgbClr val="252529"/>
                              </a:solidFill>
                              <a:latin typeface="Cambria Math"/>
                            </a:rPr>
                          </m:ctrlPr>
                        </m:sSupPr>
                        <m:e>
                          <m:r>
                            <a:rPr lang="en-US" sz="1600">
                              <a:solidFill>
                                <a:srgbClr val="252529"/>
                              </a:solidFill>
                              <a:latin typeface="Cambria Math"/>
                            </a:rPr>
                            <m:t>𝐺</m:t>
                          </m:r>
                        </m:e>
                        <m:sup>
                          <m:r>
                            <a:rPr lang="en-US" sz="1600">
                              <a:solidFill>
                                <a:srgbClr val="252529"/>
                              </a:solidFill>
                              <a:latin typeface="Cambria Math"/>
                            </a:rPr>
                            <m:t>⊤</m:t>
                          </m:r>
                        </m:sup>
                      </m:sSup>
                      <m:r>
                        <a:rPr lang="en-US" sz="1600">
                          <a:solidFill>
                            <a:srgbClr val="252529"/>
                          </a:solidFill>
                          <a:latin typeface="Cambria Math"/>
                        </a:rPr>
                        <m:t>: </m:t>
                      </m:r>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sSup>
                                <m:sSupPr>
                                  <m:ctrlPr>
                                    <a:rPr lang="en-US" sz="1600">
                                      <a:solidFill>
                                        <a:srgbClr val="252529"/>
                                      </a:solidFill>
                                      <a:latin typeface="Cambria Math"/>
                                    </a:rPr>
                                  </m:ctrlPr>
                                </m:sSupPr>
                                <m:e>
                                  <m:r>
                                    <a:rPr lang="en-US" sz="1600">
                                      <a:solidFill>
                                        <a:srgbClr val="252529"/>
                                      </a:solidFill>
                                      <a:latin typeface="Cambria Math"/>
                                    </a:rPr>
                                    <m:t>𝑇</m:t>
                                  </m:r>
                                </m:e>
                                <m:sup>
                                  <m:r>
                                    <a:rPr lang="en-US" sz="1600">
                                      <a:solidFill>
                                        <a:srgbClr val="252529"/>
                                      </a:solidFill>
                                      <a:latin typeface="Cambria Math"/>
                                    </a:rPr>
                                    <m:t>∗</m:t>
                                  </m:r>
                                </m:sup>
                              </m:sSup>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𝑥</m:t>
                                      </m:r>
                                    </m:e>
                                  </m:bar>
                                </m:e>
                              </m:acc>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𝐴</m:t>
                                  </m:r>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𝑥</m:t>
                                  </m:r>
                                </m:e>
                              </m:bar>
                              <m:r>
                                <a:rPr lang="en-US" sz="1600">
                                  <a:solidFill>
                                    <a:srgbClr val="252529"/>
                                  </a:solidFill>
                                  <a:latin typeface="Cambria Math"/>
                                </a:rPr>
                                <m:t>+</m:t>
                              </m:r>
                              <m:bar>
                                <m:barPr>
                                  <m:pos m:val="bot"/>
                                  <m:ctrlPr>
                                    <a:rPr lang="en-US" sz="1600">
                                      <a:solidFill>
                                        <a:srgbClr val="252529"/>
                                      </a:solidFill>
                                      <a:latin typeface="Cambria Math"/>
                                    </a:rPr>
                                  </m:ctrlPr>
                                </m:barPr>
                                <m:e>
                                  <m:r>
                                    <a:rPr lang="en-US" sz="1600">
                                      <a:solidFill>
                                        <a:srgbClr val="252529"/>
                                      </a:solidFill>
                                      <a:latin typeface="Cambria Math"/>
                                    </a:rPr>
                                    <m:t>𝑢</m:t>
                                  </m:r>
                                </m:e>
                              </m:bar>
                            </m:e>
                            <m:e>
                              <m:bar>
                                <m:barPr>
                                  <m:pos m:val="bot"/>
                                  <m:ctrlPr>
                                    <a:rPr lang="en-US" sz="1600">
                                      <a:solidFill>
                                        <a:srgbClr val="252529"/>
                                      </a:solidFill>
                                      <a:latin typeface="Cambria Math"/>
                                    </a:rPr>
                                  </m:ctrlPr>
                                </m:barPr>
                                <m:e>
                                  <m:r>
                                    <a:rPr lang="en-US" sz="1600">
                                      <a:solidFill>
                                        <a:srgbClr val="252529"/>
                                      </a:solidFill>
                                      <a:latin typeface="Cambria Math"/>
                                    </a:rPr>
                                    <m:t>𝑦</m:t>
                                  </m:r>
                                </m:e>
                              </m:bar>
                              <m:r>
                                <a:rPr lang="en-US" sz="1600">
                                  <a:solidFill>
                                    <a:srgbClr val="252529"/>
                                  </a:solidFill>
                                  <a:latin typeface="Cambria Math"/>
                                </a:rPr>
                                <m:t>=</m:t>
                              </m:r>
                              <m:sSup>
                                <m:sSupPr>
                                  <m:ctrlPr>
                                    <a:rPr lang="en-US" sz="1600" i="1">
                                      <a:solidFill>
                                        <a:srgbClr val="252529"/>
                                      </a:solidFill>
                                      <a:latin typeface="Cambria Math" panose="02040503050406030204" pitchFamily="18" charset="0"/>
                                    </a:rPr>
                                  </m:ctrlPr>
                                </m:sSupPr>
                                <m:e>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𝑥</m:t>
                                  </m:r>
                                </m:e>
                              </m:bar>
                            </m:e>
                          </m:eqArr>
                        </m:e>
                      </m:d>
                    </m:oMath>
                  </m:oMathPara>
                </a14:m>
                <a:endParaRPr sz="1600">
                  <a:latin typeface="Cambria Math"/>
                </a:endParaRPr>
              </a:p>
            </p:txBody>
          </p:sp>
        </mc:Choice>
        <mc:Fallback xmlns:m="http://schemas.openxmlformats.org/officeDocument/2006/math" xmlns="">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r>
                        <a:rPr lang="en-US" sz="1600">
                          <a:solidFill>
                            <a:srgbClr val="252529"/>
                          </a:solidFill>
                          <a:latin typeface="Cambria Math"/>
                        </a:rPr>
                        <m:t>: </m:t>
                      </m:r>
                      <m:bar>
                        <m:barPr>
                          <m:pos m:val="bot"/>
                          <m:ctrlPr>
                            <a:rPr lang="en-US" sz="1600">
                              <a:solidFill>
                                <a:srgbClr val="252529"/>
                              </a:solidFill>
                              <a:latin typeface="Cambria Math"/>
                            </a:rPr>
                          </m:ctrlPr>
                        </m:barPr>
                        <m:e>
                          <m:r>
                            <a:rPr lang="en-US" sz="1600">
                              <a:solidFill>
                                <a:srgbClr val="252529"/>
                              </a:solidFill>
                              <a:latin typeface="Cambria Math"/>
                            </a:rPr>
                            <m:t>𝑢</m:t>
                          </m:r>
                        </m:e>
                      </m:bar>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𝑦</m:t>
                          </m:r>
                        </m:e>
                      </m:bar>
                    </m:oMath>
                  </m:oMathPara>
                </a14:m>
                <a:endParaRPr sz="1600">
                  <a:latin typeface="Cambria Math"/>
                </a:endParaRPr>
              </a:p>
            </p:txBody>
          </p:sp>
        </mc:Choice>
        <mc:Fallback xmlns:m="http://schemas.openxmlformats.org/officeDocument/2006/math" xmlns="">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4" name="Stage1 transposed filter"/>
              <p:cNvSpPr txBox="1"/>
              <p:nvPr/>
            </p:nvSpPr>
            <p:spPr>
              <a:xfrm>
                <a:off x="4864100" y="2362200"/>
                <a:ext cx="3898900" cy="5334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800">
                              <a:solidFill>
                                <a:srgbClr val="252529"/>
                              </a:solidFill>
                              <a:latin typeface="Cambria Math"/>
                            </a:rPr>
                          </m:ctrlPr>
                        </m:sSupPr>
                        <m:e>
                          <m:r>
                            <m:rPr>
                              <m:sty m:val="p"/>
                            </m:rPr>
                            <a:rPr lang="en-US" sz="1800">
                              <a:solidFill>
                                <a:srgbClr val="252529"/>
                              </a:solidFill>
                              <a:latin typeface="Cambria Math"/>
                            </a:rPr>
                            <m:t>Θ</m:t>
                          </m:r>
                        </m:e>
                        <m:sup>
                          <m:r>
                            <a:rPr lang="en-US" sz="1800">
                              <a:solidFill>
                                <a:srgbClr val="252529"/>
                              </a:solidFill>
                              <a:latin typeface="Cambria Math"/>
                            </a:rPr>
                            <m:t>⊤</m:t>
                          </m:r>
                        </m:sup>
                      </m:sSup>
                      <m:r>
                        <a:rPr lang="en-US" sz="1800">
                          <a:solidFill>
                            <a:srgbClr val="252529"/>
                          </a:solidFill>
                          <a:latin typeface="Cambria Math"/>
                        </a:rPr>
                        <m:t>=</m:t>
                      </m:r>
                      <m:d>
                        <m:dPr>
                          <m:begChr m:val="["/>
                          <m:endChr m:val="]"/>
                          <m:ctrlPr>
                            <a:rPr lang="en-US" sz="1800" i="1">
                              <a:solidFill>
                                <a:srgbClr val="252529"/>
                              </a:solidFill>
                              <a:latin typeface="Cambria Math" panose="02040503050406030204" pitchFamily="18" charset="0"/>
                            </a:rPr>
                          </m:ctrlPr>
                        </m:dPr>
                        <m:e>
                          <m:m>
                            <m:mPr>
                              <m:mcs>
                                <m:mc>
                                  <m:mcPr>
                                    <m:count m:val="2"/>
                                    <m:mcJc m:val="center"/>
                                  </m:mcPr>
                                </m:mc>
                              </m:mcs>
                              <m:ctrlPr>
                                <a:rPr lang="en-US" sz="1800" i="1">
                                  <a:solidFill>
                                    <a:srgbClr val="252529"/>
                                  </a:solidFill>
                                  <a:latin typeface="Cambria Math" panose="02040503050406030204" pitchFamily="18" charset="0"/>
                                </a:rPr>
                              </m:ctrlPr>
                            </m:mPr>
                            <m:mr>
                              <m:e>
                                <m:r>
                                  <a:rPr lang="en-US" sz="1800">
                                    <a:solidFill>
                                      <a:srgbClr val="252529"/>
                                    </a:solidFill>
                                    <a:latin typeface="Cambria Math"/>
                                  </a:rPr>
                                  <m:t>𝐼</m:t>
                                </m:r>
                              </m:e>
                              <m:e>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e>
                            </m:mr>
                            <m:mr>
                              <m:e>
                                <m:r>
                                  <a:rPr lang="en-US" sz="1800">
                                    <a:solidFill>
                                      <a:srgbClr val="252529"/>
                                    </a:solidFill>
                                    <a:latin typeface="Cambria Math"/>
                                  </a:rPr>
                                  <m:t>0</m:t>
                                </m:r>
                              </m:e>
                              <m:e>
                                <m:r>
                                  <a:rPr lang="en-US" sz="1800">
                                    <a:solidFill>
                                      <a:srgbClr val="252529"/>
                                    </a:solidFill>
                                    <a:latin typeface="Cambria Math"/>
                                  </a:rPr>
                                  <m:t>𝐼</m:t>
                                </m:r>
                              </m:e>
                            </m:mr>
                          </m:m>
                        </m:e>
                      </m:d>
                    </m:oMath>
                  </m:oMathPara>
                </a14:m>
                <a:endParaRPr sz="1800">
                  <a:latin typeface="Cambria Math"/>
                </a:endParaRPr>
              </a:p>
            </p:txBody>
          </p:sp>
        </mc:Choice>
        <mc:Fallback xmlns:m="http://schemas.openxmlformats.org/officeDocument/2006/math" xmlns="">
          <p:sp>
            <p:nvSpPr>
              <p:cNvPr id="304" name="Stage1 transposed filter"/>
              <p:cNvSpPr txBox="1"/>
              <p:nvPr/>
            </p:nvSpPr>
            <p:spPr>
              <a:xfrm>
                <a:off x="4864100" y="2362200"/>
                <a:ext cx="3898900" cy="5334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5" name="Stage2 substitution"/>
          <p:cNvSpPr txBox="1"/>
          <p:nvPr/>
        </p:nvSpPr>
        <p:spPr>
          <a:xfrm>
            <a:off x="4876800" y="30226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xmlns:mc="http://schemas.openxmlformats.org/markup-compatibility/2006" xmlns:a14="http://schemas.microsoft.com/office/drawing/2010/main">
        <mc:Choice Requires="a14">
          <p:sp>
            <p:nvSpPr>
              <p:cNvPr id="306" name="Stage2 resulting system"/>
              <p:cNvSpPr txBox="1"/>
              <p:nvPr/>
            </p:nvSpPr>
            <p:spPr>
              <a:xfrm>
                <a:off x="4864100" y="3365500"/>
                <a:ext cx="3911600" cy="965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sSup>
                                <m:sSupPr>
                                  <m:ctrlPr>
                                    <a:rPr lang="en-US" sz="1600">
                                      <a:solidFill>
                                        <a:srgbClr val="252529"/>
                                      </a:solidFill>
                                      <a:latin typeface="Cambria Math"/>
                                    </a:rPr>
                                  </m:ctrlPr>
                                </m:sSupPr>
                                <m:e>
                                  <m:r>
                                    <a:rPr lang="en-US" sz="1600">
                                      <a:solidFill>
                                        <a:srgbClr val="252529"/>
                                      </a:solidFill>
                                      <a:latin typeface="Cambria Math"/>
                                    </a:rPr>
                                    <m:t>𝑇</m:t>
                                  </m:r>
                                </m:e>
                                <m:sup>
                                  <m:r>
                                    <a:rPr lang="en-US" sz="1600">
                                      <a:solidFill>
                                        <a:srgbClr val="252529"/>
                                      </a:solidFill>
                                      <a:latin typeface="Cambria Math"/>
                                    </a:rPr>
                                    <m:t>∗</m:t>
                                  </m:r>
                                </m:sup>
                              </m:sSup>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𝑥</m:t>
                                      </m:r>
                                    </m:e>
                                  </m:bar>
                                </m:e>
                              </m:acc>
                              <m:r>
                                <a:rPr lang="en-US" sz="1600">
                                  <a:solidFill>
                                    <a:srgbClr val="252529"/>
                                  </a:solidFill>
                                  <a:latin typeface="Cambria Math"/>
                                </a:rPr>
                                <m:t>=</m:t>
                              </m:r>
                              <m:d>
                                <m:dPr>
                                  <m:ctrlPr>
                                    <a:rPr lang="en-US" sz="1600" i="1">
                                      <a:solidFill>
                                        <a:srgbClr val="252529"/>
                                      </a:solidFill>
                                      <a:latin typeface="Cambria Math" panose="02040503050406030204" pitchFamily="18" charset="0"/>
                                    </a:rPr>
                                  </m:ctrlPr>
                                </m:dPr>
                                <m:e>
                                  <m:sSup>
                                    <m:sSupPr>
                                      <m:ctrlPr>
                                        <a:rPr lang="en-US" sz="1600">
                                          <a:solidFill>
                                            <a:srgbClr val="252529"/>
                                          </a:solidFill>
                                          <a:latin typeface="Cambria Math"/>
                                        </a:rPr>
                                      </m:ctrlPr>
                                    </m:sSupPr>
                                    <m:e>
                                      <m:r>
                                        <a:rPr lang="en-US" sz="1600">
                                          <a:solidFill>
                                            <a:srgbClr val="252529"/>
                                          </a:solidFill>
                                          <a:latin typeface="Cambria Math"/>
                                        </a:rPr>
                                        <m:t>𝐴</m:t>
                                      </m:r>
                                    </m:e>
                                    <m:sup>
                                      <m:r>
                                        <a:rPr lang="en-US" sz="1600">
                                          <a:solidFill>
                                            <a:srgbClr val="252529"/>
                                          </a:solidFill>
                                          <a:latin typeface="Cambria Math"/>
                                        </a:rPr>
                                        <m:t>∗</m:t>
                                      </m:r>
                                    </m:sup>
                                  </m:sSup>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sSup>
                                    <m:sSupPr>
                                      <m:ctrlPr>
                                        <a:rPr lang="en-US" sz="1600" i="1">
                                          <a:solidFill>
                                            <a:srgbClr val="252529"/>
                                          </a:solidFill>
                                          <a:latin typeface="Cambria Math" panose="02040503050406030204" pitchFamily="18" charset="0"/>
                                        </a:rPr>
                                      </m:ctrlPr>
                                    </m:sSupPr>
                                    <m:e>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e>
                                    <m:sup>
                                      <m:r>
                                        <a:rPr lang="en-US" sz="1600">
                                          <a:solidFill>
                                            <a:srgbClr val="252529"/>
                                          </a:solidFill>
                                          <a:latin typeface="Cambria Math"/>
                                        </a:rPr>
                                        <m:t>∗</m:t>
                                      </m:r>
                                    </m:sup>
                                  </m:sSup>
                                </m:e>
                              </m:d>
                              <m:bar>
                                <m:barPr>
                                  <m:pos m:val="bot"/>
                                  <m:ctrlPr>
                                    <a:rPr lang="en-US" sz="1600">
                                      <a:solidFill>
                                        <a:srgbClr val="252529"/>
                                      </a:solidFill>
                                      <a:latin typeface="Cambria Math"/>
                                    </a:rPr>
                                  </m:ctrlPr>
                                </m:barPr>
                                <m:e>
                                  <m:r>
                                    <a:rPr lang="en-US" sz="1600">
                                      <a:solidFill>
                                        <a:srgbClr val="252529"/>
                                      </a:solidFill>
                                      <a:latin typeface="Cambria Math"/>
                                    </a:rPr>
                                    <m:t>𝑥</m:t>
                                  </m:r>
                                </m:e>
                              </m:bar>
                            </m:e>
                            <m:e>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𝑦</m:t>
                                      </m:r>
                                    </m:e>
                                  </m:ba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𝐼</m:t>
                                  </m:r>
                                  <m:r>
                                    <a:rPr lang="en-US" sz="1600">
                                      <a:solidFill>
                                        <a:srgbClr val="252529"/>
                                      </a:solidFill>
                                      <a:latin typeface="Cambria Math"/>
                                    </a:rPr>
                                    <m:t>−</m:t>
                                  </m:r>
                                  <m:sSup>
                                    <m:sSupPr>
                                      <m:ctrlPr>
                                        <a:rPr lang="en-US" sz="1600" i="1">
                                          <a:solidFill>
                                            <a:srgbClr val="252529"/>
                                          </a:solidFill>
                                          <a:latin typeface="Cambria Math" panose="02040503050406030204" pitchFamily="18" charset="0"/>
                                        </a:rPr>
                                      </m:ctrlPr>
                                    </m:sSupPr>
                                    <m:e>
                                      <m:d>
                                        <m:dPr>
                                          <m:ctrlPr>
                                            <a:rPr lang="en-US" sz="1600" i="1">
                                              <a:solidFill>
                                                <a:srgbClr val="252529"/>
                                              </a:solidFill>
                                              <a:latin typeface="Cambria Math" panose="02040503050406030204" pitchFamily="18" charset="0"/>
                                            </a:rPr>
                                          </m:ctrlPr>
                                        </m:dPr>
                                        <m:e>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e>
                                      </m:d>
                                    </m:e>
                                    <m:sup>
                                      <m:r>
                                        <a:rPr lang="en-US" sz="1600">
                                          <a:solidFill>
                                            <a:srgbClr val="252529"/>
                                          </a:solidFill>
                                          <a:latin typeface="Cambria Math"/>
                                        </a:rPr>
                                        <m:t>2</m:t>
                                      </m:r>
                                    </m:sup>
                                  </m:sSup>
                                </m:e>
                              </m:d>
                              <m:sSup>
                                <m:sSupPr>
                                  <m:ctrlPr>
                                    <a:rPr lang="en-US" sz="1600" i="1">
                                      <a:solidFill>
                                        <a:srgbClr val="252529"/>
                                      </a:solidFill>
                                      <a:latin typeface="Cambria Math" panose="02040503050406030204" pitchFamily="18" charset="0"/>
                                    </a:rPr>
                                  </m:ctrlPr>
                                </m:sSupPr>
                                <m:e>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𝑥</m:t>
                                  </m:r>
                                </m:e>
                              </m:bar>
                            </m:e>
                            <m:e>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𝑢</m:t>
                                      </m:r>
                                    </m:e>
                                  </m:bar>
                                </m:e>
                              </m:acc>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sSup>
                                <m:sSupPr>
                                  <m:ctrlPr>
                                    <a:rPr lang="en-US" sz="1600" i="1">
                                      <a:solidFill>
                                        <a:srgbClr val="252529"/>
                                      </a:solidFill>
                                      <a:latin typeface="Cambria Math" panose="02040503050406030204" pitchFamily="18" charset="0"/>
                                    </a:rPr>
                                  </m:ctrlPr>
                                </m:sSupPr>
                                <m:e>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𝑥</m:t>
                                  </m:r>
                                </m:e>
                              </m:bar>
                              <m:r>
                                <a:rPr lang="en-US" sz="1600">
                                  <a:solidFill>
                                    <a:srgbClr val="C81919"/>
                                  </a:solidFill>
                                  <a:latin typeface="Cambria Math"/>
                                </a:rPr>
                                <m:t>≠0</m:t>
                              </m:r>
                            </m:e>
                          </m:eqArr>
                        </m:e>
                      </m:d>
                    </m:oMath>
                  </m:oMathPara>
                </a14:m>
                <a:endParaRPr sz="1600">
                  <a:latin typeface="Cambria Math"/>
                </a:endParaRPr>
              </a:p>
            </p:txBody>
          </p:sp>
        </mc:Choice>
        <mc:Fallback xmlns:m="http://schemas.openxmlformats.org/officeDocument/2006/math" xmlns="">
          <p:sp>
            <p:nvSpPr>
              <p:cNvPr id="306" name="Stage2 resulting system"/>
              <p:cNvSpPr txBox="1"/>
              <p:nvPr/>
            </p:nvSpPr>
            <p:spPr>
              <a:xfrm>
                <a:off x="4864100" y="3365500"/>
                <a:ext cx="3911600" cy="965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onclusion"/>
          <p:cNvSpPr txBox="1"/>
          <p:nvPr/>
        </p:nvSpPr>
        <p:spPr>
          <a:xfrm>
            <a:off x="457200" y="4445000"/>
            <a:ext cx="8229600" cy="355600"/>
          </a:xfrm>
          <a:prstGeom prst="rect">
            <a:avLst/>
          </a:prstGeom>
          <a:noFill/>
          <a:ln>
            <a:noFill/>
          </a:ln>
        </p:spPr>
        <p:txBody>
          <a:bodyPr wrap="square" lIns="0" tIns="0" rIns="0" bIns="0" anchor="ctr">
            <a:noAutofit/>
          </a:bodyPr>
          <a:lstStyle/>
          <a:p>
            <a:pPr algn="l"/>
            <a:r>
              <a:rPr lang="en-US" sz="1550" b="1">
                <a:solidFill>
                  <a:srgbClr val="C81919"/>
                </a:solidFill>
                <a:latin typeface="Aptos"/>
              </a:rPr>
              <a:t>Not the dual filtered system: the residual is generally nonzero.</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4"/>
                                        </p:tgtEl>
                                        <p:attrNameLst>
                                          <p:attrName>style.visibility</p:attrName>
                                        </p:attrNameLst>
                                      </p:cBhvr>
                                      <p:to>
                                        <p:strVal val="visible"/>
                                      </p:to>
                                    </p:set>
                                    <p:animEffect transition="in" filter="fade">
                                      <p:cBhvr>
                                        <p:cTn id="13" dur="300"/>
                                        <p:tgtEl>
                                          <p:spTgt spid="30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introduction"/>
          <p:cNvSpPr txBox="1"/>
          <p:nvPr/>
        </p:nvSpPr>
        <p:spPr>
          <a:xfrm>
            <a:off x="4876800" y="10541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Use the dual filter</a:t>
            </a:r>
          </a:p>
        </p:txBody>
      </p:sp>
      <mc:AlternateContent xmlns:mc="http://schemas.openxmlformats.org/markup-compatibility/2006" xmlns:a14="http://schemas.microsoft.com/office/drawing/2010/main">
        <mc:Choice Requires="a14">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800">
                          <a:solidFill>
                            <a:srgbClr val="252529"/>
                          </a:solidFill>
                          <a:latin typeface="Cambria Math"/>
                        </a:rPr>
                        <m:t>𝐃</m:t>
                      </m:r>
                      <m:d>
                        <m:dPr>
                          <m:ctrlPr>
                            <a:rPr lang="en-US" sz="1800">
                              <a:solidFill>
                                <a:srgbClr val="252529"/>
                              </a:solidFill>
                              <a:latin typeface="Cambria Math"/>
                            </a:rPr>
                          </m:ctrlPr>
                        </m:dPr>
                        <m:e>
                          <m:r>
                            <m:rPr>
                              <m:sty m:val="p"/>
                            </m:rPr>
                            <a:rPr lang="en-US" sz="1800">
                              <a:solidFill>
                                <a:srgbClr val="252529"/>
                              </a:solidFill>
                              <a:latin typeface="Cambria Math"/>
                            </a:rPr>
                            <m:t>Θ</m:t>
                          </m:r>
                        </m:e>
                      </m:d>
                      <m:r>
                        <a:rPr lang="en-US" sz="1800">
                          <a:solidFill>
                            <a:srgbClr val="252529"/>
                          </a:solidFill>
                          <a:latin typeface="Cambria Math"/>
                        </a:rPr>
                        <m:t>:=</m:t>
                      </m:r>
                      <m:sSup>
                        <m:sSupPr>
                          <m:ctrlPr>
                            <a:rPr lang="en-US" sz="1800" i="1">
                              <a:solidFill>
                                <a:srgbClr val="252529"/>
                              </a:solidFill>
                              <a:latin typeface="Cambria Math" panose="02040503050406030204" pitchFamily="18" charset="0"/>
                            </a:rPr>
                          </m:ctrlPr>
                        </m:sSupPr>
                        <m:e>
                          <m:d>
                            <m:dPr>
                              <m:ctrlPr>
                                <a:rPr lang="en-US" sz="1800" i="1">
                                  <a:solidFill>
                                    <a:srgbClr val="252529"/>
                                  </a:solidFill>
                                  <a:latin typeface="Cambria Math" panose="02040503050406030204" pitchFamily="18" charset="0"/>
                                </a:rPr>
                              </m:ctrlPr>
                            </m:dPr>
                            <m:e>
                              <m:sSup>
                                <m:sSupPr>
                                  <m:ctrlPr>
                                    <a:rPr lang="en-US" sz="1800" i="1">
                                      <a:solidFill>
                                        <a:srgbClr val="252529"/>
                                      </a:solidFill>
                                      <a:latin typeface="Cambria Math" panose="02040503050406030204" pitchFamily="18" charset="0"/>
                                    </a:rPr>
                                  </m:ctrlPr>
                                </m:sSupPr>
                                <m:e>
                                  <m:acc>
                                    <m:accPr>
                                      <m:chr m:val="̂"/>
                                      <m:ctrlPr>
                                        <a:rPr lang="en-US" sz="1800">
                                          <a:solidFill>
                                            <a:srgbClr val="252529"/>
                                          </a:solidFill>
                                          <a:latin typeface="Cambria Math"/>
                                        </a:rPr>
                                      </m:ctrlPr>
                                    </m:accPr>
                                    <m:e>
                                      <m:r>
                                        <a:rPr lang="en-US" sz="1800">
                                          <a:solidFill>
                                            <a:srgbClr val="252529"/>
                                          </a:solidFill>
                                          <a:latin typeface="Cambria Math"/>
                                        </a:rPr>
                                        <m:t>𝐽</m:t>
                                      </m:r>
                                    </m:e>
                                  </m:acc>
                                </m:e>
                                <m:sup>
                                  <m:r>
                                    <a:rPr lang="en-US" sz="1800">
                                      <a:solidFill>
                                        <a:srgbClr val="252529"/>
                                      </a:solidFill>
                                      <a:latin typeface="Cambria Math"/>
                                    </a:rPr>
                                    <m:t>∗</m:t>
                                  </m:r>
                                </m:sup>
                              </m:sSup>
                              <m:sSup>
                                <m:sSupPr>
                                  <m:ctrlPr>
                                    <a:rPr lang="en-US" sz="1800">
                                      <a:solidFill>
                                        <a:srgbClr val="252529"/>
                                      </a:solidFill>
                                      <a:latin typeface="Cambria Math"/>
                                    </a:rPr>
                                  </m:ctrlPr>
                                </m:sSupPr>
                                <m:e>
                                  <m:r>
                                    <m:rPr>
                                      <m:sty m:val="p"/>
                                    </m:rPr>
                                    <a:rPr lang="en-US" sz="1800">
                                      <a:solidFill>
                                        <a:srgbClr val="252529"/>
                                      </a:solidFill>
                                      <a:latin typeface="Cambria Math"/>
                                    </a:rPr>
                                    <m:t>Θ</m:t>
                                  </m:r>
                                </m:e>
                                <m:sup>
                                  <m:r>
                                    <a:rPr lang="en-US" sz="1800">
                                      <a:solidFill>
                                        <a:srgbClr val="252529"/>
                                      </a:solidFill>
                                      <a:latin typeface="Cambria Math"/>
                                    </a:rPr>
                                    <m:t>⊤</m:t>
                                  </m:r>
                                </m:sup>
                              </m:sSup>
                              <m:acc>
                                <m:accPr>
                                  <m:chr m:val="̂"/>
                                  <m:ctrlPr>
                                    <a:rPr lang="en-US" sz="1800">
                                      <a:solidFill>
                                        <a:srgbClr val="252529"/>
                                      </a:solidFill>
                                      <a:latin typeface="Cambria Math"/>
                                    </a:rPr>
                                  </m:ctrlPr>
                                </m:accPr>
                                <m:e>
                                  <m:r>
                                    <a:rPr lang="en-US" sz="1800">
                                      <a:solidFill>
                                        <a:srgbClr val="252529"/>
                                      </a:solidFill>
                                      <a:latin typeface="Cambria Math"/>
                                    </a:rPr>
                                    <m:t>𝐽</m:t>
                                  </m:r>
                                </m:e>
                              </m:acc>
                            </m:e>
                          </m:d>
                        </m:e>
                        <m:sup>
                          <m:r>
                            <a:rPr lang="en-US" sz="1800">
                              <a:solidFill>
                                <a:srgbClr val="252529"/>
                              </a:solidFill>
                              <a:latin typeface="Cambria Math"/>
                            </a:rPr>
                            <m:t>−1</m:t>
                          </m:r>
                        </m:sup>
                      </m:sSup>
                    </m:oMath>
                  </m:oMathPara>
                </a14:m>
                <a:endParaRPr sz="1800">
                  <a:latin typeface="Cambria Math"/>
                </a:endParaRPr>
              </a:p>
            </p:txBody>
          </p:sp>
        </mc:Choice>
        <mc:Fallback xmlns:m="http://schemas.openxmlformats.org/officeDocument/2006/math" xmlns="">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400">
                              <a:solidFill>
                                <a:srgbClr val="252529"/>
                              </a:solidFill>
                              <a:latin typeface="Cambria Math"/>
                            </a:rPr>
                          </m:ctrlPr>
                        </m:accPr>
                        <m:e>
                          <m:r>
                            <a:rPr lang="en-US" sz="1400">
                              <a:solidFill>
                                <a:srgbClr val="252529"/>
                              </a:solidFill>
                              <a:latin typeface="Cambria Math"/>
                            </a:rPr>
                            <m:t>𝐽</m:t>
                          </m:r>
                        </m:e>
                      </m:acc>
                      <m:r>
                        <a:rPr lang="en-US" sz="1400">
                          <a:solidFill>
                            <a:srgbClr val="252529"/>
                          </a:solidFill>
                          <a:latin typeface="Cambria Math"/>
                        </a:rPr>
                        <m:t>=</m:t>
                      </m:r>
                      <m:d>
                        <m:dPr>
                          <m:begChr m:val="["/>
                          <m:endChr m:val="]"/>
                          <m:ctrlPr>
                            <a:rPr lang="en-US" sz="1400" i="1">
                              <a:solidFill>
                                <a:srgbClr val="252529"/>
                              </a:solidFill>
                              <a:latin typeface="Cambria Math" panose="02040503050406030204" pitchFamily="18" charset="0"/>
                            </a:rPr>
                          </m:ctrlPr>
                        </m:dPr>
                        <m:e>
                          <m:m>
                            <m:mPr>
                              <m:mcs>
                                <m:mc>
                                  <m:mcPr>
                                    <m:count m:val="2"/>
                                    <m:mcJc m:val="center"/>
                                  </m:mcPr>
                                </m:mc>
                              </m:mcs>
                              <m:ctrlPr>
                                <a:rPr lang="en-US" sz="1400" i="1">
                                  <a:solidFill>
                                    <a:srgbClr val="252529"/>
                                  </a:solidFill>
                                  <a:latin typeface="Cambria Math" panose="02040503050406030204" pitchFamily="18" charset="0"/>
                                </a:rPr>
                              </m:ctrlPr>
                            </m:mPr>
                            <m:mr>
                              <m:e>
                                <m:r>
                                  <a:rPr lang="en-US" sz="1400">
                                    <a:solidFill>
                                      <a:srgbClr val="252529"/>
                                    </a:solidFill>
                                    <a:latin typeface="Cambria Math"/>
                                  </a:rPr>
                                  <m:t>0</m:t>
                                </m:r>
                              </m:e>
                              <m:e>
                                <m:r>
                                  <a:rPr lang="en-US" sz="1400">
                                    <a:solidFill>
                                      <a:srgbClr val="252529"/>
                                    </a:solidFill>
                                    <a:latin typeface="Cambria Math"/>
                                  </a:rPr>
                                  <m:t>𝐼</m:t>
                                </m:r>
                              </m:e>
                            </m:mr>
                            <m:mr>
                              <m:e>
                                <m:r>
                                  <a:rPr lang="en-US" sz="1400">
                                    <a:solidFill>
                                      <a:srgbClr val="252529"/>
                                    </a:solidFill>
                                    <a:latin typeface="Cambria Math"/>
                                  </a:rPr>
                                  <m:t>−</m:t>
                                </m:r>
                                <m:r>
                                  <a:rPr lang="en-US" sz="1400">
                                    <a:solidFill>
                                      <a:srgbClr val="252529"/>
                                    </a:solidFill>
                                    <a:latin typeface="Cambria Math"/>
                                  </a:rPr>
                                  <m:t>𝐼</m:t>
                                </m:r>
                              </m:e>
                              <m:e>
                                <m:r>
                                  <a:rPr lang="en-US" sz="1400">
                                    <a:solidFill>
                                      <a:srgbClr val="252529"/>
                                    </a:solidFill>
                                    <a:latin typeface="Cambria Math"/>
                                  </a:rPr>
                                  <m:t>0</m:t>
                                </m:r>
                              </m:e>
                            </m:mr>
                          </m:m>
                        </m:e>
                      </m:d>
                    </m:oMath>
                  </m:oMathPara>
                </a14:m>
                <a:endParaRPr sz="1400">
                  <a:latin typeface="Cambria Math"/>
                </a:endParaRPr>
              </a:p>
            </p:txBody>
          </p:sp>
        </mc:Choice>
        <mc:Fallback xmlns:m="http://schemas.openxmlformats.org/officeDocument/2006/math" xmlns="">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5" name="Stage2 controller filter"/>
              <p:cNvSpPr txBox="1"/>
              <p:nvPr/>
            </p:nvSpPr>
            <p:spPr>
              <a:xfrm>
                <a:off x="4864100" y="25908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800">
                          <a:solidFill>
                            <a:srgbClr val="252529"/>
                          </a:solidFill>
                          <a:latin typeface="Cambria Math"/>
                        </a:rPr>
                        <m:t>𝐃</m:t>
                      </m:r>
                      <m:d>
                        <m:dPr>
                          <m:ctrlPr>
                            <a:rPr lang="en-US" sz="1800">
                              <a:solidFill>
                                <a:srgbClr val="252529"/>
                              </a:solidFill>
                              <a:latin typeface="Cambria Math"/>
                            </a:rPr>
                          </m:ctrlPr>
                        </m:dPr>
                        <m:e>
                          <m:r>
                            <m:rPr>
                              <m:sty m:val="p"/>
                            </m:rPr>
                            <a:rPr lang="en-US" sz="1800">
                              <a:solidFill>
                                <a:srgbClr val="252529"/>
                              </a:solidFill>
                              <a:latin typeface="Cambria Math"/>
                            </a:rPr>
                            <m:t>Θ</m:t>
                          </m:r>
                        </m:e>
                      </m:d>
                      <m:r>
                        <a:rPr lang="en-US" sz="1800">
                          <a:solidFill>
                            <a:srgbClr val="252529"/>
                          </a:solidFill>
                          <a:latin typeface="Cambria Math"/>
                        </a:rPr>
                        <m:t>=</m:t>
                      </m:r>
                      <m:d>
                        <m:dPr>
                          <m:begChr m:val="["/>
                          <m:endChr m:val="]"/>
                          <m:ctrlPr>
                            <a:rPr lang="en-US" sz="1800" i="1">
                              <a:solidFill>
                                <a:srgbClr val="252529"/>
                              </a:solidFill>
                              <a:latin typeface="Cambria Math" panose="02040503050406030204" pitchFamily="18" charset="0"/>
                            </a:rPr>
                          </m:ctrlPr>
                        </m:dPr>
                        <m:e>
                          <m:m>
                            <m:mPr>
                              <m:mcs>
                                <m:mc>
                                  <m:mcPr>
                                    <m:count m:val="2"/>
                                    <m:mcJc m:val="center"/>
                                  </m:mcPr>
                                </m:mc>
                              </m:mcs>
                              <m:ctrlPr>
                                <a:rPr lang="en-US" sz="1800" i="1">
                                  <a:solidFill>
                                    <a:srgbClr val="252529"/>
                                  </a:solidFill>
                                  <a:latin typeface="Cambria Math" panose="02040503050406030204" pitchFamily="18" charset="0"/>
                                </a:rPr>
                              </m:ctrlPr>
                            </m:mPr>
                            <m:mr>
                              <m:e>
                                <m:r>
                                  <a:rPr lang="en-US" sz="1800">
                                    <a:solidFill>
                                      <a:srgbClr val="252529"/>
                                    </a:solidFill>
                                    <a:latin typeface="Cambria Math"/>
                                  </a:rPr>
                                  <m:t>𝐼</m:t>
                                </m:r>
                              </m:e>
                              <m:e>
                                <m:r>
                                  <a:rPr lang="en-US" sz="1800">
                                    <a:solidFill>
                                      <a:srgbClr val="252529"/>
                                    </a:solidFill>
                                    <a:latin typeface="Cambria Math"/>
                                  </a:rPr>
                                  <m:t>0</m:t>
                                </m:r>
                              </m:e>
                            </m:mr>
                            <m:mr>
                              <m:e>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e>
                              <m:e>
                                <m:r>
                                  <a:rPr lang="en-US" sz="1800">
                                    <a:solidFill>
                                      <a:srgbClr val="252529"/>
                                    </a:solidFill>
                                    <a:latin typeface="Cambria Math"/>
                                  </a:rPr>
                                  <m:t>𝐼</m:t>
                                </m:r>
                              </m:e>
                            </m:mr>
                          </m:m>
                        </m:e>
                      </m:d>
                    </m:oMath>
                  </m:oMathPara>
                </a14:m>
                <a:endParaRPr sz="1800">
                  <a:latin typeface="Cambria Math"/>
                </a:endParaRPr>
              </a:p>
            </p:txBody>
          </p:sp>
        </mc:Choice>
        <mc:Fallback xmlns:m="http://schemas.openxmlformats.org/officeDocument/2006/math" xmlns="">
          <p:sp>
            <p:nvSpPr>
              <p:cNvPr id="305" name="Stage2 controller filter"/>
              <p:cNvSpPr txBox="1"/>
              <p:nvPr/>
            </p:nvSpPr>
            <p:spPr>
              <a:xfrm>
                <a:off x="4864100" y="25908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2639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xmlns:mc="http://schemas.openxmlformats.org/markup-compatibility/2006" xmlns:a14="http://schemas.microsoft.com/office/drawing/2010/main">
        <mc:Choice Requires="a14">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sSup>
                                <m:sSupPr>
                                  <m:ctrlPr>
                                    <a:rPr lang="en-US" sz="1600">
                                      <a:solidFill>
                                        <a:srgbClr val="252529"/>
                                      </a:solidFill>
                                      <a:latin typeface="Cambria Math"/>
                                    </a:rPr>
                                  </m:ctrlPr>
                                </m:sSupPr>
                                <m:e>
                                  <m:r>
                                    <a:rPr lang="en-US" sz="1600">
                                      <a:solidFill>
                                        <a:srgbClr val="252529"/>
                                      </a:solidFill>
                                      <a:latin typeface="Cambria Math"/>
                                    </a:rPr>
                                    <m:t>𝑇</m:t>
                                  </m:r>
                                </m:e>
                                <m:sup>
                                  <m:r>
                                    <a:rPr lang="en-US" sz="1600">
                                      <a:solidFill>
                                        <a:srgbClr val="252529"/>
                                      </a:solidFill>
                                      <a:latin typeface="Cambria Math"/>
                                    </a:rPr>
                                    <m:t>∗</m:t>
                                  </m:r>
                                </m:sup>
                              </m:sSup>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𝑥</m:t>
                                      </m:r>
                                    </m:e>
                                  </m:bar>
                                </m:e>
                              </m:acc>
                              <m:r>
                                <a:rPr lang="en-US" sz="1600">
                                  <a:solidFill>
                                    <a:srgbClr val="252529"/>
                                  </a:solidFill>
                                  <a:latin typeface="Cambria Math"/>
                                </a:rPr>
                                <m:t>=</m:t>
                              </m:r>
                              <m:d>
                                <m:dPr>
                                  <m:ctrlPr>
                                    <a:rPr lang="en-US" sz="1600" i="1">
                                      <a:solidFill>
                                        <a:srgbClr val="252529"/>
                                      </a:solidFill>
                                      <a:latin typeface="Cambria Math" panose="02040503050406030204" pitchFamily="18" charset="0"/>
                                    </a:rPr>
                                  </m:ctrlPr>
                                </m:dPr>
                                <m:e>
                                  <m:sSup>
                                    <m:sSupPr>
                                      <m:ctrlPr>
                                        <a:rPr lang="en-US" sz="1600">
                                          <a:solidFill>
                                            <a:srgbClr val="252529"/>
                                          </a:solidFill>
                                          <a:latin typeface="Cambria Math"/>
                                        </a:rPr>
                                      </m:ctrlPr>
                                    </m:sSupPr>
                                    <m:e>
                                      <m:r>
                                        <a:rPr lang="en-US" sz="1600">
                                          <a:solidFill>
                                            <a:srgbClr val="252529"/>
                                          </a:solidFill>
                                          <a:latin typeface="Cambria Math"/>
                                        </a:rPr>
                                        <m:t>𝐴</m:t>
                                      </m:r>
                                    </m:e>
                                    <m:sup>
                                      <m:r>
                                        <a:rPr lang="en-US" sz="1600">
                                          <a:solidFill>
                                            <a:srgbClr val="252529"/>
                                          </a:solidFill>
                                          <a:latin typeface="Cambria Math"/>
                                        </a:rPr>
                                        <m:t>∗</m:t>
                                      </m:r>
                                    </m:sup>
                                  </m:sSup>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sSup>
                                    <m:sSupPr>
                                      <m:ctrlPr>
                                        <a:rPr lang="en-US" sz="1600" i="1">
                                          <a:solidFill>
                                            <a:srgbClr val="252529"/>
                                          </a:solidFill>
                                          <a:latin typeface="Cambria Math" panose="02040503050406030204" pitchFamily="18" charset="0"/>
                                        </a:rPr>
                                      </m:ctrlPr>
                                    </m:sSupPr>
                                    <m:e>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e>
                                    <m:sup>
                                      <m:r>
                                        <a:rPr lang="en-US" sz="1600">
                                          <a:solidFill>
                                            <a:srgbClr val="252529"/>
                                          </a:solidFill>
                                          <a:latin typeface="Cambria Math"/>
                                        </a:rPr>
                                        <m:t>∗</m:t>
                                      </m:r>
                                    </m:sup>
                                  </m:sSup>
                                </m:e>
                              </m:d>
                              <m:bar>
                                <m:barPr>
                                  <m:pos m:val="bot"/>
                                  <m:ctrlPr>
                                    <a:rPr lang="en-US" sz="1600">
                                      <a:solidFill>
                                        <a:srgbClr val="252529"/>
                                      </a:solidFill>
                                      <a:latin typeface="Cambria Math"/>
                                    </a:rPr>
                                  </m:ctrlPr>
                                </m:barPr>
                                <m:e>
                                  <m:r>
                                    <a:rPr lang="en-US" sz="1600">
                                      <a:solidFill>
                                        <a:srgbClr val="252529"/>
                                      </a:solidFill>
                                      <a:latin typeface="Cambria Math"/>
                                    </a:rPr>
                                    <m:t>𝑥</m:t>
                                  </m:r>
                                </m:e>
                              </m:bar>
                            </m:e>
                            <m:e>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𝑦</m:t>
                                      </m:r>
                                    </m:e>
                                  </m:bar>
                                </m:e>
                              </m:acc>
                              <m:r>
                                <a:rPr lang="en-US" sz="1600">
                                  <a:solidFill>
                                    <a:srgbClr val="252529"/>
                                  </a:solidFill>
                                  <a:latin typeface="Cambria Math"/>
                                </a:rPr>
                                <m:t>=</m:t>
                              </m:r>
                              <m:sSup>
                                <m:sSupPr>
                                  <m:ctrlPr>
                                    <a:rPr lang="en-US" sz="1600" i="1">
                                      <a:solidFill>
                                        <a:srgbClr val="252529"/>
                                      </a:solidFill>
                                      <a:latin typeface="Cambria Math" panose="02040503050406030204" pitchFamily="18" charset="0"/>
                                    </a:rPr>
                                  </m:ctrlPr>
                                </m:sSupPr>
                                <m:e>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𝑥</m:t>
                                  </m:r>
                                </m:e>
                              </m:bar>
                            </m:e>
                            <m:e>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𝑢</m:t>
                                      </m:r>
                                    </m:e>
                                  </m:bar>
                                </m:e>
                              </m:acc>
                              <m:r>
                                <a:rPr lang="en-US" sz="1600">
                                  <a:solidFill>
                                    <a:srgbClr val="252529"/>
                                  </a:solidFill>
                                  <a:latin typeface="Cambria Math"/>
                                </a:rPr>
                                <m:t>=</m:t>
                              </m:r>
                              <m:bar>
                                <m:barPr>
                                  <m:pos m:val="bot"/>
                                  <m:ctrlPr>
                                    <a:rPr lang="en-US" sz="1600">
                                      <a:solidFill>
                                        <a:srgbClr val="252529"/>
                                      </a:solidFill>
                                      <a:latin typeface="Cambria Math"/>
                                    </a:rPr>
                                  </m:ctrlPr>
                                </m:barPr>
                                <m:e>
                                  <m:r>
                                    <a:rPr lang="en-US" sz="1600">
                                      <a:solidFill>
                                        <a:srgbClr val="252529"/>
                                      </a:solidFill>
                                      <a:latin typeface="Cambria Math"/>
                                    </a:rPr>
                                    <m:t>𝑢</m:t>
                                  </m:r>
                                </m:e>
                              </m:bar>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𝑦</m:t>
                                  </m:r>
                                </m:e>
                              </m:bar>
                              <m:r>
                                <a:rPr lang="en-US" sz="1600">
                                  <a:solidFill>
                                    <a:srgbClr val="252529"/>
                                  </a:solidFill>
                                  <a:latin typeface="Cambria Math"/>
                                </a:rPr>
                                <m:t>=0</m:t>
                              </m:r>
                            </m:e>
                          </m:eqArr>
                        </m:e>
                      </m:d>
                    </m:oMath>
                  </m:oMathPara>
                </a14:m>
                <a:endParaRPr sz="1600">
                  <a:latin typeface="Cambria Math"/>
                </a:endParaRPr>
              </a:p>
            </p:txBody>
          </p:sp>
        </mc:Choice>
        <mc:Fallback xmlns:m="http://schemas.openxmlformats.org/officeDocument/2006/math" xmlns="">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The dual filter restores the zero residual.</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4"/>
                                        </p:tgtEl>
                                        <p:attrNameLst>
                                          <p:attrName>style.visibility</p:attrName>
                                        </p:attrNameLst>
                                      </p:cBhvr>
                                      <p:to>
                                        <p:strVal val="visible"/>
                                      </p:to>
                                    </p:set>
                                    <p:animEffect transition="in" filter="fade">
                                      <p:cBhvr>
                                        <p:cTn id="13" dur="300"/>
                                        <p:tgtEl>
                                          <p:spTgt spid="30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06"/>
                                        </p:tgtEl>
                                        <p:attrNameLst>
                                          <p:attrName>style.visibility</p:attrName>
                                        </p:attrNameLst>
                                      </p:cBhvr>
                                      <p:to>
                                        <p:strVal val="visible"/>
                                      </p:to>
                                    </p:set>
                                    <p:animEffect transition="in" filter="fade">
                                      <p:cBhvr>
                                        <p:cTn id="23" dur="300"/>
                                        <p:tgtEl>
                                          <p:spTgt spid="30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2772</TotalTime>
  <Words>4525</Words>
  <Application>Microsoft Office PowerPoint</Application>
  <PresentationFormat>On-screen Show (16:9)</PresentationFormat>
  <Paragraphs>481</Paragraphs>
  <Slides>45</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23</cp:revision>
  <dcterms:created xsi:type="dcterms:W3CDTF">2019-11-27T15:26:32Z</dcterms:created>
  <dcterms:modified xsi:type="dcterms:W3CDTF">2026-09-25T14:28:58Z</dcterms:modified>
</cp:coreProperties>
</file>