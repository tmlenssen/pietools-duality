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51"/>
    <p:sldId id="439" r:id="rId36"/>
    <p:sldId id="421" r:id="rId37"/>
    <p:sldId id="427" r:id="rId38"/>
    <p:sldId id="431" r:id="rId39"/>
    <p:sldId id="428" r:id="rId40"/>
    <p:sldId id="429" r:id="rId41"/>
    <p:sldId id="432" r:id="rId42"/>
    <p:sldId id="430" r:id="rId43"/>
    <p:sldId id="433" r:id="rId44"/>
    <p:sldId id="434" r:id="rId4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51"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39.png"/><Relationship Id="rId12" Type="http://schemas.openxmlformats.org/officeDocument/2006/relationships/image" Target="../media/image33.png"/><Relationship Id="rId17" Type="http://schemas.openxmlformats.org/officeDocument/2006/relationships/image" Target="../media/image38.png"/><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36.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Alternative controller schematic</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Plant label"/>
          <p:cNvSpPr txBox="1"/>
          <p:nvPr/>
        </p:nvSpPr>
        <p:spPr>
          <a:xfrm>
            <a:off x="4876800" y="10668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Take the state-feedback system</a:t>
            </a:r>
          </a:p>
        </p:txBody>
      </p:sp>
      <mc:AlternateContent>
        <mc:Choice Requires="a14">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r>
                                <m:rPr>
                                  <m:sty m:val="p"/>
                                </m:rPr>
                                <a:rPr lang="en-US" sz="1600">
                                  <a:solidFill>
                                    <a:srgbClr val="252529"/>
                                  </a:solidFill>
                                  <a:latin typeface="Cambria Math"/>
                                </a:rPr>
                                <m:t xml:space="preserve">𝑇</m:t>
                              </m:r>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𝑥</m:t>
                                  </m:r>
                                </m:e>
                              </m:acc>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𝐴</m:t>
                              </m:r>
                              <m:r>
                                <m:rPr>
                                  <m:sty m:val="p"/>
                                </m:rPr>
                                <a:rPr lang="en-US" sz="1600">
                                  <a:solidFill>
                                    <a:srgbClr val="252529"/>
                                  </a:solidFill>
                                  <a:latin typeface="Cambria Math"/>
                                </a:rPr>
                                <m:t xml:space="preserve">𝑥</m:t>
                              </m:r>
                              <m:r>
                                <m:rPr>
                                  <m:sty m:val="p"/>
                                </m:rPr>
                                <a:rPr lang="en-US" sz="1600">
                                  <a:solidFill>
                                    <a:srgbClr val="252529"/>
                                  </a:solidFill>
                                  <a:latin typeface="Cambria Math"/>
                                </a:rPr>
                                <m:t xml:space="preserve">+</m:t>
                              </m:r>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r>
                                <m:rPr>
                                  <m:sty m:val="p"/>
                                </m:rPr>
                                <a:rPr lang="en-US" sz="1600">
                                  <a:solidFill>
                                    <a:srgbClr val="252529"/>
                                  </a:solidFill>
                                  <a:latin typeface="Cambria Math"/>
                                </a:rPr>
                                <m:t xml:space="preserve">𝑢</m:t>
                              </m:r>
                            </m:e>
                            <m:e>
                              <m:r>
                                <m:rPr>
                                  <m:sty m:val="p"/>
                                </m:rPr>
                                <a:rPr lang="en-US" sz="1600">
                                  <a:solidFill>
                                    <a:srgbClr val="252529"/>
                                  </a:solidFill>
                                  <a:latin typeface="Cambria Math"/>
                                </a:rPr>
                                <m:t xml:space="preserve">𝑦</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𝑥</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𝑢</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𝐾</m:t>
                              </m:r>
                              <m:r>
                                <m:rPr>
                                  <m:sty m:val="p"/>
                                </m:rPr>
                                <a:rPr lang="en-US" sz="1600">
                                  <a:solidFill>
                                    <a:srgbClr val="252529"/>
                                  </a:solidFill>
                                  <a:latin typeface="Cambria Math"/>
                                </a:rPr>
                                <m:t xml:space="preserve">𝑦</m:t>
                              </m:r>
                            </m:e>
                          </m:eqArr>
                        </m:e>
                      </m:d>
                    </m:oMath>
                  </m:oMathPara>
                </a14:m>
                <a:endParaRPr sz="1600">
                  <a:latin typeface="Cambria Math"/>
                </a:endParaRPr>
              </a:p>
            </p:txBody>
          </p:sp>
        </mc:Choice>
        <mc:Fallback>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3" name="Stage1 filter"/>
              <p:cNvSpPr txBox="1"/>
              <p:nvPr/>
            </p:nvSpPr>
            <p:spPr>
              <a:xfrm>
                <a:off x="4965700" y="2095500"/>
                <a:ext cx="3721100" cy="5461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Θ</m:t>
                      </m:r>
                      <m:r>
                        <m:rPr>
                          <m:sty m:val="p"/>
                        </m:rPr>
                        <a:rPr lang="en-US" sz="1800">
                          <a:solidFill>
                            <a:srgbClr val="252529"/>
                          </a:solidFill>
                          <a:latin typeface="Cambria Math"/>
                        </a:rPr>
                        <m:t xml:space="preserve">=</m:t>
                      </m:r>
                      <m:d>
                        <m:dPr>
                          <m:begChr m:val="["/>
                          <m:endChr m:val="]"/>
                          <m:ctrlPr>
                            <a:rPr lang="en-US" sz="1800">
                              <a:solidFill>
                                <a:srgbClr val="252529"/>
                              </a:solidFill>
                              <a:latin typeface="Cambria Math"/>
                            </a:rPr>
                          </m:ctrlPr>
                        </m:dPr>
                        <m:e>
                          <m:m>
                            <m:mPr>
                              <m:ctrlPr>
                                <a:rPr lang="en-US" sz="1800">
                                  <a:solidFill>
                                    <a:srgbClr val="252529"/>
                                  </a:solidFill>
                                  <a:latin typeface="Cambria Math"/>
                                </a:rPr>
                              </m:ctrlPr>
                            </m:mPr>
                            <m:mr>
                              <m:e>
                                <m:r>
                                  <m:rPr>
                                    <m:sty m:val="p"/>
                                  </m:rPr>
                                  <a:rPr lang="en-US" sz="1800">
                                    <a:solidFill>
                                      <a:srgbClr val="252529"/>
                                    </a:solidFill>
                                    <a:latin typeface="Cambria Math"/>
                                  </a:rPr>
                                  <m:t xml:space="preserve">𝐼</m:t>
                                </m:r>
                              </m:e>
                              <m:e>
                                <m:r>
                                  <m:rPr>
                                    <m:sty m:val="p"/>
                                  </m:rPr>
                                  <a:rPr lang="en-US" sz="1800">
                                    <a:solidFill>
                                      <a:srgbClr val="252529"/>
                                    </a:solidFill>
                                    <a:latin typeface="Cambria Math"/>
                                  </a:rPr>
                                  <m:t xml:space="preserve">0</m:t>
                                </m:r>
                              </m:e>
                            </m:mr>
                            <m:mr>
                              <m:e>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𝐾</m:t>
                                </m:r>
                              </m:e>
                              <m:e>
                                <m:r>
                                  <m:rPr>
                                    <m:sty m:val="p"/>
                                  </m:rPr>
                                  <a:rPr lang="en-US" sz="1800">
                                    <a:solidFill>
                                      <a:srgbClr val="252529"/>
                                    </a:solidFill>
                                    <a:latin typeface="Cambria Math"/>
                                  </a:rPr>
                                  <m:t xml:space="preserve">𝐼</m:t>
                                </m:r>
                              </m:e>
                            </m:mr>
                          </m:m>
                        </m:e>
                      </m:d>
                    </m:oMath>
                  </m:oMathPara>
                </a14:m>
                <a:endParaRPr sz="1800">
                  <a:latin typeface="Cambria Math"/>
                </a:endParaRPr>
              </a:p>
            </p:txBody>
          </p:sp>
        </mc:Choice>
        <mc:Fallback>
          <p:sp>
            <p:nvSpPr>
              <p:cNvPr id="303" name="Stage1 filter"/>
              <p:cNvSpPr txBox="1"/>
              <p:nvPr/>
            </p:nvSpPr>
            <p:spPr>
              <a:xfrm>
                <a:off x="4965700" y="2095500"/>
                <a:ext cx="37211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thus"/>
          <p:cNvSpPr txBox="1"/>
          <p:nvPr/>
        </p:nvSpPr>
        <p:spPr>
          <a:xfrm>
            <a:off x="4876800" y="27940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Thus</a:t>
            </a:r>
          </a:p>
        </p:txBody>
      </p:sp>
      <mc:AlternateContent>
        <mc:Choice Requires="a14">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700">
                              <a:solidFill>
                                <a:srgbClr val="252529"/>
                              </a:solidFill>
                              <a:latin typeface="Cambria Math"/>
                            </a:rPr>
                          </m:ctrlPr>
                        </m:dPr>
                        <m:e>
                          <m:eqArr>
                            <m:eqArrPr>
                              <m:ctrlPr>
                                <a:rPr lang="en-US" sz="1700">
                                  <a:solidFill>
                                    <a:srgbClr val="252529"/>
                                  </a:solidFill>
                                  <a:latin typeface="Cambria Math"/>
                                </a:rPr>
                              </m:ctrlPr>
                            </m:eqArrPr>
                            <m:e>
                              <m:acc>
                                <m:accPr>
                                  <m:chr m:val="̃"/>
                                  <m:ctrlPr>
                                    <a:rPr lang="en-US" sz="1700">
                                      <a:solidFill>
                                        <a:srgbClr val="252529"/>
                                      </a:solidFill>
                                      <a:latin typeface="Cambria Math"/>
                                    </a:rPr>
                                  </m:ctrlPr>
                                </m:accPr>
                                <m:e>
                                  <m:r>
                                    <m:rPr>
                                      <m:sty m:val="p"/>
                                    </m:rPr>
                                    <a:rPr lang="en-US" sz="1700">
                                      <a:solidFill>
                                        <a:srgbClr val="252529"/>
                                      </a:solidFill>
                                      <a:latin typeface="Cambria Math"/>
                                    </a:rPr>
                                    <m:t xml:space="preserve">𝑦</m:t>
                                  </m:r>
                                </m:e>
                              </m:acc>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𝑦</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𝑥</m:t>
                              </m:r>
                            </m:e>
                            <m:e>
                              <m:acc>
                                <m:accPr>
                                  <m:chr m:val="̃"/>
                                  <m:ctrlPr>
                                    <a:rPr lang="en-US" sz="1700">
                                      <a:solidFill>
                                        <a:srgbClr val="252529"/>
                                      </a:solidFill>
                                      <a:latin typeface="Cambria Math"/>
                                    </a:rPr>
                                  </m:ctrlPr>
                                </m:accPr>
                                <m:e>
                                  <m:r>
                                    <m:rPr>
                                      <m:sty m:val="p"/>
                                    </m:rPr>
                                    <a:rPr lang="en-US" sz="1700">
                                      <a:solidFill>
                                        <a:srgbClr val="252529"/>
                                      </a:solidFill>
                                      <a:latin typeface="Cambria Math"/>
                                    </a:rPr>
                                    <m:t xml:space="preserve">𝑢</m:t>
                                  </m:r>
                                </m:e>
                              </m:acc>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𝑢</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𝐾</m:t>
                              </m:r>
                              <m:r>
                                <m:rPr>
                                  <m:sty m:val="p"/>
                                </m:rPr>
                                <a:rPr lang="en-US" sz="1700">
                                  <a:solidFill>
                                    <a:srgbClr val="252529"/>
                                  </a:solidFill>
                                  <a:latin typeface="Cambria Math"/>
                                </a:rPr>
                                <m:t xml:space="preserve">𝑦</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0</m:t>
                              </m:r>
                            </m:e>
                          </m:eqArr>
                        </m:e>
                      </m:d>
                    </m:oMath>
                  </m:oMathPara>
                </a14:m>
                <a:endParaRPr sz="1700">
                  <a:latin typeface="Cambria Math"/>
                </a:endParaRPr>
              </a:p>
            </p:txBody>
          </p:sp>
        </mc:Choice>
        <mc:Fallback>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7592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mc:Choice Requires="a14">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700">
                          <a:solidFill>
                            <a:srgbClr val="252529"/>
                          </a:solidFill>
                          <a:latin typeface="Cambria Math"/>
                        </a:rPr>
                        <m:t xml:space="preserve">𝑇</m:t>
                      </m:r>
                      <m:acc>
                        <m:accPr>
                          <m:chr m:val="̇"/>
                          <m:ctrlPr>
                            <a:rPr lang="en-US" sz="1700">
                              <a:solidFill>
                                <a:srgbClr val="252529"/>
                              </a:solidFill>
                              <a:latin typeface="Cambria Math"/>
                            </a:rPr>
                          </m:ctrlPr>
                        </m:accPr>
                        <m:e>
                          <m:r>
                            <m:rPr>
                              <m:sty m:val="p"/>
                            </m:rPr>
                            <a:rPr lang="en-US" sz="1700">
                              <a:solidFill>
                                <a:srgbClr val="252529"/>
                              </a:solidFill>
                              <a:latin typeface="Cambria Math"/>
                            </a:rPr>
                            <m:t xml:space="preserve">𝑥</m:t>
                          </m:r>
                        </m:e>
                      </m:acc>
                      <m:r>
                        <m:rPr>
                          <m:sty m:val="p"/>
                        </m:rPr>
                        <a:rPr lang="en-US" sz="1700">
                          <a:solidFill>
                            <a:srgbClr val="252529"/>
                          </a:solidFill>
                          <a:latin typeface="Cambria Math"/>
                        </a:rPr>
                        <m:t xml:space="preserve">=</m:t>
                      </m:r>
                      <m:d>
                        <m:dPr>
                          <m:begChr m:val="("/>
                          <m:endChr m:val=")"/>
                          <m:ctrlPr>
                            <a:rPr lang="en-US" sz="1700">
                              <a:solidFill>
                                <a:srgbClr val="252529"/>
                              </a:solidFill>
                              <a:latin typeface="Cambria Math"/>
                            </a:rPr>
                          </m:ctrlPr>
                        </m:dPr>
                        <m:e>
                          <m:r>
                            <m:rPr>
                              <m:sty m:val="p"/>
                            </m:rPr>
                            <a:rPr lang="en-US" sz="1700">
                              <a:solidFill>
                                <a:srgbClr val="252529"/>
                              </a:solidFill>
                              <a:latin typeface="Cambria Math"/>
                            </a:rPr>
                            <m:t xml:space="preserve">𝐴</m:t>
                          </m:r>
                          <m:r>
                            <m:rPr>
                              <m:sty m:val="p"/>
                            </m:rPr>
                            <a:rPr lang="en-US" sz="1700">
                              <a:solidFill>
                                <a:srgbClr val="252529"/>
                              </a:solidFill>
                              <a:latin typeface="Cambria Math"/>
                            </a:rPr>
                            <m:t xml:space="preserve">+</m:t>
                          </m:r>
                          <m:sSub>
                            <m:sSubPr>
                              <m:ctrlPr>
                                <a:rPr lang="en-US" sz="1700">
                                  <a:solidFill>
                                    <a:srgbClr val="252529"/>
                                  </a:solidFill>
                                  <a:latin typeface="Cambria Math"/>
                                </a:rPr>
                              </m:ctrlPr>
                            </m:sSubPr>
                            <m:e>
                              <m:r>
                                <m:rPr>
                                  <m:sty m:val="p"/>
                                </m:rPr>
                                <a:rPr lang="en-US" sz="1700">
                                  <a:solidFill>
                                    <a:srgbClr val="252529"/>
                                  </a:solidFill>
                                  <a:latin typeface="Cambria Math"/>
                                </a:rPr>
                                <m:t xml:space="preserve">𝐵</m:t>
                              </m:r>
                            </m:e>
                            <m:sub>
                              <m:r>
                                <m:rPr>
                                  <m:sty m:val="p"/>
                                </m:rPr>
                                <a:rPr lang="en-US" sz="1700">
                                  <a:solidFill>
                                    <a:srgbClr val="252529"/>
                                  </a:solidFill>
                                  <a:latin typeface="Cambria Math"/>
                                </a:rPr>
                                <m:t xml:space="preserve">u</m:t>
                              </m:r>
                            </m:sub>
                          </m:sSub>
                          <m:r>
                            <m:rPr>
                              <m:sty m:val="p"/>
                            </m:rPr>
                            <a:rPr lang="en-US" sz="1700">
                              <a:solidFill>
                                <a:srgbClr val="252529"/>
                              </a:solidFill>
                              <a:latin typeface="Cambria Math"/>
                            </a:rPr>
                            <m:t xml:space="preserve">𝐾</m:t>
                          </m:r>
                        </m:e>
                      </m:d>
                      <m:r>
                        <m:rPr>
                          <m:sty m:val="p"/>
                        </m:rPr>
                        <a:rPr lang="en-US" sz="1700">
                          <a:solidFill>
                            <a:srgbClr val="252529"/>
                          </a:solidFill>
                          <a:latin typeface="Cambria Math"/>
                        </a:rPr>
                        <m:t xml:space="preserve">𝑥</m:t>
                      </m:r>
                    </m:oMath>
                  </m:oMathPara>
                </a14:m>
                <a:endParaRPr sz="1700">
                  <a:latin typeface="Cambria Math"/>
                </a:endParaRPr>
              </a:p>
            </p:txBody>
          </p:sp>
        </mc:Choice>
        <mc:Fallback>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controller enforces a zero residual.</a:t>
            </a:r>
          </a:p>
        </p:txBody>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mc:AlternateContent>
        <mc:Choice Requires="a14">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600">
                              <a:solidFill>
                                <a:srgbClr val="252529"/>
                              </a:solidFill>
                              <a:latin typeface="Cambria Math"/>
                            </a:rPr>
                          </m:ctrlPr>
                        </m:sSupPr>
                        <m:e>
                          <m:r>
                            <m:rPr>
                              <m:sty m:val="p"/>
                            </m:rPr>
                            <a:rPr lang="en-US" sz="1600">
                              <a:solidFill>
                                <a:srgbClr val="252529"/>
                              </a:solidFill>
                              <a:latin typeface="Cambria Math"/>
                            </a:rPr>
                            <m:t xml:space="preserve">𝐺</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𝑇</m:t>
                                  </m:r>
                                </m:e>
                                <m:sup>
                                  <m:r>
                                    <m:rPr>
                                      <m:sty m:val="p"/>
                                    </m:rPr>
                                    <a:rPr lang="en-US" sz="1600">
                                      <a:solidFill>
                                        <a:srgbClr val="252529"/>
                                      </a:solidFill>
                                      <a:latin typeface="Cambria Math"/>
                                    </a:rPr>
                                    <m:t xml:space="preserve">*</m:t>
                                  </m:r>
                                </m:sup>
                              </m:sSup>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acc>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𝐴</m:t>
                                  </m:r>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r>
                                <m:rPr>
                                  <m:sty m:val="p"/>
                                </m:rPr>
                                <a:rPr lang="en-US" sz="1600">
                                  <a:solidFill>
                                    <a:srgbClr val="252529"/>
                                  </a:solidFill>
                                  <a:latin typeface="Cambria Math"/>
                                </a:rPr>
                                <m:t xml:space="preserve">+</m:t>
                              </m:r>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e>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qArr>
                        </m:e>
                      </m:d>
                    </m:oMath>
                  </m:oMathPara>
                </a14:m>
                <a:endParaRPr sz="1600">
                  <a:latin typeface="Cambria Math"/>
                </a:endParaRPr>
              </a:p>
            </p:txBody>
          </p:sp>
        </mc:Choice>
        <mc:Fallback>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oMath>
                  </m:oMathPara>
                </a14:m>
                <a:endParaRPr sz="1600">
                  <a:latin typeface="Cambria Math"/>
                </a:endParaRPr>
              </a:p>
            </p:txBody>
          </p:sp>
        </mc:Choice>
        <mc:Fallback>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4" name="Stage1 transposed filter"/>
              <p:cNvSpPr txBox="1"/>
              <p:nvPr/>
            </p:nvSpPr>
            <p:spPr>
              <a:xfrm>
                <a:off x="4864100" y="2362200"/>
                <a:ext cx="3898900" cy="5334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800">
                              <a:solidFill>
                                <a:srgbClr val="252529"/>
                              </a:solidFill>
                              <a:latin typeface="Cambria Math"/>
                            </a:rPr>
                          </m:ctrlPr>
                        </m:sSupPr>
                        <m:e>
                          <m:r>
                            <m:rPr>
                              <m:sty m:val="p"/>
                            </m:rPr>
                            <a:rPr lang="en-US" sz="1800">
                              <a:solidFill>
                                <a:srgbClr val="252529"/>
                              </a:solidFill>
                              <a:latin typeface="Cambria Math"/>
                            </a:rPr>
                            <m:t xml:space="preserve">Θ</m:t>
                          </m:r>
                        </m:e>
                        <m:sup>
                          <m:r>
                            <m:rPr>
                              <m:sty m:val="p"/>
                            </m:rPr>
                            <a:rPr lang="en-US" sz="1800">
                              <a:solidFill>
                                <a:srgbClr val="252529"/>
                              </a:solidFill>
                              <a:latin typeface="Cambria Math"/>
                            </a:rPr>
                            <m:t xml:space="preserve">⊤</m:t>
                          </m:r>
                        </m:sup>
                      </m:sSup>
                      <m:r>
                        <m:rPr>
                          <m:sty m:val="p"/>
                        </m:rPr>
                        <a:rPr lang="en-US" sz="1800">
                          <a:solidFill>
                            <a:srgbClr val="252529"/>
                          </a:solidFill>
                          <a:latin typeface="Cambria Math"/>
                        </a:rPr>
                        <m:t xml:space="preserve">=</m:t>
                      </m:r>
                      <m:d>
                        <m:dPr>
                          <m:begChr m:val="["/>
                          <m:endChr m:val="]"/>
                          <m:ctrlPr>
                            <a:rPr lang="en-US" sz="1800">
                              <a:solidFill>
                                <a:srgbClr val="252529"/>
                              </a:solidFill>
                              <a:latin typeface="Cambria Math"/>
                            </a:rPr>
                          </m:ctrlPr>
                        </m:dPr>
                        <m:e>
                          <m:m>
                            <m:mPr>
                              <m:ctrlPr>
                                <a:rPr lang="en-US" sz="1800">
                                  <a:solidFill>
                                    <a:srgbClr val="252529"/>
                                  </a:solidFill>
                                  <a:latin typeface="Cambria Math"/>
                                </a:rPr>
                              </m:ctrlPr>
                            </m:mPr>
                            <m:mr>
                              <m:e>
                                <m:r>
                                  <m:rPr>
                                    <m:sty m:val="p"/>
                                  </m:rPr>
                                  <a:rPr lang="en-US" sz="1800">
                                    <a:solidFill>
                                      <a:srgbClr val="252529"/>
                                    </a:solidFill>
                                    <a:latin typeface="Cambria Math"/>
                                  </a:rPr>
                                  <m:t xml:space="preserve">𝐼</m:t>
                                </m:r>
                              </m:e>
                              <m:e>
                                <m:r>
                                  <m:rPr>
                                    <m:sty m:val="p"/>
                                  </m:rPr>
                                  <a:rPr lang="en-US" sz="1800">
                                    <a:solidFill>
                                      <a:srgbClr val="252529"/>
                                    </a:solidFill>
                                    <a:latin typeface="Cambria Math"/>
                                  </a:rPr>
                                  <m:t xml:space="preserve">−</m:t>
                                </m:r>
                                <m:sSup>
                                  <m:sSupPr>
                                    <m:ctrlPr>
                                      <a:rPr lang="en-US" sz="1800">
                                        <a:solidFill>
                                          <a:srgbClr val="252529"/>
                                        </a:solidFill>
                                        <a:latin typeface="Cambria Math"/>
                                      </a:rPr>
                                    </m:ctrlPr>
                                  </m:sSupPr>
                                  <m:e>
                                    <m:r>
                                      <m:rPr>
                                        <m:sty m:val="p"/>
                                      </m:rPr>
                                      <a:rPr lang="en-US" sz="1800">
                                        <a:solidFill>
                                          <a:srgbClr val="252529"/>
                                        </a:solidFill>
                                        <a:latin typeface="Cambria Math"/>
                                      </a:rPr>
                                      <m:t xml:space="preserve">𝐾</m:t>
                                    </m:r>
                                  </m:e>
                                  <m:sup>
                                    <m:r>
                                      <m:rPr>
                                        <m:sty m:val="p"/>
                                      </m:rPr>
                                      <a:rPr lang="en-US" sz="1800">
                                        <a:solidFill>
                                          <a:srgbClr val="252529"/>
                                        </a:solidFill>
                                        <a:latin typeface="Cambria Math"/>
                                      </a:rPr>
                                      <m:t xml:space="preserve">*</m:t>
                                    </m:r>
                                  </m:sup>
                                </m:sSup>
                              </m:e>
                            </m:mr>
                            <m:mr>
                              <m:e>
                                <m:r>
                                  <m:rPr>
                                    <m:sty m:val="p"/>
                                  </m:rPr>
                                  <a:rPr lang="en-US" sz="1800">
                                    <a:solidFill>
                                      <a:srgbClr val="252529"/>
                                    </a:solidFill>
                                    <a:latin typeface="Cambria Math"/>
                                  </a:rPr>
                                  <m:t xml:space="preserve">0</m:t>
                                </m:r>
                              </m:e>
                              <m:e>
                                <m:r>
                                  <m:rPr>
                                    <m:sty m:val="p"/>
                                  </m:rPr>
                                  <a:rPr lang="en-US" sz="1800">
                                    <a:solidFill>
                                      <a:srgbClr val="252529"/>
                                    </a:solidFill>
                                    <a:latin typeface="Cambria Math"/>
                                  </a:rPr>
                                  <m:t xml:space="preserve">𝐼</m:t>
                                </m:r>
                              </m:e>
                            </m:mr>
                          </m:m>
                        </m:e>
                      </m:d>
                    </m:oMath>
                  </m:oMathPara>
                </a14:m>
                <a:endParaRPr sz="1800">
                  <a:latin typeface="Cambria Math"/>
                </a:endParaRPr>
              </a:p>
            </p:txBody>
          </p:sp>
        </mc:Choice>
        <mc:Fallback>
          <p:sp>
            <p:nvSpPr>
              <p:cNvPr id="304" name="Stage1 transposed filter"/>
              <p:cNvSpPr txBox="1"/>
              <p:nvPr/>
            </p:nvSpPr>
            <p:spPr>
              <a:xfrm>
                <a:off x="4864100" y="2362200"/>
                <a:ext cx="3898900" cy="5334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5" name="Stage2 substitution"/>
          <p:cNvSpPr txBox="1"/>
          <p:nvPr/>
        </p:nvSpPr>
        <p:spPr>
          <a:xfrm>
            <a:off x="4876800" y="30226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mc:Choice Requires="a14">
          <p:sp>
            <p:nvSpPr>
              <p:cNvPr id="306" name="Stage2 resulting system"/>
              <p:cNvSpPr txBox="1"/>
              <p:nvPr/>
            </p:nvSpPr>
            <p:spPr>
              <a:xfrm>
                <a:off x="4864100" y="3365500"/>
                <a:ext cx="3911600" cy="9652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𝑇</m:t>
                                  </m:r>
                                </m:e>
                                <m:sup>
                                  <m:r>
                                    <m:rPr>
                                      <m:sty m:val="p"/>
                                    </m:rPr>
                                    <a:rPr lang="en-US" sz="1600">
                                      <a:solidFill>
                                        <a:srgbClr val="252529"/>
                                      </a:solidFill>
                                      <a:latin typeface="Cambria Math"/>
                                    </a:rPr>
                                    <m:t xml:space="preserve">*</m:t>
                                  </m:r>
                                </m:sup>
                              </m:sSup>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acc>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𝐴</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e>
                              </m:d>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e>
                              </m:acc>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r>
                                    <m:rPr>
                                      <m:sty m:val="p"/>
                                    </m:rPr>
                                    <a:rPr lang="en-US" sz="1600">
                                      <a:solidFill>
                                        <a:srgbClr val="252529"/>
                                      </a:solidFill>
                                      <a:latin typeface="Cambria Math"/>
                                    </a:rPr>
                                    <m:t xml:space="preserve">𝐼</m:t>
                                  </m: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d>
                                        <m:dPr>
                                          <m:begChr m:val="("/>
                                          <m:endChr m:val=")"/>
                                          <m:ctrlPr>
                                            <a:rPr lang="en-US" sz="1600">
                                              <a:solidFill>
                                                <a:srgbClr val="252529"/>
                                              </a:solidFill>
                                              <a:latin typeface="Cambria Math"/>
                                            </a:rPr>
                                          </m:ctrlPr>
                                        </m:d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e>
                                      </m:d>
                                    </m:e>
                                    <m:sup>
                                      <m:r>
                                        <m:rPr>
                                          <m:sty m:val="p"/>
                                        </m:rPr>
                                        <a:rPr lang="en-US" sz="1600">
                                          <a:solidFill>
                                            <a:srgbClr val="252529"/>
                                          </a:solidFill>
                                          <a:latin typeface="Cambria Math"/>
                                        </a:rPr>
                                        <m:t xml:space="preserve">2</m:t>
                                      </m:r>
                                    </m:sup>
                                  </m:sSup>
                                </m:e>
                              </m:d>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e>
                              </m:acc>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r>
                                <m:rPr>
                                  <m:sty m:val="p"/>
                                </m:rPr>
                                <a:rPr lang="en-US" sz="1600">
                                  <a:solidFill>
                                    <a:srgbClr val="C81919"/>
                                  </a:solidFill>
                                  <a:latin typeface="Cambria Math"/>
                                </a:rPr>
                                <m:t xml:space="preserve">≠</m:t>
                              </m:r>
                              <m:r>
                                <m:rPr>
                                  <m:sty m:val="p"/>
                                </m:rPr>
                                <a:rPr lang="en-US" sz="1600">
                                  <a:solidFill>
                                    <a:srgbClr val="C81919"/>
                                  </a:solidFill>
                                  <a:latin typeface="Cambria Math"/>
                                </a:rPr>
                                <m:t xml:space="preserve">0</m:t>
                              </m:r>
                            </m:e>
                          </m:eqArr>
                        </m:e>
                      </m:d>
                    </m:oMath>
                  </m:oMathPara>
                </a14:m>
                <a:endParaRPr sz="1600">
                  <a:latin typeface="Cambria Math"/>
                </a:endParaRPr>
              </a:p>
            </p:txBody>
          </p:sp>
        </mc:Choice>
        <mc:Fallback>
          <p:sp>
            <p:nvSpPr>
              <p:cNvPr id="306" name="Stage2 resulting system"/>
              <p:cNvSpPr txBox="1"/>
              <p:nvPr/>
            </p:nvSpPr>
            <p:spPr>
              <a:xfrm>
                <a:off x="4864100" y="3365500"/>
                <a:ext cx="3911600" cy="965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onclusion"/>
          <p:cNvSpPr txBox="1"/>
          <p:nvPr/>
        </p:nvSpPr>
        <p:spPr>
          <a:xfrm>
            <a:off x="457200" y="4445000"/>
            <a:ext cx="8229600" cy="355600"/>
          </a:xfrm>
          <a:prstGeom prst="rect">
            <a:avLst/>
          </a:prstGeom>
          <a:noFill/>
          <a:ln>
            <a:noFill/>
          </a:ln>
        </p:spPr>
        <p:txBody>
          <a:bodyPr wrap="square" lIns="0" tIns="0" rIns="0" bIns="0" anchor="ctr">
            <a:noAutofit/>
          </a:bodyPr>
          <a:lstStyle/>
          <a:p>
            <a:pPr algn="l"/>
            <a:r>
              <a:rPr lang="en-US" sz="1550" b="1">
                <a:solidFill>
                  <a:srgbClr val="C81919"/>
                </a:solidFill>
                <a:latin typeface="Aptos"/>
              </a:rPr>
              <a:t>Not the dual filtered system: the residual is generally nonzero.</a:t>
            </a:r>
          </a:p>
        </p:txBody>
      </p:sp>
    </p:spTree>
    <p:extLst>
      <p:ext uri="{BB962C8B-B14F-4D97-AF65-F5344CB8AC3E}">
        <p14:creationId xmlns:p14="http://schemas.microsoft.com/office/powerpoint/2010/main" val="1166307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36</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200">
                          <a:solidFill>
                            <a:srgbClr val="252529"/>
                          </a:solidFill>
                          <a:latin typeface="Cambria Math"/>
                        </a:rPr>
                        <m:t xml:space="preserve">𝐃</m:t>
                      </m:r>
                      <m:d>
                        <m:dPr>
                          <m:begChr m:val="("/>
                          <m:endChr m:val=")"/>
                          <m:ctrlPr>
                            <a:rPr lang="en-US" sz="2200">
                              <a:solidFill>
                                <a:srgbClr val="252529"/>
                              </a:solidFill>
                              <a:latin typeface="Cambria Math"/>
                            </a:rPr>
                          </m:ctrlPr>
                        </m:dPr>
                        <m:e>
                          <m:r>
                            <m:rPr>
                              <m:sty m:val="p"/>
                            </m:rPr>
                            <a:rPr lang="en-US" sz="2200">
                              <a:solidFill>
                                <a:srgbClr val="252529"/>
                              </a:solidFill>
                              <a:latin typeface="Cambria Math"/>
                            </a:rPr>
                            <m:t xml:space="preserve">Θ</m:t>
                          </m:r>
                        </m:e>
                      </m:d>
                    </m:oMath>
                  </m:oMathPara>
                </a14:m>
                <a:endParaRPr sz="2200">
                  <a:latin typeface="Cambria Math"/>
                </a:endParaRPr>
              </a:p>
            </p:txBody>
          </p:sp>
        </mc:Choice>
        <mc:Fallback>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introduction"/>
          <p:cNvSpPr txBox="1"/>
          <p:nvPr/>
        </p:nvSpPr>
        <p:spPr>
          <a:xfrm>
            <a:off x="4876800" y="10541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Use the dual filter</a:t>
            </a:r>
          </a:p>
        </p:txBody>
      </p:sp>
      <mc:AlternateContent>
        <mc:Choice Requires="a14">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𝐃</m:t>
                      </m:r>
                      <m:d>
                        <m:dPr>
                          <m:begChr m:val="("/>
                          <m:endChr m:val=")"/>
                          <m:ctrlPr>
                            <a:rPr lang="en-US" sz="1800">
                              <a:solidFill>
                                <a:srgbClr val="252529"/>
                              </a:solidFill>
                              <a:latin typeface="Cambria Math"/>
                            </a:rPr>
                          </m:ctrlPr>
                        </m:dPr>
                        <m:e>
                          <m:r>
                            <m:rPr>
                              <m:sty m:val="p"/>
                            </m:rPr>
                            <a:rPr lang="en-US" sz="1800">
                              <a:solidFill>
                                <a:srgbClr val="252529"/>
                              </a:solidFill>
                              <a:latin typeface="Cambria Math"/>
                            </a:rPr>
                            <m:t xml:space="preserve">Θ</m:t>
                          </m:r>
                        </m:e>
                      </m:d>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m:t>
                      </m:r>
                      <m:sSup>
                        <m:sSupPr>
                          <m:ctrlPr>
                            <a:rPr lang="en-US" sz="1800">
                              <a:solidFill>
                                <a:srgbClr val="252529"/>
                              </a:solidFill>
                              <a:latin typeface="Cambria Math"/>
                            </a:rPr>
                          </m:ctrlPr>
                        </m:sSupPr>
                        <m:e>
                          <m:d>
                            <m:dPr>
                              <m:begChr m:val="("/>
                              <m:endChr m:val=")"/>
                              <m:ctrlPr>
                                <a:rPr lang="en-US" sz="1800">
                                  <a:solidFill>
                                    <a:srgbClr val="252529"/>
                                  </a:solidFill>
                                  <a:latin typeface="Cambria Math"/>
                                </a:rPr>
                              </m:ctrlPr>
                            </m:dPr>
                            <m:e>
                              <m:sSup>
                                <m:sSupPr>
                                  <m:ctrlPr>
                                    <a:rPr lang="en-US" sz="1800">
                                      <a:solidFill>
                                        <a:srgbClr val="252529"/>
                                      </a:solidFill>
                                      <a:latin typeface="Cambria Math"/>
                                    </a:rPr>
                                  </m:ctrlPr>
                                </m:sSupPr>
                                <m:e>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𝐽</m:t>
                                      </m:r>
                                    </m:e>
                                  </m:acc>
                                </m:e>
                                <m:sup>
                                  <m:r>
                                    <m:rPr>
                                      <m:sty m:val="p"/>
                                    </m:rPr>
                                    <a:rPr lang="en-US" sz="1800">
                                      <a:solidFill>
                                        <a:srgbClr val="252529"/>
                                      </a:solidFill>
                                      <a:latin typeface="Cambria Math"/>
                                    </a:rPr>
                                    <m:t xml:space="preserve">*</m:t>
                                  </m:r>
                                </m:sup>
                              </m:sSup>
                              <m:sSup>
                                <m:sSupPr>
                                  <m:ctrlPr>
                                    <a:rPr lang="en-US" sz="1800">
                                      <a:solidFill>
                                        <a:srgbClr val="252529"/>
                                      </a:solidFill>
                                      <a:latin typeface="Cambria Math"/>
                                    </a:rPr>
                                  </m:ctrlPr>
                                </m:sSupPr>
                                <m:e>
                                  <m:r>
                                    <m:rPr>
                                      <m:sty m:val="p"/>
                                    </m:rPr>
                                    <a:rPr lang="en-US" sz="1800">
                                      <a:solidFill>
                                        <a:srgbClr val="252529"/>
                                      </a:solidFill>
                                      <a:latin typeface="Cambria Math"/>
                                    </a:rPr>
                                    <m:t xml:space="preserve">Θ</m:t>
                                  </m:r>
                                </m:e>
                                <m:sup>
                                  <m:r>
                                    <m:rPr>
                                      <m:sty m:val="p"/>
                                    </m:rPr>
                                    <a:rPr lang="en-US" sz="1800">
                                      <a:solidFill>
                                        <a:srgbClr val="252529"/>
                                      </a:solidFill>
                                      <a:latin typeface="Cambria Math"/>
                                    </a:rPr>
                                    <m:t xml:space="preserve">⊤</m:t>
                                  </m:r>
                                </m:sup>
                              </m:sSup>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𝐽</m:t>
                                  </m:r>
                                </m:e>
                              </m:acc>
                            </m:e>
                          </m:d>
                        </m:e>
                        <m:sup>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1</m:t>
                          </m:r>
                        </m:sup>
                      </m:sSup>
                    </m:oMath>
                  </m:oMathPara>
                </a14:m>
                <a:endParaRPr sz="1800">
                  <a:latin typeface="Cambria Math"/>
                </a:endParaRPr>
              </a:p>
            </p:txBody>
          </p:sp>
        </mc:Choice>
        <mc:Fallback>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400">
                              <a:solidFill>
                                <a:srgbClr val="252529"/>
                              </a:solidFill>
                              <a:latin typeface="Cambria Math"/>
                            </a:rPr>
                          </m:ctrlPr>
                        </m:accPr>
                        <m:e>
                          <m:r>
                            <m:rPr>
                              <m:sty m:val="p"/>
                            </m:rPr>
                            <a:rPr lang="en-US" sz="1400">
                              <a:solidFill>
                                <a:srgbClr val="252529"/>
                              </a:solidFill>
                              <a:latin typeface="Cambria Math"/>
                            </a:rPr>
                            <m:t xml:space="preserve">𝐽</m:t>
                          </m:r>
                        </m:e>
                      </m:acc>
                      <m:r>
                        <m:rPr>
                          <m:sty m:val="p"/>
                        </m:rPr>
                        <a:rPr lang="en-US" sz="1400">
                          <a:solidFill>
                            <a:srgbClr val="252529"/>
                          </a:solidFill>
                          <a:latin typeface="Cambria Math"/>
                        </a:rPr>
                        <m:t xml:space="preserve">=</m:t>
                      </m:r>
                      <m:d>
                        <m:dPr>
                          <m:begChr m:val="["/>
                          <m:endChr m:val="]"/>
                          <m:ctrlPr>
                            <a:rPr lang="en-US" sz="1400">
                              <a:solidFill>
                                <a:srgbClr val="252529"/>
                              </a:solidFill>
                              <a:latin typeface="Cambria Math"/>
                            </a:rPr>
                          </m:ctrlPr>
                        </m:dPr>
                        <m:e>
                          <m:m>
                            <m:mPr>
                              <m:ctrlPr>
                                <a:rPr lang="en-US" sz="1400">
                                  <a:solidFill>
                                    <a:srgbClr val="252529"/>
                                  </a:solidFill>
                                  <a:latin typeface="Cambria Math"/>
                                </a:rPr>
                              </m:ctrlPr>
                            </m:mPr>
                            <m:mr>
                              <m:e>
                                <m:r>
                                  <m:rPr>
                                    <m:sty m:val="p"/>
                                  </m:rPr>
                                  <a:rPr lang="en-US" sz="1400">
                                    <a:solidFill>
                                      <a:srgbClr val="252529"/>
                                    </a:solidFill>
                                    <a:latin typeface="Cambria Math"/>
                                  </a:rPr>
                                  <m:t xml:space="preserve">0</m:t>
                                </m:r>
                              </m:e>
                              <m:e>
                                <m:r>
                                  <m:rPr>
                                    <m:sty m:val="p"/>
                                  </m:rPr>
                                  <a:rPr lang="en-US" sz="1400">
                                    <a:solidFill>
                                      <a:srgbClr val="252529"/>
                                    </a:solidFill>
                                    <a:latin typeface="Cambria Math"/>
                                  </a:rPr>
                                  <m:t xml:space="preserve">𝐼</m:t>
                                </m:r>
                              </m:e>
                            </m:mr>
                            <m:mr>
                              <m:e>
                                <m:r>
                                  <m:rPr>
                                    <m:sty m:val="p"/>
                                  </m:rPr>
                                  <a:rPr lang="en-US" sz="1400">
                                    <a:solidFill>
                                      <a:srgbClr val="252529"/>
                                    </a:solidFill>
                                    <a:latin typeface="Cambria Math"/>
                                  </a:rPr>
                                  <m:t xml:space="preserve">−</m:t>
                                </m:r>
                                <m:r>
                                  <m:rPr>
                                    <m:sty m:val="p"/>
                                  </m:rPr>
                                  <a:rPr lang="en-US" sz="1400">
                                    <a:solidFill>
                                      <a:srgbClr val="252529"/>
                                    </a:solidFill>
                                    <a:latin typeface="Cambria Math"/>
                                  </a:rPr>
                                  <m:t xml:space="preserve">𝐼</m:t>
                                </m:r>
                              </m:e>
                              <m:e>
                                <m:r>
                                  <m:rPr>
                                    <m:sty m:val="p"/>
                                  </m:rPr>
                                  <a:rPr lang="en-US" sz="1400">
                                    <a:solidFill>
                                      <a:srgbClr val="252529"/>
                                    </a:solidFill>
                                    <a:latin typeface="Cambria Math"/>
                                  </a:rPr>
                                  <m:t xml:space="preserve">0</m:t>
                                </m:r>
                              </m:e>
                            </m:mr>
                          </m:m>
                        </m:e>
                      </m:d>
                    </m:oMath>
                  </m:oMathPara>
                </a14:m>
                <a:endParaRPr sz="1400">
                  <a:latin typeface="Cambria Math"/>
                </a:endParaRPr>
              </a:p>
            </p:txBody>
          </p:sp>
        </mc:Choice>
        <mc:Fallback>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5" name="Stage2 controller filter"/>
              <p:cNvSpPr txBox="1"/>
              <p:nvPr/>
            </p:nvSpPr>
            <p:spPr>
              <a:xfrm>
                <a:off x="4864100" y="2590800"/>
                <a:ext cx="3898900" cy="5461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𝐃</m:t>
                      </m:r>
                      <m:d>
                        <m:dPr>
                          <m:begChr m:val="("/>
                          <m:endChr m:val=")"/>
                          <m:ctrlPr>
                            <a:rPr lang="en-US" sz="1800">
                              <a:solidFill>
                                <a:srgbClr val="252529"/>
                              </a:solidFill>
                              <a:latin typeface="Cambria Math"/>
                            </a:rPr>
                          </m:ctrlPr>
                        </m:dPr>
                        <m:e>
                          <m:r>
                            <m:rPr>
                              <m:sty m:val="p"/>
                            </m:rPr>
                            <a:rPr lang="en-US" sz="1800">
                              <a:solidFill>
                                <a:srgbClr val="252529"/>
                              </a:solidFill>
                              <a:latin typeface="Cambria Math"/>
                            </a:rPr>
                            <m:t xml:space="preserve">Θ</m:t>
                          </m:r>
                        </m:e>
                      </m:d>
                      <m:r>
                        <m:rPr>
                          <m:sty m:val="p"/>
                        </m:rPr>
                        <a:rPr lang="en-US" sz="1800">
                          <a:solidFill>
                            <a:srgbClr val="252529"/>
                          </a:solidFill>
                          <a:latin typeface="Cambria Math"/>
                        </a:rPr>
                        <m:t xml:space="preserve">=</m:t>
                      </m:r>
                      <m:d>
                        <m:dPr>
                          <m:begChr m:val="["/>
                          <m:endChr m:val="]"/>
                          <m:ctrlPr>
                            <a:rPr lang="en-US" sz="1800">
                              <a:solidFill>
                                <a:srgbClr val="252529"/>
                              </a:solidFill>
                              <a:latin typeface="Cambria Math"/>
                            </a:rPr>
                          </m:ctrlPr>
                        </m:dPr>
                        <m:e>
                          <m:m>
                            <m:mPr>
                              <m:ctrlPr>
                                <a:rPr lang="en-US" sz="1800">
                                  <a:solidFill>
                                    <a:srgbClr val="252529"/>
                                  </a:solidFill>
                                  <a:latin typeface="Cambria Math"/>
                                </a:rPr>
                              </m:ctrlPr>
                            </m:mPr>
                            <m:mr>
                              <m:e>
                                <m:r>
                                  <m:rPr>
                                    <m:sty m:val="p"/>
                                  </m:rPr>
                                  <a:rPr lang="en-US" sz="1800">
                                    <a:solidFill>
                                      <a:srgbClr val="252529"/>
                                    </a:solidFill>
                                    <a:latin typeface="Cambria Math"/>
                                  </a:rPr>
                                  <m:t xml:space="preserve">𝐼</m:t>
                                </m:r>
                              </m:e>
                              <m:e>
                                <m:r>
                                  <m:rPr>
                                    <m:sty m:val="p"/>
                                  </m:rPr>
                                  <a:rPr lang="en-US" sz="1800">
                                    <a:solidFill>
                                      <a:srgbClr val="252529"/>
                                    </a:solidFill>
                                    <a:latin typeface="Cambria Math"/>
                                  </a:rPr>
                                  <m:t xml:space="preserve">0</m:t>
                                </m:r>
                              </m:e>
                            </m:mr>
                            <m:mr>
                              <m:e>
                                <m:r>
                                  <m:rPr>
                                    <m:sty m:val="p"/>
                                  </m:rPr>
                                  <a:rPr lang="en-US" sz="1800">
                                    <a:solidFill>
                                      <a:srgbClr val="252529"/>
                                    </a:solidFill>
                                    <a:latin typeface="Cambria Math"/>
                                  </a:rPr>
                                  <m:t xml:space="preserve">−</m:t>
                                </m:r>
                                <m:sSup>
                                  <m:sSupPr>
                                    <m:ctrlPr>
                                      <a:rPr lang="en-US" sz="1800">
                                        <a:solidFill>
                                          <a:srgbClr val="252529"/>
                                        </a:solidFill>
                                        <a:latin typeface="Cambria Math"/>
                                      </a:rPr>
                                    </m:ctrlPr>
                                  </m:sSupPr>
                                  <m:e>
                                    <m:r>
                                      <m:rPr>
                                        <m:sty m:val="p"/>
                                      </m:rPr>
                                      <a:rPr lang="en-US" sz="1800">
                                        <a:solidFill>
                                          <a:srgbClr val="252529"/>
                                        </a:solidFill>
                                        <a:latin typeface="Cambria Math"/>
                                      </a:rPr>
                                      <m:t xml:space="preserve">𝐾</m:t>
                                    </m:r>
                                  </m:e>
                                  <m:sup>
                                    <m:r>
                                      <m:rPr>
                                        <m:sty m:val="p"/>
                                      </m:rPr>
                                      <a:rPr lang="en-US" sz="1800">
                                        <a:solidFill>
                                          <a:srgbClr val="252529"/>
                                        </a:solidFill>
                                        <a:latin typeface="Cambria Math"/>
                                      </a:rPr>
                                      <m:t xml:space="preserve">*</m:t>
                                    </m:r>
                                  </m:sup>
                                </m:sSup>
                              </m:e>
                              <m:e>
                                <m:r>
                                  <m:rPr>
                                    <m:sty m:val="p"/>
                                  </m:rPr>
                                  <a:rPr lang="en-US" sz="1800">
                                    <a:solidFill>
                                      <a:srgbClr val="252529"/>
                                    </a:solidFill>
                                    <a:latin typeface="Cambria Math"/>
                                  </a:rPr>
                                  <m:t xml:space="preserve">𝐼</m:t>
                                </m:r>
                              </m:e>
                            </m:mr>
                          </m:m>
                        </m:e>
                      </m:d>
                    </m:oMath>
                  </m:oMathPara>
                </a14:m>
                <a:endParaRPr sz="1800">
                  <a:latin typeface="Cambria Math"/>
                </a:endParaRPr>
              </a:p>
            </p:txBody>
          </p:sp>
        </mc:Choice>
        <mc:Fallback>
          <p:sp>
            <p:nvSpPr>
              <p:cNvPr id="305" name="Stage2 controller filter"/>
              <p:cNvSpPr txBox="1"/>
              <p:nvPr/>
            </p:nvSpPr>
            <p:spPr>
              <a:xfrm>
                <a:off x="4864100" y="25908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2639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mc:Choice Requires="a14">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𝑇</m:t>
                                  </m:r>
                                </m:e>
                                <m:sup>
                                  <m:r>
                                    <m:rPr>
                                      <m:sty m:val="p"/>
                                    </m:rPr>
                                    <a:rPr lang="en-US" sz="1600">
                                      <a:solidFill>
                                        <a:srgbClr val="252529"/>
                                      </a:solidFill>
                                      <a:latin typeface="Cambria Math"/>
                                    </a:rPr>
                                    <m:t xml:space="preserve">*</m:t>
                                  </m:r>
                                </m:sup>
                              </m:sSup>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acc>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𝐴</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e>
                              </m:d>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e>
                              </m:acc>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e>
                              </m:acc>
                              <m:r>
                                <m:rPr>
                                  <m:sty m:val="p"/>
                                </m:rPr>
                                <a:rPr lang="en-US" sz="1600">
                                  <a:solidFill>
                                    <a:srgbClr val="252529"/>
                                  </a:solidFill>
                                  <a:latin typeface="Cambria Math"/>
                                </a:rPr>
                                <m:t xml:space="preserve">=</m:t>
                              </m:r>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0</m:t>
                              </m:r>
                            </m:e>
                          </m:eqArr>
                        </m:e>
                      </m:d>
                    </m:oMath>
                  </m:oMathPara>
                </a14:m>
                <a:endParaRPr sz="1600">
                  <a:latin typeface="Cambria Math"/>
                </a:endParaRPr>
              </a:p>
            </p:txBody>
          </p:sp>
        </mc:Choice>
        <mc:Fallback>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dual filter restores the zero residual.</a:t>
            </a:r>
          </a:p>
        </p:txBody>
      </p:sp>
    </p:spTree>
    <p:extLst>
      <p:ext uri="{BB962C8B-B14F-4D97-AF65-F5344CB8AC3E}">
        <p14:creationId xmlns:p14="http://schemas.microsoft.com/office/powerpoint/2010/main" val="1166307963"/>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4481</Words>
  <Application>Microsoft Office PowerPoint</Application>
  <PresentationFormat>On-screen Show (16:9)</PresentationFormat>
  <Paragraphs>463</Paragraphs>
  <Slides>44</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22</cp:revision>
  <dcterms:created xsi:type="dcterms:W3CDTF">2019-11-27T15:26:32Z</dcterms:created>
  <dcterms:modified xsi:type="dcterms:W3CDTF">2026-09-25T14:02:56Z</dcterms:modified>
</cp:coreProperties>
</file>