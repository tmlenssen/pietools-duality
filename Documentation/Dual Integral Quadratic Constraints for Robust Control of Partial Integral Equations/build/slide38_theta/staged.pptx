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3" r:id="rId42"/>
    <p:sldId id="441" r:id="rId43"/>
    <p:sldId id="471" r:id="rId44"/>
    <p:sldId id="442" r:id="rId45"/>
    <p:sldId id="443" r:id="rId46"/>
    <p:sldId id="450" r:id="rId47"/>
    <p:sldId id="451" r:id="rId48"/>
    <p:sldId id="452"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6F9C"/>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1.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png"/><Relationship Id="rId2" Type="http://schemas.openxmlformats.org/officeDocument/2006/relationships/notesSlide" Target="../notesSlides/notesSlide33.xml"/><Relationship Id="rId16" Type="http://schemas.openxmlformats.org/officeDocument/2006/relationships/image" Target="../media/image112.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1.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3.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4.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6.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7.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8.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9.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1.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22.png"/></Relationships>
</file>

<file path=ppt/slides/_rels/slide5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3.png"/></Relationships>
</file>

<file path=ppt/slides/_rels/slide5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mc:Choice xmlns:a14="http://schemas.microsoft.com/office/drawing/2010/main"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mc:Choice xmlns:a14="http://schemas.microsoft.com/office/drawing/2010/main"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000000"/>
                          </a:solidFill>
                          <a:latin typeface="Cambria Math"/>
                        </a:rPr>
                        <m:t>≥0</m:t>
                      </m:r>
                    </m:oMath>
                  </m:oMathPara>
                </a14:m>
                <a:endParaRPr sz="2200" dirty="0"/>
              </a:p>
            </p:txBody>
          </p:sp>
        </mc:Choice>
        <mc:Fallback>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aseline="0" b="1" i="0" u="none">
                <a:solidFill>
                  <a:srgbClr val="252529"/>
                </a:solidFill>
                <a:latin typeface="Aptos"/>
                <a:ea typeface="Aptos"/>
                <a:cs typeface="Aptos"/>
              </a:rPr>
              <a:t xml:space="preserve">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747B82"/>
                </a:solidFill>
                <a:latin typeface="Aptos"/>
                <a:ea typeface="Aptos"/>
                <a:cs typeface="Aptos"/>
              </a:rPr>
              <a:t xml:space="preserve">For the sector we just analysed:</a:t>
            </a:r>
            <a:endParaRPr sz="1600"/>
          </a:p>
        </p:txBody>
      </p:sp>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100">
                      <a:solidFill>
                        <a:srgbClr val="252529"/>
                      </a:solidFill>
                      <a:latin typeface="Cambria Math"/>
                    </a:rPr>
                    <m:t xml:space="preserve">Θ</m:t>
                  </m:r>
                  <m:d>
                    <m:dPr>
                      <m:begChr m:val="("/>
                      <m:endChr m:val=")"/>
                      <m:ctrlPr>
                        <a:rPr sz="2100">
                          <a:solidFill>
                            <a:srgbClr val="252529"/>
                          </a:solidFill>
                          <a:latin typeface="Cambria Math"/>
                        </a:rPr>
                      </m:ctrlPr>
                    </m:dPr>
                    <m:e>
                      <m:r>
                        <m:rPr>
                          <m:sty m:val="i"/>
                        </m:rPr>
                        <a:rPr sz="2100">
                          <a:solidFill>
                            <a:srgbClr val="252529"/>
                          </a:solidFill>
                          <a:latin typeface="Cambria Math"/>
                        </a:rPr>
                        <m:t xml:space="preserve">v</m:t>
                      </m:r>
                    </m:e>
                  </m:d>
                  <m:r>
                    <m:rPr>
                      <m:sty m:val="p"/>
                    </m:rPr>
                    <a:rPr sz="2100">
                      <a:solidFill>
                        <a:srgbClr val="252529"/>
                      </a:solidFill>
                      <a:latin typeface="Cambria Math"/>
                    </a:rPr>
                    <m:t xml:space="preserve">=</m:t>
                  </m:r>
                  <m:d>
                    <m:dPr>
                      <m:begChr m:val="["/>
                      <m:endChr m:val="]"/>
                      <m:ctrlPr>
                        <a:rPr sz="2100">
                          <a:solidFill>
                            <a:srgbClr val="252529"/>
                          </a:solidFill>
                          <a:latin typeface="Cambria Math"/>
                        </a:rPr>
                      </m:ctrlPr>
                    </m:dPr>
                    <m:e>
                      <m:m>
                        <m:mPr>
                          <m:mcs>
                            <m:mc>
                              <m:mcPr>
                                <m:count m:val="2"/>
                                <m:mcJc m:val="center"/>
                              </m:mcPr>
                            </m:mc>
                          </m:mcs>
                          <m:ctrlPr>
                            <a:rPr sz="2100">
                              <a:solidFill>
                                <a:srgbClr val="252529"/>
                              </a:solidFill>
                              <a:latin typeface="Cambria Math"/>
                            </a:rPr>
                          </m:ctrlPr>
                        </m:mPr>
                        <m:mr>
                          <m:e>
                            <m:r>
                              <m:rPr>
                                <m:sty m:val="i"/>
                              </m:rPr>
                              <a:rPr sz="2100">
                                <a:solidFill>
                                  <a:srgbClr val="252529"/>
                                </a:solidFill>
                                <a:latin typeface="Cambria Math"/>
                              </a:rPr>
                              <m:t xml:space="preserve">v</m:t>
                            </m:r>
                          </m:e>
                          <m:e>
                            <m:r>
                              <m:rPr>
                                <m:sty m:val="p"/>
                              </m:rPr>
                              <a:rPr sz="2100">
                                <a:solidFill>
                                  <a:srgbClr val="252529"/>
                                </a:solidFill>
                                <a:latin typeface="Cambria Math"/>
                              </a:rPr>
                              <m:t xml:space="preserve">1</m:t>
                            </m:r>
                          </m:e>
                        </m:mr>
                        <m:mr>
                          <m:e>
                            <m:r>
                              <m:rPr>
                                <m:sty m:val="i"/>
                              </m:rPr>
                              <a:rPr sz="2100">
                                <a:solidFill>
                                  <a:srgbClr val="252529"/>
                                </a:solidFill>
                                <a:latin typeface="Cambria Math"/>
                              </a:rPr>
                              <m:t xml:space="preserve">v</m:t>
                            </m:r>
                          </m:e>
                          <m:e>
                            <m:r>
                              <m:rPr>
                                <m:sty m:val="p"/>
                              </m:rPr>
                              <a:rPr sz="2100">
                                <a:solidFill>
                                  <a:srgbClr val="252529"/>
                                </a:solidFill>
                                <a:latin typeface="Cambria Math"/>
                              </a:rPr>
                              <m:t xml:space="preserve">−1</m:t>
                            </m:r>
                          </m:e>
                        </m:mr>
                      </m:m>
                    </m:e>
                  </m:d>
                  <m:d>
                    <m:dPr>
                      <m:begChr m:val="["/>
                      <m:endChr m:val="]"/>
                      <m:ctrlPr>
                        <a:rPr sz="2100">
                          <a:solidFill>
                            <a:srgbClr val="252529"/>
                          </a:solidFill>
                          <a:latin typeface="Cambria Math"/>
                        </a:rPr>
                      </m:ctrlPr>
                    </m:dPr>
                    <m:e>
                      <m:m>
                        <m:mPr>
                          <m:mcs>
                            <m:mc>
                              <m:mcPr>
                                <m:count m:val="2"/>
                                <m:mcJc m:val="center"/>
                              </m:mcPr>
                            </m:mc>
                          </m:mcs>
                          <m:ctrlPr>
                            <a:rPr sz="2100">
                              <a:solidFill>
                                <a:srgbClr val="252529"/>
                              </a:solidFill>
                              <a:latin typeface="Cambria Math"/>
                            </a:rPr>
                          </m:ctrlPr>
                        </m:mPr>
                        <m:mr>
                          <m:e>
                            <m:r>
                              <m:rPr>
                                <m:sty m:val="p"/>
                              </m:rPr>
                              <a:rPr sz="2100">
                                <a:solidFill>
                                  <a:srgbClr val="252529"/>
                                </a:solidFill>
                                <a:latin typeface="Cambria Math"/>
                              </a:rPr>
                              <m:t xml:space="preserve">0.735</m:t>
                            </m:r>
                          </m:e>
                          <m:e>
                            <m:r>
                              <m:rPr>
                                <m:sty m:val="p"/>
                              </m:rPr>
                              <a:rPr sz="2100">
                                <a:solidFill>
                                  <a:srgbClr val="252529"/>
                                </a:solidFill>
                                <a:latin typeface="Cambria Math"/>
                              </a:rPr>
                              <m:t xml:space="preserve">−1</m:t>
                            </m:r>
                          </m:e>
                        </m:mr>
                        <m:mr>
                          <m:e>
                            <m:r>
                              <m:rPr>
                                <m:sty m:val="p"/>
                              </m:rPr>
                              <a:rPr sz="2100">
                                <a:solidFill>
                                  <a:srgbClr val="252529"/>
                                </a:solidFill>
                                <a:latin typeface="Cambria Math"/>
                              </a:rPr>
                              <m:t xml:space="preserve">0</m:t>
                            </m:r>
                          </m:e>
                          <m:e>
                            <m:r>
                              <m:rPr>
                                <m:sty m:val="p"/>
                              </m:rPr>
                              <a:rPr sz="2100">
                                <a:solidFill>
                                  <a:srgbClr val="252529"/>
                                </a:solidFill>
                                <a:latin typeface="Cambria Math"/>
                              </a:rPr>
                              <m:t xml:space="preserve">1</m:t>
                            </m:r>
                          </m:e>
                        </m:mr>
                      </m:m>
                    </m:e>
                  </m:d>
                </m:oMath>
              </m:oMathPara>
            </a14:m>
            <a:endParaRPr sz="2100"/>
          </a:p>
        </p:txBody>
      </p:sp>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800">
                      <a:solidFill>
                        <a:srgbClr val="252529"/>
                      </a:solidFill>
                      <a:latin typeface="Cambria Math"/>
                    </a:rPr>
                    <m:t xml:space="preserve">v&gt;0</m:t>
                  </m:r>
                </m:oMath>
              </m:oMathPara>
            </a14:m>
            <a:endParaRPr sz="1800"/>
          </a:p>
        </p:txBody>
      </p:sp>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aseline="0" b="0" i="0" u="none">
                <a:solidFill>
                  <a:srgbClr val="C81919"/>
                </a:solidFill>
                <a:latin typeface="Aptos"/>
                <a:ea typeface="Aptos"/>
                <a:cs typeface="Aptos"/>
              </a:rPr>
              <a:t xml:space="preserve">•</a:t>
            </a:r>
            <a:endParaRPr sz="1800"/>
          </a:p>
        </p:txBody>
      </p:sp>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aseline="0" b="0" i="0" u="none">
                <a:solidFill>
                  <a:srgbClr val="252529"/>
                </a:solidFill>
                <a:latin typeface="Aptos"/>
                <a:ea typeface="Aptos"/>
                <a:cs typeface="Aptos"/>
              </a:rPr>
              <a:t xml:space="preserve">This static Θ describes Δ</a:t>
            </a:r>
            <a:endParaRPr sz="1700"/>
          </a:p>
        </p:txBody>
      </p:sp>
      <p:sp>
        <p:nvSpPr>
          <p:cNvPr id="113" name="Specific uncertainty continuation"/>
          <p:cNvSpPr/>
          <p:nvPr/>
        </p:nvSpPr>
        <p:spPr>
          <a:xfrm>
            <a:off x="4178300" y="2936875"/>
            <a:ext cx="4572000" cy="323850"/>
          </a:xfrm>
          <a:prstGeom prst="rect">
            <a:avLst/>
          </a:prstGeom>
          <a:noFill/>
          <a:ln>
            <a:noFill/>
          </a:ln>
        </p:spPr>
        <p:txBody>
          <a:bodyPr wrap="none" lIns="0" tIns="0" rIns="0" bIns="0" anchor="ctr">
            <a:noAutofit/>
          </a:bodyPr>
          <a:lstStyle/>
          <a:p>
            <a:pPr algn="l">
              <a:buNone/>
            </a:pPr>
            <a:r>
              <a:rPr lang="en-GB" sz="1700" baseline="0" b="0" i="0" u="none">
                <a:solidFill>
                  <a:srgbClr val="252529"/>
                </a:solidFill>
                <a:latin typeface="Aptos"/>
                <a:ea typeface="Aptos"/>
                <a:cs typeface="Aptos"/>
              </a:rPr>
              <a:t xml:space="preserve">in the sector [0, 0.735].</a:t>
            </a:r>
            <a:endParaRPr sz="1700"/>
          </a:p>
        </p:txBody>
      </p:sp>
      <p:sp>
        <p:nvSpPr>
          <p:cNvPr id="114" name="Analyse uncertainty bullet"/>
          <p:cNvSpPr/>
          <p:nvPr/>
        </p:nvSpPr>
        <p:spPr>
          <a:xfrm>
            <a:off x="3937000" y="3397250"/>
            <a:ext cx="152400" cy="342900"/>
          </a:xfrm>
          <a:prstGeom prst="rect">
            <a:avLst/>
          </a:prstGeom>
          <a:noFill/>
          <a:ln>
            <a:noFill/>
          </a:ln>
        </p:spPr>
        <p:txBody>
          <a:bodyPr wrap="none" lIns="0" tIns="0" rIns="0" bIns="0" anchor="ctr">
            <a:noAutofit/>
          </a:bodyPr>
          <a:lstStyle/>
          <a:p>
            <a:pPr algn="ctr">
              <a:buNone/>
            </a:pPr>
            <a:r>
              <a:rPr lang="en-GB" sz="1800" baseline="0" b="0" i="0" u="none">
                <a:solidFill>
                  <a:srgbClr val="C81919"/>
                </a:solidFill>
                <a:latin typeface="Aptos"/>
                <a:ea typeface="Aptos"/>
                <a:cs typeface="Aptos"/>
              </a:rPr>
              <a:t xml:space="preserve">•</a:t>
            </a:r>
            <a:endParaRPr sz="1800"/>
          </a:p>
        </p:txBody>
      </p:sp>
      <p:sp>
        <p:nvSpPr>
          <p:cNvPr id="115" name="Analyse uncertainty"/>
          <p:cNvSpPr/>
          <p:nvPr/>
        </p:nvSpPr>
        <p:spPr>
          <a:xfrm>
            <a:off x="4178300" y="3406775"/>
            <a:ext cx="4572000" cy="323850"/>
          </a:xfrm>
          <a:prstGeom prst="rect">
            <a:avLst/>
          </a:prstGeom>
          <a:noFill/>
          <a:ln>
            <a:noFill/>
          </a:ln>
        </p:spPr>
        <p:txBody>
          <a:bodyPr wrap="none" lIns="0" tIns="0" rIns="0" bIns="0" anchor="ctr">
            <a:noAutofit/>
          </a:bodyPr>
          <a:lstStyle/>
          <a:p>
            <a:pPr algn="l">
              <a:buNone/>
            </a:pPr>
            <a:r>
              <a:rPr lang="en-GB" sz="1700" baseline="0" b="0" i="0" u="none">
                <a:solidFill>
                  <a:srgbClr val="252529"/>
                </a:solidFill>
                <a:latin typeface="Aptos"/>
                <a:ea typeface="Aptos"/>
                <a:cs typeface="Aptos"/>
              </a:rPr>
              <a:t xml:space="preserve">Analyse each Δ to find</a:t>
            </a:r>
            <a:endParaRPr sz="1700"/>
          </a:p>
        </p:txBody>
      </p:sp>
      <p:sp>
        <p:nvSpPr>
          <p:cNvPr id="116" name="Analyse uncertainty continuation"/>
          <p:cNvSpPr/>
          <p:nvPr/>
        </p:nvSpPr>
        <p:spPr>
          <a:xfrm>
            <a:off x="4178300" y="3711575"/>
            <a:ext cx="4572000" cy="323850"/>
          </a:xfrm>
          <a:prstGeom prst="rect">
            <a:avLst/>
          </a:prstGeom>
          <a:noFill/>
          <a:ln>
            <a:noFill/>
          </a:ln>
        </p:spPr>
        <p:txBody>
          <a:bodyPr wrap="none" lIns="0" tIns="0" rIns="0" bIns="0" anchor="ctr">
            <a:noAutofit/>
          </a:bodyPr>
          <a:lstStyle/>
          <a:p>
            <a:pPr algn="l">
              <a:buNone/>
            </a:pPr>
            <a:r>
              <a:rPr lang="en-GB" sz="1700" baseline="0" b="0" i="0" u="none">
                <a:solidFill>
                  <a:srgbClr val="252529"/>
                </a:solidFill>
                <a:latin typeface="Aptos"/>
                <a:ea typeface="Aptos"/>
                <a:cs typeface="Aptos"/>
              </a:rPr>
              <a:t xml:space="preserve">a suitable Θ.</a:t>
            </a:r>
            <a:endParaRPr sz="1700"/>
          </a:p>
        </p:txBody>
      </p:sp>
      <p:sp>
        <p:nvSpPr>
          <p:cNvPr id="117" name="Dynamic Theta bullet"/>
          <p:cNvSpPr/>
          <p:nvPr/>
        </p:nvSpPr>
        <p:spPr>
          <a:xfrm>
            <a:off x="3937000" y="4171950"/>
            <a:ext cx="152400" cy="342900"/>
          </a:xfrm>
          <a:prstGeom prst="rect">
            <a:avLst/>
          </a:prstGeom>
          <a:noFill/>
          <a:ln>
            <a:noFill/>
          </a:ln>
        </p:spPr>
        <p:txBody>
          <a:bodyPr wrap="none" lIns="0" tIns="0" rIns="0" bIns="0" anchor="ctr">
            <a:noAutofit/>
          </a:bodyPr>
          <a:lstStyle/>
          <a:p>
            <a:pPr algn="ctr">
              <a:buNone/>
            </a:pPr>
            <a:r>
              <a:rPr lang="en-GB" sz="1800" baseline="0" b="0" i="0" u="none">
                <a:solidFill>
                  <a:srgbClr val="C81919"/>
                </a:solidFill>
                <a:latin typeface="Aptos"/>
                <a:ea typeface="Aptos"/>
                <a:cs typeface="Aptos"/>
              </a:rPr>
              <a:t xml:space="preserve">•</a:t>
            </a:r>
            <a:endParaRPr sz="1800"/>
          </a:p>
        </p:txBody>
      </p:sp>
      <p:sp>
        <p:nvSpPr>
          <p:cNvPr id="118" name="Dynamic Theta"/>
          <p:cNvSpPr/>
          <p:nvPr/>
        </p:nvSpPr>
        <p:spPr>
          <a:xfrm>
            <a:off x="4178300" y="4181475"/>
            <a:ext cx="4572000" cy="323850"/>
          </a:xfrm>
          <a:prstGeom prst="rect">
            <a:avLst/>
          </a:prstGeom>
          <a:noFill/>
          <a:ln>
            <a:noFill/>
          </a:ln>
        </p:spPr>
        <p:txBody>
          <a:bodyPr wrap="none" lIns="0" tIns="0" rIns="0" bIns="0" anchor="ctr">
            <a:noAutofit/>
          </a:bodyPr>
          <a:lstStyle/>
          <a:p>
            <a:pPr algn="l">
              <a:buNone/>
            </a:pPr>
            <a:r>
              <a:rPr lang="en-GB" sz="1700" baseline="0" b="0" i="0" u="none">
                <a:solidFill>
                  <a:srgbClr val="252529"/>
                </a:solidFill>
                <a:latin typeface="Aptos"/>
                <a:ea typeface="Aptos"/>
                <a:cs typeface="Aptos"/>
              </a:rPr>
              <a:t xml:space="preserve">Θ can also be dynamic,</a:t>
            </a:r>
            <a:endParaRPr sz="1700"/>
          </a:p>
        </p:txBody>
      </p:sp>
      <p:sp>
        <p:nvSpPr>
          <p:cNvPr id="119" name="Dynamic Theta continuation"/>
          <p:cNvSpPr/>
          <p:nvPr/>
        </p:nvSpPr>
        <p:spPr>
          <a:xfrm>
            <a:off x="4178300" y="4486275"/>
            <a:ext cx="4572000" cy="323850"/>
          </a:xfrm>
          <a:prstGeom prst="rect">
            <a:avLst/>
          </a:prstGeom>
          <a:noFill/>
          <a:ln>
            <a:noFill/>
          </a:ln>
        </p:spPr>
        <p:txBody>
          <a:bodyPr wrap="none" lIns="0" tIns="0" rIns="0" bIns="0" anchor="ctr">
            <a:noAutofit/>
          </a:bodyPr>
          <a:lstStyle/>
          <a:p>
            <a:pPr algn="l">
              <a:buNone/>
            </a:pPr>
            <a:r>
              <a:rPr lang="en-GB" sz="1700" baseline="0" b="0" i="0" u="none">
                <a:solidFill>
                  <a:srgbClr val="252529"/>
                </a:solidFill>
                <a:latin typeface="Aptos"/>
                <a:ea typeface="Aptos"/>
                <a:cs typeface="Aptos"/>
              </a:rPr>
              <a:t xml:space="preserve">with its own internal states.</a:t>
            </a:r>
            <a:endParaRPr sz="1700"/>
          </a:p>
        </p:txBody>
      </p:sp>
    </p:spTree>
    <p:extLst>
      <p:ext uri="{BB962C8B-B14F-4D97-AF65-F5344CB8AC3E}">
        <p14:creationId xmlns:p14="http://schemas.microsoft.com/office/powerpoint/2010/main" val="12022653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47</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48</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5648</TotalTime>
  <Words>8130</Words>
  <Application>Microsoft Office PowerPoint</Application>
  <PresentationFormat>On-screen Show (16:9)</PresentationFormat>
  <Paragraphs>1081</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48</cp:revision>
  <dcterms:created xsi:type="dcterms:W3CDTF">2019-11-27T15:26:32Z</dcterms:created>
  <dcterms:modified xsi:type="dcterms:W3CDTF">2026-09-27T19:34:15Z</dcterms:modified>
</cp:coreProperties>
</file>