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3" r:id="rId42"/>
    <p:sldId id="441" r:id="rId43"/>
    <p:sldId id="471" r:id="rId44"/>
    <p:sldId id="442" r:id="rId45"/>
    <p:sldId id="443" r:id="rId46"/>
    <p:sldId id="450" r:id="rId47"/>
    <p:sldId id="451" r:id="rId48"/>
    <p:sldId id="452"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6F9C"/>
    <a:srgbClr val="000000"/>
    <a:srgbClr val="C81919"/>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268" y="102"/>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10.png"/><Relationship Id="rId1" Type="http://schemas.openxmlformats.org/officeDocument/2006/relationships/slideLayout" Target="../slideLayouts/slideLayout12.xml"/><Relationship Id="rId4" Type="http://schemas.openxmlformats.org/officeDocument/2006/relationships/image" Target="../media/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3.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3.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2.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3.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4.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1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6.xml.rels><?xml version="1.0" encoding="UTF-8" standalone="yes"?>
<Relationships xmlns="http://schemas.openxmlformats.org/package/2006/relationships"><Relationship Id="rId13" Type="http://schemas.openxmlformats.org/officeDocument/2006/relationships/image" Target="../media/image391.png"/><Relationship Id="rId18" Type="http://schemas.openxmlformats.org/officeDocument/2006/relationships/image" Target="../media/image521.png"/><Relationship Id="rId3" Type="http://schemas.openxmlformats.org/officeDocument/2006/relationships/image" Target="../media/image371.png"/><Relationship Id="rId12" Type="http://schemas.openxmlformats.org/officeDocument/2006/relationships/image" Target="../media/image382.png"/><Relationship Id="rId17" Type="http://schemas.openxmlformats.org/officeDocument/2006/relationships/image" Target="../media/image510.png"/><Relationship Id="rId2" Type="http://schemas.openxmlformats.org/officeDocument/2006/relationships/image" Target="../media/image361.png"/><Relationship Id="rId16" Type="http://schemas.openxmlformats.org/officeDocument/2006/relationships/image" Target="../media/image500.png"/><Relationship Id="rId1" Type="http://schemas.openxmlformats.org/officeDocument/2006/relationships/slideLayout" Target="../slideLayouts/slideLayout12.xml"/><Relationship Id="rId6" Type="http://schemas.openxmlformats.org/officeDocument/2006/relationships/image" Target="../media/image321.png"/><Relationship Id="rId11" Type="http://schemas.openxmlformats.org/officeDocument/2006/relationships/image" Target="../media/image1030.png"/><Relationship Id="rId5" Type="http://schemas.openxmlformats.org/officeDocument/2006/relationships/image" Target="../media/image970.png"/><Relationship Id="rId15" Type="http://schemas.openxmlformats.org/officeDocument/2006/relationships/image" Target="../media/image490.png"/><Relationship Id="rId4" Type="http://schemas.openxmlformats.org/officeDocument/2006/relationships/image" Target="../media/image960.png"/><Relationship Id="rId14" Type="http://schemas.openxmlformats.org/officeDocument/2006/relationships/image" Target="../media/image480.png"/></Relationships>
</file>

<file path=ppt/slides/_rels/slide47.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8.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19.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1.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22.png"/></Relationships>
</file>

<file path=ppt/slides/_rels/slide58.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3.png"/></Relationships>
</file>

<file path=ppt/slides/_rels/slide59.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000000"/>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mc:Choice xmlns:a14="http://schemas.microsoft.com/office/drawing/2010/main"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This static Θ describes Δ</a:t>
            </a:r>
            <a:endParaRPr sz="1700"/>
          </a:p>
        </p:txBody>
      </p:sp>
      <p:sp>
        <p:nvSpPr>
          <p:cNvPr id="113" name="Specific uncertainty continuation"/>
          <p:cNvSpPr/>
          <p:nvPr/>
        </p:nvSpPr>
        <p:spPr>
          <a:xfrm>
            <a:off x="4178300" y="2936875"/>
            <a:ext cx="45720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in the sector [0, 0.735].</a:t>
            </a:r>
            <a:endParaRPr sz="1700"/>
          </a:p>
        </p:txBody>
      </p:sp>
      <p:sp>
        <p:nvSpPr>
          <p:cNvPr id="114" name="Analyse uncertainty bullet"/>
          <p:cNvSpPr/>
          <p:nvPr/>
        </p:nvSpPr>
        <p:spPr>
          <a:xfrm>
            <a:off x="3937000" y="33972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p:sp>
        <p:nvSpPr>
          <p:cNvPr id="115" name="Analyse uncertainty"/>
          <p:cNvSpPr/>
          <p:nvPr/>
        </p:nvSpPr>
        <p:spPr>
          <a:xfrm>
            <a:off x="4178300" y="3406775"/>
            <a:ext cx="45720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Analyse each Δ to find</a:t>
            </a:r>
            <a:endParaRPr sz="1700"/>
          </a:p>
        </p:txBody>
      </p:sp>
      <p:sp>
        <p:nvSpPr>
          <p:cNvPr id="116" name="Analyse uncertainty continuation"/>
          <p:cNvSpPr/>
          <p:nvPr/>
        </p:nvSpPr>
        <p:spPr>
          <a:xfrm>
            <a:off x="4178300" y="3711575"/>
            <a:ext cx="45720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a suitable Θ.</a:t>
            </a:r>
            <a:endParaRPr sz="1700"/>
          </a:p>
        </p:txBody>
      </p:sp>
      <p:sp>
        <p:nvSpPr>
          <p:cNvPr id="117" name="Dynamic Theta bullet"/>
          <p:cNvSpPr/>
          <p:nvPr/>
        </p:nvSpPr>
        <p:spPr>
          <a:xfrm>
            <a:off x="3937000" y="41719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p:sp>
        <p:nvSpPr>
          <p:cNvPr id="118" name="Dynamic Theta"/>
          <p:cNvSpPr/>
          <p:nvPr/>
        </p:nvSpPr>
        <p:spPr>
          <a:xfrm>
            <a:off x="4178300" y="4181475"/>
            <a:ext cx="45720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Θ can also be dynamic,</a:t>
            </a:r>
            <a:endParaRPr sz="1700"/>
          </a:p>
        </p:txBody>
      </p:sp>
      <p:sp>
        <p:nvSpPr>
          <p:cNvPr id="119" name="Dynamic Theta continuation"/>
          <p:cNvSpPr/>
          <p:nvPr/>
        </p:nvSpPr>
        <p:spPr>
          <a:xfrm>
            <a:off x="4178300" y="4486275"/>
            <a:ext cx="45720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with its own internal states.</a:t>
            </a:r>
            <a:endParaRPr sz="1700"/>
          </a:p>
        </p:txBody>
      </p:sp>
    </p:spTree>
    <p:extLst>
      <p:ext uri="{BB962C8B-B14F-4D97-AF65-F5344CB8AC3E}">
        <p14:creationId xmlns:p14="http://schemas.microsoft.com/office/powerpoint/2010/main" val="12022653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replace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46</a:t>
            </a:fld>
            <a:endParaRPr lang="en-GB"/>
          </a:p>
        </p:txBody>
      </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556B0FE0-ED39-2A0D-C1C7-40D486BC1A35}"/>
                  </a:ext>
                </a:extLst>
              </p:cNvPr>
              <p:cNvSpPr txBox="1"/>
              <p:nvPr/>
            </p:nvSpPr>
            <p:spPr>
              <a:xfrm>
                <a:off x="4861470" y="984289"/>
                <a:ext cx="3590727" cy="374718"/>
              </a:xfrm>
              <a:prstGeom prst="rect">
                <a:avLst/>
              </a:prstGeom>
              <a:noFill/>
            </p:spPr>
            <p:txBody>
              <a:bodyPr wrap="none" rtlCol="0">
                <a:spAutoFit/>
              </a:bodyPr>
              <a:lstStyle/>
              <a:p>
                <a:r>
                  <a:rPr lang="en-US" dirty="0"/>
                  <a:t>Find </a:t>
                </a:r>
                <a14:m>
                  <m:oMath xmlns:m="http://schemas.openxmlformats.org/officeDocument/2006/math">
                    <m:r>
                      <a:rPr lang="el-GR" i="1" smtClean="0">
                        <a:latin typeface="Cambria Math" panose="02040503050406030204" pitchFamily="18" charset="0"/>
                        <a:ea typeface="Cambria Math" panose="02040503050406030204" pitchFamily="18" charset="0"/>
                      </a:rPr>
                      <m:t>𝛩</m:t>
                    </m:r>
                  </m:oMath>
                </a14:m>
                <a:r>
                  <a:rPr lang="en-US" dirty="0"/>
                  <a:t> such that </a:t>
                </a:r>
                <a14:m>
                  <m:oMath xmlns:m="http://schemas.openxmlformats.org/officeDocument/2006/math">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𝑢</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r>
                      <a:rPr lang="en-US" b="0" i="0" smtClean="0">
                        <a:latin typeface="Cambria Math" panose="02040503050406030204" pitchFamily="18" charset="0"/>
                      </a:rPr>
                      <m:t>≤</m:t>
                    </m:r>
                    <m:nary>
                      <m:naryPr>
                        <m:limLoc m:val="subSup"/>
                        <m:ctrlPr>
                          <a:rPr lang="en-US" b="0" i="0" smtClean="0">
                            <a:latin typeface="Cambria Math" panose="02040503050406030204" pitchFamily="18" charset="0"/>
                          </a:rPr>
                        </m:ctrlPr>
                      </m:naryPr>
                      <m:sub>
                        <m:r>
                          <a:rPr lang="en-US" b="0" i="0" smtClean="0">
                            <a:latin typeface="Cambria Math" panose="02040503050406030204" pitchFamily="18" charset="0"/>
                          </a:rPr>
                          <m:t>0</m:t>
                        </m:r>
                      </m:sub>
                      <m:sup>
                        <m:r>
                          <a:rPr lang="en-US" b="0" i="0"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0" smtClean="0">
                                        <a:latin typeface="Cambria Math" panose="02040503050406030204" pitchFamily="18" charset="0"/>
                                      </a:rPr>
                                    </m:ctrlPr>
                                  </m:accPr>
                                  <m:e>
                                    <m:r>
                                      <a:rPr lang="en-US" b="0" i="0" smtClean="0">
                                        <a:latin typeface="Cambria Math" panose="02040503050406030204" pitchFamily="18" charset="0"/>
                                      </a:rPr>
                                      <m:t>𝑦</m:t>
                                    </m:r>
                                  </m:e>
                                </m:acc>
                                <m:d>
                                  <m:dPr>
                                    <m:ctrlPr>
                                      <a:rPr lang="en-US" b="0" i="0" smtClean="0">
                                        <a:latin typeface="Cambria Math" panose="02040503050406030204" pitchFamily="18" charset="0"/>
                                      </a:rPr>
                                    </m:ctrlPr>
                                  </m:dPr>
                                  <m:e>
                                    <m:r>
                                      <a:rPr lang="en-US" b="0" i="0" smtClean="0">
                                        <a:latin typeface="Cambria Math" panose="02040503050406030204" pitchFamily="18" charset="0"/>
                                      </a:rPr>
                                      <m:t>𝑡</m:t>
                                    </m:r>
                                  </m:e>
                                </m:d>
                              </m:e>
                            </m:d>
                          </m:e>
                          <m:sup>
                            <m:r>
                              <a:rPr lang="en-US" b="0" i="0" smtClean="0">
                                <a:latin typeface="Cambria Math" panose="02040503050406030204" pitchFamily="18" charset="0"/>
                              </a:rPr>
                              <m:t>2</m:t>
                            </m:r>
                          </m:sup>
                        </m:sSup>
                      </m:e>
                    </m:nary>
                    <m:r>
                      <a:rPr lang="en-US" b="0" i="0" smtClean="0">
                        <a:latin typeface="Cambria Math" panose="02040503050406030204" pitchFamily="18" charset="0"/>
                      </a:rPr>
                      <m:t>𝑑𝑡</m:t>
                    </m:r>
                  </m:oMath>
                </a14:m>
                <a:endParaRPr lang="en-NL" dirty="0"/>
              </a:p>
            </p:txBody>
          </p:sp>
        </mc:Choice>
        <mc:Fallback xmlns="">
          <p:sp>
            <p:nvSpPr>
              <p:cNvPr id="47" name="TextBox 46">
                <a:extLst>
                  <a:ext uri="{FF2B5EF4-FFF2-40B4-BE49-F238E27FC236}">
                    <a16:creationId xmlns:a16="http://schemas.microsoft.com/office/drawing/2014/main" id="{556B0FE0-ED39-2A0D-C1C7-40D486BC1A35}"/>
                  </a:ext>
                </a:extLst>
              </p:cNvPr>
              <p:cNvSpPr txBox="1">
                <a:spLocks noRot="1" noChangeAspect="1" noMove="1" noResize="1" noEditPoints="1" noAdjustHandles="1" noChangeArrowheads="1" noChangeShapeType="1" noTextEdit="1"/>
              </p:cNvSpPr>
              <p:nvPr/>
            </p:nvSpPr>
            <p:spPr>
              <a:xfrm>
                <a:off x="4861470" y="984289"/>
                <a:ext cx="3590727" cy="374718"/>
              </a:xfrm>
              <a:prstGeom prst="rect">
                <a:avLst/>
              </a:prstGeom>
              <a:blipFill>
                <a:blip r:embed="rId3"/>
                <a:stretch>
                  <a:fillRect l="-339" t="-95161" b="-156452"/>
                </a:stretch>
              </a:blipFill>
            </p:spPr>
            <p:txBody>
              <a:bodyPr/>
              <a:lstStyle/>
              <a:p>
                <a:r>
                  <a:rPr lang="en-NL">
                    <a:noFill/>
                  </a:rPr>
                  <a:t> </a:t>
                </a:r>
              </a:p>
            </p:txBody>
          </p:sp>
        </mc:Fallback>
      </mc:AlternateContent>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984289"/>
            <a:ext cx="3138932" cy="1845056"/>
            <a:chOff x="1995932" y="2514600"/>
            <a:chExt cx="3138932" cy="1845056"/>
          </a:xfrm>
        </p:grpSpPr>
        <p:sp>
          <p:nvSpPr>
            <p:cNvPr id="51" name="Controller plant channel">
              <a:extLst>
                <a:ext uri="{FF2B5EF4-FFF2-40B4-BE49-F238E27FC236}">
                  <a16:creationId xmlns:a16="http://schemas.microsoft.com/office/drawing/2014/main" id="{40F47906-50AD-3131-824D-F0474AE48D23}"/>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4" name="Plant controller channel">
              <a:extLst>
                <a:ext uri="{FF2B5EF4-FFF2-40B4-BE49-F238E27FC236}">
                  <a16:creationId xmlns:a16="http://schemas.microsoft.com/office/drawing/2014/main" id="{8014A7C6-31FB-1455-A9D0-FAF79A5CA9A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114" name="Controller external channel"/>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447AE719-E822-08F7-0C2F-2F3A4DC9E8DE}"/>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11111"/>
                  </a:stretch>
                </a:blipFill>
                <a:ln>
                  <a:noFill/>
                </a:ln>
              </p:spPr>
              <p:txBody>
                <a:bodyPr/>
                <a:lstStyle/>
                <a:p>
                  <a:r>
                    <a:rPr lang="en-NL">
                      <a:noFill/>
                    </a:rPr>
                    <a:t> </a:t>
                  </a:r>
                </a:p>
              </p:txBody>
            </p:sp>
          </mc:Fallback>
        </mc:AlternateContent>
        <p:sp>
          <p:nvSpPr>
            <p:cNvPr id="60" name="Plant">
              <a:extLst>
                <a:ext uri="{FF2B5EF4-FFF2-40B4-BE49-F238E27FC236}">
                  <a16:creationId xmlns:a16="http://schemas.microsoft.com/office/drawing/2014/main" id="{7EA661EF-0B01-B12F-9056-31406A777935}"/>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62" name="Plant label">
                  <a:extLst>
                    <a:ext uri="{FF2B5EF4-FFF2-40B4-BE49-F238E27FC236}">
                      <a16:creationId xmlns:a16="http://schemas.microsoft.com/office/drawing/2014/main" id="{650F0D8C-FBFC-5213-C158-AF735FFCA28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122" name="Plant label"/>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1"/>
                  <a:stretch>
                    <a:fillRect/>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672070" y="311680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672070" y="349272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744970" y="284756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079354" y="3101765"/>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079354" y="3101765"/>
                <a:ext cx="283732" cy="398571"/>
              </a:xfrm>
              <a:prstGeom prst="rect">
                <a:avLst/>
              </a:prstGeom>
              <a:blipFill>
                <a:blip r:embed="rId12"/>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474468" y="247831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241246" y="247831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469388" y="2473237"/>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236166" y="2473237"/>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199" name="TextBox 198">
                <a:extLst>
                  <a:ext uri="{FF2B5EF4-FFF2-40B4-BE49-F238E27FC236}">
                    <a16:creationId xmlns:a16="http://schemas.microsoft.com/office/drawing/2014/main" id="{1C440B46-D247-33E4-5530-6344AC85E059}"/>
                  </a:ext>
                </a:extLst>
              </p:cNvPr>
              <p:cNvSpPr txBox="1"/>
              <p:nvPr/>
            </p:nvSpPr>
            <p:spPr>
              <a:xfrm>
                <a:off x="4861470" y="1699232"/>
                <a:ext cx="3141181" cy="300082"/>
              </a:xfrm>
              <a:prstGeom prst="rect">
                <a:avLst/>
              </a:prstGeom>
              <a:noFill/>
            </p:spPr>
            <p:txBody>
              <a:bodyPr wrap="none" rtlCol="0">
                <a:spAutoFit/>
              </a:bodyPr>
              <a:lstStyle/>
              <a:p>
                <a:r>
                  <a:rPr lang="en-US" dirty="0"/>
                  <a:t>Set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=0</m:t>
                    </m:r>
                  </m:oMath>
                </a14:m>
                <a:r>
                  <a:rPr lang="en-US" dirty="0"/>
                  <a:t> then this holds for any </a:t>
                </a:r>
                <a14:m>
                  <m:oMath xmlns:m="http://schemas.openxmlformats.org/officeDocument/2006/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a14:m>
                <a:endParaRPr lang="en-NL" dirty="0"/>
              </a:p>
            </p:txBody>
          </p:sp>
        </mc:Choice>
        <mc:Fallback xmlns="">
          <p:sp>
            <p:nvSpPr>
              <p:cNvPr id="199" name="TextBox 198">
                <a:extLst>
                  <a:ext uri="{FF2B5EF4-FFF2-40B4-BE49-F238E27FC236}">
                    <a16:creationId xmlns:a16="http://schemas.microsoft.com/office/drawing/2014/main" id="{1C440B46-D247-33E4-5530-6344AC85E059}"/>
                  </a:ext>
                </a:extLst>
              </p:cNvPr>
              <p:cNvSpPr txBox="1">
                <a:spLocks noRot="1" noChangeAspect="1" noMove="1" noResize="1" noEditPoints="1" noAdjustHandles="1" noChangeArrowheads="1" noChangeShapeType="1" noTextEdit="1"/>
              </p:cNvSpPr>
              <p:nvPr/>
            </p:nvSpPr>
            <p:spPr>
              <a:xfrm>
                <a:off x="4861470" y="1699232"/>
                <a:ext cx="3141181" cy="300082"/>
              </a:xfrm>
              <a:prstGeom prst="rect">
                <a:avLst/>
              </a:prstGeom>
              <a:blipFill>
                <a:blip r:embed="rId13"/>
                <a:stretch>
                  <a:fillRect l="-388"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4" name="TextBox 203">
                <a:extLst>
                  <a:ext uri="{FF2B5EF4-FFF2-40B4-BE49-F238E27FC236}">
                    <a16:creationId xmlns:a16="http://schemas.microsoft.com/office/drawing/2014/main" id="{39C00BB5-DEDD-34ED-5F43-B5E93515CE84}"/>
                  </a:ext>
                </a:extLst>
              </p:cNvPr>
              <p:cNvSpPr txBox="1"/>
              <p:nvPr/>
            </p:nvSpPr>
            <p:spPr>
              <a:xfrm>
                <a:off x="4861470" y="2244319"/>
                <a:ext cx="2038570" cy="462371"/>
              </a:xfrm>
              <a:prstGeom prst="rect">
                <a:avLst/>
              </a:prstGeom>
              <a:noFill/>
            </p:spPr>
            <p:txBody>
              <a:bodyPr wrap="none" lIns="0" tIns="0" rIns="0" bIns="0" rtlCol="0">
                <a:spAutoFit/>
              </a:bodyPr>
              <a:lstStyle/>
              <a:p>
                <a:pPr/>
                <a14:m>
                  <m:oMathPara xmlns:m="http://schemas.openxmlformats.org/officeDocument/2006/math">
                    <m:oMath>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acc>
                                  <m:accPr>
                                    <m:chr m:val="˜"/>
                                    <m:ctrlPr>
                                      <a:rPr lang="nl-NL" i="1">
                                        <a:latin typeface="Cambria Math" panose="02040503050406030204" pitchFamily="18" charset="0"/>
                                      </a:rPr>
                                    </m:ctrlPr>
                                  </m:accPr>
                                  <m:e>
                                    <m:r>
                                      <a:rPr lang="nl-NL" i="1">
                                        <a:latin typeface="Cambria Math" panose="02040503050406030204" pitchFamily="18" charset="0"/>
                                      </a:rPr>
                                      <m:t>𝑦</m:t>
                                    </m:r>
                                  </m:e>
                                </m:acc>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en-US" b="0" i="1" smtClean="0">
                                    <a:latin typeface="Cambria Math" panose="02040503050406030204" pitchFamily="18" charset="0"/>
                                  </a:rPr>
                                  <m:t>0</m:t>
                                </m:r>
                              </m:e>
                            </m:mr>
                          </m:m>
                        </m:e>
                      </m:d>
                      <m:r>
                        <a:rPr lang="nl-NL" i="1">
                          <a:latin typeface="Cambria Math" panose="02040503050406030204" pitchFamily="18" charset="0"/>
                        </a:rPr>
                        <m:t>=</m:t>
                      </m:r>
                      <m:d>
                        <m:dPr>
                          <m:begChr m:val="["/>
                          <m:endChr m:val="]"/>
                          <m:ctrlPr>
                            <a:rPr lang="nl-NL" i="1">
                              <a:latin typeface="Cambria Math" panose="02040503050406030204" pitchFamily="18" charset="0"/>
                            </a:rPr>
                          </m:ctrlPr>
                        </m:dPr>
                        <m:e>
                          <m:m>
                            <m:mPr>
                              <m:mcs>
                                <m:mc>
                                  <m:mcPr>
                                    <m:count m:val="2"/>
                                    <m:mcJc m:val="center"/>
                                  </m:mcPr>
                                </m:mc>
                              </m:mcs>
                              <m:ctrlPr>
                                <a:rPr lang="nl-NL" i="1">
                                  <a:latin typeface="Cambria Math" panose="02040503050406030204" pitchFamily="18" charset="0"/>
                                </a:rPr>
                              </m:ctrlPr>
                            </m:mP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12</m:t>
                                    </m:r>
                                  </m:sub>
                                </m:sSub>
                              </m:e>
                            </m:mr>
                            <m:mr>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21</m:t>
                                    </m:r>
                                  </m:sub>
                                </m:sSub>
                              </m:e>
                              <m:e>
                                <m:sSub>
                                  <m:sSubPr>
                                    <m:ctrlPr>
                                      <a:rPr lang="nl-NL" i="1">
                                        <a:latin typeface="Cambria Math" panose="02040503050406030204" pitchFamily="18" charset="0"/>
                                      </a:rPr>
                                    </m:ctrlPr>
                                  </m:sSubPr>
                                  <m:e>
                                    <m:r>
                                      <m:rPr>
                                        <m:sty m:val="p"/>
                                      </m:rPr>
                                      <a:rPr lang="nl-NL" i="1">
                                        <a:latin typeface="Cambria Math" panose="02040503050406030204" pitchFamily="18" charset="0"/>
                                      </a:rPr>
                                      <m:t>Θ</m:t>
                                    </m:r>
                                  </m:e>
                                  <m:sub>
                                    <m:r>
                                      <a:rPr lang="nl-NL" i="1">
                                        <a:latin typeface="Cambria Math" panose="02040503050406030204" pitchFamily="18" charset="0"/>
                                      </a:rPr>
                                      <m:t>22</m:t>
                                    </m:r>
                                  </m:sub>
                                </m:sSub>
                              </m:e>
                            </m:mr>
                          </m:m>
                        </m:e>
                      </m:d>
                      <m:d>
                        <m:dPr>
                          <m:begChr m:val="["/>
                          <m:endChr m:val="]"/>
                          <m:ctrlPr>
                            <a:rPr lang="nl-NL" i="1">
                              <a:latin typeface="Cambria Math" panose="02040503050406030204" pitchFamily="18" charset="0"/>
                            </a:rPr>
                          </m:ctrlPr>
                        </m:dPr>
                        <m:e>
                          <m:m>
                            <m:mPr>
                              <m:mcs>
                                <m:mc>
                                  <m:mcPr>
                                    <m:count m:val="1"/>
                                    <m:mcJc m:val="center"/>
                                  </m:mcPr>
                                </m:mc>
                              </m:mcs>
                              <m:ctrlPr>
                                <a:rPr lang="nl-NL" i="1">
                                  <a:latin typeface="Cambria Math" panose="02040503050406030204" pitchFamily="18" charset="0"/>
                                </a:rPr>
                              </m:ctrlPr>
                            </m:mPr>
                            <m:mr>
                              <m:e>
                                <m:r>
                                  <a:rPr lang="nl-NL" i="1">
                                    <a:latin typeface="Cambria Math" panose="02040503050406030204" pitchFamily="18" charset="0"/>
                                  </a:rPr>
                                  <m:t>𝑦</m:t>
                                </m:r>
                                <m:d>
                                  <m:dPr>
                                    <m:ctrlPr>
                                      <a:rPr lang="nl-NL" i="1">
                                        <a:latin typeface="Cambria Math" panose="02040503050406030204" pitchFamily="18" charset="0"/>
                                      </a:rPr>
                                    </m:ctrlPr>
                                  </m:dPr>
                                  <m:e>
                                    <m:r>
                                      <a:rPr lang="nl-NL" i="1">
                                        <a:latin typeface="Cambria Math" panose="02040503050406030204" pitchFamily="18" charset="0"/>
                                      </a:rPr>
                                      <m:t>𝑡</m:t>
                                    </m:r>
                                  </m:e>
                                </m:d>
                              </m:e>
                            </m:mr>
                            <m:mr>
                              <m:e>
                                <m:r>
                                  <a:rPr lang="nl-NL" i="1">
                                    <a:latin typeface="Cambria Math" panose="02040503050406030204" pitchFamily="18" charset="0"/>
                                  </a:rPr>
                                  <m:t>𝑢</m:t>
                                </m:r>
                                <m:d>
                                  <m:dPr>
                                    <m:ctrlPr>
                                      <a:rPr lang="nl-NL" i="1">
                                        <a:latin typeface="Cambria Math" panose="02040503050406030204" pitchFamily="18" charset="0"/>
                                      </a:rPr>
                                    </m:ctrlPr>
                                  </m:dPr>
                                  <m:e>
                                    <m:r>
                                      <a:rPr lang="nl-NL" i="1">
                                        <a:latin typeface="Cambria Math" panose="02040503050406030204" pitchFamily="18" charset="0"/>
                                      </a:rPr>
                                      <m:t>𝑡</m:t>
                                    </m:r>
                                  </m:e>
                                </m:d>
                              </m:e>
                            </m:mr>
                          </m:m>
                        </m:e>
                      </m:d>
                    </m:oMath>
                  </m:oMathPara>
                </a14:m>
                <a:endParaRPr lang="en-NL" dirty="0"/>
              </a:p>
            </p:txBody>
          </p:sp>
        </mc:Choice>
        <mc:Fallback xmlns="">
          <p:sp>
            <p:nvSpPr>
              <p:cNvPr id="204" name="TextBox 203">
                <a:extLst>
                  <a:ext uri="{FF2B5EF4-FFF2-40B4-BE49-F238E27FC236}">
                    <a16:creationId xmlns:a16="http://schemas.microsoft.com/office/drawing/2014/main" id="{39C00BB5-DEDD-34ED-5F43-B5E93515CE84}"/>
                  </a:ext>
                </a:extLst>
              </p:cNvPr>
              <p:cNvSpPr txBox="1">
                <a:spLocks noRot="1" noChangeAspect="1" noMove="1" noResize="1" noEditPoints="1" noAdjustHandles="1" noChangeArrowheads="1" noChangeShapeType="1" noTextEdit="1"/>
              </p:cNvSpPr>
              <p:nvPr/>
            </p:nvSpPr>
            <p:spPr>
              <a:xfrm>
                <a:off x="4861470" y="2244319"/>
                <a:ext cx="2038570" cy="462371"/>
              </a:xfrm>
              <a:prstGeom prst="rect">
                <a:avLst/>
              </a:prstGeom>
              <a:blipFill>
                <a:blip r:embed="rId14"/>
                <a:stretch>
                  <a:fillRect b="-131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5" name="TextBox 204">
                <a:extLst>
                  <a:ext uri="{FF2B5EF4-FFF2-40B4-BE49-F238E27FC236}">
                    <a16:creationId xmlns:a16="http://schemas.microsoft.com/office/drawing/2014/main" id="{6D2AABB4-3B2E-6D4B-551F-3FA7EEDB1E54}"/>
                  </a:ext>
                </a:extLst>
              </p:cNvPr>
              <p:cNvSpPr txBox="1"/>
              <p:nvPr/>
            </p:nvSpPr>
            <p:spPr>
              <a:xfrm>
                <a:off x="7127764" y="2347627"/>
                <a:ext cx="1749774" cy="300082"/>
              </a:xfrm>
              <a:prstGeom prst="rect">
                <a:avLst/>
              </a:prstGeom>
              <a:noFill/>
            </p:spPr>
            <p:txBody>
              <a:bodyPr wrap="none" rtlCol="0">
                <a:spAutoFit/>
              </a:bodyPr>
              <a:lstStyle/>
              <a:p>
                <a:r>
                  <a:rPr lang="en-US" dirty="0"/>
                  <a:t>Pick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11</m:t>
                        </m:r>
                      </m:sub>
                    </m:sSub>
                    <m:r>
                      <a:rPr lang="en-US" b="0" i="1" smtClean="0">
                        <a:latin typeface="Cambria Math" panose="02040503050406030204" pitchFamily="18" charset="0"/>
                      </a:rPr>
                      <m:t>=</m:t>
                    </m:r>
                    <m:r>
                      <a:rPr lang="en-US" b="0" i="1" smtClean="0">
                        <a:latin typeface="Cambria Math" panose="02040503050406030204" pitchFamily="18" charset="0"/>
                      </a:rPr>
                      <m:t>𝐼</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12</m:t>
                        </m:r>
                      </m:sub>
                    </m:sSub>
                    <m:r>
                      <a:rPr lang="en-US" b="0" i="1" smtClean="0">
                        <a:latin typeface="Cambria Math" panose="02040503050406030204" pitchFamily="18" charset="0"/>
                      </a:rPr>
                      <m:t>=0</m:t>
                    </m:r>
                  </m:oMath>
                </a14:m>
                <a:endParaRPr lang="en-NL" dirty="0"/>
              </a:p>
            </p:txBody>
          </p:sp>
        </mc:Choice>
        <mc:Fallback xmlns="">
          <p:sp>
            <p:nvSpPr>
              <p:cNvPr id="205" name="TextBox 204">
                <a:extLst>
                  <a:ext uri="{FF2B5EF4-FFF2-40B4-BE49-F238E27FC236}">
                    <a16:creationId xmlns:a16="http://schemas.microsoft.com/office/drawing/2014/main" id="{6D2AABB4-3B2E-6D4B-551F-3FA7EEDB1E54}"/>
                  </a:ext>
                </a:extLst>
              </p:cNvPr>
              <p:cNvSpPr txBox="1">
                <a:spLocks noRot="1" noChangeAspect="1" noMove="1" noResize="1" noEditPoints="1" noAdjustHandles="1" noChangeArrowheads="1" noChangeShapeType="1" noTextEdit="1"/>
              </p:cNvSpPr>
              <p:nvPr/>
            </p:nvSpPr>
            <p:spPr>
              <a:xfrm>
                <a:off x="7127764" y="2347627"/>
                <a:ext cx="1749774" cy="300082"/>
              </a:xfrm>
              <a:prstGeom prst="rect">
                <a:avLst/>
              </a:prstGeom>
              <a:blipFill>
                <a:blip r:embed="rId15"/>
                <a:stretch>
                  <a:fillRect l="-697"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6" name="TextBox 205">
                <a:extLst>
                  <a:ext uri="{FF2B5EF4-FFF2-40B4-BE49-F238E27FC236}">
                    <a16:creationId xmlns:a16="http://schemas.microsoft.com/office/drawing/2014/main" id="{21C1290D-619C-5DA4-C5C2-38E468EAE0AB}"/>
                  </a:ext>
                </a:extLst>
              </p:cNvPr>
              <p:cNvSpPr txBox="1"/>
              <p:nvPr/>
            </p:nvSpPr>
            <p:spPr>
              <a:xfrm>
                <a:off x="4861470" y="2951695"/>
                <a:ext cx="1221809"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4861470" y="2951695"/>
                <a:ext cx="1221809" cy="300082"/>
              </a:xfrm>
              <a:prstGeom prst="rect">
                <a:avLst/>
              </a:prstGeom>
              <a:blipFill>
                <a:blip r:embed="rId16"/>
                <a:stretch>
                  <a:fillRect b="-816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7" name="TextBox 206">
                <a:extLst>
                  <a:ext uri="{FF2B5EF4-FFF2-40B4-BE49-F238E27FC236}">
                    <a16:creationId xmlns:a16="http://schemas.microsoft.com/office/drawing/2014/main" id="{F4DAAE59-F3C1-C479-FF6A-0C4CA7E1C6F4}"/>
                  </a:ext>
                </a:extLst>
              </p:cNvPr>
              <p:cNvSpPr txBox="1"/>
              <p:nvPr/>
            </p:nvSpPr>
            <p:spPr>
              <a:xfrm>
                <a:off x="4861470" y="3390177"/>
                <a:ext cx="1958678" cy="300082"/>
              </a:xfrm>
              <a:prstGeom prst="rect">
                <a:avLst/>
              </a:prstGeom>
              <a:noFill/>
            </p:spPr>
            <p:txBody>
              <a:bodyPr wrap="none" rtlCol="0">
                <a:spAutoFit/>
              </a:bodyPr>
              <a:lstStyle/>
              <a:p>
                <a:r>
                  <a:rPr lang="en-US" dirty="0"/>
                  <a:t>Thus </a:t>
                </a:r>
                <a14:m>
                  <m:oMath xmlns:m="http://schemas.openxmlformats.org/officeDocument/2006/math">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21</m:t>
                        </m:r>
                      </m:sub>
                    </m:sSub>
                    <m:r>
                      <a:rPr lang="en-US" b="0" i="1" smtClean="0">
                        <a:latin typeface="Cambria Math" panose="02040503050406030204" pitchFamily="18" charset="0"/>
                      </a:rPr>
                      <m:t>=−</m:t>
                    </m:r>
                    <m:r>
                      <a:rPr lang="en-US" b="0" i="1" smtClean="0">
                        <a:latin typeface="Cambria Math" panose="02040503050406030204" pitchFamily="18" charset="0"/>
                      </a:rPr>
                      <m:t>𝐾</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Θ</m:t>
                        </m:r>
                      </m:e>
                      <m:sub>
                        <m:r>
                          <a:rPr lang="en-US" b="0" i="1" smtClean="0">
                            <a:latin typeface="Cambria Math" panose="02040503050406030204" pitchFamily="18" charset="0"/>
                          </a:rPr>
                          <m:t>22</m:t>
                        </m:r>
                      </m:sub>
                    </m:sSub>
                    <m:r>
                      <a:rPr lang="en-US" b="0" i="1" smtClean="0">
                        <a:latin typeface="Cambria Math" panose="02040503050406030204" pitchFamily="18" charset="0"/>
                      </a:rPr>
                      <m:t>=</m:t>
                    </m:r>
                    <m:r>
                      <a:rPr lang="en-US" b="0" i="1" smtClean="0">
                        <a:latin typeface="Cambria Math" panose="02040503050406030204" pitchFamily="18" charset="0"/>
                      </a:rPr>
                      <m:t>𝐼</m:t>
                    </m:r>
                  </m:oMath>
                </a14:m>
                <a:endParaRPr lang="en-NL" dirty="0"/>
              </a:p>
            </p:txBody>
          </p:sp>
        </mc:Choice>
        <mc:Fallback xmlns="">
          <p:sp>
            <p:nvSpPr>
              <p:cNvPr id="207" name="TextBox 206">
                <a:extLst>
                  <a:ext uri="{FF2B5EF4-FFF2-40B4-BE49-F238E27FC236}">
                    <a16:creationId xmlns:a16="http://schemas.microsoft.com/office/drawing/2014/main" id="{F4DAAE59-F3C1-C479-FF6A-0C4CA7E1C6F4}"/>
                  </a:ext>
                </a:extLst>
              </p:cNvPr>
              <p:cNvSpPr txBox="1">
                <a:spLocks noRot="1" noChangeAspect="1" noMove="1" noResize="1" noEditPoints="1" noAdjustHandles="1" noChangeArrowheads="1" noChangeShapeType="1" noTextEdit="1"/>
              </p:cNvSpPr>
              <p:nvPr/>
            </p:nvSpPr>
            <p:spPr>
              <a:xfrm>
                <a:off x="4861470" y="3390177"/>
                <a:ext cx="1958678" cy="300082"/>
              </a:xfrm>
              <a:prstGeom prst="rect">
                <a:avLst/>
              </a:prstGeom>
              <a:blipFill>
                <a:blip r:embed="rId17"/>
                <a:stretch>
                  <a:fillRect l="-621" t="-2041"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1016D2EC-3E51-21D0-F981-C80AFFD89621}"/>
                  </a:ext>
                </a:extLst>
              </p:cNvPr>
              <p:cNvSpPr txBox="1"/>
              <p:nvPr/>
            </p:nvSpPr>
            <p:spPr>
              <a:xfrm>
                <a:off x="5057101" y="4093224"/>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5057101" y="4093224"/>
                <a:ext cx="1026178" cy="345094"/>
              </a:xfrm>
              <a:prstGeom prst="rect">
                <a:avLst/>
              </a:prstGeom>
              <a:blipFill>
                <a:blip r:embed="rId18"/>
                <a:stretch>
                  <a:fillRect l="-3571" t="-1754" b="-15789"/>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47</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48</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5648</TotalTime>
  <Words>8188</Words>
  <Application>Microsoft Office PowerPoint</Application>
  <PresentationFormat>On-screen Show (16:9)</PresentationFormat>
  <Paragraphs>1094</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Thought experiment replace K by \Θ</vt:lpstr>
      <vt:lpstr>Thought experiment replace K^⊤ by ▁Θ</vt:lpstr>
      <vt:lpstr>Comparing our results</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48</cp:revision>
  <dcterms:created xsi:type="dcterms:W3CDTF">2019-11-27T15:26:32Z</dcterms:created>
  <dcterms:modified xsi:type="dcterms:W3CDTF">2026-09-27T19:40:23Z</dcterms:modified>
</cp:coreProperties>
</file>