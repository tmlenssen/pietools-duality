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54"/>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5" r:id="rId22"/>
    <p:sldId id="406" r:id="rId23"/>
    <p:sldId id="407" r:id="rId24"/>
    <p:sldId id="408" r:id="rId25"/>
    <p:sldId id="409" r:id="rId26"/>
    <p:sldId id="426" r:id="rId27"/>
    <p:sldId id="453" r:id="rId28"/>
    <p:sldId id="441" r:id="rId29"/>
    <p:sldId id="442" r:id="rId30"/>
    <p:sldId id="443" r:id="rId31"/>
    <p:sldId id="435" r:id="rId32"/>
    <p:sldId id="436" r:id="rId33"/>
    <p:sldId id="437" r:id="rId34"/>
    <p:sldId id="438" r:id="rId35"/>
    <p:sldId id="446" r:id="rId36"/>
    <p:sldId id="447" r:id="rId37"/>
    <p:sldId id="450" r:id="rId38"/>
    <p:sldId id="451" r:id="rId39"/>
    <p:sldId id="452" r:id="rId40"/>
    <p:sldId id="448" r:id="rId41"/>
    <p:sldId id="449" r:id="rId42"/>
    <p:sldId id="439" r:id="rId43"/>
    <p:sldId id="458" r:id="rId44"/>
    <p:sldId id="421" r:id="rId45"/>
    <p:sldId id="427" r:id="rId46"/>
    <p:sldId id="431" r:id="rId47"/>
    <p:sldId id="428" r:id="rId48"/>
    <p:sldId id="429" r:id="rId49"/>
    <p:sldId id="432" r:id="rId50"/>
    <p:sldId id="430" r:id="rId51"/>
    <p:sldId id="433" r:id="rId52"/>
    <p:sldId id="434" r:id="rId53"/>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C81919"/>
    <a:srgbClr val="530505"/>
    <a:srgbClr val="FFFFFF"/>
    <a:srgbClr val="EEE8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p:scale>
          <a:sx n="125" d="100"/>
          <a:sy n="125" d="100"/>
        </p:scale>
        <p:origin x="640" y="-268"/>
      </p:cViewPr>
      <p:guideLst/>
    </p:cSldViewPr>
  </p:slideViewPr>
  <p:outlineViewPr>
    <p:cViewPr>
      <p:scale>
        <a:sx n="33" d="100"/>
        <a:sy n="33" d="100"/>
      </p:scale>
      <p:origin x="0" y="-3978"/>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20</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Manner prose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21</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22</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23</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24</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Five steps PDE to PIE,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25</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26</a:t>
            </a:fld>
            <a:endParaRPr lang="en-GB"/>
          </a:p>
        </p:txBody>
      </p:sp>
    </p:spTree>
    <p:extLst>
      <p:ext uri="{BB962C8B-B14F-4D97-AF65-F5344CB8AC3E}">
        <p14:creationId xmlns:p14="http://schemas.microsoft.com/office/powerpoint/2010/main" val="32521841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dirty="0">
                <a:solidFill>
                  <a:srgbClr val="252529"/>
                </a:solidFill>
                <a:latin typeface="Aptos"/>
                <a:ea typeface="Aptos"/>
                <a:cs typeface="Aptos"/>
              </a:rPr>
              <a:t>Parkinsonian </a:t>
            </a:r>
            <a:r>
              <a:rPr lang="en-GB" sz="1200" b="0" i="0" u="none" baseline="0" dirty="0" err="1">
                <a:solidFill>
                  <a:srgbClr val="252529"/>
                </a:solidFill>
                <a:latin typeface="Aptos"/>
                <a:ea typeface="Aptos"/>
                <a:cs typeface="Aptos"/>
              </a:rPr>
              <a:t>GPe</a:t>
            </a:r>
            <a:r>
              <a:rPr lang="en-GB" sz="1200" b="0" i="0" u="none" baseline="0" dirty="0">
                <a:solidFill>
                  <a:srgbClr val="252529"/>
                </a:solidFill>
                <a:latin typeface="Aptos"/>
                <a:ea typeface="Aptos"/>
                <a:cs typeface="Aptos"/>
              </a:rPr>
              <a:t>-STN sector simulation. Each channel satisfies </a:t>
            </a:r>
            <a:r>
              <a:rPr lang="en-GB" sz="1200" b="0" i="0" u="none" baseline="0" dirty="0" err="1">
                <a:solidFill>
                  <a:srgbClr val="252529"/>
                </a:solidFill>
                <a:latin typeface="Aptos"/>
                <a:ea typeface="Aptos"/>
                <a:cs typeface="Aptos"/>
              </a:rPr>
              <a:t>q_i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w_i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beta_i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z_i-w_i</a:t>
            </a:r>
            <a:r>
              <a:rPr lang="en-GB" sz="1200" b="0" i="0" u="none" baseline="0" dirty="0">
                <a:solidFill>
                  <a:srgbClr val="252529"/>
                </a:solidFill>
                <a:latin typeface="Aptos"/>
                <a:ea typeface="Aptos"/>
                <a:cs typeface="Aptos"/>
              </a:rPr>
              <a:t>)&gt;=0. The supply function panel plots the accumulated supply integral, giving the hard IQC and </a:t>
            </a:r>
            <a:r>
              <a:rPr lang="en-GB" sz="1200" b="0" i="0" u="none" baseline="0" dirty="0" err="1">
                <a:solidFill>
                  <a:srgbClr val="252529"/>
                </a:solidFill>
                <a:latin typeface="Aptos"/>
                <a:ea typeface="Aptos"/>
                <a:cs typeface="Aptos"/>
              </a:rPr>
              <a:t>dissipativity</a:t>
            </a:r>
            <a:r>
              <a:rPr lang="en-GB" sz="1200" b="0" i="0" u="none" baseline="0" dirty="0">
                <a:solidFill>
                  <a:srgbClr val="252529"/>
                </a:solidFill>
                <a:latin typeface="Aptos"/>
                <a:ea typeface="Aptos"/>
                <a:cs typeface="Aptos"/>
              </a:rPr>
              <a:t> with zero storage. </a:t>
            </a:r>
            <a:r>
              <a:rPr lang="en-GB" sz="1200" b="0" i="0" u="none" baseline="0" dirty="0" err="1">
                <a:solidFill>
                  <a:srgbClr val="252529"/>
                </a:solidFill>
                <a:latin typeface="Aptos"/>
                <a:ea typeface="Aptos"/>
                <a:cs typeface="Aptos"/>
              </a:rPr>
              <a:t>beta_S</a:t>
            </a:r>
            <a:r>
              <a:rPr lang="en-GB" sz="1200" b="0" i="0" u="none" baseline="0" dirty="0">
                <a:solidFill>
                  <a:srgbClr val="252529"/>
                </a:solidFill>
                <a:latin typeface="Aptos"/>
                <a:ea typeface="Aptos"/>
                <a:cs typeface="Aptos"/>
              </a:rPr>
              <a:t>=0.7344121335837432, </a:t>
            </a:r>
            <a:r>
              <a:rPr lang="en-GB" sz="1200" b="0" i="0" u="none" baseline="0" dirty="0" err="1">
                <a:solidFill>
                  <a:srgbClr val="252529"/>
                </a:solidFill>
                <a:latin typeface="Aptos"/>
                <a:ea typeface="Aptos"/>
                <a:cs typeface="Aptos"/>
              </a:rPr>
              <a:t>beta_G</a:t>
            </a:r>
            <a:r>
              <a:rPr lang="en-GB" sz="1200" b="0" i="0" u="none" baseline="0" dirty="0">
                <a:solidFill>
                  <a:srgbClr val="252529"/>
                </a:solidFill>
                <a:latin typeface="Aptos"/>
                <a:ea typeface="Aptos"/>
                <a:cs typeface="Aptos"/>
              </a:rPr>
              <a:t>=0.7048314668921489. Click to play the embedded clean 4K video; all text and math labels are editable PowerPoint overlays.</a:t>
            </a:r>
          </a:p>
          <a:p>
            <a:pPr algn="ctr">
              <a:buNone/>
            </a:pPr>
            <a:endParaRPr lang="en-GB" sz="1200" b="0" i="0" u="none" baseline="0" dirty="0">
              <a:solidFill>
                <a:srgbClr val="252529"/>
              </a:solidFill>
              <a:latin typeface="Aptos"/>
            </a:endParaRPr>
          </a:p>
          <a:p>
            <a:pPr algn="ctr">
              <a:buNone/>
            </a:pPr>
            <a:r>
              <a:rPr lang="en-NL" sz="1200" dirty="0"/>
              <a:t>This says that the increase in stored energy cannot exceed the supplied energy. It is a supply–storage balance, so you can explain it without introducing a Lyapunov stability argument.</a:t>
            </a:r>
            <a:endParaRPr sz="1200"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D0A36-CA77-C300-A6F7-97B9E16078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F59CF2-D16C-EF45-F4C8-30427152CC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BFC593-F465-69EB-2F78-C12B58AFFE5F}"/>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p>
          <a:p>
            <a:endParaRPr lang="en-US" dirty="0"/>
          </a:p>
          <a:p>
            <a:endParaRPr lang="en-US" dirty="0"/>
          </a:p>
          <a:p>
            <a:r>
              <a:rPr lang="en-US" dirty="0"/>
              <a:t>Introduce IQC for parametric uncertainty things we can do, keep the promise to show another example</a:t>
            </a:r>
          </a:p>
          <a:p>
            <a:r>
              <a:rPr lang="en-US" dirty="0"/>
              <a:t>Introduce duality argument for sector bounded uncertainty</a:t>
            </a:r>
          </a:p>
          <a:p>
            <a:endParaRPr lang="en-NL" dirty="0"/>
          </a:p>
        </p:txBody>
      </p:sp>
      <p:sp>
        <p:nvSpPr>
          <p:cNvPr id="4" name="Slide Number Placeholder 3">
            <a:extLst>
              <a:ext uri="{FF2B5EF4-FFF2-40B4-BE49-F238E27FC236}">
                <a16:creationId xmlns:a16="http://schemas.microsoft.com/office/drawing/2014/main" id="{1AF9EF2A-760A-6A74-6E24-B06539328A05}"/>
              </a:ext>
            </a:extLst>
          </p:cNvPr>
          <p:cNvSpPr>
            <a:spLocks noGrp="1"/>
          </p:cNvSpPr>
          <p:nvPr>
            <p:ph type="sldNum" sz="quarter" idx="5"/>
          </p:nvPr>
        </p:nvSpPr>
        <p:spPr/>
        <p:txBody>
          <a:bodyPr/>
          <a:lstStyle/>
          <a:p>
            <a:fld id="{AA799BBE-B871-48D7-983C-C0B1D7156DCD}" type="slidenum">
              <a:rPr lang="en-GB" smtClean="0"/>
              <a:t>31</a:t>
            </a:fld>
            <a:endParaRPr lang="en-GB"/>
          </a:p>
        </p:txBody>
      </p:sp>
    </p:spTree>
    <p:extLst>
      <p:ext uri="{BB962C8B-B14F-4D97-AF65-F5344CB8AC3E}">
        <p14:creationId xmlns:p14="http://schemas.microsoft.com/office/powerpoint/2010/main" val="188500617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EB01E-37AD-E8FA-9C1F-8C34485262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66527D-97B8-A2AF-9413-6B648B4D60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26BE2E-E8C8-0310-FA51-015CABFE942B}"/>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ED135E5A-7679-96E5-C74E-DEA4AD7FC8E6}"/>
              </a:ext>
            </a:extLst>
          </p:cNvPr>
          <p:cNvSpPr>
            <a:spLocks noGrp="1"/>
          </p:cNvSpPr>
          <p:nvPr>
            <p:ph type="sldNum" sz="quarter" idx="5"/>
          </p:nvPr>
        </p:nvSpPr>
        <p:spPr/>
        <p:txBody>
          <a:bodyPr/>
          <a:lstStyle/>
          <a:p>
            <a:fld id="{AA799BBE-B871-48D7-983C-C0B1D7156DCD}" type="slidenum">
              <a:rPr lang="en-GB" smtClean="0"/>
              <a:t>32</a:t>
            </a:fld>
            <a:endParaRPr lang="en-GB"/>
          </a:p>
        </p:txBody>
      </p:sp>
    </p:spTree>
    <p:extLst>
      <p:ext uri="{BB962C8B-B14F-4D97-AF65-F5344CB8AC3E}">
        <p14:creationId xmlns:p14="http://schemas.microsoft.com/office/powerpoint/2010/main" val="244275755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CDAE7-A72B-1ED4-B079-BDB9E083C8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3B2949-F688-D84D-C862-9A859F3E75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16B365-6B80-7FB6-6763-B38AC2E0DCC8}"/>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31429EC9-F4AF-0020-C441-796E5E846DA7}"/>
              </a:ext>
            </a:extLst>
          </p:cNvPr>
          <p:cNvSpPr>
            <a:spLocks noGrp="1"/>
          </p:cNvSpPr>
          <p:nvPr>
            <p:ph type="sldNum" sz="quarter" idx="5"/>
          </p:nvPr>
        </p:nvSpPr>
        <p:spPr/>
        <p:txBody>
          <a:bodyPr/>
          <a:lstStyle/>
          <a:p>
            <a:fld id="{AA799BBE-B871-48D7-983C-C0B1D7156DCD}" type="slidenum">
              <a:rPr lang="en-GB" smtClean="0"/>
              <a:t>33</a:t>
            </a:fld>
            <a:endParaRPr lang="en-GB"/>
          </a:p>
        </p:txBody>
      </p:sp>
    </p:spTree>
    <p:extLst>
      <p:ext uri="{BB962C8B-B14F-4D97-AF65-F5344CB8AC3E}">
        <p14:creationId xmlns:p14="http://schemas.microsoft.com/office/powerpoint/2010/main" val="112382572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A005E-35F6-3992-F2C3-9EF0342A1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CB3672-5D59-7FB5-06C3-4BAA3371F5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92726B-0260-A0C6-C6F3-AED3D63BE3D9}"/>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64A6D3D6-CD21-D5B2-B466-BD7234800A0D}"/>
              </a:ext>
            </a:extLst>
          </p:cNvPr>
          <p:cNvSpPr>
            <a:spLocks noGrp="1"/>
          </p:cNvSpPr>
          <p:nvPr>
            <p:ph type="sldNum" sz="quarter" idx="5"/>
          </p:nvPr>
        </p:nvSpPr>
        <p:spPr/>
        <p:txBody>
          <a:bodyPr/>
          <a:lstStyle/>
          <a:p>
            <a:fld id="{AA799BBE-B871-48D7-983C-C0B1D7156DCD}" type="slidenum">
              <a:rPr lang="en-GB" smtClean="0"/>
              <a:t>34</a:t>
            </a:fld>
            <a:endParaRPr lang="en-GB"/>
          </a:p>
        </p:txBody>
      </p:sp>
    </p:spTree>
    <p:extLst>
      <p:ext uri="{BB962C8B-B14F-4D97-AF65-F5344CB8AC3E}">
        <p14:creationId xmlns:p14="http://schemas.microsoft.com/office/powerpoint/2010/main" val="263510423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47</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48</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49</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50</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51</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52</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editable_370_image34.png"/><Relationship Id="rIdEditable109" Type="http://schemas.openxmlformats.org/officeDocument/2006/relationships/image" Target="../media/editable_375_image3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editable_369_image33.png"/><Relationship Id="rIdEditable108" Type="http://schemas.openxmlformats.org/officeDocument/2006/relationships/image" Target="../media/editable_374_image38.png"/><Relationship Id="rIdEditable111" Type="http://schemas.openxmlformats.org/officeDocument/2006/relationships/image" Target="../media/editable_377_image41.png"/><Relationship Id="rId2" Type="http://schemas.openxmlformats.org/officeDocument/2006/relationships/video" Target="../media/media1.mp4"/><Relationship Id="rIdEditable107" Type="http://schemas.openxmlformats.org/officeDocument/2006/relationships/image" Target="../media/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editable_368_image32.png"/><Relationship Id="rIdEditable110" Type="http://schemas.openxmlformats.org/officeDocument/2006/relationships/image" Target="../media/editable_376_image40.png"/><Relationship Id="rId5" Type="http://schemas.openxmlformats.org/officeDocument/2006/relationships/slideLayout" Target="../slideLayouts/slideLayout5.xml"/><Relationship Id="rIdEditable101" Type="http://schemas.openxmlformats.org/officeDocument/2006/relationships/image" Target="../media/editable_367_image31.png"/><Relationship Id="rIdEditable106" Type="http://schemas.openxmlformats.org/officeDocument/2006/relationships/image" Target="../media/editable_372_image3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editable_366_image30.png"/><Relationship Id="rIdEditable105" Type="http://schemas.openxmlformats.org/officeDocument/2006/relationships/image" Target="../media/editable_371_image35.png"/></Relationships>
</file>

<file path=ppt/slides/_rels/slide3.xml.rels><?xml version="1.0" encoding="UTF-8" standalone="yes"?>
<Relationships xmlns="http://schemas.openxmlformats.org/package/2006/relationships"><Relationship Id="rId8" Type="http://schemas.openxmlformats.org/officeDocument/2006/relationships/image" Target="../media/image10.gif"/><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neurosim_s4_5.png"/><Relationship Id="rId15" Type="http://schemas.openxmlformats.org/officeDocument/2006/relationships/image" Target="../media/image18.png"/><Relationship Id="rId10" Type="http://schemas.openxmlformats.org/officeDocument/2006/relationships/image" Target="../media/image13.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png"/><Relationship Id="rId14"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4.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5.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46.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54.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6.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63.png"/><Relationship Id="rId11" Type="http://schemas.openxmlformats.org/officeDocument/2006/relationships/image" Target="../media/image65.png"/><Relationship Id="rId5" Type="http://schemas.openxmlformats.org/officeDocument/2006/relationships/image" Target="../media/image1.png"/><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7.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Relationships xmlns="http://schemas.openxmlformats.org/package/2006/relationships"><Relationship Id="rId13" Type="http://schemas.openxmlformats.org/officeDocument/2006/relationships/image" Target="../media/image101.png"/><Relationship Id="rId3" Type="http://schemas.openxmlformats.org/officeDocument/2006/relationships/image" Target="../media/image54.png"/><Relationship Id="rIdLFR118" Type="http://schemas.openxmlformats.org/officeDocument/2006/relationships/image" Target="../media/lfr19_image75.png"/><Relationship Id="rIdLFR105" Type="http://schemas.openxmlformats.org/officeDocument/2006/relationships/image" Target="../media/lfr19_image81.png"/><Relationship Id="rIdLFR100" Type="http://schemas.openxmlformats.org/officeDocument/2006/relationships/image" Target="../media/lfr19_image55.png"/><Relationship Id="rIdLFR121" Type="http://schemas.openxmlformats.org/officeDocument/2006/relationships/image" Target="../media/lfr19_image79.png"/><Relationship Id="rId7" Type="http://schemas.openxmlformats.org/officeDocument/2006/relationships/image" Target="../media/image72.png"/><Relationship Id="rId12" Type="http://schemas.openxmlformats.org/officeDocument/2006/relationships/image" Target="../media/image100.png"/><Relationship Id="rId2" Type="http://schemas.openxmlformats.org/officeDocument/2006/relationships/notesSlide" Target="../notesSlides/notesSlide13.xml"/><Relationship Id="rIdLFR117" Type="http://schemas.openxmlformats.org/officeDocument/2006/relationships/image" Target="../media/lfr19_image33.png"/><Relationship Id="rIdLFR112" Type="http://schemas.openxmlformats.org/officeDocument/2006/relationships/image" Target="../media/lfr19_image80.png"/><Relationship Id="rIdLFR109" Type="http://schemas.openxmlformats.org/officeDocument/2006/relationships/image" Target="../media/lfr19_image85.png"/><Relationship Id="rIdLFR125" Type="http://schemas.openxmlformats.org/officeDocument/2006/relationships/image" Target="../media/lfr19_image87.png"/><Relationship Id="rId1" Type="http://schemas.openxmlformats.org/officeDocument/2006/relationships/slideLayout" Target="../slideLayouts/slideLayout5.xml"/><Relationship Id="rIdLFR120" Type="http://schemas.openxmlformats.org/officeDocument/2006/relationships/image" Target="../media/lfr19_image70.png"/><Relationship Id="rIdLFR108" Type="http://schemas.openxmlformats.org/officeDocument/2006/relationships/image" Target="../media/lfr19_image77.png"/><Relationship Id="rId6" Type="http://schemas.openxmlformats.org/officeDocument/2006/relationships/image" Target="../media/image71.png"/><Relationship Id="rId11" Type="http://schemas.openxmlformats.org/officeDocument/2006/relationships/image" Target="../media/image74.png"/><Relationship Id="rIdLFR111" Type="http://schemas.openxmlformats.org/officeDocument/2006/relationships/image" Target="../media/lfr19_image76.png"/><Relationship Id="rId5" Type="http://schemas.openxmlformats.org/officeDocument/2006/relationships/image" Target="../media/image70.png"/><Relationship Id="rIdLFR124" Type="http://schemas.openxmlformats.org/officeDocument/2006/relationships/image" Target="../media/lfr19_image82.png"/><Relationship Id="rIdLFR116" Type="http://schemas.openxmlformats.org/officeDocument/2006/relationships/image" Target="../media/lfr19_image84.png"/><Relationship Id="rId15" Type="http://schemas.openxmlformats.org/officeDocument/2006/relationships/image" Target="../media/image103.png"/><Relationship Id="rIdLFR115" Type="http://schemas.openxmlformats.org/officeDocument/2006/relationships/image" Target="../media/lfr19_image71.png"/><Relationship Id="rIdLFR107" Type="http://schemas.openxmlformats.org/officeDocument/2006/relationships/image" Target="../media/lfr19_image72.png"/><Relationship Id="rIdLFR102" Type="http://schemas.openxmlformats.org/officeDocument/2006/relationships/image" Target="../media/lfr19_image78.png"/><Relationship Id="rId10" Type="http://schemas.openxmlformats.org/officeDocument/2006/relationships/image" Target="../media/image97.png"/><Relationship Id="rId4" Type="http://schemas.openxmlformats.org/officeDocument/2006/relationships/image" Target="../media/image1.png"/><Relationship Id="rIdLFR123" Type="http://schemas.openxmlformats.org/officeDocument/2006/relationships/image" Target="../media/lfr19_image74.png"/><Relationship Id="rIdLFR119" Type="http://schemas.openxmlformats.org/officeDocument/2006/relationships/image" Target="../media/lfr19_image83.png"/><Relationship Id="rId9" Type="http://schemas.openxmlformats.org/officeDocument/2006/relationships/image" Target="../media/image96.png"/><Relationship Id="rId14" Type="http://schemas.openxmlformats.org/officeDocument/2006/relationships/image" Target="../media/image102.png"/><Relationship Id="rIdLFR114" Type="http://schemas.openxmlformats.org/officeDocument/2006/relationships/image" Target="../media/lfr19_image34.png"/><Relationship Id="rIdLFR106" Type="http://schemas.openxmlformats.org/officeDocument/2006/relationships/image" Target="../media/lfr19_image35.png"/><Relationship Id="rIdLFR101" Type="http://schemas.openxmlformats.org/officeDocument/2006/relationships/image" Target="../media/lfr19_image73.png"/><Relationship Id="rId8" Type="http://schemas.openxmlformats.org/officeDocument/2006/relationships/image" Target="../media/image73.png"/><Relationship Id="rIdIndustry136" Type="http://schemas.openxmlformats.org/officeDocument/2006/relationships/image" Target="../media/image6.jpeg"/><Relationship Id="rIdIndustry137" Type="http://schemas.openxmlformats.org/officeDocument/2006/relationships/image" Target="../media/image7.jp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100.png"/><Relationship Id="rId2" Type="http://schemas.openxmlformats.org/officeDocument/2006/relationships/notesSlide" Target="../notesSlides/notesSlide15.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image" Target="../media/image1200.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6.mp4"/><Relationship Id="rId16" Type="http://schemas.openxmlformats.org/officeDocument/2006/relationships/image" Target="../media/image701.png"/><Relationship Id="rId1" Type="http://schemas.microsoft.com/office/2007/relationships/media" Target="../media/media6.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75.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28.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7.mp4"/><Relationship Id="rIdEditable107" Type="http://schemas.openxmlformats.org/officeDocument/2006/relationships/image" Target="../media/editable_385_image159.png"/><Relationship Id="rId1" Type="http://schemas.microsoft.com/office/2007/relationships/media" Target="../media/media7.mp4"/><Relationship Id="rIdEditable102" Type="http://schemas.openxmlformats.org/officeDocument/2006/relationships/image" Target="../media/editable_380_image155.png"/><Relationship Id="rId6" Type="http://schemas.openxmlformats.org/officeDocument/2006/relationships/image" Target="../media/image721.png"/><Relationship Id="rId5" Type="http://schemas.openxmlformats.org/officeDocument/2006/relationships/image" Target="../media/image76.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21.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29.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8.mp4"/><Relationship Id="rId1" Type="http://schemas.microsoft.com/office/2007/relationships/media" Target="../media/media8.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77.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22.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30.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78.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23.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31.xml.rels><?xml version="1.0" encoding="UTF-8" standalone="yes"?>
<Relationships xmlns="http://schemas.openxmlformats.org/package/2006/relationships"><Relationship Id="rId3" Type="http://schemas.openxmlformats.org/officeDocument/2006/relationships/image" Target="../media/image79.png"/><Relationship Id="rId12" Type="http://schemas.openxmlformats.org/officeDocument/2006/relationships/image" Target="../media/image341.png"/><Relationship Id="rId2" Type="http://schemas.openxmlformats.org/officeDocument/2006/relationships/notesSlide" Target="../notesSlides/notesSlide24.xml"/><Relationship Id="rId1" Type="http://schemas.openxmlformats.org/officeDocument/2006/relationships/slideLayout" Target="../slideLayouts/slideLayout12.xml"/><Relationship Id="rId4" Type="http://schemas.openxmlformats.org/officeDocument/2006/relationships/image" Target="../media/image80.png"/></Relationships>
</file>

<file path=ppt/slides/_rels/slide32.xml.rels><?xml version="1.0" encoding="UTF-8" standalone="yes"?>
<Relationships xmlns="http://schemas.openxmlformats.org/package/2006/relationships"><Relationship Id="rId3" Type="http://schemas.openxmlformats.org/officeDocument/2006/relationships/image" Target="../media/image79.png"/><Relationship Id="rId12" Type="http://schemas.openxmlformats.org/officeDocument/2006/relationships/image" Target="../media/image381.png"/><Relationship Id="rId2" Type="http://schemas.openxmlformats.org/officeDocument/2006/relationships/notesSlide" Target="../notesSlides/notesSlide25.xml"/><Relationship Id="rId1" Type="http://schemas.openxmlformats.org/officeDocument/2006/relationships/slideLayout" Target="../slideLayouts/slideLayout12.xml"/><Relationship Id="rId4" Type="http://schemas.openxmlformats.org/officeDocument/2006/relationships/image" Target="../media/image81.png"/></Relationships>
</file>

<file path=ppt/slides/_rels/slide33.xml.rels><?xml version="1.0" encoding="UTF-8" standalone="yes"?>
<Relationships xmlns="http://schemas.openxmlformats.org/package/2006/relationships"><Relationship Id="rId3" Type="http://schemas.openxmlformats.org/officeDocument/2006/relationships/image" Target="../media/image79.png"/><Relationship Id="rId12" Type="http://schemas.openxmlformats.org/officeDocument/2006/relationships/image" Target="../media/image401.pn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82.png"/></Relationships>
</file>

<file path=ppt/slides/_rels/slide34.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openxmlformats.org/officeDocument/2006/relationships/image" Target="../media/image83.png"/></Relationships>
</file>

<file path=ppt/slides/_rels/slide35.xml.rels><?xml version="1.0" encoding="UTF-8" standalone="yes"?>
<Relationships xmlns="http://schemas.openxmlformats.org/package/2006/relationships"><Relationship Id="rId13" Type="http://schemas.openxmlformats.org/officeDocument/2006/relationships/image" Target="../media/image342.png"/><Relationship Id="rId12" Type="http://schemas.openxmlformats.org/officeDocument/2006/relationships/image" Target="../media/image331.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0.png"/><Relationship Id="rId5" Type="http://schemas.openxmlformats.org/officeDocument/2006/relationships/image" Target="../media/image970.png"/><Relationship Id="rId4" Type="http://schemas.openxmlformats.org/officeDocument/2006/relationships/image" Target="../media/image960.png"/><Relationship Id="rId14" Type="http://schemas.openxmlformats.org/officeDocument/2006/relationships/image" Target="../media/image352.png"/></Relationships>
</file>

<file path=ppt/slides/_rels/slide36.xml.rels><?xml version="1.0" encoding="UTF-8" standalone="yes"?>
<Relationships xmlns="http://schemas.openxmlformats.org/package/2006/relationships"><Relationship Id="rId8" Type="http://schemas.openxmlformats.org/officeDocument/2006/relationships/image" Target="../media/image460.png"/><Relationship Id="rId3" Type="http://schemas.openxmlformats.org/officeDocument/2006/relationships/image" Target="../media/image411.png"/><Relationship Id="rId7" Type="http://schemas.openxmlformats.org/officeDocument/2006/relationships/image" Target="../media/image450.png"/><Relationship Id="rId2" Type="http://schemas.openxmlformats.org/officeDocument/2006/relationships/image" Target="../media/image402.png"/><Relationship Id="rId1" Type="http://schemas.openxmlformats.org/officeDocument/2006/relationships/slideLayout" Target="../slideLayouts/slideLayout12.xml"/><Relationship Id="rId6" Type="http://schemas.openxmlformats.org/officeDocument/2006/relationships/image" Target="../media/image440.png"/><Relationship Id="rId5" Type="http://schemas.openxmlformats.org/officeDocument/2006/relationships/image" Target="../media/image430.png"/><Relationship Id="rId4" Type="http://schemas.openxmlformats.org/officeDocument/2006/relationships/image" Target="../media/image421.png"/></Relationships>
</file>

<file path=ppt/slides/_rels/slide37.xml.rels><?xml version="1.0" encoding="UTF-8" standalone="yes"?>
<Relationships xmlns="http://schemas.openxmlformats.org/package/2006/relationships"><Relationship Id="rId13" Type="http://schemas.openxmlformats.org/officeDocument/2006/relationships/image" Target="../media/image391.png"/><Relationship Id="rId18" Type="http://schemas.openxmlformats.org/officeDocument/2006/relationships/image" Target="../media/image521.png"/><Relationship Id="rId3" Type="http://schemas.openxmlformats.org/officeDocument/2006/relationships/image" Target="../media/image371.png"/><Relationship Id="rId12" Type="http://schemas.openxmlformats.org/officeDocument/2006/relationships/image" Target="../media/image382.png"/><Relationship Id="rId17" Type="http://schemas.openxmlformats.org/officeDocument/2006/relationships/image" Target="../media/image510.png"/><Relationship Id="rId2" Type="http://schemas.openxmlformats.org/officeDocument/2006/relationships/image" Target="../media/image361.png"/><Relationship Id="rId16" Type="http://schemas.openxmlformats.org/officeDocument/2006/relationships/image" Target="../media/image500.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0.png"/><Relationship Id="rId5" Type="http://schemas.openxmlformats.org/officeDocument/2006/relationships/image" Target="../media/image970.png"/><Relationship Id="rId15" Type="http://schemas.openxmlformats.org/officeDocument/2006/relationships/image" Target="../media/image490.png"/><Relationship Id="rId4" Type="http://schemas.openxmlformats.org/officeDocument/2006/relationships/image" Target="../media/image960.png"/><Relationship Id="rId14" Type="http://schemas.openxmlformats.org/officeDocument/2006/relationships/image" Target="../media/image480.png"/></Relationships>
</file>

<file path=ppt/slides/_rels/slide38.xml.rels><?xml version="1.0" encoding="UTF-8" standalone="yes"?>
<Relationships xmlns="http://schemas.openxmlformats.org/package/2006/relationships"><Relationship Id="rId8" Type="http://schemas.openxmlformats.org/officeDocument/2006/relationships/image" Target="../media/image810.png"/><Relationship Id="rId3" Type="http://schemas.openxmlformats.org/officeDocument/2006/relationships/image" Target="../media/image540.png"/><Relationship Id="rId7" Type="http://schemas.openxmlformats.org/officeDocument/2006/relationships/image" Target="../media/image430.png"/><Relationship Id="rId2" Type="http://schemas.openxmlformats.org/officeDocument/2006/relationships/image" Target="../media/image530.png"/><Relationship Id="rId1" Type="http://schemas.openxmlformats.org/officeDocument/2006/relationships/slideLayout" Target="../slideLayouts/slideLayout12.xml"/><Relationship Id="rId6" Type="http://schemas.openxmlformats.org/officeDocument/2006/relationships/image" Target="../media/image421.png"/><Relationship Id="rId11" Type="http://schemas.openxmlformats.org/officeDocument/2006/relationships/image" Target="../media/image84.png"/><Relationship Id="rId5" Type="http://schemas.openxmlformats.org/officeDocument/2006/relationships/image" Target="../media/image411.png"/><Relationship Id="rId10" Type="http://schemas.openxmlformats.org/officeDocument/2006/relationships/image" Target="../media/image830.png"/><Relationship Id="rId4" Type="http://schemas.openxmlformats.org/officeDocument/2006/relationships/image" Target="../media/image402.png"/><Relationship Id="rId9" Type="http://schemas.openxmlformats.org/officeDocument/2006/relationships/image" Target="../media/image820.png"/></Relationships>
</file>

<file path=ppt/slides/_rels/slide39.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690.png"/><Relationship Id="rId18" Type="http://schemas.openxmlformats.org/officeDocument/2006/relationships/image" Target="../media/image720.png"/><Relationship Id="rId3" Type="http://schemas.openxmlformats.org/officeDocument/2006/relationships/image" Target="../media/image590.png"/><Relationship Id="rId7" Type="http://schemas.openxmlformats.org/officeDocument/2006/relationships/image" Target="../media/image630.png"/><Relationship Id="rId12" Type="http://schemas.openxmlformats.org/officeDocument/2006/relationships/image" Target="../media/image680.png"/><Relationship Id="rId17" Type="http://schemas.openxmlformats.org/officeDocument/2006/relationships/image" Target="../media/image710.png"/><Relationship Id="rId2" Type="http://schemas.openxmlformats.org/officeDocument/2006/relationships/image" Target="../media/image580.png"/><Relationship Id="rId16" Type="http://schemas.openxmlformats.org/officeDocument/2006/relationships/image" Target="../media/image86.png"/><Relationship Id="rId1" Type="http://schemas.openxmlformats.org/officeDocument/2006/relationships/slideLayout" Target="../slideLayouts/slideLayout12.xml"/><Relationship Id="rId6" Type="http://schemas.openxmlformats.org/officeDocument/2006/relationships/image" Target="../media/image621.png"/><Relationship Id="rId11" Type="http://schemas.openxmlformats.org/officeDocument/2006/relationships/image" Target="../media/image670.png"/><Relationship Id="rId5" Type="http://schemas.openxmlformats.org/officeDocument/2006/relationships/image" Target="../media/image610.png"/><Relationship Id="rId15" Type="http://schemas.openxmlformats.org/officeDocument/2006/relationships/image" Target="../media/image85.png"/><Relationship Id="rId10" Type="http://schemas.openxmlformats.org/officeDocument/2006/relationships/image" Target="../media/image661.png"/><Relationship Id="rId4" Type="http://schemas.openxmlformats.org/officeDocument/2006/relationships/image" Target="../media/image600.png"/><Relationship Id="rId9" Type="http://schemas.openxmlformats.org/officeDocument/2006/relationships/image" Target="../media/image651.png"/><Relationship Id="rId14" Type="http://schemas.openxmlformats.org/officeDocument/2006/relationships/image" Target="../media/image700.png"/></Relationships>
</file>

<file path=ppt/slides/_rels/slide40.xml.rels><?xml version="1.0" encoding="UTF-8" standalone="yes"?>
<Relationships xmlns="http://schemas.openxmlformats.org/package/2006/relationships"><Relationship Id="rId3" Type="http://schemas.openxmlformats.org/officeDocument/2006/relationships/image" Target="../media/image411.png"/><Relationship Id="rId7" Type="http://schemas.openxmlformats.org/officeDocument/2006/relationships/image" Target="../media/image450.png"/><Relationship Id="rId2" Type="http://schemas.openxmlformats.org/officeDocument/2006/relationships/image" Target="../media/image402.png"/><Relationship Id="rId1" Type="http://schemas.openxmlformats.org/officeDocument/2006/relationships/slideLayout" Target="../slideLayouts/slideLayout12.xml"/><Relationship Id="rId6" Type="http://schemas.openxmlformats.org/officeDocument/2006/relationships/image" Target="../media/image440.png"/><Relationship Id="rId5" Type="http://schemas.openxmlformats.org/officeDocument/2006/relationships/image" Target="../media/image430.png"/><Relationship Id="rId4" Type="http://schemas.openxmlformats.org/officeDocument/2006/relationships/image" Target="../media/image421.png"/></Relationships>
</file>

<file path=ppt/slides/_rels/slide41.xml.rels><?xml version="1.0" encoding="UTF-8" standalone="yes"?>
<Relationships xmlns="http://schemas.openxmlformats.org/package/2006/relationships"><Relationship Id="rId3" Type="http://schemas.openxmlformats.org/officeDocument/2006/relationships/image" Target="../media/image411.png"/><Relationship Id="rId7" Type="http://schemas.openxmlformats.org/officeDocument/2006/relationships/image" Target="../media/image450.png"/><Relationship Id="rId2" Type="http://schemas.openxmlformats.org/officeDocument/2006/relationships/image" Target="../media/image402.png"/><Relationship Id="rId1" Type="http://schemas.openxmlformats.org/officeDocument/2006/relationships/slideLayout" Target="../slideLayouts/slideLayout12.xml"/><Relationship Id="rId6" Type="http://schemas.openxmlformats.org/officeDocument/2006/relationships/image" Target="../media/image440.png"/><Relationship Id="rId5" Type="http://schemas.openxmlformats.org/officeDocument/2006/relationships/image" Target="../media/image430.png"/><Relationship Id="rId4" Type="http://schemas.openxmlformats.org/officeDocument/2006/relationships/image" Target="../media/image42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28.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87.png"/><Relationship Id="rIdClosing4" Type="http://schemas.openxmlformats.org/officeDocument/2006/relationships/image" Target="../media/image33.png"/><Relationship Id="rId4" Type="http://schemas.openxmlformats.org/officeDocument/2006/relationships/image" Target="../media/image7.jpg"/></Relationships>
</file>

<file path=ppt/slides/_rels/slide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45.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29.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46.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30.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47.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1.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48.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2.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49.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33.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89.png"/></Relationships>
</file>

<file path=ppt/slides/_rels/slide50.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88.png"/><Relationship Id="rId2" Type="http://schemas.openxmlformats.org/officeDocument/2006/relationships/notesSlide" Target="../notesSlides/notesSlide34.xml"/><Relationship Id="rId1" Type="http://schemas.openxmlformats.org/officeDocument/2006/relationships/slideLayout" Target="../slideLayouts/slideLayout12.xml"/><Relationship Id="rId4" Type="http://schemas.openxmlformats.org/officeDocument/2006/relationships/image" Target="../media/image90.png"/></Relationships>
</file>

<file path=ppt/slides/_rels/slide51.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35.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91.png"/></Relationships>
</file>

<file path=ppt/slides/_rels/slide52.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36.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92.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m="http://schemas.openxmlformats.org/officeDocument/2006/math" xmlns="">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m="http://schemas.openxmlformats.org/officeDocument/2006/math" xmlns="">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m="http://schemas.openxmlformats.org/officeDocument/2006/math" xmlns="">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 presetClass="mediacall" presetSubtype="0" fill="hold" nodeType="clickEffect">
                                  <p:stCondLst>
                                    <p:cond delay="0"/>
                                  </p:stCondLst>
                                  <p:childTnLst>
                                    <p:cmd type="call" cmd="playFrom(0.0)">
                                      <p:cBhvr>
                                        <p:cTn id="13" dur="10000" fill="hold"/>
                                        <p:tgtEl>
                                          <p:spTgt spid="21"/>
                                        </p:tgtEl>
                                      </p:cBhvr>
                                    </p:cmd>
                                    <p:anim calcmode="lin" valueType="num">
                                      <p:cBhvr additive="base">
                                        <p:cTn id="14"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15"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16"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17"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p:cTn id="18" fill="hold" display="0">
                  <p:stCondLst>
                    <p:cond delay="indefinite"/>
                  </p:stCondLst>
                </p:cTn>
                <p:tgtEl>
                  <p:spTgt spid="20"/>
                </p:tgtEl>
              </p:cMediaNode>
            </p:video>
            <p:seq concurrent="1" nextAc="seek">
              <p:cTn id="19" restart="whenNotActive" fill="hold" evtFilter="cancelBubble" nodeType="interactiveSeq">
                <p:stCondLst>
                  <p:cond evt="onClick" delay="0">
                    <p:tgtEl>
                      <p:spTgt spid="20"/>
                    </p:tgtEl>
                  </p:cond>
                </p:stCondLst>
                <p:endSync evt="end" delay="0">
                  <p:rtn val="all"/>
                </p:endSync>
                <p:childTnLst>
                  <p:par>
                    <p:cTn id="20" fill="hold">
                      <p:stCondLst>
                        <p:cond delay="0"/>
                      </p:stCondLst>
                      <p:childTnLst>
                        <p:par>
                          <p:cTn id="21" fill="hold">
                            <p:stCondLst>
                              <p:cond delay="0"/>
                            </p:stCondLst>
                            <p:childTnLst>
                              <p:par>
                                <p:cTn id="22" presetID="2" presetClass="mediacall" presetSubtype="0" fill="hold" nodeType="clickEffect">
                                  <p:stCondLst>
                                    <p:cond delay="0"/>
                                  </p:stCondLst>
                                  <p:childTnLst>
                                    <p:cmd type="call" cmd="togglePause">
                                      <p:cBhvr>
                                        <p:cTn id="23" dur="1" fill="hold"/>
                                        <p:tgtEl>
                                          <p:spTgt spid="20"/>
                                        </p:tgtEl>
                                      </p:cBhvr>
                                    </p:cmd>
                                  </p:childTnLst>
                                </p:cTn>
                              </p:par>
                            </p:childTnLst>
                          </p:cTn>
                        </p:par>
                      </p:childTnLst>
                    </p:cTn>
                  </p:par>
                </p:childTnLst>
              </p:cTn>
              <p:nextCondLst>
                <p:cond evt="onClick" delay="0">
                  <p:tgtEl>
                    <p:spTgt spid="20"/>
                  </p:tgtEl>
                </p:cond>
              </p:nextCondLst>
            </p:seq>
            <p:video>
              <p:cMediaNode vol="80000">
                <p:cTn id="24" fill="hold" display="0">
                  <p:stCondLst>
                    <p:cond delay="indefinite"/>
                  </p:stCondLst>
                </p:cTn>
                <p:tgtEl>
                  <p:spTgt spid="21"/>
                </p:tgtEl>
              </p:cMediaNode>
            </p:video>
            <p:seq concurrent="1" nextAc="seek">
              <p:cTn id="25" restart="whenNotActive" fill="hold" evtFilter="cancelBubble" nodeType="interactiveSeq">
                <p:stCondLst>
                  <p:cond evt="onClick" delay="0">
                    <p:tgtEl>
                      <p:spTgt spid="21"/>
                    </p:tgtEl>
                  </p:cond>
                </p:stCondLst>
                <p:endSync evt="end" delay="0">
                  <p:rtn val="all"/>
                </p:endSync>
                <p:childTnLst>
                  <p:par>
                    <p:cTn id="26" fill="hold">
                      <p:stCondLst>
                        <p:cond delay="0"/>
                      </p:stCondLst>
                      <p:childTnLst>
                        <p:par>
                          <p:cTn id="27" fill="hold">
                            <p:stCondLst>
                              <p:cond delay="0"/>
                            </p:stCondLst>
                            <p:childTnLst>
                              <p:par>
                                <p:cTn id="28" presetID="2" presetClass="mediacall" presetSubtype="0" fill="hold" nodeType="clickEffect">
                                  <p:stCondLst>
                                    <p:cond delay="0"/>
                                  </p:stCondLst>
                                  <p:childTnLst>
                                    <p:cmd type="call" cmd="togglePause">
                                      <p:cBhvr>
                                        <p:cTn id="29"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Cambria Math" panose="02040503050406030204" pitchFamily="18" charset="0"/>
                        </a:rPr>
                        <m:t>𝛿</m:t>
                      </m:r>
                      <m:r>
                        <a:rPr lang="en-US" sz="1800" b="0" i="1" smtClean="0">
                          <a:latin typeface="Cambria Math" panose="02040503050406030204" pitchFamily="18" charset="0"/>
                        </a:rPr>
                        <m:t>∈[−0.5,0.5]</m:t>
                      </m:r>
                    </m:oMath>
                  </m:oMathPara>
                </a14:m>
                <a:endParaRPr lang="en-US" b="0" dirty="0"/>
              </a:p>
              <a:p>
                <a:endParaRPr lang="en-US" b="0" dirty="0"/>
              </a:p>
              <a:p>
                <a:endParaRPr lang="en-NL" dirty="0"/>
              </a:p>
            </p:txBody>
          </p:sp>
        </mc:Choice>
        <mc:Fallback xmlns:m="http://schemas.openxmlformats.org/officeDocument/2006/math"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537024" cy="784830"/>
              </a:xfrm>
              <a:prstGeom prst="rect">
                <a:avLst/>
              </a:prstGeom>
              <a:blipFill>
                <a:blip r:embed="rId5"/>
                <a:stretch>
                  <a:fillRect r="-3571"/>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m="http://schemas.openxmlformats.org/officeDocument/2006/math" xmlns="">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remove" display="0">
                  <p:stCondLst>
                    <p:cond delay="indefinite"/>
                  </p:stCondLst>
                </p:cTn>
                <p:tgtEl>
                  <p:spTgt spid="4"/>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xit" presetSubtype="0" fill="hold" grpId="0" nodeType="withEffect">
                                  <p:stCondLst>
                                    <p:cond delay="0"/>
                                  </p:stCondLst>
                                  <p:childTnLst>
                                    <p:set>
                                      <p:cBhvr>
                                        <p:cTn id="14" dur="1" fill="hold">
                                          <p:stCondLst>
                                            <p:cond delay="0"/>
                                          </p:stCondLst>
                                        </p:cTn>
                                        <p:tgtEl>
                                          <p:spTgt spid="5009"/>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7"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mc:Ignorable="a14">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4"/>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4813300" y="1193800"/>
            <a:ext cx="3750389" cy="1803908"/>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LFR1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LFR1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LFR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LFR100"/>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14"/>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8"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p:sp>
              <p:nvSpPr>
                <p:cNvPr id="20030"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1"/>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200">
                        <a:solidFill>
                          <a:srgbClr val="252529"/>
                        </a:solidFill>
                        <a:latin typeface="Cambria Math"/>
                      </a:rPr>
                      <m:t xml:space="preserve">⇔</m:t>
                    </m:r>
                  </m:oMath>
                </m:oMathPara>
              </a14:m>
              <a:endParaRPr sz="2200"/>
            </a:p>
          </p:txBody>
        </p:sp>
      </p:gr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aseline="0" b="0" i="0" u="none">
                <a:solidFill>
                  <a:srgbClr val="252529"/>
                </a:solidFill>
                <a:latin typeface="Aptos"/>
                <a:ea typeface="Aptos"/>
                <a:cs typeface="Aptos"/>
              </a:rPr>
              <a:t xml:space="preserve">Connect the controller K.</a:t>
            </a:r>
            <a:endParaRPr sz="150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46A1DA8-3169-D41D-49F1-F28B39BF7C9E}"/>
                  </a:ext>
                </a:extLst>
              </p:cNvPr>
              <p:cNvSpPr txBox="1"/>
              <p:nvPr/>
            </p:nvSpPr>
            <p:spPr>
              <a:xfrm>
                <a:off x="2025650" y="2260600"/>
                <a:ext cx="5080000" cy="13335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acc>
                        <m:accPr>
                          <m:chr m:val="̇"/>
                          <m:ctrlPr>
                            <a:rPr lang="en-US" sz="1600" b="0" i="1" smtClean="0">
                              <a:latin typeface="Cambria Math" panose="02040503050406030204" pitchFamily="18" charset="0"/>
                            </a:rPr>
                          </m:ctrlPr>
                        </m:accPr>
                        <m:e>
                          <m:r>
                            <a:rPr lang="en-US" sz="1600" b="0" i="1" smtClean="0">
                              <a:latin typeface="Cambria Math" panose="02040503050406030204" pitchFamily="18" charset="0"/>
                            </a:rPr>
                            <m:t>𝑇</m:t>
                          </m:r>
                        </m:e>
                      </m:acc>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r>
                        <a:rPr lang="en-US" sz="1600" b="0" i="1" smtClean="0">
                          <a:latin typeface="Cambria Math" panose="02040503050406030204" pitchFamily="18" charset="0"/>
                        </a:rPr>
                        <m:t>=</m:t>
                      </m:r>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1</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𝑇</m:t>
                          </m:r>
                        </m:e>
                        <m:sub>
                          <m:r>
                            <a:rPr lang="en-US" sz="1600" b="0" i="1" smtClean="0">
                              <a:latin typeface="Cambria Math" panose="02040503050406030204" pitchFamily="18" charset="0"/>
                            </a:rPr>
                            <m:t>𝑠</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2</m:t>
                          </m:r>
                        </m:sub>
                      </m:sSub>
                      <m:r>
                        <a:rPr lang="en-US" sz="1600" b="0" i="1" smtClean="0">
                          <a:latin typeface="Cambria Math" panose="02040503050406030204" pitchFamily="18" charset="0"/>
                        </a:rPr>
                        <m:t>(</m:t>
                      </m:r>
                      <m:r>
                        <a:rPr lang="en-US" sz="1600" b="0" i="1" smtClean="0">
                          <a:latin typeface="Cambria Math" panose="02040503050406030204" pitchFamily="18" charset="0"/>
                        </a:rPr>
                        <m:t>𝑡</m:t>
                      </m:r>
                      <m:r>
                        <a:rPr lang="en-US" sz="1600" b="0" i="1" smtClean="0">
                          <a:latin typeface="Cambria Math" panose="02040503050406030204" pitchFamily="18" charset="0"/>
                        </a:rPr>
                        <m:t>) </m:t>
                      </m:r>
                    </m:oMath>
                  </m:oMathPara>
                </a14:m>
                <a:endParaRPr lang="en-NL" sz="1600" dirty="0"/>
              </a:p>
            </p:txBody>
          </p:sp>
        </mc:Choice>
        <mc:Fallback xmlns="">
          <p:sp>
            <p:nvSpPr>
              <p:cNvPr id="17" name="TextBox 16">
                <a:extLst>
                  <a:ext uri="{FF2B5EF4-FFF2-40B4-BE49-F238E27FC236}">
                    <a16:creationId xmlns:a16="http://schemas.microsoft.com/office/drawing/2014/main" id="{546A1DA8-3169-D41D-49F1-F28B39BF7C9E}"/>
                  </a:ext>
                </a:extLst>
              </p:cNvPr>
              <p:cNvSpPr txBox="1">
                <a:spLocks noRot="1" noChangeAspect="1" noMove="1" noResize="1" noEditPoints="1" noAdjustHandles="1" noChangeArrowheads="1" noChangeShapeType="1" noTextEdit="1"/>
              </p:cNvSpPr>
              <p:nvPr/>
            </p:nvSpPr>
            <p:spPr>
              <a:xfrm>
                <a:off x="2025650" y="2260600"/>
                <a:ext cx="5080000" cy="1333500"/>
              </a:xfrm>
              <a:prstGeom prst="rect">
                <a:avLst/>
              </a:prstGeom>
              <a:blipFill>
                <a:blip r:embed="rId3"/>
                <a:stretch>
                  <a:fillRect t="-22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421560D5-3827-94F1-89E3-71A5FECACCB6}"/>
                  </a:ext>
                </a:extLst>
              </p:cNvPr>
              <p:cNvSpPr txBox="1"/>
              <p:nvPr/>
            </p:nvSpPr>
            <p:spPr>
              <a:xfrm>
                <a:off x="5511800" y="2190750"/>
                <a:ext cx="5080000" cy="762000"/>
              </a:xfrm>
              <a:prstGeom prst="rect">
                <a:avLst/>
              </a:prstGeom>
              <a:noFill/>
              <a:ln>
                <a:noFill/>
              </a:ln>
            </p:spPr>
            <p:txBody>
              <a:bodyPr wrap="none" lIns="0" tIns="0" rIns="0" bIns="0" rtlCol="0" anchor="t">
                <a:noAutofit/>
              </a:bodyPr>
              <a:lstStyle/>
              <a:p>
                <a:pPr algn="ctr">
                  <a:spcAft>
                    <a:spcPts val="0"/>
                  </a:spcAft>
                  <a:defRPr sz="1500" b="0" u="none" cap="none">
                    <a:solidFill>
                      <a:srgbClr val="252529"/>
                    </a:solidFill>
                    <a:latin typeface="Cambria Math"/>
                    <a:ea typeface="Cambria Math"/>
                    <a:cs typeface="Cambria Math"/>
                  </a:defRPr>
                </a:pPr>
                <a14:m>
                  <m:oMathPara xmlns:m="http://schemas.openxmlformats.org/officeDocument/2006/math">
                    <m:oMath>
                      <m:eqArr>
                        <m:eqArrPr>
                          <m:ctrlPr>
                            <a:rPr lang="en-US" sz="1500" b="0" i="1" smtClean="0">
                              <a:latin typeface="Cambria Math" panose="02040503050406030204" pitchFamily="18" charset="0"/>
                            </a:rPr>
                          </m:ctrlPr>
                        </m:eqArrPr>
                        <m:e>
                          <m:acc>
                            <m:accPr>
                              <m:chr m:val="̇"/>
                              <m:ctrlPr>
                                <a:rPr lang="en-US" sz="1500" b="0" i="1" smtClean="0">
                                  <a:latin typeface="Cambria Math" panose="02040503050406030204" pitchFamily="18" charset="0"/>
                                </a:rPr>
                              </m:ctrlPr>
                            </m:accPr>
                            <m:e>
                              <m:r>
                                <a:rPr lang="en-US" sz="1500" b="0" i="1" smtClean="0">
                                  <a:latin typeface="Cambria Math" panose="02040503050406030204" pitchFamily="18" charset="0"/>
                                </a:rPr>
                                <m:t>𝑢</m:t>
                              </m:r>
                            </m:e>
                          </m:acc>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𝑠</m:t>
                              </m:r>
                            </m:e>
                          </m:d>
                          <m:r>
                            <a:rPr lang="en-US" sz="1500" b="0" i="1" smtClean="0">
                              <a:latin typeface="Cambria Math" panose="02040503050406030204" pitchFamily="18" charset="0"/>
                            </a:rPr>
                            <m:t>=</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1</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r>
                            <a:rPr lang="en-US" sz="1500" b="0" i="1" smtClean="0">
                              <a:latin typeface="Cambria Math" panose="02040503050406030204" pitchFamily="18" charset="0"/>
                            </a:rPr>
                            <m:t>𝑠</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2</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nary>
                            <m:naryPr>
                              <m:limLoc m:val="subSup"/>
                              <m:ctrlPr>
                                <a:rPr lang="en-US" sz="1500" b="0" i="1" smtClean="0">
                                  <a:latin typeface="Cambria Math" panose="02040503050406030204" pitchFamily="18" charset="0"/>
                                </a:rPr>
                              </m:ctrlPr>
                            </m:naryPr>
                            <m:sub>
                              <m:r>
                                <a:rPr lang="en-US" sz="1500" b="0" i="1" smtClean="0">
                                  <a:latin typeface="Cambria Math" panose="02040503050406030204" pitchFamily="18" charset="0"/>
                                </a:rPr>
                                <m:t>0</m:t>
                              </m:r>
                            </m:sub>
                            <m:sup>
                              <m:r>
                                <a:rPr lang="en-US" sz="1500" b="0" i="1" smtClean="0">
                                  <a:latin typeface="Cambria Math" panose="02040503050406030204" pitchFamily="18" charset="0"/>
                                </a:rPr>
                                <m:t>𝑠</m:t>
                              </m:r>
                            </m:sup>
                            <m:e>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𝑠</m:t>
                                  </m:r>
                                  <m:r>
                                    <a:rPr lang="en-US" sz="1500" b="0" i="1" smtClean="0">
                                      <a:latin typeface="Cambria Math" panose="02040503050406030204" pitchFamily="18" charset="0"/>
                                    </a:rPr>
                                    <m:t>−</m:t>
                                  </m:r>
                                  <m:r>
                                    <a:rPr lang="en-US" sz="1500" b="0" i="1" smtClean="0">
                                      <a:latin typeface="Cambria Math" panose="02040503050406030204" pitchFamily="18" charset="0"/>
                                    </a:rPr>
                                    <m:t>𝜉</m:t>
                                  </m:r>
                                </m:e>
                              </m:d>
                            </m:e>
                          </m:nary>
                          <m:sSub>
                            <m:sSubPr>
                              <m:ctrlPr>
                                <a:rPr lang="en-US" sz="1500" b="0" i="1" smtClean="0">
                                  <a:latin typeface="Cambria Math" panose="02040503050406030204" pitchFamily="18" charset="0"/>
                                </a:rPr>
                              </m:ctrlPr>
                            </m:sSubPr>
                            <m:e>
                              <m:r>
                                <a:rPr lang="en-US" sz="1500" b="0" i="1" smtClean="0">
                                  <a:latin typeface="Cambria Math" panose="02040503050406030204" pitchFamily="18" charset="0"/>
                                </a:rPr>
                                <m:t>𝑢</m:t>
                              </m:r>
                            </m:e>
                            <m:sub>
                              <m:r>
                                <a:rPr lang="en-US" sz="1500" b="0" i="1" smtClean="0">
                                  <a:latin typeface="Cambria Math" panose="02040503050406030204" pitchFamily="18" charset="0"/>
                                </a:rPr>
                                <m:t>𝜉𝜉</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𝜉</m:t>
                              </m:r>
                            </m:e>
                          </m:d>
                          <m:r>
                            <a:rPr lang="en-US" sz="1500" b="0" i="1" smtClean="0">
                              <a:latin typeface="Cambria Math" panose="02040503050406030204" pitchFamily="18" charset="0"/>
                            </a:rPr>
                            <m:t>𝑑</m:t>
                          </m:r>
                          <m:r>
                            <a:rPr lang="en-US" sz="1500" b="0" i="1" smtClean="0">
                              <a:latin typeface="Cambria Math" panose="02040503050406030204" pitchFamily="18" charset="0"/>
                            </a:rPr>
                            <m:t>𝜉</m:t>
                          </m:r>
                        </m:e>
                      </m:eqArr>
                    </m:oMath>
                  </m:oMathPara>
                </a14:m>
                <a:endParaRPr lang="en-NL" sz="1500" dirty="0"/>
              </a:p>
            </p:txBody>
          </p:sp>
        </mc:Choice>
        <mc:Fallback xmlns="">
          <p:sp>
            <p:nvSpPr>
              <p:cNvPr id="18" name="TextBox 17">
                <a:extLst>
                  <a:ext uri="{FF2B5EF4-FFF2-40B4-BE49-F238E27FC236}">
                    <a16:creationId xmlns:a16="http://schemas.microsoft.com/office/drawing/2014/main" id="{421560D5-3827-94F1-89E3-71A5FECACCB6}"/>
                  </a:ext>
                </a:extLst>
              </p:cNvPr>
              <p:cNvSpPr txBox="1">
                <a:spLocks noRot="1" noChangeAspect="1" noMove="1" noResize="1" noEditPoints="1" noAdjustHandles="1" noChangeArrowheads="1" noChangeShapeType="1" noTextEdit="1"/>
              </p:cNvSpPr>
              <p:nvPr/>
            </p:nvSpPr>
            <p:spPr>
              <a:xfrm>
                <a:off x="5511800" y="2190750"/>
                <a:ext cx="5080000" cy="762000"/>
              </a:xfrm>
              <a:prstGeom prst="rect">
                <a:avLst/>
              </a:prstGeom>
              <a:blipFill>
                <a:blip r:embed="rId4"/>
                <a:stretch>
                  <a:fillRect b="-29600"/>
                </a:stretch>
              </a:blipFill>
              <a:ln>
                <a:noFill/>
              </a:ln>
            </p:spPr>
            <p:txBody>
              <a:bodyPr/>
              <a:lstStyle/>
              <a:p>
                <a:r>
                  <a:rPr lang="en-NL">
                    <a:noFill/>
                  </a:rPr>
                  <a:t> </a:t>
                </a:r>
              </a:p>
            </p:txBody>
          </p:sp>
        </mc:Fallback>
      </mc:AlternateContent>
      <p:pic>
        <p:nvPicPr>
          <p:cNvPr id="24" name="Original TUe logo"/>
          <p:cNvPicPr>
            <a:picLocks noChangeAspect="1"/>
          </p:cNvPicPr>
          <p:nvPr/>
        </p:nvPicPr>
        <p:blipFill>
          <a:blip r:embed="rId5"/>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6BDBA0B0-2CCF-F6A7-EE9C-B855856178BB}"/>
                  </a:ext>
                </a:extLst>
              </p:cNvPr>
              <p:cNvSpPr txBox="1"/>
              <p:nvPr/>
            </p:nvSpPr>
            <p:spPr>
              <a:xfrm>
                <a:off x="3606800" y="2514600"/>
                <a:ext cx="5080000" cy="1917700"/>
              </a:xfrm>
              <a:prstGeom prst="rect">
                <a:avLst/>
              </a:prstGeom>
              <a:noFill/>
              <a:ln>
                <a:noFill/>
              </a:ln>
            </p:spPr>
            <p:txBody>
              <a:bodyPr wrap="none" lIns="0" tIns="0" rIns="0" bIns="0" rtlCol="0" anchor="t">
                <a:noAutofit/>
              </a:bodyPr>
              <a:lstStyle/>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sSub>
                        <m:sSubPr>
                          <m:ctrlPr>
                            <a:rPr lang="en-US" sz="2100" b="0" i="1" smtClean="0">
                              <a:latin typeface="Cambria Math" panose="02040503050406030204" pitchFamily="18" charset="0"/>
                            </a:rPr>
                          </m:ctrlPr>
                        </m:sSubPr>
                        <m:e>
                          <m:acc>
                            <m:accPr>
                              <m:chr m:val="̇"/>
                              <m:ctrlPr>
                                <a:rPr lang="en-US" sz="2100" b="0" i="1" smtClean="0">
                                  <a:latin typeface="Cambria Math" panose="02040503050406030204" pitchFamily="18" charset="0"/>
                                </a:rPr>
                              </m:ctrlPr>
                            </m:accPr>
                            <m:e>
                              <m:r>
                                <a:rPr lang="en-US" sz="2100" b="0" i="1" smtClean="0">
                                  <a:latin typeface="Cambria Math" panose="02040503050406030204" pitchFamily="18" charset="0"/>
                                </a:rPr>
                                <m:t>𝐱</m:t>
                              </m:r>
                            </m:e>
                          </m:acc>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ℬ</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i="1" dirty="0">
                  <a:latin typeface="Cambria Math" panose="02040503050406030204" pitchFamily="18" charset="0"/>
                </a:endParaRPr>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latin typeface="Cambria Math" panose="02040503050406030204" pitchFamily="18" charset="0"/>
                        </a:rPr>
                        <m:t>𝑧</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𝒞</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𝒟</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dirty="0"/>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r>
                        <a:rPr lang="en-US" sz="2100" b="0" i="1" smtClean="0">
                          <a:latin typeface="Cambria Math" panose="02040503050406030204" pitchFamily="18" charset="0"/>
                        </a:rPr>
                        <m:t>,....∈</m:t>
                      </m:r>
                      <m:sSub>
                        <m:sSubPr>
                          <m:ctrlPr>
                            <a:rPr lang="en-US" sz="2100" b="0" i="1" smtClean="0">
                              <a:latin typeface="Cambria Math" panose="02040503050406030204" pitchFamily="18" charset="0"/>
                            </a:rPr>
                          </m:ctrlPr>
                        </m:sSubPr>
                        <m:e>
                          <m:r>
                            <m:rPr>
                              <m:sty m:val="p"/>
                            </m:rPr>
                            <a:rPr lang="en-US" sz="2100" b="0" i="1" smtClean="0">
                              <a:latin typeface="Cambria Math" panose="02040503050406030204" pitchFamily="18" charset="0"/>
                            </a:rPr>
                            <m:t>Π</m:t>
                          </m:r>
                        </m:e>
                        <m:sub>
                          <m:r>
                            <a:rPr lang="en-US" sz="2100" b="0" i="1" smtClean="0">
                              <a:latin typeface="Cambria Math" panose="02040503050406030204" pitchFamily="18" charset="0"/>
                            </a:rPr>
                            <m:t>4</m:t>
                          </m:r>
                        </m:sub>
                      </m:sSub>
                    </m:oMath>
                  </m:oMathPara>
                </a14:m>
                <a:endParaRPr lang="en-US" sz="2100" b="0" dirty="0"/>
              </a:p>
              <a:p>
                <a:pPr algn="ctr">
                  <a:spcAft>
                    <a:spcPts val="0"/>
                  </a:spcAft>
                  <a:defRPr sz="2100" b="0" u="none" cap="none">
                    <a:solidFill>
                      <a:srgbClr val="252529"/>
                    </a:solidFill>
                    <a:latin typeface="Cambria Math"/>
                    <a:ea typeface="Cambria Math"/>
                    <a:cs typeface="Cambria Math"/>
                  </a:defRPr>
                </a:pPr>
                <a:endParaRPr lang="en-NL" sz="2100" dirty="0"/>
              </a:p>
            </p:txBody>
          </p:sp>
        </mc:Choice>
        <mc:Fallback xmlns="">
          <p:sp>
            <p:nvSpPr>
              <p:cNvPr id="21" name="TextBox 20">
                <a:extLst>
                  <a:ext uri="{FF2B5EF4-FFF2-40B4-BE49-F238E27FC236}">
                    <a16:creationId xmlns:a16="http://schemas.microsoft.com/office/drawing/2014/main" id="{6BDBA0B0-2CCF-F6A7-EE9C-B855856178BB}"/>
                  </a:ext>
                </a:extLst>
              </p:cNvPr>
              <p:cNvSpPr txBox="1">
                <a:spLocks noRot="1" noChangeAspect="1" noMove="1" noResize="1" noEditPoints="1" noAdjustHandles="1" noChangeArrowheads="1" noChangeShapeType="1" noTextEdit="1"/>
              </p:cNvSpPr>
              <p:nvPr/>
            </p:nvSpPr>
            <p:spPr>
              <a:xfrm>
                <a:off x="3606800" y="2514600"/>
                <a:ext cx="5080000" cy="1917700"/>
              </a:xfrm>
              <a:prstGeom prst="rect">
                <a:avLst/>
              </a:prstGeom>
              <a:noFill/>
              <a:ln>
                <a:noFill/>
              </a:ln>
            </p:spPr>
            <p:txBody>
              <a:bodyPr lIns="0" rIns="0" tIns="0" bIns="0" anchor="t" wrap="none">
                <a:noAutofit/>
              </a:bodyPr>
              <a:lstStyle/>
              <a:p>
                <a:pPr algn="ctr">
                  <a:spcAft>
                    <a:spcPts val="0"/>
                  </a:spcAft>
                  <a:defRPr sz="2100" b="0" u="none" cap="none">
                    <a:solidFill>
                      <a:srgbClr val="252529"/>
                    </a:solidFill>
                    <a:latin typeface="Cambria Math"/>
                    <a:ea typeface="Cambria Math"/>
                    <a:cs typeface="Cambria Math"/>
                  </a:defRPr>
                </a:pPr>
                <a:r>
                  <a:rPr lang="en-NL" sz="21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34C8FEF0-3513-3273-4C7C-0A2C5EB2DD6A}"/>
                  </a:ext>
                </a:extLst>
              </p:cNvPr>
              <p:cNvSpPr txBox="1"/>
              <p:nvPr/>
            </p:nvSpPr>
            <p:spPr>
              <a:xfrm>
                <a:off x="3606800" y="2971800"/>
                <a:ext cx="5080000" cy="1143000"/>
              </a:xfrm>
              <a:prstGeom prst="rect">
                <a:avLst/>
              </a:prstGeom>
              <a:noFill/>
              <a:ln>
                <a:noFill/>
              </a:ln>
            </p:spPr>
            <p:txBody>
              <a:bodyPr wrap="none" lIns="0" tIns="0" rIns="0" bIns="0" rtlCol="0" anchor="t">
                <a:noAutofit/>
              </a:bodyPr>
              <a:lstStyle/>
              <a:p>
                <a:pPr algn="ctr">
                  <a:spcAft>
                    <a:spcPts val="0"/>
                  </a:spcAft>
                  <a:defRPr sz="1300" b="0" u="none" cap="none">
                    <a:solidFill>
                      <a:srgbClr val="252529"/>
                    </a:solidFill>
                    <a:latin typeface="Cambria Math"/>
                    <a:ea typeface="Cambria Math"/>
                    <a:cs typeface="Cambria Math"/>
                  </a:defRPr>
                </a:pPr>
                <a14:m>
                  <m:oMathPara xmlns:m="http://schemas.openxmlformats.org/officeDocument/2006/math">
                    <m:oMath>
                      <m:r>
                        <a:rPr lang="en-US" sz="1300" b="0" i="1" smtClean="0">
                          <a:latin typeface="Cambria Math" panose="02040503050406030204" pitchFamily="18" charset="0"/>
                        </a:rPr>
                        <m:t>𝒜</m:t>
                      </m:r>
                      <m:r>
                        <a:rPr lang="en-US" sz="1300" b="0" i="1" smtClean="0">
                          <a:latin typeface="Cambria Math" panose="02040503050406030204" pitchFamily="18" charset="0"/>
                        </a:rPr>
                        <m:t>+</m:t>
                      </m:r>
                      <m:r>
                        <a:rPr lang="en-US" sz="1300" b="0" i="1" smtClean="0">
                          <a:latin typeface="Cambria Math" panose="02040503050406030204" pitchFamily="18" charset="0"/>
                        </a:rPr>
                        <m:t>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r>
                        <a:rPr lang="en-US" sz="1300" b="0" i="1" smtClean="0">
                          <a:latin typeface="Cambria Math" panose="02040503050406030204" pitchFamily="18" charset="0"/>
                        </a:rPr>
                        <m:t>𝒜ℬ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sSup>
                        <m:sSupPr>
                          <m:ctrlPr>
                            <a:rPr lang="en-US" sz="1300" b="0" i="1" smtClean="0">
                              <a:latin typeface="Cambria Math" panose="02040503050406030204" pitchFamily="18" charset="0"/>
                            </a:rPr>
                          </m:ctrlPr>
                        </m:sSupPr>
                        <m:e>
                          <m:r>
                            <a:rPr lang="en-US" sz="1300" b="0" i="1" smtClean="0">
                              <a:latin typeface="Cambria Math" panose="02040503050406030204" pitchFamily="18" charset="0"/>
                            </a:rPr>
                            <m:t>𝒜</m:t>
                          </m:r>
                        </m:e>
                        <m:sup>
                          <m:r>
                            <a:rPr lang="en-US" sz="1300" b="0" i="1" smtClean="0">
                              <a:latin typeface="Cambria Math" panose="02040503050406030204" pitchFamily="18" charset="0"/>
                            </a:rPr>
                            <m:t>∗</m:t>
                          </m:r>
                        </m:sup>
                      </m:sSup>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d>
                        <m:dPr>
                          <m:begChr m:val="["/>
                          <m:endChr m:val="]"/>
                          <m:ctrlPr>
                            <a:rPr lang="en-US" sz="1300" b="0" i="1" smtClean="0">
                              <a:latin typeface="Cambria Math" panose="02040503050406030204" pitchFamily="18" charset="0"/>
                            </a:rPr>
                          </m:ctrlPr>
                        </m:dPr>
                        <m:e>
                          <m:m>
                            <m:mPr>
                              <m:mcs>
                                <m:mc>
                                  <m:mcPr>
                                    <m:count m:val="2"/>
                                    <m:mcJc m:val="center"/>
                                  </m:mcPr>
                                </m:mc>
                              </m:mcs>
                              <m:ctrlPr>
                                <a:rPr lang="en-US" sz="1300" b="0" i="1" smtClean="0">
                                  <a:latin typeface="Cambria Math" panose="02040503050406030204" pitchFamily="18" charset="0"/>
                                </a:rPr>
                              </m:ctrlPr>
                            </m:mPr>
                            <m:mr>
                              <m:e>
                                <m:r>
                                  <a:rPr lang="en-US" sz="1300" b="0" i="1" smtClean="0">
                                    <a:latin typeface="Cambria Math" panose="02040503050406030204" pitchFamily="18" charset="0"/>
                                  </a:rPr>
                                  <m:t>𝒜</m:t>
                                </m:r>
                              </m:e>
                              <m:e>
                                <m:r>
                                  <a:rPr lang="en-US" sz="1300" b="0" i="1" smtClean="0">
                                    <a:latin typeface="Cambria Math" panose="02040503050406030204" pitchFamily="18" charset="0"/>
                                  </a:rPr>
                                  <m:t>ℬ</m:t>
                                </m:r>
                              </m:e>
                            </m:mr>
                          </m:m>
                        </m:e>
                      </m:d>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oMath>
                  </m:oMathPara>
                </a14:m>
                <a:endParaRPr lang="en-US" sz="1300" b="0" dirty="0"/>
              </a:p>
              <a:p>
                <a:pPr algn="ctr">
                  <a:spcAft>
                    <a:spcPts val="0"/>
                  </a:spcAft>
                  <a:defRPr sz="1300" b="0" u="none" cap="none">
                    <a:solidFill>
                      <a:srgbClr val="252529"/>
                    </a:solidFill>
                    <a:latin typeface="Cambria Math"/>
                    <a:ea typeface="Cambria Math"/>
                    <a:cs typeface="Cambria Math"/>
                  </a:defRPr>
                </a:pPr>
                <a:endParaRPr lang="en-NL" sz="1300" dirty="0"/>
              </a:p>
            </p:txBody>
          </p:sp>
        </mc:Choice>
        <mc:Fallback xmlns="">
          <p:sp>
            <p:nvSpPr>
              <p:cNvPr id="22" name="TextBox 21">
                <a:extLst>
                  <a:ext uri="{FF2B5EF4-FFF2-40B4-BE49-F238E27FC236}">
                    <a16:creationId xmlns:a16="http://schemas.microsoft.com/office/drawing/2014/main" id="{34C8FEF0-3513-3273-4C7C-0A2C5EB2DD6A}"/>
                  </a:ext>
                </a:extLst>
              </p:cNvPr>
              <p:cNvSpPr txBox="1">
                <a:spLocks noRot="1" noChangeAspect="1" noMove="1" noResize="1" noEditPoints="1" noAdjustHandles="1" noChangeArrowheads="1" noChangeShapeType="1" noTextEdit="1"/>
              </p:cNvSpPr>
              <p:nvPr/>
            </p:nvSpPr>
            <p:spPr>
              <a:xfrm>
                <a:off x="3606800" y="2971800"/>
                <a:ext cx="5080000" cy="1143000"/>
              </a:xfrm>
              <a:prstGeom prst="rect">
                <a:avLst/>
              </a:prstGeom>
              <a:noFill/>
              <a:ln>
                <a:noFill/>
              </a:ln>
            </p:spPr>
            <p:txBody>
              <a:bodyPr lIns="0" rIns="0" tIns="0" bIns="0" anchor="t" wrap="none">
                <a:noAutofit/>
              </a:bodyPr>
              <a:lstStyle/>
              <a:p>
                <a:pPr algn="ctr">
                  <a:spcAft>
                    <a:spcPts val="0"/>
                  </a:spcAft>
                  <a:defRPr sz="1300" b="0" u="none" cap="none">
                    <a:solidFill>
                      <a:srgbClr val="252529"/>
                    </a:solidFill>
                    <a:latin typeface="Cambria Math"/>
                    <a:ea typeface="Cambria Math"/>
                    <a:cs typeface="Cambria Math"/>
                  </a:defRPr>
                </a:pPr>
                <a:r>
                  <a:rPr lang="en-NL" sz="13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31CC601C-00A2-097D-0D27-A19317961092}"/>
                  </a:ext>
                </a:extLst>
              </p:cNvPr>
              <p:cNvSpPr txBox="1"/>
              <p:nvPr/>
            </p:nvSpPr>
            <p:spPr>
              <a:xfrm>
                <a:off x="3606800" y="2667000"/>
                <a:ext cx="5080000" cy="14224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r>
                  <a:rPr lang="en-US" sz="1600" b="0" i="1" dirty="0"/>
                  <a:t>Exponential stability  of PDE</a:t>
                </a: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m:t>
                      </m:r>
                      <m:r>
                        <a:rPr lang="en-US" sz="1600" b="0" i="1" smtClean="0">
                          <a:latin typeface="Cambria Math" panose="02040503050406030204" pitchFamily="18" charset="0"/>
                        </a:rPr>
                        <m:t>𝒫</m:t>
                      </m:r>
                      <m:r>
                        <a:rPr lang="en-US" sz="1600" b="0" i="1" smtClean="0">
                          <a:latin typeface="Cambria Math" panose="02040503050406030204" pitchFamily="18" charset="0"/>
                        </a:rPr>
                        <m:t>≻0, </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𝒫𝒜</m:t>
                      </m:r>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𝒜</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r>
                        <a:rPr lang="en-US" sz="1600" b="0" i="1" smtClean="0">
                          <a:latin typeface="Cambria Math" panose="02040503050406030204" pitchFamily="18" charset="0"/>
                        </a:rPr>
                        <m:t>⪯−</m:t>
                      </m:r>
                      <m:r>
                        <a:rPr lang="en-US" sz="1600" b="0" i="1" smtClean="0">
                          <a:latin typeface="Cambria Math" panose="02040503050406030204" pitchFamily="18" charset="0"/>
                        </a:rPr>
                        <m:t>𝛼</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  </m:t>
                      </m:r>
                    </m:oMath>
                  </m:oMathPara>
                </a14:m>
                <a:endParaRPr lang="en-NL" sz="1600" dirty="0"/>
              </a:p>
            </p:txBody>
          </p:sp>
        </mc:Choice>
        <mc:Fallback xmlns="">
          <p:sp>
            <p:nvSpPr>
              <p:cNvPr id="23" name="TextBox 22">
                <a:extLst>
                  <a:ext uri="{FF2B5EF4-FFF2-40B4-BE49-F238E27FC236}">
                    <a16:creationId xmlns:a16="http://schemas.microsoft.com/office/drawing/2014/main" id="{31CC601C-00A2-097D-0D27-A19317961092}"/>
                  </a:ext>
                </a:extLst>
              </p:cNvPr>
              <p:cNvSpPr txBox="1">
                <a:spLocks noRot="1" noChangeAspect="1" noMove="1" noResize="1" noEditPoints="1" noAdjustHandles="1" noChangeArrowheads="1" noChangeShapeType="1" noTextEdit="1"/>
              </p:cNvSpPr>
              <p:nvPr/>
            </p:nvSpPr>
            <p:spPr>
              <a:xfrm>
                <a:off x="3606800" y="2667000"/>
                <a:ext cx="5080000" cy="1422400"/>
              </a:xfrm>
              <a:prstGeom prst="rect">
                <a:avLst/>
              </a:prstGeom>
              <a:noFill/>
              <a:ln>
                <a:noFill/>
              </a:ln>
            </p:spPr>
            <p:txBody>
              <a:bodyPr lIns="0" rIns="0" tIns="0" bIns="0" anchor="t" wrap="none">
                <a:noAutofit/>
              </a:bodyPr>
              <a:lstStyle/>
              <a:p>
                <a:pPr algn="ctr">
                  <a:spcAft>
                    <a:spcPts val="0"/>
                  </a:spcAft>
                  <a:defRPr sz="1600" b="0" u="none" cap="none">
                    <a:solidFill>
                      <a:srgbClr val="252529"/>
                    </a:solidFill>
                    <a:latin typeface="Cambria Math"/>
                    <a:ea typeface="Cambria Math"/>
                    <a:cs typeface="Cambria Math"/>
                  </a:defRPr>
                </a:pPr>
                <a:r>
                  <a:rPr lang="en-NL" sz="16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Controller synthesis for linear systems…..</a:t>
            </a:r>
            <a:endParaRPr lang="en-NL" sz="1600" b="1" u="none" cap="none" dirty="0">
              <a:solidFill>
                <a:srgbClr val="C81919">
                  <a:alpha val="10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25</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6" name="TextBox 5">
            <a:extLst>
              <a:ext uri="{FF2B5EF4-FFF2-40B4-BE49-F238E27FC236}">
                <a16:creationId xmlns:a16="http://schemas.microsoft.com/office/drawing/2014/main" id="{B97EE0E7-879C-FD55-BE25-E673438E10EB}"/>
              </a:ext>
            </a:extLst>
          </p:cNvPr>
          <p:cNvSpPr txBox="1"/>
          <p:nvPr/>
        </p:nvSpPr>
        <p:spPr>
          <a:xfrm>
            <a:off x="5924550" y="3771900"/>
            <a:ext cx="1777859" cy="300082"/>
          </a:xfrm>
          <a:prstGeom prst="rect">
            <a:avLst/>
          </a:prstGeom>
          <a:noFill/>
        </p:spPr>
        <p:txBody>
          <a:bodyPr wrap="none" rtlCol="0">
            <a:spAutoFit/>
          </a:bodyPr>
          <a:lstStyle/>
          <a:p>
            <a:r>
              <a:rPr lang="en-US" dirty="0"/>
              <a:t>Cite </a:t>
            </a:r>
            <a:r>
              <a:rPr lang="en-US" dirty="0" err="1"/>
              <a:t>gpde</a:t>
            </a:r>
            <a:r>
              <a:rPr lang="en-US" dirty="0"/>
              <a:t> application</a:t>
            </a:r>
            <a:endParaRPr lang="en-NL" dirty="0"/>
          </a:p>
        </p:txBody>
      </p:sp>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95817-C042-A17D-1C34-BE36E34B465E}"/>
              </a:ext>
            </a:extLst>
          </p:cNvPr>
          <p:cNvSpPr>
            <a:spLocks noGrp="1"/>
          </p:cNvSpPr>
          <p:nvPr>
            <p:ph type="title"/>
          </p:nvPr>
        </p:nvSpPr>
        <p:spPr/>
        <p:txBody>
          <a:bodyPr/>
          <a:lstStyle/>
          <a:p>
            <a:r>
              <a:rPr lang="en-US" dirty="0"/>
              <a:t>Robust Stability and Performance</a:t>
            </a:r>
            <a:endParaRPr lang="en-NL" dirty="0"/>
          </a:p>
        </p:txBody>
      </p:sp>
      <p:sp>
        <p:nvSpPr>
          <p:cNvPr id="3" name="Footer Placeholder 2">
            <a:extLst>
              <a:ext uri="{FF2B5EF4-FFF2-40B4-BE49-F238E27FC236}">
                <a16:creationId xmlns:a16="http://schemas.microsoft.com/office/drawing/2014/main" id="{7EFF1BEA-6649-8375-EEE5-9935B7405C4B}"/>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C45A81B-FED1-F277-D144-172F69BA8D56}"/>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spTree>
    <p:extLst>
      <p:ext uri="{BB962C8B-B14F-4D97-AF65-F5344CB8AC3E}">
        <p14:creationId xmlns:p14="http://schemas.microsoft.com/office/powerpoint/2010/main" val="25523275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15</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m="http://schemas.openxmlformats.org/officeDocument/2006/math" xmlns="">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 xmlns:m="http://schemas.openxmlformats.org/officeDocument/2006/math" xmlns:a14="http://schemas.microsoft.com/office/drawing/2010/main">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Supply function</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3000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3" name="Vertical axis Supply function">
                <a:extLst>
                  <a:ext uri="{FF2B5EF4-FFF2-40B4-BE49-F238E27FC236}">
                    <a16:creationId xmlns:a16="http://schemas.microsoft.com/office/drawing/2014/main" id="{ADD78D67-64F8-3727-6C55-0D8B00DA0662}"/>
                  </a:ext>
                </a:extLst>
              </p:cNvPr>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3" name="Vertical axis Supply function">
                <a:extLst>
                  <a:ext uri="{FF2B5EF4-FFF2-40B4-BE49-F238E27FC236}">
                    <a16:creationId xmlns:a16="http://schemas.microsoft.com/office/drawing/2014/main" id="{ADD78D67-64F8-3727-6C55-0D8B00DA0662}"/>
                  </a:ext>
                </a:extLst>
              </p:cNvPr>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74737-65B2-D0C1-0F73-A7C115D3C2D9}"/>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ED90BED-AACA-2CD0-24EB-B4CC36493971}"/>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DB80C30F-E305-D5EF-C067-256425A8B7DD}"/>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08E24ED1-6FAA-D06B-E4C9-9B9BF7FBAA0B}"/>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30</a:t>
            </a:r>
            <a:endParaRPr sz="800"/>
          </a:p>
        </p:txBody>
      </p:sp>
      <p:pic>
        <p:nvPicPr>
          <p:cNvPr id="82" name="Baked figure with larger labels"/>
          <p:cNvPicPr>
            <a:picLocks noChangeAspect="1"/>
          </p:cNvPicPr>
          <p:nvPr/>
        </p:nvPicPr>
        <p:blipFill>
          <a:blip r:embed="rId4"/>
          <a:stretch>
            <a:fillRect/>
          </a:stretch>
        </p:blipFill>
        <p:spPr>
          <a:xfrm>
            <a:off x="981075" y="1476375"/>
            <a:ext cx="4367212" cy="2733675"/>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384E03A9-D7D1-A2D3-B803-8270DD6E9733}"/>
                  </a:ext>
                </a:extLst>
              </p:cNvPr>
              <p:cNvSpPr txBox="1">
                <a:spLocks/>
              </p:cNvSpPr>
              <p:nvPr/>
            </p:nvSpPr>
            <p:spPr>
              <a:xfrm>
                <a:off x="6033244" y="122827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C81919">
                        <a:alpha val="100000"/>
                      </a:srgbClr>
                    </a:solidFill>
                  </a:rPr>
                  <a:t>Replace </a:t>
                </a:r>
                <a14:m>
                  <m:oMath xmlns:m="http://schemas.openxmlformats.org/officeDocument/2006/math">
                    <m:r>
                      <a:rPr lang="en-US" sz="1600" b="1" kern="0">
                        <a:solidFill>
                          <a:srgbClr val="C81919">
                            <a:alpha val="100000"/>
                          </a:srgbClr>
                        </a:solidFill>
                        <a:latin typeface="Cambria Math" panose="02040503050406030204" pitchFamily="18" charset="0"/>
                      </a:rPr>
                      <m:t>∆</m:t>
                    </m:r>
                  </m:oMath>
                </a14:m>
                <a:r>
                  <a:rPr lang="en-US" sz="1600" b="1" kern="0" dirty="0">
                    <a:solidFill>
                      <a:srgbClr val="C81919">
                        <a:alpha val="10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384E03A9-D7D1-A2D3-B803-8270DD6E9733}"/>
                  </a:ext>
                </a:extLst>
              </p:cNvPr>
              <p:cNvSpPr txBox="1">
                <a:spLocks noRot="1" noChangeAspect="1" noMove="1" noResize="1" noEditPoints="1" noAdjustHandles="1" noChangeArrowheads="1" noChangeShapeType="1" noTextEdit="1"/>
              </p:cNvSpPr>
              <p:nvPr/>
            </p:nvSpPr>
            <p:spPr>
              <a:xfrm>
                <a:off x="6033244" y="1228278"/>
                <a:ext cx="2844800" cy="3327400"/>
              </a:xfrm>
              <a:prstGeom prst="rect">
                <a:avLst/>
              </a:prstGeom>
              <a:blipFill>
                <a:blip r:embed="rId12"/>
                <a:stretch>
                  <a:fillRect l="-4506" t="-12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0479629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5EFCC-216A-F551-914D-EEB01FE07E2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8C604FF-D295-EC05-092E-DFF425D9F46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46C8623E-005A-5976-D6BC-767945934EC7}"/>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D735713-A32D-F219-C38E-8046F1F41C2A}"/>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31</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71762"/>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0C5C6FF1-057B-10E0-A370-B8AEF0188366}"/>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1" kern="0" dirty="0">
                    <a:solidFill>
                      <a:srgbClr val="C81919">
                        <a:alpha val="100000"/>
                      </a:srgbClr>
                    </a:solidFill>
                  </a:rPr>
                  <a:t>Cost</a:t>
                </a:r>
                <a:r>
                  <a:rPr lang="en-US" sz="1600" kern="0" dirty="0">
                    <a:solidFill>
                      <a:srgbClr val="252529">
                        <a:alpha val="30000"/>
                      </a:srgbClr>
                    </a:solidFill>
                  </a:rPr>
                  <a:t> </a:t>
                </a:r>
                <a:r>
                  <a:rPr lang="en-US" sz="1600" b="1" kern="0" dirty="0">
                    <a:solidFill>
                      <a:srgbClr val="C81919">
                        <a:alpha val="100000"/>
                      </a:srgbClr>
                    </a:solidFill>
                  </a:rPr>
                  <a:t>function </a:t>
                </a:r>
              </a:p>
            </p:txBody>
          </p:sp>
        </mc:Choice>
        <mc:Fallback xmlns="">
          <p:sp>
            <p:nvSpPr>
              <p:cNvPr id="84" name="Content Placeholder 2">
                <a:extLst>
                  <a:ext uri="{FF2B5EF4-FFF2-40B4-BE49-F238E27FC236}">
                    <a16:creationId xmlns:a16="http://schemas.microsoft.com/office/drawing/2014/main" id="{0C5C6FF1-057B-10E0-A370-B8AEF0188366}"/>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9A8C96EE-6183-5F37-6592-76CD290D604D}"/>
              </a:ext>
            </a:extLst>
          </p:cNvPr>
          <p:cNvSpPr txBox="1"/>
          <p:nvPr/>
        </p:nvSpPr>
        <p:spPr>
          <a:xfrm>
            <a:off x="5485375" y="3767866"/>
            <a:ext cx="2986972" cy="461665"/>
          </a:xfrm>
          <a:prstGeom prst="rect">
            <a:avLst/>
          </a:prstGeom>
          <a:noFill/>
        </p:spPr>
        <p:txBody>
          <a:bodyPr wrap="none" rtlCol="0">
            <a:spAutoFit/>
          </a:bodyPr>
          <a:lstStyle/>
          <a:p>
            <a:r>
              <a:rPr lang="en-US" sz="2400" b="1" dirty="0">
                <a:solidFill>
                  <a:srgbClr val="C81919"/>
                </a:solidFill>
              </a:rPr>
              <a:t>Convex for analysis!</a:t>
            </a:r>
            <a:endParaRPr lang="en-NL" sz="2400" b="1" dirty="0">
              <a:solidFill>
                <a:srgbClr val="C81919"/>
              </a:solidFill>
            </a:endParaRPr>
          </a:p>
        </p:txBody>
      </p:sp>
    </p:spTree>
    <p:extLst>
      <p:ext uri="{BB962C8B-B14F-4D97-AF65-F5344CB8AC3E}">
        <p14:creationId xmlns:p14="http://schemas.microsoft.com/office/powerpoint/2010/main" val="2052152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4AEBE-45A9-2C48-5D25-D16230E72E9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049FCCAC-ACA8-E27C-5FD0-667DA1D29E77}"/>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94B40FA2-2F9E-1B31-01FD-105C911E6C15}"/>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F704601-CFFA-B1B3-F531-E62A648095E4}"/>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32</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86050"/>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F4AB1EAF-B92A-E7B7-F3B7-B4A1D4288153}"/>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F4AB1EAF-B92A-E7B7-F3B7-B4A1D4288153}"/>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0EE621E9-F222-FC3C-6ED8-C5455D3C718E}"/>
              </a:ext>
            </a:extLst>
          </p:cNvPr>
          <p:cNvSpPr txBox="1"/>
          <p:nvPr/>
        </p:nvSpPr>
        <p:spPr>
          <a:xfrm>
            <a:off x="1613149" y="874339"/>
            <a:ext cx="2672591" cy="300082"/>
          </a:xfrm>
          <a:prstGeom prst="rect">
            <a:avLst/>
          </a:prstGeom>
          <a:noFill/>
        </p:spPr>
        <p:txBody>
          <a:bodyPr wrap="none" rtlCol="0">
            <a:spAutoFit/>
          </a:bodyPr>
          <a:lstStyle/>
          <a:p>
            <a:r>
              <a:rPr lang="en-US" b="1" dirty="0">
                <a:solidFill>
                  <a:srgbClr val="C81919"/>
                </a:solidFill>
              </a:rPr>
              <a:t>Final representation the system</a:t>
            </a:r>
            <a:endParaRPr lang="en-NL" b="1" dirty="0">
              <a:solidFill>
                <a:srgbClr val="C81919"/>
              </a:solidFill>
            </a:endParaRPr>
          </a:p>
        </p:txBody>
      </p:sp>
      <p:sp>
        <p:nvSpPr>
          <p:cNvPr id="4" name="Rectangle 3">
            <a:extLst>
              <a:ext uri="{FF2B5EF4-FFF2-40B4-BE49-F238E27FC236}">
                <a16:creationId xmlns:a16="http://schemas.microsoft.com/office/drawing/2014/main" id="{75D3E531-7E9E-4032-6584-C3A37ADC2513}"/>
              </a:ext>
            </a:extLst>
          </p:cNvPr>
          <p:cNvSpPr/>
          <p:nvPr/>
        </p:nvSpPr>
        <p:spPr>
          <a:xfrm>
            <a:off x="916604" y="1188335"/>
            <a:ext cx="4684867" cy="324485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6" name="Rectangle 5">
            <a:extLst>
              <a:ext uri="{FF2B5EF4-FFF2-40B4-BE49-F238E27FC236}">
                <a16:creationId xmlns:a16="http://schemas.microsoft.com/office/drawing/2014/main" id="{ADA20E65-E7BB-E762-5690-1750A74B8098}"/>
              </a:ext>
            </a:extLst>
          </p:cNvPr>
          <p:cNvSpPr/>
          <p:nvPr/>
        </p:nvSpPr>
        <p:spPr>
          <a:xfrm>
            <a:off x="7010400" y="28403"/>
            <a:ext cx="2107074" cy="1030143"/>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1" name="Freeform: Shape 10">
            <a:extLst>
              <a:ext uri="{FF2B5EF4-FFF2-40B4-BE49-F238E27FC236}">
                <a16:creationId xmlns:a16="http://schemas.microsoft.com/office/drawing/2014/main" id="{EE000B0E-2B02-BB63-CE4F-BDF1422844DD}"/>
              </a:ext>
            </a:extLst>
          </p:cNvPr>
          <p:cNvSpPr/>
          <p:nvPr/>
        </p:nvSpPr>
        <p:spPr>
          <a:xfrm>
            <a:off x="4705350" y="279723"/>
            <a:ext cx="1974850" cy="717227"/>
          </a:xfrm>
          <a:custGeom>
            <a:avLst/>
            <a:gdLst>
              <a:gd name="csX0" fmla="*/ 0 w 1974850"/>
              <a:gd name="csY0" fmla="*/ 717227 h 717227"/>
              <a:gd name="csX1" fmla="*/ 742950 w 1974850"/>
              <a:gd name="csY1" fmla="*/ 75877 h 717227"/>
              <a:gd name="csX2" fmla="*/ 1974850 w 1974850"/>
              <a:gd name="csY2" fmla="*/ 12377 h 717227"/>
              <a:gd name="csX3" fmla="*/ 1974850 w 1974850"/>
              <a:gd name="csY3" fmla="*/ 12377 h 717227"/>
            </a:gdLst>
            <a:ahLst/>
            <a:cxnLst>
              <a:cxn ang="0">
                <a:pos x="csX0" y="csY0"/>
              </a:cxn>
              <a:cxn ang="0">
                <a:pos x="csX1" y="csY1"/>
              </a:cxn>
              <a:cxn ang="0">
                <a:pos x="csX2" y="csY2"/>
              </a:cxn>
              <a:cxn ang="0">
                <a:pos x="csX3" y="csY3"/>
              </a:cxn>
            </a:cxnLst>
            <a:rect l="l" t="t" r="r" b="b"/>
            <a:pathLst>
              <a:path w="1974850" h="717227">
                <a:moveTo>
                  <a:pt x="0" y="717227"/>
                </a:moveTo>
                <a:cubicBezTo>
                  <a:pt x="206904" y="455289"/>
                  <a:pt x="413808" y="193352"/>
                  <a:pt x="742950" y="75877"/>
                </a:cubicBezTo>
                <a:cubicBezTo>
                  <a:pt x="1072092" y="-41598"/>
                  <a:pt x="1974850" y="12377"/>
                  <a:pt x="1974850" y="12377"/>
                </a:cubicBezTo>
                <a:lnTo>
                  <a:pt x="1974850" y="12377"/>
                </a:lnTo>
              </a:path>
            </a:pathLst>
          </a:custGeom>
          <a:ln w="3810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NL">
              <a:ln w="38100">
                <a:solidFill>
                  <a:schemeClr val="tx1"/>
                </a:solidFill>
              </a:ln>
            </a:endParaRPr>
          </a:p>
        </p:txBody>
      </p:sp>
    </p:spTree>
    <p:extLst>
      <p:ext uri="{BB962C8B-B14F-4D97-AF65-F5344CB8AC3E}">
        <p14:creationId xmlns:p14="http://schemas.microsoft.com/office/powerpoint/2010/main" val="41918260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81DD7-87E1-6C86-25E8-6E632B53FE4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23C3524-601B-B047-4384-C182393E7BB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Let’s analyse!</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FBC83CBB-31E6-23F3-3510-466978FE642B}"/>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A7689E06-9C0D-AE2D-4EB3-6F0658749818}"/>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33</a:t>
            </a:r>
            <a:endParaRPr sz="800"/>
          </a:p>
        </p:txBody>
      </p:sp>
      <p:pic>
        <p:nvPicPr>
          <p:cNvPr id="82" name="Baked figure with larger labels"/>
          <p:cNvPicPr>
            <a:picLocks noChangeAspect="1"/>
          </p:cNvPicPr>
          <p:nvPr/>
        </p:nvPicPr>
        <p:blipFill>
          <a:blip r:embed="rId4"/>
          <a:stretch>
            <a:fillRect/>
          </a:stretch>
        </p:blipFill>
        <p:spPr>
          <a:xfrm>
            <a:off x="7038975" y="1176338"/>
            <a:ext cx="1966912" cy="1233488"/>
          </a:xfrm>
          <a:prstGeom prst="rect">
            <a:avLst/>
          </a:prstGeom>
        </p:spPr>
      </p:pic>
    </p:spTree>
    <p:extLst>
      <p:ext uri="{BB962C8B-B14F-4D97-AF65-F5344CB8AC3E}">
        <p14:creationId xmlns:p14="http://schemas.microsoft.com/office/powerpoint/2010/main" val="21474151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98B6E-12E2-A3A7-9D1F-E632459E6D05}"/>
              </a:ext>
            </a:extLst>
          </p:cNvPr>
          <p:cNvSpPr>
            <a:spLocks noGrp="1"/>
          </p:cNvSpPr>
          <p:nvPr>
            <p:ph type="title"/>
          </p:nvPr>
        </p:nvSpPr>
        <p:spPr/>
        <p:txBody>
          <a:bodyPr/>
          <a:lstStyle/>
          <a:p>
            <a:r>
              <a:rPr lang="en-US" dirty="0"/>
              <a:t>Absorbing the controller into the filter</a:t>
            </a:r>
            <a:endParaRPr lang="en-NL" dirty="0"/>
          </a:p>
        </p:txBody>
      </p:sp>
      <p:sp>
        <p:nvSpPr>
          <p:cNvPr id="3" name="Footer Placeholder 2">
            <a:extLst>
              <a:ext uri="{FF2B5EF4-FFF2-40B4-BE49-F238E27FC236}">
                <a16:creationId xmlns:a16="http://schemas.microsoft.com/office/drawing/2014/main" id="{AB58BF6B-65E2-3416-157A-8C31855021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5A8ED17-D3CD-E35B-4454-60B32F3B3DF2}"/>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35</a:t>
            </a:fld>
            <a:endParaRPr lang="en-GB"/>
          </a:p>
        </p:txBody>
      </p:sp>
      <p:grpSp>
        <p:nvGrpSpPr>
          <p:cNvPr id="5" name="Editable paper diagram">
            <a:extLst>
              <a:ext uri="{FF2B5EF4-FFF2-40B4-BE49-F238E27FC236}">
                <a16:creationId xmlns:a16="http://schemas.microsoft.com/office/drawing/2014/main" id="{90AB5F3C-EAF4-AC7C-DB16-8306D5A74E12}"/>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B7816C8F-5BF7-E6DB-50FC-107B8DBAE450}"/>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4492BFD9-BFDE-E3FF-6837-356D21DAE0C1}"/>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CD3A7FE7-7302-9423-B899-F1B2A182B64B}"/>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08D7CDCC-8636-7651-F00D-89F213B9D70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11B58DE6-B9FA-404F-8B6A-DC720824741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447AE719-E822-08F7-0C2F-2F3A4DC9E8DE}"/>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32C8CCA5-B22E-75DB-4F85-F6C4EC62D44D}"/>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ECD3D13A-2310-9004-E478-9FF56E267BE7}"/>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EA54A2BC-3077-84DB-D24D-EEF51AA8B8C6}"/>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11777D22-5BB5-F0C4-718C-9556ED7FA2BC}"/>
                  </a:ext>
                </a:extLst>
              </p:cNvPr>
              <p:cNvSpPr/>
              <p:nvPr/>
            </p:nvSpPr>
            <p:spPr>
              <a:xfrm>
                <a:off x="4290941" y="326305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0" smtClean="0">
                              <a:solidFill>
                                <a:srgbClr val="252529"/>
                              </a:solidFill>
                              <a:latin typeface="Cambria Math" panose="02040503050406030204" pitchFamily="18" charset="0"/>
                            </a:rPr>
                          </m:ctrlPr>
                        </m:accPr>
                        <m:e>
                          <m:r>
                            <m:rPr>
                              <m:sty m:val="p"/>
                            </m:rPr>
                            <a:rPr lang="en-US" sz="1998" b="0" i="0" smtClean="0">
                              <a:solidFill>
                                <a:srgbClr val="252529"/>
                              </a:solidFill>
                              <a:latin typeface="Cambria Math" panose="02040503050406030204" pitchFamily="18" charset="0"/>
                            </a:rPr>
                            <m:t>y</m:t>
                          </m:r>
                        </m:e>
                      </m:acc>
                    </m:oMath>
                  </m:oMathPara>
                </a14:m>
                <a:endParaRPr sz="1998" dirty="0"/>
              </a:p>
            </p:txBody>
          </p:sp>
        </mc:Choice>
        <mc:Fallback xmlns="" xmlns:m="http://schemas.openxmlformats.org/officeDocument/2006/math">
          <p:sp>
            <p:nvSpPr>
              <p:cNvPr id="35" name="Filtered z">
                <a:extLst>
                  <a:ext uri="{FF2B5EF4-FFF2-40B4-BE49-F238E27FC236}">
                    <a16:creationId xmlns:a16="http://schemas.microsoft.com/office/drawing/2014/main" id="{11777D22-5BB5-F0C4-718C-9556ED7FA2BC}"/>
                  </a:ext>
                </a:extLst>
              </p:cNvPr>
              <p:cNvSpPr>
                <a:spLocks noRot="1" noChangeAspect="1" noMove="1" noResize="1" noEditPoints="1" noAdjustHandles="1" noChangeArrowheads="1" noChangeShapeType="1" noTextEdit="1"/>
              </p:cNvSpPr>
              <p:nvPr/>
            </p:nvSpPr>
            <p:spPr>
              <a:xfrm>
                <a:off x="4290941" y="3263059"/>
                <a:ext cx="422910" cy="380619"/>
              </a:xfrm>
              <a:prstGeom prst="rect">
                <a:avLst/>
              </a:prstGeom>
              <a:blipFill>
                <a:blip r:embed="rId12"/>
                <a:stretch>
                  <a:fillRect r="-47826" b="-11111"/>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CD1B519C-22CE-F008-6647-2772342827A4}"/>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2C44D234-86C7-6AEA-2E5F-29BD4BFF3C12}"/>
                  </a:ext>
                </a:extLst>
              </p:cNvPr>
              <p:cNvSpPr/>
              <p:nvPr/>
            </p:nvSpPr>
            <p:spPr>
              <a:xfrm>
                <a:off x="4290941" y="36389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oMath>
                  </m:oMathPara>
                </a14:m>
                <a:endParaRPr sz="1998" dirty="0"/>
              </a:p>
            </p:txBody>
          </p:sp>
        </mc:Choice>
        <mc:Fallback xmlns="" xmlns:m="http://schemas.openxmlformats.org/officeDocument/2006/math">
          <p:sp>
            <p:nvSpPr>
              <p:cNvPr id="37" name="Filtered w">
                <a:extLst>
                  <a:ext uri="{FF2B5EF4-FFF2-40B4-BE49-F238E27FC236}">
                    <a16:creationId xmlns:a16="http://schemas.microsoft.com/office/drawing/2014/main" id="{2C44D234-86C7-6AEA-2E5F-29BD4BFF3C12}"/>
                  </a:ext>
                </a:extLst>
              </p:cNvPr>
              <p:cNvSpPr>
                <a:spLocks noRot="1" noChangeAspect="1" noMove="1" noResize="1" noEditPoints="1" noAdjustHandles="1" noChangeArrowheads="1" noChangeShapeType="1" noTextEdit="1"/>
              </p:cNvSpPr>
              <p:nvPr/>
            </p:nvSpPr>
            <p:spPr>
              <a:xfrm>
                <a:off x="4290941" y="3638979"/>
                <a:ext cx="422910" cy="380619"/>
              </a:xfrm>
              <a:prstGeom prst="rect">
                <a:avLst/>
              </a:prstGeom>
              <a:blipFill>
                <a:blip r:embed="rId13"/>
                <a:stretch>
                  <a:fillRect r="-47826"/>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B2F36D05-56FF-4643-773B-9C86E06B8E20}"/>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70CDC681-B229-942F-5E20-F17E1ED103EE}"/>
                  </a:ext>
                </a:extLst>
              </p:cNvPr>
              <p:cNvSpPr txBox="1"/>
              <p:nvPr/>
            </p:nvSpPr>
            <p:spPr>
              <a:xfrm>
                <a:off x="3079354" y="342562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xmlns:m="http://schemas.openxmlformats.org/officeDocument/2006/math">
          <p:sp>
            <p:nvSpPr>
              <p:cNvPr id="53" name="TextBox 52">
                <a:extLst>
                  <a:ext uri="{FF2B5EF4-FFF2-40B4-BE49-F238E27FC236}">
                    <a16:creationId xmlns:a16="http://schemas.microsoft.com/office/drawing/2014/main" id="{70CDC681-B229-942F-5E20-F17E1ED103EE}"/>
                  </a:ext>
                </a:extLst>
              </p:cNvPr>
              <p:cNvSpPr txBox="1">
                <a:spLocks noRot="1" noChangeAspect="1" noMove="1" noResize="1" noEditPoints="1" noAdjustHandles="1" noChangeArrowheads="1" noChangeShapeType="1" noTextEdit="1"/>
              </p:cNvSpPr>
              <p:nvPr/>
            </p:nvSpPr>
            <p:spPr>
              <a:xfrm>
                <a:off x="3079354" y="3425625"/>
                <a:ext cx="283732" cy="398571"/>
              </a:xfrm>
              <a:prstGeom prst="rect">
                <a:avLst/>
              </a:prstGeom>
              <a:blipFill>
                <a:blip r:embed="rId14"/>
                <a:stretch>
                  <a:fillRect l="-25532" r="-27660"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98B18962-A47F-3CCD-4CB7-B1700598B92E}"/>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16F66D3-F773-9545-1661-892E4869BCFF}"/>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Open plant"/>
              <p:cNvSpPr txBox="1"/>
              <p:nvPr/>
            </p:nvSpPr>
            <p:spPr>
              <a:xfrm>
                <a:off x="457200" y="990600"/>
                <a:ext cx="4254500" cy="3048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𝐺</m:t>
                      </m:r>
                      <m:r>
                        <a:rPr lang="en-US" sz="1550">
                          <a:solidFill>
                            <a:srgbClr val="252529"/>
                          </a:solidFill>
                          <a:latin typeface="Cambria Math"/>
                        </a:rPr>
                        <m:t>:  </m:t>
                      </m:r>
                      <m:r>
                        <a:rPr lang="en-US" sz="1550">
                          <a:solidFill>
                            <a:srgbClr val="252529"/>
                          </a:solidFill>
                          <a:latin typeface="Cambria Math"/>
                        </a:rPr>
                        <m:t>𝑇</m:t>
                      </m:r>
                      <m:acc>
                        <m:accPr>
                          <m:chr m:val="̇"/>
                          <m:ctrlPr>
                            <a:rPr lang="en-US" sz="1550">
                              <a:solidFill>
                                <a:srgbClr val="252529"/>
                              </a:solidFill>
                              <a:latin typeface="Cambria Math"/>
                            </a:rPr>
                          </m:ctrlPr>
                        </m:accPr>
                        <m:e>
                          <m:r>
                            <a:rPr lang="en-US" sz="1550">
                              <a:solidFill>
                                <a:srgbClr val="252529"/>
                              </a:solidFill>
                              <a:latin typeface="Cambria Math"/>
                            </a:rPr>
                            <m:t>𝑥</m:t>
                          </m:r>
                        </m:e>
                      </m:acc>
                      <m:r>
                        <a:rPr lang="en-US" sz="1550">
                          <a:solidFill>
                            <a:srgbClr val="252529"/>
                          </a:solidFill>
                          <a:latin typeface="Cambria Math"/>
                        </a:rPr>
                        <m:t>=</m:t>
                      </m:r>
                      <m:r>
                        <a:rPr lang="en-US" sz="1550">
                          <a:solidFill>
                            <a:srgbClr val="252529"/>
                          </a:solidFill>
                          <a:latin typeface="Cambria Math"/>
                        </a:rPr>
                        <m:t>𝐴𝑥</m:t>
                      </m:r>
                      <m:r>
                        <a:rPr lang="en-US" sz="1550">
                          <a:solidFill>
                            <a:srgbClr val="252529"/>
                          </a:solidFill>
                          <a:latin typeface="Cambria Math"/>
                        </a:rPr>
                        <m:t>+</m:t>
                      </m:r>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r>
                        <a:rPr lang="en-US" sz="1550">
                          <a:solidFill>
                            <a:srgbClr val="252529"/>
                          </a:solidFill>
                          <a:latin typeface="Cambria Math"/>
                        </a:rPr>
                        <m:t>𝑢</m:t>
                      </m:r>
                      <m:r>
                        <a:rPr lang="en-US" sz="1550">
                          <a:solidFill>
                            <a:srgbClr val="252529"/>
                          </a:solidFill>
                          <a:latin typeface="Cambria Math"/>
                        </a:rPr>
                        <m:t>,  </m:t>
                      </m:r>
                      <m:r>
                        <a:rPr lang="en-US" sz="1550">
                          <a:solidFill>
                            <a:srgbClr val="252529"/>
                          </a:solidFill>
                          <a:latin typeface="Cambria Math"/>
                        </a:rPr>
                        <m:t>𝑦</m:t>
                      </m:r>
                      <m:r>
                        <a:rPr lang="en-US" sz="1550">
                          <a:solidFill>
                            <a:srgbClr val="252529"/>
                          </a:solidFill>
                          <a:latin typeface="Cambria Math"/>
                        </a:rPr>
                        <m:t>=</m:t>
                      </m:r>
                      <m:r>
                        <a:rPr lang="en-US" sz="1550">
                          <a:solidFill>
                            <a:srgbClr val="252529"/>
                          </a:solidFill>
                          <a:latin typeface="Cambria Math"/>
                        </a:rPr>
                        <m:t>𝑥</m:t>
                      </m:r>
                    </m:oMath>
                  </m:oMathPara>
                </a14:m>
                <a:endParaRPr sz="1550">
                  <a:latin typeface="Cambria Math"/>
                </a:endParaRPr>
              </a:p>
            </p:txBody>
          </p:sp>
        </mc:Choice>
        <mc:Fallback xmlns:m="http://schemas.openxmlformats.org/officeDocument/2006/math" xmlns="">
          <p:sp>
            <p:nvSpPr>
              <p:cNvPr id="301" name="Open plant"/>
              <p:cNvSpPr txBox="1"/>
              <p:nvPr/>
            </p:nvSpPr>
            <p:spPr>
              <a:xfrm>
                <a:off x="457200" y="990600"/>
                <a:ext cx="4254500" cy="3048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loop"/>
              <p:cNvSpPr txBox="1"/>
              <p:nvPr/>
            </p:nvSpPr>
            <p:spPr>
              <a:xfrm>
                <a:off x="4953000" y="12954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𝑢</m:t>
                      </m:r>
                      <m:r>
                        <a:rPr lang="en-US" sz="1550">
                          <a:solidFill>
                            <a:srgbClr val="252529"/>
                          </a:solidFill>
                          <a:latin typeface="Cambria Math"/>
                        </a:rPr>
                        <m:t>=</m:t>
                      </m:r>
                      <m:r>
                        <a:rPr lang="en-US" sz="1550">
                          <a:solidFill>
                            <a:srgbClr val="252529"/>
                          </a:solidFill>
                          <a:latin typeface="Cambria Math"/>
                        </a:rPr>
                        <m:t>𝐾𝑦</m:t>
                      </m:r>
                      <m:r>
                        <a:rPr lang="en-US" sz="1550">
                          <a:solidFill>
                            <a:srgbClr val="252529"/>
                          </a:solidFill>
                          <a:latin typeface="Cambria Math"/>
                        </a:rPr>
                        <m:t>  ⇒  </m:t>
                      </m:r>
                      <m:r>
                        <a:rPr lang="en-US" sz="1550">
                          <a:solidFill>
                            <a:srgbClr val="252529"/>
                          </a:solidFill>
                          <a:latin typeface="Cambria Math"/>
                        </a:rPr>
                        <m:t>𝑇</m:t>
                      </m:r>
                      <m:acc>
                        <m:accPr>
                          <m:chr m:val="̇"/>
                          <m:ctrlPr>
                            <a:rPr lang="en-US" sz="1550">
                              <a:solidFill>
                                <a:srgbClr val="252529"/>
                              </a:solidFill>
                              <a:latin typeface="Cambria Math"/>
                            </a:rPr>
                          </m:ctrlPr>
                        </m:accPr>
                        <m:e>
                          <m:r>
                            <a:rPr lang="en-US" sz="1550">
                              <a:solidFill>
                                <a:srgbClr val="252529"/>
                              </a:solidFill>
                              <a:latin typeface="Cambria Math"/>
                            </a:rPr>
                            <m:t>𝑥</m:t>
                          </m:r>
                        </m:e>
                      </m:acc>
                      <m:r>
                        <a:rPr lang="en-US" sz="1550">
                          <a:solidFill>
                            <a:srgbClr val="252529"/>
                          </a:solidFill>
                          <a:latin typeface="Cambria Math"/>
                        </a:rPr>
                        <m:t>=</m:t>
                      </m:r>
                      <m:d>
                        <m:dPr>
                          <m:ctrlPr>
                            <a:rPr lang="en-US" sz="1550">
                              <a:solidFill>
                                <a:srgbClr val="252529"/>
                              </a:solidFill>
                              <a:latin typeface="Cambria Math"/>
                            </a:rPr>
                          </m:ctrlPr>
                        </m:dPr>
                        <m:e>
                          <m:r>
                            <a:rPr lang="en-US" sz="1550">
                              <a:solidFill>
                                <a:srgbClr val="252529"/>
                              </a:solidFill>
                              <a:latin typeface="Cambria Math"/>
                            </a:rPr>
                            <m:t>𝐴</m:t>
                          </m:r>
                          <m:r>
                            <a:rPr lang="en-US" sz="1550">
                              <a:solidFill>
                                <a:srgbClr val="252529"/>
                              </a:solidFill>
                              <a:latin typeface="Cambria Math"/>
                            </a:rPr>
                            <m:t>+</m:t>
                          </m:r>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r>
                            <a:rPr lang="en-US" sz="1550">
                              <a:solidFill>
                                <a:srgbClr val="252529"/>
                              </a:solidFill>
                              <a:latin typeface="Cambria Math"/>
                            </a:rPr>
                            <m:t>𝐾</m:t>
                          </m:r>
                        </m:e>
                      </m:d>
                      <m:r>
                        <a:rPr lang="en-US" sz="1550">
                          <a:solidFill>
                            <a:srgbClr val="252529"/>
                          </a:solidFill>
                          <a:latin typeface="Cambria Math"/>
                        </a:rPr>
                        <m:t>𝑥</m:t>
                      </m:r>
                    </m:oMath>
                  </m:oMathPara>
                </a14:m>
                <a:endParaRPr sz="1550">
                  <a:latin typeface="Cambria Math"/>
                </a:endParaRPr>
              </a:p>
            </p:txBody>
          </p:sp>
        </mc:Choice>
        <mc:Fallback xmlns:m="http://schemas.openxmlformats.org/officeDocument/2006/math" xmlns="">
          <p:sp>
            <p:nvSpPr>
              <p:cNvPr id="303" name="Stage1 expected loop"/>
              <p:cNvSpPr txBox="1"/>
              <p:nvPr/>
            </p:nvSpPr>
            <p:spPr>
              <a:xfrm>
                <a:off x="4953000" y="12954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752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filter signal system"/>
              <p:cNvSpPr txBox="1"/>
              <p:nvPr/>
            </p:nvSpPr>
            <p:spPr>
              <a:xfrm>
                <a:off x="4864100" y="2032000"/>
                <a:ext cx="3898900" cy="622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m:rPr>
                          <m:sty m:val="p"/>
                        </m:rPr>
                        <a:rPr lang="en-US" sz="1550">
                          <a:solidFill>
                            <a:srgbClr val="252529"/>
                          </a:solidFill>
                          <a:latin typeface="Cambria Math"/>
                        </a:rPr>
                        <m:t>Θ</m:t>
                      </m:r>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a:solidFill>
                                                  <a:srgbClr val="252529"/>
                                                </a:solidFill>
                                                <a:latin typeface="Cambria Math"/>
                                              </a:rPr>
                                            </m:ctrlPr>
                                          </m:accPr>
                                          <m:e>
                                            <m:r>
                                              <a:rPr lang="en-US" sz="1550">
                                                <a:solidFill>
                                                  <a:srgbClr val="252529"/>
                                                </a:solidFill>
                                                <a:latin typeface="Cambria Math"/>
                                              </a:rPr>
                                              <m:t>𝑦</m:t>
                                            </m:r>
                                          </m:e>
                                        </m:acc>
                                      </m:e>
                                    </m:mr>
                                    <m:mr>
                                      <m:e>
                                        <m:acc>
                                          <m:accPr>
                                            <m:chr m:val="̃"/>
                                            <m:ctrlPr>
                                              <a:rPr lang="en-US" sz="1550">
                                                <a:solidFill>
                                                  <a:srgbClr val="252529"/>
                                                </a:solidFill>
                                                <a:latin typeface="Cambria Math"/>
                                              </a:rPr>
                                            </m:ctrlPr>
                                          </m:accPr>
                                          <m:e>
                                            <m:r>
                                              <a:rPr lang="en-US" sz="1550">
                                                <a:solidFill>
                                                  <a:srgbClr val="252529"/>
                                                </a:solidFill>
                                                <a:latin typeface="Cambria Math"/>
                                              </a:rPr>
                                              <m:t>𝑢</m:t>
                                            </m: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0</m:t>
                                        </m:r>
                                      </m:e>
                                    </m:mr>
                                    <m:mr>
                                      <m:e>
                                        <m:r>
                                          <a:rPr lang="en-US" sz="1550">
                                            <a:solidFill>
                                              <a:srgbClr val="252529"/>
                                            </a:solidFill>
                                            <a:latin typeface="Cambria Math"/>
                                          </a:rPr>
                                          <m:t>−</m:t>
                                        </m:r>
                                        <m:r>
                                          <a:rPr lang="en-US" sz="1550">
                                            <a:solidFill>
                                              <a:srgbClr val="252529"/>
                                            </a:solidFill>
                                            <a:latin typeface="Cambria Math"/>
                                          </a:rPr>
                                          <m:t>𝐾</m:t>
                                        </m:r>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𝑦</m:t>
                                        </m:r>
                                      </m:e>
                                    </m:mr>
                                    <m:mr>
                                      <m:e>
                                        <m:r>
                                          <a:rPr lang="en-US" sz="1550">
                                            <a:solidFill>
                                              <a:srgbClr val="252529"/>
                                            </a:solidFill>
                                            <a:latin typeface="Cambria Math"/>
                                          </a:rPr>
                                          <m:t>𝑢</m:t>
                                        </m:r>
                                      </m:e>
                                    </m:mr>
                                  </m:m>
                                </m:e>
                              </m:d>
                            </m:e>
                          </m:eqArr>
                        </m:e>
                      </m:d>
                    </m:oMath>
                  </m:oMathPara>
                </a14:m>
                <a:endParaRPr sz="1550">
                  <a:latin typeface="Cambria Math"/>
                </a:endParaRPr>
              </a:p>
            </p:txBody>
          </p:sp>
        </mc:Choice>
        <mc:Fallback xmlns:m="http://schemas.openxmlformats.org/officeDocument/2006/math" xmlns="">
          <p:sp>
            <p:nvSpPr>
              <p:cNvPr id="305" name="Stage2 filter signal system"/>
              <p:cNvSpPr txBox="1"/>
              <p:nvPr/>
            </p:nvSpPr>
            <p:spPr>
              <a:xfrm>
                <a:off x="4864100" y="2032000"/>
                <a:ext cx="3898900" cy="622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rewrite input"/>
              <p:cNvSpPr txBox="1"/>
              <p:nvPr/>
            </p:nvSpPr>
            <p:spPr>
              <a:xfrm>
                <a:off x="4953000" y="2717800"/>
                <a:ext cx="3733800" cy="3302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650">
                              <a:solidFill>
                                <a:srgbClr val="252529"/>
                              </a:solidFill>
                              <a:latin typeface="Cambria Math"/>
                            </a:rPr>
                          </m:ctrlPr>
                        </m:accPr>
                        <m:e>
                          <m:r>
                            <a:rPr lang="en-US" sz="1650">
                              <a:solidFill>
                                <a:srgbClr val="252529"/>
                              </a:solidFill>
                              <a:latin typeface="Cambria Math"/>
                            </a:rPr>
                            <m:t>𝑢</m:t>
                          </m:r>
                        </m:e>
                      </m:acc>
                      <m:r>
                        <a:rPr lang="en-US" sz="1650">
                          <a:solidFill>
                            <a:srgbClr val="252529"/>
                          </a:solidFill>
                          <a:latin typeface="Cambria Math"/>
                        </a:rPr>
                        <m:t>=</m:t>
                      </m:r>
                      <m:r>
                        <a:rPr lang="en-US" sz="1650">
                          <a:solidFill>
                            <a:srgbClr val="252529"/>
                          </a:solidFill>
                          <a:latin typeface="Cambria Math"/>
                        </a:rPr>
                        <m:t>𝑢</m:t>
                      </m:r>
                      <m:r>
                        <a:rPr lang="en-US" sz="1650">
                          <a:solidFill>
                            <a:srgbClr val="252529"/>
                          </a:solidFill>
                          <a:latin typeface="Cambria Math"/>
                        </a:rPr>
                        <m:t>−</m:t>
                      </m:r>
                      <m:r>
                        <a:rPr lang="en-US" sz="1650">
                          <a:solidFill>
                            <a:srgbClr val="252529"/>
                          </a:solidFill>
                          <a:latin typeface="Cambria Math"/>
                        </a:rPr>
                        <m:t>𝐾𝑦</m:t>
                      </m:r>
                      <m:r>
                        <a:rPr lang="en-US" sz="1650">
                          <a:solidFill>
                            <a:srgbClr val="252529"/>
                          </a:solidFill>
                          <a:latin typeface="Cambria Math"/>
                        </a:rPr>
                        <m:t>  ⇔  </m:t>
                      </m:r>
                      <m:r>
                        <a:rPr lang="en-US" sz="1650">
                          <a:solidFill>
                            <a:srgbClr val="252529"/>
                          </a:solidFill>
                          <a:latin typeface="Cambria Math"/>
                        </a:rPr>
                        <m:t>𝑢</m:t>
                      </m:r>
                      <m:r>
                        <a:rPr lang="en-US" sz="1650">
                          <a:solidFill>
                            <a:srgbClr val="252529"/>
                          </a:solidFill>
                          <a:latin typeface="Cambria Math"/>
                        </a:rPr>
                        <m:t>=</m:t>
                      </m:r>
                      <m:r>
                        <a:rPr lang="en-US" sz="1650">
                          <a:solidFill>
                            <a:srgbClr val="252529"/>
                          </a:solidFill>
                          <a:latin typeface="Cambria Math"/>
                        </a:rPr>
                        <m:t>𝐾𝑦</m:t>
                      </m:r>
                      <m:r>
                        <a:rPr lang="en-US" sz="1650">
                          <a:solidFill>
                            <a:srgbClr val="252529"/>
                          </a:solidFill>
                          <a:latin typeface="Cambria Math"/>
                        </a:rPr>
                        <m:t>+</m:t>
                      </m:r>
                      <m:acc>
                        <m:accPr>
                          <m:chr m:val="̃"/>
                          <m:ctrlPr>
                            <a:rPr lang="en-US" sz="1650">
                              <a:solidFill>
                                <a:srgbClr val="252529"/>
                              </a:solidFill>
                              <a:latin typeface="Cambria Math"/>
                            </a:rPr>
                          </m:ctrlPr>
                        </m:accPr>
                        <m:e>
                          <m:r>
                            <a:rPr lang="en-US" sz="1650">
                              <a:solidFill>
                                <a:srgbClr val="252529"/>
                              </a:solidFill>
                              <a:latin typeface="Cambria Math"/>
                            </a:rPr>
                            <m:t>𝑢</m:t>
                          </m:r>
                        </m:e>
                      </m:acc>
                    </m:oMath>
                  </m:oMathPara>
                </a14:m>
                <a:endParaRPr sz="1650">
                  <a:latin typeface="Cambria Math"/>
                </a:endParaRPr>
              </a:p>
            </p:txBody>
          </p:sp>
        </mc:Choice>
        <mc:Fallback xmlns:m="http://schemas.openxmlformats.org/officeDocument/2006/math" xmlns="">
          <p:sp>
            <p:nvSpPr>
              <p:cNvPr id="306" name="Stage2 rewrite input"/>
              <p:cNvSpPr txBox="1"/>
              <p:nvPr/>
            </p:nvSpPr>
            <p:spPr>
              <a:xfrm>
                <a:off x="4953000" y="2717800"/>
                <a:ext cx="3733800" cy="3302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7" name="Stage2 transformed plant"/>
              <p:cNvSpPr txBox="1"/>
              <p:nvPr/>
            </p:nvSpPr>
            <p:spPr>
              <a:xfrm>
                <a:off x="4864100" y="3111500"/>
                <a:ext cx="3898900" cy="546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d>
                        <m:dPr>
                          <m:begChr m:val="{"/>
                          <m:endChr m:val=""/>
                          <m:ctrlPr>
                            <a:rPr lang="en-US" sz="1600" i="1">
                              <a:solidFill>
                                <a:srgbClr val="252529"/>
                              </a:solidFill>
                              <a:latin typeface="Cambria Math" panose="02040503050406030204" pitchFamily="18" charset="0"/>
                            </a:rPr>
                          </m:ctrlPr>
                        </m:dPr>
                        <m:e>
                          <m:eqArr>
                            <m:eqArrPr>
                              <m:ctrlPr>
                                <a:rPr lang="en-US" sz="1600" i="1">
                                  <a:solidFill>
                                    <a:srgbClr val="252529"/>
                                  </a:solidFill>
                                  <a:latin typeface="Cambria Math" panose="02040503050406030204" pitchFamily="18" charset="0"/>
                                </a:rPr>
                              </m:ctrlPr>
                            </m:eqArrPr>
                            <m:e>
                              <m:r>
                                <a:rPr lang="en-US" sz="1600">
                                  <a:solidFill>
                                    <a:srgbClr val="252529"/>
                                  </a:solidFill>
                                  <a:latin typeface="Cambria Math"/>
                                </a:rPr>
                                <m:t>𝑇</m:t>
                              </m:r>
                              <m:acc>
                                <m:accPr>
                                  <m:chr m:val="̇"/>
                                  <m:ctrlPr>
                                    <a:rPr lang="en-US" sz="1600">
                                      <a:solidFill>
                                        <a:srgbClr val="252529"/>
                                      </a:solidFill>
                                      <a:latin typeface="Cambria Math"/>
                                    </a:rPr>
                                  </m:ctrlPr>
                                </m:accPr>
                                <m:e>
                                  <m:r>
                                    <a:rPr lang="en-US" sz="1600">
                                      <a:solidFill>
                                        <a:srgbClr val="252529"/>
                                      </a:solidFill>
                                      <a:latin typeface="Cambria Math"/>
                                    </a:rPr>
                                    <m:t>𝑥</m:t>
                                  </m:r>
                                </m:e>
                              </m:acc>
                              <m:r>
                                <a:rPr lang="en-US" sz="1600">
                                  <a:solidFill>
                                    <a:srgbClr val="252529"/>
                                  </a:solidFill>
                                  <a:latin typeface="Cambria Math"/>
                                </a:rPr>
                                <m:t>=</m:t>
                              </m:r>
                              <m:d>
                                <m:dPr>
                                  <m:ctrlPr>
                                    <a:rPr lang="en-US" sz="1600">
                                      <a:solidFill>
                                        <a:srgbClr val="252529"/>
                                      </a:solidFill>
                                      <a:latin typeface="Cambria Math"/>
                                    </a:rPr>
                                  </m:ctrlPr>
                                </m:dPr>
                                <m:e>
                                  <m:r>
                                    <a:rPr lang="en-US" sz="1600">
                                      <a:solidFill>
                                        <a:srgbClr val="252529"/>
                                      </a:solidFill>
                                      <a:latin typeface="Cambria Math"/>
                                    </a:rPr>
                                    <m:t>𝐴</m:t>
                                  </m:r>
                                  <m:r>
                                    <a:rPr lang="en-US" sz="1600">
                                      <a:solidFill>
                                        <a:srgbClr val="252529"/>
                                      </a:solidFill>
                                      <a:latin typeface="Cambria Math"/>
                                    </a:rPr>
                                    <m:t>+</m:t>
                                  </m:r>
                                  <m:sSub>
                                    <m:sSubPr>
                                      <m:ctrlPr>
                                        <a:rPr lang="en-US" sz="1600">
                                          <a:solidFill>
                                            <a:srgbClr val="252529"/>
                                          </a:solidFill>
                                          <a:latin typeface="Cambria Math"/>
                                        </a:rPr>
                                      </m:ctrlPr>
                                    </m:sSubPr>
                                    <m:e>
                                      <m:r>
                                        <a:rPr lang="en-US" sz="1600">
                                          <a:solidFill>
                                            <a:srgbClr val="252529"/>
                                          </a:solidFill>
                                          <a:latin typeface="Cambria Math"/>
                                        </a:rPr>
                                        <m:t>𝐵</m:t>
                                      </m:r>
                                    </m:e>
                                    <m:sub>
                                      <m:r>
                                        <m:rPr>
                                          <m:sty m:val="p"/>
                                        </m:rPr>
                                        <a:rPr lang="en-US" sz="1600">
                                          <a:solidFill>
                                            <a:srgbClr val="252529"/>
                                          </a:solidFill>
                                          <a:latin typeface="Cambria Math"/>
                                        </a:rPr>
                                        <m:t>u</m:t>
                                      </m:r>
                                    </m:sub>
                                  </m:sSub>
                                  <m:r>
                                    <a:rPr lang="en-US" sz="1600">
                                      <a:solidFill>
                                        <a:srgbClr val="252529"/>
                                      </a:solidFill>
                                      <a:latin typeface="Cambria Math"/>
                                    </a:rPr>
                                    <m:t>𝐾</m:t>
                                  </m:r>
                                </m:e>
                              </m:d>
                              <m:r>
                                <a:rPr lang="en-US" sz="1600">
                                  <a:solidFill>
                                    <a:srgbClr val="252529"/>
                                  </a:solidFill>
                                  <a:latin typeface="Cambria Math"/>
                                </a:rPr>
                                <m:t>𝑥</m:t>
                              </m:r>
                              <m:r>
                                <a:rPr lang="en-US" sz="1600">
                                  <a:solidFill>
                                    <a:srgbClr val="252529"/>
                                  </a:solidFill>
                                  <a:latin typeface="Cambria Math"/>
                                </a:rPr>
                                <m:t>+</m:t>
                              </m:r>
                              <m:sSub>
                                <m:sSubPr>
                                  <m:ctrlPr>
                                    <a:rPr lang="en-US" sz="1600">
                                      <a:solidFill>
                                        <a:srgbClr val="252529"/>
                                      </a:solidFill>
                                      <a:latin typeface="Cambria Math"/>
                                    </a:rPr>
                                  </m:ctrlPr>
                                </m:sSubPr>
                                <m:e>
                                  <m:r>
                                    <a:rPr lang="en-US" sz="1600">
                                      <a:solidFill>
                                        <a:srgbClr val="252529"/>
                                      </a:solidFill>
                                      <a:latin typeface="Cambria Math"/>
                                    </a:rPr>
                                    <m:t>𝐵</m:t>
                                  </m:r>
                                </m:e>
                                <m:sub>
                                  <m:r>
                                    <m:rPr>
                                      <m:sty m:val="p"/>
                                    </m:rPr>
                                    <a:rPr lang="en-US" sz="1600">
                                      <a:solidFill>
                                        <a:srgbClr val="252529"/>
                                      </a:solidFill>
                                      <a:latin typeface="Cambria Math"/>
                                    </a:rPr>
                                    <m:t>u</m:t>
                                  </m:r>
                                </m:sub>
                              </m:sSub>
                              <m:acc>
                                <m:accPr>
                                  <m:chr m:val="̃"/>
                                  <m:ctrlPr>
                                    <a:rPr lang="en-US" sz="1600">
                                      <a:solidFill>
                                        <a:srgbClr val="252529"/>
                                      </a:solidFill>
                                      <a:latin typeface="Cambria Math"/>
                                    </a:rPr>
                                  </m:ctrlPr>
                                </m:accPr>
                                <m:e>
                                  <m:r>
                                    <a:rPr lang="en-US" sz="1600">
                                      <a:solidFill>
                                        <a:srgbClr val="252529"/>
                                      </a:solidFill>
                                      <a:latin typeface="Cambria Math"/>
                                    </a:rPr>
                                    <m:t>𝑢</m:t>
                                  </m:r>
                                </m:e>
                              </m:acc>
                            </m:e>
                            <m:e>
                              <m:acc>
                                <m:accPr>
                                  <m:chr m:val="̃"/>
                                  <m:ctrlPr>
                                    <a:rPr lang="en-US" sz="1600">
                                      <a:solidFill>
                                        <a:srgbClr val="252529"/>
                                      </a:solidFill>
                                      <a:latin typeface="Cambria Math"/>
                                    </a:rPr>
                                  </m:ctrlPr>
                                </m:accPr>
                                <m:e>
                                  <m:r>
                                    <a:rPr lang="en-US" sz="1600">
                                      <a:solidFill>
                                        <a:srgbClr val="252529"/>
                                      </a:solidFill>
                                      <a:latin typeface="Cambria Math"/>
                                    </a:rPr>
                                    <m:t>𝑦</m:t>
                                  </m:r>
                                </m:e>
                              </m:acc>
                              <m:r>
                                <a:rPr lang="en-US" sz="1600">
                                  <a:solidFill>
                                    <a:srgbClr val="252529"/>
                                  </a:solidFill>
                                  <a:latin typeface="Cambria Math"/>
                                </a:rPr>
                                <m:t>=</m:t>
                              </m:r>
                              <m:r>
                                <a:rPr lang="en-US" sz="1600">
                                  <a:solidFill>
                                    <a:srgbClr val="252529"/>
                                  </a:solidFill>
                                  <a:latin typeface="Cambria Math"/>
                                </a:rPr>
                                <m:t>𝑦</m:t>
                              </m:r>
                              <m:r>
                                <a:rPr lang="en-US" sz="1600">
                                  <a:solidFill>
                                    <a:srgbClr val="252529"/>
                                  </a:solidFill>
                                  <a:latin typeface="Cambria Math"/>
                                </a:rPr>
                                <m:t>=</m:t>
                              </m:r>
                              <m:r>
                                <a:rPr lang="en-US" sz="1600">
                                  <a:solidFill>
                                    <a:srgbClr val="252529"/>
                                  </a:solidFill>
                                  <a:latin typeface="Cambria Math"/>
                                </a:rPr>
                                <m:t>𝑥</m:t>
                              </m:r>
                            </m:e>
                          </m:eqArr>
                        </m:e>
                      </m:d>
                    </m:oMath>
                  </m:oMathPara>
                </a14:m>
                <a:endParaRPr sz="1600">
                  <a:latin typeface="Cambria Math"/>
                </a:endParaRPr>
              </a:p>
            </p:txBody>
          </p:sp>
        </mc:Choice>
        <mc:Fallback xmlns:m="http://schemas.openxmlformats.org/officeDocument/2006/math" xmlns="">
          <p:sp>
            <p:nvSpPr>
              <p:cNvPr id="307" name="Stage2 transformed plant"/>
              <p:cNvSpPr txBox="1"/>
              <p:nvPr/>
            </p:nvSpPr>
            <p:spPr>
              <a:xfrm>
                <a:off x="4864100" y="3111500"/>
                <a:ext cx="3898900" cy="546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8" name="Stage3 check heading"/>
          <p:cNvSpPr txBox="1"/>
          <p:nvPr/>
        </p:nvSpPr>
        <p:spPr>
          <a:xfrm>
            <a:off x="4876800" y="38227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9" name="Stage3 closure"/>
              <p:cNvSpPr txBox="1"/>
              <p:nvPr/>
            </p:nvSpPr>
            <p:spPr>
              <a:xfrm>
                <a:off x="4953000" y="41148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800">
                              <a:solidFill>
                                <a:srgbClr val="252529"/>
                              </a:solidFill>
                              <a:latin typeface="Cambria Math"/>
                            </a:rPr>
                          </m:ctrlPr>
                        </m:accPr>
                        <m:e>
                          <m:r>
                            <a:rPr lang="en-US" sz="1800">
                              <a:solidFill>
                                <a:srgbClr val="252529"/>
                              </a:solidFill>
                              <a:latin typeface="Cambria Math"/>
                            </a:rPr>
                            <m:t>𝑢</m:t>
                          </m:r>
                        </m:e>
                      </m:acc>
                      <m:r>
                        <a:rPr lang="en-US" sz="1800">
                          <a:solidFill>
                            <a:srgbClr val="252529"/>
                          </a:solidFill>
                          <a:latin typeface="Cambria Math"/>
                        </a:rPr>
                        <m:t>=0  ⇔  </m:t>
                      </m:r>
                      <m:r>
                        <a:rPr lang="en-US" sz="1800">
                          <a:solidFill>
                            <a:srgbClr val="252529"/>
                          </a:solidFill>
                          <a:latin typeface="Cambria Math"/>
                        </a:rPr>
                        <m:t>𝑢</m:t>
                      </m:r>
                      <m:r>
                        <a:rPr lang="en-US" sz="1800">
                          <a:solidFill>
                            <a:srgbClr val="252529"/>
                          </a:solidFill>
                          <a:latin typeface="Cambria Math"/>
                        </a:rPr>
                        <m:t>=</m:t>
                      </m:r>
                      <m:r>
                        <a:rPr lang="en-US" sz="1800">
                          <a:solidFill>
                            <a:srgbClr val="252529"/>
                          </a:solidFill>
                          <a:latin typeface="Cambria Math"/>
                        </a:rPr>
                        <m:t>𝐾𝑦</m:t>
                      </m:r>
                    </m:oMath>
                  </m:oMathPara>
                </a14:m>
                <a:endParaRPr sz="1800">
                  <a:latin typeface="Cambria Math"/>
                </a:endParaRPr>
              </a:p>
            </p:txBody>
          </p:sp>
        </mc:Choice>
        <mc:Fallback xmlns:m="http://schemas.openxmlformats.org/officeDocument/2006/math" xmlns="">
          <p:sp>
            <p:nvSpPr>
              <p:cNvPr id="309" name="Stage3 closure"/>
              <p:cNvSpPr txBox="1"/>
              <p:nvPr/>
            </p:nvSpPr>
            <p:spPr>
              <a:xfrm>
                <a:off x="4953000" y="41148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10" name="Stage3 conclusion"/>
          <p:cNvSpPr txBox="1"/>
          <p:nvPr/>
        </p:nvSpPr>
        <p:spPr>
          <a:xfrm>
            <a:off x="457200" y="4495800"/>
            <a:ext cx="8229600" cy="279400"/>
          </a:xfrm>
          <a:prstGeom prst="rect">
            <a:avLst/>
          </a:prstGeom>
          <a:noFill/>
          <a:ln>
            <a:noFill/>
          </a:ln>
        </p:spPr>
        <p:txBody>
          <a:bodyPr wrap="square" lIns="0" tIns="0" rIns="0" bIns="0" anchor="ctr">
            <a:noAutofit/>
          </a:bodyPr>
          <a:lstStyle/>
          <a:p>
            <a:pPr algn="l"/>
            <a:r>
              <a:rPr lang="en-US" sz="1600" b="1" dirty="0">
                <a:solidFill>
                  <a:srgbClr val="C81919"/>
                </a:solidFill>
                <a:latin typeface="Aptos"/>
              </a:rPr>
              <a:t>Yes: filtered input recovers the original closed loop.</a:t>
            </a:r>
          </a:p>
        </p:txBody>
      </p:sp>
    </p:spTree>
    <p:extLst>
      <p:ext uri="{BB962C8B-B14F-4D97-AF65-F5344CB8AC3E}">
        <p14:creationId xmlns:p14="http://schemas.microsoft.com/office/powerpoint/2010/main" val="3379340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07"/>
                                        </p:tgtEl>
                                        <p:attrNameLst>
                                          <p:attrName>style.visibility</p:attrName>
                                        </p:attrNameLst>
                                      </p:cBhvr>
                                      <p:to>
                                        <p:strVal val="visible"/>
                                      </p:to>
                                    </p:set>
                                    <p:animEffect transition="in" filter="fade">
                                      <p:cBhvr>
                                        <p:cTn id="24" dur="300"/>
                                        <p:tgtEl>
                                          <p:spTgt spid="30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Transposing the systems</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36</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CFA38E4C-24E9-CA08-8353-19157955D2C0}"/>
                  </a:ext>
                </a:extLst>
              </p:cNvPr>
              <p:cNvSpPr txBox="1"/>
              <p:nvPr/>
            </p:nvSpPr>
            <p:spPr>
              <a:xfrm>
                <a:off x="3079354" y="3425625"/>
                <a:ext cx="469039" cy="398571"/>
              </a:xfrm>
              <a:prstGeom prst="rect">
                <a:avLst/>
              </a:prstGeom>
              <a:noFill/>
            </p:spPr>
            <p:txBody>
              <a:bodyPr wrap="none" lIns="0" tIns="0" rIns="0" bIns="0" rtlCol="0">
                <a:spAutoFit/>
              </a:bodyPr>
              <a:lstStyle/>
              <a:p>
                <a:pPr/>
                <a14:m>
                  <m:oMathPara xmlns:m="http://schemas.openxmlformats.org/officeDocument/2006/math">
                    <m:oMath>
                      <m:sSup>
                        <m:sSupPr>
                          <m:ctrlPr>
                            <a:rPr lang="el-GR" sz="2590" i="1" smtClean="0">
                              <a:latin typeface="Cambria Math" panose="02040503050406030204" pitchFamily="18" charset="0"/>
                              <a:ea typeface="Cambria Math" panose="02040503050406030204" pitchFamily="18" charset="0"/>
                            </a:rPr>
                          </m:ctrlPr>
                        </m:sSupPr>
                        <m:e>
                          <m:r>
                            <m:rPr>
                              <m:sty m:val="p"/>
                            </m:rPr>
                            <a:rPr lang="el-GR" sz="2590" i="1" smtClean="0">
                              <a:latin typeface="Cambria Math" panose="02040503050406030204" pitchFamily="18" charset="0"/>
                              <a:ea typeface="Cambria Math" panose="02040503050406030204" pitchFamily="18" charset="0"/>
                            </a:rPr>
                            <m:t>Θ</m:t>
                          </m:r>
                        </m:e>
                        <m:sup>
                          <m:r>
                            <a:rPr lang="el-GR" sz="2590" i="1" smtClean="0">
                              <a:latin typeface="Cambria Math" panose="02040503050406030204" pitchFamily="18" charset="0"/>
                              <a:ea typeface="Cambria Math" panose="02040503050406030204" pitchFamily="18" charset="0"/>
                            </a:rPr>
                            <m:t>⊤</m:t>
                          </m:r>
                        </m:sup>
                      </m:sSup>
                    </m:oMath>
                  </m:oMathPara>
                </a14:m>
                <a:endParaRPr lang="en-NL" sz="2590" dirty="0"/>
              </a:p>
            </p:txBody>
          </p:sp>
        </mc:Choice>
        <mc:Fallback xmlns="" xmlns:m="http://schemas.openxmlformats.org/officeDocument/2006/math">
          <p:sp>
            <p:nvSpPr>
              <p:cNvPr id="53" name="TextBox 52">
                <a:extLst>
                  <a:ext uri="{FF2B5EF4-FFF2-40B4-BE49-F238E27FC236}">
                    <a16:creationId xmlns:a16="http://schemas.microsoft.com/office/drawing/2014/main" id="{CFA38E4C-24E9-CA08-8353-19157955D2C0}"/>
                  </a:ext>
                </a:extLst>
              </p:cNvPr>
              <p:cNvSpPr txBox="1">
                <a:spLocks noRot="1" noChangeAspect="1" noMove="1" noResize="1" noEditPoints="1" noAdjustHandles="1" noChangeArrowheads="1" noChangeShapeType="1" noTextEdit="1"/>
              </p:cNvSpPr>
              <p:nvPr/>
            </p:nvSpPr>
            <p:spPr>
              <a:xfrm>
                <a:off x="3079354" y="3425625"/>
                <a:ext cx="469039" cy="398571"/>
              </a:xfrm>
              <a:prstGeom prst="rect">
                <a:avLst/>
              </a:prstGeom>
              <a:blipFill>
                <a:blip r:embed="rId8"/>
                <a:stretch>
                  <a:fillRect l="-15584" t="-1538" r="-6494"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p:sp>
        <p:nvSpPr>
          <p:cNvPr id="301" name="Dimension convention"/>
          <p:cNvSpPr txBox="1"/>
          <p:nvPr/>
        </p:nvSpPr>
        <p:spPr>
          <a:xfrm>
            <a:off x="457200" y="1028700"/>
            <a:ext cx="4229100" cy="215900"/>
          </a:xfrm>
          <a:prstGeom prst="rect">
            <a:avLst/>
          </a:prstGeom>
          <a:noFill/>
          <a:ln>
            <a:noFill/>
          </a:ln>
        </p:spPr>
        <p:txBody>
          <a:bodyPr wrap="square" lIns="0" tIns="0" rIns="0" bIns="0" anchor="ctr">
            <a:noAutofit/>
          </a:bodyPr>
          <a:lstStyle/>
          <a:p>
            <a:pPr algn="l"/>
            <a:r>
              <a:rPr lang="en-US" sz="1050" b="0">
                <a:solidFill>
                  <a:srgbClr val="66717C"/>
                </a:solidFill>
                <a:latin typeface="Aptos"/>
              </a:rPr>
              <a:t>For this illustration, state and input have equal dimension.</a:t>
            </a:r>
          </a:p>
        </p:txBody>
      </p:sp>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closure"/>
              <p:cNvSpPr txBox="1"/>
              <p:nvPr/>
            </p:nvSpPr>
            <p:spPr>
              <a:xfrm>
                <a:off x="4953000" y="1333500"/>
                <a:ext cx="3733800" cy="3429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800" i="1">
                              <a:solidFill>
                                <a:srgbClr val="252529"/>
                              </a:solidFill>
                              <a:latin typeface="Cambria Math" panose="02040503050406030204" pitchFamily="18" charset="0"/>
                            </a:rPr>
                          </m:ctrlPr>
                        </m:accPr>
                        <m:e>
                          <m:bar>
                            <m:barPr>
                              <m:pos m:val="bot"/>
                              <m:ctrlPr>
                                <a:rPr lang="en-US" sz="1800">
                                  <a:solidFill>
                                    <a:srgbClr val="252529"/>
                                  </a:solidFill>
                                  <a:latin typeface="Cambria Math"/>
                                </a:rPr>
                              </m:ctrlPr>
                            </m:barPr>
                            <m:e>
                              <m:r>
                                <a:rPr lang="en-US" sz="1800">
                                  <a:solidFill>
                                    <a:srgbClr val="252529"/>
                                  </a:solidFill>
                                  <a:latin typeface="Cambria Math"/>
                                </a:rPr>
                                <m:t>𝑢</m:t>
                              </m:r>
                            </m:e>
                          </m:bar>
                        </m:e>
                      </m:acc>
                      <m:r>
                        <a:rPr lang="en-US" sz="1800">
                          <a:solidFill>
                            <a:srgbClr val="252529"/>
                          </a:solidFill>
                          <a:latin typeface="Cambria Math"/>
                        </a:rPr>
                        <m:t>=0  ⇔  </m:t>
                      </m:r>
                      <m:bar>
                        <m:barPr>
                          <m:pos m:val="bot"/>
                          <m:ctrlPr>
                            <a:rPr lang="en-US" sz="1800">
                              <a:solidFill>
                                <a:srgbClr val="252529"/>
                              </a:solidFill>
                              <a:latin typeface="Cambria Math"/>
                            </a:rPr>
                          </m:ctrlPr>
                        </m:barPr>
                        <m:e>
                          <m:r>
                            <a:rPr lang="en-US" sz="1800">
                              <a:solidFill>
                                <a:srgbClr val="252529"/>
                              </a:solidFill>
                              <a:latin typeface="Cambria Math"/>
                            </a:rPr>
                            <m:t>𝑢</m:t>
                          </m:r>
                        </m:e>
                      </m:bar>
                      <m:r>
                        <a:rPr lang="en-US" sz="1800">
                          <a:solidFill>
                            <a:srgbClr val="252529"/>
                          </a:solidFill>
                          <a:latin typeface="Cambria Math"/>
                        </a:rPr>
                        <m:t>=</m:t>
                      </m:r>
                      <m:sSup>
                        <m:sSupPr>
                          <m:ctrlPr>
                            <a:rPr lang="en-US" sz="1800">
                              <a:solidFill>
                                <a:srgbClr val="252529"/>
                              </a:solidFill>
                              <a:latin typeface="Cambria Math"/>
                            </a:rPr>
                          </m:ctrlPr>
                        </m:sSupPr>
                        <m:e>
                          <m:r>
                            <a:rPr lang="en-US" sz="1800">
                              <a:solidFill>
                                <a:srgbClr val="252529"/>
                              </a:solidFill>
                              <a:latin typeface="Cambria Math"/>
                            </a:rPr>
                            <m:t>𝐾</m:t>
                          </m:r>
                        </m:e>
                        <m:sup>
                          <m:r>
                            <a:rPr lang="en-US" sz="1800">
                              <a:solidFill>
                                <a:srgbClr val="252529"/>
                              </a:solidFill>
                              <a:latin typeface="Cambria Math"/>
                            </a:rPr>
                            <m:t>∗</m:t>
                          </m:r>
                        </m:sup>
                      </m:sSup>
                      <m:bar>
                        <m:barPr>
                          <m:pos m:val="bot"/>
                          <m:ctrlPr>
                            <a:rPr lang="en-US" sz="1800">
                              <a:solidFill>
                                <a:srgbClr val="252529"/>
                              </a:solidFill>
                              <a:latin typeface="Cambria Math"/>
                            </a:rPr>
                          </m:ctrlPr>
                        </m:barPr>
                        <m:e>
                          <m:r>
                            <a:rPr lang="en-US" sz="1800">
                              <a:solidFill>
                                <a:srgbClr val="252529"/>
                              </a:solidFill>
                              <a:latin typeface="Cambria Math"/>
                            </a:rPr>
                            <m:t>𝑦</m:t>
                          </m:r>
                        </m:e>
                      </m:bar>
                    </m:oMath>
                  </m:oMathPara>
                </a14:m>
                <a:endParaRPr sz="1800">
                  <a:latin typeface="Cambria Math"/>
                </a:endParaRPr>
              </a:p>
            </p:txBody>
          </p:sp>
        </mc:Choice>
        <mc:Fallback xmlns:m="http://schemas.openxmlformats.org/officeDocument/2006/math" xmlns="">
          <p:sp>
            <p:nvSpPr>
              <p:cNvPr id="303" name="Stage1 expected closure"/>
              <p:cNvSpPr txBox="1"/>
              <p:nvPr/>
            </p:nvSpPr>
            <p:spPr>
              <a:xfrm>
                <a:off x="4953000" y="1333500"/>
                <a:ext cx="3733800" cy="3429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828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transposed plant"/>
              <p:cNvSpPr txBox="1"/>
              <p:nvPr/>
            </p:nvSpPr>
            <p:spPr>
              <a:xfrm>
                <a:off x="4864100" y="2159000"/>
                <a:ext cx="3898900" cy="6096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550">
                              <a:solidFill>
                                <a:srgbClr val="252529"/>
                              </a:solidFill>
                              <a:latin typeface="Cambria Math"/>
                            </a:rPr>
                          </m:ctrlPr>
                        </m:sSupPr>
                        <m:e>
                          <m:r>
                            <a:rPr lang="en-US" sz="1550">
                              <a:solidFill>
                                <a:srgbClr val="252529"/>
                              </a:solidFill>
                              <a:latin typeface="Cambria Math"/>
                            </a:rPr>
                            <m:t>𝐺</m:t>
                          </m:r>
                        </m:e>
                        <m:sup>
                          <m:r>
                            <a:rPr lang="en-US" sz="1550">
                              <a:solidFill>
                                <a:srgbClr val="252529"/>
                              </a:solidFill>
                              <a:latin typeface="Cambria Math"/>
                            </a:rPr>
                            <m:t>⊤</m:t>
                          </m:r>
                        </m:sup>
                      </m:sSup>
                      <m:r>
                        <a:rPr lang="en-US" sz="1550">
                          <a:solidFill>
                            <a:srgbClr val="252529"/>
                          </a:solidFill>
                          <a:latin typeface="Cambria Math"/>
                        </a:rPr>
                        <m:t>: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sSup>
                                <m:sSupPr>
                                  <m:ctrlPr>
                                    <a:rPr lang="en-US" sz="1550">
                                      <a:solidFill>
                                        <a:srgbClr val="252529"/>
                                      </a:solidFill>
                                      <a:latin typeface="Cambria Math"/>
                                    </a:rPr>
                                  </m:ctrlPr>
                                </m:sSupPr>
                                <m:e>
                                  <m:r>
                                    <a:rPr lang="en-US" sz="1550">
                                      <a:solidFill>
                                        <a:srgbClr val="252529"/>
                                      </a:solidFill>
                                      <a:latin typeface="Cambria Math"/>
                                    </a:rPr>
                                    <m:t>𝑇</m:t>
                                  </m:r>
                                </m:e>
                                <m:sup>
                                  <m:r>
                                    <a:rPr lang="en-US" sz="1550">
                                      <a:solidFill>
                                        <a:srgbClr val="252529"/>
                                      </a:solidFill>
                                      <a:latin typeface="Cambria Math"/>
                                    </a:rPr>
                                    <m:t>∗</m:t>
                                  </m:r>
                                </m:sup>
                              </m:sSup>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𝑥</m:t>
                                      </m:r>
                                    </m:e>
                                  </m:bar>
                                </m:e>
                              </m:acc>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𝐴</m:t>
                                  </m:r>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r>
                                <a:rPr lang="en-US" sz="1550">
                                  <a:solidFill>
                                    <a:srgbClr val="252529"/>
                                  </a:solidFill>
                                  <a:latin typeface="Cambria Math"/>
                                </a:rPr>
                                <m:t>+</m:t>
                              </m:r>
                              <m:bar>
                                <m:barPr>
                                  <m:pos m:val="bot"/>
                                  <m:ctrlPr>
                                    <a:rPr lang="en-US" sz="1550">
                                      <a:solidFill>
                                        <a:srgbClr val="252529"/>
                                      </a:solidFill>
                                      <a:latin typeface="Cambria Math"/>
                                    </a:rPr>
                                  </m:ctrlPr>
                                </m:barPr>
                                <m:e>
                                  <m:r>
                                    <a:rPr lang="en-US" sz="1550">
                                      <a:solidFill>
                                        <a:srgbClr val="252529"/>
                                      </a:solidFill>
                                      <a:latin typeface="Cambria Math"/>
                                    </a:rPr>
                                    <m:t>𝑢</m:t>
                                  </m:r>
                                </m:e>
                              </m:bar>
                            </m:e>
                            <m:e>
                              <m:bar>
                                <m:barPr>
                                  <m:pos m:val="bot"/>
                                  <m:ctrlPr>
                                    <a:rPr lang="en-US" sz="1550">
                                      <a:solidFill>
                                        <a:srgbClr val="252529"/>
                                      </a:solidFill>
                                      <a:latin typeface="Cambria Math"/>
                                    </a:rPr>
                                  </m:ctrlPr>
                                </m:barPr>
                                <m:e>
                                  <m:r>
                                    <a:rPr lang="en-US" sz="1550">
                                      <a:solidFill>
                                        <a:srgbClr val="252529"/>
                                      </a:solidFill>
                                      <a:latin typeface="Cambria Math"/>
                                    </a:rPr>
                                    <m:t>𝑦</m:t>
                                  </m:r>
                                </m:e>
                              </m:bar>
                              <m:r>
                                <a:rPr lang="en-US" sz="1550">
                                  <a:solidFill>
                                    <a:srgbClr val="252529"/>
                                  </a:solidFill>
                                  <a:latin typeface="Cambria Math"/>
                                </a:rPr>
                                <m:t>=</m:t>
                              </m:r>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e>
                          </m:eqArr>
                        </m:e>
                      </m:d>
                    </m:oMath>
                  </m:oMathPara>
                </a14:m>
                <a:endParaRPr sz="1550">
                  <a:latin typeface="Cambria Math"/>
                </a:endParaRPr>
              </a:p>
            </p:txBody>
          </p:sp>
        </mc:Choice>
        <mc:Fallback xmlns:m="http://schemas.openxmlformats.org/officeDocument/2006/math" xmlns="">
          <p:sp>
            <p:nvSpPr>
              <p:cNvPr id="305" name="Stage2 transposed plant"/>
              <p:cNvSpPr txBox="1"/>
              <p:nvPr/>
            </p:nvSpPr>
            <p:spPr>
              <a:xfrm>
                <a:off x="4864100" y="2159000"/>
                <a:ext cx="3898900" cy="6096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transposed filter signal system"/>
              <p:cNvSpPr txBox="1"/>
              <p:nvPr/>
            </p:nvSpPr>
            <p:spPr>
              <a:xfrm>
                <a:off x="4864100" y="2908300"/>
                <a:ext cx="3898900" cy="6477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550">
                              <a:solidFill>
                                <a:srgbClr val="252529"/>
                              </a:solidFill>
                              <a:latin typeface="Cambria Math"/>
                            </a:rPr>
                          </m:ctrlPr>
                        </m:sSupPr>
                        <m:e>
                          <m:r>
                            <m:rPr>
                              <m:sty m:val="p"/>
                            </m:rPr>
                            <a:rPr lang="en-US" sz="1550">
                              <a:solidFill>
                                <a:srgbClr val="252529"/>
                              </a:solidFill>
                              <a:latin typeface="Cambria Math"/>
                            </a:rPr>
                            <m:t>Θ</m:t>
                          </m:r>
                        </m:e>
                        <m:sup>
                          <m:r>
                            <a:rPr lang="en-US" sz="1550">
                              <a:solidFill>
                                <a:srgbClr val="252529"/>
                              </a:solidFill>
                              <a:latin typeface="Cambria Math"/>
                            </a:rPr>
                            <m:t>⊤</m:t>
                          </m:r>
                        </m:sup>
                      </m:sSup>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e>
                                    </m:m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e>
                                    </m:mr>
                                    <m:mr>
                                      <m:e>
                                        <m:r>
                                          <a:rPr lang="en-US" sz="1550">
                                            <a:solidFill>
                                              <a:srgbClr val="252529"/>
                                            </a:solidFill>
                                            <a:latin typeface="Cambria Math"/>
                                          </a:rPr>
                                          <m:t>0</m:t>
                                        </m:r>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bar>
                                          <m:barPr>
                                            <m:pos m:val="bot"/>
                                            <m:ctrlPr>
                                              <a:rPr lang="en-US" sz="1550">
                                                <a:solidFill>
                                                  <a:srgbClr val="252529"/>
                                                </a:solidFill>
                                                <a:latin typeface="Cambria Math"/>
                                              </a:rPr>
                                            </m:ctrlPr>
                                          </m:barPr>
                                          <m:e>
                                            <m:r>
                                              <a:rPr lang="en-US" sz="1550">
                                                <a:solidFill>
                                                  <a:srgbClr val="252529"/>
                                                </a:solidFill>
                                                <a:latin typeface="Cambria Math"/>
                                              </a:rPr>
                                              <m:t>𝑦</m:t>
                                            </m:r>
                                          </m:e>
                                        </m:bar>
                                      </m:e>
                                    </m:mr>
                                    <m:mr>
                                      <m:e>
                                        <m:bar>
                                          <m:barPr>
                                            <m:pos m:val="bot"/>
                                            <m:ctrlPr>
                                              <a:rPr lang="en-US" sz="1550">
                                                <a:solidFill>
                                                  <a:srgbClr val="252529"/>
                                                </a:solidFill>
                                                <a:latin typeface="Cambria Math"/>
                                              </a:rPr>
                                            </m:ctrlPr>
                                          </m:barPr>
                                          <m:e>
                                            <m:r>
                                              <a:rPr lang="en-US" sz="1550">
                                                <a:solidFill>
                                                  <a:srgbClr val="252529"/>
                                                </a:solidFill>
                                                <a:latin typeface="Cambria Math"/>
                                              </a:rPr>
                                              <m:t>𝑢</m:t>
                                            </m:r>
                                          </m:e>
                                        </m:bar>
                                      </m:e>
                                    </m:mr>
                                  </m:m>
                                </m:e>
                              </m:d>
                            </m:e>
                          </m:eqArr>
                        </m:e>
                      </m:d>
                    </m:oMath>
                  </m:oMathPara>
                </a14:m>
                <a:endParaRPr sz="1550">
                  <a:latin typeface="Cambria Math"/>
                </a:endParaRPr>
              </a:p>
            </p:txBody>
          </p:sp>
        </mc:Choice>
        <mc:Fallback xmlns:m="http://schemas.openxmlformats.org/officeDocument/2006/math" xmlns="">
          <p:sp>
            <p:nvSpPr>
              <p:cNvPr id="306" name="Stage2 transposed filter signal system"/>
              <p:cNvSpPr txBox="1"/>
              <p:nvPr/>
            </p:nvSpPr>
            <p:spPr>
              <a:xfrm>
                <a:off x="4864100" y="2908300"/>
                <a:ext cx="3898900" cy="6477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7" name="Stage3 check heading"/>
          <p:cNvSpPr txBox="1"/>
          <p:nvPr/>
        </p:nvSpPr>
        <p:spPr>
          <a:xfrm>
            <a:off x="4876800" y="3657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8" name="Stage3 residual"/>
              <p:cNvSpPr txBox="1"/>
              <p:nvPr/>
            </p:nvSpPr>
            <p:spPr>
              <a:xfrm>
                <a:off x="4953000" y="3937000"/>
                <a:ext cx="3733800" cy="368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900" i="1">
                              <a:solidFill>
                                <a:srgbClr val="252529"/>
                              </a:solidFill>
                              <a:latin typeface="Cambria Math" panose="02040503050406030204" pitchFamily="18" charset="0"/>
                            </a:rPr>
                          </m:ctrlPr>
                        </m:accPr>
                        <m:e>
                          <m:bar>
                            <m:barPr>
                              <m:pos m:val="bot"/>
                              <m:ctrlPr>
                                <a:rPr lang="en-US" sz="1900">
                                  <a:solidFill>
                                    <a:srgbClr val="252529"/>
                                  </a:solidFill>
                                  <a:latin typeface="Cambria Math"/>
                                </a:rPr>
                              </m:ctrlPr>
                            </m:barPr>
                            <m:e>
                              <m:r>
                                <a:rPr lang="en-US" sz="1900">
                                  <a:solidFill>
                                    <a:srgbClr val="252529"/>
                                  </a:solidFill>
                                  <a:latin typeface="Cambria Math"/>
                                </a:rPr>
                                <m:t>𝑢</m:t>
                              </m:r>
                            </m:e>
                          </m:bar>
                        </m:e>
                      </m:acc>
                      <m:r>
                        <a:rPr lang="en-US" sz="1900">
                          <a:solidFill>
                            <a:srgbClr val="252529"/>
                          </a:solidFill>
                          <a:latin typeface="Cambria Math"/>
                        </a:rPr>
                        <m:t>=</m:t>
                      </m:r>
                      <m:bar>
                        <m:barPr>
                          <m:pos m:val="bot"/>
                          <m:ctrlPr>
                            <a:rPr lang="en-US" sz="1900">
                              <a:solidFill>
                                <a:srgbClr val="252529"/>
                              </a:solidFill>
                              <a:latin typeface="Cambria Math"/>
                            </a:rPr>
                          </m:ctrlPr>
                        </m:barPr>
                        <m:e>
                          <m:r>
                            <a:rPr lang="en-US" sz="1900">
                              <a:solidFill>
                                <a:srgbClr val="252529"/>
                              </a:solidFill>
                              <a:latin typeface="Cambria Math"/>
                            </a:rPr>
                            <m:t>𝑢</m:t>
                          </m:r>
                        </m:e>
                      </m:bar>
                      <m:r>
                        <a:rPr lang="en-US" sz="1900">
                          <a:solidFill>
                            <a:srgbClr val="252529"/>
                          </a:solidFill>
                          <a:latin typeface="Cambria Math"/>
                        </a:rPr>
                        <m:t>=</m:t>
                      </m:r>
                      <m:sSup>
                        <m:sSupPr>
                          <m:ctrlPr>
                            <a:rPr lang="en-US" sz="1900">
                              <a:solidFill>
                                <a:srgbClr val="252529"/>
                              </a:solidFill>
                              <a:latin typeface="Cambria Math"/>
                            </a:rPr>
                          </m:ctrlPr>
                        </m:sSupPr>
                        <m:e>
                          <m:r>
                            <a:rPr lang="en-US" sz="1900">
                              <a:solidFill>
                                <a:srgbClr val="252529"/>
                              </a:solidFill>
                              <a:latin typeface="Cambria Math"/>
                            </a:rPr>
                            <m:t>𝐾</m:t>
                          </m:r>
                        </m:e>
                        <m:sup>
                          <m:r>
                            <a:rPr lang="en-US" sz="1900">
                              <a:solidFill>
                                <a:srgbClr val="252529"/>
                              </a:solidFill>
                              <a:latin typeface="Cambria Math"/>
                            </a:rPr>
                            <m:t>∗</m:t>
                          </m:r>
                        </m:sup>
                      </m:sSup>
                      <m:bar>
                        <m:barPr>
                          <m:pos m:val="bot"/>
                          <m:ctrlPr>
                            <a:rPr lang="en-US" sz="1900">
                              <a:solidFill>
                                <a:srgbClr val="252529"/>
                              </a:solidFill>
                              <a:latin typeface="Cambria Math"/>
                            </a:rPr>
                          </m:ctrlPr>
                        </m:barPr>
                        <m:e>
                          <m:r>
                            <a:rPr lang="en-US" sz="1900">
                              <a:solidFill>
                                <a:srgbClr val="252529"/>
                              </a:solidFill>
                              <a:latin typeface="Cambria Math"/>
                            </a:rPr>
                            <m:t>𝑦</m:t>
                          </m:r>
                        </m:e>
                      </m:bar>
                      <m:r>
                        <a:rPr lang="en-US" sz="1900">
                          <a:solidFill>
                            <a:srgbClr val="C81919"/>
                          </a:solidFill>
                          <a:latin typeface="Cambria Math"/>
                        </a:rPr>
                        <m:t>≠0</m:t>
                      </m:r>
                    </m:oMath>
                  </m:oMathPara>
                </a14:m>
                <a:endParaRPr sz="1900">
                  <a:latin typeface="Cambria Math"/>
                </a:endParaRPr>
              </a:p>
            </p:txBody>
          </p:sp>
        </mc:Choice>
        <mc:Fallback xmlns:m="http://schemas.openxmlformats.org/officeDocument/2006/math" xmlns="">
          <p:sp>
            <p:nvSpPr>
              <p:cNvPr id="308" name="Stage3 residual"/>
              <p:cNvSpPr txBox="1"/>
              <p:nvPr/>
            </p:nvSpPr>
            <p:spPr>
              <a:xfrm>
                <a:off x="4953000" y="3937000"/>
                <a:ext cx="3733800" cy="368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9" name="Stage3 qualification"/>
          <p:cNvSpPr txBox="1"/>
          <p:nvPr/>
        </p:nvSpPr>
        <p:spPr>
          <a:xfrm>
            <a:off x="4953000" y="4305300"/>
            <a:ext cx="3733800" cy="177800"/>
          </a:xfrm>
          <a:prstGeom prst="rect">
            <a:avLst/>
          </a:prstGeom>
          <a:noFill/>
          <a:ln>
            <a:noFill/>
          </a:ln>
        </p:spPr>
        <p:txBody>
          <a:bodyPr wrap="square" lIns="0" tIns="0" rIns="0" bIns="0" anchor="ctr">
            <a:noAutofit/>
          </a:bodyPr>
          <a:lstStyle/>
          <a:p>
            <a:pPr algn="l"/>
            <a:r>
              <a:rPr lang="en-US" sz="1050" b="0">
                <a:solidFill>
                  <a:srgbClr val="66717C"/>
                </a:solidFill>
                <a:latin typeface="Aptos"/>
              </a:rPr>
              <a:t>Generally nonzero under dual feedback.</a:t>
            </a:r>
          </a:p>
        </p:txBody>
      </p:sp>
      <p:sp>
        <p:nvSpPr>
          <p:cNvPr id="310" name="Stage3 conclusion"/>
          <p:cNvSpPr txBox="1"/>
          <p:nvPr/>
        </p:nvSpPr>
        <p:spPr>
          <a:xfrm>
            <a:off x="457200" y="4533900"/>
            <a:ext cx="8229600" cy="254000"/>
          </a:xfrm>
          <a:prstGeom prst="rect">
            <a:avLst/>
          </a:prstGeom>
          <a:noFill/>
          <a:ln>
            <a:noFill/>
          </a:ln>
        </p:spPr>
        <p:txBody>
          <a:bodyPr wrap="square" lIns="0" tIns="0" rIns="0" bIns="0" anchor="ctr">
            <a:noAutofit/>
          </a:bodyPr>
          <a:lstStyle/>
          <a:p>
            <a:pPr algn="l"/>
            <a:r>
              <a:rPr lang="en-US" sz="1600" b="1">
                <a:solidFill>
                  <a:srgbClr val="C81919"/>
                </a:solidFill>
                <a:latin typeface="Aptos"/>
              </a:rPr>
              <a:t>No: zero filtered input imposes the wrong constraint.</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07"/>
                                        </p:tgtEl>
                                        <p:attrNameLst>
                                          <p:attrName>style.visibility</p:attrName>
                                        </p:attrNameLst>
                                      </p:cBhvr>
                                      <p:to>
                                        <p:strVal val="visible"/>
                                      </p:to>
                                    </p:set>
                                    <p:animEffect transition="in" filter="fade">
                                      <p:cBhvr>
                                        <p:cTn id="26" dur="300"/>
                                        <p:tgtEl>
                                          <p:spTgt spid="30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replace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2"/>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37</a:t>
            </a:fld>
            <a:endParaRPr lang="en-GB"/>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556B0FE0-ED39-2A0D-C1C7-40D486BC1A35}"/>
                  </a:ext>
                </a:extLst>
              </p:cNvPr>
              <p:cNvSpPr txBox="1"/>
              <p:nvPr/>
            </p:nvSpPr>
            <p:spPr>
              <a:xfrm>
                <a:off x="4861470" y="984289"/>
                <a:ext cx="3590727" cy="374718"/>
              </a:xfrm>
              <a:prstGeom prst="rect">
                <a:avLst/>
              </a:prstGeom>
              <a:noFill/>
            </p:spPr>
            <p:txBody>
              <a:bodyPr wrap="none" rtlCol="0">
                <a:spAutoFit/>
              </a:bodyPr>
              <a:lstStyle/>
              <a:p>
                <a:r>
                  <a:rPr lang="en-US" dirty="0"/>
                  <a:t>Find </a:t>
                </a:r>
                <a14:m>
                  <m:oMath xmlns:m="http://schemas.openxmlformats.org/officeDocument/2006/math">
                    <m:r>
                      <a:rPr lang="el-GR" i="1" smtClean="0">
                        <a:latin typeface="Cambria Math" panose="02040503050406030204" pitchFamily="18" charset="0"/>
                        <a:ea typeface="Cambria Math" panose="02040503050406030204" pitchFamily="18" charset="0"/>
                      </a:rPr>
                      <m:t>𝛩</m:t>
                    </m:r>
                  </m:oMath>
                </a14:m>
                <a:r>
                  <a:rPr lang="en-US" dirty="0"/>
                  <a:t> such that </a:t>
                </a:r>
                <a14:m>
                  <m:oMath xmlns:m="http://schemas.openxmlformats.org/officeDocument/2006/math">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𝑢</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r>
                      <a:rPr lang="en-US" b="0" i="0" smtClean="0">
                        <a:latin typeface="Cambria Math" panose="02040503050406030204" pitchFamily="18" charset="0"/>
                      </a:rPr>
                      <m:t>≤</m:t>
                    </m:r>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𝑦</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oMath>
                </a14:m>
                <a:endParaRPr lang="en-NL" dirty="0"/>
              </a:p>
            </p:txBody>
          </p:sp>
        </mc:Choice>
        <mc:Fallback xmlns="">
          <p:sp>
            <p:nvSpPr>
              <p:cNvPr id="47" name="TextBox 46">
                <a:extLst>
                  <a:ext uri="{FF2B5EF4-FFF2-40B4-BE49-F238E27FC236}">
                    <a16:creationId xmlns:a16="http://schemas.microsoft.com/office/drawing/2014/main" id="{556B0FE0-ED39-2A0D-C1C7-40D486BC1A35}"/>
                  </a:ext>
                </a:extLst>
              </p:cNvPr>
              <p:cNvSpPr txBox="1">
                <a:spLocks noRot="1" noChangeAspect="1" noMove="1" noResize="1" noEditPoints="1" noAdjustHandles="1" noChangeArrowheads="1" noChangeShapeType="1" noTextEdit="1"/>
              </p:cNvSpPr>
              <p:nvPr/>
            </p:nvSpPr>
            <p:spPr>
              <a:xfrm>
                <a:off x="4861470" y="984289"/>
                <a:ext cx="3590727" cy="374718"/>
              </a:xfrm>
              <a:prstGeom prst="rect">
                <a:avLst/>
              </a:prstGeom>
              <a:blipFill>
                <a:blip r:embed="rId3"/>
                <a:stretch>
                  <a:fillRect l="-339" t="-95161" b="-156452"/>
                </a:stretch>
              </a:blipFill>
            </p:spPr>
            <p:txBody>
              <a:bodyPr/>
              <a:lstStyle/>
              <a:p>
                <a:r>
                  <a:rPr lang="en-NL">
                    <a:noFill/>
                  </a:rPr>
                  <a:t> </a:t>
                </a:r>
              </a:p>
            </p:txBody>
          </p:sp>
        </mc:Fallback>
      </mc:AlternateContent>
      <p:grpSp>
        <p:nvGrpSpPr>
          <p:cNvPr id="50" name="Editable paper diagram">
            <a:extLst>
              <a:ext uri="{FF2B5EF4-FFF2-40B4-BE49-F238E27FC236}">
                <a16:creationId xmlns:a16="http://schemas.microsoft.com/office/drawing/2014/main" id="{E372E85E-5635-9E8E-391F-F7D221D02B23}"/>
              </a:ext>
            </a:extLst>
          </p:cNvPr>
          <p:cNvGrpSpPr/>
          <p:nvPr/>
        </p:nvGrpSpPr>
        <p:grpSpPr>
          <a:xfrm>
            <a:off x="457200" y="984289"/>
            <a:ext cx="3138932" cy="1845056"/>
            <a:chOff x="1995932" y="2514600"/>
            <a:chExt cx="3138932" cy="1845056"/>
          </a:xfrm>
        </p:grpSpPr>
        <p:sp>
          <p:nvSpPr>
            <p:cNvPr id="51" name="Controller plant channel">
              <a:extLst>
                <a:ext uri="{FF2B5EF4-FFF2-40B4-BE49-F238E27FC236}">
                  <a16:creationId xmlns:a16="http://schemas.microsoft.com/office/drawing/2014/main" id="{40F47906-50AD-3131-824D-F0474AE48D23}"/>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4" name="Plant controller channel">
              <a:extLst>
                <a:ext uri="{FF2B5EF4-FFF2-40B4-BE49-F238E27FC236}">
                  <a16:creationId xmlns:a16="http://schemas.microsoft.com/office/drawing/2014/main" id="{8014A7C6-31FB-1455-A9D0-FAF79A5CA9A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56" name="Controller">
              <a:extLst>
                <a:ext uri="{FF2B5EF4-FFF2-40B4-BE49-F238E27FC236}">
                  <a16:creationId xmlns:a16="http://schemas.microsoft.com/office/drawing/2014/main" id="{99686D86-246C-0882-FD3F-B2420711593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60" name="Plant">
              <a:extLst>
                <a:ext uri="{FF2B5EF4-FFF2-40B4-BE49-F238E27FC236}">
                  <a16:creationId xmlns:a16="http://schemas.microsoft.com/office/drawing/2014/main" id="{7EA661EF-0B01-B12F-9056-31406A777935}"/>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62" name="Plant label">
                  <a:extLst>
                    <a:ext uri="{FF2B5EF4-FFF2-40B4-BE49-F238E27FC236}">
                      <a16:creationId xmlns:a16="http://schemas.microsoft.com/office/drawing/2014/main" id="{650F0D8C-FBFC-5213-C158-AF735FFCA28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63" name="z filtered output">
            <a:extLst>
              <a:ext uri="{FF2B5EF4-FFF2-40B4-BE49-F238E27FC236}">
                <a16:creationId xmlns:a16="http://schemas.microsoft.com/office/drawing/2014/main" id="{5EC63039-3FC5-FD7D-FC90-CD440308431F}"/>
              </a:ext>
            </a:extLst>
          </p:cNvPr>
          <p:cNvSpPr/>
          <p:nvPr/>
        </p:nvSpPr>
        <p:spPr>
          <a:xfrm>
            <a:off x="3672070" y="311680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672070" y="349272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744970" y="284756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079354" y="310176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079354" y="3101765"/>
                <a:ext cx="283732" cy="398571"/>
              </a:xfrm>
              <a:prstGeom prst="rect">
                <a:avLst/>
              </a:prstGeom>
              <a:blipFill>
                <a:blip r:embed="rId12"/>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474468" y="247831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241246" y="247831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469388" y="2473237"/>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236166" y="247323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199" name="TextBox 198">
                <a:extLst>
                  <a:ext uri="{FF2B5EF4-FFF2-40B4-BE49-F238E27FC236}">
                    <a16:creationId xmlns:a16="http://schemas.microsoft.com/office/drawing/2014/main" id="{1C440B46-D247-33E4-5530-6344AC85E059}"/>
                  </a:ext>
                </a:extLst>
              </p:cNvPr>
              <p:cNvSpPr txBox="1"/>
              <p:nvPr/>
            </p:nvSpPr>
            <p:spPr>
              <a:xfrm>
                <a:off x="4861470" y="1699232"/>
                <a:ext cx="3141181" cy="300082"/>
              </a:xfrm>
              <a:prstGeom prst="rect">
                <a:avLst/>
              </a:prstGeom>
              <a:noFill/>
            </p:spPr>
            <p:txBody>
              <a:bodyPr wrap="none" rtlCol="0">
                <a:spAutoFit/>
              </a:bodyPr>
              <a:lstStyle/>
              <a:p>
                <a:r>
                  <a:rPr lang="en-US" dirty="0"/>
                  <a:t>Set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=0</m:t>
                    </m:r>
                  </m:oMath>
                </a14:m>
                <a:r>
                  <a:rPr lang="en-US" dirty="0"/>
                  <a:t> then this holds for any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a14:m>
                <a:endParaRPr lang="en-NL" dirty="0"/>
              </a:p>
            </p:txBody>
          </p:sp>
        </mc:Choice>
        <mc:Fallback xmlns="">
          <p:sp>
            <p:nvSpPr>
              <p:cNvPr id="199" name="TextBox 198">
                <a:extLst>
                  <a:ext uri="{FF2B5EF4-FFF2-40B4-BE49-F238E27FC236}">
                    <a16:creationId xmlns:a16="http://schemas.microsoft.com/office/drawing/2014/main" id="{1C440B46-D247-33E4-5530-6344AC85E059}"/>
                  </a:ext>
                </a:extLst>
              </p:cNvPr>
              <p:cNvSpPr txBox="1">
                <a:spLocks noRot="1" noChangeAspect="1" noMove="1" noResize="1" noEditPoints="1" noAdjustHandles="1" noChangeArrowheads="1" noChangeShapeType="1" noTextEdit="1"/>
              </p:cNvSpPr>
              <p:nvPr/>
            </p:nvSpPr>
            <p:spPr>
              <a:xfrm>
                <a:off x="4861470" y="1699232"/>
                <a:ext cx="3141181" cy="300082"/>
              </a:xfrm>
              <a:prstGeom prst="rect">
                <a:avLst/>
              </a:prstGeom>
              <a:blipFill>
                <a:blip r:embed="rId13"/>
                <a:stretch>
                  <a:fillRect l="-388"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4" name="TextBox 203">
                <a:extLst>
                  <a:ext uri="{FF2B5EF4-FFF2-40B4-BE49-F238E27FC236}">
                    <a16:creationId xmlns:a16="http://schemas.microsoft.com/office/drawing/2014/main" id="{39C00BB5-DEDD-34ED-5F43-B5E93515CE84}"/>
                  </a:ext>
                </a:extLst>
              </p:cNvPr>
              <p:cNvSpPr txBox="1"/>
              <p:nvPr/>
            </p:nvSpPr>
            <p:spPr>
              <a:xfrm>
                <a:off x="4861470" y="2244319"/>
                <a:ext cx="2038570" cy="462371"/>
              </a:xfrm>
              <a:prstGeom prst="rect">
                <a:avLst/>
              </a:prstGeom>
              <a:noFill/>
            </p:spPr>
            <p:txBody>
              <a:bodyPr wrap="none" lIns="0" tIns="0" rIns="0" bIns="0" rtlCol="0">
                <a:spAutoFit/>
              </a:bodyPr>
              <a:lstStyle/>
              <a:p>
                <a:pPr/>
                <a14:m>
                  <m:oMathPara xmlns:m="http://schemas.openxmlformats.org/officeDocument/2006/math">
                    <m:oMath>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acc>
                                  <m:accPr>
                                    <m:chr m:val="˜"/>
                                    <m:ctrlPr>
                                      <a:rPr lang="nl-NL" i="1">
                                        <a:latin typeface="Cambria Math" panose="02040503050406030204" pitchFamily="18" charset="0"/>
                                      </a:rPr>
                                    </m:ctrlPr>
                                  </m:accPr>
                                  <m:e>
                                    <m:r>
                                      <a:rPr lang="nl-NL" i="1">
                                        <a:latin typeface="Cambria Math" panose="02040503050406030204" pitchFamily="18" charset="0"/>
                                      </a:rPr>
                                      <m:t>𝑦</m:t>
                                    </m:r>
                                  </m:e>
                                </m:acc>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en-US" b="0" i="1" smtClean="0">
                                    <a:latin typeface="Cambria Math" panose="02040503050406030204" pitchFamily="18" charset="0"/>
                                  </a:rPr>
                                  <m:t>0</m:t>
                                </m:r>
                              </m:e>
                            </m:mr>
                          </m:m>
                        </m:e>
                      </m:d>
                      <m:r>
                        <a:rPr lang="nl-NL" i="1">
                          <a:latin typeface="Cambria Math" panose="02040503050406030204" pitchFamily="18" charset="0"/>
                        </a:rPr>
                        <m:t>=</m:t>
                      </m:r>
                      <m:d>
                        <m:dPr>
                          <m:begChr m:val="["/>
                          <m:endChr m:val="]"/>
                          <m:ctrlPr>
                            <a:rPr lang="nl-NL" i="1">
                              <a:latin typeface="Cambria Math" panose="02040503050406030204" pitchFamily="18" charset="0"/>
                            </a:rPr>
                          </m:ctrlPr>
                        </m:dPr>
                        <m:e>
                          <m:m>
                            <m:mPr>
                              <m:mcs>
                                <m:mc>
                                  <m:mcPr>
                                    <m:count m:val="2"/>
                                    <m:mcJc m:val="center"/>
                                  </m:mcPr>
                                </m:mc>
                              </m:mcs>
                              <m:ctrlPr>
                                <a:rPr lang="nl-NL" i="1">
                                  <a:latin typeface="Cambria Math" panose="02040503050406030204" pitchFamily="18" charset="0"/>
                                </a:rPr>
                              </m:ctrlPr>
                            </m:mP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12</m:t>
                                    </m:r>
                                  </m:sub>
                                </m:sSub>
                              </m:e>
                            </m:m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22</m:t>
                                    </m:r>
                                  </m:sub>
                                </m:sSub>
                              </m:e>
                            </m:mr>
                          </m:m>
                        </m:e>
                      </m:d>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r>
                                  <a:rPr lang="nl-NL" i="1">
                                    <a:latin typeface="Cambria Math" panose="02040503050406030204" pitchFamily="18" charset="0"/>
                                  </a:rPr>
                                  <m:t>𝑦</m:t>
                                </m:r>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nl-NL" i="1">
                                    <a:latin typeface="Cambria Math" panose="02040503050406030204" pitchFamily="18" charset="0"/>
                                  </a:rPr>
                                  <m:t>𝑢</m:t>
                                </m:r>
                                <m:d>
                                  <m:dPr>
                                    <m:ctrlPr>
                                      <a:rPr lang="nl-NL" i="1">
                                        <a:latin typeface="Cambria Math" panose="02040503050406030204" pitchFamily="18" charset="0"/>
                                      </a:rPr>
                                    </m:ctrlPr>
                                  </m:dPr>
                                  <m:e>
                                    <m:r>
                                      <a:rPr lang="nl-NL" i="1">
                                        <a:latin typeface="Cambria Math" panose="02040503050406030204" pitchFamily="18" charset="0"/>
                                      </a:rPr>
                                      <m:t>𝑡</m:t>
                                    </m:r>
                                  </m:e>
                                </m:d>
                              </m:e>
                            </m:mr>
                          </m:m>
                        </m:e>
                      </m:d>
                    </m:oMath>
                  </m:oMathPara>
                </a14:m>
                <a:endParaRPr lang="en-NL" dirty="0"/>
              </a:p>
            </p:txBody>
          </p:sp>
        </mc:Choice>
        <mc:Fallback xmlns="">
          <p:sp>
            <p:nvSpPr>
              <p:cNvPr id="204" name="TextBox 203">
                <a:extLst>
                  <a:ext uri="{FF2B5EF4-FFF2-40B4-BE49-F238E27FC236}">
                    <a16:creationId xmlns:a16="http://schemas.microsoft.com/office/drawing/2014/main" id="{39C00BB5-DEDD-34ED-5F43-B5E93515CE84}"/>
                  </a:ext>
                </a:extLst>
              </p:cNvPr>
              <p:cNvSpPr txBox="1">
                <a:spLocks noRot="1" noChangeAspect="1" noMove="1" noResize="1" noEditPoints="1" noAdjustHandles="1" noChangeArrowheads="1" noChangeShapeType="1" noTextEdit="1"/>
              </p:cNvSpPr>
              <p:nvPr/>
            </p:nvSpPr>
            <p:spPr>
              <a:xfrm>
                <a:off x="4861470" y="2244319"/>
                <a:ext cx="2038570" cy="462371"/>
              </a:xfrm>
              <a:prstGeom prst="rect">
                <a:avLst/>
              </a:prstGeom>
              <a:blipFill>
                <a:blip r:embed="rId14"/>
                <a:stretch>
                  <a:fillRect b="-131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6D2AABB4-3B2E-6D4B-551F-3FA7EEDB1E54}"/>
                  </a:ext>
                </a:extLst>
              </p:cNvPr>
              <p:cNvSpPr txBox="1"/>
              <p:nvPr/>
            </p:nvSpPr>
            <p:spPr>
              <a:xfrm>
                <a:off x="7127764" y="2347627"/>
                <a:ext cx="1749774" cy="300082"/>
              </a:xfrm>
              <a:prstGeom prst="rect">
                <a:avLst/>
              </a:prstGeom>
              <a:noFill/>
            </p:spPr>
            <p:txBody>
              <a:bodyPr wrap="none" rtlCol="0">
                <a:spAutoFit/>
              </a:bodyPr>
              <a:lstStyle/>
              <a:p>
                <a:r>
                  <a:rPr lang="en-US" dirty="0"/>
                  <a:t>Pick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11</m:t>
                        </m:r>
                      </m:sub>
                    </m:sSub>
                    <m:r>
                      <a:rPr lang="en-US" b="0" i="1" smtClean="0">
                        <a:latin typeface="Cambria Math" panose="02040503050406030204" pitchFamily="18" charset="0"/>
                      </a:rPr>
                      <m:t>=</m:t>
                    </m:r>
                    <m:r>
                      <a:rPr lang="en-US" b="0" i="1" smtClean="0">
                        <a:latin typeface="Cambria Math" panose="02040503050406030204" pitchFamily="18" charset="0"/>
                      </a:rPr>
                      <m:t>𝐼</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12</m:t>
                        </m:r>
                      </m:sub>
                    </m:sSub>
                    <m:r>
                      <a:rPr lang="en-US" b="0" i="1" smtClean="0">
                        <a:latin typeface="Cambria Math" panose="02040503050406030204" pitchFamily="18" charset="0"/>
                      </a:rPr>
                      <m:t>=0</m:t>
                    </m:r>
                  </m:oMath>
                </a14:m>
                <a:endParaRPr lang="en-NL" dirty="0"/>
              </a:p>
            </p:txBody>
          </p:sp>
        </mc:Choice>
        <mc:Fallback xmlns="">
          <p:sp>
            <p:nvSpPr>
              <p:cNvPr id="205" name="TextBox 204">
                <a:extLst>
                  <a:ext uri="{FF2B5EF4-FFF2-40B4-BE49-F238E27FC236}">
                    <a16:creationId xmlns:a16="http://schemas.microsoft.com/office/drawing/2014/main" id="{6D2AABB4-3B2E-6D4B-551F-3FA7EEDB1E54}"/>
                  </a:ext>
                </a:extLst>
              </p:cNvPr>
              <p:cNvSpPr txBox="1">
                <a:spLocks noRot="1" noChangeAspect="1" noMove="1" noResize="1" noEditPoints="1" noAdjustHandles="1" noChangeArrowheads="1" noChangeShapeType="1" noTextEdit="1"/>
              </p:cNvSpPr>
              <p:nvPr/>
            </p:nvSpPr>
            <p:spPr>
              <a:xfrm>
                <a:off x="7127764" y="2347627"/>
                <a:ext cx="1749774" cy="300082"/>
              </a:xfrm>
              <a:prstGeom prst="rect">
                <a:avLst/>
              </a:prstGeom>
              <a:blipFill>
                <a:blip r:embed="rId15"/>
                <a:stretch>
                  <a:fillRect l="-697"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6" name="TextBox 205">
                <a:extLst>
                  <a:ext uri="{FF2B5EF4-FFF2-40B4-BE49-F238E27FC236}">
                    <a16:creationId xmlns:a16="http://schemas.microsoft.com/office/drawing/2014/main" id="{21C1290D-619C-5DA4-C5C2-38E468EAE0AB}"/>
                  </a:ext>
                </a:extLst>
              </p:cNvPr>
              <p:cNvSpPr txBox="1"/>
              <p:nvPr/>
            </p:nvSpPr>
            <p:spPr>
              <a:xfrm>
                <a:off x="4861470" y="2951695"/>
                <a:ext cx="1221809"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𝐾𝑦</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206" name="TextBox 205">
                <a:extLst>
                  <a:ext uri="{FF2B5EF4-FFF2-40B4-BE49-F238E27FC236}">
                    <a16:creationId xmlns:a16="http://schemas.microsoft.com/office/drawing/2014/main" id="{21C1290D-619C-5DA4-C5C2-38E468EAE0AB}"/>
                  </a:ext>
                </a:extLst>
              </p:cNvPr>
              <p:cNvSpPr txBox="1">
                <a:spLocks noRot="1" noChangeAspect="1" noMove="1" noResize="1" noEditPoints="1" noAdjustHandles="1" noChangeArrowheads="1" noChangeShapeType="1" noTextEdit="1"/>
              </p:cNvSpPr>
              <p:nvPr/>
            </p:nvSpPr>
            <p:spPr>
              <a:xfrm>
                <a:off x="4861470" y="2951695"/>
                <a:ext cx="1221809" cy="300082"/>
              </a:xfrm>
              <a:prstGeom prst="rect">
                <a:avLst/>
              </a:prstGeom>
              <a:blipFill>
                <a:blip r:embed="rId16"/>
                <a:stretch>
                  <a:fillRect b="-816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F4DAAE59-F3C1-C479-FF6A-0C4CA7E1C6F4}"/>
                  </a:ext>
                </a:extLst>
              </p:cNvPr>
              <p:cNvSpPr txBox="1"/>
              <p:nvPr/>
            </p:nvSpPr>
            <p:spPr>
              <a:xfrm>
                <a:off x="4861470" y="3390177"/>
                <a:ext cx="1958678" cy="300082"/>
              </a:xfrm>
              <a:prstGeom prst="rect">
                <a:avLst/>
              </a:prstGeom>
              <a:noFill/>
            </p:spPr>
            <p:txBody>
              <a:bodyPr wrap="none" rtlCol="0">
                <a:spAutoFit/>
              </a:bodyPr>
              <a:lstStyle/>
              <a:p>
                <a:r>
                  <a:rPr lang="en-US" dirty="0"/>
                  <a:t>Thus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21</m:t>
                        </m:r>
                      </m:sub>
                    </m:sSub>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22</m:t>
                        </m:r>
                      </m:sub>
                    </m:sSub>
                    <m:r>
                      <a:rPr lang="en-US" b="0" i="1" smtClean="0">
                        <a:latin typeface="Cambria Math" panose="02040503050406030204" pitchFamily="18" charset="0"/>
                      </a:rPr>
                      <m:t>=</m:t>
                    </m:r>
                    <m:r>
                      <a:rPr lang="en-US" b="0" i="1" smtClean="0">
                        <a:latin typeface="Cambria Math" panose="02040503050406030204" pitchFamily="18" charset="0"/>
                      </a:rPr>
                      <m:t>𝐼</m:t>
                    </m:r>
                  </m:oMath>
                </a14:m>
                <a:endParaRPr lang="en-NL" dirty="0"/>
              </a:p>
            </p:txBody>
          </p:sp>
        </mc:Choice>
        <mc:Fallback xmlns="">
          <p:sp>
            <p:nvSpPr>
              <p:cNvPr id="207" name="TextBox 206">
                <a:extLst>
                  <a:ext uri="{FF2B5EF4-FFF2-40B4-BE49-F238E27FC236}">
                    <a16:creationId xmlns:a16="http://schemas.microsoft.com/office/drawing/2014/main" id="{F4DAAE59-F3C1-C479-FF6A-0C4CA7E1C6F4}"/>
                  </a:ext>
                </a:extLst>
              </p:cNvPr>
              <p:cNvSpPr txBox="1">
                <a:spLocks noRot="1" noChangeAspect="1" noMove="1" noResize="1" noEditPoints="1" noAdjustHandles="1" noChangeArrowheads="1" noChangeShapeType="1" noTextEdit="1"/>
              </p:cNvSpPr>
              <p:nvPr/>
            </p:nvSpPr>
            <p:spPr>
              <a:xfrm>
                <a:off x="4861470" y="3390177"/>
                <a:ext cx="1958678" cy="300082"/>
              </a:xfrm>
              <a:prstGeom prst="rect">
                <a:avLst/>
              </a:prstGeom>
              <a:blipFill>
                <a:blip r:embed="rId17"/>
                <a:stretch>
                  <a:fillRect l="-621"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1016D2EC-3E51-21D0-F981-C80AFFD89621}"/>
                  </a:ext>
                </a:extLst>
              </p:cNvPr>
              <p:cNvSpPr txBox="1"/>
              <p:nvPr/>
            </p:nvSpPr>
            <p:spPr>
              <a:xfrm>
                <a:off x="5057101" y="4093224"/>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1016D2EC-3E51-21D0-F981-C80AFFD89621}"/>
                  </a:ext>
                </a:extLst>
              </p:cNvPr>
              <p:cNvSpPr txBox="1">
                <a:spLocks noRot="1" noChangeAspect="1" noMove="1" noResize="1" noEditPoints="1" noAdjustHandles="1" noChangeArrowheads="1" noChangeShapeType="1" noTextEdit="1"/>
              </p:cNvSpPr>
              <p:nvPr/>
            </p:nvSpPr>
            <p:spPr>
              <a:xfrm>
                <a:off x="5057101" y="4093224"/>
                <a:ext cx="1026178" cy="345094"/>
              </a:xfrm>
              <a:prstGeom prst="rect">
                <a:avLst/>
              </a:prstGeom>
              <a:blipFill>
                <a:blip r:embed="rId18"/>
                <a:stretch>
                  <a:fillRect l="-3571" t="-1754" b="-15789"/>
                </a:stretch>
              </a:blipFill>
            </p:spPr>
            <p:txBody>
              <a:bodyPr/>
              <a:lstStyle/>
              <a:p>
                <a:r>
                  <a:rPr lang="en-NL">
                    <a:noFill/>
                  </a:rPr>
                  <a:t> </a:t>
                </a:r>
              </a:p>
            </p:txBody>
          </p:sp>
        </mc:Fallback>
      </mc:AlternateContent>
    </p:spTree>
    <p:extLst>
      <p:ext uri="{BB962C8B-B14F-4D97-AF65-F5344CB8AC3E}">
        <p14:creationId xmlns:p14="http://schemas.microsoft.com/office/powerpoint/2010/main" val="190081851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38</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24" name="Group 23">
            <a:extLst>
              <a:ext uri="{FF2B5EF4-FFF2-40B4-BE49-F238E27FC236}">
                <a16:creationId xmlns:a16="http://schemas.microsoft.com/office/drawing/2014/main" id="{3F329399-BB67-01B2-FD85-2DE61C1CEF78}"/>
              </a:ext>
            </a:extLst>
          </p:cNvPr>
          <p:cNvGrpSpPr/>
          <p:nvPr/>
        </p:nvGrpSpPr>
        <p:grpSpPr>
          <a:xfrm>
            <a:off x="457200" y="1308149"/>
            <a:ext cx="4258843" cy="2803080"/>
            <a:chOff x="457200" y="1308149"/>
            <a:chExt cx="4258843" cy="2803080"/>
          </a:xfrm>
        </p:grpSpPr>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pic>
        <p:nvPicPr>
          <p:cNvPr id="28" name="Picture 27">
            <a:extLst>
              <a:ext uri="{FF2B5EF4-FFF2-40B4-BE49-F238E27FC236}">
                <a16:creationId xmlns:a16="http://schemas.microsoft.com/office/drawing/2014/main" id="{EA68EA87-82CF-D441-A709-D2C4643B9776}"/>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5061850" y="2519422"/>
            <a:ext cx="3167750" cy="2093971"/>
          </a:xfrm>
          <a:prstGeom prst="rect">
            <a:avLst/>
          </a:prstGeom>
        </p:spPr>
      </p:pic>
    </p:spTree>
    <p:extLst>
      <p:ext uri="{BB962C8B-B14F-4D97-AF65-F5344CB8AC3E}">
        <p14:creationId xmlns:p14="http://schemas.microsoft.com/office/powerpoint/2010/main" val="262238849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39</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xmlns:m="http://schemas.openxmlformats.org/officeDocument/2006/math">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xmlns:m="http://schemas.openxmlformats.org/officeDocument/2006/math">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5001" name="Primal filtered y"/>
                <p:cNvSpPr/>
                <p:nvPr/>
              </p:nvSpPr>
              <p:spPr>
                <a:xfrm>
                  <a:off x="8573683" y="299134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𝑦</m:t>
                            </m:r>
                          </m:e>
                        </m:acc>
                      </m:oMath>
                    </m:oMathPara>
                  </a14:m>
                  <a:endParaRPr sz="2000"/>
                </a:p>
              </p:txBody>
            </p:sp>
          </mc:Choice>
          <mc:Fallback xmlns="">
            <p:sp>
              <p:nvSpPr>
                <p:cNvPr id="5001" name="Primal filtered y"/>
                <p:cNvSpPr>
                  <a:spLocks noRot="1" noChangeAspect="1" noMove="1" noResize="1" noEditPoints="1" noAdjustHandles="1" noChangeArrowheads="1" noChangeShapeType="1" noTextEdit="1"/>
                </p:cNvSpPr>
                <p:nvPr/>
              </p:nvSpPr>
              <p:spPr>
                <a:xfrm>
                  <a:off x="8573683" y="2991347"/>
                  <a:ext cx="482600" cy="609600"/>
                </a:xfrm>
                <a:prstGeom prst="rect">
                  <a:avLst/>
                </a:prstGeom>
                <a:blipFill>
                  <a:blip r:embed="rId15"/>
                  <a:stretch>
                    <a:fillRect l="-12000" r="-5200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Primal filtered u"/>
                <p:cNvSpPr/>
                <p:nvPr/>
              </p:nvSpPr>
              <p:spPr>
                <a:xfrm>
                  <a:off x="8573683" y="336726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𝑢</m:t>
                            </m:r>
                          </m:e>
                        </m:acc>
                      </m:oMath>
                    </m:oMathPara>
                  </a14:m>
                  <a:endParaRPr sz="2000"/>
                </a:p>
              </p:txBody>
            </p:sp>
          </mc:Choice>
          <mc:Fallback xmlns="">
            <p:sp>
              <p:nvSpPr>
                <p:cNvPr id="5002" name="Primal filtered u"/>
                <p:cNvSpPr>
                  <a:spLocks noRot="1" noChangeAspect="1" noMove="1" noResize="1" noEditPoints="1" noAdjustHandles="1" noChangeArrowheads="1" noChangeShapeType="1" noTextEdit="1"/>
                </p:cNvSpPr>
                <p:nvPr/>
              </p:nvSpPr>
              <p:spPr>
                <a:xfrm>
                  <a:off x="8573683" y="3367267"/>
                  <a:ext cx="482600" cy="609600"/>
                </a:xfrm>
                <a:prstGeom prst="rect">
                  <a:avLst/>
                </a:prstGeom>
                <a:blipFill>
                  <a:blip r:embed="rId16"/>
                  <a:stretch>
                    <a:fillRect l="-6000" r="-48000"/>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7"/>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 xmlns:m="http://schemas.openxmlformats.org/officeDocument/2006/math">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8"/>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The dual operation</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40</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200">
                          <a:solidFill>
                            <a:srgbClr val="252529"/>
                          </a:solidFill>
                          <a:latin typeface="Cambria Math"/>
                        </a:rPr>
                        <m:t>𝐃</m:t>
                      </m:r>
                      <m:d>
                        <m:dPr>
                          <m:ctrlPr>
                            <a:rPr lang="en-US" sz="2200">
                              <a:solidFill>
                                <a:srgbClr val="252529"/>
                              </a:solidFill>
                              <a:latin typeface="Cambria Math"/>
                            </a:rPr>
                          </m:ctrlPr>
                        </m:dPr>
                        <m:e>
                          <m:r>
                            <m:rPr>
                              <m:sty m:val="p"/>
                            </m:rPr>
                            <a:rPr lang="en-US" sz="2200">
                              <a:solidFill>
                                <a:srgbClr val="252529"/>
                              </a:solidFill>
                              <a:latin typeface="Cambria Math"/>
                            </a:rPr>
                            <m:t>Θ</m:t>
                          </m:r>
                        </m:e>
                      </m:d>
                    </m:oMath>
                  </m:oMathPara>
                </a14:m>
                <a:endParaRPr sz="2200">
                  <a:latin typeface="Cambria Math"/>
                </a:endParaRPr>
              </a:p>
            </p:txBody>
          </p:sp>
        </mc:Choice>
        <mc:Fallback xmlns:m="http://schemas.openxmlformats.org/officeDocument/2006/math" xmlns="">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66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p:sp>
        <p:nvSpPr>
          <p:cNvPr id="303" name="Stage1 expected description"/>
          <p:cNvSpPr txBox="1"/>
          <p:nvPr/>
        </p:nvSpPr>
        <p:spPr>
          <a:xfrm>
            <a:off x="4876800" y="1384300"/>
            <a:ext cx="3759200" cy="596900"/>
          </a:xfrm>
          <a:prstGeom prst="rect">
            <a:avLst/>
          </a:prstGeom>
          <a:noFill/>
          <a:ln>
            <a:noFill/>
          </a:ln>
        </p:spPr>
        <p:txBody>
          <a:bodyPr wrap="square" lIns="0" tIns="0" rIns="0" bIns="0" anchor="ctr">
            <a:noAutofit/>
          </a:bodyPr>
          <a:lstStyle/>
          <a:p>
            <a:pPr algn="l"/>
            <a:r>
              <a:rPr lang="en-US" sz="1400" b="0">
                <a:solidFill>
                  <a:srgbClr val="252529"/>
                </a:solidFill>
                <a:latin typeface="Aptos"/>
              </a:rPr>
              <a:t>Filtering the dual system must give</a:t>
            </a:r>
          </a:p>
          <a:p>
            <a:pPr algn="l"/>
            <a:r>
              <a:rPr lang="en-US" sz="1400" b="0">
                <a:solidFill>
                  <a:srgbClr val="252529"/>
                </a:solidFill>
                <a:latin typeface="Aptos"/>
              </a:rPr>
              <a:t>the dual of the transformed system.</a:t>
            </a:r>
          </a:p>
        </p:txBody>
      </p:sp>
      <p:sp>
        <p:nvSpPr>
          <p:cNvPr id="304" name="Stage2 operation heading"/>
          <p:cNvSpPr txBox="1"/>
          <p:nvPr/>
        </p:nvSpPr>
        <p:spPr>
          <a:xfrm>
            <a:off x="4876800" y="2159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definition"/>
              <p:cNvSpPr txBox="1"/>
              <p:nvPr/>
            </p:nvSpPr>
            <p:spPr>
              <a:xfrm>
                <a:off x="4864100" y="2514600"/>
                <a:ext cx="3898900" cy="495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100">
                          <a:solidFill>
                            <a:srgbClr val="252529"/>
                          </a:solidFill>
                          <a:latin typeface="Cambria Math"/>
                        </a:rPr>
                        <m:t>𝐃</m:t>
                      </m:r>
                      <m:d>
                        <m:dPr>
                          <m:ctrlPr>
                            <a:rPr lang="en-US" sz="2100">
                              <a:solidFill>
                                <a:srgbClr val="252529"/>
                              </a:solidFill>
                              <a:latin typeface="Cambria Math"/>
                            </a:rPr>
                          </m:ctrlPr>
                        </m:dPr>
                        <m:e>
                          <m:r>
                            <m:rPr>
                              <m:sty m:val="p"/>
                            </m:rPr>
                            <a:rPr lang="en-US" sz="2100">
                              <a:solidFill>
                                <a:srgbClr val="252529"/>
                              </a:solidFill>
                              <a:latin typeface="Cambria Math"/>
                            </a:rPr>
                            <m:t>Θ</m:t>
                          </m:r>
                        </m:e>
                      </m:d>
                      <m:r>
                        <a:rPr lang="en-US" sz="2100">
                          <a:solidFill>
                            <a:srgbClr val="252529"/>
                          </a:solidFill>
                          <a:latin typeface="Cambria Math"/>
                        </a:rPr>
                        <m:t>:=</m:t>
                      </m:r>
                      <m:sSup>
                        <m:sSupPr>
                          <m:ctrlPr>
                            <a:rPr lang="en-US" sz="2100" i="1">
                              <a:solidFill>
                                <a:srgbClr val="252529"/>
                              </a:solidFill>
                              <a:latin typeface="Cambria Math" panose="02040503050406030204" pitchFamily="18" charset="0"/>
                            </a:rPr>
                          </m:ctrlPr>
                        </m:sSupPr>
                        <m:e>
                          <m:d>
                            <m:dPr>
                              <m:ctrlPr>
                                <a:rPr lang="en-US" sz="2100" i="1">
                                  <a:solidFill>
                                    <a:srgbClr val="252529"/>
                                  </a:solidFill>
                                  <a:latin typeface="Cambria Math" panose="02040503050406030204" pitchFamily="18" charset="0"/>
                                </a:rPr>
                              </m:ctrlPr>
                            </m:dPr>
                            <m:e>
                              <m:sSup>
                                <m:sSupPr>
                                  <m:ctrlPr>
                                    <a:rPr lang="en-US" sz="2100" i="1">
                                      <a:solidFill>
                                        <a:srgbClr val="252529"/>
                                      </a:solidFill>
                                      <a:latin typeface="Cambria Math" panose="02040503050406030204" pitchFamily="18" charset="0"/>
                                    </a:rPr>
                                  </m:ctrlPr>
                                </m:sSupPr>
                                <m:e>
                                  <m:acc>
                                    <m:accPr>
                                      <m:chr m:val="̂"/>
                                      <m:ctrlPr>
                                        <a:rPr lang="en-US" sz="2100">
                                          <a:solidFill>
                                            <a:srgbClr val="252529"/>
                                          </a:solidFill>
                                          <a:latin typeface="Cambria Math"/>
                                        </a:rPr>
                                      </m:ctrlPr>
                                    </m:accPr>
                                    <m:e>
                                      <m:r>
                                        <a:rPr lang="en-US" sz="2100">
                                          <a:solidFill>
                                            <a:srgbClr val="252529"/>
                                          </a:solidFill>
                                          <a:latin typeface="Cambria Math"/>
                                        </a:rPr>
                                        <m:t>𝐽</m:t>
                                      </m:r>
                                    </m:e>
                                  </m:acc>
                                </m:e>
                                <m:sup>
                                  <m:r>
                                    <a:rPr lang="en-US" sz="2100">
                                      <a:solidFill>
                                        <a:srgbClr val="252529"/>
                                      </a:solidFill>
                                      <a:latin typeface="Cambria Math"/>
                                    </a:rPr>
                                    <m:t>∗</m:t>
                                  </m:r>
                                </m:sup>
                              </m:sSup>
                              <m:sSup>
                                <m:sSupPr>
                                  <m:ctrlPr>
                                    <a:rPr lang="en-US" sz="2100">
                                      <a:solidFill>
                                        <a:srgbClr val="252529"/>
                                      </a:solidFill>
                                      <a:latin typeface="Cambria Math"/>
                                    </a:rPr>
                                  </m:ctrlPr>
                                </m:sSupPr>
                                <m:e>
                                  <m:r>
                                    <m:rPr>
                                      <m:sty m:val="p"/>
                                    </m:rPr>
                                    <a:rPr lang="en-US" sz="2100">
                                      <a:solidFill>
                                        <a:srgbClr val="252529"/>
                                      </a:solidFill>
                                      <a:latin typeface="Cambria Math"/>
                                    </a:rPr>
                                    <m:t>Θ</m:t>
                                  </m:r>
                                </m:e>
                                <m:sup>
                                  <m:r>
                                    <a:rPr lang="en-US" sz="2100">
                                      <a:solidFill>
                                        <a:srgbClr val="252529"/>
                                      </a:solidFill>
                                      <a:latin typeface="Cambria Math"/>
                                    </a:rPr>
                                    <m:t>⊤</m:t>
                                  </m:r>
                                </m:sup>
                              </m:sSup>
                              <m:acc>
                                <m:accPr>
                                  <m:chr m:val="̂"/>
                                  <m:ctrlPr>
                                    <a:rPr lang="en-US" sz="2100">
                                      <a:solidFill>
                                        <a:srgbClr val="252529"/>
                                      </a:solidFill>
                                      <a:latin typeface="Cambria Math"/>
                                    </a:rPr>
                                  </m:ctrlPr>
                                </m:accPr>
                                <m:e>
                                  <m:r>
                                    <a:rPr lang="en-US" sz="2100">
                                      <a:solidFill>
                                        <a:srgbClr val="252529"/>
                                      </a:solidFill>
                                      <a:latin typeface="Cambria Math"/>
                                    </a:rPr>
                                    <m:t>𝐽</m:t>
                                  </m:r>
                                </m:e>
                              </m:acc>
                            </m:e>
                          </m:d>
                        </m:e>
                        <m:sup>
                          <m:r>
                            <a:rPr lang="en-US" sz="2100">
                              <a:solidFill>
                                <a:srgbClr val="252529"/>
                              </a:solidFill>
                              <a:latin typeface="Cambria Math"/>
                            </a:rPr>
                            <m:t>−1</m:t>
                          </m:r>
                        </m:sup>
                      </m:sSup>
                    </m:oMath>
                  </m:oMathPara>
                </a14:m>
                <a:endParaRPr sz="2100">
                  <a:latin typeface="Cambria Math"/>
                </a:endParaRPr>
              </a:p>
            </p:txBody>
          </p:sp>
        </mc:Choice>
        <mc:Fallback xmlns:m="http://schemas.openxmlformats.org/officeDocument/2006/math" xmlns="">
          <p:sp>
            <p:nvSpPr>
              <p:cNvPr id="305" name="Stage2 definition"/>
              <p:cNvSpPr txBox="1"/>
              <p:nvPr/>
            </p:nvSpPr>
            <p:spPr>
              <a:xfrm>
                <a:off x="4864100" y="2514600"/>
                <a:ext cx="3898900" cy="495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exchange"/>
              <p:cNvSpPr txBox="1"/>
              <p:nvPr/>
            </p:nvSpPr>
            <p:spPr>
              <a:xfrm>
                <a:off x="4864100" y="3086100"/>
                <a:ext cx="3898900" cy="495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600">
                              <a:solidFill>
                                <a:srgbClr val="252529"/>
                              </a:solidFill>
                              <a:latin typeface="Cambria Math"/>
                            </a:rPr>
                          </m:ctrlPr>
                        </m:accPr>
                        <m:e>
                          <m:r>
                            <a:rPr lang="en-US" sz="1600">
                              <a:solidFill>
                                <a:srgbClr val="252529"/>
                              </a:solidFill>
                              <a:latin typeface="Cambria Math"/>
                            </a:rPr>
                            <m:t>𝐽</m:t>
                          </m:r>
                        </m:e>
                      </m:acc>
                      <m:r>
                        <a:rPr lang="en-US" sz="1600">
                          <a:solidFill>
                            <a:srgbClr val="252529"/>
                          </a:solidFill>
                          <a:latin typeface="Cambria Math"/>
                        </a:rPr>
                        <m:t>=</m:t>
                      </m:r>
                      <m:d>
                        <m:dPr>
                          <m:begChr m:val="["/>
                          <m:endChr m:val="]"/>
                          <m:ctrlPr>
                            <a:rPr lang="en-US" sz="1600" i="1">
                              <a:solidFill>
                                <a:srgbClr val="252529"/>
                              </a:solidFill>
                              <a:latin typeface="Cambria Math" panose="02040503050406030204" pitchFamily="18" charset="0"/>
                            </a:rPr>
                          </m:ctrlPr>
                        </m:dPr>
                        <m:e>
                          <m:m>
                            <m:mPr>
                              <m:mcs>
                                <m:mc>
                                  <m:mcPr>
                                    <m:count m:val="2"/>
                                    <m:mcJc m:val="center"/>
                                  </m:mcPr>
                                </m:mc>
                              </m:mcs>
                              <m:ctrlPr>
                                <a:rPr lang="en-US" sz="1600" i="1">
                                  <a:solidFill>
                                    <a:srgbClr val="252529"/>
                                  </a:solidFill>
                                  <a:latin typeface="Cambria Math" panose="02040503050406030204" pitchFamily="18" charset="0"/>
                                </a:rPr>
                              </m:ctrlPr>
                            </m:mPr>
                            <m:mr>
                              <m:e>
                                <m:r>
                                  <a:rPr lang="en-US" sz="1600">
                                    <a:solidFill>
                                      <a:srgbClr val="252529"/>
                                    </a:solidFill>
                                    <a:latin typeface="Cambria Math"/>
                                  </a:rPr>
                                  <m:t>0</m:t>
                                </m:r>
                              </m:e>
                              <m:e>
                                <m:r>
                                  <a:rPr lang="en-US" sz="1600">
                                    <a:solidFill>
                                      <a:srgbClr val="252529"/>
                                    </a:solidFill>
                                    <a:latin typeface="Cambria Math"/>
                                  </a:rPr>
                                  <m:t>𝐼</m:t>
                                </m:r>
                              </m:e>
                            </m:mr>
                            <m:mr>
                              <m:e>
                                <m:r>
                                  <a:rPr lang="en-US" sz="1600">
                                    <a:solidFill>
                                      <a:srgbClr val="252529"/>
                                    </a:solidFill>
                                    <a:latin typeface="Cambria Math"/>
                                  </a:rPr>
                                  <m:t>−</m:t>
                                </m:r>
                                <m:r>
                                  <a:rPr lang="en-US" sz="1600">
                                    <a:solidFill>
                                      <a:srgbClr val="252529"/>
                                    </a:solidFill>
                                    <a:latin typeface="Cambria Math"/>
                                  </a:rPr>
                                  <m:t>𝐼</m:t>
                                </m:r>
                              </m:e>
                              <m:e>
                                <m:r>
                                  <a:rPr lang="en-US" sz="1600">
                                    <a:solidFill>
                                      <a:srgbClr val="252529"/>
                                    </a:solidFill>
                                    <a:latin typeface="Cambria Math"/>
                                  </a:rPr>
                                  <m:t>0</m:t>
                                </m:r>
                              </m:e>
                            </m:mr>
                          </m:m>
                        </m:e>
                      </m:d>
                    </m:oMath>
                  </m:oMathPara>
                </a14:m>
                <a:endParaRPr sz="1600">
                  <a:latin typeface="Cambria Math"/>
                </a:endParaRPr>
              </a:p>
            </p:txBody>
          </p:sp>
        </mc:Choice>
        <mc:Fallback xmlns:m="http://schemas.openxmlformats.org/officeDocument/2006/math" xmlns="">
          <p:sp>
            <p:nvSpPr>
              <p:cNvPr id="306" name="Stage2 exchange"/>
              <p:cNvSpPr txBox="1"/>
              <p:nvPr/>
            </p:nvSpPr>
            <p:spPr>
              <a:xfrm>
                <a:off x="4864100" y="3086100"/>
                <a:ext cx="3898900" cy="495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7" name="Stage3 check heading"/>
          <p:cNvSpPr txBox="1"/>
          <p:nvPr/>
        </p:nvSpPr>
        <p:spPr>
          <a:xfrm>
            <a:off x="4876800" y="3784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p:sp>
        <p:nvSpPr>
          <p:cNvPr id="308" name="Stage3 check description"/>
          <p:cNvSpPr txBox="1"/>
          <p:nvPr/>
        </p:nvSpPr>
        <p:spPr>
          <a:xfrm>
            <a:off x="4876800" y="4102100"/>
            <a:ext cx="3797300" cy="292100"/>
          </a:xfrm>
          <a:prstGeom prst="rect">
            <a:avLst/>
          </a:prstGeom>
          <a:noFill/>
          <a:ln>
            <a:noFill/>
          </a:ln>
        </p:spPr>
        <p:txBody>
          <a:bodyPr wrap="square" lIns="0" tIns="0" rIns="0" bIns="0" anchor="ctr">
            <a:noAutofit/>
          </a:bodyPr>
          <a:lstStyle/>
          <a:p>
            <a:pPr algn="l"/>
            <a:r>
              <a:rPr lang="en-US" sz="1350" b="0">
                <a:solidFill>
                  <a:srgbClr val="252529"/>
                </a:solidFill>
                <a:latin typeface="Aptos"/>
              </a:rPr>
              <a:t>Recover the expected dual closed loop.</a:t>
            </a:r>
          </a:p>
        </p:txBody>
      </p:sp>
      <p:sp>
        <p:nvSpPr>
          <p:cNvPr id="309" name="Stage3 conclusion"/>
          <p:cNvSpPr txBox="1"/>
          <p:nvPr/>
        </p:nvSpPr>
        <p:spPr>
          <a:xfrm>
            <a:off x="457200" y="4495800"/>
            <a:ext cx="8229600" cy="279400"/>
          </a:xfrm>
          <a:prstGeom prst="rect">
            <a:avLst/>
          </a:prstGeom>
          <a:noFill/>
          <a:ln>
            <a:noFill/>
          </a:ln>
        </p:spPr>
        <p:txBody>
          <a:bodyPr wrap="square" lIns="0" tIns="0" rIns="0" bIns="0" anchor="ctr">
            <a:noAutofit/>
          </a:bodyPr>
          <a:lstStyle/>
          <a:p>
            <a:pPr algn="l"/>
            <a:r>
              <a:rPr lang="en-US" sz="1600" b="1">
                <a:solidFill>
                  <a:srgbClr val="C81919"/>
                </a:solidFill>
                <a:latin typeface="Aptos"/>
              </a:rPr>
              <a:t>Next: apply this operation and verify the resulting system.</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07"/>
                                        </p:tgtEl>
                                        <p:attrNameLst>
                                          <p:attrName>style.visibility</p:attrName>
                                        </p:attrNameLst>
                                      </p:cBhvr>
                                      <p:to>
                                        <p:strVal val="visible"/>
                                      </p:to>
                                    </p:set>
                                    <p:animEffect transition="in" filter="fade">
                                      <p:cBhvr>
                                        <p:cTn id="26" dur="300"/>
                                        <p:tgtEl>
                                          <p:spTgt spid="30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Applying the dual filter</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41</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200">
                          <a:solidFill>
                            <a:srgbClr val="252529"/>
                          </a:solidFill>
                          <a:latin typeface="Cambria Math"/>
                        </a:rPr>
                        <m:t>𝐃</m:t>
                      </m:r>
                      <m:d>
                        <m:dPr>
                          <m:ctrlPr>
                            <a:rPr lang="en-US" sz="2200">
                              <a:solidFill>
                                <a:srgbClr val="252529"/>
                              </a:solidFill>
                              <a:latin typeface="Cambria Math"/>
                            </a:rPr>
                          </m:ctrlPr>
                        </m:dPr>
                        <m:e>
                          <m:r>
                            <m:rPr>
                              <m:sty m:val="p"/>
                            </m:rPr>
                            <a:rPr lang="en-US" sz="2200">
                              <a:solidFill>
                                <a:srgbClr val="252529"/>
                              </a:solidFill>
                              <a:latin typeface="Cambria Math"/>
                            </a:rPr>
                            <m:t>Θ</m:t>
                          </m:r>
                        </m:e>
                      </m:d>
                    </m:oMath>
                  </m:oMathPara>
                </a14:m>
                <a:endParaRPr sz="2200">
                  <a:latin typeface="Cambria Math"/>
                </a:endParaRPr>
              </a:p>
            </p:txBody>
          </p:sp>
        </mc:Choice>
        <mc:Fallback xmlns:m="http://schemas.openxmlformats.org/officeDocument/2006/math" xmlns="">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dynamics"/>
              <p:cNvSpPr txBox="1"/>
              <p:nvPr/>
            </p:nvSpPr>
            <p:spPr>
              <a:xfrm>
                <a:off x="4864100" y="1333500"/>
                <a:ext cx="3898900" cy="3429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650">
                              <a:solidFill>
                                <a:srgbClr val="252529"/>
                              </a:solidFill>
                              <a:latin typeface="Cambria Math"/>
                            </a:rPr>
                          </m:ctrlPr>
                        </m:sSupPr>
                        <m:e>
                          <m:r>
                            <a:rPr lang="en-US" sz="1650">
                              <a:solidFill>
                                <a:srgbClr val="252529"/>
                              </a:solidFill>
                              <a:latin typeface="Cambria Math"/>
                            </a:rPr>
                            <m:t>𝑇</m:t>
                          </m:r>
                        </m:e>
                        <m:sup>
                          <m:r>
                            <a:rPr lang="en-US" sz="1650">
                              <a:solidFill>
                                <a:srgbClr val="252529"/>
                              </a:solidFill>
                              <a:latin typeface="Cambria Math"/>
                            </a:rPr>
                            <m:t>∗</m:t>
                          </m:r>
                        </m:sup>
                      </m:sSup>
                      <m:acc>
                        <m:accPr>
                          <m:chr m:val="̇"/>
                          <m:ctrlPr>
                            <a:rPr lang="en-US" sz="1650" i="1">
                              <a:solidFill>
                                <a:srgbClr val="252529"/>
                              </a:solidFill>
                              <a:latin typeface="Cambria Math" panose="02040503050406030204" pitchFamily="18" charset="0"/>
                            </a:rPr>
                          </m:ctrlPr>
                        </m:accPr>
                        <m:e>
                          <m:bar>
                            <m:barPr>
                              <m:pos m:val="bot"/>
                              <m:ctrlPr>
                                <a:rPr lang="en-US" sz="1650">
                                  <a:solidFill>
                                    <a:srgbClr val="252529"/>
                                  </a:solidFill>
                                  <a:latin typeface="Cambria Math"/>
                                </a:rPr>
                              </m:ctrlPr>
                            </m:barPr>
                            <m:e>
                              <m:r>
                                <a:rPr lang="en-US" sz="1650">
                                  <a:solidFill>
                                    <a:srgbClr val="252529"/>
                                  </a:solidFill>
                                  <a:latin typeface="Cambria Math"/>
                                </a:rPr>
                                <m:t>𝑥</m:t>
                              </m:r>
                            </m:e>
                          </m:bar>
                        </m:e>
                      </m:acc>
                      <m:r>
                        <a:rPr lang="en-US" sz="1650">
                          <a:solidFill>
                            <a:srgbClr val="252529"/>
                          </a:solidFill>
                          <a:latin typeface="Cambria Math"/>
                        </a:rPr>
                        <m:t>=</m:t>
                      </m:r>
                      <m:d>
                        <m:dPr>
                          <m:ctrlPr>
                            <a:rPr lang="en-US" sz="1650" i="1">
                              <a:solidFill>
                                <a:srgbClr val="252529"/>
                              </a:solidFill>
                              <a:latin typeface="Cambria Math" panose="02040503050406030204" pitchFamily="18" charset="0"/>
                            </a:rPr>
                          </m:ctrlPr>
                        </m:dPr>
                        <m:e>
                          <m:sSup>
                            <m:sSupPr>
                              <m:ctrlPr>
                                <a:rPr lang="en-US" sz="1650">
                                  <a:solidFill>
                                    <a:srgbClr val="252529"/>
                                  </a:solidFill>
                                  <a:latin typeface="Cambria Math"/>
                                </a:rPr>
                              </m:ctrlPr>
                            </m:sSupPr>
                            <m:e>
                              <m:r>
                                <a:rPr lang="en-US" sz="1650">
                                  <a:solidFill>
                                    <a:srgbClr val="252529"/>
                                  </a:solidFill>
                                  <a:latin typeface="Cambria Math"/>
                                </a:rPr>
                                <m:t>𝐴</m:t>
                              </m:r>
                            </m:e>
                            <m:sup>
                              <m:r>
                                <a:rPr lang="en-US" sz="1650">
                                  <a:solidFill>
                                    <a:srgbClr val="252529"/>
                                  </a:solidFill>
                                  <a:latin typeface="Cambria Math"/>
                                </a:rPr>
                                <m:t>∗</m:t>
                              </m:r>
                            </m:sup>
                          </m:sSup>
                          <m:r>
                            <a:rPr lang="en-US" sz="1650">
                              <a:solidFill>
                                <a:srgbClr val="252529"/>
                              </a:solidFill>
                              <a:latin typeface="Cambria Math"/>
                            </a:rPr>
                            <m:t>+</m:t>
                          </m:r>
                          <m:sSup>
                            <m:sSupPr>
                              <m:ctrlPr>
                                <a:rPr lang="en-US" sz="1650">
                                  <a:solidFill>
                                    <a:srgbClr val="252529"/>
                                  </a:solidFill>
                                  <a:latin typeface="Cambria Math"/>
                                </a:rPr>
                              </m:ctrlPr>
                            </m:sSupPr>
                            <m:e>
                              <m:r>
                                <a:rPr lang="en-US" sz="1650">
                                  <a:solidFill>
                                    <a:srgbClr val="252529"/>
                                  </a:solidFill>
                                  <a:latin typeface="Cambria Math"/>
                                </a:rPr>
                                <m:t>𝐾</m:t>
                              </m:r>
                            </m:e>
                            <m:sup>
                              <m:r>
                                <a:rPr lang="en-US" sz="1650">
                                  <a:solidFill>
                                    <a:srgbClr val="252529"/>
                                  </a:solidFill>
                                  <a:latin typeface="Cambria Math"/>
                                </a:rPr>
                                <m:t>∗</m:t>
                              </m:r>
                            </m:sup>
                          </m:sSup>
                          <m:sSup>
                            <m:sSupPr>
                              <m:ctrlPr>
                                <a:rPr lang="en-US" sz="1650" i="1">
                                  <a:solidFill>
                                    <a:srgbClr val="252529"/>
                                  </a:solidFill>
                                  <a:latin typeface="Cambria Math" panose="02040503050406030204" pitchFamily="18" charset="0"/>
                                </a:rPr>
                              </m:ctrlPr>
                            </m:sSupPr>
                            <m:e>
                              <m:sSub>
                                <m:sSubPr>
                                  <m:ctrlPr>
                                    <a:rPr lang="en-US" sz="1650">
                                      <a:solidFill>
                                        <a:srgbClr val="252529"/>
                                      </a:solidFill>
                                      <a:latin typeface="Cambria Math"/>
                                    </a:rPr>
                                  </m:ctrlPr>
                                </m:sSubPr>
                                <m:e>
                                  <m:r>
                                    <a:rPr lang="en-US" sz="1650">
                                      <a:solidFill>
                                        <a:srgbClr val="252529"/>
                                      </a:solidFill>
                                      <a:latin typeface="Cambria Math"/>
                                    </a:rPr>
                                    <m:t>𝐵</m:t>
                                  </m:r>
                                </m:e>
                                <m:sub>
                                  <m:r>
                                    <m:rPr>
                                      <m:sty m:val="p"/>
                                    </m:rPr>
                                    <a:rPr lang="en-US" sz="1650">
                                      <a:solidFill>
                                        <a:srgbClr val="252529"/>
                                      </a:solidFill>
                                      <a:latin typeface="Cambria Math"/>
                                    </a:rPr>
                                    <m:t>u</m:t>
                                  </m:r>
                                </m:sub>
                              </m:sSub>
                            </m:e>
                            <m:sup>
                              <m:r>
                                <a:rPr lang="en-US" sz="1650">
                                  <a:solidFill>
                                    <a:srgbClr val="252529"/>
                                  </a:solidFill>
                                  <a:latin typeface="Cambria Math"/>
                                </a:rPr>
                                <m:t>∗</m:t>
                              </m:r>
                            </m:sup>
                          </m:sSup>
                        </m:e>
                      </m:d>
                      <m:bar>
                        <m:barPr>
                          <m:pos m:val="bot"/>
                          <m:ctrlPr>
                            <a:rPr lang="en-US" sz="1650">
                              <a:solidFill>
                                <a:srgbClr val="252529"/>
                              </a:solidFill>
                              <a:latin typeface="Cambria Math"/>
                            </a:rPr>
                          </m:ctrlPr>
                        </m:barPr>
                        <m:e>
                          <m:r>
                            <a:rPr lang="en-US" sz="1650">
                              <a:solidFill>
                                <a:srgbClr val="252529"/>
                              </a:solidFill>
                              <a:latin typeface="Cambria Math"/>
                            </a:rPr>
                            <m:t>𝑥</m:t>
                          </m:r>
                        </m:e>
                      </m:bar>
                    </m:oMath>
                  </m:oMathPara>
                </a14:m>
                <a:endParaRPr sz="1650">
                  <a:latin typeface="Cambria Math"/>
                </a:endParaRPr>
              </a:p>
            </p:txBody>
          </p:sp>
        </mc:Choice>
        <mc:Fallback xmlns:m="http://schemas.openxmlformats.org/officeDocument/2006/math" xmlns="">
          <p:sp>
            <p:nvSpPr>
              <p:cNvPr id="303" name="Stage1 expected dynamics"/>
              <p:cNvSpPr txBox="1"/>
              <p:nvPr/>
            </p:nvSpPr>
            <p:spPr>
              <a:xfrm>
                <a:off x="4864100" y="1333500"/>
                <a:ext cx="3898900" cy="3429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828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dual filter signal system"/>
              <p:cNvSpPr txBox="1"/>
              <p:nvPr/>
            </p:nvSpPr>
            <p:spPr>
              <a:xfrm>
                <a:off x="4864100" y="2133600"/>
                <a:ext cx="3898900" cy="6477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𝐃</m:t>
                      </m:r>
                      <m:d>
                        <m:dPr>
                          <m:ctrlPr>
                            <a:rPr lang="en-US" sz="1550">
                              <a:solidFill>
                                <a:srgbClr val="252529"/>
                              </a:solidFill>
                              <a:latin typeface="Cambria Math"/>
                            </a:rPr>
                          </m:ctrlPr>
                        </m:dPr>
                        <m:e>
                          <m:r>
                            <m:rPr>
                              <m:sty m:val="p"/>
                            </m:rPr>
                            <a:rPr lang="en-US" sz="1550">
                              <a:solidFill>
                                <a:srgbClr val="252529"/>
                              </a:solidFill>
                              <a:latin typeface="Cambria Math"/>
                            </a:rPr>
                            <m:t>Θ</m:t>
                          </m:r>
                        </m:e>
                      </m:d>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e>
                                    </m:m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0</m:t>
                                        </m:r>
                                      </m:e>
                                    </m:mr>
                                    <m:mr>
                                      <m:e>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bar>
                                          <m:barPr>
                                            <m:pos m:val="bot"/>
                                            <m:ctrlPr>
                                              <a:rPr lang="en-US" sz="1550">
                                                <a:solidFill>
                                                  <a:srgbClr val="252529"/>
                                                </a:solidFill>
                                                <a:latin typeface="Cambria Math"/>
                                              </a:rPr>
                                            </m:ctrlPr>
                                          </m:barPr>
                                          <m:e>
                                            <m:r>
                                              <a:rPr lang="en-US" sz="1550">
                                                <a:solidFill>
                                                  <a:srgbClr val="252529"/>
                                                </a:solidFill>
                                                <a:latin typeface="Cambria Math"/>
                                              </a:rPr>
                                              <m:t>𝑦</m:t>
                                            </m:r>
                                          </m:e>
                                        </m:bar>
                                      </m:e>
                                    </m:mr>
                                    <m:mr>
                                      <m:e>
                                        <m:bar>
                                          <m:barPr>
                                            <m:pos m:val="bot"/>
                                            <m:ctrlPr>
                                              <a:rPr lang="en-US" sz="1550">
                                                <a:solidFill>
                                                  <a:srgbClr val="252529"/>
                                                </a:solidFill>
                                                <a:latin typeface="Cambria Math"/>
                                              </a:rPr>
                                            </m:ctrlPr>
                                          </m:barPr>
                                          <m:e>
                                            <m:r>
                                              <a:rPr lang="en-US" sz="1550">
                                                <a:solidFill>
                                                  <a:srgbClr val="252529"/>
                                                </a:solidFill>
                                                <a:latin typeface="Cambria Math"/>
                                              </a:rPr>
                                              <m:t>𝑢</m:t>
                                            </m:r>
                                          </m:e>
                                        </m:bar>
                                      </m:e>
                                    </m:mr>
                                  </m:m>
                                </m:e>
                              </m:d>
                            </m:e>
                          </m:eqArr>
                        </m:e>
                      </m:d>
                    </m:oMath>
                  </m:oMathPara>
                </a14:m>
                <a:endParaRPr sz="1550">
                  <a:latin typeface="Cambria Math"/>
                </a:endParaRPr>
              </a:p>
            </p:txBody>
          </p:sp>
        </mc:Choice>
        <mc:Fallback xmlns:m="http://schemas.openxmlformats.org/officeDocument/2006/math" xmlns="">
          <p:sp>
            <p:nvSpPr>
              <p:cNvPr id="305" name="Stage2 dual filter signal system"/>
              <p:cNvSpPr txBox="1"/>
              <p:nvPr/>
            </p:nvSpPr>
            <p:spPr>
              <a:xfrm>
                <a:off x="4864100" y="2133600"/>
                <a:ext cx="3898900" cy="6477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rewrite input"/>
              <p:cNvSpPr txBox="1"/>
              <p:nvPr/>
            </p:nvSpPr>
            <p:spPr>
              <a:xfrm>
                <a:off x="4953000" y="2882900"/>
                <a:ext cx="3733800" cy="3302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bar>
                        <m:barPr>
                          <m:pos m:val="bot"/>
                          <m:ctrlPr>
                            <a:rPr lang="en-US" sz="1800">
                              <a:solidFill>
                                <a:srgbClr val="252529"/>
                              </a:solidFill>
                              <a:latin typeface="Cambria Math"/>
                            </a:rPr>
                          </m:ctrlPr>
                        </m:barPr>
                        <m:e>
                          <m:r>
                            <a:rPr lang="en-US" sz="1800">
                              <a:solidFill>
                                <a:srgbClr val="252529"/>
                              </a:solidFill>
                              <a:latin typeface="Cambria Math"/>
                            </a:rPr>
                            <m:t>𝑢</m:t>
                          </m:r>
                        </m:e>
                      </m:bar>
                      <m:r>
                        <a:rPr lang="en-US" sz="1800">
                          <a:solidFill>
                            <a:srgbClr val="252529"/>
                          </a:solidFill>
                          <a:latin typeface="Cambria Math"/>
                        </a:rPr>
                        <m:t>=</m:t>
                      </m:r>
                      <m:sSup>
                        <m:sSupPr>
                          <m:ctrlPr>
                            <a:rPr lang="en-US" sz="1800">
                              <a:solidFill>
                                <a:srgbClr val="252529"/>
                              </a:solidFill>
                              <a:latin typeface="Cambria Math"/>
                            </a:rPr>
                          </m:ctrlPr>
                        </m:sSupPr>
                        <m:e>
                          <m:r>
                            <a:rPr lang="en-US" sz="1800">
                              <a:solidFill>
                                <a:srgbClr val="252529"/>
                              </a:solidFill>
                              <a:latin typeface="Cambria Math"/>
                            </a:rPr>
                            <m:t>𝐾</m:t>
                          </m:r>
                        </m:e>
                        <m:sup>
                          <m:r>
                            <a:rPr lang="en-US" sz="1800">
                              <a:solidFill>
                                <a:srgbClr val="252529"/>
                              </a:solidFill>
                              <a:latin typeface="Cambria Math"/>
                            </a:rPr>
                            <m:t>∗</m:t>
                          </m:r>
                        </m:sup>
                      </m:sSup>
                      <m:bar>
                        <m:barPr>
                          <m:pos m:val="bot"/>
                          <m:ctrlPr>
                            <a:rPr lang="en-US" sz="1800">
                              <a:solidFill>
                                <a:srgbClr val="252529"/>
                              </a:solidFill>
                              <a:latin typeface="Cambria Math"/>
                            </a:rPr>
                          </m:ctrlPr>
                        </m:barPr>
                        <m:e>
                          <m:r>
                            <a:rPr lang="en-US" sz="1800">
                              <a:solidFill>
                                <a:srgbClr val="252529"/>
                              </a:solidFill>
                              <a:latin typeface="Cambria Math"/>
                            </a:rPr>
                            <m:t>𝑦</m:t>
                          </m:r>
                        </m:e>
                      </m:bar>
                      <m:r>
                        <a:rPr lang="en-US" sz="1800">
                          <a:solidFill>
                            <a:srgbClr val="252529"/>
                          </a:solidFill>
                          <a:latin typeface="Cambria Math"/>
                        </a:rPr>
                        <m:t>+</m:t>
                      </m:r>
                      <m:acc>
                        <m:accPr>
                          <m:chr m:val="̃"/>
                          <m:ctrlPr>
                            <a:rPr lang="en-US" sz="1800" i="1">
                              <a:solidFill>
                                <a:srgbClr val="252529"/>
                              </a:solidFill>
                              <a:latin typeface="Cambria Math" panose="02040503050406030204" pitchFamily="18" charset="0"/>
                            </a:rPr>
                          </m:ctrlPr>
                        </m:accPr>
                        <m:e>
                          <m:bar>
                            <m:barPr>
                              <m:pos m:val="bot"/>
                              <m:ctrlPr>
                                <a:rPr lang="en-US" sz="1800">
                                  <a:solidFill>
                                    <a:srgbClr val="252529"/>
                                  </a:solidFill>
                                  <a:latin typeface="Cambria Math"/>
                                </a:rPr>
                              </m:ctrlPr>
                            </m:barPr>
                            <m:e>
                              <m:r>
                                <a:rPr lang="en-US" sz="1800">
                                  <a:solidFill>
                                    <a:srgbClr val="252529"/>
                                  </a:solidFill>
                                  <a:latin typeface="Cambria Math"/>
                                </a:rPr>
                                <m:t>𝑢</m:t>
                              </m:r>
                            </m:e>
                          </m:bar>
                        </m:e>
                      </m:acc>
                    </m:oMath>
                  </m:oMathPara>
                </a14:m>
                <a:endParaRPr sz="1800">
                  <a:latin typeface="Cambria Math"/>
                </a:endParaRPr>
              </a:p>
            </p:txBody>
          </p:sp>
        </mc:Choice>
        <mc:Fallback xmlns:m="http://schemas.openxmlformats.org/officeDocument/2006/math" xmlns="">
          <p:sp>
            <p:nvSpPr>
              <p:cNvPr id="306" name="Stage2 rewrite input"/>
              <p:cNvSpPr txBox="1"/>
              <p:nvPr/>
            </p:nvSpPr>
            <p:spPr>
              <a:xfrm>
                <a:off x="4953000" y="2882900"/>
                <a:ext cx="3733800" cy="3302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7" name="Stage2 driven dual system"/>
              <p:cNvSpPr txBox="1"/>
              <p:nvPr/>
            </p:nvSpPr>
            <p:spPr>
              <a:xfrm>
                <a:off x="4864100" y="3289300"/>
                <a:ext cx="3898900" cy="622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sSup>
                                <m:sSupPr>
                                  <m:ctrlPr>
                                    <a:rPr lang="en-US" sz="1550">
                                      <a:solidFill>
                                        <a:srgbClr val="252529"/>
                                      </a:solidFill>
                                      <a:latin typeface="Cambria Math"/>
                                    </a:rPr>
                                  </m:ctrlPr>
                                </m:sSupPr>
                                <m:e>
                                  <m:r>
                                    <a:rPr lang="en-US" sz="1550">
                                      <a:solidFill>
                                        <a:srgbClr val="252529"/>
                                      </a:solidFill>
                                      <a:latin typeface="Cambria Math"/>
                                    </a:rPr>
                                    <m:t>𝑇</m:t>
                                  </m:r>
                                </m:e>
                                <m:sup>
                                  <m:r>
                                    <a:rPr lang="en-US" sz="1550">
                                      <a:solidFill>
                                        <a:srgbClr val="252529"/>
                                      </a:solidFill>
                                      <a:latin typeface="Cambria Math"/>
                                    </a:rPr>
                                    <m:t>∗</m:t>
                                  </m:r>
                                </m:sup>
                              </m:sSup>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𝑥</m:t>
                                      </m:r>
                                    </m:e>
                                  </m:bar>
                                </m:e>
                              </m:acc>
                              <m:r>
                                <a:rPr lang="en-US" sz="1550">
                                  <a:solidFill>
                                    <a:srgbClr val="252529"/>
                                  </a:solidFill>
                                  <a:latin typeface="Cambria Math"/>
                                </a:rPr>
                                <m:t>=</m:t>
                              </m:r>
                              <m:d>
                                <m:dPr>
                                  <m:ctrlPr>
                                    <a:rPr lang="en-US" sz="1550" i="1">
                                      <a:solidFill>
                                        <a:srgbClr val="252529"/>
                                      </a:solidFill>
                                      <a:latin typeface="Cambria Math" panose="02040503050406030204" pitchFamily="18" charset="0"/>
                                    </a:rPr>
                                  </m:ctrlPr>
                                </m:dPr>
                                <m:e>
                                  <m:sSup>
                                    <m:sSupPr>
                                      <m:ctrlPr>
                                        <a:rPr lang="en-US" sz="1550">
                                          <a:solidFill>
                                            <a:srgbClr val="252529"/>
                                          </a:solidFill>
                                          <a:latin typeface="Cambria Math"/>
                                        </a:rPr>
                                      </m:ctrlPr>
                                    </m:sSupPr>
                                    <m:e>
                                      <m:r>
                                        <a:rPr lang="en-US" sz="1550">
                                          <a:solidFill>
                                            <a:srgbClr val="252529"/>
                                          </a:solidFill>
                                          <a:latin typeface="Cambria Math"/>
                                        </a:rPr>
                                        <m:t>𝐴</m:t>
                                      </m:r>
                                    </m:e>
                                    <m:sup>
                                      <m:r>
                                        <a:rPr lang="en-US" sz="1550">
                                          <a:solidFill>
                                            <a:srgbClr val="252529"/>
                                          </a:solidFill>
                                          <a:latin typeface="Cambria Math"/>
                                        </a:rPr>
                                        <m:t>∗</m:t>
                                      </m:r>
                                    </m:sup>
                                  </m:sSup>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e>
                              </m:d>
                              <m:bar>
                                <m:barPr>
                                  <m:pos m:val="bot"/>
                                  <m:ctrlPr>
                                    <a:rPr lang="en-US" sz="1550">
                                      <a:solidFill>
                                        <a:srgbClr val="252529"/>
                                      </a:solidFill>
                                      <a:latin typeface="Cambria Math"/>
                                    </a:rPr>
                                  </m:ctrlPr>
                                </m:barPr>
                                <m:e>
                                  <m:r>
                                    <a:rPr lang="en-US" sz="1550">
                                      <a:solidFill>
                                        <a:srgbClr val="252529"/>
                                      </a:solidFill>
                                      <a:latin typeface="Cambria Math"/>
                                    </a:rPr>
                                    <m:t>𝑥</m:t>
                                  </m:r>
                                </m:e>
                              </m:bar>
                              <m:r>
                                <a:rPr lang="en-US" sz="1550">
                                  <a:solidFill>
                                    <a:srgbClr val="252529"/>
                                  </a:solidFill>
                                  <a:latin typeface="Cambria Math"/>
                                </a:rPr>
                                <m:t>+</m:t>
                              </m:r>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r>
                                <a:rPr lang="en-US" sz="1550">
                                  <a:solidFill>
                                    <a:srgbClr val="252529"/>
                                  </a:solidFill>
                                  <a:latin typeface="Cambria Math"/>
                                </a:rPr>
                                <m:t>=</m:t>
                              </m:r>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e>
                          </m:eqArr>
                        </m:e>
                      </m:d>
                    </m:oMath>
                  </m:oMathPara>
                </a14:m>
                <a:endParaRPr sz="1550">
                  <a:latin typeface="Cambria Math"/>
                </a:endParaRPr>
              </a:p>
            </p:txBody>
          </p:sp>
        </mc:Choice>
        <mc:Fallback xmlns:m="http://schemas.openxmlformats.org/officeDocument/2006/math" xmlns="">
          <p:sp>
            <p:nvSpPr>
              <p:cNvPr id="307" name="Stage2 driven dual system"/>
              <p:cNvSpPr txBox="1"/>
              <p:nvPr/>
            </p:nvSpPr>
            <p:spPr>
              <a:xfrm>
                <a:off x="4864100" y="3289300"/>
                <a:ext cx="3898900" cy="622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8" name="Stage3 check heading"/>
          <p:cNvSpPr txBox="1"/>
          <p:nvPr/>
        </p:nvSpPr>
        <p:spPr>
          <a:xfrm>
            <a:off x="4876800" y="3987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9" name="Stage3 closure"/>
              <p:cNvSpPr txBox="1"/>
              <p:nvPr/>
            </p:nvSpPr>
            <p:spPr>
              <a:xfrm>
                <a:off x="4953000" y="42799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700" i="1">
                              <a:solidFill>
                                <a:srgbClr val="252529"/>
                              </a:solidFill>
                              <a:latin typeface="Cambria Math" panose="02040503050406030204" pitchFamily="18" charset="0"/>
                            </a:rPr>
                          </m:ctrlPr>
                        </m:accPr>
                        <m:e>
                          <m:bar>
                            <m:barPr>
                              <m:pos m:val="bot"/>
                              <m:ctrlPr>
                                <a:rPr lang="en-US" sz="1700">
                                  <a:solidFill>
                                    <a:srgbClr val="252529"/>
                                  </a:solidFill>
                                  <a:latin typeface="Cambria Math"/>
                                </a:rPr>
                              </m:ctrlPr>
                            </m:barPr>
                            <m:e>
                              <m:r>
                                <a:rPr lang="en-US" sz="1700">
                                  <a:solidFill>
                                    <a:srgbClr val="252529"/>
                                  </a:solidFill>
                                  <a:latin typeface="Cambria Math"/>
                                </a:rPr>
                                <m:t>𝑢</m:t>
                              </m:r>
                            </m:e>
                          </m:bar>
                        </m:e>
                      </m:acc>
                      <m:r>
                        <a:rPr lang="en-US" sz="1700">
                          <a:solidFill>
                            <a:srgbClr val="252529"/>
                          </a:solidFill>
                          <a:latin typeface="Cambria Math"/>
                        </a:rPr>
                        <m:t>=0  ⇔  </m:t>
                      </m:r>
                      <m:bar>
                        <m:barPr>
                          <m:pos m:val="bot"/>
                          <m:ctrlPr>
                            <a:rPr lang="en-US" sz="1700">
                              <a:solidFill>
                                <a:srgbClr val="252529"/>
                              </a:solidFill>
                              <a:latin typeface="Cambria Math"/>
                            </a:rPr>
                          </m:ctrlPr>
                        </m:barPr>
                        <m:e>
                          <m:r>
                            <a:rPr lang="en-US" sz="1700">
                              <a:solidFill>
                                <a:srgbClr val="252529"/>
                              </a:solidFill>
                              <a:latin typeface="Cambria Math"/>
                            </a:rPr>
                            <m:t>𝑢</m:t>
                          </m:r>
                        </m:e>
                      </m:bar>
                      <m:r>
                        <a:rPr lang="en-US" sz="1700">
                          <a:solidFill>
                            <a:srgbClr val="252529"/>
                          </a:solidFill>
                          <a:latin typeface="Cambria Math"/>
                        </a:rPr>
                        <m:t>=</m:t>
                      </m:r>
                      <m:sSup>
                        <m:sSupPr>
                          <m:ctrlPr>
                            <a:rPr lang="en-US" sz="1700">
                              <a:solidFill>
                                <a:srgbClr val="252529"/>
                              </a:solidFill>
                              <a:latin typeface="Cambria Math"/>
                            </a:rPr>
                          </m:ctrlPr>
                        </m:sSupPr>
                        <m:e>
                          <m:r>
                            <a:rPr lang="en-US" sz="1700">
                              <a:solidFill>
                                <a:srgbClr val="252529"/>
                              </a:solidFill>
                              <a:latin typeface="Cambria Math"/>
                            </a:rPr>
                            <m:t>𝐾</m:t>
                          </m:r>
                        </m:e>
                        <m:sup>
                          <m:r>
                            <a:rPr lang="en-US" sz="1700">
                              <a:solidFill>
                                <a:srgbClr val="252529"/>
                              </a:solidFill>
                              <a:latin typeface="Cambria Math"/>
                            </a:rPr>
                            <m:t>∗</m:t>
                          </m:r>
                        </m:sup>
                      </m:sSup>
                      <m:bar>
                        <m:barPr>
                          <m:pos m:val="bot"/>
                          <m:ctrlPr>
                            <a:rPr lang="en-US" sz="1700">
                              <a:solidFill>
                                <a:srgbClr val="252529"/>
                              </a:solidFill>
                              <a:latin typeface="Cambria Math"/>
                            </a:rPr>
                          </m:ctrlPr>
                        </m:barPr>
                        <m:e>
                          <m:r>
                            <a:rPr lang="en-US" sz="1700">
                              <a:solidFill>
                                <a:srgbClr val="252529"/>
                              </a:solidFill>
                              <a:latin typeface="Cambria Math"/>
                            </a:rPr>
                            <m:t>𝑦</m:t>
                          </m:r>
                        </m:e>
                      </m:bar>
                    </m:oMath>
                  </m:oMathPara>
                </a14:m>
                <a:endParaRPr sz="1700">
                  <a:latin typeface="Cambria Math"/>
                </a:endParaRPr>
              </a:p>
            </p:txBody>
          </p:sp>
        </mc:Choice>
        <mc:Fallback xmlns:m="http://schemas.openxmlformats.org/officeDocument/2006/math" xmlns="">
          <p:sp>
            <p:nvSpPr>
              <p:cNvPr id="309" name="Stage3 closure"/>
              <p:cNvSpPr txBox="1"/>
              <p:nvPr/>
            </p:nvSpPr>
            <p:spPr>
              <a:xfrm>
                <a:off x="4953000" y="42799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10" name="Stage3 conclusion"/>
          <p:cNvSpPr txBox="1"/>
          <p:nvPr/>
        </p:nvSpPr>
        <p:spPr>
          <a:xfrm>
            <a:off x="457200" y="4584700"/>
            <a:ext cx="8229600" cy="254000"/>
          </a:xfrm>
          <a:prstGeom prst="rect">
            <a:avLst/>
          </a:prstGeom>
          <a:noFill/>
          <a:ln>
            <a:noFill/>
          </a:ln>
        </p:spPr>
        <p:txBody>
          <a:bodyPr wrap="square" lIns="0" tIns="0" rIns="0" bIns="0" anchor="ctr">
            <a:noAutofit/>
          </a:bodyPr>
          <a:lstStyle/>
          <a:p>
            <a:pPr algn="l"/>
            <a:r>
              <a:rPr lang="en-US" sz="1600" b="1">
                <a:solidFill>
                  <a:srgbClr val="C81919"/>
                </a:solidFill>
                <a:latin typeface="Aptos"/>
              </a:rPr>
              <a:t>Yes: zero filtered input recovers the dual closed loop.</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07"/>
                                        </p:tgtEl>
                                        <p:attrNameLst>
                                          <p:attrName>style.visibility</p:attrName>
                                        </p:attrNameLst>
                                      </p:cBhvr>
                                      <p:to>
                                        <p:strVal val="visible"/>
                                      </p:to>
                                    </p:set>
                                    <p:animEffect transition="in" filter="fade">
                                      <p:cBhvr>
                                        <p:cTn id="24" dur="300"/>
                                        <p:tgtEl>
                                          <p:spTgt spid="30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42</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43</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44</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45</a:t>
            </a:r>
            <a:endParaRPr sz="80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spTree>
    <p:extLst>
      <p:ext uri="{BB962C8B-B14F-4D97-AF65-F5344CB8AC3E}">
        <p14:creationId xmlns:p14="http://schemas.microsoft.com/office/powerpoint/2010/main" val="196267245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47</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m="http://schemas.openxmlformats.org/officeDocument/2006/math"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5263</TotalTime>
  <Words>6070</Words>
  <Application>Microsoft Office PowerPoint</Application>
  <PresentationFormat>On-screen Show (16:9)</PresentationFormat>
  <Paragraphs>965</Paragraphs>
  <Slides>52</Slides>
  <Notes>36</Notes>
  <HiddenSlides>0</HiddenSlides>
  <MMClips>9</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52</vt:i4>
      </vt:variant>
    </vt:vector>
  </HeadingPairs>
  <TitlesOfParts>
    <vt:vector size="58"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Partial Integral Equations</vt:lpstr>
      <vt:lpstr>Robust Stability and Performance</vt:lpstr>
      <vt:lpstr>Feedback stabilization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Absorbing the controller into the filter</vt:lpstr>
      <vt:lpstr>Transposing the systems</vt:lpstr>
      <vt:lpstr>Thought experiment replace K by \Θ</vt:lpstr>
      <vt:lpstr>Thought experiment replace K^⊤ by ▁Θ</vt:lpstr>
      <vt:lpstr>Comparing our results</vt:lpstr>
      <vt:lpstr>The dual operation</vt:lpstr>
      <vt:lpstr>Applying the dual filter</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Lenssen, Thijs</cp:lastModifiedBy>
  <cp:revision>28</cp:revision>
  <dcterms:created xsi:type="dcterms:W3CDTF">2019-11-27T15:26:32Z</dcterms:created>
  <dcterms:modified xsi:type="dcterms:W3CDTF">2026-09-27T09:49:54Z</dcterms:modified>
</cp:coreProperties>
</file>