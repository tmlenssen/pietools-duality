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6"/>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24" r:id="rId17"/>
    <p:sldId id="425" r:id="rId18"/>
    <p:sldId id="440" r:id="rId19"/>
    <p:sldId id="404" r:id="rId20"/>
    <p:sldId id="405" r:id="rId21"/>
    <p:sldId id="406" r:id="rId22"/>
    <p:sldId id="407" r:id="rId23"/>
    <p:sldId id="408" r:id="rId24"/>
    <p:sldId id="409" r:id="rId25"/>
    <p:sldId id="426" r:id="rId26"/>
    <p:sldId id="441" r:id="rId27"/>
    <p:sldId id="442" r:id="rId28"/>
    <p:sldId id="443" r:id="rId29"/>
    <p:sldId id="435" r:id="rId30"/>
    <p:sldId id="436" r:id="rId31"/>
    <p:sldId id="437" r:id="rId32"/>
    <p:sldId id="438" r:id="rId33"/>
    <p:sldId id="446" r:id="rId34"/>
    <p:sldId id="447" r:id="rId35"/>
    <p:sldId id="439" r:id="rId36"/>
    <p:sldId id="421" r:id="rId37"/>
    <p:sldId id="427" r:id="rId38"/>
    <p:sldId id="431" r:id="rId39"/>
    <p:sldId id="428" r:id="rId40"/>
    <p:sldId id="429" r:id="rId41"/>
    <p:sldId id="432" r:id="rId42"/>
    <p:sldId id="430" r:id="rId43"/>
    <p:sldId id="433" r:id="rId44"/>
    <p:sldId id="434" r:id="rId45"/>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08" d="100"/>
          <a:sy n="108" d="100"/>
        </p:scale>
        <p:origin x="1140" y="52"/>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25/09/2026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16</a:t>
            </a:fld>
            <a:endParaRPr lang="en-GB"/>
          </a:p>
        </p:txBody>
      </p:sp>
    </p:spTree>
    <p:extLst>
      <p:ext uri="{BB962C8B-B14F-4D97-AF65-F5344CB8AC3E}">
        <p14:creationId xmlns:p14="http://schemas.microsoft.com/office/powerpoint/2010/main" val="26457018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7FB1-094A-B8EA-B1A3-88158F04A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D46CB-8AA4-A207-E755-3C87E61DD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08875B-C080-32D5-5838-B091F114DB1D}"/>
              </a:ext>
            </a:extLst>
          </p:cNvPr>
          <p:cNvSpPr>
            <a:spLocks noGrp="1"/>
          </p:cNvSpPr>
          <p:nvPr>
            <p:ph type="body" idx="1"/>
          </p:nvPr>
        </p:nvSpPr>
        <p:spPr/>
        <p:txBody>
          <a:bodyPr/>
          <a:lstStyle/>
          <a:p>
            <a:r>
              <a:rPr lang="en-US" dirty="0"/>
              <a:t>Assume full state information is known</a:t>
            </a:r>
          </a:p>
          <a:p>
            <a:endParaRPr lang="en-US" dirty="0"/>
          </a:p>
          <a:p>
            <a:r>
              <a:rPr lang="en-US" dirty="0"/>
              <a:t>Needs to be satisfied for all uncertainty, infinite dimensional system, uncertainty</a:t>
            </a:r>
          </a:p>
          <a:p>
            <a:endParaRPr lang="en-US" dirty="0"/>
          </a:p>
          <a:p>
            <a:r>
              <a:rPr lang="en-US" dirty="0"/>
              <a:t>Thinking of discretization have already lost the battle, the physics of the system determines that PDE is the representation of the system. First thing AI tries to do is discretize the model</a:t>
            </a:r>
            <a:endParaRPr lang="en-NL" dirty="0"/>
          </a:p>
        </p:txBody>
      </p:sp>
      <p:sp>
        <p:nvSpPr>
          <p:cNvPr id="4" name="Slide Number Placeholder 3">
            <a:extLst>
              <a:ext uri="{FF2B5EF4-FFF2-40B4-BE49-F238E27FC236}">
                <a16:creationId xmlns:a16="http://schemas.microsoft.com/office/drawing/2014/main" id="{2E39ABB2-5B7B-B47D-854E-5E660D1E7555}"/>
              </a:ext>
            </a:extLst>
          </p:cNvPr>
          <p:cNvSpPr>
            <a:spLocks noGrp="1"/>
          </p:cNvSpPr>
          <p:nvPr>
            <p:ph type="sldNum" sz="quarter" idx="5"/>
          </p:nvPr>
        </p:nvSpPr>
        <p:spPr/>
        <p:txBody>
          <a:bodyPr/>
          <a:lstStyle/>
          <a:p>
            <a:fld id="{AA799BBE-B871-48D7-983C-C0B1D7156DCD}" type="slidenum">
              <a:rPr lang="en-GB" smtClean="0"/>
              <a:t>17</a:t>
            </a:fld>
            <a:endParaRPr lang="en-GB"/>
          </a:p>
        </p:txBody>
      </p:sp>
    </p:spTree>
    <p:extLst>
      <p:ext uri="{BB962C8B-B14F-4D97-AF65-F5344CB8AC3E}">
        <p14:creationId xmlns:p14="http://schemas.microsoft.com/office/powerpoint/2010/main" val="3128207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F2CC4-64BA-41F9-F81A-498612787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95AD93-F5F7-C821-9E72-B115490DCA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D64D6-7401-AA83-1E04-D8737E210D94}"/>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4DEE983-7A01-9522-EA1E-BFE65BC3BF9D}"/>
              </a:ext>
            </a:extLst>
          </p:cNvPr>
          <p:cNvSpPr>
            <a:spLocks noGrp="1"/>
          </p:cNvSpPr>
          <p:nvPr>
            <p:ph type="sldNum" sz="quarter" idx="5"/>
          </p:nvPr>
        </p:nvSpPr>
        <p:spPr/>
        <p:txBody>
          <a:bodyPr/>
          <a:lstStyle/>
          <a:p>
            <a:fld id="{AA799BBE-B871-48D7-983C-C0B1D7156DCD}" type="slidenum">
              <a:rPr lang="en-GB" smtClean="0"/>
              <a:t>18</a:t>
            </a:fld>
            <a:endParaRPr lang="en-GB"/>
          </a:p>
        </p:txBody>
      </p:sp>
    </p:spTree>
    <p:extLst>
      <p:ext uri="{BB962C8B-B14F-4D97-AF65-F5344CB8AC3E}">
        <p14:creationId xmlns:p14="http://schemas.microsoft.com/office/powerpoint/2010/main" val="21079783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19</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29</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30</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39</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40</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44</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media" Target="../media/media2.mp4"/><Relationship Id="rId7"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video" Target="../media/media2.mp4"/><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png"/><Relationship Id="rId4" Type="http://schemas.openxmlformats.org/officeDocument/2006/relationships/image" Target="../media/image4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410.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92.pn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24.png"/><Relationship Id="rId4"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25.png"/><Relationship Id="rId4"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26.png"/><Relationship Id="rId4"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4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81.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401.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13" Type="http://schemas.openxmlformats.org/officeDocument/2006/relationships/image" Target="../media/image34.png"/><Relationship Id="rId18" Type="http://schemas.openxmlformats.org/officeDocument/2006/relationships/image" Target="../media/image39.png"/><Relationship Id="rId12" Type="http://schemas.openxmlformats.org/officeDocument/2006/relationships/image" Target="../media/image33.png"/><Relationship Id="rId17" Type="http://schemas.openxmlformats.org/officeDocument/2006/relationships/image" Target="../media/image38.png"/><Relationship Id="rId16" Type="http://schemas.openxmlformats.org/officeDocument/2006/relationships/image" Target="../media/image37.png"/><Relationship Id="rId1" Type="http://schemas.openxmlformats.org/officeDocument/2006/relationships/slideLayout" Target="../slideLayouts/slideLayout12.xml"/><Relationship Id="rId6" Type="http://schemas.openxmlformats.org/officeDocument/2006/relationships/image" Target="../media/image32.png"/><Relationship Id="rId11" Type="http://schemas.openxmlformats.org/officeDocument/2006/relationships/image" Target="../media/image103.png"/><Relationship Id="rId5" Type="http://schemas.openxmlformats.org/officeDocument/2006/relationships/image" Target="../media/image97.png"/><Relationship Id="rId15" Type="http://schemas.openxmlformats.org/officeDocument/2006/relationships/image" Target="../media/image36.png"/><Relationship Id="rId4" Type="http://schemas.openxmlformats.org/officeDocument/2006/relationships/image" Target="../media/image96.png"/><Relationship Id="rId14" Type="http://schemas.openxmlformats.org/officeDocument/2006/relationships/image" Target="../media/image35.png"/></Relationships>
</file>

<file path=ppt/slides/_rels/slide34.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12" Type="http://schemas.openxmlformats.org/officeDocument/2006/relationships/image" Target="../media/image51.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11" Type="http://schemas.openxmlformats.org/officeDocument/2006/relationships/image" Target="../media/image50.png"/><Relationship Id="rId5" Type="http://schemas.openxmlformats.org/officeDocument/2006/relationships/image" Target="../media/image43.png"/><Relationship Id="rId10" Type="http://schemas.openxmlformats.org/officeDocument/2006/relationships/image" Target="../media/image49.png"/><Relationship Id="rId4" Type="http://schemas.openxmlformats.org/officeDocument/2006/relationships/image" Target="../media/image42.png"/><Relationship Id="rId9" Type="http://schemas.openxmlformats.org/officeDocument/2006/relationships/image" Target="../media/image4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38.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39.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0.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4.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53.png"/></Relationships>
</file>

<file path=ppt/slides/_rels/slide42.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52.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54.png"/></Relationships>
</file>

<file path=ppt/slides/_rels/slide4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6.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55.png"/></Relationships>
</file>

<file path=ppt/slides/_rels/slide4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7.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56.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44500" y="1833724"/>
            <a:ext cx="3943350" cy="2228850"/>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435475" y="1833239"/>
            <a:ext cx="4552950" cy="2619375"/>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000"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0"/>
                </p:tgtEl>
              </p:cMediaNode>
            </p:video>
            <p:seq concurrent="1" nextAc="seek">
              <p:cTn id="12" restart="whenNotActive" fill="hold" evtFilter="cancelBubble" nodeType="interactiveSeq">
                <p:stCondLst>
                  <p:cond evt="onClick" delay="0">
                    <p:tgtEl>
                      <p:spTgt spid="20"/>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0"/>
                                        </p:tgtEl>
                                      </p:cBhvr>
                                    </p:cmd>
                                  </p:childTnLst>
                                </p:cTn>
                              </p:par>
                            </p:childTnLst>
                          </p:cTn>
                        </p:par>
                      </p:childTnLst>
                    </p:cTn>
                  </p:par>
                </p:childTnLst>
              </p:cTn>
              <p:nextCondLst>
                <p:cond evt="onClick" delay="0">
                  <p:tgtEl>
                    <p:spTgt spid="20"/>
                  </p:tgtEl>
                </p:cond>
              </p:nextCondLst>
            </p:seq>
            <p:video>
              <p:cMediaNode vol="80000">
                <p:cTn id="17" fill="hold" display="0">
                  <p:stCondLst>
                    <p:cond delay="indefinite"/>
                  </p:stCondLst>
                </p:cTn>
                <p:tgtEl>
                  <p:spTgt spid="21"/>
                </p:tgtEl>
              </p:cMediaNode>
            </p:video>
            <p:seq concurrent="1" nextAc="seek">
              <p:cTn id="18" restart="whenNotActive" fill="hold" evtFilter="cancelBubble" nodeType="interactiveSeq">
                <p:stCondLst>
                  <p:cond evt="onClick" delay="0">
                    <p:tgtEl>
                      <p:spTgt spid="21"/>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3"/>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4"/>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extBox 2">
            <a:extLst>
              <a:ext uri="{FF2B5EF4-FFF2-40B4-BE49-F238E27FC236}">
                <a16:creationId xmlns:a16="http://schemas.microsoft.com/office/drawing/2014/main" id="{F8836475-C67C-5FD6-CA27-4A6AECE9B89D}"/>
              </a:ext>
            </a:extLst>
          </p:cNvPr>
          <p:cNvSpPr txBox="1"/>
          <p:nvPr/>
        </p:nvSpPr>
        <p:spPr>
          <a:xfrm>
            <a:off x="5810250" y="3321050"/>
            <a:ext cx="964495" cy="300082"/>
          </a:xfrm>
          <a:prstGeom prst="rect">
            <a:avLst/>
          </a:prstGeom>
          <a:noFill/>
        </p:spPr>
        <p:txBody>
          <a:bodyPr wrap="none" rtlCol="0">
            <a:spAutoFit/>
          </a:bodyPr>
          <a:lstStyle/>
          <a:p>
            <a:r>
              <a:rPr lang="en-US" dirty="0"/>
              <a:t>Cite paper</a:t>
            </a:r>
            <a:endParaRPr lang="en-NL" dirty="0"/>
          </a:p>
        </p:txBody>
      </p:sp>
      <p:pic>
        <p:nvPicPr>
          <p:cNvPr id="7" name="Baked figure with larger labels"/>
          <p:cNvPicPr>
            <a:picLocks noChangeAspect="1"/>
          </p:cNvPicPr>
          <p:nvPr/>
        </p:nvPicPr>
        <p:blipFill>
          <a:blip r:embed="rId6"/>
          <a:stretch>
            <a:fillRect/>
          </a:stretch>
        </p:blipFill>
        <p:spPr>
          <a:xfrm>
            <a:off x="1057275" y="366712"/>
            <a:ext cx="6581775" cy="1109662"/>
          </a:xfrm>
          <a:prstGeom prst="rect">
            <a:avLst/>
          </a:prstGeom>
        </p:spPr>
      </p:pic>
      <p:pic>
        <p:nvPicPr>
          <p:cNvPr id="18" name="Baked figure with larger labels"/>
          <p:cNvPicPr>
            <a:picLocks noChangeAspect="1"/>
          </p:cNvPicPr>
          <p:nvPr/>
        </p:nvPicPr>
        <p:blipFill>
          <a:blip r:embed="rId7"/>
          <a:stretch>
            <a:fillRect/>
          </a:stretch>
        </p:blipFill>
        <p:spPr>
          <a:xfrm>
            <a:off x="1201737" y="2616244"/>
            <a:ext cx="3590925" cy="2009775"/>
          </a:xfrm>
          <a:prstGeom prst="rect">
            <a:avLst/>
          </a:prstGeom>
        </p:spPr>
      </p:pic>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6" name="Baked figure with larger labels"/>
          <p:cNvPicPr>
            <a:picLocks noChangeAspect="1"/>
          </p:cNvPicPr>
          <p:nvPr/>
        </p:nvPicPr>
        <p:blipFill>
          <a:blip r:embed="rId4"/>
          <a:stretch>
            <a:fillRect/>
          </a:stretch>
        </p:blipFill>
        <p:spPr>
          <a:xfrm>
            <a:off x="1990725" y="547688"/>
            <a:ext cx="4681538" cy="20097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2" name="Baked figure with larger labels"/>
          <p:cNvPicPr>
            <a:picLocks noChangeAspect="1"/>
          </p:cNvPicPr>
          <p:nvPr/>
        </p:nvPicPr>
        <p:blipFill>
          <a:blip r:embed="rId4"/>
          <a:stretch>
            <a:fillRect/>
          </a:stretch>
        </p:blipFill>
        <p:spPr>
          <a:xfrm>
            <a:off x="1909762" y="390525"/>
            <a:ext cx="4762500" cy="22336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DE5ACBCD-6245-5808-3E38-E90CD319A76E}"/>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xmlns:m="http://schemas.openxmlformats.org/officeDocument/2006/math">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pic>
        <p:nvPicPr>
          <p:cNvPr id="58" name="Baked figure with larger labels"/>
          <p:cNvPicPr>
            <a:picLocks noChangeAspect="1"/>
          </p:cNvPicPr>
          <p:nvPr/>
        </p:nvPicPr>
        <p:blipFill>
          <a:blip r:embed="rId4"/>
          <a:stretch>
            <a:fillRect/>
          </a:stretch>
        </p:blipFill>
        <p:spPr>
          <a:xfrm>
            <a:off x="2438400" y="595312"/>
            <a:ext cx="4138612" cy="169545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delays and nonlinear activation </a:t>
            </a:r>
            <a:r>
              <a:rPr lang="en-US" sz="1300" b="1" u="none" cap="none" dirty="0" err="1">
                <a:solidFill>
                  <a:srgbClr val="C81919"/>
                </a:solidFill>
                <a:latin typeface="Aptos"/>
                <a:ea typeface="Aptos"/>
                <a:cs typeface="Aptos"/>
              </a:rPr>
              <a:t>funtions</a:t>
            </a:r>
            <a:r>
              <a:rPr lang="en-US" sz="1300" b="1" u="none" cap="none" dirty="0">
                <a:solidFill>
                  <a:srgbClr val="C81919"/>
                </a:solidFill>
                <a:latin typeface="Aptos"/>
                <a:ea typeface="Aptos"/>
                <a:cs typeface="Aptos"/>
              </a:rPr>
              <a:t>!</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xmlns:m="http://schemas.openxmlformats.org/officeDocument/2006/math">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13</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0" name="Baked figure with larger labels"/>
          <p:cNvPicPr>
            <a:picLocks noChangeAspect="1"/>
          </p:cNvPicPr>
          <p:nvPr/>
        </p:nvPicPr>
        <p:blipFill>
          <a:blip r:embed="rId3"/>
          <a:stretch>
            <a:fillRect/>
          </a:stretch>
        </p:blipFill>
        <p:spPr>
          <a:xfrm>
            <a:off x="438150" y="1190625"/>
            <a:ext cx="4157662" cy="1785938"/>
          </a:xfrm>
          <a:prstGeom prst="rect">
            <a:avLst/>
          </a:prstGeom>
        </p:spPr>
      </p:pic>
      <p:pic>
        <p:nvPicPr>
          <p:cNvPr id="76" name="Baked figure with larger labels"/>
          <p:cNvPicPr>
            <a:picLocks noChangeAspect="1"/>
          </p:cNvPicPr>
          <p:nvPr/>
        </p:nvPicPr>
        <p:blipFill>
          <a:blip r:embed="rId4"/>
          <a:stretch>
            <a:fillRect/>
          </a:stretch>
        </p:blipFill>
        <p:spPr>
          <a:xfrm>
            <a:off x="4943475" y="1219200"/>
            <a:ext cx="3952875" cy="2305050"/>
          </a:xfrm>
          <a:prstGeom prst="rect">
            <a:avLst/>
          </a:prstGeom>
        </p:spPr>
      </p:pic>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14</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8" name="Baked figure with larger labels"/>
          <p:cNvPicPr>
            <a:picLocks noChangeAspect="1"/>
          </p:cNvPicPr>
          <p:nvPr/>
        </p:nvPicPr>
        <p:blipFill>
          <a:blip r:embed="rId3"/>
          <a:stretch>
            <a:fillRect/>
          </a:stretch>
        </p:blipFill>
        <p:spPr>
          <a:xfrm>
            <a:off x="4962525" y="1452562"/>
            <a:ext cx="3805238" cy="1819275"/>
          </a:xfrm>
          <a:prstGeom prst="rect">
            <a:avLst/>
          </a:prstGeom>
        </p:spPr>
      </p:pic>
      <p:pic>
        <p:nvPicPr>
          <p:cNvPr id="80" name="Baked figure with larger labels"/>
          <p:cNvPicPr>
            <a:picLocks noChangeAspect="1"/>
          </p:cNvPicPr>
          <p:nvPr/>
        </p:nvPicPr>
        <p:blipFill>
          <a:blip r:embed="rId4"/>
          <a:stretch>
            <a:fillRect/>
          </a:stretch>
        </p:blipFill>
        <p:spPr>
          <a:xfrm>
            <a:off x="438150" y="1190625"/>
            <a:ext cx="4157662" cy="1785938"/>
          </a:xfrm>
          <a:prstGeom prst="rect">
            <a:avLst/>
          </a:prstGeom>
        </p:spPr>
      </p:pic>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a:t>
            </a:r>
            <a:r>
              <a:rPr lang="en-US" sz="2500" b="1" u="none" cap="none" dirty="0" err="1">
                <a:solidFill>
                  <a:srgbClr val="252529"/>
                </a:solidFill>
                <a:latin typeface="Aptos"/>
                <a:ea typeface="Aptos"/>
                <a:cs typeface="Aptos"/>
              </a:rPr>
              <a:t>oscilations</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1E839C8E-BE40-063E-7661-6AADA38550E1}"/>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CACDC46-5B03-CC7E-FA93-F4744B6FDFF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9BC131D-D2FB-D741-D331-ED81110CD9AF}"/>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39D3539-02C4-6006-7956-CD599CA0BC1B}"/>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F6C2857C-4D39-CEAB-95BF-5566109DC79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750847A4-E047-3912-D770-1425B63DA482}"/>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a:t>
            </a:r>
            <a:endParaRPr lang="en-NL" sz="1600" b="1" dirty="0">
              <a:solidFill>
                <a:srgbClr val="C81919">
                  <a:alpha val="100000"/>
                </a:srgbClr>
              </a:solidFill>
              <a:latin typeface="Aptos"/>
            </a:endParaRPr>
          </a:p>
        </p:txBody>
      </p:sp>
      <p:pic>
        <p:nvPicPr>
          <p:cNvPr id="8" name="Original TUe logo">
            <a:extLst>
              <a:ext uri="{FF2B5EF4-FFF2-40B4-BE49-F238E27FC236}">
                <a16:creationId xmlns:a16="http://schemas.microsoft.com/office/drawing/2014/main" id="{3532277B-2F23-0968-D05E-CCA3C295582D}"/>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841627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0E538-AB9A-55DE-F2AA-096FBEE5468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2A75B8DC-BBD4-3BC9-CE29-702DCEA4274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969BF0BA-A706-9BD9-951F-3C8C952FAE0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29A80ADD-A6A4-ADAF-E56B-FE0EE63645B3}"/>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6EC9DF87-E14A-2F72-BE4A-6FE32DF3255E}"/>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800" dirty="0">
                <a:solidFill>
                  <a:srgbClr val="252529"/>
                </a:solidFill>
                <a:latin typeface="Aptos"/>
              </a:rPr>
              <a:t>Convex state feedback synthesis</a:t>
            </a:r>
            <a:endParaRPr lang="en-NL" sz="1800" dirty="0">
              <a:solidFill>
                <a:srgbClr val="252529"/>
              </a:solidFill>
              <a:latin typeface="Aptos"/>
            </a:endParaRPr>
          </a:p>
        </p:txBody>
      </p:sp>
      <p:pic>
        <p:nvPicPr>
          <p:cNvPr id="8" name="Original TUe logo">
            <a:extLst>
              <a:ext uri="{FF2B5EF4-FFF2-40B4-BE49-F238E27FC236}">
                <a16:creationId xmlns:a16="http://schemas.microsoft.com/office/drawing/2014/main" id="{06976AFE-2C4D-6CF7-7B45-E5598D2FC38F}"/>
              </a:ext>
            </a:extLst>
          </p:cNvPr>
          <p:cNvPicPr>
            <a:picLocks noChangeAspect="1"/>
          </p:cNvPicPr>
          <p:nvPr/>
        </p:nvPicPr>
        <p:blipFill>
          <a:blip r:embed="rId3"/>
          <a:stretch>
            <a:fillRect/>
          </a:stretch>
        </p:blipFill>
        <p:spPr>
          <a:xfrm>
            <a:off x="8458200" y="4813300"/>
            <a:ext cx="457200" cy="254000"/>
          </a:xfrm>
          <a:prstGeom prst="rect">
            <a:avLst/>
          </a:prstGeom>
        </p:spPr>
      </p:pic>
      <p:sp>
        <p:nvSpPr>
          <p:cNvPr id="2" name="Right Brace 1">
            <a:extLst>
              <a:ext uri="{FF2B5EF4-FFF2-40B4-BE49-F238E27FC236}">
                <a16:creationId xmlns:a16="http://schemas.microsoft.com/office/drawing/2014/main" id="{68C5DC0B-E777-5046-9842-142B316C3DE3}"/>
              </a:ext>
            </a:extLst>
          </p:cNvPr>
          <p:cNvSpPr/>
          <p:nvPr/>
        </p:nvSpPr>
        <p:spPr>
          <a:xfrm>
            <a:off x="4196079" y="2468880"/>
            <a:ext cx="460587" cy="255270"/>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3" name="TextBox 2">
            <a:extLst>
              <a:ext uri="{FF2B5EF4-FFF2-40B4-BE49-F238E27FC236}">
                <a16:creationId xmlns:a16="http://schemas.microsoft.com/office/drawing/2014/main" id="{D4BB2500-71D7-F457-766E-38B03B073DEB}"/>
              </a:ext>
            </a:extLst>
          </p:cNvPr>
          <p:cNvSpPr txBox="1"/>
          <p:nvPr/>
        </p:nvSpPr>
        <p:spPr>
          <a:xfrm>
            <a:off x="4893644" y="2365682"/>
            <a:ext cx="2662908" cy="461665"/>
          </a:xfrm>
          <a:prstGeom prst="rect">
            <a:avLst/>
          </a:prstGeom>
          <a:noFill/>
        </p:spPr>
        <p:txBody>
          <a:bodyPr wrap="none" rtlCol="0">
            <a:spAutoFit/>
          </a:bodyPr>
          <a:lstStyle/>
          <a:p>
            <a:r>
              <a:rPr lang="en-US" sz="2400" b="1" dirty="0">
                <a:solidFill>
                  <a:srgbClr val="C81919"/>
                </a:solidFill>
                <a:latin typeface="Aptos"/>
              </a:rPr>
              <a:t>Main contribution</a:t>
            </a:r>
            <a:endParaRPr lang="en-NL" sz="2400" b="1" dirty="0">
              <a:solidFill>
                <a:srgbClr val="C81919"/>
              </a:solidFill>
              <a:latin typeface="Aptos"/>
            </a:endParaRPr>
          </a:p>
        </p:txBody>
      </p:sp>
    </p:spTree>
    <p:extLst>
      <p:ext uri="{BB962C8B-B14F-4D97-AF65-F5344CB8AC3E}">
        <p14:creationId xmlns:p14="http://schemas.microsoft.com/office/powerpoint/2010/main" val="4244936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81BB5-7ED6-30B1-E3E5-0BAE6397327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4180B62-B314-B389-54E2-38DB2FC761F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A468E71B-610D-BA1C-0353-7E00C28B25E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86C2F95-F51D-3379-0604-32C543ED84D0}"/>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chemeClr val="tx1"/>
                              </a:solidFill>
                              <a:latin typeface="Cambria Math" panose="02040503050406030204" pitchFamily="18" charset="0"/>
                            </a:rPr>
                            <m:t>𝑢</m:t>
                          </m:r>
                          <m:d>
                            <m:dPr>
                              <m:ctrlPr>
                                <a:rPr lang="en-US" sz="1700" b="0" i="1" smtClean="0">
                                  <a:solidFill>
                                    <a:schemeClr val="tx1"/>
                                  </a:solidFill>
                                  <a:latin typeface="Cambria Math" panose="02040503050406030204" pitchFamily="18" charset="0"/>
                                </a:rPr>
                              </m:ctrlPr>
                            </m:dPr>
                            <m:e>
                              <m:r>
                                <a:rPr lang="en-US" sz="1700" b="0" i="1" smtClean="0">
                                  <a:solidFill>
                                    <a:schemeClr val="tx1"/>
                                  </a:solidFill>
                                  <a:latin typeface="Cambria Math" panose="02040503050406030204" pitchFamily="18" charset="0"/>
                                </a:rPr>
                                <m:t>𝑡</m:t>
                              </m:r>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xmlns:m="http://schemas.openxmlformats.org/officeDocument/2006/math">
          <p:sp>
            <p:nvSpPr>
              <p:cNvPr id="46" name="TextBox 45">
                <a:extLst>
                  <a:ext uri="{FF2B5EF4-FFF2-40B4-BE49-F238E27FC236}">
                    <a16:creationId xmlns:a16="http://schemas.microsoft.com/office/drawing/2014/main" id="{986C2F95-F51D-3379-0604-32C543ED84D0}"/>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29357B7B-159A-B941-76F1-7163EEB8E7B8}"/>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71938516-7999-D17B-19D3-561F98E24727}"/>
              </a:ext>
            </a:extLst>
          </p:cNvPr>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509134054"/>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spTree>
    <p:extLst>
      <p:ext uri="{BB962C8B-B14F-4D97-AF65-F5344CB8AC3E}">
        <p14:creationId xmlns:p14="http://schemas.microsoft.com/office/powerpoint/2010/main" val="25523275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Alternative controller schematic</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33</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p:sp>
        <p:nvSpPr>
          <p:cNvPr id="6" name="TextBox 5">
            <a:extLst>
              <a:ext uri="{FF2B5EF4-FFF2-40B4-BE49-F238E27FC236}">
                <a16:creationId xmlns:a16="http://schemas.microsoft.com/office/drawing/2014/main" id="{3F3FB8F5-48C8-9627-E25B-124E4007612C}"/>
              </a:ext>
            </a:extLst>
          </p:cNvPr>
          <p:cNvSpPr txBox="1"/>
          <p:nvPr/>
        </p:nvSpPr>
        <p:spPr>
          <a:xfrm>
            <a:off x="4713851" y="1114294"/>
            <a:ext cx="518540" cy="300082"/>
          </a:xfrm>
          <a:prstGeom prst="rect">
            <a:avLst/>
          </a:prstGeom>
          <a:noFill/>
        </p:spPr>
        <p:txBody>
          <a:bodyPr wrap="none" rtlCol="0">
            <a:spAutoFit/>
          </a:bodyPr>
          <a:lstStyle/>
          <a:p>
            <a:r>
              <a:rPr lang="en-US" dirty="0"/>
              <a:t>Take</a:t>
            </a:r>
            <a:endParaRPr lang="en-NL"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AFBE2C9-EC74-9AA9-B0CC-7DA8E0A18E51}"/>
                  </a:ext>
                </a:extLst>
              </p:cNvPr>
              <p:cNvSpPr txBox="1"/>
              <p:nvPr/>
            </p:nvSpPr>
            <p:spPr>
              <a:xfrm>
                <a:off x="5037209" y="1419576"/>
                <a:ext cx="2300117" cy="463460"/>
              </a:xfrm>
              <a:prstGeom prst="rect">
                <a:avLst/>
              </a:prstGeom>
              <a:noFill/>
            </p:spPr>
            <p:txBody>
              <a:bodyPr wrap="none" lIns="0" tIns="0" rIns="0" bIns="0" rtlCol="0">
                <a:spAutoFit/>
              </a:bodyPr>
              <a:lstStyle/>
              <a:p>
                <a:pPr/>
                <a14:m>
                  <m:oMathPara xmlns:m="http://schemas.openxmlformats.org/officeDocument/2006/math">
                    <m:oMath>
                      <m:r>
                        <m:rPr>
                          <m:sty m:val="p"/>
                        </m:rPr>
                        <a:rPr lang="nl-NL" i="1" smtClean="0">
                          <a:latin typeface="Cambria Math" panose="02040503050406030204" pitchFamily="18" charset="0"/>
                        </a:rPr>
                        <m:t>Θ</m:t>
                      </m:r>
                      <m:r>
                        <a:rPr lang="nl-NL" i="1" smtClean="0">
                          <a:latin typeface="Cambria Math" panose="02040503050406030204" pitchFamily="18" charset="0"/>
                        </a:rPr>
                        <m:t>:=</m:t>
                      </m:r>
                      <m:d>
                        <m:dPr>
                          <m:begChr m:val="{"/>
                          <m:endChr m:val=""/>
                          <m:ctrlPr>
                            <a:rPr lang="nl-NL" i="1">
                              <a:latin typeface="Cambria Math" panose="02040503050406030204" pitchFamily="18" charset="0"/>
                            </a:rPr>
                          </m:ctrlPr>
                        </m:dPr>
                        <m:e>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acc>
                                      <m:accPr>
                                        <m:chr m:val="˜"/>
                                        <m:ctrlPr>
                                          <a:rPr lang="nl-NL" i="1">
                                            <a:latin typeface="Cambria Math" panose="02040503050406030204" pitchFamily="18" charset="0"/>
                                          </a:rPr>
                                        </m:ctrlPr>
                                      </m:accPr>
                                      <m:e>
                                        <m:r>
                                          <a:rPr lang="nl-NL" i="1">
                                            <a:latin typeface="Cambria Math" panose="02040503050406030204" pitchFamily="18" charset="0"/>
                                          </a:rPr>
                                          <m:t>𝑢</m:t>
                                        </m:r>
                                      </m:e>
                                    </m:acc>
                                    <m:d>
                                      <m:dPr>
                                        <m:ctrlPr>
                                          <a:rPr lang="nl-NL" i="1">
                                            <a:latin typeface="Cambria Math" panose="02040503050406030204" pitchFamily="18" charset="0"/>
                                          </a:rPr>
                                        </m:ctrlPr>
                                      </m:dPr>
                                      <m:e>
                                        <m:r>
                                          <a:rPr lang="nl-NL" i="1">
                                            <a:latin typeface="Cambria Math" panose="02040503050406030204" pitchFamily="18" charset="0"/>
                                          </a:rPr>
                                          <m:t>𝑡</m:t>
                                        </m:r>
                                      </m:e>
                                    </m:d>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r>
                                      <a:rPr lang="nl-NL" i="1">
                                        <a:latin typeface="Cambria Math" panose="02040503050406030204" pitchFamily="18" charset="0"/>
                                      </a:rPr>
                                      <m:t>𝐼</m:t>
                                    </m:r>
                                  </m:e>
                                  <m:e>
                                    <m:r>
                                      <a:rPr lang="nl-NL" i="1">
                                        <a:latin typeface="Cambria Math" panose="02040503050406030204" pitchFamily="18" charset="0"/>
                                      </a:rPr>
                                      <m:t>0</m:t>
                                    </m:r>
                                  </m:e>
                                </m:mr>
                                <m:mr>
                                  <m:e>
                                    <m:r>
                                      <a:rPr lang="nl-NL" i="1">
                                        <a:latin typeface="Cambria Math" panose="02040503050406030204" pitchFamily="18" charset="0"/>
                                      </a:rPr>
                                      <m:t>−</m:t>
                                    </m:r>
                                    <m:r>
                                      <a:rPr lang="nl-NL" i="1">
                                        <a:latin typeface="Cambria Math" panose="02040503050406030204" pitchFamily="18" charset="0"/>
                                      </a:rPr>
                                      <m:t>𝐾</m:t>
                                    </m:r>
                                  </m:e>
                                  <m:e>
                                    <m:r>
                                      <a:rPr lang="nl-NL" i="1">
                                        <a:latin typeface="Cambria Math" panose="02040503050406030204" pitchFamily="18" charset="0"/>
                                      </a:rPr>
                                      <m:t>𝐼</m:t>
                                    </m:r>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e>
                      </m:d>
                    </m:oMath>
                  </m:oMathPara>
                </a14:m>
                <a:endParaRPr lang="en-NL" dirty="0"/>
              </a:p>
            </p:txBody>
          </p:sp>
        </mc:Choice>
        <mc:Fallback xmlns="">
          <p:sp>
            <p:nvSpPr>
              <p:cNvPr id="9" name="TextBox 8">
                <a:extLst>
                  <a:ext uri="{FF2B5EF4-FFF2-40B4-BE49-F238E27FC236}">
                    <a16:creationId xmlns:a16="http://schemas.microsoft.com/office/drawing/2014/main" id="{7AFBE2C9-EC74-9AA9-B0CC-7DA8E0A18E51}"/>
                  </a:ext>
                </a:extLst>
              </p:cNvPr>
              <p:cNvSpPr txBox="1">
                <a:spLocks noRot="1" noChangeAspect="1" noMove="1" noResize="1" noEditPoints="1" noAdjustHandles="1" noChangeArrowheads="1" noChangeShapeType="1" noTextEdit="1"/>
              </p:cNvSpPr>
              <p:nvPr/>
            </p:nvSpPr>
            <p:spPr>
              <a:xfrm>
                <a:off x="5037209" y="1419576"/>
                <a:ext cx="2300117" cy="463460"/>
              </a:xfrm>
              <a:prstGeom prst="rect">
                <a:avLst/>
              </a:prstGeom>
              <a:blipFill>
                <a:blip r:embed="rId15"/>
                <a:stretch>
                  <a:fillRect l="-20106" t="-225000" b="-32105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511D05C-F7D5-70D2-8D8D-46BF3DF46CAA}"/>
                  </a:ext>
                </a:extLst>
              </p:cNvPr>
              <p:cNvSpPr txBox="1"/>
              <p:nvPr/>
            </p:nvSpPr>
            <p:spPr>
              <a:xfrm>
                <a:off x="4957379" y="3781312"/>
                <a:ext cx="2518318" cy="463460"/>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𝐺</m:t>
                                </m:r>
                              </m:e>
                            </m:mr>
                            <m:mr>
                              <m:e>
                                <m:r>
                                  <a:rPr lang="en-US" b="0" i="1" smtClean="0">
                                    <a:latin typeface="Cambria Math" panose="02040503050406030204" pitchFamily="18" charset="0"/>
                                  </a:rPr>
                                  <m:t>𝐼</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m:rPr>
                                          <m:sty m:val="p"/>
                                        </m:rPr>
                                        <a:rPr lang="en-US" b="0" i="1" smtClean="0">
                                          <a:latin typeface="Cambria Math" panose="02040503050406030204" pitchFamily="18" charset="0"/>
                                        </a:rPr>
                                        <m:t>u</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eqArr>
                        </m:e>
                      </m:d>
                    </m:oMath>
                  </m:oMathPara>
                </a14:m>
                <a:endParaRPr lang="en-NL" dirty="0"/>
              </a:p>
            </p:txBody>
          </p:sp>
        </mc:Choice>
        <mc:Fallback xmlns="">
          <p:sp>
            <p:nvSpPr>
              <p:cNvPr id="10" name="TextBox 9">
                <a:extLst>
                  <a:ext uri="{FF2B5EF4-FFF2-40B4-BE49-F238E27FC236}">
                    <a16:creationId xmlns:a16="http://schemas.microsoft.com/office/drawing/2014/main" id="{1511D05C-F7D5-70D2-8D8D-46BF3DF46CAA}"/>
                  </a:ext>
                </a:extLst>
              </p:cNvPr>
              <p:cNvSpPr txBox="1">
                <a:spLocks noRot="1" noChangeAspect="1" noMove="1" noResize="1" noEditPoints="1" noAdjustHandles="1" noChangeArrowheads="1" noChangeShapeType="1" noTextEdit="1"/>
              </p:cNvSpPr>
              <p:nvPr/>
            </p:nvSpPr>
            <p:spPr>
              <a:xfrm>
                <a:off x="4957379" y="3781312"/>
                <a:ext cx="2518318" cy="463460"/>
              </a:xfrm>
              <a:prstGeom prst="rect">
                <a:avLst/>
              </a:prstGeom>
              <a:blipFill>
                <a:blip r:embed="rId16"/>
                <a:stretch>
                  <a:fillRect l="-6538" t="-223684" b="-322368"/>
                </a:stretch>
              </a:blipFill>
            </p:spPr>
            <p:txBody>
              <a:bodyPr/>
              <a:lstStyle/>
              <a:p>
                <a:r>
                  <a:rPr lang="en-NL">
                    <a:noFill/>
                  </a:rPr>
                  <a:t> </a:t>
                </a:r>
              </a:p>
            </p:txBody>
          </p:sp>
        </mc:Fallback>
      </mc:AlternateContent>
      <p:sp>
        <p:nvSpPr>
          <p:cNvPr id="11" name="TextBox 10">
            <a:extLst>
              <a:ext uri="{FF2B5EF4-FFF2-40B4-BE49-F238E27FC236}">
                <a16:creationId xmlns:a16="http://schemas.microsoft.com/office/drawing/2014/main" id="{FB3BFAE1-3A84-8DBA-21AA-DBDE3EA902FD}"/>
              </a:ext>
            </a:extLst>
          </p:cNvPr>
          <p:cNvSpPr txBox="1"/>
          <p:nvPr/>
        </p:nvSpPr>
        <p:spPr>
          <a:xfrm>
            <a:off x="4788390" y="2226595"/>
            <a:ext cx="543739" cy="300082"/>
          </a:xfrm>
          <a:prstGeom prst="rect">
            <a:avLst/>
          </a:prstGeom>
          <a:noFill/>
        </p:spPr>
        <p:txBody>
          <a:bodyPr wrap="none" rtlCol="0">
            <a:spAutoFit/>
          </a:bodyPr>
          <a:lstStyle/>
          <a:p>
            <a:r>
              <a:rPr lang="en-US" dirty="0"/>
              <a:t>Thus</a:t>
            </a:r>
            <a:endParaRPr lang="en-NL" dirty="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D548753-0DD9-4CBE-E04E-5363A7C579C8}"/>
                  </a:ext>
                </a:extLst>
              </p:cNvPr>
              <p:cNvSpPr txBox="1"/>
              <p:nvPr/>
            </p:nvSpPr>
            <p:spPr>
              <a:xfrm>
                <a:off x="5232391" y="2568179"/>
                <a:ext cx="1617622" cy="300082"/>
              </a:xfrm>
              <a:prstGeom prst="rect">
                <a:avLst/>
              </a:prstGeom>
              <a:noFill/>
            </p:spPr>
            <p:txBody>
              <a:bodyPr wrap="none" rtlCol="0">
                <a:spAutoFit/>
              </a:bodyPr>
              <a:lstStyle/>
              <a:p>
                <a:pPr/>
                <a14:m>
                  <m:oMathPara xmlns:m="http://schemas.openxmlformats.org/officeDocument/2006/math">
                    <m:o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2" name="TextBox 11">
                <a:extLst>
                  <a:ext uri="{FF2B5EF4-FFF2-40B4-BE49-F238E27FC236}">
                    <a16:creationId xmlns:a16="http://schemas.microsoft.com/office/drawing/2014/main" id="{FD548753-0DD9-4CBE-E04E-5363A7C579C8}"/>
                  </a:ext>
                </a:extLst>
              </p:cNvPr>
              <p:cNvSpPr txBox="1">
                <a:spLocks noRot="1" noChangeAspect="1" noMove="1" noResize="1" noEditPoints="1" noAdjustHandles="1" noChangeArrowheads="1" noChangeShapeType="1" noTextEdit="1"/>
              </p:cNvSpPr>
              <p:nvPr/>
            </p:nvSpPr>
            <p:spPr>
              <a:xfrm>
                <a:off x="5232391" y="2568179"/>
                <a:ext cx="1617622" cy="300082"/>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3ECAD35-3947-0941-368E-452968D6BF7E}"/>
                  </a:ext>
                </a:extLst>
              </p:cNvPr>
              <p:cNvSpPr txBox="1"/>
              <p:nvPr/>
            </p:nvSpPr>
            <p:spPr>
              <a:xfrm>
                <a:off x="5232391" y="2930193"/>
                <a:ext cx="2050177" cy="300082"/>
              </a:xfrm>
              <a:prstGeom prst="rect">
                <a:avLst/>
              </a:prstGeom>
              <a:noFill/>
            </p:spPr>
            <p:txBody>
              <a:bodyPr wrap="none" rtlCol="0">
                <a:spAutoFit/>
              </a:bodyPr>
              <a:lstStyle/>
              <a:p>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a:t>
                </a:r>
                <a:endParaRPr lang="en-NL" dirty="0"/>
              </a:p>
            </p:txBody>
          </p:sp>
        </mc:Choice>
        <mc:Fallback xmlns="">
          <p:sp>
            <p:nvSpPr>
              <p:cNvPr id="13" name="TextBox 12">
                <a:extLst>
                  <a:ext uri="{FF2B5EF4-FFF2-40B4-BE49-F238E27FC236}">
                    <a16:creationId xmlns:a16="http://schemas.microsoft.com/office/drawing/2014/main" id="{63ECAD35-3947-0941-368E-452968D6BF7E}"/>
                  </a:ext>
                </a:extLst>
              </p:cNvPr>
              <p:cNvSpPr txBox="1">
                <a:spLocks noRot="1" noChangeAspect="1" noMove="1" noResize="1" noEditPoints="1" noAdjustHandles="1" noChangeArrowheads="1" noChangeShapeType="1" noTextEdit="1"/>
              </p:cNvSpPr>
              <p:nvPr/>
            </p:nvSpPr>
            <p:spPr>
              <a:xfrm>
                <a:off x="5232391" y="2930193"/>
                <a:ext cx="2050177" cy="300082"/>
              </a:xfrm>
              <a:prstGeom prst="rect">
                <a:avLst/>
              </a:prstGeom>
              <a:blipFill>
                <a:blip r:embed="rId18"/>
                <a:stretch>
                  <a:fillRect/>
                </a:stretch>
              </a:blipFill>
            </p:spPr>
            <p:txBody>
              <a:bodyPr/>
              <a:lstStyle/>
              <a:p>
                <a:r>
                  <a:rPr lang="en-NL">
                    <a:noFill/>
                  </a:rPr>
                  <a:t> </a:t>
                </a:r>
              </a:p>
            </p:txBody>
          </p:sp>
        </mc:Fallback>
      </mc:AlternateContent>
      <p:sp>
        <p:nvSpPr>
          <p:cNvPr id="16" name="TextBox 15">
            <a:extLst>
              <a:ext uri="{FF2B5EF4-FFF2-40B4-BE49-F238E27FC236}">
                <a16:creationId xmlns:a16="http://schemas.microsoft.com/office/drawing/2014/main" id="{31D74EF9-1980-A6AF-3913-28F8D792D083}"/>
              </a:ext>
            </a:extLst>
          </p:cNvPr>
          <p:cNvSpPr txBox="1"/>
          <p:nvPr/>
        </p:nvSpPr>
        <p:spPr>
          <a:xfrm>
            <a:off x="4788897" y="3322083"/>
            <a:ext cx="799193" cy="300082"/>
          </a:xfrm>
          <a:prstGeom prst="rect">
            <a:avLst/>
          </a:prstGeom>
          <a:noFill/>
        </p:spPr>
        <p:txBody>
          <a:bodyPr wrap="none" rtlCol="0">
            <a:spAutoFit/>
          </a:bodyPr>
          <a:lstStyle/>
          <a:p>
            <a:r>
              <a:rPr lang="en-US" dirty="0"/>
              <a:t>Filling in</a:t>
            </a:r>
            <a:endParaRPr lang="en-NL" dirty="0"/>
          </a:p>
        </p:txBody>
      </p:sp>
    </p:spTree>
    <p:extLst>
      <p:ext uri="{BB962C8B-B14F-4D97-AF65-F5344CB8AC3E}">
        <p14:creationId xmlns:p14="http://schemas.microsoft.com/office/powerpoint/2010/main" val="33793407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34</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6" name="TextBox 5">
            <a:extLst>
              <a:ext uri="{FF2B5EF4-FFF2-40B4-BE49-F238E27FC236}">
                <a16:creationId xmlns:a16="http://schemas.microsoft.com/office/drawing/2014/main" id="{17155050-E1BE-85FC-E86C-24500A2BAB8B}"/>
              </a:ext>
            </a:extLst>
          </p:cNvPr>
          <p:cNvSpPr txBox="1"/>
          <p:nvPr/>
        </p:nvSpPr>
        <p:spPr>
          <a:xfrm>
            <a:off x="4713851" y="1114294"/>
            <a:ext cx="518540" cy="300082"/>
          </a:xfrm>
          <a:prstGeom prst="rect">
            <a:avLst/>
          </a:prstGeom>
          <a:noFill/>
        </p:spPr>
        <p:txBody>
          <a:bodyPr wrap="none" rtlCol="0">
            <a:spAutoFit/>
          </a:bodyPr>
          <a:lstStyle/>
          <a:p>
            <a:r>
              <a:rPr lang="en-US" dirty="0"/>
              <a:t>Take</a:t>
            </a:r>
            <a:endParaRPr lang="en-NL"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71097D2-BAEF-EEED-6FD9-CD3AE2E967E6}"/>
                  </a:ext>
                </a:extLst>
              </p:cNvPr>
              <p:cNvSpPr txBox="1"/>
              <p:nvPr/>
            </p:nvSpPr>
            <p:spPr>
              <a:xfrm>
                <a:off x="5332129" y="1462174"/>
                <a:ext cx="2473689" cy="481222"/>
              </a:xfrm>
              <a:prstGeom prst="rect">
                <a:avLst/>
              </a:prstGeom>
              <a:noFill/>
            </p:spPr>
            <p:txBody>
              <a:bodyPr wrap="none" lIns="0" tIns="0" rIns="0" bIns="0" rtlCol="0">
                <a:spAutoFit/>
              </a:bodyPr>
              <a:lstStyle/>
              <a:p>
                <a:pPr/>
                <a14:m>
                  <m:oMathPara xmlns:m="http://schemas.openxmlformats.org/officeDocument/2006/math">
                    <m:oMath>
                      <m:sSup>
                        <m:sSupPr>
                          <m:ctrlPr>
                            <a:rPr lang="nl-NL" i="1" smtClean="0">
                              <a:latin typeface="Cambria Math" panose="02040503050406030204" pitchFamily="18" charset="0"/>
                            </a:rPr>
                          </m:ctrlPr>
                        </m:sSupPr>
                        <m:e>
                          <m:r>
                            <m:rPr>
                              <m:sty m:val="p"/>
                            </m:rPr>
                            <a:rPr lang="nl-NL" i="1" smtClean="0">
                              <a:latin typeface="Cambria Math" panose="02040503050406030204" pitchFamily="18" charset="0"/>
                            </a:rPr>
                            <m:t>Θ</m:t>
                          </m:r>
                        </m:e>
                        <m:sup>
                          <m:r>
                            <a:rPr lang="nl-NL" i="1" smtClean="0">
                              <a:latin typeface="Cambria Math" panose="02040503050406030204" pitchFamily="18" charset="0"/>
                            </a:rPr>
                            <m:t>⊤</m:t>
                          </m:r>
                        </m:sup>
                      </m:sSup>
                      <m:r>
                        <a:rPr lang="nl-NL" i="1" smtClean="0">
                          <a:latin typeface="Cambria Math" panose="02040503050406030204" pitchFamily="18" charset="0"/>
                        </a:rPr>
                        <m:t>:=</m:t>
                      </m:r>
                      <m:d>
                        <m:dPr>
                          <m:begChr m:val="{"/>
                          <m:endChr m:val=""/>
                          <m:ctrlPr>
                            <a:rPr lang="nl-NL" i="1" smtClean="0">
                              <a:latin typeface="Cambria Math" panose="02040503050406030204" pitchFamily="18" charset="0"/>
                            </a:rPr>
                          </m:ctrlPr>
                        </m:dPr>
                        <m:e>
                          <m:d>
                            <m:dPr>
                              <m:begChr m:val="["/>
                              <m:endChr m:val="]"/>
                              <m:ctrlPr>
                                <a:rPr lang="nl-NL" i="1" smtClean="0">
                                  <a:latin typeface="Cambria Math" panose="02040503050406030204" pitchFamily="18" charset="0"/>
                                </a:rPr>
                              </m:ctrlPr>
                            </m:dPr>
                            <m:e>
                              <m:m>
                                <m:mPr>
                                  <m:mcs>
                                    <m:mc>
                                      <m:mcPr>
                                        <m:count m:val="1"/>
                                        <m:mcJc m:val="center"/>
                                      </m:mcPr>
                                    </m:mc>
                                  </m:mcs>
                                  <m:ctrlPr>
                                    <a:rPr lang="nl-NL" i="1" smtClean="0">
                                      <a:latin typeface="Cambria Math" panose="02040503050406030204" pitchFamily="18" charset="0"/>
                                    </a:rPr>
                                  </m:ctrlPr>
                                </m:mPr>
                                <m:mr>
                                  <m:e>
                                    <m:bar>
                                      <m:barPr>
                                        <m:pos m:val="bot"/>
                                        <m:ctrlPr>
                                          <a:rPr lang="nl-NL" i="1" smtClean="0">
                                            <a:latin typeface="Cambria Math" panose="02040503050406030204" pitchFamily="18" charset="0"/>
                                          </a:rPr>
                                        </m:ctrlPr>
                                      </m:barPr>
                                      <m:e>
                                        <m:acc>
                                          <m:accPr>
                                            <m:chr m:val="˜"/>
                                            <m:ctrlPr>
                                              <a:rPr lang="nl-NL" i="1" smtClean="0">
                                                <a:latin typeface="Cambria Math" panose="02040503050406030204" pitchFamily="18" charset="0"/>
                                              </a:rPr>
                                            </m:ctrlPr>
                                          </m:accPr>
                                          <m:e>
                                            <m:r>
                                              <a:rPr lang="nl-NL" i="1" smtClean="0">
                                                <a:latin typeface="Cambria Math" panose="02040503050406030204" pitchFamily="18" charset="0"/>
                                              </a:rPr>
                                              <m:t>𝑦</m:t>
                                            </m:r>
                                          </m:e>
                                        </m:acc>
                                      </m:e>
                                    </m:bar>
                                    <m:d>
                                      <m:dPr>
                                        <m:ctrlPr>
                                          <a:rPr lang="nl-NL" i="1" smtClean="0">
                                            <a:latin typeface="Cambria Math" panose="02040503050406030204" pitchFamily="18" charset="0"/>
                                          </a:rPr>
                                        </m:ctrlPr>
                                      </m:dPr>
                                      <m:e>
                                        <m:r>
                                          <a:rPr lang="nl-NL" i="1" smtClean="0">
                                            <a:latin typeface="Cambria Math" panose="02040503050406030204" pitchFamily="18" charset="0"/>
                                          </a:rPr>
                                          <m:t>𝑡</m:t>
                                        </m:r>
                                      </m:e>
                                    </m:d>
                                  </m:e>
                                </m:mr>
                                <m:mr>
                                  <m:e>
                                    <m:bar>
                                      <m:barPr>
                                        <m:pos m:val="bot"/>
                                        <m:ctrlPr>
                                          <a:rPr lang="nl-NL" i="1" smtClean="0">
                                            <a:latin typeface="Cambria Math" panose="02040503050406030204" pitchFamily="18" charset="0"/>
                                          </a:rPr>
                                        </m:ctrlPr>
                                      </m:barPr>
                                      <m:e>
                                        <m:acc>
                                          <m:accPr>
                                            <m:chr m:val="˜"/>
                                            <m:ctrlPr>
                                              <a:rPr lang="nl-NL" i="1" smtClean="0">
                                                <a:latin typeface="Cambria Math" panose="02040503050406030204" pitchFamily="18" charset="0"/>
                                              </a:rPr>
                                            </m:ctrlPr>
                                          </m:accPr>
                                          <m:e>
                                            <m:r>
                                              <a:rPr lang="nl-NL" i="1" smtClean="0">
                                                <a:latin typeface="Cambria Math" panose="02040503050406030204" pitchFamily="18" charset="0"/>
                                              </a:rPr>
                                              <m:t>𝑢</m:t>
                                            </m:r>
                                          </m:e>
                                        </m:acc>
                                      </m:e>
                                    </m:bar>
                                    <m:d>
                                      <m:dPr>
                                        <m:ctrlPr>
                                          <a:rPr lang="nl-NL" i="1" smtClean="0">
                                            <a:latin typeface="Cambria Math" panose="02040503050406030204" pitchFamily="18" charset="0"/>
                                          </a:rPr>
                                        </m:ctrlPr>
                                      </m:dPr>
                                      <m:e>
                                        <m:r>
                                          <a:rPr lang="nl-NL" i="1" smtClean="0">
                                            <a:latin typeface="Cambria Math" panose="02040503050406030204" pitchFamily="18" charset="0"/>
                                          </a:rPr>
                                          <m:t>𝑡</m:t>
                                        </m:r>
                                      </m:e>
                                    </m:d>
                                  </m:e>
                                </m:mr>
                              </m:m>
                            </m:e>
                          </m:d>
                          <m:r>
                            <a:rPr lang="nl-NL" i="1" smtClean="0">
                              <a:latin typeface="Cambria Math" panose="02040503050406030204" pitchFamily="18" charset="0"/>
                            </a:rPr>
                            <m:t>=</m:t>
                          </m:r>
                          <m:d>
                            <m:dPr>
                              <m:begChr m:val="["/>
                              <m:endChr m:val="]"/>
                              <m:ctrlPr>
                                <a:rPr lang="nl-NL" i="1" smtClean="0">
                                  <a:latin typeface="Cambria Math" panose="02040503050406030204" pitchFamily="18" charset="0"/>
                                </a:rPr>
                              </m:ctrlPr>
                            </m:dPr>
                            <m:e>
                              <m:m>
                                <m:mPr>
                                  <m:mcs>
                                    <m:mc>
                                      <m:mcPr>
                                        <m:count m:val="2"/>
                                        <m:mcJc m:val="center"/>
                                      </m:mcPr>
                                    </m:mc>
                                  </m:mcs>
                                  <m:ctrlPr>
                                    <a:rPr lang="nl-NL" i="1" smtClean="0">
                                      <a:latin typeface="Cambria Math" panose="02040503050406030204" pitchFamily="18" charset="0"/>
                                    </a:rPr>
                                  </m:ctrlPr>
                                </m:mPr>
                                <m:mr>
                                  <m:e>
                                    <m:r>
                                      <a:rPr lang="nl-NL" i="1" smtClean="0">
                                        <a:latin typeface="Cambria Math" panose="02040503050406030204" pitchFamily="18" charset="0"/>
                                      </a:rPr>
                                      <m:t>𝐼</m:t>
                                    </m:r>
                                  </m:e>
                                  <m:e>
                                    <m:r>
                                      <a:rPr lang="nl-NL" i="1" smtClean="0">
                                        <a:latin typeface="Cambria Math" panose="02040503050406030204" pitchFamily="18" charset="0"/>
                                      </a:rPr>
                                      <m:t>−</m:t>
                                    </m:r>
                                    <m:sSup>
                                      <m:sSupPr>
                                        <m:ctrlPr>
                                          <a:rPr lang="nl-NL" i="1" smtClean="0">
                                            <a:latin typeface="Cambria Math" panose="02040503050406030204" pitchFamily="18" charset="0"/>
                                          </a:rPr>
                                        </m:ctrlPr>
                                      </m:sSupPr>
                                      <m:e>
                                        <m:r>
                                          <a:rPr lang="nl-NL" i="1" smtClean="0">
                                            <a:latin typeface="Cambria Math" panose="02040503050406030204" pitchFamily="18" charset="0"/>
                                          </a:rPr>
                                          <m:t>𝐾</m:t>
                                        </m:r>
                                      </m:e>
                                      <m:sup>
                                        <m:r>
                                          <a:rPr lang="nl-NL" i="1" smtClean="0">
                                            <a:latin typeface="Cambria Math" panose="02040503050406030204" pitchFamily="18" charset="0"/>
                                          </a:rPr>
                                          <m:t>∗</m:t>
                                        </m:r>
                                      </m:sup>
                                    </m:sSup>
                                  </m:e>
                                </m:mr>
                                <m:mr>
                                  <m:e>
                                    <m:r>
                                      <a:rPr lang="nl-NL" i="1" smtClean="0">
                                        <a:latin typeface="Cambria Math" panose="02040503050406030204" pitchFamily="18" charset="0"/>
                                      </a:rPr>
                                      <m:t>0</m:t>
                                    </m:r>
                                  </m:e>
                                  <m:e>
                                    <m:r>
                                      <a:rPr lang="nl-NL" i="1" smtClean="0">
                                        <a:latin typeface="Cambria Math" panose="02040503050406030204" pitchFamily="18" charset="0"/>
                                      </a:rPr>
                                      <m:t>𝐼</m:t>
                                    </m:r>
                                  </m:e>
                                </m:mr>
                              </m:m>
                            </m:e>
                          </m:d>
                          <m:d>
                            <m:dPr>
                              <m:begChr m:val="["/>
                              <m:endChr m:val="]"/>
                              <m:ctrlPr>
                                <a:rPr lang="nl-NL" i="1" smtClean="0">
                                  <a:latin typeface="Cambria Math" panose="02040503050406030204" pitchFamily="18" charset="0"/>
                                </a:rPr>
                              </m:ctrlPr>
                            </m:dPr>
                            <m:e>
                              <m:m>
                                <m:mPr>
                                  <m:mcs>
                                    <m:mc>
                                      <m:mcPr>
                                        <m:count m:val="1"/>
                                        <m:mcJc m:val="center"/>
                                      </m:mcPr>
                                    </m:mc>
                                  </m:mcs>
                                  <m:ctrlPr>
                                    <a:rPr lang="nl-NL" i="1" smtClean="0">
                                      <a:latin typeface="Cambria Math" panose="02040503050406030204" pitchFamily="18" charset="0"/>
                                    </a:rPr>
                                  </m:ctrlPr>
                                </m:mPr>
                                <m:mr>
                                  <m:e>
                                    <m:bar>
                                      <m:barPr>
                                        <m:pos m:val="bot"/>
                                        <m:ctrlPr>
                                          <a:rPr lang="nl-NL" i="1" smtClean="0">
                                            <a:latin typeface="Cambria Math" panose="02040503050406030204" pitchFamily="18" charset="0"/>
                                          </a:rPr>
                                        </m:ctrlPr>
                                      </m:barPr>
                                      <m:e>
                                        <m:r>
                                          <a:rPr lang="nl-NL" i="1" smtClean="0">
                                            <a:latin typeface="Cambria Math" panose="02040503050406030204" pitchFamily="18" charset="0"/>
                                          </a:rPr>
                                          <m:t>𝑦</m:t>
                                        </m:r>
                                      </m:e>
                                    </m:bar>
                                    <m:d>
                                      <m:dPr>
                                        <m:ctrlPr>
                                          <a:rPr lang="nl-NL" i="1" smtClean="0">
                                            <a:latin typeface="Cambria Math" panose="02040503050406030204" pitchFamily="18" charset="0"/>
                                          </a:rPr>
                                        </m:ctrlPr>
                                      </m:dPr>
                                      <m:e>
                                        <m:r>
                                          <a:rPr lang="nl-NL" i="1" smtClean="0">
                                            <a:latin typeface="Cambria Math" panose="02040503050406030204" pitchFamily="18" charset="0"/>
                                          </a:rPr>
                                          <m:t>𝑡</m:t>
                                        </m:r>
                                      </m:e>
                                    </m:d>
                                  </m:e>
                                </m:mr>
                                <m:mr>
                                  <m:e>
                                    <m:bar>
                                      <m:barPr>
                                        <m:pos m:val="bot"/>
                                        <m:ctrlPr>
                                          <a:rPr lang="nl-NL" i="1" smtClean="0">
                                            <a:latin typeface="Cambria Math" panose="02040503050406030204" pitchFamily="18" charset="0"/>
                                          </a:rPr>
                                        </m:ctrlPr>
                                      </m:barPr>
                                      <m:e>
                                        <m:r>
                                          <a:rPr lang="nl-NL" i="1" smtClean="0">
                                            <a:latin typeface="Cambria Math" panose="02040503050406030204" pitchFamily="18" charset="0"/>
                                          </a:rPr>
                                          <m:t>𝑢</m:t>
                                        </m:r>
                                      </m:e>
                                    </m:bar>
                                    <m:d>
                                      <m:dPr>
                                        <m:ctrlPr>
                                          <a:rPr lang="nl-NL" i="1" smtClean="0">
                                            <a:latin typeface="Cambria Math" panose="02040503050406030204" pitchFamily="18" charset="0"/>
                                          </a:rPr>
                                        </m:ctrlPr>
                                      </m:dPr>
                                      <m:e>
                                        <m:r>
                                          <a:rPr lang="nl-NL" i="1" smtClean="0">
                                            <a:latin typeface="Cambria Math" panose="02040503050406030204" pitchFamily="18" charset="0"/>
                                          </a:rPr>
                                          <m:t>𝑡</m:t>
                                        </m:r>
                                      </m:e>
                                    </m:d>
                                  </m:e>
                                </m:mr>
                              </m:m>
                            </m:e>
                          </m:d>
                        </m:e>
                      </m:d>
                    </m:oMath>
                  </m:oMathPara>
                </a14:m>
                <a:endParaRPr lang="en-NL" dirty="0"/>
              </a:p>
            </p:txBody>
          </p:sp>
        </mc:Choice>
        <mc:Fallback xmlns="">
          <p:sp>
            <p:nvSpPr>
              <p:cNvPr id="9" name="TextBox 8">
                <a:extLst>
                  <a:ext uri="{FF2B5EF4-FFF2-40B4-BE49-F238E27FC236}">
                    <a16:creationId xmlns:a16="http://schemas.microsoft.com/office/drawing/2014/main" id="{B71097D2-BAEF-EEED-6FD9-CD3AE2E967E6}"/>
                  </a:ext>
                </a:extLst>
              </p:cNvPr>
              <p:cNvSpPr txBox="1">
                <a:spLocks noRot="1" noChangeAspect="1" noMove="1" noResize="1" noEditPoints="1" noAdjustHandles="1" noChangeArrowheads="1" noChangeShapeType="1" noTextEdit="1"/>
              </p:cNvSpPr>
              <p:nvPr/>
            </p:nvSpPr>
            <p:spPr>
              <a:xfrm>
                <a:off x="5332129" y="1462174"/>
                <a:ext cx="2473689" cy="481222"/>
              </a:xfrm>
              <a:prstGeom prst="rect">
                <a:avLst/>
              </a:prstGeom>
              <a:blipFill>
                <a:blip r:embed="rId9"/>
                <a:stretch>
                  <a:fillRect l="-15062" t="-215190" b="-3063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4DB0AD9-84C9-B0A0-DED8-0EA44A1BB889}"/>
                  </a:ext>
                </a:extLst>
              </p:cNvPr>
              <p:cNvSpPr txBox="1"/>
              <p:nvPr/>
            </p:nvSpPr>
            <p:spPr>
              <a:xfrm>
                <a:off x="4957379" y="3781312"/>
                <a:ext cx="2630657" cy="463460"/>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𝐺</m:t>
                                </m:r>
                              </m:e>
                            </m:mr>
                            <m:mr>
                              <m:e>
                                <m:r>
                                  <a:rPr lang="en-US" b="0" i="1" smtClean="0">
                                    <a:latin typeface="Cambria Math" panose="02040503050406030204" pitchFamily="18" charset="0"/>
                                  </a:rPr>
                                  <m:t>𝐼</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r>
                                <a:rPr lang="en-US" b="0" i="1" smtClean="0">
                                  <a:latin typeface="Cambria Math" panose="02040503050406030204" pitchFamily="18" charset="0"/>
                                </a:rPr>
                                <m:t>𝒯</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𝒜</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ℬ</m:t>
                                      </m:r>
                                    </m:e>
                                    <m:sub>
                                      <m:r>
                                        <m:rPr>
                                          <m:sty m:val="p"/>
                                        </m:rPr>
                                        <a:rPr lang="en-US" b="0" i="1" smtClean="0">
                                          <a:latin typeface="Cambria Math" panose="02040503050406030204" pitchFamily="18" charset="0"/>
                                        </a:rPr>
                                        <m:t>u</m:t>
                                      </m:r>
                                    </m:sub>
                                  </m:sSub>
                                  <m:r>
                                    <a:rPr lang="en-US" b="0" i="1" smtClean="0">
                                      <a:latin typeface="Cambria Math" panose="02040503050406030204" pitchFamily="18" charset="0"/>
                                    </a:rPr>
                                    <m:t>𝒦</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eqArr>
                        </m:e>
                      </m:d>
                    </m:oMath>
                  </m:oMathPara>
                </a14:m>
                <a:endParaRPr lang="en-NL" dirty="0"/>
              </a:p>
            </p:txBody>
          </p:sp>
        </mc:Choice>
        <mc:Fallback xmlns="">
          <p:sp>
            <p:nvSpPr>
              <p:cNvPr id="10" name="TextBox 9">
                <a:extLst>
                  <a:ext uri="{FF2B5EF4-FFF2-40B4-BE49-F238E27FC236}">
                    <a16:creationId xmlns:a16="http://schemas.microsoft.com/office/drawing/2014/main" id="{84DB0AD9-84C9-B0A0-DED8-0EA44A1BB889}"/>
                  </a:ext>
                </a:extLst>
              </p:cNvPr>
              <p:cNvSpPr txBox="1">
                <a:spLocks noRot="1" noChangeAspect="1" noMove="1" noResize="1" noEditPoints="1" noAdjustHandles="1" noChangeArrowheads="1" noChangeShapeType="1" noTextEdit="1"/>
              </p:cNvSpPr>
              <p:nvPr/>
            </p:nvSpPr>
            <p:spPr>
              <a:xfrm>
                <a:off x="4957379" y="3781312"/>
                <a:ext cx="2630657" cy="463460"/>
              </a:xfrm>
              <a:prstGeom prst="rect">
                <a:avLst/>
              </a:prstGeom>
              <a:blipFill>
                <a:blip r:embed="rId10"/>
                <a:stretch>
                  <a:fillRect l="-6250" t="-223684" b="-322368"/>
                </a:stretch>
              </a:blipFill>
            </p:spPr>
            <p:txBody>
              <a:bodyPr/>
              <a:lstStyle/>
              <a:p>
                <a:r>
                  <a:rPr lang="en-NL">
                    <a:noFill/>
                  </a:rPr>
                  <a:t> </a:t>
                </a:r>
              </a:p>
            </p:txBody>
          </p:sp>
        </mc:Fallback>
      </mc:AlternateContent>
      <p:sp>
        <p:nvSpPr>
          <p:cNvPr id="11" name="TextBox 10">
            <a:extLst>
              <a:ext uri="{FF2B5EF4-FFF2-40B4-BE49-F238E27FC236}">
                <a16:creationId xmlns:a16="http://schemas.microsoft.com/office/drawing/2014/main" id="{693A5CCD-4A42-8817-5C0B-46C3EA64339C}"/>
              </a:ext>
            </a:extLst>
          </p:cNvPr>
          <p:cNvSpPr txBox="1"/>
          <p:nvPr/>
        </p:nvSpPr>
        <p:spPr>
          <a:xfrm>
            <a:off x="4788390" y="2226595"/>
            <a:ext cx="543739" cy="300082"/>
          </a:xfrm>
          <a:prstGeom prst="rect">
            <a:avLst/>
          </a:prstGeom>
          <a:noFill/>
        </p:spPr>
        <p:txBody>
          <a:bodyPr wrap="none" rtlCol="0">
            <a:spAutoFit/>
          </a:bodyPr>
          <a:lstStyle/>
          <a:p>
            <a:r>
              <a:rPr lang="en-US" dirty="0"/>
              <a:t>Thus</a:t>
            </a:r>
            <a:endParaRPr lang="en-NL" dirty="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CFAB973-46C2-0B61-3A4C-532C3561FD1E}"/>
                  </a:ext>
                </a:extLst>
              </p:cNvPr>
              <p:cNvSpPr txBox="1"/>
              <p:nvPr/>
            </p:nvSpPr>
            <p:spPr>
              <a:xfrm>
                <a:off x="5232391" y="2568179"/>
                <a:ext cx="3054041" cy="345287"/>
              </a:xfrm>
              <a:prstGeom prst="rect">
                <a:avLst/>
              </a:prstGeom>
              <a:noFill/>
            </p:spPr>
            <p:txBody>
              <a:bodyPr wrap="none"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𝑦</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𝑢</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r>
                        <a:rPr lang="en-US" b="0" i="1" smtClean="0">
                          <a:latin typeface="Cambria Math" panose="02040503050406030204" pitchFamily="18" charset="0"/>
                        </a:rPr>
                        <m:t>(</m:t>
                      </m:r>
                      <m:r>
                        <m:rPr>
                          <m:sty m:val="p"/>
                        </m:rPr>
                        <a:rPr lang="en-US" b="0" i="1" smtClean="0">
                          <a:latin typeface="Cambria Math" panose="02040503050406030204" pitchFamily="18" charset="0"/>
                        </a:rPr>
                        <m:t>t</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𝑢</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2" name="TextBox 11">
                <a:extLst>
                  <a:ext uri="{FF2B5EF4-FFF2-40B4-BE49-F238E27FC236}">
                    <a16:creationId xmlns:a16="http://schemas.microsoft.com/office/drawing/2014/main" id="{7CFAB973-46C2-0B61-3A4C-532C3561FD1E}"/>
                  </a:ext>
                </a:extLst>
              </p:cNvPr>
              <p:cNvSpPr txBox="1">
                <a:spLocks noRot="1" noChangeAspect="1" noMove="1" noResize="1" noEditPoints="1" noAdjustHandles="1" noChangeArrowheads="1" noChangeShapeType="1" noTextEdit="1"/>
              </p:cNvSpPr>
              <p:nvPr/>
            </p:nvSpPr>
            <p:spPr>
              <a:xfrm>
                <a:off x="5232391" y="2568179"/>
                <a:ext cx="3054041" cy="345287"/>
              </a:xfrm>
              <a:prstGeom prst="rect">
                <a:avLst/>
              </a:prstGeom>
              <a:blipFill>
                <a:blip r:embed="rId11"/>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81993D1-7F3F-74F5-15F8-BDFA8E6A547C}"/>
                  </a:ext>
                </a:extLst>
              </p:cNvPr>
              <p:cNvSpPr txBox="1"/>
              <p:nvPr/>
            </p:nvSpPr>
            <p:spPr>
              <a:xfrm>
                <a:off x="5324406" y="2962892"/>
                <a:ext cx="1087414" cy="309765"/>
              </a:xfrm>
              <a:prstGeom prst="rect">
                <a:avLst/>
              </a:prstGeom>
              <a:noFill/>
            </p:spPr>
            <p:txBody>
              <a:bodyPr wrap="none" rtlCol="0">
                <a:spAutoFit/>
              </a:bodyPr>
              <a:lstStyle/>
              <a:p>
                <a14:m>
                  <m:oMath xmlns:m="http://schemas.openxmlformats.org/officeDocument/2006/math">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𝑢</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r>
                  <a:rPr lang="en-US" dirty="0"/>
                  <a:t> </a:t>
                </a:r>
                <a:endParaRPr lang="en-NL" dirty="0"/>
              </a:p>
            </p:txBody>
          </p:sp>
        </mc:Choice>
        <mc:Fallback xmlns="">
          <p:sp>
            <p:nvSpPr>
              <p:cNvPr id="13" name="TextBox 12">
                <a:extLst>
                  <a:ext uri="{FF2B5EF4-FFF2-40B4-BE49-F238E27FC236}">
                    <a16:creationId xmlns:a16="http://schemas.microsoft.com/office/drawing/2014/main" id="{881993D1-7F3F-74F5-15F8-BDFA8E6A547C}"/>
                  </a:ext>
                </a:extLst>
              </p:cNvPr>
              <p:cNvSpPr txBox="1">
                <a:spLocks noRot="1" noChangeAspect="1" noMove="1" noResize="1" noEditPoints="1" noAdjustHandles="1" noChangeArrowheads="1" noChangeShapeType="1" noTextEdit="1"/>
              </p:cNvSpPr>
              <p:nvPr/>
            </p:nvSpPr>
            <p:spPr>
              <a:xfrm>
                <a:off x="5324406" y="2962892"/>
                <a:ext cx="1087414" cy="309765"/>
              </a:xfrm>
              <a:prstGeom prst="rect">
                <a:avLst/>
              </a:prstGeom>
              <a:blipFill>
                <a:blip r:embed="rId12"/>
                <a:stretch>
                  <a:fillRect/>
                </a:stretch>
              </a:blipFill>
            </p:spPr>
            <p:txBody>
              <a:bodyPr/>
              <a:lstStyle/>
              <a:p>
                <a:r>
                  <a:rPr lang="en-NL">
                    <a:noFill/>
                  </a:rPr>
                  <a:t> </a:t>
                </a:r>
              </a:p>
            </p:txBody>
          </p:sp>
        </mc:Fallback>
      </mc:AlternateContent>
      <p:sp>
        <p:nvSpPr>
          <p:cNvPr id="16" name="TextBox 15">
            <a:extLst>
              <a:ext uri="{FF2B5EF4-FFF2-40B4-BE49-F238E27FC236}">
                <a16:creationId xmlns:a16="http://schemas.microsoft.com/office/drawing/2014/main" id="{4489752F-12D8-469C-D481-9503E14A908D}"/>
              </a:ext>
            </a:extLst>
          </p:cNvPr>
          <p:cNvSpPr txBox="1"/>
          <p:nvPr/>
        </p:nvSpPr>
        <p:spPr>
          <a:xfrm>
            <a:off x="4788897" y="3322083"/>
            <a:ext cx="799193" cy="300082"/>
          </a:xfrm>
          <a:prstGeom prst="rect">
            <a:avLst/>
          </a:prstGeom>
          <a:noFill/>
        </p:spPr>
        <p:txBody>
          <a:bodyPr wrap="none" rtlCol="0">
            <a:spAutoFit/>
          </a:bodyPr>
          <a:lstStyle/>
          <a:p>
            <a:r>
              <a:rPr lang="en-US" dirty="0"/>
              <a:t>Filling in</a:t>
            </a:r>
            <a:endParaRPr lang="en-NL" dirty="0"/>
          </a:p>
        </p:txBody>
      </p:sp>
    </p:spTree>
    <p:extLst>
      <p:ext uri="{BB962C8B-B14F-4D97-AF65-F5344CB8AC3E}">
        <p14:creationId xmlns:p14="http://schemas.microsoft.com/office/powerpoint/2010/main" val="11663079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36</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extLst>
      <p:ext uri="{BB962C8B-B14F-4D97-AF65-F5344CB8AC3E}">
        <p14:creationId xmlns:p14="http://schemas.microsoft.com/office/powerpoint/2010/main" val="19626724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2772</TotalTime>
  <Words>4481</Words>
  <Application>Microsoft Office PowerPoint</Application>
  <PresentationFormat>On-screen Show (16:9)</PresentationFormat>
  <Paragraphs>463</Paragraphs>
  <Slides>44</Slides>
  <Notes>37</Notes>
  <HiddenSlides>0</HiddenSlides>
  <MMClips>5</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44</vt:i4>
      </vt:variant>
    </vt:vector>
  </HeadingPairs>
  <TitlesOfParts>
    <vt:vector size="50"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Beta-oscilations</vt:lpstr>
      <vt:lpstr>PowerPoint Presentation</vt:lpstr>
      <vt:lpstr>PowerPoint Presentation</vt:lpstr>
      <vt:lpstr>PowerPoint Presentation</vt:lpstr>
      <vt:lpstr>PowerPoint Presentation</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Alternative controller schematic</vt:lpstr>
      <vt:lpstr>Transposing the systems</vt:lpstr>
      <vt:lpstr>Future work</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22</cp:revision>
  <dcterms:created xsi:type="dcterms:W3CDTF">2019-11-27T15:26:32Z</dcterms:created>
  <dcterms:modified xsi:type="dcterms:W3CDTF">2026-09-25T14:02:56Z</dcterms:modified>
</cp:coreProperties>
</file>