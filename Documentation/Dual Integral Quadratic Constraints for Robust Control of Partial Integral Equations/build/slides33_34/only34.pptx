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6" name="TextBox 5">
            <a:extLst>
              <a:ext uri="{FF2B5EF4-FFF2-40B4-BE49-F238E27FC236}">
                <a16:creationId xmlns:a16="http://schemas.microsoft.com/office/drawing/2014/main" id="{3F3FB8F5-48C8-9627-E25B-124E4007612C}"/>
              </a:ext>
            </a:extLst>
          </p:cNvPr>
          <p:cNvSpPr txBox="1"/>
          <p:nvPr/>
        </p:nvSpPr>
        <p:spPr>
          <a:xfrm>
            <a:off x="4713851" y="1114294"/>
            <a:ext cx="518540" cy="300082"/>
          </a:xfrm>
          <a:prstGeom prst="rect">
            <a:avLst/>
          </a:prstGeom>
          <a:noFill/>
        </p:spPr>
        <p:txBody>
          <a:bodyPr wrap="none" rtlCol="0">
            <a:spAutoFit/>
          </a:bodyPr>
          <a:lstStyle/>
          <a:p>
            <a:r>
              <a:rPr lang="en-US" dirty="0"/>
              <a:t>Take</a:t>
            </a:r>
            <a:endParaRPr lang="en-NL"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AFBE2C9-EC74-9AA9-B0CC-7DA8E0A18E51}"/>
                  </a:ext>
                </a:extLst>
              </p:cNvPr>
              <p:cNvSpPr txBox="1"/>
              <p:nvPr/>
            </p:nvSpPr>
            <p:spPr>
              <a:xfrm>
                <a:off x="5037209" y="1419576"/>
                <a:ext cx="2300117" cy="463460"/>
              </a:xfrm>
              <a:prstGeom prst="rect">
                <a:avLst/>
              </a:prstGeom>
              <a:noFill/>
            </p:spPr>
            <p:txBody>
              <a:bodyPr wrap="none" lIns="0" tIns="0" rIns="0" bIns="0" rtlCol="0">
                <a:spAutoFit/>
              </a:bodyPr>
              <a:lstStyle/>
              <a:p>
                <a:pPr/>
                <a14:m>
                  <m:oMathPara xmlns:m="http://schemas.openxmlformats.org/officeDocument/2006/math">
                    <m:oMath>
                      <m:r>
                        <m:rPr>
                          <m:sty m:val="p"/>
                        </m:rPr>
                        <a:rPr lang="nl-NL" i="1" smtClean="0">
                          <a:latin typeface="Cambria Math" panose="02040503050406030204" pitchFamily="18" charset="0"/>
                        </a:rPr>
                        <m:t>Θ</m:t>
                      </m:r>
                      <m:r>
                        <a:rPr lang="nl-NL" i="1" smtClean="0">
                          <a:latin typeface="Cambria Math" panose="02040503050406030204" pitchFamily="18" charset="0"/>
                        </a:rPr>
                        <m:t>:=</m:t>
                      </m:r>
                      <m:d>
                        <m:dPr>
                          <m:begChr m:val="{"/>
                          <m:endChr m:val=""/>
                          <m:ctrlPr>
                            <a:rPr lang="nl-NL" i="1">
                              <a:latin typeface="Cambria Math" panose="02040503050406030204" pitchFamily="18" charset="0"/>
                            </a:rPr>
                          </m:ctrlPr>
                        </m:dPr>
                        <m:e>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acc>
                                      <m:accPr>
                                        <m:chr m:val="˜"/>
                                        <m:ctrlPr>
                                          <a:rPr lang="nl-NL" i="1">
                                            <a:latin typeface="Cambria Math" panose="02040503050406030204" pitchFamily="18" charset="0"/>
                                          </a:rPr>
                                        </m:ctrlPr>
                                      </m:accPr>
                                      <m:e>
                                        <m:r>
                                          <a:rPr lang="nl-NL" i="1">
                                            <a:latin typeface="Cambria Math" panose="02040503050406030204" pitchFamily="18" charset="0"/>
                                          </a:rPr>
                                          <m:t>𝑢</m:t>
                                        </m:r>
                                      </m:e>
                                    </m:acc>
                                    <m:d>
                                      <m:dPr>
                                        <m:ctrlPr>
                                          <a:rPr lang="nl-NL" i="1">
                                            <a:latin typeface="Cambria Math" panose="02040503050406030204" pitchFamily="18" charset="0"/>
                                          </a:rPr>
                                        </m:ctrlPr>
                                      </m:dPr>
                                      <m:e>
                                        <m:r>
                                          <a:rPr lang="nl-NL" i="1">
                                            <a:latin typeface="Cambria Math" panose="02040503050406030204" pitchFamily="18" charset="0"/>
                                          </a:rPr>
                                          <m:t>𝑡</m:t>
                                        </m:r>
                                      </m:e>
                                    </m:d>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r>
                                      <a:rPr lang="nl-NL" i="1">
                                        <a:latin typeface="Cambria Math" panose="02040503050406030204" pitchFamily="18" charset="0"/>
                                      </a:rPr>
                                      <m:t>𝐼</m:t>
                                    </m:r>
                                  </m:e>
                                  <m:e>
                                    <m:r>
                                      <a:rPr lang="nl-NL" i="1">
                                        <a:latin typeface="Cambria Math" panose="02040503050406030204" pitchFamily="18" charset="0"/>
                                      </a:rPr>
                                      <m:t>0</m:t>
                                    </m:r>
                                  </m:e>
                                </m:mr>
                                <m:mr>
                                  <m:e>
                                    <m:r>
                                      <a:rPr lang="nl-NL" i="1">
                                        <a:latin typeface="Cambria Math" panose="02040503050406030204" pitchFamily="18" charset="0"/>
                                      </a:rPr>
                                      <m:t>−</m:t>
                                    </m:r>
                                    <m:r>
                                      <a:rPr lang="nl-NL" i="1">
                                        <a:latin typeface="Cambria Math" panose="02040503050406030204" pitchFamily="18" charset="0"/>
                                      </a:rPr>
                                      <m:t>𝐾</m:t>
                                    </m:r>
                                  </m:e>
                                  <m:e>
                                    <m:r>
                                      <a:rPr lang="nl-NL" i="1">
                                        <a:latin typeface="Cambria Math" panose="02040503050406030204" pitchFamily="18" charset="0"/>
                                      </a:rPr>
                                      <m:t>𝐼</m:t>
                                    </m:r>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e>
                      </m:d>
                    </m:oMath>
                  </m:oMathPara>
                </a14:m>
                <a:endParaRPr lang="en-NL" dirty="0"/>
              </a:p>
            </p:txBody>
          </p:sp>
        </mc:Choice>
        <mc:Fallback xmlns="">
          <p:sp>
            <p:nvSpPr>
              <p:cNvPr id="9" name="TextBox 8">
                <a:extLst>
                  <a:ext uri="{FF2B5EF4-FFF2-40B4-BE49-F238E27FC236}">
                    <a16:creationId xmlns:a16="http://schemas.microsoft.com/office/drawing/2014/main" id="{7AFBE2C9-EC74-9AA9-B0CC-7DA8E0A18E51}"/>
                  </a:ext>
                </a:extLst>
              </p:cNvPr>
              <p:cNvSpPr txBox="1">
                <a:spLocks noRot="1" noChangeAspect="1" noMove="1" noResize="1" noEditPoints="1" noAdjustHandles="1" noChangeArrowheads="1" noChangeShapeType="1" noTextEdit="1"/>
              </p:cNvSpPr>
              <p:nvPr/>
            </p:nvSpPr>
            <p:spPr>
              <a:xfrm>
                <a:off x="5037209" y="1419576"/>
                <a:ext cx="2300117" cy="463460"/>
              </a:xfrm>
              <a:prstGeom prst="rect">
                <a:avLst/>
              </a:prstGeom>
              <a:blipFill>
                <a:blip r:embed="rId15"/>
                <a:stretch>
                  <a:fillRect l="-20106" t="-225000" b="-32105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11D05C-F7D5-70D2-8D8D-46BF3DF46CAA}"/>
                  </a:ext>
                </a:extLst>
              </p:cNvPr>
              <p:cNvSpPr txBox="1"/>
              <p:nvPr/>
            </p:nvSpPr>
            <p:spPr>
              <a:xfrm>
                <a:off x="4957379" y="3781312"/>
                <a:ext cx="2518318" cy="463460"/>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𝐺</m:t>
                                </m:r>
                              </m:e>
                            </m:mr>
                            <m:mr>
                              <m:e>
                                <m:r>
                                  <a:rPr lang="en-US" b="0" i="1" smtClean="0">
                                    <a:latin typeface="Cambria Math" panose="02040503050406030204" pitchFamily="18" charset="0"/>
                                  </a:rPr>
                                  <m:t>𝐼</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m:rPr>
                                          <m:sty m:val="p"/>
                                        </m:rPr>
                                        <a:rPr lang="en-US" b="0" i="1" smtClean="0">
                                          <a:latin typeface="Cambria Math" panose="02040503050406030204" pitchFamily="18" charset="0"/>
                                        </a:rPr>
                                        <m:t>u</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qArr>
                        </m:e>
                      </m:d>
                    </m:oMath>
                  </m:oMathPara>
                </a14:m>
                <a:endParaRPr lang="en-NL" dirty="0"/>
              </a:p>
            </p:txBody>
          </p:sp>
        </mc:Choice>
        <mc:Fallback xmlns="">
          <p:sp>
            <p:nvSpPr>
              <p:cNvPr id="10" name="TextBox 9">
                <a:extLst>
                  <a:ext uri="{FF2B5EF4-FFF2-40B4-BE49-F238E27FC236}">
                    <a16:creationId xmlns:a16="http://schemas.microsoft.com/office/drawing/2014/main" id="{1511D05C-F7D5-70D2-8D8D-46BF3DF46CAA}"/>
                  </a:ext>
                </a:extLst>
              </p:cNvPr>
              <p:cNvSpPr txBox="1">
                <a:spLocks noRot="1" noChangeAspect="1" noMove="1" noResize="1" noEditPoints="1" noAdjustHandles="1" noChangeArrowheads="1" noChangeShapeType="1" noTextEdit="1"/>
              </p:cNvSpPr>
              <p:nvPr/>
            </p:nvSpPr>
            <p:spPr>
              <a:xfrm>
                <a:off x="4957379" y="3781312"/>
                <a:ext cx="2518318" cy="463460"/>
              </a:xfrm>
              <a:prstGeom prst="rect">
                <a:avLst/>
              </a:prstGeom>
              <a:blipFill>
                <a:blip r:embed="rId16"/>
                <a:stretch>
                  <a:fillRect l="-6538" t="-223684" b="-322368"/>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FB3BFAE1-3A84-8DBA-21AA-DBDE3EA902FD}"/>
              </a:ext>
            </a:extLst>
          </p:cNvPr>
          <p:cNvSpPr txBox="1"/>
          <p:nvPr/>
        </p:nvSpPr>
        <p:spPr>
          <a:xfrm>
            <a:off x="4788390" y="2226595"/>
            <a:ext cx="543739" cy="300082"/>
          </a:xfrm>
          <a:prstGeom prst="rect">
            <a:avLst/>
          </a:prstGeom>
          <a:noFill/>
        </p:spPr>
        <p:txBody>
          <a:bodyPr wrap="none" rtlCol="0">
            <a:spAutoFit/>
          </a:bodyPr>
          <a:lstStyle/>
          <a:p>
            <a:r>
              <a:rPr lang="en-US" dirty="0"/>
              <a:t>Thus</a:t>
            </a:r>
            <a:endParaRPr lang="en-NL"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D548753-0DD9-4CBE-E04E-5363A7C579C8}"/>
                  </a:ext>
                </a:extLst>
              </p:cNvPr>
              <p:cNvSpPr txBox="1"/>
              <p:nvPr/>
            </p:nvSpPr>
            <p:spPr>
              <a:xfrm>
                <a:off x="5232391" y="2568179"/>
                <a:ext cx="1617622" cy="300082"/>
              </a:xfrm>
              <a:prstGeom prst="rect">
                <a:avLst/>
              </a:prstGeom>
              <a:noFill/>
            </p:spPr>
            <p:txBody>
              <a:bodyPr wrap="non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2" name="TextBox 11">
                <a:extLst>
                  <a:ext uri="{FF2B5EF4-FFF2-40B4-BE49-F238E27FC236}">
                    <a16:creationId xmlns:a16="http://schemas.microsoft.com/office/drawing/2014/main" id="{FD548753-0DD9-4CBE-E04E-5363A7C579C8}"/>
                  </a:ext>
                </a:extLst>
              </p:cNvPr>
              <p:cNvSpPr txBox="1">
                <a:spLocks noRot="1" noChangeAspect="1" noMove="1" noResize="1" noEditPoints="1" noAdjustHandles="1" noChangeArrowheads="1" noChangeShapeType="1" noTextEdit="1"/>
              </p:cNvSpPr>
              <p:nvPr/>
            </p:nvSpPr>
            <p:spPr>
              <a:xfrm>
                <a:off x="5232391" y="2568179"/>
                <a:ext cx="1617622" cy="300082"/>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3ECAD35-3947-0941-368E-452968D6BF7E}"/>
                  </a:ext>
                </a:extLst>
              </p:cNvPr>
              <p:cNvSpPr txBox="1"/>
              <p:nvPr/>
            </p:nvSpPr>
            <p:spPr>
              <a:xfrm>
                <a:off x="5232391" y="2930193"/>
                <a:ext cx="2050177" cy="300082"/>
              </a:xfrm>
              <a:prstGeom prst="rect">
                <a:avLst/>
              </a:prstGeom>
              <a:noFill/>
            </p:spPr>
            <p:txBody>
              <a:bodyPr wrap="none" rtlCol="0">
                <a:spAutoFit/>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a:t>
                </a:r>
                <a:endParaRPr lang="en-NL" dirty="0"/>
              </a:p>
            </p:txBody>
          </p:sp>
        </mc:Choice>
        <mc:Fallback xmlns="">
          <p:sp>
            <p:nvSpPr>
              <p:cNvPr id="13" name="TextBox 12">
                <a:extLst>
                  <a:ext uri="{FF2B5EF4-FFF2-40B4-BE49-F238E27FC236}">
                    <a16:creationId xmlns:a16="http://schemas.microsoft.com/office/drawing/2014/main" id="{63ECAD35-3947-0941-368E-452968D6BF7E}"/>
                  </a:ext>
                </a:extLst>
              </p:cNvPr>
              <p:cNvSpPr txBox="1">
                <a:spLocks noRot="1" noChangeAspect="1" noMove="1" noResize="1" noEditPoints="1" noAdjustHandles="1" noChangeArrowheads="1" noChangeShapeType="1" noTextEdit="1"/>
              </p:cNvSpPr>
              <p:nvPr/>
            </p:nvSpPr>
            <p:spPr>
              <a:xfrm>
                <a:off x="5232391" y="2930193"/>
                <a:ext cx="2050177" cy="300082"/>
              </a:xfrm>
              <a:prstGeom prst="rect">
                <a:avLst/>
              </a:prstGeom>
              <a:blipFill>
                <a:blip r:embed="rId18"/>
                <a:stretch>
                  <a:fillRect/>
                </a:stretch>
              </a:blipFill>
            </p:spPr>
            <p:txBody>
              <a:bodyPr/>
              <a:lstStyle/>
              <a:p>
                <a:r>
                  <a:rPr lang="en-NL">
                    <a:noFill/>
                  </a:rPr>
                  <a:t> </a:t>
                </a:r>
              </a:p>
            </p:txBody>
          </p:sp>
        </mc:Fallback>
      </mc:AlternateContent>
      <p:sp>
        <p:nvSpPr>
          <p:cNvPr id="16" name="TextBox 15">
            <a:extLst>
              <a:ext uri="{FF2B5EF4-FFF2-40B4-BE49-F238E27FC236}">
                <a16:creationId xmlns:a16="http://schemas.microsoft.com/office/drawing/2014/main" id="{31D74EF9-1980-A6AF-3913-28F8D792D083}"/>
              </a:ext>
            </a:extLst>
          </p:cNvPr>
          <p:cNvSpPr txBox="1"/>
          <p:nvPr/>
        </p:nvSpPr>
        <p:spPr>
          <a:xfrm>
            <a:off x="4788897" y="3322083"/>
            <a:ext cx="799193" cy="300082"/>
          </a:xfrm>
          <a:prstGeom prst="rect">
            <a:avLst/>
          </a:prstGeom>
          <a:noFill/>
        </p:spPr>
        <p:txBody>
          <a:bodyPr wrap="none" rtlCol="0">
            <a:spAutoFit/>
          </a:bodyPr>
          <a:lstStyle/>
          <a:p>
            <a:r>
              <a:rPr lang="en-US" dirty="0"/>
              <a:t>Filling in</a:t>
            </a:r>
            <a:endParaRPr lang="en-NL" dirty="0"/>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45A91"/>
                                  </a:solidFill>
                                  <a:latin typeface="Cambria Math" panose="02040503050406030204" pitchFamily="18" charset="0"/>
                                </a:rPr>
                              </m:ctrlPr>
                            </m:sSupPr>
                            <m:e>
                              <m:r>
                                <a:rPr lang="nl-NL" sz="2590" i="1" smtClean="0">
                                  <a:solidFill>
                                    <a:srgbClr val="245A91"/>
                                  </a:solidFill>
                                  <a:latin typeface="Cambria Math" panose="02040503050406030204" pitchFamily="18" charset="0"/>
                                </a:rPr>
                                <m:t>𝐾</m:t>
                              </m:r>
                            </m:e>
                            <m:sup>
                              <m:r>
                                <a:rPr lang="nl-NL" sz="2590" i="1" smtClean="0">
                                  <a:solidFill>
                                    <a:srgbClr val="245A91"/>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B76316"/>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B76316"/>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B76316"/>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B76316"/>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B76316"/>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Simply transposing is not enough</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A transpose must act on the complete interconnection, not just its blocks.</a:t>
            </a:r>
          </a:p>
        </p:txBody>
      </p:sp>
      <p:sp>
        <p:nvSpPr>
          <p:cNvPr id="303" name="Naive diagram label"/>
          <p:cNvSpPr txBox="1"/>
          <p:nvPr/>
        </p:nvSpPr>
        <p:spPr>
          <a:xfrm>
            <a:off x="546100" y="1409700"/>
            <a:ext cx="3594100" cy="317500"/>
          </a:xfrm>
          <a:prstGeom prst="rect">
            <a:avLst/>
          </a:prstGeom>
          <a:noFill/>
          <a:ln>
            <a:noFill/>
          </a:ln>
        </p:spPr>
        <p:txBody>
          <a:bodyPr wrap="square" lIns="0" tIns="0" rIns="0" bIns="0" anchor="ctr">
            <a:noAutofit/>
          </a:bodyPr>
          <a:lstStyle/>
          <a:p>
            <a:pPr algn="l"/>
            <a:r>
              <a:rPr lang="en-US" sz="1200" b="1">
                <a:solidFill>
                  <a:srgbClr val="B76316"/>
                </a:solidFill>
                <a:latin typeface="Aptos"/>
              </a:rPr>
              <a:t>NAIVE FILTER REPLACEMENT</a:t>
            </a:r>
          </a:p>
        </p:txBody>
      </p:sp>
      <p:sp>
        <p:nvSpPr>
          <p:cNvPr id="304"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1  Transpose the filter</a:t>
            </a:r>
          </a:p>
        </p:txBody>
      </p:sp>
      <mc:AlternateContent>
        <mc:Choice Requires="a14">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900">
                              <a:solidFill>
                                <a:srgbClr val="252529"/>
                              </a:solidFill>
                              <a:latin typeface="Cambria Math"/>
                            </a:rPr>
                          </m:ctrlPr>
                        </m:sSupPr>
                        <m:e>
                          <m:r>
                            <a:rPr lang="en-US" sz="1900">
                              <a:solidFill>
                                <a:srgbClr val="087F8C"/>
                              </a:solidFill>
                              <a:latin typeface="Cambria Math"/>
                            </a:rPr>
                            <m:t>Θ</m:t>
                          </m:r>
                        </m:e>
                        <m:sup>
                          <m:r>
                            <a:rPr lang="en-US" sz="1900">
                              <a:solidFill>
                                <a:srgbClr val="252529"/>
                              </a:solidFill>
                              <a:latin typeface="Cambria Math"/>
                            </a:rPr>
                            <m:t>⊤</m:t>
                          </m:r>
                        </m:sup>
                      </m:sSup>
                      <m:r>
                        <a:rPr lang="en-US" sz="1900">
                          <a:solidFill>
                            <a:srgbClr val="252529"/>
                          </a:solidFill>
                          <a:latin typeface="Cambria Math"/>
                        </a:rPr>
                        <m:t>=</m:t>
                      </m:r>
                      <m:d>
                        <m:dPr>
                          <m:begChr m:val="["/>
                          <m:endChr m:val="]"/>
                          <m:ctrlPr>
                            <a:rPr lang="en-US" sz="1900">
                              <a:solidFill>
                                <a:srgbClr val="252529"/>
                              </a:solidFill>
                              <a:latin typeface="Cambria Math"/>
                            </a:rPr>
                          </m:ctrlPr>
                        </m:dPr>
                        <m:e>
                          <m:m>
                            <m:mPr>
                              <m:ctrlPr>
                                <a:rPr lang="en-US" sz="1900">
                                  <a:solidFill>
                                    <a:srgbClr val="252529"/>
                                  </a:solidFill>
                                  <a:latin typeface="Cambria Math"/>
                                </a:rPr>
                              </m:ctrlPr>
                            </m:mPr>
                            <m:mr>
                              <m:e>
                                <m:r>
                                  <a:rPr lang="en-US" sz="1900">
                                    <a:solidFill>
                                      <a:srgbClr val="252529"/>
                                    </a:solidFill>
                                    <a:latin typeface="Cambria Math"/>
                                  </a:rPr>
                                  <m:t>𝐼</m:t>
                                </m:r>
                              </m:e>
                              <m:e>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45A91"/>
                                        </a:solidFill>
                                        <a:latin typeface="Cambria Math"/>
                                      </a:rPr>
                                      <m:t>𝐾</m:t>
                                    </m:r>
                                  </m:e>
                                  <m:sup>
                                    <m:r>
                                      <a:rPr lang="en-US" sz="1900">
                                        <a:solidFill>
                                          <a:srgbClr val="252529"/>
                                        </a:solidFill>
                                        <a:latin typeface="Cambria Math"/>
                                      </a:rPr>
                                      <m:t>*</m:t>
                                    </m:r>
                                  </m:sup>
                                </m:sSup>
                              </m:e>
                            </m:mr>
                            <m:mr>
                              <m:e>
                                <m:r>
                                  <a:rPr lang="en-US" sz="1900">
                                    <a:solidFill>
                                      <a:srgbClr val="252529"/>
                                    </a:solidFill>
                                    <a:latin typeface="Cambria Math"/>
                                  </a:rPr>
                                  <m:t>0</m:t>
                                </m:r>
                              </m:e>
                              <m:e>
                                <m:r>
                                  <a:rPr lang="en-US" sz="1900">
                                    <a:solidFill>
                                      <a:srgbClr val="252529"/>
                                    </a:solidFill>
                                    <a:latin typeface="Cambria Math"/>
                                  </a:rPr>
                                  <m:t>𝐼</m:t>
                                </m:r>
                              </m:e>
                            </m:mr>
                          </m:m>
                        </m:e>
                      </m:d>
                    </m:oMath>
                  </m:oMathPara>
                </a14:m>
                <a:endParaRPr sz="1900">
                  <a:latin typeface="Cambria Math"/>
                </a:endParaRPr>
              </a:p>
            </p:txBody>
          </p:sp>
        </mc:Choice>
        <mc:Fallback>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2  Transpose the complete map</a:t>
            </a:r>
          </a:p>
        </p:txBody>
      </p:sp>
      <mc:AlternateContent>
        <mc:Choice Requires="a14">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pPr algn="l"/>
                <a14:m>
                  <m:oMathPara>
                    <m:oMathParaPr>
                      <m:jc m:val="left"/>
                    </m:oMathParaPr>
                    <m:oMath>
                      <m:r>
                        <a:rPr lang="en-US" sz="1800">
                          <a:solidFill>
                            <a:srgbClr val="252529"/>
                          </a:solidFill>
                          <a:latin typeface="Cambria Math"/>
                        </a:rPr>
                        <m:t>𝐹:=</m:t>
                      </m:r>
                      <m:r>
                        <a:rPr lang="en-US" sz="1800">
                          <a:solidFill>
                            <a:srgbClr val="087F8C"/>
                          </a:solidFill>
                          <a:latin typeface="Cambria Math"/>
                        </a:rPr>
                        <m:t>Θ</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a:rPr lang="en-US" sz="1800">
                                    <a:solidFill>
                                      <a:srgbClr val="252529"/>
                                    </a:solidFill>
                                    <a:latin typeface="Cambria Math"/>
                                  </a:rPr>
                                  <m:t>𝐺</m:t>
                                </m:r>
                              </m:e>
                            </m:mr>
                            <m:mr>
                              <m:e>
                                <m:r>
                                  <a:rPr lang="en-US" sz="1800">
                                    <a:solidFill>
                                      <a:srgbClr val="252529"/>
                                    </a:solidFill>
                                    <a:latin typeface="Cambria Math"/>
                                  </a:rPr>
                                  <m:t>𝐼</m:t>
                                </m:r>
                              </m:e>
                            </m:mr>
                          </m:m>
                        </m:e>
                      </m:d>
                    </m:oMath>
                  </m:oMathPara>
                </a14:m>
                <a:endParaRPr sz="1800">
                  <a:latin typeface="Cambria Math"/>
                </a:endParaRPr>
              </a:p>
            </p:txBody>
          </p:sp>
        </mc:Choice>
        <mc:Fallback>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pPr algn="l"/>
                <a14:m>
                  <m:oMathPara>
                    <m:oMathParaPr>
                      <m:jc m:val="left"/>
                    </m:oMathParaPr>
                    <m:oMath>
                      <m:sSup>
                        <m:sSupPr>
                          <m:ctrlPr>
                            <a:rPr lang="en-US" sz="2000">
                              <a:solidFill>
                                <a:srgbClr val="252529"/>
                              </a:solidFill>
                              <a:latin typeface="Cambria Math"/>
                            </a:rPr>
                          </m:ctrlPr>
                        </m:sSupPr>
                        <m:e>
                          <m:r>
                            <a:rPr lang="en-US" sz="2000">
                              <a:solidFill>
                                <a:srgbClr val="252529"/>
                              </a:solidFill>
                              <a:latin typeface="Cambria Math"/>
                            </a:rPr>
                            <m:t>𝐹</m:t>
                          </m:r>
                        </m:e>
                        <m:sup>
                          <m:r>
                            <a:rPr lang="en-US" sz="2000">
                              <a:solidFill>
                                <a:srgbClr val="252529"/>
                              </a:solidFill>
                              <a:latin typeface="Cambria Math"/>
                            </a:rPr>
                            <m:t>⊤</m:t>
                          </m:r>
                        </m:sup>
                      </m:sSup>
                      <m:r>
                        <a:rPr lang="en-US" sz="2000">
                          <a:solidFill>
                            <a:srgbClr val="252529"/>
                          </a:solidFill>
                          <a:latin typeface="Cambria Math"/>
                        </a:rPr>
                        <m:t>=</m:t>
                      </m:r>
                      <m:d>
                        <m:dPr>
                          <m:begChr m:val="["/>
                          <m:endChr m:val="]"/>
                          <m:ctrlPr>
                            <a:rPr lang="en-US" sz="2000">
                              <a:solidFill>
                                <a:srgbClr val="252529"/>
                              </a:solidFill>
                              <a:latin typeface="Cambria Math"/>
                            </a:rPr>
                          </m:ctrlPr>
                        </m:dPr>
                        <m:e>
                          <m:m>
                            <m:mPr>
                              <m:ctrlPr>
                                <a:rPr lang="en-US" sz="2000">
                                  <a:solidFill>
                                    <a:srgbClr val="252529"/>
                                  </a:solidFill>
                                  <a:latin typeface="Cambria Math"/>
                                </a:rPr>
                              </m:ctrlPr>
                            </m:mPr>
                            <m:mr>
                              <m:e>
                                <m:sSup>
                                  <m:sSupPr>
                                    <m:ctrlPr>
                                      <a:rPr lang="en-US" sz="2000">
                                        <a:solidFill>
                                          <a:srgbClr val="252529"/>
                                        </a:solidFill>
                                        <a:latin typeface="Cambria Math"/>
                                      </a:rPr>
                                    </m:ctrlPr>
                                  </m:sSupPr>
                                  <m:e>
                                    <m:r>
                                      <a:rPr lang="en-US" sz="2000">
                                        <a:solidFill>
                                          <a:srgbClr val="252529"/>
                                        </a:solidFill>
                                        <a:latin typeface="Cambria Math"/>
                                      </a:rPr>
                                      <m:t>𝐺</m:t>
                                    </m:r>
                                  </m:e>
                                  <m:sup>
                                    <m:r>
                                      <a:rPr lang="en-US" sz="2000">
                                        <a:solidFill>
                                          <a:srgbClr val="252529"/>
                                        </a:solidFill>
                                        <a:latin typeface="Cambria Math"/>
                                      </a:rPr>
                                      <m:t>⊤</m:t>
                                    </m:r>
                                  </m:sup>
                                </m:sSup>
                              </m:e>
                              <m:e>
                                <m:r>
                                  <a:rPr lang="en-US" sz="2000">
                                    <a:solidFill>
                                      <a:srgbClr val="252529"/>
                                    </a:solidFill>
                                    <a:latin typeface="Cambria Math"/>
                                  </a:rPr>
                                  <m:t>𝐼</m:t>
                                </m:r>
                              </m:e>
                            </m:mr>
                          </m:m>
                        </m:e>
                      </m:d>
                      <m:sSup>
                        <m:sSupPr>
                          <m:ctrlPr>
                            <a:rPr lang="en-US" sz="2000">
                              <a:solidFill>
                                <a:srgbClr val="252529"/>
                              </a:solidFill>
                              <a:latin typeface="Cambria Math"/>
                            </a:rPr>
                          </m:ctrlPr>
                        </m:sSupPr>
                        <m:e>
                          <m:r>
                            <a:rPr lang="en-US" sz="2000">
                              <a:solidFill>
                                <a:srgbClr val="087F8C"/>
                              </a:solidFill>
                              <a:latin typeface="Cambria Math"/>
                            </a:rPr>
                            <m:t>Θ</m:t>
                          </m:r>
                        </m:e>
                        <m:sup>
                          <m:r>
                            <a:rPr lang="en-US" sz="2000">
                              <a:solidFill>
                                <a:srgbClr val="252529"/>
                              </a:solidFill>
                              <a:latin typeface="Cambria Math"/>
                            </a:rPr>
                            <m:t>⊤</m:t>
                          </m:r>
                        </m:sup>
                      </m:sSup>
                    </m:oMath>
                  </m:oMathPara>
                </a14:m>
                <a:endParaRPr sz="2000">
                  <a:latin typeface="Cambria Math"/>
                </a:endParaRPr>
              </a:p>
            </p:txBody>
          </p:sp>
        </mc:Choice>
        <mc:Fallback>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2 order explanation"/>
          <p:cNvSpPr txBox="1"/>
          <p:nvPr/>
        </p:nvSpPr>
        <p:spPr>
          <a:xfrm>
            <a:off x="4635500" y="3898900"/>
            <a:ext cx="3937000" cy="254000"/>
          </a:xfrm>
          <a:prstGeom prst="rect">
            <a:avLst/>
          </a:prstGeom>
          <a:noFill/>
          <a:ln>
            <a:noFill/>
          </a:ln>
        </p:spPr>
        <p:txBody>
          <a:bodyPr wrap="square" lIns="0" tIns="0" rIns="0" bIns="0" anchor="ctr">
            <a:noAutofit/>
          </a:bodyPr>
          <a:lstStyle/>
          <a:p>
            <a:pPr algn="l"/>
            <a:r>
              <a:rPr lang="en-US" sz="1250" b="0">
                <a:solidFill>
                  <a:srgbClr val="B76316"/>
                </a:solidFill>
                <a:latin typeface="Aptos"/>
              </a:rPr>
              <a:t>The order reverses; the column becomes a row.</a:t>
            </a:r>
          </a:p>
        </p:txBody>
      </p:sp>
      <p:sp>
        <p:nvSpPr>
          <p:cNvPr id="310" name="Stage3 takeaway background"/>
          <p:cNvSpPr txBox="1"/>
          <p:nvPr/>
        </p:nvSpPr>
        <p:spPr>
          <a:xfrm>
            <a:off x="457200" y="4279900"/>
            <a:ext cx="8229600" cy="444500"/>
          </a:xfrm>
          <a:prstGeom prst="rect">
            <a:avLst/>
          </a:prstGeom>
          <a:solidFill>
            <a:srgbClr val="FBEDEE"/>
          </a:solidFill>
          <a:ln>
            <a:noFill/>
          </a:ln>
        </p:spPr>
        <p:txBody>
          <a:bodyPr wrap="square" lIns="0" tIns="0" rIns="0" bIns="0" anchor="ctr">
            <a:noAutofit/>
          </a:bodyPr>
          <a:lstStyle/>
          <a:p>
            <a:pPr algn="l"/>
            <a:r>
              <a:rPr lang="en-US" sz="1600" b="0">
                <a:solidFill>
                  <a:srgbClr val="252529"/>
                </a:solidFill>
                <a:latin typeface="Aptos"/>
              </a:rPr>
              <a:t/>
            </a:r>
          </a:p>
        </p:txBody>
      </p:sp>
      <p:sp>
        <p:nvSpPr>
          <p:cNvPr id="311"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C81919"/>
                </a:solidFill>
                <a:latin typeface="Aptos"/>
              </a:rPr>
              <a:t>This is not the dual filtered interconnection.</a:t>
            </a:r>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