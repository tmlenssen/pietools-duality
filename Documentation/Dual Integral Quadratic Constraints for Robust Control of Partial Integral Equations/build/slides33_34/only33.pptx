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45A91"/>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087F8C"/>
                                </a:solidFill>
                                <a:latin typeface="Cambria Math" panose="02040503050406030204" pitchFamily="18" charset="0"/>
                              </a:rPr>
                            </m:ctrlPr>
                          </m:accPr>
                          <m:e>
                            <m:r>
                              <m:rPr>
                                <m:sty m:val="p"/>
                              </m:rPr>
                              <a:rPr lang="en-US" sz="1998" b="0" i="0" smtClean="0">
                                <a:solidFill>
                                  <a:srgbClr val="087F8C"/>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087F8C"/>
                                </a:solidFill>
                                <a:latin typeface="Cambria Math" panose="02040503050406030204" pitchFamily="18" charset="0"/>
                              </a:rPr>
                            </m:ctrlPr>
                          </m:accPr>
                          <m:e>
                            <m:r>
                              <m:rPr>
                                <m:sty m:val="p"/>
                              </m:rPr>
                              <a:rPr lang="en-US" sz="1998" b="0" i="1" smtClean="0">
                                <a:solidFill>
                                  <a:srgbClr val="087F8C"/>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087F8C"/>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087F8C"/>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087F8C"/>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087F8C"/>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087F8C"/>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The controller gives a zero residual</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Encode the exact feedback law as a constraint on the filtered signals.</a:t>
            </a:r>
          </a:p>
        </p:txBody>
      </p:sp>
      <mc:AlternateContent>
        <mc:Choice Requires="a14">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pPr algn="l"/>
                <a14:m>
                  <m:oMathPara>
                    <m:oMathParaPr>
                      <m:jc m:val="left"/>
                    </m:oMathParaPr>
                    <m:oMath>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=𝐴𝑥+</m:t>
                      </m:r>
                      <m:sSub>
                        <m:sSubPr>
                          <m:ctrlPr>
                            <a:rPr lang="en-US" sz="1600">
                              <a:solidFill>
                                <a:srgbClr val="252529"/>
                              </a:solidFill>
                              <a:latin typeface="Cambria Math"/>
                            </a:rPr>
                          </m:ctrlPr>
                        </m:sSubPr>
                        <m:e>
                          <m:r>
                            <a:rPr lang="en-US" sz="1600">
                              <a:solidFill>
                                <a:srgbClr val="252529"/>
                              </a:solidFill>
                              <a:latin typeface="Cambria Math"/>
                            </a:rPr>
                            <m:t>𝐵</m:t>
                          </m:r>
                        </m:e>
                        <m:sub>
                          <m:r>
                            <a:rPr lang="en-US" sz="1600">
                              <a:solidFill>
                                <a:srgbClr val="252529"/>
                              </a:solidFill>
                              <a:latin typeface="Cambria Math"/>
                            </a:rPr>
                            <m:t>u</m:t>
                          </m:r>
                        </m:sub>
                      </m:sSub>
                      <m:r>
                        <a:rPr lang="en-US" sz="1600">
                          <a:solidFill>
                            <a:srgbClr val="252529"/>
                          </a:solidFill>
                          <a:latin typeface="Cambria Math"/>
                        </a:rPr>
                        <m:t>𝑢</m:t>
                      </m:r>
                    </m:oMath>
                  </m:oMathPara>
                </a14:m>
                <a:endParaRPr sz="1600">
                  <a:latin typeface="Cambria Math"/>
                </a:endParaRPr>
              </a:p>
            </p:txBody>
          </p:sp>
        </mc:Choice>
        <mc:Fallback>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pPr algn="l"/>
                <a14:m>
                  <m:oMathPara>
                    <m:oMathParaPr>
                      <m:jc m:val="left"/>
                    </m:oMathParaPr>
                    <m:oMath>
                      <m:r>
                        <a:rPr lang="en-US" sz="1500">
                          <a:solidFill>
                            <a:srgbClr val="252529"/>
                          </a:solidFill>
                          <a:latin typeface="Cambria Math"/>
                        </a:rPr>
                        <m:t>𝑦=𝑥</m:t>
                      </m:r>
                    </m:oMath>
                  </m:oMathPara>
                </a14:m>
                <a:endParaRPr sz="1500">
                  <a:latin typeface="Cambria Math"/>
                </a:endParaRPr>
              </a:p>
            </p:txBody>
          </p:sp>
        </mc:Choice>
        <mc:Fallback>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1  Encode the controller</a:t>
            </a:r>
          </a:p>
        </p:txBody>
      </p:sp>
      <mc:AlternateContent>
        <mc:Choice Requires="a14">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pPr algn="l"/>
                <a14:m>
                  <m:oMathPara>
                    <m:oMathParaPr>
                      <m:jc m:val="left"/>
                    </m:oMathParaPr>
                    <m:oMath>
                      <m:r>
                        <a:rPr lang="en-US" sz="1900">
                          <a:solidFill>
                            <a:srgbClr val="087F8C"/>
                          </a:solidFill>
                          <a:latin typeface="Cambria Math"/>
                        </a:rPr>
                        <m:t>Θ</m:t>
                      </m:r>
                      <m:r>
                        <a:rPr lang="en-US" sz="1900">
                          <a:solidFill>
                            <a:srgbClr val="252529"/>
                          </a:solidFill>
                          <a:latin typeface="Cambria Math"/>
                        </a:rPr>
                        <m:t>=</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a:rPr lang="en-US" sz="1900">
                                    <a:solidFill>
                                      <a:srgbClr val="252529"/>
                                    </a:solidFill>
                                    <a:latin typeface="Cambria Math"/>
                                  </a:rPr>
                                  <m:t>𝐼</m:t>
                                </m:r>
                              </m:e>
                              <m:e>
                                <m:r>
                                  <a:rPr lang="en-US" sz="1900">
                                    <a:solidFill>
                                      <a:srgbClr val="252529"/>
                                    </a:solidFill>
                                    <a:latin typeface="Cambria Math"/>
                                  </a:rPr>
                                  <m:t>0</m:t>
                                </m:r>
                              </m:e>
                            </m:mr>
                            <m:mr>
                              <m:e>
                                <m:r>
                                  <a:rPr lang="en-US" sz="1900">
                                    <a:solidFill>
                                      <a:srgbClr val="252529"/>
                                    </a:solidFill>
                                    <a:latin typeface="Cambria Math"/>
                                  </a:rPr>
                                  <m:t>−</m:t>
                                </m:r>
                                <m:r>
                                  <a:rPr lang="en-US" sz="1900">
                                    <a:solidFill>
                                      <a:srgbClr val="245A91"/>
                                    </a:solidFill>
                                    <a:latin typeface="Cambria Math"/>
                                  </a:rPr>
                                  <m:t>𝐾</m:t>
                                </m:r>
                              </m:e>
                              <m:e>
                                <m:r>
                                  <a:rPr lang="en-US" sz="1900">
                                    <a:solidFill>
                                      <a:srgbClr val="252529"/>
                                    </a:solidFill>
                                    <a:latin typeface="Cambria Math"/>
                                  </a:rPr>
                                  <m:t>𝐼</m:t>
                                </m:r>
                              </m:e>
                            </m:mr>
                          </m:m>
                        </m:e>
                      </m:d>
                    </m:oMath>
                  </m:oMathPara>
                </a14:m>
                <a:endParaRPr sz="1900">
                  <a:latin typeface="Cambria Math"/>
                </a:endParaRPr>
              </a:p>
            </p:txBody>
          </p:sp>
        </mc:Choice>
        <mc:Fallback>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2  Impose the feedback law</a:t>
            </a:r>
          </a:p>
        </p:txBody>
      </p:sp>
      <mc:AlternateContent>
        <mc:Choice Requires="a14">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𝑦</m:t>
                          </m:r>
                        </m:e>
                      </m:acc>
                      <m:r>
                        <a:rPr lang="en-US" sz="1800">
                          <a:solidFill>
                            <a:srgbClr val="252529"/>
                          </a:solidFill>
                          <a:latin typeface="Cambria Math"/>
                        </a:rPr>
                        <m:t>=𝑦=𝑥</m:t>
                      </m:r>
                    </m:oMath>
                  </m:oMathPara>
                </a14:m>
                <a:endParaRPr sz="1800">
                  <a:latin typeface="Cambria Math"/>
                </a:endParaRPr>
              </a:p>
            </p:txBody>
          </p:sp>
        </mc:Choice>
        <mc:Fallback>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pPr algn="l"/>
                <a14:m>
                  <m:oMathPara>
                    <m:oMathParaPr>
                      <m:jc m:val="left"/>
                    </m:oMathParaPr>
                    <m:oMath>
                      <m:r>
                        <a:rPr lang="en-US" sz="1800">
                          <a:solidFill>
                            <a:srgbClr val="252529"/>
                          </a:solidFill>
                          <a:latin typeface="Cambria Math"/>
                        </a:rPr>
                        <m:t>𝑢=</m:t>
                      </m:r>
                      <m:r>
                        <a:rPr lang="en-US" sz="1800">
                          <a:solidFill>
                            <a:srgbClr val="245A91"/>
                          </a:solidFill>
                          <a:latin typeface="Cambria Math"/>
                        </a:rPr>
                        <m:t>𝐾</m:t>
                      </m:r>
                      <m:r>
                        <a:rPr lang="en-US" sz="1800">
                          <a:solidFill>
                            <a:srgbClr val="252529"/>
                          </a:solidFill>
                          <a:latin typeface="Cambria Math"/>
                        </a:rPr>
                        <m:t>𝑦  ⇒  </m:t>
                      </m:r>
                      <m:acc>
                        <m:accPr>
                          <m:chr m:val="̃"/>
                          <m:ctrlPr>
                            <a:rPr lang="en-US" sz="1800">
                              <a:solidFill>
                                <a:srgbClr val="252529"/>
                              </a:solidFill>
                              <a:latin typeface="Cambria Math"/>
                            </a:rPr>
                          </m:ctrlPr>
                        </m:accPr>
                        <m:e>
                          <m:r>
                            <a:rPr lang="en-US" sz="1800">
                              <a:solidFill>
                                <a:srgbClr val="087F8C"/>
                              </a:solidFill>
                              <a:latin typeface="Cambria Math"/>
                            </a:rPr>
                            <m:t>𝑢</m:t>
                          </m:r>
                        </m:e>
                      </m:acc>
                      <m:r>
                        <a:rPr lang="en-US" sz="1800">
                          <a:solidFill>
                            <a:srgbClr val="252529"/>
                          </a:solidFill>
                          <a:latin typeface="Cambria Math"/>
                        </a:rPr>
                        <m:t>=𝑢−</m:t>
                      </m:r>
                      <m:r>
                        <a:rPr lang="en-US" sz="1800">
                          <a:solidFill>
                            <a:srgbClr val="245A91"/>
                          </a:solidFill>
                          <a:latin typeface="Cambria Math"/>
                        </a:rPr>
                        <m:t>𝐾</m:t>
                      </m:r>
                      <m:r>
                        <a:rPr lang="en-US" sz="1800">
                          <a:solidFill>
                            <a:srgbClr val="087F8C"/>
                          </a:solidFill>
                          <a:latin typeface="Cambria Math"/>
                        </a:rPr>
                        <m:t>𝑦=0</m:t>
                      </m:r>
                    </m:oMath>
                  </m:oMathPara>
                </a14:m>
                <a:endParaRPr sz="1800">
                  <a:latin typeface="Cambria Math"/>
                </a:endParaRPr>
              </a:p>
            </p:txBody>
          </p:sp>
        </mc:Choice>
        <mc:Fallback>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heading"/>
          <p:cNvSpPr txBox="1"/>
          <p:nvPr/>
        </p:nvSpPr>
        <p:spPr>
          <a:xfrm>
            <a:off x="4495800" y="35306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3  Recover the closed loop</a:t>
            </a:r>
          </a:p>
        </p:txBody>
      </p:sp>
      <mc:AlternateContent>
        <mc:Choice Requires="a14">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pPr algn="l"/>
                <a14:m>
                  <m:oMathPara>
                    <m:oMathParaPr>
                      <m:jc m:val="left"/>
                    </m:oMathParaPr>
                    <m:oMath>
                      <m:r>
                        <a:rPr lang="en-US" sz="1800">
                          <a:solidFill>
                            <a:srgbClr val="252529"/>
                          </a:solidFill>
                          <a:latin typeface="Cambria Math"/>
                        </a:rPr>
                        <m:t>𝑇</m:t>
                      </m:r>
                      <m:acc>
                        <m:accPr>
                          <m:chr m:val="̇"/>
                          <m:ctrlPr>
                            <a:rPr lang="en-US" sz="1800">
                              <a:solidFill>
                                <a:srgbClr val="252529"/>
                              </a:solidFill>
                              <a:latin typeface="Cambria Math"/>
                            </a:rPr>
                          </m:ctrlPr>
                        </m:accPr>
                        <m:e>
                          <m:r>
                            <a:rPr lang="en-US" sz="1800">
                              <a:solidFill>
                                <a:srgbClr val="252529"/>
                              </a:solidFill>
                              <a:latin typeface="Cambria Math"/>
                            </a:rPr>
                            <m:t>𝑥</m:t>
                          </m:r>
                        </m:e>
                      </m:acc>
                      <m:r>
                        <a:rPr lang="en-US" sz="1800">
                          <a:solidFill>
                            <a:srgbClr val="252529"/>
                          </a:solidFill>
                          <a:latin typeface="Cambria Math"/>
                        </a:rPr>
                        <m:t>=</m:t>
                      </m:r>
                      <m:d>
                        <m:dPr>
                          <m:begChr m:val="("/>
                          <m:endChr m:val=")"/>
                          <m:ctrlPr>
                            <a:rPr lang="en-US" sz="1800">
                              <a:solidFill>
                                <a:srgbClr val="252529"/>
                              </a:solidFill>
                              <a:latin typeface="Cambria Math"/>
                            </a:rPr>
                          </m:ctrlPr>
                        </m:dPr>
                        <m:e>
                          <m:r>
                            <a:rPr lang="en-US" sz="1800">
                              <a:solidFill>
                                <a:srgbClr val="252529"/>
                              </a:solidFill>
                              <a:latin typeface="Cambria Math"/>
                            </a:rPr>
                            <m:t>𝐴+</m:t>
                          </m:r>
                          <m:sSub>
                            <m:sSubPr>
                              <m:ctrlPr>
                                <a:rPr lang="en-US" sz="1800">
                                  <a:solidFill>
                                    <a:srgbClr val="252529"/>
                                  </a:solidFill>
                                  <a:latin typeface="Cambria Math"/>
                                </a:rPr>
                              </m:ctrlPr>
                            </m:sSubPr>
                            <m:e>
                              <m:r>
                                <a:rPr lang="en-US" sz="1800">
                                  <a:solidFill>
                                    <a:srgbClr val="252529"/>
                                  </a:solidFill>
                                  <a:latin typeface="Cambria Math"/>
                                </a:rPr>
                                <m:t>𝐵</m:t>
                              </m:r>
                            </m:e>
                            <m:sub>
                              <m:r>
                                <a:rPr lang="en-US" sz="1800">
                                  <a:solidFill>
                                    <a:srgbClr val="252529"/>
                                  </a:solidFill>
                                  <a:latin typeface="Cambria Math"/>
                                </a:rPr>
                                <m:t>u</m:t>
                              </m:r>
                            </m:sub>
                          </m:sSub>
                          <m:r>
                            <a:rPr lang="en-US" sz="1800">
                              <a:solidFill>
                                <a:srgbClr val="245A91"/>
                              </a:solidFill>
                              <a:latin typeface="Cambria Math"/>
                            </a:rPr>
                            <m:t>𝐾</m:t>
                          </m:r>
                        </m:e>
                      </m:d>
                      <m:r>
                        <a:rPr lang="en-US" sz="1800">
                          <a:solidFill>
                            <a:srgbClr val="252529"/>
                          </a:solidFill>
                          <a:latin typeface="Cambria Math"/>
                        </a:rPr>
                        <m:t>𝑥</m:t>
                      </m:r>
                    </m:oMath>
                  </m:oMathPara>
                </a14:m>
                <a:endParaRPr sz="1800">
                  <a:latin typeface="Cambria Math"/>
                </a:endParaRPr>
              </a:p>
            </p:txBody>
          </p:sp>
        </mc:Choice>
        <mc:Fallback>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2"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r>
              <a:rPr lang="en-US" sz="1600" b="0">
                <a:solidFill>
                  <a:srgbClr val="252529"/>
                </a:solidFill>
                <a:latin typeface="Aptos"/>
              </a:rPr>
              <a:t/>
            </a:r>
          </a:p>
        </p:txBody>
      </p:sp>
      <p:sp>
        <p:nvSpPr>
          <p:cNvPr id="313"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residual vanishes because the controller enforces u = Ky.</a:t>
            </a:r>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17155050-E1BE-85FC-E86C-24500A2BAB8B}"/>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1097D2-BAEF-EEED-6FD9-CD3AE2E967E6}"/>
                  </a:ext>
                </a:extLst>
              </p:cNvPr>
              <p:cNvSpPr txBox="1"/>
              <p:nvPr/>
            </p:nvSpPr>
            <p:spPr>
              <a:xfrm>
                <a:off x="5332129" y="1462174"/>
                <a:ext cx="2473689" cy="481222"/>
              </a:xfrm>
              <a:prstGeom prst="rect">
                <a:avLst/>
              </a:prstGeom>
              <a:noFill/>
            </p:spPr>
            <p:txBody>
              <a:bodyPr wrap="none" lIns="0" tIns="0" rIns="0" bIns="0" rtlCol="0">
                <a:spAutoFit/>
              </a:bodyPr>
              <a:lstStyle/>
              <a:p>
                <a:pPr/>
                <a14:m>
                  <m:oMathPara xmlns:m="http://schemas.openxmlformats.org/officeDocument/2006/math">
                    <m:oMath>
                      <m:sSup>
                        <m:sSupPr>
                          <m:ctrlPr>
                            <a:rPr lang="nl-NL" i="1" smtClean="0">
                              <a:latin typeface="Cambria Math" panose="02040503050406030204" pitchFamily="18" charset="0"/>
                            </a:rPr>
                          </m:ctrlPr>
                        </m:sSupPr>
                        <m:e>
                          <m:r>
                            <m:rPr>
                              <m:sty m:val="p"/>
                            </m:rPr>
                            <a:rPr lang="nl-NL" i="1" smtClean="0">
                              <a:latin typeface="Cambria Math" panose="02040503050406030204" pitchFamily="18" charset="0"/>
                            </a:rPr>
                            <m:t>Θ</m:t>
                          </m:r>
                        </m:e>
                        <m:sup>
                          <m:r>
                            <a:rPr lang="nl-NL" i="1" smtClean="0">
                              <a:latin typeface="Cambria Math" panose="02040503050406030204" pitchFamily="18" charset="0"/>
                            </a:rPr>
                            <m:t>⊤</m:t>
                          </m:r>
                        </m:sup>
                      </m:sSup>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𝑦</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𝑢</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m>
                                <m:mPr>
                                  <m:mcs>
                                    <m:mc>
                                      <m:mcPr>
                                        <m:count m:val="2"/>
                                        <m:mcJc m:val="center"/>
                                      </m:mcPr>
                                    </m:mc>
                                  </m:mcs>
                                  <m:ctrlPr>
                                    <a:rPr lang="nl-NL" i="1" smtClean="0">
                                      <a:latin typeface="Cambria Math" panose="02040503050406030204" pitchFamily="18" charset="0"/>
                                    </a:rPr>
                                  </m:ctrlPr>
                                </m:mPr>
                                <m:mr>
                                  <m:e>
                                    <m:r>
                                      <a:rPr lang="nl-NL" i="1" smtClean="0">
                                        <a:latin typeface="Cambria Math" panose="02040503050406030204" pitchFamily="18" charset="0"/>
                                      </a:rPr>
                                      <m:t>𝐼</m:t>
                                    </m:r>
                                  </m:e>
                                  <m:e>
                                    <m:r>
                                      <a:rPr lang="nl-NL" i="1" smtClean="0">
                                        <a:latin typeface="Cambria Math" panose="02040503050406030204" pitchFamily="18" charset="0"/>
                                      </a:rPr>
                                      <m:t>−</m:t>
                                    </m:r>
                                    <m:sSup>
                                      <m:sSupPr>
                                        <m:ctrlPr>
                                          <a:rPr lang="nl-NL" i="1" smtClean="0">
                                            <a:latin typeface="Cambria Math" panose="02040503050406030204" pitchFamily="18" charset="0"/>
                                          </a:rPr>
                                        </m:ctrlPr>
                                      </m:sSupPr>
                                      <m:e>
                                        <m:r>
                                          <a:rPr lang="nl-NL" i="1" smtClean="0">
                                            <a:latin typeface="Cambria Math" panose="02040503050406030204" pitchFamily="18" charset="0"/>
                                          </a:rPr>
                                          <m:t>𝐾</m:t>
                                        </m:r>
                                      </m:e>
                                      <m:sup>
                                        <m:r>
                                          <a:rPr lang="nl-NL" i="1" smtClean="0">
                                            <a:latin typeface="Cambria Math" panose="02040503050406030204" pitchFamily="18" charset="0"/>
                                          </a:rPr>
                                          <m:t>∗</m:t>
                                        </m:r>
                                      </m:sup>
                                    </m:sSup>
                                  </m:e>
                                </m:mr>
                                <m:mr>
                                  <m:e>
                                    <m:r>
                                      <a:rPr lang="nl-NL" i="1" smtClean="0">
                                        <a:latin typeface="Cambria Math" panose="02040503050406030204" pitchFamily="18" charset="0"/>
                                      </a:rPr>
                                      <m:t>0</m:t>
                                    </m:r>
                                  </m:e>
                                  <m:e>
                                    <m:r>
                                      <a:rPr lang="nl-NL" i="1" smtClean="0">
                                        <a:latin typeface="Cambria Math" panose="02040503050406030204" pitchFamily="18" charset="0"/>
                                      </a:rPr>
                                      <m:t>𝐼</m:t>
                                    </m:r>
                                  </m:e>
                                </m:mr>
                              </m:m>
                            </m:e>
                          </m:d>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𝑦</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𝑢</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B71097D2-BAEF-EEED-6FD9-CD3AE2E967E6}"/>
                  </a:ext>
                </a:extLst>
              </p:cNvPr>
              <p:cNvSpPr txBox="1">
                <a:spLocks noRot="1" noChangeAspect="1" noMove="1" noResize="1" noEditPoints="1" noAdjustHandles="1" noChangeArrowheads="1" noChangeShapeType="1" noTextEdit="1"/>
              </p:cNvSpPr>
              <p:nvPr/>
            </p:nvSpPr>
            <p:spPr>
              <a:xfrm>
                <a:off x="5332129" y="1462174"/>
                <a:ext cx="2473689" cy="481222"/>
              </a:xfrm>
              <a:prstGeom prst="rect">
                <a:avLst/>
              </a:prstGeom>
              <a:blipFill>
                <a:blip r:embed="rId9"/>
                <a:stretch>
                  <a:fillRect l="-15062" t="-215190" b="-3063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DB0AD9-84C9-B0A0-DED8-0EA44A1BB889}"/>
                  </a:ext>
                </a:extLst>
              </p:cNvPr>
              <p:cNvSpPr txBox="1"/>
              <p:nvPr/>
            </p:nvSpPr>
            <p:spPr>
              <a:xfrm>
                <a:off x="4957379" y="3781312"/>
                <a:ext cx="2630657"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𝒯</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ℬ</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𝒦</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84DB0AD9-84C9-B0A0-DED8-0EA44A1BB889}"/>
                  </a:ext>
                </a:extLst>
              </p:cNvPr>
              <p:cNvSpPr txBox="1">
                <a:spLocks noRot="1" noChangeAspect="1" noMove="1" noResize="1" noEditPoints="1" noAdjustHandles="1" noChangeArrowheads="1" noChangeShapeType="1" noTextEdit="1"/>
              </p:cNvSpPr>
              <p:nvPr/>
            </p:nvSpPr>
            <p:spPr>
              <a:xfrm>
                <a:off x="4957379" y="3781312"/>
                <a:ext cx="2630657" cy="463460"/>
              </a:xfrm>
              <a:prstGeom prst="rect">
                <a:avLst/>
              </a:prstGeom>
              <a:blipFill>
                <a:blip r:embed="rId10"/>
                <a:stretch>
                  <a:fillRect l="-6250"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693A5CCD-4A42-8817-5C0B-46C3EA64339C}"/>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FAB973-46C2-0B61-3A4C-532C3561FD1E}"/>
                  </a:ext>
                </a:extLst>
              </p:cNvPr>
              <p:cNvSpPr txBox="1"/>
              <p:nvPr/>
            </p:nvSpPr>
            <p:spPr>
              <a:xfrm>
                <a:off x="5232391" y="2568179"/>
                <a:ext cx="3054041" cy="345287"/>
              </a:xfrm>
              <a:prstGeom prst="rect">
                <a:avLst/>
              </a:prstGeom>
              <a:noFill/>
            </p:spPr>
            <p:txBody>
              <a:bodyPr wrap="none"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𝑦</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7CFAB973-46C2-0B61-3A4C-532C3561FD1E}"/>
                  </a:ext>
                </a:extLst>
              </p:cNvPr>
              <p:cNvSpPr txBox="1">
                <a:spLocks noRot="1" noChangeAspect="1" noMove="1" noResize="1" noEditPoints="1" noAdjustHandles="1" noChangeArrowheads="1" noChangeShapeType="1" noTextEdit="1"/>
              </p:cNvSpPr>
              <p:nvPr/>
            </p:nvSpPr>
            <p:spPr>
              <a:xfrm>
                <a:off x="5232391" y="2568179"/>
                <a:ext cx="3054041" cy="345287"/>
              </a:xfrm>
              <a:prstGeom prst="rect">
                <a:avLst/>
              </a:prstGeom>
              <a:blipFill>
                <a:blip r:embed="rId11"/>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1993D1-7F3F-74F5-15F8-BDFA8E6A547C}"/>
                  </a:ext>
                </a:extLst>
              </p:cNvPr>
              <p:cNvSpPr txBox="1"/>
              <p:nvPr/>
            </p:nvSpPr>
            <p:spPr>
              <a:xfrm>
                <a:off x="5324406" y="2962892"/>
                <a:ext cx="1087414" cy="309765"/>
              </a:xfrm>
              <a:prstGeom prst="rect">
                <a:avLst/>
              </a:prstGeom>
              <a:noFill/>
            </p:spPr>
            <p:txBody>
              <a:bodyPr wrap="none" rtlCol="0">
                <a:spAutoFit/>
              </a:bodyPr>
              <a:lstStyle/>
              <a:p>
                <a14:m>
                  <m:oMath xmlns:m="http://schemas.openxmlformats.org/officeDocument/2006/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t> </a:t>
                </a:r>
                <a:endParaRPr lang="en-NL" dirty="0"/>
              </a:p>
            </p:txBody>
          </p:sp>
        </mc:Choice>
        <mc:Fallback xmlns="">
          <p:sp>
            <p:nvSpPr>
              <p:cNvPr id="13" name="TextBox 12">
                <a:extLst>
                  <a:ext uri="{FF2B5EF4-FFF2-40B4-BE49-F238E27FC236}">
                    <a16:creationId xmlns:a16="http://schemas.microsoft.com/office/drawing/2014/main" id="{881993D1-7F3F-74F5-15F8-BDFA8E6A547C}"/>
                  </a:ext>
                </a:extLst>
              </p:cNvPr>
              <p:cNvSpPr txBox="1">
                <a:spLocks noRot="1" noChangeAspect="1" noMove="1" noResize="1" noEditPoints="1" noAdjustHandles="1" noChangeArrowheads="1" noChangeShapeType="1" noTextEdit="1"/>
              </p:cNvSpPr>
              <p:nvPr/>
            </p:nvSpPr>
            <p:spPr>
              <a:xfrm>
                <a:off x="5324406" y="2962892"/>
                <a:ext cx="1087414" cy="309765"/>
              </a:xfrm>
              <a:prstGeom prst="rect">
                <a:avLst/>
              </a:prstGeom>
              <a:blipFill>
                <a:blip r:embed="rId12"/>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4489752F-12D8-469C-D481-9503E14A908D}"/>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