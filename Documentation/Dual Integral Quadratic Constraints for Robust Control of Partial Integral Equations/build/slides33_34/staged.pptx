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51"/>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1"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_rels/slide45.xml.rels><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250" name="Controller interconnection"/>
          <p:cNvGrpSpPr/>
          <p:nvPr/>
        </p:nvGrpSpPr>
        <p:grpSpPr>
          <a:xfrm>
            <a:off x="533400" y="1866900"/>
            <a:ext cx="3441700" cy="2264410"/>
            <a:chOff x="457200" y="1308149"/>
            <a:chExt cx="4258818" cy="2803080"/>
          </a:xfrm>
        </p:grpSpPr>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45A91"/>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087F8C"/>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087F8C"/>
                                </a:solidFill>
                                <a:latin typeface="Cambria Math" panose="02040503050406030204" pitchFamily="18" charset="0"/>
                              </a:rPr>
                            </m:ctrlPr>
                          </m:accPr>
                          <m:e>
                            <m:r>
                              <m:rPr>
                                <m:sty m:val="p"/>
                              </m:rPr>
                              <a:rPr lang="en-US" sz="1998" b="0" i="0" smtClean="0">
                                <a:solidFill>
                                  <a:srgbClr val="087F8C"/>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087F8C"/>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087F8C"/>
                                </a:solidFill>
                                <a:latin typeface="Cambria Math" panose="02040503050406030204" pitchFamily="18" charset="0"/>
                              </a:rPr>
                            </m:ctrlPr>
                          </m:accPr>
                          <m:e>
                            <m:r>
                              <m:rPr>
                                <m:sty m:val="p"/>
                              </m:rPr>
                              <a:rPr lang="en-US" sz="1998" b="0" i="1" smtClean="0">
                                <a:solidFill>
                                  <a:srgbClr val="087F8C"/>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087F8C"/>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087F8C"/>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087F8C"/>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087F8C"/>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087F8C"/>
            </a:solidFill>
            <a:ln>
              <a:noFill/>
            </a:ln>
          </p:spPr>
          <p:txBody>
            <a:bodyPr/>
            <a:lstStyle/>
            <a:p>
              <a:endParaRPr lang="en-NL"/>
            </a:p>
          </p:txBody>
        </p:sp>
      </p:gr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The controller gives a zero residual</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Encode the exact feedback law as a constraint on the filtered signals.</a:t>
            </a:r>
          </a:p>
        </p:txBody>
      </p:sp>
      <mc:AlternateContent>
        <mc:Choice Requires="a14">
          <p:sp>
            <p:nvSpPr>
              <p:cNvPr id="303" name="Plant equation"/>
              <p:cNvSpPr txBox="1"/>
              <p:nvPr/>
            </p:nvSpPr>
            <p:spPr>
              <a:xfrm>
                <a:off x="546100" y="1282700"/>
                <a:ext cx="3733800" cy="3048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600">
                          <a:solidFill>
                            <a:srgbClr val="252529"/>
                          </a:solidFill>
                          <a:latin typeface="Cambria Math"/>
                        </a:rPr>
                        <m:t xml:space="preserve">𝑇</m:t>
                      </m:r>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𝑥</m:t>
                          </m:r>
                        </m:e>
                      </m:acc>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𝐴</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r>
                        <m:rPr>
                          <m:sty m:val="p"/>
                        </m:rPr>
                        <a:rPr lang="en-US" sz="1600">
                          <a:solidFill>
                            <a:srgbClr val="252529"/>
                          </a:solidFill>
                          <a:latin typeface="Cambria Math"/>
                        </a:rPr>
                        <m:t xml:space="preserve">𝑢</m:t>
                      </m:r>
                    </m:oMath>
                  </m:oMathPara>
                </a14:m>
                <a:endParaRPr sz="1600">
                  <a:latin typeface="Cambria Math"/>
                </a:endParaRPr>
              </a:p>
            </p:txBody>
          </p:sp>
        </mc:Choice>
        <mc:Fallback>
          <p:sp>
            <p:nvSpPr>
              <p:cNvPr id="303" name="Plant equation"/>
              <p:cNvSpPr txBox="1"/>
              <p:nvPr/>
            </p:nvSpPr>
            <p:spPr>
              <a:xfrm>
                <a:off x="546100" y="1282700"/>
                <a:ext cx="37338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Measured state"/>
              <p:cNvSpPr txBox="1"/>
              <p:nvPr/>
            </p:nvSpPr>
            <p:spPr>
              <a:xfrm>
                <a:off x="546100" y="1600200"/>
                <a:ext cx="3048000" cy="2540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00">
                          <a:solidFill>
                            <a:srgbClr val="252529"/>
                          </a:solidFill>
                          <a:latin typeface="Cambria Math"/>
                        </a:rPr>
                        <m:t xml:space="preserve">𝑦</m:t>
                      </m:r>
                      <m:r>
                        <m:rPr>
                          <m:sty m:val="p"/>
                        </m:rPr>
                        <a:rPr lang="en-US" sz="1500">
                          <a:solidFill>
                            <a:srgbClr val="252529"/>
                          </a:solidFill>
                          <a:latin typeface="Cambria Math"/>
                        </a:rPr>
                        <m:t xml:space="preserve">=</m:t>
                      </m:r>
                      <m:r>
                        <m:rPr>
                          <m:sty m:val="p"/>
                        </m:rPr>
                        <a:rPr lang="en-US" sz="1500">
                          <a:solidFill>
                            <a:srgbClr val="252529"/>
                          </a:solidFill>
                          <a:latin typeface="Cambria Math"/>
                        </a:rPr>
                        <m:t xml:space="preserve">𝑥</m:t>
                      </m:r>
                    </m:oMath>
                  </m:oMathPara>
                </a14:m>
                <a:endParaRPr sz="1500">
                  <a:latin typeface="Cambria Math"/>
                </a:endParaRPr>
              </a:p>
            </p:txBody>
          </p:sp>
        </mc:Choice>
        <mc:Fallback>
          <p:sp>
            <p:nvSpPr>
              <p:cNvPr id="304" name="Measured state"/>
              <p:cNvSpPr txBox="1"/>
              <p:nvPr/>
            </p:nvSpPr>
            <p:spPr>
              <a:xfrm>
                <a:off x="546100" y="1600200"/>
                <a:ext cx="3048000" cy="254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1 heading"/>
          <p:cNvSpPr txBox="1"/>
          <p:nvPr/>
        </p:nvSpPr>
        <p:spPr>
          <a:xfrm>
            <a:off x="4495800" y="12827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1  Encode the controller</a:t>
            </a:r>
          </a:p>
        </p:txBody>
      </p:sp>
      <mc:AlternateContent>
        <mc:Choice Requires="a14">
          <p:sp>
            <p:nvSpPr>
              <p:cNvPr id="306" name="Stage1 filter"/>
              <p:cNvSpPr txBox="1"/>
              <p:nvPr/>
            </p:nvSpPr>
            <p:spPr>
              <a:xfrm>
                <a:off x="4635500" y="1600200"/>
                <a:ext cx="3886200" cy="6096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900">
                          <a:solidFill>
                            <a:srgbClr val="087F8C"/>
                          </a:solidFill>
                          <a:latin typeface="Cambria Math"/>
                        </a:rPr>
                        <m:t xml:space="preserve">Θ</m:t>
                      </m:r>
                      <m:r>
                        <m:rPr>
                          <m:sty m:val="p"/>
                        </m:rPr>
                        <a:rPr lang="en-US" sz="1900">
                          <a:solidFill>
                            <a:srgbClr val="252529"/>
                          </a:solidFill>
                          <a:latin typeface="Cambria Math"/>
                        </a:rPr>
                        <m:t xml:space="preserve">=</m:t>
                      </m:r>
                      <m:d>
                        <m:dPr>
                          <m:begChr m:val="["/>
                          <m:endChr m:val="]"/>
                          <m:ctrlPr>
                            <a:rPr lang="en-US" sz="1900">
                              <a:solidFill>
                                <a:srgbClr val="252529"/>
                              </a:solidFill>
                              <a:latin typeface="Cambria Math"/>
                            </a:rPr>
                          </m:ctrlPr>
                        </m:dPr>
                        <m:e>
                          <m:m>
                            <m:mPr>
                              <m:ctrlPr>
                                <a:rPr lang="en-US" sz="1900">
                                  <a:solidFill>
                                    <a:srgbClr val="252529"/>
                                  </a:solidFill>
                                  <a:latin typeface="Cambria Math"/>
                                </a:rPr>
                              </m:ctrlPr>
                            </m:mPr>
                            <m:mr>
                              <m:e>
                                <m:r>
                                  <m:rPr>
                                    <m:sty m:val="p"/>
                                  </m:rPr>
                                  <a:rPr lang="en-US" sz="1900">
                                    <a:solidFill>
                                      <a:srgbClr val="252529"/>
                                    </a:solidFill>
                                    <a:latin typeface="Cambria Math"/>
                                  </a:rPr>
                                  <m:t xml:space="preserve">𝐼</m:t>
                                </m:r>
                              </m:e>
                              <m:e>
                                <m:r>
                                  <m:rPr>
                                    <m:sty m:val="p"/>
                                  </m:rPr>
                                  <a:rPr lang="en-US" sz="1900">
                                    <a:solidFill>
                                      <a:srgbClr val="252529"/>
                                    </a:solidFill>
                                    <a:latin typeface="Cambria Math"/>
                                  </a:rPr>
                                  <m:t xml:space="preserve">0</m:t>
                                </m:r>
                              </m:e>
                            </m:mr>
                            <m:mr>
                              <m:e>
                                <m:r>
                                  <m:rPr>
                                    <m:sty m:val="p"/>
                                  </m:rPr>
                                  <a:rPr lang="en-US" sz="1900">
                                    <a:solidFill>
                                      <a:srgbClr val="252529"/>
                                    </a:solidFill>
                                    <a:latin typeface="Cambria Math"/>
                                  </a:rPr>
                                  <m:t xml:space="preserve">−</m:t>
                                </m:r>
                                <m:r>
                                  <m:rPr>
                                    <m:sty m:val="p"/>
                                  </m:rPr>
                                  <a:rPr lang="en-US" sz="1900">
                                    <a:solidFill>
                                      <a:srgbClr val="245A91"/>
                                    </a:solidFill>
                                    <a:latin typeface="Cambria Math"/>
                                  </a:rPr>
                                  <m:t xml:space="preserve">𝐾</m:t>
                                </m:r>
                              </m:e>
                              <m:e>
                                <m:r>
                                  <m:rPr>
                                    <m:sty m:val="p"/>
                                  </m:rPr>
                                  <a:rPr lang="en-US" sz="1900">
                                    <a:solidFill>
                                      <a:srgbClr val="252529"/>
                                    </a:solidFill>
                                    <a:latin typeface="Cambria Math"/>
                                  </a:rPr>
                                  <m:t xml:space="preserve">𝐼</m:t>
                                </m:r>
                              </m:e>
                            </m:mr>
                          </m:m>
                        </m:e>
                      </m:d>
                    </m:oMath>
                  </m:oMathPara>
                </a14:m>
                <a:endParaRPr sz="1900">
                  <a:latin typeface="Cambria Math"/>
                </a:endParaRPr>
              </a:p>
            </p:txBody>
          </p:sp>
        </mc:Choice>
        <mc:Fallback>
          <p:sp>
            <p:nvSpPr>
              <p:cNvPr id="306" name="Stage1 filter"/>
              <p:cNvSpPr txBox="1"/>
              <p:nvPr/>
            </p:nvSpPr>
            <p:spPr>
              <a:xfrm>
                <a:off x="4635500" y="1600200"/>
                <a:ext cx="38862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2 heading"/>
          <p:cNvSpPr txBox="1"/>
          <p:nvPr/>
        </p:nvSpPr>
        <p:spPr>
          <a:xfrm>
            <a:off x="4495800" y="23495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2  Impose the feedback law</a:t>
            </a:r>
          </a:p>
        </p:txBody>
      </p:sp>
      <mc:AlternateContent>
        <mc:Choice Requires="a14">
          <p:sp>
            <p:nvSpPr>
              <p:cNvPr id="308" name="Stage2 output"/>
              <p:cNvSpPr txBox="1"/>
              <p:nvPr/>
            </p:nvSpPr>
            <p:spPr>
              <a:xfrm>
                <a:off x="4635500" y="2641600"/>
                <a:ext cx="3937000" cy="2921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𝑦</m:t>
                          </m:r>
                        </m:e>
                      </m:acc>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𝑦</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𝑥</m:t>
                      </m:r>
                    </m:oMath>
                  </m:oMathPara>
                </a14:m>
                <a:endParaRPr sz="1800">
                  <a:latin typeface="Cambria Math"/>
                </a:endParaRPr>
              </a:p>
            </p:txBody>
          </p:sp>
        </mc:Choice>
        <mc:Fallback>
          <p:sp>
            <p:nvSpPr>
              <p:cNvPr id="308" name="Stage2 output"/>
              <p:cNvSpPr txBox="1"/>
              <p:nvPr/>
            </p:nvSpPr>
            <p:spPr>
              <a:xfrm>
                <a:off x="4635500" y="2641600"/>
                <a:ext cx="39370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9" name="Stage2 residual"/>
              <p:cNvSpPr txBox="1"/>
              <p:nvPr/>
            </p:nvSpPr>
            <p:spPr>
              <a:xfrm>
                <a:off x="4635500" y="3009900"/>
                <a:ext cx="3937000" cy="3302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𝑢</m:t>
                      </m:r>
                      <m:r>
                        <m:rPr>
                          <m:sty m:val="p"/>
                        </m:rPr>
                        <a:rPr lang="en-US" sz="1800">
                          <a:solidFill>
                            <a:srgbClr val="252529"/>
                          </a:solidFill>
                          <a:latin typeface="Cambria Math"/>
                        </a:rPr>
                        <m:t xml:space="preserve">=</m:t>
                      </m:r>
                      <m:r>
                        <m:rPr>
                          <m:sty m:val="p"/>
                        </m:rPr>
                        <a:rPr lang="en-US" sz="1800">
                          <a:solidFill>
                            <a:srgbClr val="245A91"/>
                          </a:solidFill>
                          <a:latin typeface="Cambria Math"/>
                        </a:rPr>
                        <m:t xml:space="preserve">𝐾</m:t>
                      </m:r>
                      <m:r>
                        <m:rPr>
                          <m:sty m:val="p"/>
                        </m:rPr>
                        <a:rPr lang="en-US" sz="1800">
                          <a:solidFill>
                            <a:srgbClr val="252529"/>
                          </a:solidFill>
                          <a:latin typeface="Cambria Math"/>
                        </a:rPr>
                        <m:t xml:space="preserve">𝑦</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 </m:t>
                      </m:r>
                      <m:r>
                        <m:rPr>
                          <m:sty m:val="p"/>
                        </m:rPr>
                        <a:rPr lang="en-US" sz="1800">
                          <a:solidFill>
                            <a:srgbClr val="252529"/>
                          </a:solidFill>
                          <a:latin typeface="Cambria Math"/>
                        </a:rPr>
                        <m:t xml:space="preserve"> </m:t>
                      </m:r>
                      <m:acc>
                        <m:accPr>
                          <m:chr m:val="̃"/>
                          <m:ctrlPr>
                            <a:rPr lang="en-US" sz="1800">
                              <a:solidFill>
                                <a:srgbClr val="252529"/>
                              </a:solidFill>
                              <a:latin typeface="Cambria Math"/>
                            </a:rPr>
                          </m:ctrlPr>
                        </m:accPr>
                        <m:e>
                          <m:r>
                            <m:rPr>
                              <m:sty m:val="p"/>
                            </m:rPr>
                            <a:rPr lang="en-US" sz="1800">
                              <a:solidFill>
                                <a:srgbClr val="087F8C"/>
                              </a:solidFill>
                              <a:latin typeface="Cambria Math"/>
                            </a:rPr>
                            <m:t xml:space="preserve">𝑢</m:t>
                          </m:r>
                        </m:e>
                      </m:acc>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𝑢</m:t>
                      </m:r>
                      <m:r>
                        <m:rPr>
                          <m:sty m:val="p"/>
                        </m:rPr>
                        <a:rPr lang="en-US" sz="1800">
                          <a:solidFill>
                            <a:srgbClr val="252529"/>
                          </a:solidFill>
                          <a:latin typeface="Cambria Math"/>
                        </a:rPr>
                        <m:t xml:space="preserve">−</m:t>
                      </m:r>
                      <m:r>
                        <m:rPr>
                          <m:sty m:val="p"/>
                        </m:rPr>
                        <a:rPr lang="en-US" sz="1800">
                          <a:solidFill>
                            <a:srgbClr val="245A91"/>
                          </a:solidFill>
                          <a:latin typeface="Cambria Math"/>
                        </a:rPr>
                        <m:t xml:space="preserve">𝐾</m:t>
                      </m:r>
                      <m:r>
                        <m:rPr>
                          <m:sty m:val="p"/>
                        </m:rPr>
                        <a:rPr lang="en-US" sz="1800">
                          <a:solidFill>
                            <a:srgbClr val="087F8C"/>
                          </a:solidFill>
                          <a:latin typeface="Cambria Math"/>
                        </a:rPr>
                        <m:t xml:space="preserve">𝑦</m:t>
                      </m:r>
                      <m:r>
                        <m:rPr>
                          <m:sty m:val="p"/>
                        </m:rPr>
                        <a:rPr lang="en-US" sz="1800">
                          <a:solidFill>
                            <a:srgbClr val="087F8C"/>
                          </a:solidFill>
                          <a:latin typeface="Cambria Math"/>
                        </a:rPr>
                        <m:t xml:space="preserve">=</m:t>
                      </m:r>
                      <m:r>
                        <m:rPr>
                          <m:sty m:val="p"/>
                        </m:rPr>
                        <a:rPr lang="en-US" sz="1800">
                          <a:solidFill>
                            <a:srgbClr val="087F8C"/>
                          </a:solidFill>
                          <a:latin typeface="Cambria Math"/>
                        </a:rPr>
                        <m:t xml:space="preserve">0</m:t>
                      </m:r>
                    </m:oMath>
                  </m:oMathPara>
                </a14:m>
                <a:endParaRPr sz="1800">
                  <a:latin typeface="Cambria Math"/>
                </a:endParaRPr>
              </a:p>
            </p:txBody>
          </p:sp>
        </mc:Choice>
        <mc:Fallback>
          <p:sp>
            <p:nvSpPr>
              <p:cNvPr id="309" name="Stage2 residual"/>
              <p:cNvSpPr txBox="1"/>
              <p:nvPr/>
            </p:nvSpPr>
            <p:spPr>
              <a:xfrm>
                <a:off x="4635500" y="3009900"/>
                <a:ext cx="39370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heading"/>
          <p:cNvSpPr txBox="1"/>
          <p:nvPr/>
        </p:nvSpPr>
        <p:spPr>
          <a:xfrm>
            <a:off x="4495800" y="35306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3  Recover the closed loop</a:t>
            </a:r>
          </a:p>
        </p:txBody>
      </p:sp>
      <mc:AlternateContent>
        <mc:Choice Requires="a14">
          <p:sp>
            <p:nvSpPr>
              <p:cNvPr id="311" name="Stage3 dynamics"/>
              <p:cNvSpPr txBox="1"/>
              <p:nvPr/>
            </p:nvSpPr>
            <p:spPr>
              <a:xfrm>
                <a:off x="4635500" y="3835400"/>
                <a:ext cx="3937000" cy="317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𝑇</m:t>
                      </m:r>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𝑥</m:t>
                          </m:r>
                        </m:e>
                      </m:acc>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r>
                            <m:rPr>
                              <m:sty m:val="p"/>
                            </m:rPr>
                            <a:rPr lang="en-US" sz="1800">
                              <a:solidFill>
                                <a:srgbClr val="252529"/>
                              </a:solidFill>
                              <a:latin typeface="Cambria Math"/>
                            </a:rPr>
                            <m:t xml:space="preserve">𝐴</m:t>
                          </m:r>
                          <m:r>
                            <m:rPr>
                              <m:sty m:val="p"/>
                            </m:rPr>
                            <a:rPr lang="en-US" sz="1800">
                              <a:solidFill>
                                <a:srgbClr val="252529"/>
                              </a:solidFill>
                              <a:latin typeface="Cambria Math"/>
                            </a:rPr>
                            <m:t xml:space="preserve">+</m:t>
                          </m:r>
                          <m:sSub>
                            <m:sSubPr>
                              <m:ctrlPr>
                                <a:rPr lang="en-US" sz="1800">
                                  <a:solidFill>
                                    <a:srgbClr val="252529"/>
                                  </a:solidFill>
                                  <a:latin typeface="Cambria Math"/>
                                </a:rPr>
                              </m:ctrlPr>
                            </m:sSubPr>
                            <m:e>
                              <m:r>
                                <m:rPr>
                                  <m:sty m:val="p"/>
                                </m:rPr>
                                <a:rPr lang="en-US" sz="1800">
                                  <a:solidFill>
                                    <a:srgbClr val="252529"/>
                                  </a:solidFill>
                                  <a:latin typeface="Cambria Math"/>
                                </a:rPr>
                                <m:t xml:space="preserve">𝐵</m:t>
                              </m:r>
                            </m:e>
                            <m:sub>
                              <m:r>
                                <m:rPr>
                                  <m:sty m:val="p"/>
                                </m:rPr>
                                <a:rPr lang="en-US" sz="1800">
                                  <a:solidFill>
                                    <a:srgbClr val="252529"/>
                                  </a:solidFill>
                                  <a:latin typeface="Cambria Math"/>
                                </a:rPr>
                                <m:t xml:space="preserve">u</m:t>
                              </m:r>
                            </m:sub>
                          </m:sSub>
                          <m:r>
                            <m:rPr>
                              <m:sty m:val="p"/>
                            </m:rPr>
                            <a:rPr lang="en-US" sz="1800">
                              <a:solidFill>
                                <a:srgbClr val="245A91"/>
                              </a:solidFill>
                              <a:latin typeface="Cambria Math"/>
                            </a:rPr>
                            <m:t xml:space="preserve">𝐾</m:t>
                          </m:r>
                        </m:e>
                      </m:d>
                      <m:r>
                        <m:rPr>
                          <m:sty m:val="p"/>
                        </m:rPr>
                        <a:rPr lang="en-US" sz="1800">
                          <a:solidFill>
                            <a:srgbClr val="252529"/>
                          </a:solidFill>
                          <a:latin typeface="Cambria Math"/>
                        </a:rPr>
                        <m:t xml:space="preserve">𝑥</m:t>
                      </m:r>
                    </m:oMath>
                  </m:oMathPara>
                </a14:m>
                <a:endParaRPr sz="1800">
                  <a:latin typeface="Cambria Math"/>
                </a:endParaRPr>
              </a:p>
            </p:txBody>
          </p:sp>
        </mc:Choice>
        <mc:Fallback>
          <p:sp>
            <p:nvSpPr>
              <p:cNvPr id="311" name="Stage3 dynamics"/>
              <p:cNvSpPr txBox="1"/>
              <p:nvPr/>
            </p:nvSpPr>
            <p:spPr>
              <a:xfrm>
                <a:off x="4635500" y="3835400"/>
                <a:ext cx="39370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2" name="Stage3 takeaway background"/>
          <p:cNvSpPr txBox="1"/>
          <p:nvPr/>
        </p:nvSpPr>
        <p:spPr>
          <a:xfrm>
            <a:off x="457200" y="4279900"/>
            <a:ext cx="8229600" cy="444500"/>
          </a:xfrm>
          <a:prstGeom prst="rect">
            <a:avLst/>
          </a:prstGeom>
          <a:solidFill>
            <a:srgbClr val="EAF5F5"/>
          </a:solidFill>
          <a:ln>
            <a:noFill/>
          </a:ln>
        </p:spPr>
        <p:txBody>
          <a:bodyPr wrap="square" lIns="0" tIns="0" rIns="0" bIns="0" anchor="ctr">
            <a:noAutofit/>
          </a:bodyPr>
          <a:lstStyle/>
          <a:p>
            <a:pPr algn="l"/>
            <a:r>
              <a:rPr lang="en-US" sz="1600" b="0">
                <a:solidFill>
                  <a:srgbClr val="252529"/>
                </a:solidFill>
                <a:latin typeface="Aptos"/>
              </a:rPr>
              <a:t/>
            </a:r>
          </a:p>
        </p:txBody>
      </p:sp>
      <p:sp>
        <p:nvSpPr>
          <p:cNvPr id="313"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087F8C"/>
                </a:solidFill>
                <a:latin typeface="Aptos"/>
              </a:rPr>
              <a:t>The residual vanishes because the controller enforces u = Ky.</a:t>
            </a:r>
          </a:p>
        </p:txBody>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250" name="Controller interconnection"/>
          <p:cNvGrpSpPr/>
          <p:nvPr/>
        </p:nvGrpSpPr>
        <p:grpSpPr>
          <a:xfrm>
            <a:off x="533400" y="1866900"/>
            <a:ext cx="3441700" cy="2264410"/>
            <a:chOff x="457200" y="1308149"/>
            <a:chExt cx="4258818" cy="2803080"/>
          </a:xfrm>
        </p:grpSpPr>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45A91"/>
                                  </a:solidFill>
                                  <a:latin typeface="Cambria Math" panose="02040503050406030204" pitchFamily="18" charset="0"/>
                                </a:rPr>
                              </m:ctrlPr>
                            </m:sSupPr>
                            <m:e>
                              <m:r>
                                <a:rPr lang="nl-NL" sz="2590" i="1" smtClean="0">
                                  <a:solidFill>
                                    <a:srgbClr val="245A91"/>
                                  </a:solidFill>
                                  <a:latin typeface="Cambria Math" panose="02040503050406030204" pitchFamily="18" charset="0"/>
                                </a:rPr>
                                <m:t>𝐾</m:t>
                              </m:r>
                            </m:e>
                            <m:sup>
                              <m:r>
                                <a:rPr lang="nl-NL" sz="2590" i="1" smtClean="0">
                                  <a:solidFill>
                                    <a:srgbClr val="245A91"/>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B76316"/>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B76316"/>
                                </a:solidFill>
                                <a:latin typeface="Cambria Math" panose="02040503050406030204" pitchFamily="18" charset="0"/>
                              </a:rPr>
                            </m:ctrlPr>
                          </m:barPr>
                          <m:e>
                            <m:acc>
                              <m:accPr>
                                <m:chr m:val="˜"/>
                                <m:ctrlPr>
                                  <a:rPr lang="en-US" sz="1998" b="0" i="1" smtClean="0">
                                    <a:solidFill>
                                      <a:srgbClr val="B76316"/>
                                    </a:solidFill>
                                    <a:latin typeface="Cambria Math" panose="02040503050406030204" pitchFamily="18" charset="0"/>
                                  </a:rPr>
                                </m:ctrlPr>
                              </m:accPr>
                              <m:e>
                                <m:r>
                                  <m:rPr>
                                    <m:sty m:val="p"/>
                                  </m:rPr>
                                  <a:rPr lang="en-US" sz="1998" b="0" i="1" smtClean="0">
                                    <a:solidFill>
                                      <a:srgbClr val="B76316"/>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B76316"/>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B76316"/>
                                </a:solidFill>
                                <a:latin typeface="Cambria Math" panose="02040503050406030204" pitchFamily="18" charset="0"/>
                              </a:rPr>
                            </m:ctrlPr>
                          </m:barPr>
                          <m:e>
                            <m:acc>
                              <m:accPr>
                                <m:chr m:val="˜"/>
                                <m:ctrlPr>
                                  <a:rPr lang="en-US" sz="1998" b="0" i="1" smtClean="0">
                                    <a:solidFill>
                                      <a:srgbClr val="B76316"/>
                                    </a:solidFill>
                                    <a:latin typeface="Cambria Math" panose="02040503050406030204" pitchFamily="18" charset="0"/>
                                  </a:rPr>
                                </m:ctrlPr>
                              </m:accPr>
                              <m:e>
                                <m:r>
                                  <m:rPr>
                                    <m:sty m:val="p"/>
                                  </m:rPr>
                                  <a:rPr lang="en-US" sz="1998" b="0" i="1" smtClean="0">
                                    <a:solidFill>
                                      <a:srgbClr val="B76316"/>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B76316"/>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B76316"/>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B76316"/>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B76316"/>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B76316"/>
            </a:solidFill>
            <a:ln>
              <a:noFill/>
            </a:ln>
          </p:spPr>
          <p:txBody>
            <a:bodyPr/>
            <a:lstStyle/>
            <a:p>
              <a:endParaRPr lang="en-NL"/>
            </a:p>
          </p:txBody>
        </p:sp>
      </p:gr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Simply transposing is not enough</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A transpose must act on the complete interconnection, not just its blocks.</a:t>
            </a:r>
          </a:p>
        </p:txBody>
      </p:sp>
      <p:sp>
        <p:nvSpPr>
          <p:cNvPr id="303" name="Naive diagram label"/>
          <p:cNvSpPr txBox="1"/>
          <p:nvPr/>
        </p:nvSpPr>
        <p:spPr>
          <a:xfrm>
            <a:off x="546100" y="1409700"/>
            <a:ext cx="3594100" cy="317500"/>
          </a:xfrm>
          <a:prstGeom prst="rect">
            <a:avLst/>
          </a:prstGeom>
          <a:noFill/>
          <a:ln>
            <a:noFill/>
          </a:ln>
        </p:spPr>
        <p:txBody>
          <a:bodyPr wrap="square" lIns="0" tIns="0" rIns="0" bIns="0" anchor="ctr">
            <a:noAutofit/>
          </a:bodyPr>
          <a:lstStyle/>
          <a:p>
            <a:pPr algn="l"/>
            <a:r>
              <a:rPr lang="en-US" sz="1200" b="1">
                <a:solidFill>
                  <a:srgbClr val="B76316"/>
                </a:solidFill>
                <a:latin typeface="Aptos"/>
              </a:rPr>
              <a:t>NAIVE FILTER REPLACEMENT</a:t>
            </a:r>
          </a:p>
        </p:txBody>
      </p:sp>
      <p:sp>
        <p:nvSpPr>
          <p:cNvPr id="304" name="Stage1 heading"/>
          <p:cNvSpPr txBox="1"/>
          <p:nvPr/>
        </p:nvSpPr>
        <p:spPr>
          <a:xfrm>
            <a:off x="4495800" y="1282700"/>
            <a:ext cx="4191000" cy="254000"/>
          </a:xfrm>
          <a:prstGeom prst="rect">
            <a:avLst/>
          </a:prstGeom>
          <a:noFill/>
          <a:ln>
            <a:noFill/>
          </a:ln>
        </p:spPr>
        <p:txBody>
          <a:bodyPr wrap="square" lIns="0" tIns="0" rIns="0" bIns="0" anchor="ctr">
            <a:noAutofit/>
          </a:bodyPr>
          <a:lstStyle/>
          <a:p>
            <a:pPr algn="l"/>
            <a:r>
              <a:rPr lang="en-US" sz="1400" b="1">
                <a:solidFill>
                  <a:srgbClr val="B76316"/>
                </a:solidFill>
                <a:latin typeface="Aptos"/>
              </a:rPr>
              <a:t>1  Transpose the filter</a:t>
            </a:r>
          </a:p>
        </p:txBody>
      </p:sp>
      <mc:AlternateContent>
        <mc:Choice Requires="a14">
          <p:sp>
            <p:nvSpPr>
              <p:cNvPr id="305" name="Stage1 transpose"/>
              <p:cNvSpPr txBox="1"/>
              <p:nvPr/>
            </p:nvSpPr>
            <p:spPr>
              <a:xfrm>
                <a:off x="4635500" y="1612900"/>
                <a:ext cx="3937000" cy="6096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900">
                              <a:solidFill>
                                <a:srgbClr val="252529"/>
                              </a:solidFill>
                              <a:latin typeface="Cambria Math"/>
                            </a:rPr>
                          </m:ctrlPr>
                        </m:sSupPr>
                        <m:e>
                          <m:r>
                            <m:rPr>
                              <m:sty m:val="p"/>
                            </m:rPr>
                            <a:rPr lang="en-US" sz="1900">
                              <a:solidFill>
                                <a:srgbClr val="087F8C"/>
                              </a:solidFill>
                              <a:latin typeface="Cambria Math"/>
                            </a:rPr>
                            <m:t xml:space="preserve">Θ</m:t>
                          </m:r>
                        </m:e>
                        <m:sup>
                          <m:r>
                            <m:rPr>
                              <m:sty m:val="p"/>
                            </m:rPr>
                            <a:rPr lang="en-US" sz="1900">
                              <a:solidFill>
                                <a:srgbClr val="252529"/>
                              </a:solidFill>
                              <a:latin typeface="Cambria Math"/>
                            </a:rPr>
                            <m:t xml:space="preserve">⊤</m:t>
                          </m:r>
                        </m:sup>
                      </m:sSup>
                      <m:r>
                        <m:rPr>
                          <m:sty m:val="p"/>
                        </m:rPr>
                        <a:rPr lang="en-US" sz="1900">
                          <a:solidFill>
                            <a:srgbClr val="252529"/>
                          </a:solidFill>
                          <a:latin typeface="Cambria Math"/>
                        </a:rPr>
                        <m:t xml:space="preserve">=</m:t>
                      </m:r>
                      <m:d>
                        <m:dPr>
                          <m:begChr m:val="["/>
                          <m:endChr m:val="]"/>
                          <m:ctrlPr>
                            <a:rPr lang="en-US" sz="1900">
                              <a:solidFill>
                                <a:srgbClr val="252529"/>
                              </a:solidFill>
                              <a:latin typeface="Cambria Math"/>
                            </a:rPr>
                          </m:ctrlPr>
                        </m:dPr>
                        <m:e>
                          <m:m>
                            <m:mPr>
                              <m:ctrlPr>
                                <a:rPr lang="en-US" sz="1900">
                                  <a:solidFill>
                                    <a:srgbClr val="252529"/>
                                  </a:solidFill>
                                  <a:latin typeface="Cambria Math"/>
                                </a:rPr>
                              </m:ctrlPr>
                            </m:mPr>
                            <m:mr>
                              <m:e>
                                <m:r>
                                  <m:rPr>
                                    <m:sty m:val="p"/>
                                  </m:rPr>
                                  <a:rPr lang="en-US" sz="1900">
                                    <a:solidFill>
                                      <a:srgbClr val="252529"/>
                                    </a:solidFill>
                                    <a:latin typeface="Cambria Math"/>
                                  </a:rPr>
                                  <m:t xml:space="preserve">𝐼</m:t>
                                </m:r>
                              </m:e>
                              <m:e>
                                <m:r>
                                  <m:rPr>
                                    <m:sty m:val="p"/>
                                  </m:rPr>
                                  <a:rPr lang="en-US" sz="1900">
                                    <a:solidFill>
                                      <a:srgbClr val="252529"/>
                                    </a:solidFill>
                                    <a:latin typeface="Cambria Math"/>
                                  </a:rPr>
                                  <m:t xml:space="preserve">−</m:t>
                                </m:r>
                                <m:sSup>
                                  <m:sSupPr>
                                    <m:ctrlPr>
                                      <a:rPr lang="en-US" sz="1900">
                                        <a:solidFill>
                                          <a:srgbClr val="252529"/>
                                        </a:solidFill>
                                        <a:latin typeface="Cambria Math"/>
                                      </a:rPr>
                                    </m:ctrlPr>
                                  </m:sSupPr>
                                  <m:e>
                                    <m:r>
                                      <m:rPr>
                                        <m:sty m:val="p"/>
                                      </m:rPr>
                                      <a:rPr lang="en-US" sz="1900">
                                        <a:solidFill>
                                          <a:srgbClr val="245A91"/>
                                        </a:solidFill>
                                        <a:latin typeface="Cambria Math"/>
                                      </a:rPr>
                                      <m:t xml:space="preserve">𝐾</m:t>
                                    </m:r>
                                  </m:e>
                                  <m:sup>
                                    <m:r>
                                      <m:rPr>
                                        <m:sty m:val="p"/>
                                      </m:rPr>
                                      <a:rPr lang="en-US" sz="1900">
                                        <a:solidFill>
                                          <a:srgbClr val="252529"/>
                                        </a:solidFill>
                                        <a:latin typeface="Cambria Math"/>
                                      </a:rPr>
                                      <m:t xml:space="preserve">*</m:t>
                                    </m:r>
                                  </m:sup>
                                </m:sSup>
                              </m:e>
                            </m:mr>
                            <m:mr>
                              <m:e>
                                <m:r>
                                  <m:rPr>
                                    <m:sty m:val="p"/>
                                  </m:rPr>
                                  <a:rPr lang="en-US" sz="1900">
                                    <a:solidFill>
                                      <a:srgbClr val="252529"/>
                                    </a:solidFill>
                                    <a:latin typeface="Cambria Math"/>
                                  </a:rPr>
                                  <m:t xml:space="preserve">0</m:t>
                                </m:r>
                              </m:e>
                              <m:e>
                                <m:r>
                                  <m:rPr>
                                    <m:sty m:val="p"/>
                                  </m:rPr>
                                  <a:rPr lang="en-US" sz="1900">
                                    <a:solidFill>
                                      <a:srgbClr val="252529"/>
                                    </a:solidFill>
                                    <a:latin typeface="Cambria Math"/>
                                  </a:rPr>
                                  <m:t xml:space="preserve">𝐼</m:t>
                                </m:r>
                              </m:e>
                            </m:mr>
                          </m:m>
                        </m:e>
                      </m:d>
                    </m:oMath>
                  </m:oMathPara>
                </a14:m>
                <a:endParaRPr sz="1900">
                  <a:latin typeface="Cambria Math"/>
                </a:endParaRPr>
              </a:p>
            </p:txBody>
          </p:sp>
        </mc:Choice>
        <mc:Fallback>
          <p:sp>
            <p:nvSpPr>
              <p:cNvPr id="305" name="Stage1 transpose"/>
              <p:cNvSpPr txBox="1"/>
              <p:nvPr/>
            </p:nvSpPr>
            <p:spPr>
              <a:xfrm>
                <a:off x="4635500" y="1612900"/>
                <a:ext cx="39370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2 heading"/>
          <p:cNvSpPr txBox="1"/>
          <p:nvPr/>
        </p:nvSpPr>
        <p:spPr>
          <a:xfrm>
            <a:off x="4495800" y="2349500"/>
            <a:ext cx="4191000" cy="254000"/>
          </a:xfrm>
          <a:prstGeom prst="rect">
            <a:avLst/>
          </a:prstGeom>
          <a:noFill/>
          <a:ln>
            <a:noFill/>
          </a:ln>
        </p:spPr>
        <p:txBody>
          <a:bodyPr wrap="square" lIns="0" tIns="0" rIns="0" bIns="0" anchor="ctr">
            <a:noAutofit/>
          </a:bodyPr>
          <a:lstStyle/>
          <a:p>
            <a:pPr algn="l"/>
            <a:r>
              <a:rPr lang="en-US" sz="1400" b="1">
                <a:solidFill>
                  <a:srgbClr val="B76316"/>
                </a:solidFill>
                <a:latin typeface="Aptos"/>
              </a:rPr>
              <a:t>2  Transpose the complete map</a:t>
            </a:r>
          </a:p>
        </p:txBody>
      </p:sp>
      <mc:AlternateContent>
        <mc:Choice Requires="a14">
          <p:sp>
            <p:nvSpPr>
              <p:cNvPr id="307" name="Stage2 original map"/>
              <p:cNvSpPr txBox="1"/>
              <p:nvPr/>
            </p:nvSpPr>
            <p:spPr>
              <a:xfrm>
                <a:off x="4635500" y="2641600"/>
                <a:ext cx="3937000" cy="5588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𝐹</m:t>
                      </m:r>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m:t>
                      </m:r>
                      <m:r>
                        <m:rPr>
                          <m:sty m:val="p"/>
                        </m:rPr>
                        <a:rPr lang="en-US" sz="1800">
                          <a:solidFill>
                            <a:srgbClr val="087F8C"/>
                          </a:solidFill>
                          <a:latin typeface="Cambria Math"/>
                        </a:rPr>
                        <m:t xml:space="preserve">Θ</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𝐺</m:t>
                                </m:r>
                              </m:e>
                            </m:mr>
                            <m:mr>
                              <m:e>
                                <m:r>
                                  <m:rPr>
                                    <m:sty m:val="p"/>
                                  </m:rPr>
                                  <a:rPr lang="en-US" sz="1800">
                                    <a:solidFill>
                                      <a:srgbClr val="252529"/>
                                    </a:solidFill>
                                    <a:latin typeface="Cambria Math"/>
                                  </a:rPr>
                                  <m:t xml:space="preserve">𝐼</m:t>
                                </m:r>
                              </m:e>
                            </m:mr>
                          </m:m>
                        </m:e>
                      </m:d>
                    </m:oMath>
                  </m:oMathPara>
                </a14:m>
                <a:endParaRPr sz="1800">
                  <a:latin typeface="Cambria Math"/>
                </a:endParaRPr>
              </a:p>
            </p:txBody>
          </p:sp>
        </mc:Choice>
        <mc:Fallback>
          <p:sp>
            <p:nvSpPr>
              <p:cNvPr id="307" name="Stage2 original map"/>
              <p:cNvSpPr txBox="1"/>
              <p:nvPr/>
            </p:nvSpPr>
            <p:spPr>
              <a:xfrm>
                <a:off x="4635500" y="2641600"/>
                <a:ext cx="39370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8" name="Stage2 reversed order"/>
              <p:cNvSpPr txBox="1"/>
              <p:nvPr/>
            </p:nvSpPr>
            <p:spPr>
              <a:xfrm>
                <a:off x="4635500" y="3314700"/>
                <a:ext cx="3937000" cy="495300"/>
              </a:xfrm>
              <a:prstGeom prst="rect">
                <a:avLst/>
              </a:prstGeom>
              <a:noFill/>
              <a:ln>
                <a:noFill/>
              </a:ln>
            </p:spPr>
            <p:txBody>
              <a:bodyPr wrap="square" lIns="0" tIns="0" rIns="0" bIns="0" anchor="ctr">
                <a:noAutofit/>
              </a:bodyPr>
              <a:lstStyle/>
              <a:p>
                <a:pPr algn="l"/>
                <a14:m>
                  <m:oMathPara>
                    <m:oMathParaPr>
                      <m:jc m:val="left"/>
                    </m:oMathParaPr>
                    <m:oMath>
                      <m:sSup>
                        <m:sSupPr>
                          <m:ctrlPr>
                            <a:rPr lang="en-US" sz="2000">
                              <a:solidFill>
                                <a:srgbClr val="252529"/>
                              </a:solidFill>
                              <a:latin typeface="Cambria Math"/>
                            </a:rPr>
                          </m:ctrlPr>
                        </m:sSupPr>
                        <m:e>
                          <m:r>
                            <m:rPr>
                              <m:sty m:val="p"/>
                            </m:rPr>
                            <a:rPr lang="en-US" sz="2000">
                              <a:solidFill>
                                <a:srgbClr val="252529"/>
                              </a:solidFill>
                              <a:latin typeface="Cambria Math"/>
                            </a:rPr>
                            <m:t xml:space="preserve">𝐹</m:t>
                          </m:r>
                        </m:e>
                        <m:sup>
                          <m:r>
                            <m:rPr>
                              <m:sty m:val="p"/>
                            </m:rPr>
                            <a:rPr lang="en-US" sz="2000">
                              <a:solidFill>
                                <a:srgbClr val="252529"/>
                              </a:solidFill>
                              <a:latin typeface="Cambria Math"/>
                            </a:rPr>
                            <m:t xml:space="preserve">⊤</m:t>
                          </m:r>
                        </m:sup>
                      </m:sSup>
                      <m:r>
                        <m:rPr>
                          <m:sty m:val="p"/>
                        </m:rPr>
                        <a:rPr lang="en-US" sz="2000">
                          <a:solidFill>
                            <a:srgbClr val="252529"/>
                          </a:solidFill>
                          <a:latin typeface="Cambria Math"/>
                        </a:rPr>
                        <m:t xml:space="preserve">=</m:t>
                      </m:r>
                      <m:d>
                        <m:dPr>
                          <m:begChr m:val="["/>
                          <m:endChr m:val="]"/>
                          <m:ctrlPr>
                            <a:rPr lang="en-US" sz="2000">
                              <a:solidFill>
                                <a:srgbClr val="252529"/>
                              </a:solidFill>
                              <a:latin typeface="Cambria Math"/>
                            </a:rPr>
                          </m:ctrlPr>
                        </m:dPr>
                        <m:e>
                          <m:m>
                            <m:mPr>
                              <m:ctrlPr>
                                <a:rPr lang="en-US" sz="2000">
                                  <a:solidFill>
                                    <a:srgbClr val="252529"/>
                                  </a:solidFill>
                                  <a:latin typeface="Cambria Math"/>
                                </a:rPr>
                              </m:ctrlPr>
                            </m:mPr>
                            <m:mr>
                              <m:e>
                                <m:sSup>
                                  <m:sSupPr>
                                    <m:ctrlPr>
                                      <a:rPr lang="en-US" sz="2000">
                                        <a:solidFill>
                                          <a:srgbClr val="252529"/>
                                        </a:solidFill>
                                        <a:latin typeface="Cambria Math"/>
                                      </a:rPr>
                                    </m:ctrlPr>
                                  </m:sSupPr>
                                  <m:e>
                                    <m:r>
                                      <m:rPr>
                                        <m:sty m:val="p"/>
                                      </m:rPr>
                                      <a:rPr lang="en-US" sz="2000">
                                        <a:solidFill>
                                          <a:srgbClr val="252529"/>
                                        </a:solidFill>
                                        <a:latin typeface="Cambria Math"/>
                                      </a:rPr>
                                      <m:t xml:space="preserve">𝐺</m:t>
                                    </m:r>
                                  </m:e>
                                  <m:sup>
                                    <m:r>
                                      <m:rPr>
                                        <m:sty m:val="p"/>
                                      </m:rPr>
                                      <a:rPr lang="en-US" sz="2000">
                                        <a:solidFill>
                                          <a:srgbClr val="252529"/>
                                        </a:solidFill>
                                        <a:latin typeface="Cambria Math"/>
                                      </a:rPr>
                                      <m:t xml:space="preserve">⊤</m:t>
                                    </m:r>
                                  </m:sup>
                                </m:sSup>
                              </m:e>
                              <m:e>
                                <m:r>
                                  <m:rPr>
                                    <m:sty m:val="p"/>
                                  </m:rPr>
                                  <a:rPr lang="en-US" sz="2000">
                                    <a:solidFill>
                                      <a:srgbClr val="252529"/>
                                    </a:solidFill>
                                    <a:latin typeface="Cambria Math"/>
                                  </a:rPr>
                                  <m:t xml:space="preserve">𝐼</m:t>
                                </m:r>
                              </m:e>
                            </m:mr>
                          </m:m>
                        </m:e>
                      </m:d>
                      <m:sSup>
                        <m:sSupPr>
                          <m:ctrlPr>
                            <a:rPr lang="en-US" sz="2000">
                              <a:solidFill>
                                <a:srgbClr val="252529"/>
                              </a:solidFill>
                              <a:latin typeface="Cambria Math"/>
                            </a:rPr>
                          </m:ctrlPr>
                        </m:sSupPr>
                        <m:e>
                          <m:r>
                            <m:rPr>
                              <m:sty m:val="p"/>
                            </m:rPr>
                            <a:rPr lang="en-US" sz="2000">
                              <a:solidFill>
                                <a:srgbClr val="087F8C"/>
                              </a:solidFill>
                              <a:latin typeface="Cambria Math"/>
                            </a:rPr>
                            <m:t xml:space="preserve">Θ</m:t>
                          </m:r>
                        </m:e>
                        <m:sup>
                          <m:r>
                            <m:rPr>
                              <m:sty m:val="p"/>
                            </m:rPr>
                            <a:rPr lang="en-US" sz="2000">
                              <a:solidFill>
                                <a:srgbClr val="252529"/>
                              </a:solidFill>
                              <a:latin typeface="Cambria Math"/>
                            </a:rPr>
                            <m:t xml:space="preserve">⊤</m:t>
                          </m:r>
                        </m:sup>
                      </m:sSup>
                    </m:oMath>
                  </m:oMathPara>
                </a14:m>
                <a:endParaRPr sz="2000">
                  <a:latin typeface="Cambria Math"/>
                </a:endParaRPr>
              </a:p>
            </p:txBody>
          </p:sp>
        </mc:Choice>
        <mc:Fallback>
          <p:sp>
            <p:nvSpPr>
              <p:cNvPr id="308" name="Stage2 reversed order"/>
              <p:cNvSpPr txBox="1"/>
              <p:nvPr/>
            </p:nvSpPr>
            <p:spPr>
              <a:xfrm>
                <a:off x="4635500" y="3314700"/>
                <a:ext cx="39370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2 order explanation"/>
          <p:cNvSpPr txBox="1"/>
          <p:nvPr/>
        </p:nvSpPr>
        <p:spPr>
          <a:xfrm>
            <a:off x="4635500" y="3898900"/>
            <a:ext cx="3937000" cy="254000"/>
          </a:xfrm>
          <a:prstGeom prst="rect">
            <a:avLst/>
          </a:prstGeom>
          <a:noFill/>
          <a:ln>
            <a:noFill/>
          </a:ln>
        </p:spPr>
        <p:txBody>
          <a:bodyPr wrap="square" lIns="0" tIns="0" rIns="0" bIns="0" anchor="ctr">
            <a:noAutofit/>
          </a:bodyPr>
          <a:lstStyle/>
          <a:p>
            <a:pPr algn="l"/>
            <a:r>
              <a:rPr lang="en-US" sz="1250" b="0">
                <a:solidFill>
                  <a:srgbClr val="B76316"/>
                </a:solidFill>
                <a:latin typeface="Aptos"/>
              </a:rPr>
              <a:t>The order reverses; the column becomes a row.</a:t>
            </a:r>
          </a:p>
        </p:txBody>
      </p:sp>
      <p:sp>
        <p:nvSpPr>
          <p:cNvPr id="310" name="Stage3 takeaway background"/>
          <p:cNvSpPr txBox="1"/>
          <p:nvPr/>
        </p:nvSpPr>
        <p:spPr>
          <a:xfrm>
            <a:off x="457200" y="4279900"/>
            <a:ext cx="8229600" cy="444500"/>
          </a:xfrm>
          <a:prstGeom prst="rect">
            <a:avLst/>
          </a:prstGeom>
          <a:solidFill>
            <a:srgbClr val="FBEDEE"/>
          </a:solidFill>
          <a:ln>
            <a:noFill/>
          </a:ln>
        </p:spPr>
        <p:txBody>
          <a:bodyPr wrap="square" lIns="0" tIns="0" rIns="0" bIns="0" anchor="ctr">
            <a:noAutofit/>
          </a:bodyPr>
          <a:lstStyle/>
          <a:p>
            <a:pPr algn="l"/>
            <a:r>
              <a:rPr lang="en-US" sz="1600" b="0">
                <a:solidFill>
                  <a:srgbClr val="252529"/>
                </a:solidFill>
                <a:latin typeface="Aptos"/>
              </a:rPr>
              <a:t/>
            </a:r>
          </a:p>
        </p:txBody>
      </p:sp>
      <p:sp>
        <p:nvSpPr>
          <p:cNvPr id="311"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C81919"/>
                </a:solidFill>
                <a:latin typeface="Aptos"/>
              </a:rPr>
              <a:t>This is not the dual filtered interconnection.</a:t>
            </a:r>
          </a:p>
        </p:txBody>
      </p:sp>
    </p:spTree>
    <p:extLst>
      <p:ext uri="{BB962C8B-B14F-4D97-AF65-F5344CB8AC3E}">
        <p14:creationId xmlns:p14="http://schemas.microsoft.com/office/powerpoint/2010/main" val="1166307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Use the dual filter</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Transform the filter so that the dual plant retains a filtered-graph representation.</a:t>
            </a:r>
          </a:p>
        </p:txBody>
      </p:sp>
      <p:sp>
        <p:nvSpPr>
          <p:cNvPr id="303" name="Stage1 definition label"/>
          <p:cNvSpPr txBox="1"/>
          <p:nvPr/>
        </p:nvSpPr>
        <p:spPr>
          <a:xfrm>
            <a:off x="546100" y="1333500"/>
            <a:ext cx="3365500" cy="279400"/>
          </a:xfrm>
          <a:prstGeom prst="rect">
            <a:avLst/>
          </a:prstGeom>
          <a:noFill/>
          <a:ln>
            <a:noFill/>
          </a:ln>
        </p:spPr>
        <p:txBody>
          <a:bodyPr wrap="square" lIns="0" tIns="0" rIns="0" bIns="0" anchor="ctr">
            <a:noAutofit/>
          </a:bodyPr>
          <a:lstStyle/>
          <a:p>
            <a:pPr algn="l"/>
            <a:r>
              <a:rPr lang="en-US" sz="1300" b="1">
                <a:solidFill>
                  <a:srgbClr val="087F8C"/>
                </a:solidFill>
                <a:latin typeface="Aptos"/>
              </a:rPr>
              <a:t>1  TRANSFORM THE FILTER</a:t>
            </a:r>
          </a:p>
        </p:txBody>
      </p:sp>
      <mc:AlternateContent>
        <mc:Choice Requires="a14">
          <p:sp>
            <p:nvSpPr>
              <p:cNvPr id="304" name="Stage1 definition"/>
              <p:cNvSpPr txBox="1"/>
              <p:nvPr/>
            </p:nvSpPr>
            <p:spPr>
              <a:xfrm>
                <a:off x="558800" y="1714500"/>
                <a:ext cx="4635500" cy="571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300">
                          <a:solidFill>
                            <a:srgbClr val="087F8C"/>
                          </a:solidFill>
                          <a:latin typeface="Cambria Math"/>
                        </a:rPr>
                        <m:t xml:space="preserve">𝐃</m:t>
                      </m:r>
                      <m:d>
                        <m:dPr>
                          <m:begChr m:val="("/>
                          <m:endChr m:val=")"/>
                          <m:ctrlPr>
                            <a:rPr lang="en-US" sz="2300">
                              <a:solidFill>
                                <a:srgbClr val="252529"/>
                              </a:solidFill>
                              <a:latin typeface="Cambria Math"/>
                            </a:rPr>
                          </m:ctrlPr>
                        </m:dPr>
                        <m:e>
                          <m:r>
                            <m:rPr>
                              <m:sty m:val="p"/>
                            </m:rPr>
                            <a:rPr lang="en-US" sz="2300">
                              <a:solidFill>
                                <a:srgbClr val="087F8C"/>
                              </a:solidFill>
                              <a:latin typeface="Cambria Math"/>
                            </a:rPr>
                            <m:t xml:space="preserve">Θ</m:t>
                          </m:r>
                        </m:e>
                      </m:d>
                      <m:r>
                        <m:rPr>
                          <m:sty m:val="p"/>
                        </m:rPr>
                        <a:rPr lang="en-US" sz="2300">
                          <a:solidFill>
                            <a:srgbClr val="252529"/>
                          </a:solidFill>
                          <a:latin typeface="Cambria Math"/>
                        </a:rPr>
                        <m:t xml:space="preserve">:</m:t>
                      </m:r>
                      <m:r>
                        <m:rPr>
                          <m:sty m:val="p"/>
                        </m:rPr>
                        <a:rPr lang="en-US" sz="2300">
                          <a:solidFill>
                            <a:srgbClr val="252529"/>
                          </a:solidFill>
                          <a:latin typeface="Cambria Math"/>
                        </a:rPr>
                        <m:t xml:space="preserve">=</m:t>
                      </m:r>
                      <m:sSup>
                        <m:sSupPr>
                          <m:ctrlPr>
                            <a:rPr lang="en-US" sz="2300">
                              <a:solidFill>
                                <a:srgbClr val="252529"/>
                              </a:solidFill>
                              <a:latin typeface="Cambria Math"/>
                            </a:rPr>
                          </m:ctrlPr>
                        </m:sSupPr>
                        <m:e>
                          <m:d>
                            <m:dPr>
                              <m:begChr m:val="("/>
                              <m:endChr m:val=")"/>
                              <m:ctrlPr>
                                <a:rPr lang="en-US" sz="2300">
                                  <a:solidFill>
                                    <a:srgbClr val="252529"/>
                                  </a:solidFill>
                                  <a:latin typeface="Cambria Math"/>
                                </a:rPr>
                              </m:ctrlPr>
                            </m:dPr>
                            <m:e>
                              <m:sSup>
                                <m:sSupPr>
                                  <m:ctrlPr>
                                    <a:rPr lang="en-US" sz="2300">
                                      <a:solidFill>
                                        <a:srgbClr val="252529"/>
                                      </a:solidFill>
                                      <a:latin typeface="Cambria Math"/>
                                    </a:rPr>
                                  </m:ctrlPr>
                                </m:sSupPr>
                                <m:e>
                                  <m:acc>
                                    <m:accPr>
                                      <m:chr m:val="̂"/>
                                      <m:ctrlPr>
                                        <a:rPr lang="en-US" sz="2300">
                                          <a:solidFill>
                                            <a:srgbClr val="252529"/>
                                          </a:solidFill>
                                          <a:latin typeface="Cambria Math"/>
                                        </a:rPr>
                                      </m:ctrlPr>
                                    </m:accPr>
                                    <m:e>
                                      <m:r>
                                        <m:rPr>
                                          <m:sty m:val="p"/>
                                        </m:rPr>
                                        <a:rPr lang="en-US" sz="2300">
                                          <a:solidFill>
                                            <a:srgbClr val="252529"/>
                                          </a:solidFill>
                                          <a:latin typeface="Cambria Math"/>
                                        </a:rPr>
                                        <m:t xml:space="preserve">𝐽</m:t>
                                      </m:r>
                                    </m:e>
                                  </m:acc>
                                </m:e>
                                <m:sup>
                                  <m:r>
                                    <m:rPr>
                                      <m:sty m:val="p"/>
                                    </m:rPr>
                                    <a:rPr lang="en-US" sz="2300">
                                      <a:solidFill>
                                        <a:srgbClr val="252529"/>
                                      </a:solidFill>
                                      <a:latin typeface="Cambria Math"/>
                                    </a:rPr>
                                    <m:t xml:space="preserve">*</m:t>
                                  </m:r>
                                </m:sup>
                              </m:sSup>
                              <m:sSup>
                                <m:sSupPr>
                                  <m:ctrlPr>
                                    <a:rPr lang="en-US" sz="2300">
                                      <a:solidFill>
                                        <a:srgbClr val="252529"/>
                                      </a:solidFill>
                                      <a:latin typeface="Cambria Math"/>
                                    </a:rPr>
                                  </m:ctrlPr>
                                </m:sSupPr>
                                <m:e>
                                  <m:r>
                                    <m:rPr>
                                      <m:sty m:val="p"/>
                                    </m:rPr>
                                    <a:rPr lang="en-US" sz="2300">
                                      <a:solidFill>
                                        <a:srgbClr val="087F8C"/>
                                      </a:solidFill>
                                      <a:latin typeface="Cambria Math"/>
                                    </a:rPr>
                                    <m:t xml:space="preserve">Θ</m:t>
                                  </m:r>
                                </m:e>
                                <m:sup>
                                  <m:r>
                                    <m:rPr>
                                      <m:sty m:val="p"/>
                                    </m:rPr>
                                    <a:rPr lang="en-US" sz="2300">
                                      <a:solidFill>
                                        <a:srgbClr val="252529"/>
                                      </a:solidFill>
                                      <a:latin typeface="Cambria Math"/>
                                    </a:rPr>
                                    <m:t xml:space="preserve">⊤</m:t>
                                  </m:r>
                                </m:sup>
                              </m:sSup>
                              <m:acc>
                                <m:accPr>
                                  <m:chr m:val="̂"/>
                                  <m:ctrlPr>
                                    <a:rPr lang="en-US" sz="2300">
                                      <a:solidFill>
                                        <a:srgbClr val="252529"/>
                                      </a:solidFill>
                                      <a:latin typeface="Cambria Math"/>
                                    </a:rPr>
                                  </m:ctrlPr>
                                </m:accPr>
                                <m:e>
                                  <m:r>
                                    <m:rPr>
                                      <m:sty m:val="p"/>
                                    </m:rPr>
                                    <a:rPr lang="en-US" sz="2300">
                                      <a:solidFill>
                                        <a:srgbClr val="252529"/>
                                      </a:solidFill>
                                      <a:latin typeface="Cambria Math"/>
                                    </a:rPr>
                                    <m:t xml:space="preserve">𝐽</m:t>
                                  </m:r>
                                </m:e>
                              </m:acc>
                            </m:e>
                          </m:d>
                        </m:e>
                        <m:sup>
                          <m:r>
                            <m:rPr>
                              <m:sty m:val="p"/>
                            </m:rPr>
                            <a:rPr lang="en-US" sz="2300">
                              <a:solidFill>
                                <a:srgbClr val="252529"/>
                              </a:solidFill>
                              <a:latin typeface="Cambria Math"/>
                            </a:rPr>
                            <m:t xml:space="preserve">−</m:t>
                          </m:r>
                          <m:r>
                            <m:rPr>
                              <m:sty m:val="p"/>
                            </m:rPr>
                            <a:rPr lang="en-US" sz="2300">
                              <a:solidFill>
                                <a:srgbClr val="252529"/>
                              </a:solidFill>
                              <a:latin typeface="Cambria Math"/>
                            </a:rPr>
                            <m:t xml:space="preserve">1</m:t>
                          </m:r>
                        </m:sup>
                      </m:sSup>
                    </m:oMath>
                  </m:oMathPara>
                </a14:m>
                <a:endParaRPr sz="2300">
                  <a:latin typeface="Cambria Math"/>
                </a:endParaRPr>
              </a:p>
            </p:txBody>
          </p:sp>
        </mc:Choice>
        <mc:Fallback>
          <p:sp>
            <p:nvSpPr>
              <p:cNvPr id="304" name="Stage1 definition"/>
              <p:cNvSpPr txBox="1"/>
              <p:nvPr/>
            </p:nvSpPr>
            <p:spPr>
              <a:xfrm>
                <a:off x="558800" y="1714500"/>
                <a:ext cx="4635500" cy="571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5" name="Stage1 exchange matrix"/>
              <p:cNvSpPr txBox="1"/>
              <p:nvPr/>
            </p:nvSpPr>
            <p:spPr>
              <a:xfrm>
                <a:off x="5740400" y="1625600"/>
                <a:ext cx="2730500" cy="6985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0</m:t>
                                </m:r>
                              </m:e>
                              <m:e>
                                <m:r>
                                  <m:rPr>
                                    <m:sty m:val="p"/>
                                  </m:rPr>
                                  <a:rPr lang="en-US" sz="1800">
                                    <a:solidFill>
                                      <a:srgbClr val="252529"/>
                                    </a:solidFill>
                                    <a:latin typeface="Cambria Math"/>
                                  </a:rPr>
                                  <m:t xml:space="preserve">𝐼</m:t>
                                </m:r>
                              </m:e>
                            </m:mr>
                            <m:mr>
                              <m:e>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𝐼</m:t>
                                </m:r>
                              </m:e>
                              <m:e>
                                <m:r>
                                  <m:rPr>
                                    <m:sty m:val="p"/>
                                  </m:rPr>
                                  <a:rPr lang="en-US" sz="1800">
                                    <a:solidFill>
                                      <a:srgbClr val="252529"/>
                                    </a:solidFill>
                                    <a:latin typeface="Cambria Math"/>
                                  </a:rPr>
                                  <m:t xml:space="preserve">0</m:t>
                                </m:r>
                              </m:e>
                            </m:mr>
                          </m:m>
                        </m:e>
                      </m:d>
                    </m:oMath>
                  </m:oMathPara>
                </a14:m>
                <a:endParaRPr sz="1800">
                  <a:latin typeface="Cambria Math"/>
                </a:endParaRPr>
              </a:p>
            </p:txBody>
          </p:sp>
        </mc:Choice>
        <mc:Fallback>
          <p:sp>
            <p:nvSpPr>
              <p:cNvPr id="305" name="Stage1 exchange matrix"/>
              <p:cNvSpPr txBox="1"/>
              <p:nvPr/>
            </p:nvSpPr>
            <p:spPr>
              <a:xfrm>
                <a:off x="5740400" y="1625600"/>
                <a:ext cx="2730500" cy="698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2 example label"/>
          <p:cNvSpPr txBox="1"/>
          <p:nvPr/>
        </p:nvSpPr>
        <p:spPr>
          <a:xfrm>
            <a:off x="546100" y="2590800"/>
            <a:ext cx="3492500" cy="254000"/>
          </a:xfrm>
          <a:prstGeom prst="rect">
            <a:avLst/>
          </a:prstGeom>
          <a:noFill/>
          <a:ln>
            <a:noFill/>
          </a:ln>
        </p:spPr>
        <p:txBody>
          <a:bodyPr wrap="square" lIns="0" tIns="0" rIns="0" bIns="0" anchor="ctr">
            <a:noAutofit/>
          </a:bodyPr>
          <a:lstStyle/>
          <a:p>
            <a:pPr algn="l"/>
            <a:r>
              <a:rPr lang="en-US" sz="1300" b="1">
                <a:solidFill>
                  <a:srgbClr val="087F8C"/>
                </a:solidFill>
                <a:latin typeface="Aptos"/>
              </a:rPr>
              <a:t>2  FOR THIS CONTROLLER</a:t>
            </a:r>
          </a:p>
        </p:txBody>
      </p:sp>
      <mc:AlternateContent>
        <mc:Choice Requires="a14">
          <p:sp>
            <p:nvSpPr>
              <p:cNvPr id="307" name="Stage2 concrete dual filter"/>
              <p:cNvSpPr txBox="1"/>
              <p:nvPr/>
            </p:nvSpPr>
            <p:spPr>
              <a:xfrm>
                <a:off x="571500" y="2959100"/>
                <a:ext cx="3441700" cy="5969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100">
                          <a:solidFill>
                            <a:srgbClr val="087F8C"/>
                          </a:solidFill>
                          <a:latin typeface="Cambria Math"/>
                        </a:rPr>
                        <m:t xml:space="preserve">𝐃</m:t>
                      </m:r>
                      <m:d>
                        <m:dPr>
                          <m:begChr m:val="("/>
                          <m:endChr m:val=")"/>
                          <m:ctrlPr>
                            <a:rPr lang="en-US" sz="2100">
                              <a:solidFill>
                                <a:srgbClr val="252529"/>
                              </a:solidFill>
                              <a:latin typeface="Cambria Math"/>
                            </a:rPr>
                          </m:ctrlPr>
                        </m:dPr>
                        <m:e>
                          <m:r>
                            <m:rPr>
                              <m:sty m:val="p"/>
                            </m:rPr>
                            <a:rPr lang="en-US" sz="2100">
                              <a:solidFill>
                                <a:srgbClr val="087F8C"/>
                              </a:solidFill>
                              <a:latin typeface="Cambria Math"/>
                            </a:rPr>
                            <m:t xml:space="preserve">Θ</m:t>
                          </m:r>
                        </m:e>
                      </m:d>
                      <m:r>
                        <m:rPr>
                          <m:sty m:val="p"/>
                        </m:rPr>
                        <a:rPr lang="en-US" sz="2100">
                          <a:solidFill>
                            <a:srgbClr val="252529"/>
                          </a:solidFill>
                          <a:latin typeface="Cambria Math"/>
                        </a:rPr>
                        <m:t xml:space="preserve">=</m:t>
                      </m:r>
                      <m:d>
                        <m:dPr>
                          <m:begChr m:val="["/>
                          <m:endChr m:val="]"/>
                          <m:ctrlPr>
                            <a:rPr lang="en-US" sz="2100">
                              <a:solidFill>
                                <a:srgbClr val="252529"/>
                              </a:solidFill>
                              <a:latin typeface="Cambria Math"/>
                            </a:rPr>
                          </m:ctrlPr>
                        </m:dPr>
                        <m:e>
                          <m:m>
                            <m:mPr>
                              <m:ctrlPr>
                                <a:rPr lang="en-US" sz="2100">
                                  <a:solidFill>
                                    <a:srgbClr val="252529"/>
                                  </a:solidFill>
                                  <a:latin typeface="Cambria Math"/>
                                </a:rPr>
                              </m:ctrlPr>
                            </m:mPr>
                            <m:mr>
                              <m:e>
                                <m:r>
                                  <m:rPr>
                                    <m:sty m:val="p"/>
                                  </m:rPr>
                                  <a:rPr lang="en-US" sz="2100">
                                    <a:solidFill>
                                      <a:srgbClr val="252529"/>
                                    </a:solidFill>
                                    <a:latin typeface="Cambria Math"/>
                                  </a:rPr>
                                  <m:t xml:space="preserve">𝐼</m:t>
                                </m:r>
                              </m:e>
                              <m:e>
                                <m:r>
                                  <m:rPr>
                                    <m:sty m:val="p"/>
                                  </m:rPr>
                                  <a:rPr lang="en-US" sz="2100">
                                    <a:solidFill>
                                      <a:srgbClr val="252529"/>
                                    </a:solidFill>
                                    <a:latin typeface="Cambria Math"/>
                                  </a:rPr>
                                  <m:t xml:space="preserve">0</m:t>
                                </m:r>
                              </m:e>
                            </m:mr>
                            <m:mr>
                              <m:e>
                                <m:r>
                                  <m:rPr>
                                    <m:sty m:val="p"/>
                                  </m:rPr>
                                  <a:rPr lang="en-US" sz="2100">
                                    <a:solidFill>
                                      <a:srgbClr val="252529"/>
                                    </a:solidFill>
                                    <a:latin typeface="Cambria Math"/>
                                  </a:rPr>
                                  <m:t xml:space="preserve">−</m:t>
                                </m:r>
                                <m:sSup>
                                  <m:sSupPr>
                                    <m:ctrlPr>
                                      <a:rPr lang="en-US" sz="2100">
                                        <a:solidFill>
                                          <a:srgbClr val="252529"/>
                                        </a:solidFill>
                                        <a:latin typeface="Cambria Math"/>
                                      </a:rPr>
                                    </m:ctrlPr>
                                  </m:sSupPr>
                                  <m:e>
                                    <m:r>
                                      <m:rPr>
                                        <m:sty m:val="p"/>
                                      </m:rPr>
                                      <a:rPr lang="en-US" sz="2100">
                                        <a:solidFill>
                                          <a:srgbClr val="245A91"/>
                                        </a:solidFill>
                                        <a:latin typeface="Cambria Math"/>
                                      </a:rPr>
                                      <m:t xml:space="preserve">𝐾</m:t>
                                    </m:r>
                                  </m:e>
                                  <m:sup>
                                    <m:r>
                                      <m:rPr>
                                        <m:sty m:val="p"/>
                                      </m:rPr>
                                      <a:rPr lang="en-US" sz="2100">
                                        <a:solidFill>
                                          <a:srgbClr val="252529"/>
                                        </a:solidFill>
                                        <a:latin typeface="Cambria Math"/>
                                      </a:rPr>
                                      <m:t xml:space="preserve">*</m:t>
                                    </m:r>
                                  </m:sup>
                                </m:sSup>
                              </m:e>
                              <m:e>
                                <m:r>
                                  <m:rPr>
                                    <m:sty m:val="p"/>
                                  </m:rPr>
                                  <a:rPr lang="en-US" sz="2100">
                                    <a:solidFill>
                                      <a:srgbClr val="252529"/>
                                    </a:solidFill>
                                    <a:latin typeface="Cambria Math"/>
                                  </a:rPr>
                                  <m:t xml:space="preserve">𝐼</m:t>
                                </m:r>
                              </m:e>
                            </m:mr>
                          </m:m>
                        </m:e>
                      </m:d>
                    </m:oMath>
                  </m:oMathPara>
                </a14:m>
                <a:endParaRPr sz="2100">
                  <a:latin typeface="Cambria Math"/>
                </a:endParaRPr>
              </a:p>
            </p:txBody>
          </p:sp>
        </mc:Choice>
        <mc:Fallback>
          <p:sp>
            <p:nvSpPr>
              <p:cNvPr id="307" name="Stage2 concrete dual filter"/>
              <p:cNvSpPr txBox="1"/>
              <p:nvPr/>
            </p:nvSpPr>
            <p:spPr>
              <a:xfrm>
                <a:off x="571500" y="2959100"/>
                <a:ext cx="3441700" cy="596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8" name="Stage2 dual residual"/>
              <p:cNvSpPr txBox="1"/>
              <p:nvPr/>
            </p:nvSpPr>
            <p:spPr>
              <a:xfrm>
                <a:off x="4432300" y="2794000"/>
                <a:ext cx="4254500" cy="4572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700">
                          <a:solidFill>
                            <a:srgbClr val="087F8C"/>
                          </a:solidFill>
                          <a:latin typeface="Cambria Math"/>
                        </a:rPr>
                        <m:t xml:space="preserve">𝐃</m:t>
                      </m:r>
                      <m:d>
                        <m:dPr>
                          <m:begChr m:val="("/>
                          <m:endChr m:val=")"/>
                          <m:ctrlPr>
                            <a:rPr lang="en-US" sz="1700">
                              <a:solidFill>
                                <a:srgbClr val="252529"/>
                              </a:solidFill>
                              <a:latin typeface="Cambria Math"/>
                            </a:rPr>
                          </m:ctrlPr>
                        </m:dPr>
                        <m:e>
                          <m:r>
                            <m:rPr>
                              <m:sty m:val="p"/>
                            </m:rPr>
                            <a:rPr lang="en-US" sz="1700">
                              <a:solidFill>
                                <a:srgbClr val="087F8C"/>
                              </a:solidFill>
                              <a:latin typeface="Cambria Math"/>
                            </a:rPr>
                            <m:t xml:space="preserve">Θ</m:t>
                          </m:r>
                        </m:e>
                      </m:d>
                      <m:d>
                        <m:dPr>
                          <m:begChr m:val="["/>
                          <m:endChr m:val="]"/>
                          <m:ctrlPr>
                            <a:rPr lang="en-US" sz="1700">
                              <a:solidFill>
                                <a:srgbClr val="252529"/>
                              </a:solidFill>
                              <a:latin typeface="Cambria Math"/>
                            </a:rPr>
                          </m:ctrlPr>
                        </m:dPr>
                        <m:e>
                          <m:m>
                            <m:mPr>
                              <m:ctrlPr>
                                <a:rPr lang="en-US" sz="1700">
                                  <a:solidFill>
                                    <a:srgbClr val="252529"/>
                                  </a:solidFill>
                                  <a:latin typeface="Cambria Math"/>
                                </a:rPr>
                              </m:ctrlPr>
                            </m:mPr>
                            <m:m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e>
                            </m:mr>
                            <m:m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e>
                            </m:mr>
                          </m:m>
                        </m:e>
                      </m:d>
                      <m:r>
                        <m:rPr>
                          <m:sty m:val="p"/>
                        </m:rPr>
                        <a:rPr lang="en-US" sz="1700">
                          <a:solidFill>
                            <a:srgbClr val="252529"/>
                          </a:solidFill>
                          <a:latin typeface="Cambria Math"/>
                        </a:rPr>
                        <m:t xml:space="preserve">=</m:t>
                      </m:r>
                      <m:d>
                        <m:dPr>
                          <m:begChr m:val="["/>
                          <m:endChr m:val="]"/>
                          <m:ctrlPr>
                            <a:rPr lang="en-US" sz="1700">
                              <a:solidFill>
                                <a:srgbClr val="252529"/>
                              </a:solidFill>
                              <a:latin typeface="Cambria Math"/>
                            </a:rPr>
                          </m:ctrlPr>
                        </m:dPr>
                        <m:e>
                          <m:m>
                            <m:mPr>
                              <m:ctrlPr>
                                <a:rPr lang="en-US" sz="1700">
                                  <a:solidFill>
                                    <a:srgbClr val="252529"/>
                                  </a:solidFill>
                                  <a:latin typeface="Cambria Math"/>
                                </a:rPr>
                              </m:ctrlPr>
                            </m:mPr>
                            <m:m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e>
                            </m:mr>
                            <m:mr>
                              <m:e>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r>
                                  <m:rPr>
                                    <m:sty m:val="p"/>
                                  </m:rPr>
                                  <a:rPr lang="en-US" sz="1700">
                                    <a:solidFill>
                                      <a:srgbClr val="252529"/>
                                    </a:solidFill>
                                    <a:latin typeface="Cambria Math"/>
                                  </a:rPr>
                                  <m:t xml:space="preserve">−</m:t>
                                </m:r>
                                <m:sSup>
                                  <m:sSupPr>
                                    <m:ctrlPr>
                                      <a:rPr lang="en-US" sz="1700">
                                        <a:solidFill>
                                          <a:srgbClr val="252529"/>
                                        </a:solidFill>
                                        <a:latin typeface="Cambria Math"/>
                                      </a:rPr>
                                    </m:ctrlPr>
                                  </m:sSupPr>
                                  <m:e>
                                    <m:r>
                                      <m:rPr>
                                        <m:sty m:val="p"/>
                                      </m:rPr>
                                      <a:rPr lang="en-US" sz="1700">
                                        <a:solidFill>
                                          <a:srgbClr val="245A91"/>
                                        </a:solidFill>
                                        <a:latin typeface="Cambria Math"/>
                                      </a:rPr>
                                      <m:t xml:space="preserve">𝐾</m:t>
                                    </m:r>
                                  </m:e>
                                  <m:sup>
                                    <m:r>
                                      <m:rPr>
                                        <m:sty m:val="p"/>
                                      </m:rPr>
                                      <a:rPr lang="en-US" sz="1700">
                                        <a:solidFill>
                                          <a:srgbClr val="252529"/>
                                        </a:solidFill>
                                        <a:latin typeface="Cambria Math"/>
                                      </a:rPr>
                                      <m:t xml:space="preserve">*</m:t>
                                    </m:r>
                                  </m:sup>
                                </m:sSup>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e>
                            </m:mr>
                          </m:m>
                        </m:e>
                      </m:d>
                    </m:oMath>
                  </m:oMathPara>
                </a14:m>
                <a:endParaRPr sz="1700">
                  <a:latin typeface="Cambria Math"/>
                </a:endParaRPr>
              </a:p>
            </p:txBody>
          </p:sp>
        </mc:Choice>
        <mc:Fallback>
          <p:sp>
            <p:nvSpPr>
              <p:cNvPr id="308" name="Stage2 dual residual"/>
              <p:cNvSpPr txBox="1"/>
              <p:nvPr/>
            </p:nvSpPr>
            <p:spPr>
              <a:xfrm>
                <a:off x="4432300" y="2794000"/>
                <a:ext cx="4254500" cy="457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9" name="Stage2 residual zero"/>
              <p:cNvSpPr txBox="1"/>
              <p:nvPr/>
            </p:nvSpPr>
            <p:spPr>
              <a:xfrm>
                <a:off x="4483100" y="3390900"/>
                <a:ext cx="4089400" cy="330200"/>
              </a:xfrm>
              <a:prstGeom prst="rect">
                <a:avLst/>
              </a:prstGeom>
              <a:noFill/>
              <a:ln>
                <a:noFill/>
              </a:ln>
            </p:spPr>
            <p:txBody>
              <a:bodyPr wrap="square" lIns="0" tIns="0" rIns="0" bIns="0" anchor="ctr">
                <a:noAutofit/>
              </a:bodyPr>
              <a:lstStyle/>
              <a:p>
                <a:pPr algn="l"/>
                <a14:m>
                  <m:oMathPara>
                    <m:oMathParaPr>
                      <m:jc m:val="left"/>
                    </m:oMathParaPr>
                    <m:oMath>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𝑢</m:t>
                          </m:r>
                        </m:e>
                      </m:bar>
                      <m:r>
                        <m:rPr>
                          <m:sty m:val="p"/>
                        </m:rPr>
                        <a:rPr lang="en-US" sz="1700">
                          <a:solidFill>
                            <a:srgbClr val="252529"/>
                          </a:solidFill>
                          <a:latin typeface="Cambria Math"/>
                        </a:rPr>
                        <m:t xml:space="preserve">=</m:t>
                      </m:r>
                      <m:sSup>
                        <m:sSupPr>
                          <m:ctrlPr>
                            <a:rPr lang="en-US" sz="1700">
                              <a:solidFill>
                                <a:srgbClr val="252529"/>
                              </a:solidFill>
                              <a:latin typeface="Cambria Math"/>
                            </a:rPr>
                          </m:ctrlPr>
                        </m:sSupPr>
                        <m:e>
                          <m:r>
                            <m:rPr>
                              <m:sty m:val="p"/>
                            </m:rPr>
                            <a:rPr lang="en-US" sz="1700">
                              <a:solidFill>
                                <a:srgbClr val="245A91"/>
                              </a:solidFill>
                              <a:latin typeface="Cambria Math"/>
                            </a:rPr>
                            <m:t xml:space="preserve">𝐾</m:t>
                          </m:r>
                        </m:e>
                        <m:sup>
                          <m:r>
                            <m:rPr>
                              <m:sty m:val="p"/>
                            </m:rPr>
                            <a:rPr lang="en-US" sz="1700">
                              <a:solidFill>
                                <a:srgbClr val="252529"/>
                              </a:solidFill>
                              <a:latin typeface="Cambria Math"/>
                            </a:rPr>
                            <m:t xml:space="preserve">*</m:t>
                          </m:r>
                        </m:sup>
                      </m:sSup>
                      <m:bar>
                        <m:barPr>
                          <m:pos m:val="bot"/>
                          <m:ctrlPr>
                            <a:rPr lang="en-US" sz="1700">
                              <a:solidFill>
                                <a:srgbClr val="252529"/>
                              </a:solidFill>
                              <a:latin typeface="Cambria Math"/>
                            </a:rPr>
                          </m:ctrlPr>
                        </m:barPr>
                        <m:e>
                          <m:r>
                            <m:rPr>
                              <m:sty m:val="p"/>
                            </m:rPr>
                            <a:rPr lang="en-US" sz="1700">
                              <a:solidFill>
                                <a:srgbClr val="252529"/>
                              </a:solidFill>
                              <a:latin typeface="Cambria Math"/>
                            </a:rPr>
                            <m:t xml:space="preserve">𝑦</m:t>
                          </m:r>
                        </m:e>
                      </m:ba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 </m:t>
                      </m:r>
                      <m:r>
                        <m:rPr>
                          <m:sty m:val="p"/>
                        </m:rPr>
                        <a:rPr lang="en-US" sz="1700">
                          <a:solidFill>
                            <a:srgbClr val="252529"/>
                          </a:solidFill>
                          <a:latin typeface="Cambria Math"/>
                        </a:rPr>
                        <m:t xml:space="preserve"> </m:t>
                      </m:r>
                      <m:acc>
                        <m:accPr>
                          <m:chr m:val="̃"/>
                          <m:ctrlPr>
                            <a:rPr lang="en-US" sz="1700">
                              <a:solidFill>
                                <a:srgbClr val="252529"/>
                              </a:solidFill>
                              <a:latin typeface="Cambria Math"/>
                            </a:rPr>
                          </m:ctrlPr>
                        </m:accPr>
                        <m:e>
                          <m:bar>
                            <m:barPr>
                              <m:pos m:val="bot"/>
                              <m:ctrlPr>
                                <a:rPr lang="en-US" sz="1700">
                                  <a:solidFill>
                                    <a:srgbClr val="252529"/>
                                  </a:solidFill>
                                  <a:latin typeface="Cambria Math"/>
                                </a:rPr>
                              </m:ctrlPr>
                            </m:barPr>
                            <m:e>
                              <m:r>
                                <m:rPr>
                                  <m:sty m:val="p"/>
                                </m:rPr>
                                <a:rPr lang="en-US" sz="1700">
                                  <a:solidFill>
                                    <a:srgbClr val="087F8C"/>
                                  </a:solidFill>
                                  <a:latin typeface="Cambria Math"/>
                                </a:rPr>
                                <m:t xml:space="preserve">𝑢</m:t>
                              </m:r>
                            </m:e>
                          </m:bar>
                        </m:e>
                      </m:acc>
                      <m:r>
                        <m:rPr>
                          <m:sty m:val="p"/>
                        </m:rPr>
                        <a:rPr lang="en-US" sz="1700">
                          <a:solidFill>
                            <a:srgbClr val="087F8C"/>
                          </a:solidFill>
                          <a:latin typeface="Cambria Math"/>
                        </a:rPr>
                        <m:t xml:space="preserve">=</m:t>
                      </m:r>
                      <m:r>
                        <m:rPr>
                          <m:sty m:val="p"/>
                        </m:rPr>
                        <a:rPr lang="en-US" sz="1700">
                          <a:solidFill>
                            <a:srgbClr val="087F8C"/>
                          </a:solidFill>
                          <a:latin typeface="Cambria Math"/>
                        </a:rPr>
                        <m:t xml:space="preserve">0</m:t>
                      </m:r>
                    </m:oMath>
                  </m:oMathPara>
                </a14:m>
                <a:endParaRPr sz="1700">
                  <a:latin typeface="Cambria Math"/>
                </a:endParaRPr>
              </a:p>
            </p:txBody>
          </p:sp>
        </mc:Choice>
        <mc:Fallback>
          <p:sp>
            <p:nvSpPr>
              <p:cNvPr id="309" name="Stage2 residual zero"/>
              <p:cNvSpPr txBox="1"/>
              <p:nvPr/>
            </p:nvSpPr>
            <p:spPr>
              <a:xfrm>
                <a:off x="4483100" y="3390900"/>
                <a:ext cx="40894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10" name="Stage3 correct dual dynamics"/>
              <p:cNvSpPr txBox="1"/>
              <p:nvPr/>
            </p:nvSpPr>
            <p:spPr>
              <a:xfrm>
                <a:off x="1473200" y="3810000"/>
                <a:ext cx="7239000" cy="368300"/>
              </a:xfrm>
              <a:prstGeom prst="rect">
                <a:avLst/>
              </a:prstGeom>
              <a:noFill/>
              <a:ln>
                <a:noFill/>
              </a:ln>
            </p:spPr>
            <p:txBody>
              <a:bodyPr wrap="square" lIns="0" tIns="0" rIns="0" bIns="0" anchor="ctr">
                <a:noAutofit/>
              </a:bodyPr>
              <a:lstStyle/>
              <a:p>
                <a:pPr algn="l"/>
                <a14:m>
                  <m:oMathPara>
                    <m:oMathParaPr>
                      <m:jc m:val="left"/>
                    </m:oMathParaPr>
                    <m:oMath>
                      <m:sSup>
                        <m:sSupPr>
                          <m:ctrlPr>
                            <a:rPr lang="en-US" sz="2100">
                              <a:solidFill>
                                <a:srgbClr val="252529"/>
                              </a:solidFill>
                              <a:latin typeface="Cambria Math"/>
                            </a:rPr>
                          </m:ctrlPr>
                        </m:sSupPr>
                        <m:e>
                          <m:r>
                            <m:rPr>
                              <m:sty m:val="p"/>
                            </m:rPr>
                            <a:rPr lang="en-US" sz="2100">
                              <a:solidFill>
                                <a:srgbClr val="252529"/>
                              </a:solidFill>
                              <a:latin typeface="Cambria Math"/>
                            </a:rPr>
                            <m:t xml:space="preserve">𝑇</m:t>
                          </m:r>
                        </m:e>
                        <m:sup>
                          <m:r>
                            <m:rPr>
                              <m:sty m:val="p"/>
                            </m:rPr>
                            <a:rPr lang="en-US" sz="2100">
                              <a:solidFill>
                                <a:srgbClr val="252529"/>
                              </a:solidFill>
                              <a:latin typeface="Cambria Math"/>
                            </a:rPr>
                            <m:t xml:space="preserve">*</m:t>
                          </m:r>
                        </m:sup>
                      </m:sSup>
                      <m:acc>
                        <m:accPr>
                          <m:chr m:val="̇"/>
                          <m:ctrlPr>
                            <a:rPr lang="en-US" sz="2100">
                              <a:solidFill>
                                <a:srgbClr val="252529"/>
                              </a:solidFill>
                              <a:latin typeface="Cambria Math"/>
                            </a:rPr>
                          </m:ctrlPr>
                        </m:accPr>
                        <m:e>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𝑥</m:t>
                              </m:r>
                            </m:e>
                          </m:bar>
                        </m:e>
                      </m:acc>
                      <m:r>
                        <m:rPr>
                          <m:sty m:val="p"/>
                        </m:rPr>
                        <a:rPr lang="en-US" sz="2100">
                          <a:solidFill>
                            <a:srgbClr val="252529"/>
                          </a:solidFill>
                          <a:latin typeface="Cambria Math"/>
                        </a:rPr>
                        <m:t xml:space="preserve">=</m:t>
                      </m:r>
                      <m:d>
                        <m:dPr>
                          <m:begChr m:val="("/>
                          <m:endChr m:val=")"/>
                          <m:ctrlPr>
                            <a:rPr lang="en-US" sz="2100">
                              <a:solidFill>
                                <a:srgbClr val="252529"/>
                              </a:solidFill>
                              <a:latin typeface="Cambria Math"/>
                            </a:rPr>
                          </m:ctrlPr>
                        </m:dPr>
                        <m:e>
                          <m:sSup>
                            <m:sSupPr>
                              <m:ctrlPr>
                                <a:rPr lang="en-US" sz="2100">
                                  <a:solidFill>
                                    <a:srgbClr val="252529"/>
                                  </a:solidFill>
                                  <a:latin typeface="Cambria Math"/>
                                </a:rPr>
                              </m:ctrlPr>
                            </m:sSupPr>
                            <m:e>
                              <m:r>
                                <m:rPr>
                                  <m:sty m:val="p"/>
                                </m:rPr>
                                <a:rPr lang="en-US" sz="2100">
                                  <a:solidFill>
                                    <a:srgbClr val="252529"/>
                                  </a:solidFill>
                                  <a:latin typeface="Cambria Math"/>
                                </a:rPr>
                                <m:t xml:space="preserve">𝐴</m:t>
                              </m:r>
                            </m:e>
                            <m:sup>
                              <m:r>
                                <m:rPr>
                                  <m:sty m:val="p"/>
                                </m:rPr>
                                <a:rPr lang="en-US" sz="2100">
                                  <a:solidFill>
                                    <a:srgbClr val="252529"/>
                                  </a:solidFill>
                                  <a:latin typeface="Cambria Math"/>
                                </a:rPr>
                                <m:t xml:space="preserve">*</m:t>
                              </m:r>
                            </m:sup>
                          </m:sSup>
                          <m:r>
                            <m:rPr>
                              <m:sty m:val="p"/>
                            </m:rPr>
                            <a:rPr lang="en-US" sz="2100">
                              <a:solidFill>
                                <a:srgbClr val="252529"/>
                              </a:solidFill>
                              <a:latin typeface="Cambria Math"/>
                            </a:rPr>
                            <m:t xml:space="preserve">+</m:t>
                          </m:r>
                          <m:sSup>
                            <m:sSupPr>
                              <m:ctrlPr>
                                <a:rPr lang="en-US" sz="2100">
                                  <a:solidFill>
                                    <a:srgbClr val="252529"/>
                                  </a:solidFill>
                                  <a:latin typeface="Cambria Math"/>
                                </a:rPr>
                              </m:ctrlPr>
                            </m:sSupPr>
                            <m:e>
                              <m:r>
                                <m:rPr>
                                  <m:sty m:val="p"/>
                                </m:rPr>
                                <a:rPr lang="en-US" sz="2100">
                                  <a:solidFill>
                                    <a:srgbClr val="245A91"/>
                                  </a:solidFill>
                                  <a:latin typeface="Cambria Math"/>
                                </a:rPr>
                                <m:t xml:space="preserve">𝐾</m:t>
                              </m:r>
                            </m:e>
                            <m:sup>
                              <m:r>
                                <m:rPr>
                                  <m:sty m:val="p"/>
                                </m:rPr>
                                <a:rPr lang="en-US" sz="2100">
                                  <a:solidFill>
                                    <a:srgbClr val="252529"/>
                                  </a:solidFill>
                                  <a:latin typeface="Cambria Math"/>
                                </a:rPr>
                                <m:t xml:space="preserve">*</m:t>
                              </m:r>
                            </m:sup>
                          </m:sSup>
                          <m:sSup>
                            <m:sSupPr>
                              <m:ctrlPr>
                                <a:rPr lang="en-US" sz="2100">
                                  <a:solidFill>
                                    <a:srgbClr val="252529"/>
                                  </a:solidFill>
                                  <a:latin typeface="Cambria Math"/>
                                </a:rPr>
                              </m:ctrlPr>
                            </m:sSupPr>
                            <m:e>
                              <m:sSub>
                                <m:sSubPr>
                                  <m:ctrlPr>
                                    <a:rPr lang="en-US" sz="2100">
                                      <a:solidFill>
                                        <a:srgbClr val="252529"/>
                                      </a:solidFill>
                                      <a:latin typeface="Cambria Math"/>
                                    </a:rPr>
                                  </m:ctrlPr>
                                </m:sSubPr>
                                <m:e>
                                  <m:r>
                                    <m:rPr>
                                      <m:sty m:val="p"/>
                                    </m:rPr>
                                    <a:rPr lang="en-US" sz="2100">
                                      <a:solidFill>
                                        <a:srgbClr val="252529"/>
                                      </a:solidFill>
                                      <a:latin typeface="Cambria Math"/>
                                    </a:rPr>
                                    <m:t xml:space="preserve">𝐵</m:t>
                                  </m:r>
                                </m:e>
                                <m:sub>
                                  <m:r>
                                    <m:rPr>
                                      <m:sty m:val="p"/>
                                    </m:rPr>
                                    <a:rPr lang="en-US" sz="2100">
                                      <a:solidFill>
                                        <a:srgbClr val="252529"/>
                                      </a:solidFill>
                                      <a:latin typeface="Cambria Math"/>
                                    </a:rPr>
                                    <m:t xml:space="preserve">u</m:t>
                                  </m:r>
                                </m:sub>
                              </m:sSub>
                            </m:e>
                            <m:sup>
                              <m:r>
                                <m:rPr>
                                  <m:sty m:val="p"/>
                                </m:rPr>
                                <a:rPr lang="en-US" sz="2100">
                                  <a:solidFill>
                                    <a:srgbClr val="252529"/>
                                  </a:solidFill>
                                  <a:latin typeface="Cambria Math"/>
                                </a:rPr>
                                <m:t xml:space="preserve">*</m:t>
                              </m:r>
                            </m:sup>
                          </m:sSup>
                        </m:e>
                      </m:d>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𝑥</m:t>
                          </m:r>
                        </m:e>
                      </m:bar>
                    </m:oMath>
                  </m:oMathPara>
                </a14:m>
                <a:endParaRPr sz="2100">
                  <a:latin typeface="Cambria Math"/>
                </a:endParaRPr>
              </a:p>
            </p:txBody>
          </p:sp>
        </mc:Choice>
        <mc:Fallback>
          <p:sp>
            <p:nvSpPr>
              <p:cNvPr id="310" name="Stage3 correct dual dynamics"/>
              <p:cNvSpPr txBox="1"/>
              <p:nvPr/>
            </p:nvSpPr>
            <p:spPr>
              <a:xfrm>
                <a:off x="1473200" y="3810000"/>
                <a:ext cx="72390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1" name="Stage3 takeaway background"/>
          <p:cNvSpPr txBox="1"/>
          <p:nvPr/>
        </p:nvSpPr>
        <p:spPr>
          <a:xfrm>
            <a:off x="457200" y="4279900"/>
            <a:ext cx="8229600" cy="444500"/>
          </a:xfrm>
          <a:prstGeom prst="rect">
            <a:avLst/>
          </a:prstGeom>
          <a:solidFill>
            <a:srgbClr val="EAF5F5"/>
          </a:solidFill>
          <a:ln>
            <a:noFill/>
          </a:ln>
        </p:spPr>
        <p:txBody>
          <a:bodyPr wrap="square" lIns="0" tIns="0" rIns="0" bIns="0" anchor="ctr">
            <a:noAutofit/>
          </a:bodyPr>
          <a:lstStyle/>
          <a:p>
            <a:pPr algn="l"/>
            <a:r>
              <a:rPr lang="en-US" sz="1600" b="0">
                <a:solidFill>
                  <a:srgbClr val="252529"/>
                </a:solidFill>
                <a:latin typeface="Aptos"/>
              </a:rPr>
              <a:t/>
            </a:r>
          </a:p>
        </p:txBody>
      </p:sp>
      <p:sp>
        <p:nvSpPr>
          <p:cNvPr id="312"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087F8C"/>
                </a:solidFill>
                <a:latin typeface="Aptos"/>
              </a:rPr>
              <a:t>The zero residual now recovers the correct dual closed loop.</a:t>
            </a:r>
          </a:p>
        </p:txBody>
      </p:sp>
    </p:spTree>
    <p:extLst>
      <p:ext uri="{BB962C8B-B14F-4D97-AF65-F5344CB8AC3E}">
        <p14:creationId xmlns:p14="http://schemas.microsoft.com/office/powerpoint/2010/main" val="3379340739"/>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