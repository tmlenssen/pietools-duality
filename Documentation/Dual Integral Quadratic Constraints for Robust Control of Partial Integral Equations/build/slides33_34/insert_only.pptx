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3F3FB8F5-48C8-9627-E25B-124E4007612C}"/>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AFBE2C9-EC74-9AA9-B0CC-7DA8E0A18E51}"/>
                  </a:ext>
                </a:extLst>
              </p:cNvPr>
              <p:cNvSpPr txBox="1"/>
              <p:nvPr/>
            </p:nvSpPr>
            <p:spPr>
              <a:xfrm>
                <a:off x="5037209" y="1419576"/>
                <a:ext cx="2300117" cy="463460"/>
              </a:xfrm>
              <a:prstGeom prst="rect">
                <a:avLst/>
              </a:prstGeom>
              <a:noFill/>
            </p:spPr>
            <p:txBody>
              <a:bodyPr wrap="none" lIns="0" tIns="0" rIns="0" bIns="0" rtlCol="0">
                <a:spAutoFit/>
              </a:bodyPr>
              <a:lstStyle/>
              <a:p>
                <a:pPr/>
                <a14:m>
                  <m:oMathPara xmlns:m="http://schemas.openxmlformats.org/officeDocument/2006/math">
                    <m:oMath>
                      <m:r>
                        <m:rPr>
                          <m:sty m:val="p"/>
                        </m:rPr>
                        <a:rPr lang="nl-NL" i="1" smtClean="0">
                          <a:latin typeface="Cambria Math" panose="02040503050406030204" pitchFamily="18" charset="0"/>
                        </a:rPr>
                        <m:t>Θ</m:t>
                      </m:r>
                      <m:r>
                        <a:rPr lang="nl-NL" i="1" smtClean="0">
                          <a:latin typeface="Cambria Math" panose="02040503050406030204" pitchFamily="18" charset="0"/>
                        </a:rPr>
                        <m:t>:=</m:t>
                      </m:r>
                      <m:d>
                        <m:dPr>
                          <m:begChr m:val="{"/>
                          <m:endChr m:val=""/>
                          <m:ctrlPr>
                            <a:rPr lang="nl-NL" i="1">
                              <a:latin typeface="Cambria Math" panose="02040503050406030204" pitchFamily="18" charset="0"/>
                            </a:rPr>
                          </m:ctrlPr>
                        </m:dPr>
                        <m:e>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acc>
                                      <m:accPr>
                                        <m:chr m:val="˜"/>
                                        <m:ctrlPr>
                                          <a:rPr lang="nl-NL" i="1">
                                            <a:latin typeface="Cambria Math" panose="02040503050406030204" pitchFamily="18" charset="0"/>
                                          </a:rPr>
                                        </m:ctrlPr>
                                      </m:accPr>
                                      <m:e>
                                        <m:r>
                                          <a:rPr lang="nl-NL" i="1">
                                            <a:latin typeface="Cambria Math" panose="02040503050406030204" pitchFamily="18" charset="0"/>
                                          </a:rPr>
                                          <m:t>𝑢</m:t>
                                        </m:r>
                                      </m:e>
                                    </m:acc>
                                    <m:d>
                                      <m:dPr>
                                        <m:ctrlPr>
                                          <a:rPr lang="nl-NL" i="1">
                                            <a:latin typeface="Cambria Math" panose="02040503050406030204" pitchFamily="18" charset="0"/>
                                          </a:rPr>
                                        </m:ctrlPr>
                                      </m:dPr>
                                      <m:e>
                                        <m:r>
                                          <a:rPr lang="nl-NL" i="1">
                                            <a:latin typeface="Cambria Math" panose="02040503050406030204" pitchFamily="18" charset="0"/>
                                          </a:rPr>
                                          <m:t>𝑡</m:t>
                                        </m:r>
                                      </m:e>
                                    </m:d>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r>
                                      <a:rPr lang="nl-NL" i="1">
                                        <a:latin typeface="Cambria Math" panose="02040503050406030204" pitchFamily="18" charset="0"/>
                                      </a:rPr>
                                      <m:t>𝐼</m:t>
                                    </m:r>
                                  </m:e>
                                  <m:e>
                                    <m:r>
                                      <a:rPr lang="nl-NL" i="1">
                                        <a:latin typeface="Cambria Math" panose="02040503050406030204" pitchFamily="18" charset="0"/>
                                      </a:rPr>
                                      <m:t>0</m:t>
                                    </m:r>
                                  </m:e>
                                </m:mr>
                                <m:mr>
                                  <m:e>
                                    <m:r>
                                      <a:rPr lang="nl-NL" i="1">
                                        <a:latin typeface="Cambria Math" panose="02040503050406030204" pitchFamily="18" charset="0"/>
                                      </a:rPr>
                                      <m:t>−</m:t>
                                    </m:r>
                                    <m:r>
                                      <a:rPr lang="nl-NL" i="1">
                                        <a:latin typeface="Cambria Math" panose="02040503050406030204" pitchFamily="18" charset="0"/>
                                      </a:rPr>
                                      <m:t>𝐾</m:t>
                                    </m:r>
                                  </m:e>
                                  <m:e>
                                    <m:r>
                                      <a:rPr lang="nl-NL" i="1">
                                        <a:latin typeface="Cambria Math" panose="02040503050406030204" pitchFamily="18" charset="0"/>
                                      </a:rPr>
                                      <m:t>𝐼</m:t>
                                    </m:r>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7AFBE2C9-EC74-9AA9-B0CC-7DA8E0A18E51}"/>
                  </a:ext>
                </a:extLst>
              </p:cNvPr>
              <p:cNvSpPr txBox="1">
                <a:spLocks noRot="1" noChangeAspect="1" noMove="1" noResize="1" noEditPoints="1" noAdjustHandles="1" noChangeArrowheads="1" noChangeShapeType="1" noTextEdit="1"/>
              </p:cNvSpPr>
              <p:nvPr/>
            </p:nvSpPr>
            <p:spPr>
              <a:xfrm>
                <a:off x="5037209" y="1419576"/>
                <a:ext cx="2300117" cy="463460"/>
              </a:xfrm>
              <a:prstGeom prst="rect">
                <a:avLst/>
              </a:prstGeom>
              <a:blipFill>
                <a:blip r:embed="rId15"/>
                <a:stretch>
                  <a:fillRect l="-20106" t="-225000" b="-32105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11D05C-F7D5-70D2-8D8D-46BF3DF46CAA}"/>
                  </a:ext>
                </a:extLst>
              </p:cNvPr>
              <p:cNvSpPr txBox="1"/>
              <p:nvPr/>
            </p:nvSpPr>
            <p:spPr>
              <a:xfrm>
                <a:off x="4957379" y="3781312"/>
                <a:ext cx="2518318"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1511D05C-F7D5-70D2-8D8D-46BF3DF46CAA}"/>
                  </a:ext>
                </a:extLst>
              </p:cNvPr>
              <p:cNvSpPr txBox="1">
                <a:spLocks noRot="1" noChangeAspect="1" noMove="1" noResize="1" noEditPoints="1" noAdjustHandles="1" noChangeArrowheads="1" noChangeShapeType="1" noTextEdit="1"/>
              </p:cNvSpPr>
              <p:nvPr/>
            </p:nvSpPr>
            <p:spPr>
              <a:xfrm>
                <a:off x="4957379" y="3781312"/>
                <a:ext cx="2518318" cy="463460"/>
              </a:xfrm>
              <a:prstGeom prst="rect">
                <a:avLst/>
              </a:prstGeom>
              <a:blipFill>
                <a:blip r:embed="rId16"/>
                <a:stretch>
                  <a:fillRect l="-6538"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FB3BFAE1-3A84-8DBA-21AA-DBDE3EA902FD}"/>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D548753-0DD9-4CBE-E04E-5363A7C579C8}"/>
                  </a:ext>
                </a:extLst>
              </p:cNvPr>
              <p:cNvSpPr txBox="1"/>
              <p:nvPr/>
            </p:nvSpPr>
            <p:spPr>
              <a:xfrm>
                <a:off x="5232391" y="2568179"/>
                <a:ext cx="1617622" cy="300082"/>
              </a:xfrm>
              <a:prstGeom prst="rect">
                <a:avLst/>
              </a:prstGeom>
              <a:noFill/>
            </p:spPr>
            <p:txBody>
              <a:bodyPr wrap="none" rtlCol="0">
                <a:spAutoFit/>
              </a:bodyPr>
              <a:lstStyle/>
              <a:p>
                <a:pPr/>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FD548753-0DD9-4CBE-E04E-5363A7C579C8}"/>
                  </a:ext>
                </a:extLst>
              </p:cNvPr>
              <p:cNvSpPr txBox="1">
                <a:spLocks noRot="1" noChangeAspect="1" noMove="1" noResize="1" noEditPoints="1" noAdjustHandles="1" noChangeArrowheads="1" noChangeShapeType="1" noTextEdit="1"/>
              </p:cNvSpPr>
              <p:nvPr/>
            </p:nvSpPr>
            <p:spPr>
              <a:xfrm>
                <a:off x="5232391" y="2568179"/>
                <a:ext cx="1617622" cy="300082"/>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3ECAD35-3947-0941-368E-452968D6BF7E}"/>
                  </a:ext>
                </a:extLst>
              </p:cNvPr>
              <p:cNvSpPr txBox="1"/>
              <p:nvPr/>
            </p:nvSpPr>
            <p:spPr>
              <a:xfrm>
                <a:off x="5232391" y="2930193"/>
                <a:ext cx="2050177" cy="300082"/>
              </a:xfrm>
              <a:prstGeom prst="rect">
                <a:avLst/>
              </a:prstGeom>
              <a:noFill/>
            </p:spPr>
            <p:txBody>
              <a:bodyPr wrap="none" rtlCol="0">
                <a:spAutoFit/>
              </a:bodyPr>
              <a:lstStyle/>
              <a:p>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a:t>
                </a:r>
                <a:endParaRPr lang="en-NL" dirty="0"/>
              </a:p>
            </p:txBody>
          </p:sp>
        </mc:Choice>
        <mc:Fallback xmlns="">
          <p:sp>
            <p:nvSpPr>
              <p:cNvPr id="13" name="TextBox 12">
                <a:extLst>
                  <a:ext uri="{FF2B5EF4-FFF2-40B4-BE49-F238E27FC236}">
                    <a16:creationId xmlns:a16="http://schemas.microsoft.com/office/drawing/2014/main" id="{63ECAD35-3947-0941-368E-452968D6BF7E}"/>
                  </a:ext>
                </a:extLst>
              </p:cNvPr>
              <p:cNvSpPr txBox="1">
                <a:spLocks noRot="1" noChangeAspect="1" noMove="1" noResize="1" noEditPoints="1" noAdjustHandles="1" noChangeArrowheads="1" noChangeShapeType="1" noTextEdit="1"/>
              </p:cNvSpPr>
              <p:nvPr/>
            </p:nvSpPr>
            <p:spPr>
              <a:xfrm>
                <a:off x="5232391" y="2930193"/>
                <a:ext cx="2050177" cy="300082"/>
              </a:xfrm>
              <a:prstGeom prst="rect">
                <a:avLst/>
              </a:prstGeom>
              <a:blipFill>
                <a:blip r:embed="rId18"/>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31D74EF9-1980-A6AF-3913-28F8D792D083}"/>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3379340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6" name="TextBox 5">
            <a:extLst>
              <a:ext uri="{FF2B5EF4-FFF2-40B4-BE49-F238E27FC236}">
                <a16:creationId xmlns:a16="http://schemas.microsoft.com/office/drawing/2014/main" id="{17155050-E1BE-85FC-E86C-24500A2BAB8B}"/>
              </a:ext>
            </a:extLst>
          </p:cNvPr>
          <p:cNvSpPr txBox="1"/>
          <p:nvPr/>
        </p:nvSpPr>
        <p:spPr>
          <a:xfrm>
            <a:off x="4713851" y="1114294"/>
            <a:ext cx="518540" cy="300082"/>
          </a:xfrm>
          <a:prstGeom prst="rect">
            <a:avLst/>
          </a:prstGeom>
          <a:noFill/>
        </p:spPr>
        <p:txBody>
          <a:bodyPr wrap="none" rtlCol="0">
            <a:spAutoFit/>
          </a:bodyPr>
          <a:lstStyle/>
          <a:p>
            <a:r>
              <a:rPr lang="en-US" dirty="0"/>
              <a:t>Take</a:t>
            </a:r>
            <a:endParaRPr lang="en-NL"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1097D2-BAEF-EEED-6FD9-CD3AE2E967E6}"/>
                  </a:ext>
                </a:extLst>
              </p:cNvPr>
              <p:cNvSpPr txBox="1"/>
              <p:nvPr/>
            </p:nvSpPr>
            <p:spPr>
              <a:xfrm>
                <a:off x="5332129" y="1462174"/>
                <a:ext cx="2473689" cy="481222"/>
              </a:xfrm>
              <a:prstGeom prst="rect">
                <a:avLst/>
              </a:prstGeom>
              <a:noFill/>
            </p:spPr>
            <p:txBody>
              <a:bodyPr wrap="none" lIns="0" tIns="0" rIns="0" bIns="0" rtlCol="0">
                <a:spAutoFit/>
              </a:bodyPr>
              <a:lstStyle/>
              <a:p>
                <a:pPr/>
                <a14:m>
                  <m:oMathPara xmlns:m="http://schemas.openxmlformats.org/officeDocument/2006/math">
                    <m:oMath>
                      <m:sSup>
                        <m:sSupPr>
                          <m:ctrlPr>
                            <a:rPr lang="nl-NL" i="1" smtClean="0">
                              <a:latin typeface="Cambria Math" panose="02040503050406030204" pitchFamily="18" charset="0"/>
                            </a:rPr>
                          </m:ctrlPr>
                        </m:sSupPr>
                        <m:e>
                          <m:r>
                            <m:rPr>
                              <m:sty m:val="p"/>
                            </m:rPr>
                            <a:rPr lang="nl-NL" i="1" smtClean="0">
                              <a:latin typeface="Cambria Math" panose="02040503050406030204" pitchFamily="18" charset="0"/>
                            </a:rPr>
                            <m:t>Θ</m:t>
                          </m:r>
                        </m:e>
                        <m:sup>
                          <m:r>
                            <a:rPr lang="nl-NL" i="1" smtClean="0">
                              <a:latin typeface="Cambria Math" panose="02040503050406030204" pitchFamily="18" charset="0"/>
                            </a:rPr>
                            <m:t>⊤</m:t>
                          </m:r>
                        </m:sup>
                      </m:sSup>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𝑦</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acc>
                                          <m:accPr>
                                            <m:chr m:val="˜"/>
                                            <m:ctrlPr>
                                              <a:rPr lang="nl-NL" i="1" smtClean="0">
                                                <a:latin typeface="Cambria Math" panose="02040503050406030204" pitchFamily="18" charset="0"/>
                                              </a:rPr>
                                            </m:ctrlPr>
                                          </m:accPr>
                                          <m:e>
                                            <m:r>
                                              <a:rPr lang="nl-NL" i="1" smtClean="0">
                                                <a:latin typeface="Cambria Math" panose="02040503050406030204" pitchFamily="18" charset="0"/>
                                              </a:rPr>
                                              <m:t>𝑢</m:t>
                                            </m:r>
                                          </m:e>
                                        </m:acc>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r>
                            <a:rPr lang="nl-NL" i="1" smtClean="0">
                              <a:latin typeface="Cambria Math" panose="02040503050406030204" pitchFamily="18" charset="0"/>
                            </a:rPr>
                            <m:t>=</m:t>
                          </m:r>
                          <m:d>
                            <m:dPr>
                              <m:begChr m:val="["/>
                              <m:endChr m:val="]"/>
                              <m:ctrlPr>
                                <a:rPr lang="nl-NL" i="1" smtClean="0">
                                  <a:latin typeface="Cambria Math" panose="02040503050406030204" pitchFamily="18" charset="0"/>
                                </a:rPr>
                              </m:ctrlPr>
                            </m:dPr>
                            <m:e>
                              <m:m>
                                <m:mPr>
                                  <m:mcs>
                                    <m:mc>
                                      <m:mcPr>
                                        <m:count m:val="2"/>
                                        <m:mcJc m:val="center"/>
                                      </m:mcPr>
                                    </m:mc>
                                  </m:mcs>
                                  <m:ctrlPr>
                                    <a:rPr lang="nl-NL" i="1" smtClean="0">
                                      <a:latin typeface="Cambria Math" panose="02040503050406030204" pitchFamily="18" charset="0"/>
                                    </a:rPr>
                                  </m:ctrlPr>
                                </m:mPr>
                                <m:mr>
                                  <m:e>
                                    <m:r>
                                      <a:rPr lang="nl-NL" i="1" smtClean="0">
                                        <a:latin typeface="Cambria Math" panose="02040503050406030204" pitchFamily="18" charset="0"/>
                                      </a:rPr>
                                      <m:t>𝐼</m:t>
                                    </m:r>
                                  </m:e>
                                  <m:e>
                                    <m:r>
                                      <a:rPr lang="nl-NL" i="1" smtClean="0">
                                        <a:latin typeface="Cambria Math" panose="02040503050406030204" pitchFamily="18" charset="0"/>
                                      </a:rPr>
                                      <m:t>−</m:t>
                                    </m:r>
                                    <m:sSup>
                                      <m:sSupPr>
                                        <m:ctrlPr>
                                          <a:rPr lang="nl-NL" i="1" smtClean="0">
                                            <a:latin typeface="Cambria Math" panose="02040503050406030204" pitchFamily="18" charset="0"/>
                                          </a:rPr>
                                        </m:ctrlPr>
                                      </m:sSupPr>
                                      <m:e>
                                        <m:r>
                                          <a:rPr lang="nl-NL" i="1" smtClean="0">
                                            <a:latin typeface="Cambria Math" panose="02040503050406030204" pitchFamily="18" charset="0"/>
                                          </a:rPr>
                                          <m:t>𝐾</m:t>
                                        </m:r>
                                      </m:e>
                                      <m:sup>
                                        <m:r>
                                          <a:rPr lang="nl-NL" i="1" smtClean="0">
                                            <a:latin typeface="Cambria Math" panose="02040503050406030204" pitchFamily="18" charset="0"/>
                                          </a:rPr>
                                          <m:t>∗</m:t>
                                        </m:r>
                                      </m:sup>
                                    </m:sSup>
                                  </m:e>
                                </m:mr>
                                <m:mr>
                                  <m:e>
                                    <m:r>
                                      <a:rPr lang="nl-NL" i="1" smtClean="0">
                                        <a:latin typeface="Cambria Math" panose="02040503050406030204" pitchFamily="18" charset="0"/>
                                      </a:rPr>
                                      <m:t>0</m:t>
                                    </m:r>
                                  </m:e>
                                  <m:e>
                                    <m:r>
                                      <a:rPr lang="nl-NL" i="1" smtClean="0">
                                        <a:latin typeface="Cambria Math" panose="02040503050406030204" pitchFamily="18" charset="0"/>
                                      </a:rPr>
                                      <m:t>𝐼</m:t>
                                    </m:r>
                                  </m:e>
                                </m:mr>
                              </m:m>
                            </m:e>
                          </m:d>
                          <m:d>
                            <m:dPr>
                              <m:begChr m:val="["/>
                              <m:endChr m:val="]"/>
                              <m:ctrlPr>
                                <a:rPr lang="nl-NL" i="1" smtClean="0">
                                  <a:latin typeface="Cambria Math" panose="02040503050406030204" pitchFamily="18" charset="0"/>
                                </a:rPr>
                              </m:ctrlPr>
                            </m:dPr>
                            <m:e>
                              <m:m>
                                <m:mPr>
                                  <m:mcs>
                                    <m:mc>
                                      <m:mcPr>
                                        <m:count m:val="1"/>
                                        <m:mcJc m:val="center"/>
                                      </m:mcPr>
                                    </m:mc>
                                  </m:mcs>
                                  <m:ctrlPr>
                                    <a:rPr lang="nl-NL" i="1" smtClean="0">
                                      <a:latin typeface="Cambria Math" panose="02040503050406030204" pitchFamily="18" charset="0"/>
                                    </a:rPr>
                                  </m:ctrlPr>
                                </m:mP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𝑦</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r>
                                  <m:e>
                                    <m:bar>
                                      <m:barPr>
                                        <m:pos m:val="bot"/>
                                        <m:ctrlPr>
                                          <a:rPr lang="nl-NL" i="1" smtClean="0">
                                            <a:latin typeface="Cambria Math" panose="02040503050406030204" pitchFamily="18" charset="0"/>
                                          </a:rPr>
                                        </m:ctrlPr>
                                      </m:barPr>
                                      <m:e>
                                        <m:r>
                                          <a:rPr lang="nl-NL" i="1" smtClean="0">
                                            <a:latin typeface="Cambria Math" panose="02040503050406030204" pitchFamily="18" charset="0"/>
                                          </a:rPr>
                                          <m:t>𝑢</m:t>
                                        </m:r>
                                      </m:e>
                                    </m:bar>
                                    <m:d>
                                      <m:dPr>
                                        <m:ctrlPr>
                                          <a:rPr lang="nl-NL" i="1" smtClean="0">
                                            <a:latin typeface="Cambria Math" panose="02040503050406030204" pitchFamily="18" charset="0"/>
                                          </a:rPr>
                                        </m:ctrlPr>
                                      </m:dPr>
                                      <m:e>
                                        <m:r>
                                          <a:rPr lang="nl-NL" i="1" smtClean="0">
                                            <a:latin typeface="Cambria Math" panose="02040503050406030204" pitchFamily="18" charset="0"/>
                                          </a:rPr>
                                          <m:t>𝑡</m:t>
                                        </m:r>
                                      </m:e>
                                    </m:d>
                                  </m:e>
                                </m:mr>
                              </m:m>
                            </m:e>
                          </m:d>
                        </m:e>
                      </m:d>
                    </m:oMath>
                  </m:oMathPara>
                </a14:m>
                <a:endParaRPr lang="en-NL" dirty="0"/>
              </a:p>
            </p:txBody>
          </p:sp>
        </mc:Choice>
        <mc:Fallback xmlns="">
          <p:sp>
            <p:nvSpPr>
              <p:cNvPr id="9" name="TextBox 8">
                <a:extLst>
                  <a:ext uri="{FF2B5EF4-FFF2-40B4-BE49-F238E27FC236}">
                    <a16:creationId xmlns:a16="http://schemas.microsoft.com/office/drawing/2014/main" id="{B71097D2-BAEF-EEED-6FD9-CD3AE2E967E6}"/>
                  </a:ext>
                </a:extLst>
              </p:cNvPr>
              <p:cNvSpPr txBox="1">
                <a:spLocks noRot="1" noChangeAspect="1" noMove="1" noResize="1" noEditPoints="1" noAdjustHandles="1" noChangeArrowheads="1" noChangeShapeType="1" noTextEdit="1"/>
              </p:cNvSpPr>
              <p:nvPr/>
            </p:nvSpPr>
            <p:spPr>
              <a:xfrm>
                <a:off x="5332129" y="1462174"/>
                <a:ext cx="2473689" cy="481222"/>
              </a:xfrm>
              <a:prstGeom prst="rect">
                <a:avLst/>
              </a:prstGeom>
              <a:blipFill>
                <a:blip r:embed="rId9"/>
                <a:stretch>
                  <a:fillRect l="-15062" t="-215190" b="-3063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4DB0AD9-84C9-B0A0-DED8-0EA44A1BB889}"/>
                  </a:ext>
                </a:extLst>
              </p:cNvPr>
              <p:cNvSpPr txBox="1"/>
              <p:nvPr/>
            </p:nvSpPr>
            <p:spPr>
              <a:xfrm>
                <a:off x="4957379" y="3781312"/>
                <a:ext cx="2630657" cy="463460"/>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𝐺</m:t>
                                </m:r>
                              </m:e>
                            </m:mr>
                            <m:mr>
                              <m:e>
                                <m:r>
                                  <a:rPr lang="en-US" b="0" i="1" smtClean="0">
                                    <a:latin typeface="Cambria Math" panose="02040503050406030204" pitchFamily="18" charset="0"/>
                                  </a:rPr>
                                  <m:t>𝐼</m:t>
                                </m:r>
                              </m:e>
                            </m:mr>
                          </m:m>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𝒯</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𝒜</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ℬ</m:t>
                                      </m:r>
                                    </m:e>
                                    <m:sub>
                                      <m:r>
                                        <m:rPr>
                                          <m:sty m:val="p"/>
                                        </m:rPr>
                                        <a:rPr lang="en-US" b="0" i="1" smtClean="0">
                                          <a:latin typeface="Cambria Math" panose="02040503050406030204" pitchFamily="18" charset="0"/>
                                        </a:rPr>
                                        <m:t>u</m:t>
                                      </m:r>
                                    </m:sub>
                                  </m:sSub>
                                  <m:r>
                                    <a:rPr lang="en-US" b="0" i="1" smtClean="0">
                                      <a:latin typeface="Cambria Math" panose="02040503050406030204" pitchFamily="18" charset="0"/>
                                    </a:rPr>
                                    <m:t>𝒦</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m:rPr>
                                  <m:aln/>
                                </m:rPr>
                                <a:rPr lang="en-US" b="0" i="1" smtClean="0">
                                  <a:latin typeface="Cambria Math" panose="02040503050406030204" pitchFamily="18" charset="0"/>
                                </a:rPr>
                                <m:t>&amp;</m:t>
                              </m:r>
                              <m:r>
                                <a:rPr lang="en-US" b="0" i="1" smtClean="0">
                                  <a:latin typeface="Cambria Math" panose="02040503050406030204" pitchFamily="18" charset="0"/>
                                </a:rPr>
                                <m:t>=</m:t>
                              </m:r>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eqArr>
                        </m:e>
                      </m:d>
                    </m:oMath>
                  </m:oMathPara>
                </a14:m>
                <a:endParaRPr lang="en-NL" dirty="0"/>
              </a:p>
            </p:txBody>
          </p:sp>
        </mc:Choice>
        <mc:Fallback xmlns="">
          <p:sp>
            <p:nvSpPr>
              <p:cNvPr id="10" name="TextBox 9">
                <a:extLst>
                  <a:ext uri="{FF2B5EF4-FFF2-40B4-BE49-F238E27FC236}">
                    <a16:creationId xmlns:a16="http://schemas.microsoft.com/office/drawing/2014/main" id="{84DB0AD9-84C9-B0A0-DED8-0EA44A1BB889}"/>
                  </a:ext>
                </a:extLst>
              </p:cNvPr>
              <p:cNvSpPr txBox="1">
                <a:spLocks noRot="1" noChangeAspect="1" noMove="1" noResize="1" noEditPoints="1" noAdjustHandles="1" noChangeArrowheads="1" noChangeShapeType="1" noTextEdit="1"/>
              </p:cNvSpPr>
              <p:nvPr/>
            </p:nvSpPr>
            <p:spPr>
              <a:xfrm>
                <a:off x="4957379" y="3781312"/>
                <a:ext cx="2630657" cy="463460"/>
              </a:xfrm>
              <a:prstGeom prst="rect">
                <a:avLst/>
              </a:prstGeom>
              <a:blipFill>
                <a:blip r:embed="rId10"/>
                <a:stretch>
                  <a:fillRect l="-6250" t="-223684" b="-322368"/>
                </a:stretch>
              </a:blipFill>
            </p:spPr>
            <p:txBody>
              <a:bodyPr/>
              <a:lstStyle/>
              <a:p>
                <a:r>
                  <a:rPr lang="en-NL">
                    <a:noFill/>
                  </a:rPr>
                  <a:t> </a:t>
                </a:r>
              </a:p>
            </p:txBody>
          </p:sp>
        </mc:Fallback>
      </mc:AlternateContent>
      <p:sp>
        <p:nvSpPr>
          <p:cNvPr id="11" name="TextBox 10">
            <a:extLst>
              <a:ext uri="{FF2B5EF4-FFF2-40B4-BE49-F238E27FC236}">
                <a16:creationId xmlns:a16="http://schemas.microsoft.com/office/drawing/2014/main" id="{693A5CCD-4A42-8817-5C0B-46C3EA64339C}"/>
              </a:ext>
            </a:extLst>
          </p:cNvPr>
          <p:cNvSpPr txBox="1"/>
          <p:nvPr/>
        </p:nvSpPr>
        <p:spPr>
          <a:xfrm>
            <a:off x="4788390" y="2226595"/>
            <a:ext cx="543739" cy="300082"/>
          </a:xfrm>
          <a:prstGeom prst="rect">
            <a:avLst/>
          </a:prstGeom>
          <a:noFill/>
        </p:spPr>
        <p:txBody>
          <a:bodyPr wrap="none" rtlCol="0">
            <a:spAutoFit/>
          </a:bodyPr>
          <a:lstStyle/>
          <a:p>
            <a:r>
              <a:rPr lang="en-US" dirty="0"/>
              <a:t>Thus</a:t>
            </a:r>
            <a:endParaRPr lang="en-NL"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CFAB973-46C2-0B61-3A4C-532C3561FD1E}"/>
                  </a:ext>
                </a:extLst>
              </p:cNvPr>
              <p:cNvSpPr txBox="1"/>
              <p:nvPr/>
            </p:nvSpPr>
            <p:spPr>
              <a:xfrm>
                <a:off x="5232391" y="2568179"/>
                <a:ext cx="3054041" cy="345287"/>
              </a:xfrm>
              <a:prstGeom prst="rect">
                <a:avLst/>
              </a:prstGeom>
              <a:noFill/>
            </p:spPr>
            <p:txBody>
              <a:bodyPr wrap="none"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𝑦</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r>
                        <a:rPr lang="en-US" b="0" i="1" smtClean="0">
                          <a:latin typeface="Cambria Math" panose="02040503050406030204" pitchFamily="18" charset="0"/>
                        </a:rPr>
                        <m:t>(</m:t>
                      </m:r>
                      <m:r>
                        <m:rPr>
                          <m:sty m:val="p"/>
                        </m:rPr>
                        <a:rPr lang="en-US" b="0" i="1" smtClean="0">
                          <a:latin typeface="Cambria Math" panose="02040503050406030204" pitchFamily="18" charset="0"/>
                        </a:rPr>
                        <m:t>t</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2" name="TextBox 11">
                <a:extLst>
                  <a:ext uri="{FF2B5EF4-FFF2-40B4-BE49-F238E27FC236}">
                    <a16:creationId xmlns:a16="http://schemas.microsoft.com/office/drawing/2014/main" id="{7CFAB973-46C2-0B61-3A4C-532C3561FD1E}"/>
                  </a:ext>
                </a:extLst>
              </p:cNvPr>
              <p:cNvSpPr txBox="1">
                <a:spLocks noRot="1" noChangeAspect="1" noMove="1" noResize="1" noEditPoints="1" noAdjustHandles="1" noChangeArrowheads="1" noChangeShapeType="1" noTextEdit="1"/>
              </p:cNvSpPr>
              <p:nvPr/>
            </p:nvSpPr>
            <p:spPr>
              <a:xfrm>
                <a:off x="5232391" y="2568179"/>
                <a:ext cx="3054041" cy="345287"/>
              </a:xfrm>
              <a:prstGeom prst="rect">
                <a:avLst/>
              </a:prstGeom>
              <a:blipFill>
                <a:blip r:embed="rId11"/>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81993D1-7F3F-74F5-15F8-BDFA8E6A547C}"/>
                  </a:ext>
                </a:extLst>
              </p:cNvPr>
              <p:cNvSpPr txBox="1"/>
              <p:nvPr/>
            </p:nvSpPr>
            <p:spPr>
              <a:xfrm>
                <a:off x="5324406" y="2962892"/>
                <a:ext cx="1087414" cy="309765"/>
              </a:xfrm>
              <a:prstGeom prst="rect">
                <a:avLst/>
              </a:prstGeom>
              <a:noFill/>
            </p:spPr>
            <p:txBody>
              <a:bodyPr wrap="none" rtlCol="0">
                <a:spAutoFit/>
              </a:bodyPr>
              <a:lstStyle/>
              <a:p>
                <a14:m>
                  <m:oMath xmlns:m="http://schemas.openxmlformats.org/officeDocument/2006/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𝑢</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r>
                  <a:rPr lang="en-US" dirty="0"/>
                  <a:t> </a:t>
                </a:r>
                <a:endParaRPr lang="en-NL" dirty="0"/>
              </a:p>
            </p:txBody>
          </p:sp>
        </mc:Choice>
        <mc:Fallback xmlns="">
          <p:sp>
            <p:nvSpPr>
              <p:cNvPr id="13" name="TextBox 12">
                <a:extLst>
                  <a:ext uri="{FF2B5EF4-FFF2-40B4-BE49-F238E27FC236}">
                    <a16:creationId xmlns:a16="http://schemas.microsoft.com/office/drawing/2014/main" id="{881993D1-7F3F-74F5-15F8-BDFA8E6A547C}"/>
                  </a:ext>
                </a:extLst>
              </p:cNvPr>
              <p:cNvSpPr txBox="1">
                <a:spLocks noRot="1" noChangeAspect="1" noMove="1" noResize="1" noEditPoints="1" noAdjustHandles="1" noChangeArrowheads="1" noChangeShapeType="1" noTextEdit="1"/>
              </p:cNvSpPr>
              <p:nvPr/>
            </p:nvSpPr>
            <p:spPr>
              <a:xfrm>
                <a:off x="5324406" y="2962892"/>
                <a:ext cx="1087414" cy="309765"/>
              </a:xfrm>
              <a:prstGeom prst="rect">
                <a:avLst/>
              </a:prstGeom>
              <a:blipFill>
                <a:blip r:embed="rId12"/>
                <a:stretch>
                  <a:fillRect/>
                </a:stretch>
              </a:blipFill>
            </p:spPr>
            <p:txBody>
              <a:bodyPr/>
              <a:lstStyle/>
              <a:p>
                <a:r>
                  <a:rPr lang="en-NL">
                    <a:noFill/>
                  </a:rPr>
                  <a:t> </a:t>
                </a:r>
              </a:p>
            </p:txBody>
          </p:sp>
        </mc:Fallback>
      </mc:AlternateContent>
      <p:sp>
        <p:nvSpPr>
          <p:cNvPr id="16" name="TextBox 15">
            <a:extLst>
              <a:ext uri="{FF2B5EF4-FFF2-40B4-BE49-F238E27FC236}">
                <a16:creationId xmlns:a16="http://schemas.microsoft.com/office/drawing/2014/main" id="{4489752F-12D8-469C-D481-9503E14A908D}"/>
              </a:ext>
            </a:extLst>
          </p:cNvPr>
          <p:cNvSpPr txBox="1"/>
          <p:nvPr/>
        </p:nvSpPr>
        <p:spPr>
          <a:xfrm>
            <a:off x="4788897" y="3322083"/>
            <a:ext cx="799193" cy="300082"/>
          </a:xfrm>
          <a:prstGeom prst="rect">
            <a:avLst/>
          </a:prstGeom>
          <a:noFill/>
        </p:spPr>
        <p:txBody>
          <a:bodyPr wrap="none" rtlCol="0">
            <a:spAutoFit/>
          </a:bodyPr>
          <a:lstStyle/>
          <a:p>
            <a:r>
              <a:rPr lang="en-US" dirty="0"/>
              <a:t>Filling in</a:t>
            </a:r>
            <a:endParaRPr lang="en-NL" dirty="0"/>
          </a:p>
        </p:txBody>
      </p:sp>
    </p:spTree>
    <p:extLst>
      <p:ext uri="{BB962C8B-B14F-4D97-AF65-F5344CB8AC3E}">
        <p14:creationId xmlns:p14="http://schemas.microsoft.com/office/powerpoint/2010/main" val="1166307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9340739"/>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