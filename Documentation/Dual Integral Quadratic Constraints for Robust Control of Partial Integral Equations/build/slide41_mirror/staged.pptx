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1554" y="7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31.png"/><Relationship Id="rId21" Type="http://schemas.openxmlformats.org/officeDocument/2006/relationships/image" Target="../media/image134.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129.png"/><Relationship Id="rId2" Type="http://schemas.openxmlformats.org/officeDocument/2006/relationships/image" Target="../media/image115.png"/><Relationship Id="rId16" Type="http://schemas.openxmlformats.org/officeDocument/2006/relationships/image" Target="../media/image128.png"/><Relationship Id="rId20"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7.png"/><Relationship Id="rId10" Type="http://schemas.openxmlformats.org/officeDocument/2006/relationships/image" Target="../media/image121.png"/><Relationship Id="rId19" Type="http://schemas.openxmlformats.org/officeDocument/2006/relationships/image" Target="../media/image132.png"/><Relationship Id="rId4" Type="http://schemas.openxmlformats.org/officeDocument/2006/relationships/image" Target="../media/image960.png"/><Relationship Id="rId9" Type="http://schemas.openxmlformats.org/officeDocument/2006/relationships/image" Target="../media/image120.png"/><Relationship Id="rId14" Type="http://schemas.openxmlformats.org/officeDocument/2006/relationships/image" Target="../media/image126.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3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3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3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3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39.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1.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42.png"/></Relationships>
</file>

<file path=ppt/slides/_rels/slide5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3.png"/></Relationships>
</file>

<file path=ppt/slides/_rels/slide5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9000" name="Primal controller diagram"/>
          <p:cNvGrpSpPr/>
          <p:nvPr/>
        </p:nvGrpSpPr>
        <p:grpSpPr>
          <a:xfrm>
            <a:off x="609600" y="977900"/>
            <a:ext cx="3454400" cy="1403350"/>
            <a:chOff x="457200" y="889000"/>
            <a:chExt cx="4064000" cy="1651000"/>
          </a:xfrm>
        </p:grpSpPr>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889000"/>
              <a:ext cx="3452988" cy="676656"/>
              <a:chOff x="1904320" y="3683000"/>
              <a:chExt cx="3452988" cy="676656"/>
            </a:xfrm>
          </p:grpSpPr>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9" name="Plant measured channel">
                    <a:extLst>
                      <a:ext uri="{FF2B5EF4-FFF2-40B4-BE49-F238E27FC236}">
                        <a16:creationId xmlns:a16="http://schemas.microsoft.com/office/drawing/2014/main" id="{CBA17F91-32C2-778C-AEA3-B7706867AA79}"/>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6"/>
                    <a:stretch>
                      <a:fillRect b="-9524"/>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42157"/>
                  <a:ext cx="134396" cy="207749"/>
                </a:xfrm>
                <a:prstGeom prst="rect">
                  <a:avLst/>
                </a:prstGeom>
                <a:noFill/>
              </p:spPr>
              <p:txBody>
                <a:bodyPr wrap="none" lIns="0" tIns="0" rIns="0" bIns="0" rtlCol="0">
                  <a:spAutoFit/>
                </a:bodyPr>
                <a:lstStyle/>
                <a:p>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NL" dirty="0"/>
                </a:p>
              </p:txBody>
            </p:sp>
          </mc:Choice>
          <mc:Fallback>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42157"/>
                  <a:ext cx="134396" cy="207749"/>
                </a:xfrm>
                <a:prstGeom prst="rect">
                  <a:avLst/>
                </a:prstGeom>
                <a:blipFill>
                  <a:blip r:embed="rId10"/>
                  <a:stretch>
                    <a:fillRect l="-31818" t="-11765" r="-72727" b="-23529"/>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132772"/>
                  <a:ext cx="139077" cy="207749"/>
                </a:xfrm>
                <a:prstGeom prst="rect">
                  <a:avLst/>
                </a:prstGeom>
                <a:noFill/>
              </p:spPr>
              <p:txBody>
                <a:bodyPr wrap="none" lIns="0" tIns="0" rIns="0" bIns="0" rtlCol="0">
                  <a:spAutoFit/>
                </a:bodyPr>
                <a:lstStyle/>
                <a:p>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oMath>
                    </m:oMathPara>
                  </a14:m>
                  <a:endParaRPr lang="en-NL" dirty="0"/>
                </a:p>
              </p:txBody>
            </p:sp>
          </mc:Choice>
          <mc:Fallback>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132772"/>
                  <a:ext cx="139077" cy="207749"/>
                </a:xfrm>
                <a:prstGeom prst="rect">
                  <a:avLst/>
                </a:prstGeom>
                <a:blipFill>
                  <a:blip r:embed="rId11"/>
                  <a:stretch>
                    <a:fillRect l="-17391" t="-11765" r="-69565"/>
                  </a:stretch>
                </a:blipFill>
              </p:spPr>
              <p:txBody>
                <a:bodyPr/>
                <a:lstStyle/>
                <a:p>
                  <a:r>
                    <a:rPr lang="en-NL">
                      <a:noFill/>
                    </a:rPr>
                    <a:t> </a:t>
                  </a:r>
                </a:p>
              </p:txBody>
            </p:sp>
          </mc:Fallback>
        </mc:AlternateContent>
      </p:grpSp>
      <p:grpSp>
        <p:nvGrpSpPr>
          <p:cNvPr id="9001" name="Dual controller diagram"/>
          <p:cNvGrpSpPr/>
          <p:nvPr/>
        </p:nvGrpSpPr>
        <p:grpSpPr>
          <a:xfrm>
            <a:off x="4927600" y="977900"/>
            <a:ext cx="3454400" cy="1403350"/>
            <a:chOff x="4572000" y="889000"/>
            <a:chExt cx="4064000" cy="1651000"/>
          </a:xfrm>
        </p:grpSpPr>
        <p:grpSp>
          <p:nvGrpSpPr>
            <p:cNvPr id="22" name="Editable paper diagram">
              <a:extLst>
                <a:ext uri="{FF2B5EF4-FFF2-40B4-BE49-F238E27FC236}">
                  <a16:creationId xmlns:a16="http://schemas.microsoft.com/office/drawing/2014/main" id="{71B52B0D-A2A7-ACB1-A277-1292563A878D}"/>
                </a:ext>
              </a:extLst>
            </p:cNvPr>
            <p:cNvGrpSpPr/>
            <p:nvPr/>
          </p:nvGrpSpPr>
          <p:grpSpPr>
            <a:xfrm>
              <a:off x="4572000" y="889000"/>
              <a:ext cx="3452988" cy="676656"/>
              <a:chOff x="1904320" y="3683000"/>
              <a:chExt cx="3452988" cy="676656"/>
            </a:xfrm>
          </p:grpSpPr>
          <p:sp>
            <p:nvSpPr>
              <p:cNvPr id="23" name="Controller">
                <a:extLst>
                  <a:ext uri="{FF2B5EF4-FFF2-40B4-BE49-F238E27FC236}">
                    <a16:creationId xmlns:a16="http://schemas.microsoft.com/office/drawing/2014/main" id="{1D411108-A9EF-EA44-DABF-FA5387A75CD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24" name="Controller label">
                    <a:extLst>
                      <a:ext uri="{FF2B5EF4-FFF2-40B4-BE49-F238E27FC236}">
                        <a16:creationId xmlns:a16="http://schemas.microsoft.com/office/drawing/2014/main" id="{4B4EFE33-C7F1-06DB-C3AC-0CF2BE1ED2F0}"/>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6"/>
                    <a:stretch>
                      <a:fillRect l="-270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 name="Plant measured channel">
                    <a:extLst>
                      <a:ext uri="{FF2B5EF4-FFF2-40B4-BE49-F238E27FC236}">
                        <a16:creationId xmlns:a16="http://schemas.microsoft.com/office/drawing/2014/main" id="{E2B745A6-0C1E-FCCA-8CE2-8CBA087AF257}"/>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18"/>
                    <a:stretch>
                      <a:fillRect b="-3175"/>
                    </a:stretch>
                  </a:blipFill>
                  <a:ln>
                    <a:noFill/>
                  </a:ln>
                </p:spPr>
                <p:txBody>
                  <a:bodyPr/>
                  <a:lstStyle/>
                  <a:p>
                    <a:r>
                      <a:rPr lang="en-NL">
                        <a:noFill/>
                      </a:rPr>
                      <a:t> </a:t>
                    </a:r>
                  </a:p>
                </p:txBody>
              </p:sp>
            </mc:Fallback>
          </mc:AlternateContent>
        </p:grpSp>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742157"/>
                  <a:ext cx="134396" cy="252954"/>
                </a:xfrm>
                <a:prstGeom prst="rect">
                  <a:avLst/>
                </a:prstGeom>
                <a:noFill/>
              </p:spPr>
              <p:txBody>
                <a:bodyPr wrap="none" lIns="0" tIns="0" rIns="0" bIns="0" rtlCol="0">
                  <a:spAutoFit/>
                </a:bodyPr>
                <a:lstStyle/>
                <a:p>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bar>
                      </m:oMath>
                    </m:oMathPara>
                  </a14:m>
                  <a:endParaRPr lang="en-NL" dirty="0"/>
                </a:p>
              </p:txBody>
            </p:sp>
          </mc:Choice>
          <mc:Fallback>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742157"/>
                  <a:ext cx="134396" cy="252954"/>
                </a:xfrm>
                <a:prstGeom prst="rect">
                  <a:avLst/>
                </a:prstGeom>
                <a:blipFill>
                  <a:blip r:embed="rId20"/>
                  <a:stretch>
                    <a:fillRect l="-31818" t="-7317" r="-72727" b="-487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E730C26E-DFE9-CA8B-CB78-6CD3DA2D0100}"/>
                    </a:ext>
                  </a:extLst>
                </p:cNvPr>
                <p:cNvSpPr txBox="1"/>
                <p:nvPr/>
              </p:nvSpPr>
              <p:spPr>
                <a:xfrm>
                  <a:off x="8478928" y="2132772"/>
                  <a:ext cx="139077" cy="217432"/>
                </a:xfrm>
                <a:prstGeom prst="rect">
                  <a:avLst/>
                </a:prstGeom>
                <a:noFill/>
              </p:spPr>
              <p:txBody>
                <a:bodyPr wrap="none" lIns="0" tIns="0" rIns="0" bIns="0" rtlCol="0">
                  <a:spAutoFit/>
                </a:bodyPr>
                <a:lstStyle/>
                <a:p>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e>
                        </m:bar>
                      </m:oMath>
                    </m:oMathPara>
                  </a14:m>
                  <a:endParaRPr lang="en-NL" dirty="0"/>
                </a:p>
              </p:txBody>
            </p:sp>
          </mc:Choice>
          <mc:Fallback>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78928" y="2132772"/>
                  <a:ext cx="139077" cy="217432"/>
                </a:xfrm>
                <a:prstGeom prst="rect">
                  <a:avLst/>
                </a:prstGeom>
                <a:blipFill>
                  <a:blip r:embed="rId21"/>
                  <a:stretch>
                    <a:fillRect l="-17391" t="-8333" r="-69565"/>
                  </a:stretch>
                </a:blipFill>
              </p:spPr>
              <p:txBody>
                <a:bodyPr/>
                <a:lstStyle/>
                <a:p>
                  <a:r>
                    <a:rPr lang="en-NL">
                      <a:noFill/>
                    </a:rPr>
                    <a:t> </a:t>
                  </a:r>
                </a:p>
              </p:txBody>
            </p:sp>
          </mc:Fallback>
        </mc:AlternateContent>
      </p:grpSp>
      <p:sp>
        <p:nvSpPr>
          <p:cNvPr id="9101" name="Title"/>
          <p:cNvSpPr/>
          <p:nvPr/>
        </p:nvSpPr>
        <p:spPr>
          <a:xfrm>
            <a:off x="457200" y="2317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Thought experiment: constrain K and Kᵀ</a:t>
            </a:r>
            <a:endParaRPr sz="2500"/>
          </a:p>
        </p:txBody>
      </p:sp>
      <p:sp>
        <p:nvSpPr>
          <p:cNvPr id="9102" name="Primal heading"/>
          <p:cNvSpPr/>
          <p:nvPr/>
        </p:nvSpPr>
        <p:spPr>
          <a:xfrm>
            <a:off x="444500" y="692150"/>
            <a:ext cx="3937000" cy="266700"/>
          </a:xfrm>
          <a:prstGeom prst="rect">
            <a:avLst/>
          </a:prstGeom>
          <a:noFill/>
          <a:ln>
            <a:noFill/>
          </a:ln>
        </p:spPr>
        <p:txBody>
          <a:bodyPr wrap="none" lIns="0" tIns="0" rIns="0" bIns="0" anchor="ctr">
            <a:noAutofit/>
          </a:bodyPr>
          <a:lstStyle/>
          <a:p>
            <a:pPr algn="ctr">
              <a:buNone/>
            </a:pPr>
            <a:r>
              <a:rPr lang="en-GB" sz="1400" baseline="0" b="1" i="0" u="none">
                <a:solidFill>
                  <a:srgbClr val="C81919"/>
                </a:solidFill>
                <a:latin typeface="Aptos"/>
                <a:ea typeface="Aptos"/>
                <a:cs typeface="Aptos"/>
              </a:rPr>
              <a:t xml:space="preserve">Controller</a:t>
            </a:r>
            <a:endParaRPr sz="1400"/>
          </a:p>
        </p:txBody>
      </p:sp>
      <p:sp>
        <p:nvSpPr>
          <p:cNvPr id="9103" name="Primal controller relation"/>
          <p:cNvSpPr/>
          <p:nvPr/>
        </p:nvSpPr>
        <p:spPr>
          <a:xfrm>
            <a:off x="444500" y="2245360"/>
            <a:ext cx="3937000" cy="6400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800">
                      <a:solidFill>
                        <a:srgbClr val="252529"/>
                      </a:solidFill>
                      <a:latin typeface="Cambria Math"/>
                    </a:rPr>
                    <m:t xml:space="preserve">u</m:t>
                  </m:r>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r>
                    <m:rPr>
                      <m:sty m:val="i"/>
                    </m:rPr>
                    <a:rPr sz="1800">
                      <a:solidFill>
                        <a:srgbClr val="252529"/>
                      </a:solidFill>
                      <a:latin typeface="Cambria Math"/>
                    </a:rPr>
                    <m:t xml:space="preserve">K</m:t>
                  </m:r>
                  <m:r>
                    <m:rPr>
                      <m:sty m:val="i"/>
                    </m:rPr>
                    <a:rPr sz="1800">
                      <a:solidFill>
                        <a:srgbClr val="252529"/>
                      </a:solidFill>
                      <a:latin typeface="Cambria Math"/>
                    </a:rPr>
                    <m:t xml:space="preserve">y</m:t>
                  </m:r>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oMath>
              </m:oMathPara>
            </a14:m>
            <a:endParaRPr sz="1800"/>
          </a:p>
        </p:txBody>
      </p:sp>
      <p:sp>
        <p:nvSpPr>
          <p:cNvPr id="9104" name="Primal filter matrix"/>
          <p:cNvSpPr/>
          <p:nvPr/>
        </p:nvSpPr>
        <p:spPr>
          <a:xfrm>
            <a:off x="393700" y="2809240"/>
            <a:ext cx="4038600" cy="60452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1700">
                          <a:solidFill>
                            <a:srgbClr val="252529"/>
                          </a:solidFill>
                          <a:latin typeface="Cambria Math"/>
                        </a:rPr>
                      </m:ctrlPr>
                    </m:dPr>
                    <m:e>
                      <m:m>
                        <m:mPr>
                          <m:mcs>
                            <m:mc>
                              <m:mcPr>
                                <m:count m:val="1"/>
                                <m:mcJc m:val="center"/>
                              </m:mcPr>
                            </m:mc>
                          </m:mcs>
                          <m:ctrlPr>
                            <a:rPr sz="1700">
                              <a:solidFill>
                                <a:srgbClr val="252529"/>
                              </a:solidFill>
                              <a:latin typeface="Cambria Math"/>
                            </a:rPr>
                          </m:ctrlPr>
                        </m:mPr>
                        <m:mr>
                          <m:e>
                            <m:acc>
                              <m:accPr>
                                <m:chr m:val="̃"/>
                                <m:ctrlPr>
                                  <a:rPr sz="1700">
                                    <a:solidFill>
                                      <a:srgbClr val="252529"/>
                                    </a:solidFill>
                                    <a:latin typeface="Cambria Math"/>
                                  </a:rPr>
                                </m:ctrlPr>
                              </m:accPr>
                              <m:e>
                                <m:r>
                                  <m:rPr>
                                    <m:sty m:val="i"/>
                                  </m:rPr>
                                  <a:rPr sz="1700">
                                    <a:solidFill>
                                      <a:srgbClr val="252529"/>
                                    </a:solidFill>
                                    <a:latin typeface="Cambria Math"/>
                                  </a:rPr>
                                  <m:t xml:space="preserve">y</m:t>
                                </m:r>
                              </m:e>
                            </m:acc>
                          </m:e>
                        </m:mr>
                        <m:mr>
                          <m:e>
                            <m:acc>
                              <m:accPr>
                                <m:chr m:val="̃"/>
                                <m:ctrlPr>
                                  <a:rPr sz="1700">
                                    <a:solidFill>
                                      <a:srgbClr val="252529"/>
                                    </a:solidFill>
                                    <a:latin typeface="Cambria Math"/>
                                  </a:rPr>
                                </m:ctrlPr>
                              </m:accPr>
                              <m:e>
                                <m:r>
                                  <m:rPr>
                                    <m:sty m:val="i"/>
                                  </m:rPr>
                                  <a:rPr sz="1700">
                                    <a:solidFill>
                                      <a:srgbClr val="252529"/>
                                    </a:solidFill>
                                    <a:latin typeface="Cambria Math"/>
                                  </a:rPr>
                                  <m:t xml:space="preserve">u</m:t>
                                </m:r>
                              </m:e>
                            </m:acc>
                          </m:e>
                        </m:mr>
                      </m:m>
                    </m:e>
                  </m:d>
                  <m:r>
                    <m:rPr>
                      <m:sty m:val="i"/>
                    </m:rPr>
                    <a:rPr sz="1700">
                      <a:solidFill>
                        <a:srgbClr val="252529"/>
                      </a:solidFill>
                      <a:latin typeface="Cambria Math"/>
                    </a:rPr>
                    <m:t xml:space="preserve">=</m:t>
                  </m:r>
                  <m:r>
                    <m:rPr>
                      <m:sty m:val="i"/>
                    </m:rPr>
                    <a:rPr sz="1700">
                      <a:solidFill>
                        <a:srgbClr val="252529"/>
                      </a:solidFill>
                      <a:latin typeface="Cambria Math"/>
                    </a:rPr>
                    <m:t xml:space="preserve">Θ</m:t>
                  </m:r>
                  <m:d>
                    <m:dPr>
                      <m:begChr m:val="["/>
                      <m:endChr m:val="]"/>
                      <m:ctrlPr>
                        <a:rPr sz="1700">
                          <a:solidFill>
                            <a:srgbClr val="252529"/>
                          </a:solidFill>
                          <a:latin typeface="Cambria Math"/>
                        </a:rPr>
                      </m:ctrlPr>
                    </m:dPr>
                    <m:e>
                      <m:m>
                        <m:mPr>
                          <m:mcs>
                            <m:mc>
                              <m:mcPr>
                                <m:count m:val="1"/>
                                <m:mcJc m:val="center"/>
                              </m:mcPr>
                            </m:mc>
                          </m:mcs>
                          <m:ctrlPr>
                            <a:rPr sz="1700">
                              <a:solidFill>
                                <a:srgbClr val="252529"/>
                              </a:solidFill>
                              <a:latin typeface="Cambria Math"/>
                            </a:rPr>
                          </m:ctrlPr>
                        </m:mPr>
                        <m:mr>
                          <m:e>
                            <m:r>
                              <m:rPr>
                                <m:sty m:val="i"/>
                              </m:rPr>
                              <a:rPr sz="1700">
                                <a:solidFill>
                                  <a:srgbClr val="252529"/>
                                </a:solidFill>
                                <a:latin typeface="Cambria Math"/>
                              </a:rPr>
                              <m:t xml:space="preserve">y</m:t>
                            </m:r>
                          </m:e>
                        </m:mr>
                        <m:mr>
                          <m:e>
                            <m:r>
                              <m:rPr>
                                <m:sty m:val="i"/>
                              </m:rPr>
                              <a:rPr sz="1700">
                                <a:solidFill>
                                  <a:srgbClr val="252529"/>
                                </a:solidFill>
                                <a:latin typeface="Cambria Math"/>
                              </a:rPr>
                              <m:t xml:space="preserve">u</m:t>
                            </m:r>
                          </m:e>
                        </m:mr>
                      </m:m>
                    </m:e>
                  </m:d>
                  <m:r>
                    <m:rPr>
                      <m:sty m:val="i"/>
                    </m:rPr>
                    <a:rPr sz="1700">
                      <a:solidFill>
                        <a:srgbClr val="252529"/>
                      </a:solidFill>
                      <a:latin typeface="Cambria Math"/>
                    </a:rPr>
                    <m:t xml:space="preserve">=</m:t>
                  </m:r>
                  <m:d>
                    <m:dPr>
                      <m:begChr m:val="["/>
                      <m:endChr m:val="]"/>
                      <m:ctrlPr>
                        <a:rPr sz="1700">
                          <a:solidFill>
                            <a:srgbClr val="252529"/>
                          </a:solidFill>
                          <a:latin typeface="Cambria Math"/>
                        </a:rPr>
                      </m:ctrlPr>
                    </m:dPr>
                    <m:e>
                      <m:m>
                        <m:mPr>
                          <m:mcs>
                            <m:mc>
                              <m:mcPr>
                                <m:count m:val="2"/>
                                <m:mcJc m:val="center"/>
                              </m:mcPr>
                            </m:mc>
                          </m:mcs>
                          <m:ctrlPr>
                            <a:rPr sz="1700">
                              <a:solidFill>
                                <a:srgbClr val="252529"/>
                              </a:solidFill>
                              <a:latin typeface="Cambria Math"/>
                            </a:rPr>
                          </m:ctrlPr>
                        </m:mPr>
                        <m:mr>
                          <m:e>
                            <m:r>
                              <m:rPr>
                                <m:sty m:val="i"/>
                              </m:rPr>
                              <a:rPr sz="1700">
                                <a:solidFill>
                                  <a:srgbClr val="252529"/>
                                </a:solidFill>
                                <a:latin typeface="Cambria Math"/>
                              </a:rPr>
                              <m:t xml:space="preserve">I</m:t>
                            </m:r>
                          </m:e>
                          <m:e>
                            <m:r>
                              <m:rPr>
                                <m:sty m:val="p"/>
                              </m:rPr>
                              <a:rPr sz="1700">
                                <a:solidFill>
                                  <a:srgbClr val="252529"/>
                                </a:solidFill>
                                <a:latin typeface="Cambria Math"/>
                              </a:rPr>
                              <m:t xml:space="preserve">0</m:t>
                            </m:r>
                          </m:e>
                        </m:mr>
                        <m:mr>
                          <m:e>
                            <m:r>
                              <m:rPr>
                                <m:sty m:val="i"/>
                              </m:rPr>
                              <a:rPr sz="1700">
                                <a:solidFill>
                                  <a:srgbClr val="252529"/>
                                </a:solidFill>
                                <a:latin typeface="Cambria Math"/>
                              </a:rPr>
                              <m:t xml:space="preserve">−</m:t>
                            </m:r>
                            <m:r>
                              <m:rPr>
                                <m:sty m:val="i"/>
                              </m:rPr>
                              <a:rPr sz="1700">
                                <a:solidFill>
                                  <a:srgbClr val="252529"/>
                                </a:solidFill>
                                <a:latin typeface="Cambria Math"/>
                              </a:rPr>
                              <m:t xml:space="preserve">K</m:t>
                            </m:r>
                          </m:e>
                          <m:e>
                            <m:r>
                              <m:rPr>
                                <m:sty m:val="i"/>
                              </m:rPr>
                              <a:rPr sz="1700">
                                <a:solidFill>
                                  <a:srgbClr val="252529"/>
                                </a:solidFill>
                                <a:latin typeface="Cambria Math"/>
                              </a:rPr>
                              <m:t xml:space="preserve">I</m:t>
                            </m:r>
                          </m:e>
                        </m:mr>
                      </m:m>
                    </m:e>
                  </m:d>
                  <m:d>
                    <m:dPr>
                      <m:begChr m:val="["/>
                      <m:endChr m:val="]"/>
                      <m:ctrlPr>
                        <a:rPr sz="1700">
                          <a:solidFill>
                            <a:srgbClr val="252529"/>
                          </a:solidFill>
                          <a:latin typeface="Cambria Math"/>
                        </a:rPr>
                      </m:ctrlPr>
                    </m:dPr>
                    <m:e>
                      <m:m>
                        <m:mPr>
                          <m:mcs>
                            <m:mc>
                              <m:mcPr>
                                <m:count m:val="1"/>
                                <m:mcJc m:val="center"/>
                              </m:mcPr>
                            </m:mc>
                          </m:mcs>
                          <m:ctrlPr>
                            <a:rPr sz="1700">
                              <a:solidFill>
                                <a:srgbClr val="252529"/>
                              </a:solidFill>
                              <a:latin typeface="Cambria Math"/>
                            </a:rPr>
                          </m:ctrlPr>
                        </m:mPr>
                        <m:mr>
                          <m:e>
                            <m:r>
                              <m:rPr>
                                <m:sty m:val="i"/>
                              </m:rPr>
                              <a:rPr sz="1700">
                                <a:solidFill>
                                  <a:srgbClr val="252529"/>
                                </a:solidFill>
                                <a:latin typeface="Cambria Math"/>
                              </a:rPr>
                              <m:t xml:space="preserve">y</m:t>
                            </m:r>
                          </m:e>
                        </m:mr>
                        <m:mr>
                          <m:e>
                            <m:r>
                              <m:rPr>
                                <m:sty m:val="i"/>
                              </m:rPr>
                              <a:rPr sz="1700">
                                <a:solidFill>
                                  <a:srgbClr val="252529"/>
                                </a:solidFill>
                                <a:latin typeface="Cambria Math"/>
                              </a:rPr>
                              <m:t xml:space="preserve">u</m:t>
                            </m:r>
                          </m:e>
                        </m:mr>
                      </m:m>
                    </m:e>
                  </m:d>
                </m:oMath>
              </m:oMathPara>
            </a14:m>
            <a:endParaRPr sz="1700"/>
          </a:p>
        </p:txBody>
      </p:sp>
      <p:sp>
        <p:nvSpPr>
          <p:cNvPr id="9105" name="Primal transformed signals"/>
          <p:cNvSpPr/>
          <p:nvPr/>
        </p:nvSpPr>
        <p:spPr>
          <a:xfrm>
            <a:off x="393700" y="3342640"/>
            <a:ext cx="4038600" cy="60452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1700">
                          <a:solidFill>
                            <a:srgbClr val="252529"/>
                          </a:solidFill>
                          <a:latin typeface="Cambria Math"/>
                        </a:rPr>
                      </m:ctrlPr>
                    </m:accPr>
                    <m:e>
                      <m:r>
                        <m:rPr>
                          <m:sty m:val="i"/>
                        </m:rPr>
                        <a:rPr sz="1700">
                          <a:solidFill>
                            <a:srgbClr val="252529"/>
                          </a:solidFill>
                          <a:latin typeface="Cambria Math"/>
                        </a:rPr>
                        <m:t xml:space="preserve">y</m:t>
                      </m:r>
                    </m:e>
                  </m:acc>
                  <m:r>
                    <m:rPr>
                      <m:sty m:val="i"/>
                    </m:rPr>
                    <a:rPr sz="1700">
                      <a:solidFill>
                        <a:srgbClr val="252529"/>
                      </a:solidFill>
                      <a:latin typeface="Cambria Math"/>
                    </a:rPr>
                    <m:t xml:space="preserve">=</m:t>
                  </m:r>
                  <m:r>
                    <m:rPr>
                      <m:sty m:val="i"/>
                    </m:rPr>
                    <a:rPr sz="1700">
                      <a:solidFill>
                        <a:srgbClr val="252529"/>
                      </a:solidFill>
                      <a:latin typeface="Cambria Math"/>
                    </a:rPr>
                    <m:t xml:space="preserve">y</m:t>
                  </m:r>
                  <m:r>
                    <m:rPr>
                      <m:sty m:val="i"/>
                    </m:rPr>
                    <a:rPr sz="1700">
                      <a:solidFill>
                        <a:srgbClr val="252529"/>
                      </a:solidFill>
                      <a:latin typeface="Cambria Math"/>
                    </a:rPr>
                    <m:t xml:space="preserve">,</m:t>
                  </m:r>
                  <m:r>
                    <m:rPr>
                      <m:sty m:val="i"/>
                    </m:rPr>
                    <a:rPr sz="1700">
                      <a:solidFill>
                        <a:srgbClr val="252529"/>
                      </a:solidFill>
                      <a:latin typeface="Cambria Math"/>
                    </a:rPr>
                    <m:t xml:space="preserve"> </m:t>
                  </m:r>
                  <m:r>
                    <m:rPr>
                      <m:sty m:val="i"/>
                    </m:rPr>
                    <a:rPr sz="1700">
                      <a:solidFill>
                        <a:srgbClr val="252529"/>
                      </a:solidFill>
                      <a:latin typeface="Cambria Math"/>
                    </a:rPr>
                    <m:t xml:space="preserve"> </m:t>
                  </m:r>
                  <m:r>
                    <m:rPr>
                      <m:sty m:val="i"/>
                    </m:rPr>
                    <a:rPr sz="1700">
                      <a:solidFill>
                        <a:srgbClr val="252529"/>
                      </a:solidFill>
                      <a:latin typeface="Cambria Math"/>
                    </a:rPr>
                    <m:t xml:space="preserve"> </m:t>
                  </m:r>
                  <m:acc>
                    <m:accPr>
                      <m:chr m:val="̃"/>
                      <m:ctrlPr>
                        <a:rPr sz="1700">
                          <a:solidFill>
                            <a:srgbClr val="252529"/>
                          </a:solidFill>
                          <a:latin typeface="Cambria Math"/>
                        </a:rPr>
                      </m:ctrlPr>
                    </m:accPr>
                    <m:e>
                      <m:r>
                        <m:rPr>
                          <m:sty m:val="i"/>
                        </m:rPr>
                        <a:rPr sz="1700">
                          <a:solidFill>
                            <a:srgbClr val="252529"/>
                          </a:solidFill>
                          <a:latin typeface="Cambria Math"/>
                        </a:rPr>
                        <m:t xml:space="preserve">u</m:t>
                      </m:r>
                    </m:e>
                  </m:acc>
                  <m:r>
                    <m:rPr>
                      <m:sty m:val="i"/>
                    </m:rPr>
                    <a:rPr sz="1700">
                      <a:solidFill>
                        <a:srgbClr val="252529"/>
                      </a:solidFill>
                      <a:latin typeface="Cambria Math"/>
                    </a:rPr>
                    <m:t xml:space="preserve">=</m:t>
                  </m:r>
                  <m:r>
                    <m:rPr>
                      <m:sty m:val="i"/>
                    </m:rPr>
                    <a:rPr sz="1700">
                      <a:solidFill>
                        <a:srgbClr val="252529"/>
                      </a:solidFill>
                      <a:latin typeface="Cambria Math"/>
                    </a:rPr>
                    <m:t xml:space="preserve">u</m:t>
                  </m:r>
                  <m:r>
                    <m:rPr>
                      <m:sty m:val="i"/>
                    </m:rPr>
                    <a:rPr sz="1700">
                      <a:solidFill>
                        <a:srgbClr val="252529"/>
                      </a:solidFill>
                      <a:latin typeface="Cambria Math"/>
                    </a:rPr>
                    <m:t xml:space="preserve">−</m:t>
                  </m:r>
                  <m:r>
                    <m:rPr>
                      <m:sty m:val="i"/>
                    </m:rPr>
                    <a:rPr sz="1700">
                      <a:solidFill>
                        <a:srgbClr val="252529"/>
                      </a:solidFill>
                      <a:latin typeface="Cambria Math"/>
                    </a:rPr>
                    <m:t xml:space="preserve">K</m:t>
                  </m:r>
                  <m:r>
                    <m:rPr>
                      <m:sty m:val="i"/>
                    </m:rPr>
                    <a:rPr sz="1700">
                      <a:solidFill>
                        <a:srgbClr val="252529"/>
                      </a:solidFill>
                      <a:latin typeface="Cambria Math"/>
                    </a:rPr>
                    <m:t xml:space="preserve">y</m:t>
                  </m:r>
                  <m:r>
                    <m:rPr>
                      <m:sty m:val="i"/>
                    </m:rPr>
                    <a:rPr sz="1700">
                      <a:solidFill>
                        <a:srgbClr val="252529"/>
                      </a:solidFill>
                      <a:latin typeface="Cambria Math"/>
                    </a:rPr>
                    <m:t xml:space="preserve">=</m:t>
                  </m:r>
                  <m:r>
                    <m:rPr>
                      <m:sty m:val="i"/>
                    </m:rPr>
                    <a:rPr sz="1700">
                      <a:solidFill>
                        <a:srgbClr val="252529"/>
                      </a:solidFill>
                      <a:latin typeface="Cambria Math"/>
                    </a:rPr>
                    <m:t xml:space="preserve">0</m:t>
                  </m:r>
                </m:oMath>
              </m:oMathPara>
            </a14:m>
            <a:endParaRPr sz="1700"/>
          </a:p>
        </p:txBody>
      </p:sp>
      <p:sp>
        <p:nvSpPr>
          <p:cNvPr id="9106" name="Primal expanded inequality"/>
          <p:cNvSpPr/>
          <p:nvPr/>
        </p:nvSpPr>
        <p:spPr>
          <a:xfrm>
            <a:off x="393700" y="3787140"/>
            <a:ext cx="4038600" cy="60452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700">
                          <a:solidFill>
                            <a:srgbClr val="252529"/>
                          </a:solidFill>
                          <a:latin typeface="Cambria Math"/>
                        </a:rPr>
                      </m:ctrlPr>
                    </m:sSupPr>
                    <m:e>
                      <m:d>
                        <m:dPr>
                          <m:begChr m:val="‖"/>
                          <m:endChr m:val="‖"/>
                          <m:ctrlPr>
                            <a:rPr sz="1700">
                              <a:solidFill>
                                <a:srgbClr val="252529"/>
                              </a:solidFill>
                              <a:latin typeface="Cambria Math"/>
                            </a:rPr>
                          </m:ctrlPr>
                        </m:dPr>
                        <m:e>
                          <m:r>
                            <m:rPr>
                              <m:sty m:val="i"/>
                            </m:rPr>
                            <a:rPr sz="1700">
                              <a:solidFill>
                                <a:srgbClr val="252529"/>
                              </a:solidFill>
                              <a:latin typeface="Cambria Math"/>
                            </a:rPr>
                            <m:t xml:space="preserve">u</m:t>
                          </m:r>
                          <m:d>
                            <m:dPr>
                              <m:begChr m:val="("/>
                              <m:endChr m:val=")"/>
                              <m:ctrlPr>
                                <a:rPr sz="1700">
                                  <a:solidFill>
                                    <a:srgbClr val="252529"/>
                                  </a:solidFill>
                                  <a:latin typeface="Cambria Math"/>
                                </a:rPr>
                              </m:ctrlPr>
                            </m:dPr>
                            <m:e>
                              <m:r>
                                <m:rPr>
                                  <m:sty m:val="i"/>
                                </m:rPr>
                                <a:rPr sz="1700">
                                  <a:solidFill>
                                    <a:srgbClr val="252529"/>
                                  </a:solidFill>
                                  <a:latin typeface="Cambria Math"/>
                                </a:rPr>
                                <m:t xml:space="preserve">t</m:t>
                              </m:r>
                            </m:e>
                          </m:d>
                          <m:r>
                            <m:rPr>
                              <m:sty m:val="i"/>
                            </m:rPr>
                            <a:rPr sz="1700">
                              <a:solidFill>
                                <a:srgbClr val="252529"/>
                              </a:solidFill>
                              <a:latin typeface="Cambria Math"/>
                            </a:rPr>
                            <m:t xml:space="preserve">−</m:t>
                          </m:r>
                          <m:r>
                            <m:rPr>
                              <m:sty m:val="i"/>
                            </m:rPr>
                            <a:rPr sz="1700">
                              <a:solidFill>
                                <a:srgbClr val="252529"/>
                              </a:solidFill>
                              <a:latin typeface="Cambria Math"/>
                            </a:rPr>
                            <m:t xml:space="preserve">K</m:t>
                          </m:r>
                          <m:r>
                            <m:rPr>
                              <m:sty m:val="i"/>
                            </m:rPr>
                            <a:rPr sz="1700">
                              <a:solidFill>
                                <a:srgbClr val="252529"/>
                              </a:solidFill>
                              <a:latin typeface="Cambria Math"/>
                            </a:rPr>
                            <m:t xml:space="preserve">y</m:t>
                          </m:r>
                          <m:d>
                            <m:dPr>
                              <m:begChr m:val="("/>
                              <m:endChr m:val=")"/>
                              <m:ctrlPr>
                                <a:rPr sz="1700">
                                  <a:solidFill>
                                    <a:srgbClr val="252529"/>
                                  </a:solidFill>
                                  <a:latin typeface="Cambria Math"/>
                                </a:rPr>
                              </m:ctrlPr>
                            </m:dPr>
                            <m:e>
                              <m:r>
                                <m:rPr>
                                  <m:sty m:val="i"/>
                                </m:rPr>
                                <a:rPr sz="1700">
                                  <a:solidFill>
                                    <a:srgbClr val="252529"/>
                                  </a:solidFill>
                                  <a:latin typeface="Cambria Math"/>
                                </a:rPr>
                                <m:t xml:space="preserve">t</m:t>
                              </m:r>
                            </m:e>
                          </m:d>
                        </m:e>
                      </m:d>
                    </m:e>
                    <m:sup>
                      <m:r>
                        <m:rPr>
                          <m:sty m:val="p"/>
                        </m:rPr>
                        <a:rPr sz="1700">
                          <a:solidFill>
                            <a:srgbClr val="252529"/>
                          </a:solidFill>
                          <a:latin typeface="Cambria Math"/>
                        </a:rPr>
                        <m:t xml:space="preserve">2</m:t>
                      </m:r>
                    </m:sup>
                  </m:sSup>
                  <m:r>
                    <m:rPr>
                      <m:sty m:val="i"/>
                    </m:rPr>
                    <a:rPr sz="1700">
                      <a:solidFill>
                        <a:srgbClr val="252529"/>
                      </a:solidFill>
                      <a:latin typeface="Cambria Math"/>
                    </a:rPr>
                    <m:t xml:space="preserve">≤</m:t>
                  </m:r>
                  <m:sSup>
                    <m:sSupPr>
                      <m:ctrlPr>
                        <a:rPr sz="1700">
                          <a:solidFill>
                            <a:srgbClr val="252529"/>
                          </a:solidFill>
                          <a:latin typeface="Cambria Math"/>
                        </a:rPr>
                      </m:ctrlPr>
                    </m:sSupPr>
                    <m:e>
                      <m:d>
                        <m:dPr>
                          <m:begChr m:val="‖"/>
                          <m:endChr m:val="‖"/>
                          <m:ctrlPr>
                            <a:rPr sz="1700">
                              <a:solidFill>
                                <a:srgbClr val="252529"/>
                              </a:solidFill>
                              <a:latin typeface="Cambria Math"/>
                            </a:rPr>
                          </m:ctrlPr>
                        </m:dPr>
                        <m:e>
                          <m:r>
                            <m:rPr>
                              <m:sty m:val="i"/>
                            </m:rPr>
                            <a:rPr sz="1700">
                              <a:solidFill>
                                <a:srgbClr val="252529"/>
                              </a:solidFill>
                              <a:latin typeface="Cambria Math"/>
                            </a:rPr>
                            <m:t xml:space="preserve">y</m:t>
                          </m:r>
                          <m:d>
                            <m:dPr>
                              <m:begChr m:val="("/>
                              <m:endChr m:val=")"/>
                              <m:ctrlPr>
                                <a:rPr sz="1700">
                                  <a:solidFill>
                                    <a:srgbClr val="252529"/>
                                  </a:solidFill>
                                  <a:latin typeface="Cambria Math"/>
                                </a:rPr>
                              </m:ctrlPr>
                            </m:dPr>
                            <m:e>
                              <m:r>
                                <m:rPr>
                                  <m:sty m:val="i"/>
                                </m:rPr>
                                <a:rPr sz="1700">
                                  <a:solidFill>
                                    <a:srgbClr val="252529"/>
                                  </a:solidFill>
                                  <a:latin typeface="Cambria Math"/>
                                </a:rPr>
                                <m:t xml:space="preserve">t</m:t>
                              </m:r>
                            </m:e>
                          </m:d>
                        </m:e>
                      </m:d>
                    </m:e>
                    <m:sup>
                      <m:r>
                        <m:rPr>
                          <m:sty m:val="p"/>
                        </m:rPr>
                        <a:rPr sz="1700">
                          <a:solidFill>
                            <a:srgbClr val="252529"/>
                          </a:solidFill>
                          <a:latin typeface="Cambria Math"/>
                        </a:rPr>
                        <m:t xml:space="preserve">2</m:t>
                      </m:r>
                    </m:sup>
                  </m:sSup>
                </m:oMath>
              </m:oMathPara>
            </a14:m>
            <a:endParaRPr sz="1700"/>
          </a:p>
        </p:txBody>
      </p:sp>
      <p:sp>
        <p:nvSpPr>
          <p:cNvPr id="9107" name="Primal final inequality"/>
          <p:cNvSpPr/>
          <p:nvPr/>
        </p:nvSpPr>
        <p:spPr>
          <a:xfrm>
            <a:off x="393700" y="4208780"/>
            <a:ext cx="4038600" cy="67564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900">
                          <a:solidFill>
                            <a:srgbClr val="C81919"/>
                          </a:solidFill>
                          <a:latin typeface="Cambria Math"/>
                        </a:rPr>
                      </m:ctrlPr>
                    </m:sSupPr>
                    <m:e>
                      <m:d>
                        <m:dPr>
                          <m:begChr m:val="‖"/>
                          <m:endChr m:val="‖"/>
                          <m:ctrlPr>
                            <a:rPr sz="1900">
                              <a:solidFill>
                                <a:srgbClr val="C81919"/>
                              </a:solidFill>
                              <a:latin typeface="Cambria Math"/>
                            </a:rPr>
                          </m:ctrlPr>
                        </m:dPr>
                        <m:e>
                          <m:acc>
                            <m:accPr>
                              <m:chr m:val="̃"/>
                              <m:ctrlPr>
                                <a:rPr sz="1900">
                                  <a:solidFill>
                                    <a:srgbClr val="C81919"/>
                                  </a:solidFill>
                                  <a:latin typeface="Cambria Math"/>
                                </a:rPr>
                              </m:ctrlPr>
                            </m:accPr>
                            <m:e>
                              <m:r>
                                <m:rPr>
                                  <m:sty m:val="i"/>
                                </m:rPr>
                                <a:rPr sz="1900">
                                  <a:solidFill>
                                    <a:srgbClr val="C81919"/>
                                  </a:solidFill>
                                  <a:latin typeface="Cambria Math"/>
                                </a:rPr>
                                <m:t xml:space="preserve">u</m:t>
                              </m:r>
                            </m:e>
                          </m:acc>
                          <m:d>
                            <m:dPr>
                              <m:begChr m:val="("/>
                              <m:endChr m:val=")"/>
                              <m:ctrlPr>
                                <a:rPr sz="1900">
                                  <a:solidFill>
                                    <a:srgbClr val="C81919"/>
                                  </a:solidFill>
                                  <a:latin typeface="Cambria Math"/>
                                </a:rPr>
                              </m:ctrlPr>
                            </m:dPr>
                            <m:e>
                              <m:r>
                                <m:rPr>
                                  <m:sty m:val="i"/>
                                </m:rPr>
                                <a:rPr sz="1900">
                                  <a:solidFill>
                                    <a:srgbClr val="C81919"/>
                                  </a:solidFill>
                                  <a:latin typeface="Cambria Math"/>
                                </a:rPr>
                                <m:t xml:space="preserve">t</m:t>
                              </m:r>
                            </m:e>
                          </m:d>
                        </m:e>
                      </m:d>
                    </m:e>
                    <m:sup>
                      <m:r>
                        <m:rPr>
                          <m:sty m:val="p"/>
                        </m:rPr>
                        <a:rPr sz="1900">
                          <a:solidFill>
                            <a:srgbClr val="C81919"/>
                          </a:solidFill>
                          <a:latin typeface="Cambria Math"/>
                        </a:rPr>
                        <m:t xml:space="preserve">2</m:t>
                      </m:r>
                    </m:sup>
                  </m:sSup>
                  <m:r>
                    <m:rPr>
                      <m:sty m:val="i"/>
                    </m:rPr>
                    <a:rPr sz="1900">
                      <a:solidFill>
                        <a:srgbClr val="C81919"/>
                      </a:solidFill>
                      <a:latin typeface="Cambria Math"/>
                    </a:rPr>
                    <m:t xml:space="preserve">=</m:t>
                  </m:r>
                  <m:r>
                    <m:rPr>
                      <m:sty m:val="i"/>
                    </m:rPr>
                    <a:rPr sz="1900">
                      <a:solidFill>
                        <a:srgbClr val="C81919"/>
                      </a:solidFill>
                      <a:latin typeface="Cambria Math"/>
                    </a:rPr>
                    <m:t xml:space="preserve">0</m:t>
                  </m:r>
                  <m:r>
                    <m:rPr>
                      <m:sty m:val="i"/>
                    </m:rPr>
                    <a:rPr sz="1900">
                      <a:solidFill>
                        <a:srgbClr val="C81919"/>
                      </a:solidFill>
                      <a:latin typeface="Cambria Math"/>
                    </a:rPr>
                    <m:t xml:space="preserve">≤</m:t>
                  </m:r>
                  <m:sSup>
                    <m:sSupPr>
                      <m:ctrlPr>
                        <a:rPr sz="1900">
                          <a:solidFill>
                            <a:srgbClr val="C81919"/>
                          </a:solidFill>
                          <a:latin typeface="Cambria Math"/>
                        </a:rPr>
                      </m:ctrlPr>
                    </m:sSupPr>
                    <m:e>
                      <m:d>
                        <m:dPr>
                          <m:begChr m:val="‖"/>
                          <m:endChr m:val="‖"/>
                          <m:ctrlPr>
                            <a:rPr sz="1900">
                              <a:solidFill>
                                <a:srgbClr val="C81919"/>
                              </a:solidFill>
                              <a:latin typeface="Cambria Math"/>
                            </a:rPr>
                          </m:ctrlPr>
                        </m:dPr>
                        <m:e>
                          <m:acc>
                            <m:accPr>
                              <m:chr m:val="̃"/>
                              <m:ctrlPr>
                                <a:rPr sz="1900">
                                  <a:solidFill>
                                    <a:srgbClr val="C81919"/>
                                  </a:solidFill>
                                  <a:latin typeface="Cambria Math"/>
                                </a:rPr>
                              </m:ctrlPr>
                            </m:accPr>
                            <m:e>
                              <m:r>
                                <m:rPr>
                                  <m:sty m:val="i"/>
                                </m:rPr>
                                <a:rPr sz="1900">
                                  <a:solidFill>
                                    <a:srgbClr val="C81919"/>
                                  </a:solidFill>
                                  <a:latin typeface="Cambria Math"/>
                                </a:rPr>
                                <m:t xml:space="preserve">y</m:t>
                              </m:r>
                            </m:e>
                          </m:acc>
                          <m:d>
                            <m:dPr>
                              <m:begChr m:val="("/>
                              <m:endChr m:val=")"/>
                              <m:ctrlPr>
                                <a:rPr sz="1900">
                                  <a:solidFill>
                                    <a:srgbClr val="C81919"/>
                                  </a:solidFill>
                                  <a:latin typeface="Cambria Math"/>
                                </a:rPr>
                              </m:ctrlPr>
                            </m:dPr>
                            <m:e>
                              <m:r>
                                <m:rPr>
                                  <m:sty m:val="i"/>
                                </m:rPr>
                                <a:rPr sz="1900">
                                  <a:solidFill>
                                    <a:srgbClr val="C81919"/>
                                  </a:solidFill>
                                  <a:latin typeface="Cambria Math"/>
                                </a:rPr>
                                <m:t xml:space="preserve">t</m:t>
                              </m:r>
                            </m:e>
                          </m:d>
                        </m:e>
                      </m:d>
                    </m:e>
                    <m:sup>
                      <m:r>
                        <m:rPr>
                          <m:sty m:val="p"/>
                        </m:rPr>
                        <a:rPr sz="1900">
                          <a:solidFill>
                            <a:srgbClr val="C81919"/>
                          </a:solidFill>
                          <a:latin typeface="Cambria Math"/>
                        </a:rPr>
                        <m:t xml:space="preserve">2</m:t>
                      </m:r>
                    </m:sup>
                  </m:sSup>
                </m:oMath>
              </m:oMathPara>
            </a14:m>
            <a:endParaRPr sz="1900"/>
          </a:p>
        </p:txBody>
      </p:sp>
      <p:sp>
        <p:nvSpPr>
          <p:cNvPr id="9108" name="Dual heading"/>
          <p:cNvSpPr/>
          <p:nvPr/>
        </p:nvSpPr>
        <p:spPr>
          <a:xfrm>
            <a:off x="4762500" y="692150"/>
            <a:ext cx="3937000" cy="266700"/>
          </a:xfrm>
          <a:prstGeom prst="rect">
            <a:avLst/>
          </a:prstGeom>
          <a:noFill/>
          <a:ln>
            <a:noFill/>
          </a:ln>
        </p:spPr>
        <p:txBody>
          <a:bodyPr wrap="none" lIns="0" tIns="0" rIns="0" bIns="0" anchor="ctr">
            <a:noAutofit/>
          </a:bodyPr>
          <a:lstStyle/>
          <a:p>
            <a:pPr algn="ctr">
              <a:buNone/>
            </a:pPr>
            <a:r>
              <a:rPr lang="en-GB" sz="1400" baseline="0" b="1" i="0" u="none">
                <a:solidFill>
                  <a:srgbClr val="C81919"/>
                </a:solidFill>
                <a:latin typeface="Aptos"/>
                <a:ea typeface="Aptos"/>
                <a:cs typeface="Aptos"/>
              </a:rPr>
              <a:t xml:space="preserve">Dual controller</a:t>
            </a:r>
            <a:endParaRPr sz="1400"/>
          </a:p>
        </p:txBody>
      </p:sp>
      <p:sp>
        <p:nvSpPr>
          <p:cNvPr id="9109" name="Dual controller relation"/>
          <p:cNvSpPr/>
          <p:nvPr/>
        </p:nvSpPr>
        <p:spPr>
          <a:xfrm>
            <a:off x="4762500" y="2245360"/>
            <a:ext cx="3937000" cy="640080"/>
          </a:xfrm>
          <a:prstGeom prst="rect">
            <a:avLst/>
          </a:prstGeom>
          <a:noFill/>
          <a:ln>
            <a:noFill/>
          </a:ln>
        </p:spPr>
        <p:txBody>
          <a:bodyPr wrap="none" lIns="0" tIns="0" rIns="0" bIns="0" anchor="ctr">
            <a:noAutofit/>
          </a:bodyPr>
          <a:lstStyle/>
          <a:p>
            <a:pPr algn="ctr">
              <a:buNone/>
            </a:pPr>
            <a14:m>
              <m:oMathPara>
                <m:oMathParaPr>
                  <m:jc m:val="center"/>
                </m:oMathParaPr>
                <m:oMath>
                  <m:bar>
                    <m:barPr>
                      <m:pos m:val="bot"/>
                      <m:ctrlPr>
                        <a:rPr sz="1800">
                          <a:solidFill>
                            <a:srgbClr val="252529"/>
                          </a:solidFill>
                          <a:latin typeface="Cambria Math"/>
                        </a:rPr>
                      </m:ctrlPr>
                    </m:barPr>
                    <m:e>
                      <m:r>
                        <m:rPr>
                          <m:sty m:val="i"/>
                        </m:rPr>
                        <a:rPr sz="1800">
                          <a:solidFill>
                            <a:srgbClr val="252529"/>
                          </a:solidFill>
                          <a:latin typeface="Cambria Math"/>
                        </a:rPr>
                        <m:t xml:space="preserve">u</m:t>
                      </m:r>
                    </m:e>
                  </m:bar>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sSup>
                    <m:sSupPr>
                      <m:ctrlPr>
                        <a:rPr sz="1800">
                          <a:solidFill>
                            <a:srgbClr val="252529"/>
                          </a:solidFill>
                          <a:latin typeface="Cambria Math"/>
                        </a:rPr>
                      </m:ctrlPr>
                    </m:sSupPr>
                    <m:e>
                      <m:r>
                        <m:rPr>
                          <m:sty m:val="i"/>
                        </m:rPr>
                        <a:rPr sz="1800">
                          <a:solidFill>
                            <a:srgbClr val="252529"/>
                          </a:solidFill>
                          <a:latin typeface="Cambria Math"/>
                        </a:rPr>
                        <m:t xml:space="preserve">K</m:t>
                      </m:r>
                    </m:e>
                    <m:sup>
                      <m:r>
                        <m:rPr>
                          <m:sty m:val="p"/>
                        </m:rPr>
                        <a:rPr sz="1800">
                          <a:solidFill>
                            <a:srgbClr val="252529"/>
                          </a:solidFill>
                          <a:latin typeface="Cambria Math"/>
                        </a:rPr>
                        <m:t xml:space="preserve">⊤</m:t>
                      </m:r>
                    </m:sup>
                  </m:sSup>
                  <m:bar>
                    <m:barPr>
                      <m:pos m:val="bot"/>
                      <m:ctrlPr>
                        <a:rPr sz="1800">
                          <a:solidFill>
                            <a:srgbClr val="252529"/>
                          </a:solidFill>
                          <a:latin typeface="Cambria Math"/>
                        </a:rPr>
                      </m:ctrlPr>
                    </m:barPr>
                    <m:e>
                      <m:r>
                        <m:rPr>
                          <m:sty m:val="i"/>
                        </m:rPr>
                        <a:rPr sz="1800">
                          <a:solidFill>
                            <a:srgbClr val="252529"/>
                          </a:solidFill>
                          <a:latin typeface="Cambria Math"/>
                        </a:rPr>
                        <m:t xml:space="preserve">y</m:t>
                      </m:r>
                    </m:e>
                  </m:bar>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oMath>
              </m:oMathPara>
            </a14:m>
            <a:endParaRPr sz="1800"/>
          </a:p>
        </p:txBody>
      </p:sp>
      <p:sp>
        <p:nvSpPr>
          <p:cNvPr id="9110" name="Dual filter matrix"/>
          <p:cNvSpPr/>
          <p:nvPr/>
        </p:nvSpPr>
        <p:spPr>
          <a:xfrm>
            <a:off x="4711700" y="2809240"/>
            <a:ext cx="4038600" cy="60452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1700">
                          <a:solidFill>
                            <a:srgbClr val="252529"/>
                          </a:solidFill>
                          <a:latin typeface="Cambria Math"/>
                        </a:rPr>
                      </m:ctrlPr>
                    </m:dPr>
                    <m:e>
                      <m:m>
                        <m:mPr>
                          <m:mcs>
                            <m:mc>
                              <m:mcPr>
                                <m:count m:val="1"/>
                                <m:mcJc m:val="center"/>
                              </m:mcPr>
                            </m:mc>
                          </m:mcs>
                          <m:ctrlPr>
                            <a:rPr sz="1700">
                              <a:solidFill>
                                <a:srgbClr val="252529"/>
                              </a:solidFill>
                              <a:latin typeface="Cambria Math"/>
                            </a:rPr>
                          </m:ctrlPr>
                        </m:mPr>
                        <m:mr>
                          <m:e>
                            <m:bar>
                              <m:barPr>
                                <m:pos m:val="bot"/>
                                <m:ctrlPr>
                                  <a:rPr sz="1700">
                                    <a:solidFill>
                                      <a:srgbClr val="252529"/>
                                    </a:solidFill>
                                    <a:latin typeface="Cambria Math"/>
                                  </a:rPr>
                                </m:ctrlPr>
                              </m:barPr>
                              <m:e>
                                <m:acc>
                                  <m:accPr>
                                    <m:chr m:val="̃"/>
                                    <m:ctrlPr>
                                      <a:rPr sz="1700">
                                        <a:solidFill>
                                          <a:srgbClr val="252529"/>
                                        </a:solidFill>
                                        <a:latin typeface="Cambria Math"/>
                                      </a:rPr>
                                    </m:ctrlPr>
                                  </m:accPr>
                                  <m:e>
                                    <m:r>
                                      <m:rPr>
                                        <m:sty m:val="i"/>
                                      </m:rPr>
                                      <a:rPr sz="1700">
                                        <a:solidFill>
                                          <a:srgbClr val="252529"/>
                                        </a:solidFill>
                                        <a:latin typeface="Cambria Math"/>
                                      </a:rPr>
                                      <m:t xml:space="preserve">y</m:t>
                                    </m:r>
                                  </m:e>
                                </m:acc>
                              </m:e>
                            </m:bar>
                          </m:e>
                        </m:mr>
                        <m:mr>
                          <m:e>
                            <m:bar>
                              <m:barPr>
                                <m:pos m:val="bot"/>
                                <m:ctrlPr>
                                  <a:rPr sz="1700">
                                    <a:solidFill>
                                      <a:srgbClr val="252529"/>
                                    </a:solidFill>
                                    <a:latin typeface="Cambria Math"/>
                                  </a:rPr>
                                </m:ctrlPr>
                              </m:barPr>
                              <m:e>
                                <m:acc>
                                  <m:accPr>
                                    <m:chr m:val="̃"/>
                                    <m:ctrlPr>
                                      <a:rPr sz="1700">
                                        <a:solidFill>
                                          <a:srgbClr val="252529"/>
                                        </a:solidFill>
                                        <a:latin typeface="Cambria Math"/>
                                      </a:rPr>
                                    </m:ctrlPr>
                                  </m:accPr>
                                  <m:e>
                                    <m:r>
                                      <m:rPr>
                                        <m:sty m:val="i"/>
                                      </m:rPr>
                                      <a:rPr sz="1700">
                                        <a:solidFill>
                                          <a:srgbClr val="252529"/>
                                        </a:solidFill>
                                        <a:latin typeface="Cambria Math"/>
                                      </a:rPr>
                                      <m:t xml:space="preserve">u</m:t>
                                    </m:r>
                                  </m:e>
                                </m:acc>
                              </m:e>
                            </m:bar>
                          </m:e>
                        </m:mr>
                      </m:m>
                    </m:e>
                  </m:d>
                  <m:r>
                    <m:rPr>
                      <m:sty m:val="i"/>
                    </m:rPr>
                    <a:rPr sz="1700">
                      <a:solidFill>
                        <a:srgbClr val="252529"/>
                      </a:solidFill>
                      <a:latin typeface="Cambria Math"/>
                    </a:rPr>
                    <m:t xml:space="preserve">=</m:t>
                  </m:r>
                  <m:bar>
                    <m:barPr>
                      <m:pos m:val="bot"/>
                      <m:ctrlPr>
                        <a:rPr sz="1700">
                          <a:solidFill>
                            <a:srgbClr val="252529"/>
                          </a:solidFill>
                          <a:latin typeface="Cambria Math"/>
                        </a:rPr>
                      </m:ctrlPr>
                    </m:barPr>
                    <m:e>
                      <m:r>
                        <m:rPr>
                          <m:sty m:val="i"/>
                        </m:rPr>
                        <a:rPr sz="1700">
                          <a:solidFill>
                            <a:srgbClr val="252529"/>
                          </a:solidFill>
                          <a:latin typeface="Cambria Math"/>
                        </a:rPr>
                        <m:t xml:space="preserve">Θ</m:t>
                      </m:r>
                    </m:e>
                  </m:bar>
                  <m:d>
                    <m:dPr>
                      <m:begChr m:val="["/>
                      <m:endChr m:val="]"/>
                      <m:ctrlPr>
                        <a:rPr sz="1700">
                          <a:solidFill>
                            <a:srgbClr val="252529"/>
                          </a:solidFill>
                          <a:latin typeface="Cambria Math"/>
                        </a:rPr>
                      </m:ctrlPr>
                    </m:dPr>
                    <m:e>
                      <m:m>
                        <m:mPr>
                          <m:mcs>
                            <m:mc>
                              <m:mcPr>
                                <m:count m:val="1"/>
                                <m:mcJc m:val="center"/>
                              </m:mcPr>
                            </m:mc>
                          </m:mcs>
                          <m:ctrlPr>
                            <a:rPr sz="1700">
                              <a:solidFill>
                                <a:srgbClr val="252529"/>
                              </a:solidFill>
                              <a:latin typeface="Cambria Math"/>
                            </a:rPr>
                          </m:ctrlPr>
                        </m:mPr>
                        <m:mr>
                          <m:e>
                            <m:bar>
                              <m:barPr>
                                <m:pos m:val="bot"/>
                                <m:ctrlPr>
                                  <a:rPr sz="1700">
                                    <a:solidFill>
                                      <a:srgbClr val="252529"/>
                                    </a:solidFill>
                                    <a:latin typeface="Cambria Math"/>
                                  </a:rPr>
                                </m:ctrlPr>
                              </m:barPr>
                              <m:e>
                                <m:r>
                                  <m:rPr>
                                    <m:sty m:val="i"/>
                                  </m:rPr>
                                  <a:rPr sz="1700">
                                    <a:solidFill>
                                      <a:srgbClr val="252529"/>
                                    </a:solidFill>
                                    <a:latin typeface="Cambria Math"/>
                                  </a:rPr>
                                  <m:t xml:space="preserve">y</m:t>
                                </m:r>
                              </m:e>
                            </m:bar>
                          </m:e>
                        </m:mr>
                        <m:mr>
                          <m:e>
                            <m:bar>
                              <m:barPr>
                                <m:pos m:val="bot"/>
                                <m:ctrlPr>
                                  <a:rPr sz="1700">
                                    <a:solidFill>
                                      <a:srgbClr val="252529"/>
                                    </a:solidFill>
                                    <a:latin typeface="Cambria Math"/>
                                  </a:rPr>
                                </m:ctrlPr>
                              </m:barPr>
                              <m:e>
                                <m:r>
                                  <m:rPr>
                                    <m:sty m:val="i"/>
                                  </m:rPr>
                                  <a:rPr sz="1700">
                                    <a:solidFill>
                                      <a:srgbClr val="252529"/>
                                    </a:solidFill>
                                    <a:latin typeface="Cambria Math"/>
                                  </a:rPr>
                                  <m:t xml:space="preserve">u</m:t>
                                </m:r>
                              </m:e>
                            </m:bar>
                          </m:e>
                        </m:mr>
                      </m:m>
                    </m:e>
                  </m:d>
                  <m:r>
                    <m:rPr>
                      <m:sty m:val="i"/>
                    </m:rPr>
                    <a:rPr sz="1700">
                      <a:solidFill>
                        <a:srgbClr val="252529"/>
                      </a:solidFill>
                      <a:latin typeface="Cambria Math"/>
                    </a:rPr>
                    <m:t xml:space="preserve">=</m:t>
                  </m:r>
                  <m:d>
                    <m:dPr>
                      <m:begChr m:val="["/>
                      <m:endChr m:val="]"/>
                      <m:ctrlPr>
                        <a:rPr sz="1700">
                          <a:solidFill>
                            <a:srgbClr val="252529"/>
                          </a:solidFill>
                          <a:latin typeface="Cambria Math"/>
                        </a:rPr>
                      </m:ctrlPr>
                    </m:dPr>
                    <m:e>
                      <m:m>
                        <m:mPr>
                          <m:mcs>
                            <m:mc>
                              <m:mcPr>
                                <m:count m:val="2"/>
                                <m:mcJc m:val="center"/>
                              </m:mcPr>
                            </m:mc>
                          </m:mcs>
                          <m:ctrlPr>
                            <a:rPr sz="1700">
                              <a:solidFill>
                                <a:srgbClr val="252529"/>
                              </a:solidFill>
                              <a:latin typeface="Cambria Math"/>
                            </a:rPr>
                          </m:ctrlPr>
                        </m:mPr>
                        <m:mr>
                          <m:e>
                            <m:r>
                              <m:rPr>
                                <m:sty m:val="i"/>
                              </m:rPr>
                              <a:rPr sz="1700">
                                <a:solidFill>
                                  <a:srgbClr val="252529"/>
                                </a:solidFill>
                                <a:latin typeface="Cambria Math"/>
                              </a:rPr>
                              <m:t xml:space="preserve">I</m:t>
                            </m:r>
                          </m:e>
                          <m:e>
                            <m:r>
                              <m:rPr>
                                <m:sty m:val="p"/>
                              </m:rPr>
                              <a:rPr sz="1700">
                                <a:solidFill>
                                  <a:srgbClr val="252529"/>
                                </a:solidFill>
                                <a:latin typeface="Cambria Math"/>
                              </a:rPr>
                              <m:t xml:space="preserve">0</m:t>
                            </m:r>
                          </m:e>
                        </m:mr>
                        <m:mr>
                          <m:e>
                            <m:r>
                              <m:rPr>
                                <m:sty m:val="i"/>
                              </m:rPr>
                              <a:rPr sz="1700">
                                <a:solidFill>
                                  <a:srgbClr val="252529"/>
                                </a:solidFill>
                                <a:latin typeface="Cambria Math"/>
                              </a:rPr>
                              <m:t xml:space="preserve">−</m:t>
                            </m:r>
                            <m:sSup>
                              <m:sSupPr>
                                <m:ctrlPr>
                                  <a:rPr sz="1700">
                                    <a:solidFill>
                                      <a:srgbClr val="252529"/>
                                    </a:solidFill>
                                    <a:latin typeface="Cambria Math"/>
                                  </a:rPr>
                                </m:ctrlPr>
                              </m:sSupPr>
                              <m:e>
                                <m:r>
                                  <m:rPr>
                                    <m:sty m:val="i"/>
                                  </m:rPr>
                                  <a:rPr sz="1700">
                                    <a:solidFill>
                                      <a:srgbClr val="252529"/>
                                    </a:solidFill>
                                    <a:latin typeface="Cambria Math"/>
                                  </a:rPr>
                                  <m:t xml:space="preserve">K</m:t>
                                </m:r>
                              </m:e>
                              <m:sup>
                                <m:r>
                                  <m:rPr>
                                    <m:sty m:val="p"/>
                                  </m:rPr>
                                  <a:rPr sz="1700">
                                    <a:solidFill>
                                      <a:srgbClr val="252529"/>
                                    </a:solidFill>
                                    <a:latin typeface="Cambria Math"/>
                                  </a:rPr>
                                  <m:t xml:space="preserve">⊤</m:t>
                                </m:r>
                              </m:sup>
                            </m:sSup>
                          </m:e>
                          <m:e>
                            <m:r>
                              <m:rPr>
                                <m:sty m:val="i"/>
                              </m:rPr>
                              <a:rPr sz="1700">
                                <a:solidFill>
                                  <a:srgbClr val="252529"/>
                                </a:solidFill>
                                <a:latin typeface="Cambria Math"/>
                              </a:rPr>
                              <m:t xml:space="preserve">I</m:t>
                            </m:r>
                          </m:e>
                        </m:mr>
                      </m:m>
                    </m:e>
                  </m:d>
                  <m:d>
                    <m:dPr>
                      <m:begChr m:val="["/>
                      <m:endChr m:val="]"/>
                      <m:ctrlPr>
                        <a:rPr sz="1700">
                          <a:solidFill>
                            <a:srgbClr val="252529"/>
                          </a:solidFill>
                          <a:latin typeface="Cambria Math"/>
                        </a:rPr>
                      </m:ctrlPr>
                    </m:dPr>
                    <m:e>
                      <m:m>
                        <m:mPr>
                          <m:mcs>
                            <m:mc>
                              <m:mcPr>
                                <m:count m:val="1"/>
                                <m:mcJc m:val="center"/>
                              </m:mcPr>
                            </m:mc>
                          </m:mcs>
                          <m:ctrlPr>
                            <a:rPr sz="1700">
                              <a:solidFill>
                                <a:srgbClr val="252529"/>
                              </a:solidFill>
                              <a:latin typeface="Cambria Math"/>
                            </a:rPr>
                          </m:ctrlPr>
                        </m:mPr>
                        <m:mr>
                          <m:e>
                            <m:bar>
                              <m:barPr>
                                <m:pos m:val="bot"/>
                                <m:ctrlPr>
                                  <a:rPr sz="1700">
                                    <a:solidFill>
                                      <a:srgbClr val="252529"/>
                                    </a:solidFill>
                                    <a:latin typeface="Cambria Math"/>
                                  </a:rPr>
                                </m:ctrlPr>
                              </m:barPr>
                              <m:e>
                                <m:r>
                                  <m:rPr>
                                    <m:sty m:val="i"/>
                                  </m:rPr>
                                  <a:rPr sz="1700">
                                    <a:solidFill>
                                      <a:srgbClr val="252529"/>
                                    </a:solidFill>
                                    <a:latin typeface="Cambria Math"/>
                                  </a:rPr>
                                  <m:t xml:space="preserve">y</m:t>
                                </m:r>
                              </m:e>
                            </m:bar>
                          </m:e>
                        </m:mr>
                        <m:mr>
                          <m:e>
                            <m:bar>
                              <m:barPr>
                                <m:pos m:val="bot"/>
                                <m:ctrlPr>
                                  <a:rPr sz="1700">
                                    <a:solidFill>
                                      <a:srgbClr val="252529"/>
                                    </a:solidFill>
                                    <a:latin typeface="Cambria Math"/>
                                  </a:rPr>
                                </m:ctrlPr>
                              </m:barPr>
                              <m:e>
                                <m:r>
                                  <m:rPr>
                                    <m:sty m:val="i"/>
                                  </m:rPr>
                                  <a:rPr sz="1700">
                                    <a:solidFill>
                                      <a:srgbClr val="252529"/>
                                    </a:solidFill>
                                    <a:latin typeface="Cambria Math"/>
                                  </a:rPr>
                                  <m:t xml:space="preserve">u</m:t>
                                </m:r>
                              </m:e>
                            </m:bar>
                          </m:e>
                        </m:mr>
                      </m:m>
                    </m:e>
                  </m:d>
                </m:oMath>
              </m:oMathPara>
            </a14:m>
            <a:endParaRPr sz="1700"/>
          </a:p>
        </p:txBody>
      </p:sp>
      <p:sp>
        <p:nvSpPr>
          <p:cNvPr id="9111" name="Dual transformed signals"/>
          <p:cNvSpPr/>
          <p:nvPr/>
        </p:nvSpPr>
        <p:spPr>
          <a:xfrm>
            <a:off x="4711700" y="3342640"/>
            <a:ext cx="4038600" cy="604520"/>
          </a:xfrm>
          <a:prstGeom prst="rect">
            <a:avLst/>
          </a:prstGeom>
          <a:noFill/>
          <a:ln>
            <a:noFill/>
          </a:ln>
        </p:spPr>
        <p:txBody>
          <a:bodyPr wrap="none" lIns="0" tIns="0" rIns="0" bIns="0" anchor="ctr">
            <a:noAutofit/>
          </a:bodyPr>
          <a:lstStyle/>
          <a:p>
            <a:pPr algn="ctr">
              <a:buNone/>
            </a:pPr>
            <a14:m>
              <m:oMathPara>
                <m:oMathParaPr>
                  <m:jc m:val="center"/>
                </m:oMathParaPr>
                <m:oMath>
                  <m:bar>
                    <m:barPr>
                      <m:pos m:val="bot"/>
                      <m:ctrlPr>
                        <a:rPr sz="1700">
                          <a:solidFill>
                            <a:srgbClr val="252529"/>
                          </a:solidFill>
                          <a:latin typeface="Cambria Math"/>
                        </a:rPr>
                      </m:ctrlPr>
                    </m:barPr>
                    <m:e>
                      <m:acc>
                        <m:accPr>
                          <m:chr m:val="̃"/>
                          <m:ctrlPr>
                            <a:rPr sz="1700">
                              <a:solidFill>
                                <a:srgbClr val="252529"/>
                              </a:solidFill>
                              <a:latin typeface="Cambria Math"/>
                            </a:rPr>
                          </m:ctrlPr>
                        </m:accPr>
                        <m:e>
                          <m:r>
                            <m:rPr>
                              <m:sty m:val="i"/>
                            </m:rPr>
                            <a:rPr sz="1700">
                              <a:solidFill>
                                <a:srgbClr val="252529"/>
                              </a:solidFill>
                              <a:latin typeface="Cambria Math"/>
                            </a:rPr>
                            <m:t xml:space="preserve">y</m:t>
                          </m:r>
                        </m:e>
                      </m:acc>
                    </m:e>
                  </m:bar>
                  <m:r>
                    <m:rPr>
                      <m:sty m:val="i"/>
                    </m:rPr>
                    <a:rPr sz="1700">
                      <a:solidFill>
                        <a:srgbClr val="252529"/>
                      </a:solidFill>
                      <a:latin typeface="Cambria Math"/>
                    </a:rPr>
                    <m:t xml:space="preserve">=</m:t>
                  </m:r>
                  <m:bar>
                    <m:barPr>
                      <m:pos m:val="bot"/>
                      <m:ctrlPr>
                        <a:rPr sz="1700">
                          <a:solidFill>
                            <a:srgbClr val="252529"/>
                          </a:solidFill>
                          <a:latin typeface="Cambria Math"/>
                        </a:rPr>
                      </m:ctrlPr>
                    </m:barPr>
                    <m:e>
                      <m:r>
                        <m:rPr>
                          <m:sty m:val="i"/>
                        </m:rPr>
                        <a:rPr sz="1700">
                          <a:solidFill>
                            <a:srgbClr val="252529"/>
                          </a:solidFill>
                          <a:latin typeface="Cambria Math"/>
                        </a:rPr>
                        <m:t xml:space="preserve">y</m:t>
                      </m:r>
                    </m:e>
                  </m:bar>
                  <m:r>
                    <m:rPr>
                      <m:sty m:val="i"/>
                    </m:rPr>
                    <a:rPr sz="1700">
                      <a:solidFill>
                        <a:srgbClr val="252529"/>
                      </a:solidFill>
                      <a:latin typeface="Cambria Math"/>
                    </a:rPr>
                    <m:t xml:space="preserve">,</m:t>
                  </m:r>
                  <m:r>
                    <m:rPr>
                      <m:sty m:val="i"/>
                    </m:rPr>
                    <a:rPr sz="1700">
                      <a:solidFill>
                        <a:srgbClr val="252529"/>
                      </a:solidFill>
                      <a:latin typeface="Cambria Math"/>
                    </a:rPr>
                    <m:t xml:space="preserve"> </m:t>
                  </m:r>
                  <m:r>
                    <m:rPr>
                      <m:sty m:val="i"/>
                    </m:rPr>
                    <a:rPr sz="1700">
                      <a:solidFill>
                        <a:srgbClr val="252529"/>
                      </a:solidFill>
                      <a:latin typeface="Cambria Math"/>
                    </a:rPr>
                    <m:t xml:space="preserve"> </m:t>
                  </m:r>
                  <m:r>
                    <m:rPr>
                      <m:sty m:val="i"/>
                    </m:rPr>
                    <a:rPr sz="1700">
                      <a:solidFill>
                        <a:srgbClr val="252529"/>
                      </a:solidFill>
                      <a:latin typeface="Cambria Math"/>
                    </a:rPr>
                    <m:t xml:space="preserve"> </m:t>
                  </m:r>
                  <m:bar>
                    <m:barPr>
                      <m:pos m:val="bot"/>
                      <m:ctrlPr>
                        <a:rPr sz="1700">
                          <a:solidFill>
                            <a:srgbClr val="252529"/>
                          </a:solidFill>
                          <a:latin typeface="Cambria Math"/>
                        </a:rPr>
                      </m:ctrlPr>
                    </m:barPr>
                    <m:e>
                      <m:acc>
                        <m:accPr>
                          <m:chr m:val="̃"/>
                          <m:ctrlPr>
                            <a:rPr sz="1700">
                              <a:solidFill>
                                <a:srgbClr val="252529"/>
                              </a:solidFill>
                              <a:latin typeface="Cambria Math"/>
                            </a:rPr>
                          </m:ctrlPr>
                        </m:accPr>
                        <m:e>
                          <m:r>
                            <m:rPr>
                              <m:sty m:val="i"/>
                            </m:rPr>
                            <a:rPr sz="1700">
                              <a:solidFill>
                                <a:srgbClr val="252529"/>
                              </a:solidFill>
                              <a:latin typeface="Cambria Math"/>
                            </a:rPr>
                            <m:t xml:space="preserve">u</m:t>
                          </m:r>
                        </m:e>
                      </m:acc>
                    </m:e>
                  </m:bar>
                  <m:r>
                    <m:rPr>
                      <m:sty m:val="i"/>
                    </m:rPr>
                    <a:rPr sz="1700">
                      <a:solidFill>
                        <a:srgbClr val="252529"/>
                      </a:solidFill>
                      <a:latin typeface="Cambria Math"/>
                    </a:rPr>
                    <m:t xml:space="preserve">=</m:t>
                  </m:r>
                  <m:bar>
                    <m:barPr>
                      <m:pos m:val="bot"/>
                      <m:ctrlPr>
                        <a:rPr sz="1700">
                          <a:solidFill>
                            <a:srgbClr val="252529"/>
                          </a:solidFill>
                          <a:latin typeface="Cambria Math"/>
                        </a:rPr>
                      </m:ctrlPr>
                    </m:barPr>
                    <m:e>
                      <m:r>
                        <m:rPr>
                          <m:sty m:val="i"/>
                        </m:rPr>
                        <a:rPr sz="1700">
                          <a:solidFill>
                            <a:srgbClr val="252529"/>
                          </a:solidFill>
                          <a:latin typeface="Cambria Math"/>
                        </a:rPr>
                        <m:t xml:space="preserve">u</m:t>
                      </m:r>
                    </m:e>
                  </m:bar>
                  <m:r>
                    <m:rPr>
                      <m:sty m:val="i"/>
                    </m:rPr>
                    <a:rPr sz="1700">
                      <a:solidFill>
                        <a:srgbClr val="252529"/>
                      </a:solidFill>
                      <a:latin typeface="Cambria Math"/>
                    </a:rPr>
                    <m:t xml:space="preserve">−</m:t>
                  </m:r>
                  <m:sSup>
                    <m:sSupPr>
                      <m:ctrlPr>
                        <a:rPr sz="1700">
                          <a:solidFill>
                            <a:srgbClr val="252529"/>
                          </a:solidFill>
                          <a:latin typeface="Cambria Math"/>
                        </a:rPr>
                      </m:ctrlPr>
                    </m:sSupPr>
                    <m:e>
                      <m:r>
                        <m:rPr>
                          <m:sty m:val="i"/>
                        </m:rPr>
                        <a:rPr sz="1700">
                          <a:solidFill>
                            <a:srgbClr val="252529"/>
                          </a:solidFill>
                          <a:latin typeface="Cambria Math"/>
                        </a:rPr>
                        <m:t xml:space="preserve">K</m:t>
                      </m:r>
                    </m:e>
                    <m:sup>
                      <m:r>
                        <m:rPr>
                          <m:sty m:val="p"/>
                        </m:rPr>
                        <a:rPr sz="1700">
                          <a:solidFill>
                            <a:srgbClr val="252529"/>
                          </a:solidFill>
                          <a:latin typeface="Cambria Math"/>
                        </a:rPr>
                        <m:t xml:space="preserve">⊤</m:t>
                      </m:r>
                    </m:sup>
                  </m:sSup>
                  <m:bar>
                    <m:barPr>
                      <m:pos m:val="bot"/>
                      <m:ctrlPr>
                        <a:rPr sz="1700">
                          <a:solidFill>
                            <a:srgbClr val="252529"/>
                          </a:solidFill>
                          <a:latin typeface="Cambria Math"/>
                        </a:rPr>
                      </m:ctrlPr>
                    </m:barPr>
                    <m:e>
                      <m:r>
                        <m:rPr>
                          <m:sty m:val="i"/>
                        </m:rPr>
                        <a:rPr sz="1700">
                          <a:solidFill>
                            <a:srgbClr val="252529"/>
                          </a:solidFill>
                          <a:latin typeface="Cambria Math"/>
                        </a:rPr>
                        <m:t xml:space="preserve">y</m:t>
                      </m:r>
                    </m:e>
                  </m:bar>
                  <m:r>
                    <m:rPr>
                      <m:sty m:val="i"/>
                    </m:rPr>
                    <a:rPr sz="1700">
                      <a:solidFill>
                        <a:srgbClr val="252529"/>
                      </a:solidFill>
                      <a:latin typeface="Cambria Math"/>
                    </a:rPr>
                    <m:t xml:space="preserve">=</m:t>
                  </m:r>
                  <m:r>
                    <m:rPr>
                      <m:sty m:val="i"/>
                    </m:rPr>
                    <a:rPr sz="1700">
                      <a:solidFill>
                        <a:srgbClr val="252529"/>
                      </a:solidFill>
                      <a:latin typeface="Cambria Math"/>
                    </a:rPr>
                    <m:t xml:space="preserve">0</m:t>
                  </m:r>
                </m:oMath>
              </m:oMathPara>
            </a14:m>
            <a:endParaRPr sz="1700"/>
          </a:p>
        </p:txBody>
      </p:sp>
      <p:sp>
        <p:nvSpPr>
          <p:cNvPr id="9112" name="Dual expanded inequality"/>
          <p:cNvSpPr/>
          <p:nvPr/>
        </p:nvSpPr>
        <p:spPr>
          <a:xfrm>
            <a:off x="4711700" y="3787140"/>
            <a:ext cx="4038600" cy="60452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700">
                          <a:solidFill>
                            <a:srgbClr val="252529"/>
                          </a:solidFill>
                          <a:latin typeface="Cambria Math"/>
                        </a:rPr>
                      </m:ctrlPr>
                    </m:sSupPr>
                    <m:e>
                      <m:d>
                        <m:dPr>
                          <m:begChr m:val="‖"/>
                          <m:endChr m:val="‖"/>
                          <m:ctrlPr>
                            <a:rPr sz="1700">
                              <a:solidFill>
                                <a:srgbClr val="252529"/>
                              </a:solidFill>
                              <a:latin typeface="Cambria Math"/>
                            </a:rPr>
                          </m:ctrlPr>
                        </m:dPr>
                        <m:e>
                          <m:bar>
                            <m:barPr>
                              <m:pos m:val="bot"/>
                              <m:ctrlPr>
                                <a:rPr sz="1700">
                                  <a:solidFill>
                                    <a:srgbClr val="252529"/>
                                  </a:solidFill>
                                  <a:latin typeface="Cambria Math"/>
                                </a:rPr>
                              </m:ctrlPr>
                            </m:barPr>
                            <m:e>
                              <m:r>
                                <m:rPr>
                                  <m:sty m:val="i"/>
                                </m:rPr>
                                <a:rPr sz="1700">
                                  <a:solidFill>
                                    <a:srgbClr val="252529"/>
                                  </a:solidFill>
                                  <a:latin typeface="Cambria Math"/>
                                </a:rPr>
                                <m:t xml:space="preserve">u</m:t>
                              </m:r>
                            </m:e>
                          </m:bar>
                          <m:d>
                            <m:dPr>
                              <m:begChr m:val="("/>
                              <m:endChr m:val=")"/>
                              <m:ctrlPr>
                                <a:rPr sz="1700">
                                  <a:solidFill>
                                    <a:srgbClr val="252529"/>
                                  </a:solidFill>
                                  <a:latin typeface="Cambria Math"/>
                                </a:rPr>
                              </m:ctrlPr>
                            </m:dPr>
                            <m:e>
                              <m:r>
                                <m:rPr>
                                  <m:sty m:val="i"/>
                                </m:rPr>
                                <a:rPr sz="1700">
                                  <a:solidFill>
                                    <a:srgbClr val="252529"/>
                                  </a:solidFill>
                                  <a:latin typeface="Cambria Math"/>
                                </a:rPr>
                                <m:t xml:space="preserve">t</m:t>
                              </m:r>
                            </m:e>
                          </m:d>
                          <m:r>
                            <m:rPr>
                              <m:sty m:val="i"/>
                            </m:rPr>
                            <a:rPr sz="1700">
                              <a:solidFill>
                                <a:srgbClr val="252529"/>
                              </a:solidFill>
                              <a:latin typeface="Cambria Math"/>
                            </a:rPr>
                            <m:t xml:space="preserve">−</m:t>
                          </m:r>
                          <m:sSup>
                            <m:sSupPr>
                              <m:ctrlPr>
                                <a:rPr sz="1700">
                                  <a:solidFill>
                                    <a:srgbClr val="252529"/>
                                  </a:solidFill>
                                  <a:latin typeface="Cambria Math"/>
                                </a:rPr>
                              </m:ctrlPr>
                            </m:sSupPr>
                            <m:e>
                              <m:r>
                                <m:rPr>
                                  <m:sty m:val="i"/>
                                </m:rPr>
                                <a:rPr sz="1700">
                                  <a:solidFill>
                                    <a:srgbClr val="252529"/>
                                  </a:solidFill>
                                  <a:latin typeface="Cambria Math"/>
                                </a:rPr>
                                <m:t xml:space="preserve">K</m:t>
                              </m:r>
                            </m:e>
                            <m:sup>
                              <m:r>
                                <m:rPr>
                                  <m:sty m:val="p"/>
                                </m:rPr>
                                <a:rPr sz="1700">
                                  <a:solidFill>
                                    <a:srgbClr val="252529"/>
                                  </a:solidFill>
                                  <a:latin typeface="Cambria Math"/>
                                </a:rPr>
                                <m:t xml:space="preserve">⊤</m:t>
                              </m:r>
                            </m:sup>
                          </m:sSup>
                          <m:bar>
                            <m:barPr>
                              <m:pos m:val="bot"/>
                              <m:ctrlPr>
                                <a:rPr sz="1700">
                                  <a:solidFill>
                                    <a:srgbClr val="252529"/>
                                  </a:solidFill>
                                  <a:latin typeface="Cambria Math"/>
                                </a:rPr>
                              </m:ctrlPr>
                            </m:barPr>
                            <m:e>
                              <m:r>
                                <m:rPr>
                                  <m:sty m:val="i"/>
                                </m:rPr>
                                <a:rPr sz="1700">
                                  <a:solidFill>
                                    <a:srgbClr val="252529"/>
                                  </a:solidFill>
                                  <a:latin typeface="Cambria Math"/>
                                </a:rPr>
                                <m:t xml:space="preserve">y</m:t>
                              </m:r>
                            </m:e>
                          </m:bar>
                          <m:d>
                            <m:dPr>
                              <m:begChr m:val="("/>
                              <m:endChr m:val=")"/>
                              <m:ctrlPr>
                                <a:rPr sz="1700">
                                  <a:solidFill>
                                    <a:srgbClr val="252529"/>
                                  </a:solidFill>
                                  <a:latin typeface="Cambria Math"/>
                                </a:rPr>
                              </m:ctrlPr>
                            </m:dPr>
                            <m:e>
                              <m:r>
                                <m:rPr>
                                  <m:sty m:val="i"/>
                                </m:rPr>
                                <a:rPr sz="1700">
                                  <a:solidFill>
                                    <a:srgbClr val="252529"/>
                                  </a:solidFill>
                                  <a:latin typeface="Cambria Math"/>
                                </a:rPr>
                                <m:t xml:space="preserve">t</m:t>
                              </m:r>
                            </m:e>
                          </m:d>
                        </m:e>
                      </m:d>
                    </m:e>
                    <m:sup>
                      <m:r>
                        <m:rPr>
                          <m:sty m:val="p"/>
                        </m:rPr>
                        <a:rPr sz="1700">
                          <a:solidFill>
                            <a:srgbClr val="252529"/>
                          </a:solidFill>
                          <a:latin typeface="Cambria Math"/>
                        </a:rPr>
                        <m:t xml:space="preserve">2</m:t>
                      </m:r>
                    </m:sup>
                  </m:sSup>
                  <m:r>
                    <m:rPr>
                      <m:sty m:val="i"/>
                    </m:rPr>
                    <a:rPr sz="1700">
                      <a:solidFill>
                        <a:srgbClr val="252529"/>
                      </a:solidFill>
                      <a:latin typeface="Cambria Math"/>
                    </a:rPr>
                    <m:t xml:space="preserve">≤</m:t>
                  </m:r>
                  <m:sSup>
                    <m:sSupPr>
                      <m:ctrlPr>
                        <a:rPr sz="1700">
                          <a:solidFill>
                            <a:srgbClr val="252529"/>
                          </a:solidFill>
                          <a:latin typeface="Cambria Math"/>
                        </a:rPr>
                      </m:ctrlPr>
                    </m:sSupPr>
                    <m:e>
                      <m:d>
                        <m:dPr>
                          <m:begChr m:val="‖"/>
                          <m:endChr m:val="‖"/>
                          <m:ctrlPr>
                            <a:rPr sz="1700">
                              <a:solidFill>
                                <a:srgbClr val="252529"/>
                              </a:solidFill>
                              <a:latin typeface="Cambria Math"/>
                            </a:rPr>
                          </m:ctrlPr>
                        </m:dPr>
                        <m:e>
                          <m:bar>
                            <m:barPr>
                              <m:pos m:val="bot"/>
                              <m:ctrlPr>
                                <a:rPr sz="1700">
                                  <a:solidFill>
                                    <a:srgbClr val="252529"/>
                                  </a:solidFill>
                                  <a:latin typeface="Cambria Math"/>
                                </a:rPr>
                              </m:ctrlPr>
                            </m:barPr>
                            <m:e>
                              <m:r>
                                <m:rPr>
                                  <m:sty m:val="i"/>
                                </m:rPr>
                                <a:rPr sz="1700">
                                  <a:solidFill>
                                    <a:srgbClr val="252529"/>
                                  </a:solidFill>
                                  <a:latin typeface="Cambria Math"/>
                                </a:rPr>
                                <m:t xml:space="preserve">y</m:t>
                              </m:r>
                            </m:e>
                          </m:bar>
                          <m:d>
                            <m:dPr>
                              <m:begChr m:val="("/>
                              <m:endChr m:val=")"/>
                              <m:ctrlPr>
                                <a:rPr sz="1700">
                                  <a:solidFill>
                                    <a:srgbClr val="252529"/>
                                  </a:solidFill>
                                  <a:latin typeface="Cambria Math"/>
                                </a:rPr>
                              </m:ctrlPr>
                            </m:dPr>
                            <m:e>
                              <m:r>
                                <m:rPr>
                                  <m:sty m:val="i"/>
                                </m:rPr>
                                <a:rPr sz="1700">
                                  <a:solidFill>
                                    <a:srgbClr val="252529"/>
                                  </a:solidFill>
                                  <a:latin typeface="Cambria Math"/>
                                </a:rPr>
                                <m:t xml:space="preserve">t</m:t>
                              </m:r>
                            </m:e>
                          </m:d>
                        </m:e>
                      </m:d>
                    </m:e>
                    <m:sup>
                      <m:r>
                        <m:rPr>
                          <m:sty m:val="p"/>
                        </m:rPr>
                        <a:rPr sz="1700">
                          <a:solidFill>
                            <a:srgbClr val="252529"/>
                          </a:solidFill>
                          <a:latin typeface="Cambria Math"/>
                        </a:rPr>
                        <m:t xml:space="preserve">2</m:t>
                      </m:r>
                    </m:sup>
                  </m:sSup>
                </m:oMath>
              </m:oMathPara>
            </a14:m>
            <a:endParaRPr sz="1700"/>
          </a:p>
        </p:txBody>
      </p:sp>
      <p:sp>
        <p:nvSpPr>
          <p:cNvPr id="9113" name="Dual final inequality"/>
          <p:cNvSpPr/>
          <p:nvPr/>
        </p:nvSpPr>
        <p:spPr>
          <a:xfrm>
            <a:off x="4711700" y="4208780"/>
            <a:ext cx="4038600" cy="67564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900">
                          <a:solidFill>
                            <a:srgbClr val="C81919"/>
                          </a:solidFill>
                          <a:latin typeface="Cambria Math"/>
                        </a:rPr>
                      </m:ctrlPr>
                    </m:sSupPr>
                    <m:e>
                      <m:d>
                        <m:dPr>
                          <m:begChr m:val="‖"/>
                          <m:endChr m:val="‖"/>
                          <m:ctrlPr>
                            <a:rPr sz="1900">
                              <a:solidFill>
                                <a:srgbClr val="C81919"/>
                              </a:solidFill>
                              <a:latin typeface="Cambria Math"/>
                            </a:rPr>
                          </m:ctrlPr>
                        </m:dPr>
                        <m:e>
                          <m:bar>
                            <m:barPr>
                              <m:pos m:val="bot"/>
                              <m:ctrlPr>
                                <a:rPr sz="1900">
                                  <a:solidFill>
                                    <a:srgbClr val="C81919"/>
                                  </a:solidFill>
                                  <a:latin typeface="Cambria Math"/>
                                </a:rPr>
                              </m:ctrlPr>
                            </m:barPr>
                            <m:e>
                              <m:acc>
                                <m:accPr>
                                  <m:chr m:val="̃"/>
                                  <m:ctrlPr>
                                    <a:rPr sz="1900">
                                      <a:solidFill>
                                        <a:srgbClr val="C81919"/>
                                      </a:solidFill>
                                      <a:latin typeface="Cambria Math"/>
                                    </a:rPr>
                                  </m:ctrlPr>
                                </m:accPr>
                                <m:e>
                                  <m:r>
                                    <m:rPr>
                                      <m:sty m:val="i"/>
                                    </m:rPr>
                                    <a:rPr sz="1900">
                                      <a:solidFill>
                                        <a:srgbClr val="C81919"/>
                                      </a:solidFill>
                                      <a:latin typeface="Cambria Math"/>
                                    </a:rPr>
                                    <m:t xml:space="preserve">u</m:t>
                                  </m:r>
                                </m:e>
                              </m:acc>
                            </m:e>
                          </m:bar>
                          <m:d>
                            <m:dPr>
                              <m:begChr m:val="("/>
                              <m:endChr m:val=")"/>
                              <m:ctrlPr>
                                <a:rPr sz="1900">
                                  <a:solidFill>
                                    <a:srgbClr val="C81919"/>
                                  </a:solidFill>
                                  <a:latin typeface="Cambria Math"/>
                                </a:rPr>
                              </m:ctrlPr>
                            </m:dPr>
                            <m:e>
                              <m:r>
                                <m:rPr>
                                  <m:sty m:val="i"/>
                                </m:rPr>
                                <a:rPr sz="1900">
                                  <a:solidFill>
                                    <a:srgbClr val="C81919"/>
                                  </a:solidFill>
                                  <a:latin typeface="Cambria Math"/>
                                </a:rPr>
                                <m:t xml:space="preserve">t</m:t>
                              </m:r>
                            </m:e>
                          </m:d>
                        </m:e>
                      </m:d>
                    </m:e>
                    <m:sup>
                      <m:r>
                        <m:rPr>
                          <m:sty m:val="p"/>
                        </m:rPr>
                        <a:rPr sz="1900">
                          <a:solidFill>
                            <a:srgbClr val="C81919"/>
                          </a:solidFill>
                          <a:latin typeface="Cambria Math"/>
                        </a:rPr>
                        <m:t xml:space="preserve">2</m:t>
                      </m:r>
                    </m:sup>
                  </m:sSup>
                  <m:r>
                    <m:rPr>
                      <m:sty m:val="i"/>
                    </m:rPr>
                    <a:rPr sz="1900">
                      <a:solidFill>
                        <a:srgbClr val="C81919"/>
                      </a:solidFill>
                      <a:latin typeface="Cambria Math"/>
                    </a:rPr>
                    <m:t xml:space="preserve">=</m:t>
                  </m:r>
                  <m:r>
                    <m:rPr>
                      <m:sty m:val="i"/>
                    </m:rPr>
                    <a:rPr sz="1900">
                      <a:solidFill>
                        <a:srgbClr val="C81919"/>
                      </a:solidFill>
                      <a:latin typeface="Cambria Math"/>
                    </a:rPr>
                    <m:t xml:space="preserve">0</m:t>
                  </m:r>
                  <m:r>
                    <m:rPr>
                      <m:sty m:val="i"/>
                    </m:rPr>
                    <a:rPr sz="1900">
                      <a:solidFill>
                        <a:srgbClr val="C81919"/>
                      </a:solidFill>
                      <a:latin typeface="Cambria Math"/>
                    </a:rPr>
                    <m:t xml:space="preserve">≤</m:t>
                  </m:r>
                  <m:sSup>
                    <m:sSupPr>
                      <m:ctrlPr>
                        <a:rPr sz="1900">
                          <a:solidFill>
                            <a:srgbClr val="C81919"/>
                          </a:solidFill>
                          <a:latin typeface="Cambria Math"/>
                        </a:rPr>
                      </m:ctrlPr>
                    </m:sSupPr>
                    <m:e>
                      <m:d>
                        <m:dPr>
                          <m:begChr m:val="‖"/>
                          <m:endChr m:val="‖"/>
                          <m:ctrlPr>
                            <a:rPr sz="1900">
                              <a:solidFill>
                                <a:srgbClr val="C81919"/>
                              </a:solidFill>
                              <a:latin typeface="Cambria Math"/>
                            </a:rPr>
                          </m:ctrlPr>
                        </m:dPr>
                        <m:e>
                          <m:bar>
                            <m:barPr>
                              <m:pos m:val="bot"/>
                              <m:ctrlPr>
                                <a:rPr sz="1900">
                                  <a:solidFill>
                                    <a:srgbClr val="C81919"/>
                                  </a:solidFill>
                                  <a:latin typeface="Cambria Math"/>
                                </a:rPr>
                              </m:ctrlPr>
                            </m:barPr>
                            <m:e>
                              <m:acc>
                                <m:accPr>
                                  <m:chr m:val="̃"/>
                                  <m:ctrlPr>
                                    <a:rPr sz="1900">
                                      <a:solidFill>
                                        <a:srgbClr val="C81919"/>
                                      </a:solidFill>
                                      <a:latin typeface="Cambria Math"/>
                                    </a:rPr>
                                  </m:ctrlPr>
                                </m:accPr>
                                <m:e>
                                  <m:r>
                                    <m:rPr>
                                      <m:sty m:val="i"/>
                                    </m:rPr>
                                    <a:rPr sz="1900">
                                      <a:solidFill>
                                        <a:srgbClr val="C81919"/>
                                      </a:solidFill>
                                      <a:latin typeface="Cambria Math"/>
                                    </a:rPr>
                                    <m:t xml:space="preserve">y</m:t>
                                  </m:r>
                                </m:e>
                              </m:acc>
                            </m:e>
                          </m:bar>
                          <m:d>
                            <m:dPr>
                              <m:begChr m:val="("/>
                              <m:endChr m:val=")"/>
                              <m:ctrlPr>
                                <a:rPr sz="1900">
                                  <a:solidFill>
                                    <a:srgbClr val="C81919"/>
                                  </a:solidFill>
                                  <a:latin typeface="Cambria Math"/>
                                </a:rPr>
                              </m:ctrlPr>
                            </m:dPr>
                            <m:e>
                              <m:r>
                                <m:rPr>
                                  <m:sty m:val="i"/>
                                </m:rPr>
                                <a:rPr sz="1900">
                                  <a:solidFill>
                                    <a:srgbClr val="C81919"/>
                                  </a:solidFill>
                                  <a:latin typeface="Cambria Math"/>
                                </a:rPr>
                                <m:t xml:space="preserve">t</m:t>
                              </m:r>
                            </m:e>
                          </m:d>
                        </m:e>
                      </m:d>
                    </m:e>
                    <m:sup>
                      <m:r>
                        <m:rPr>
                          <m:sty m:val="p"/>
                        </m:rPr>
                        <a:rPr sz="1900">
                          <a:solidFill>
                            <a:srgbClr val="C81919"/>
                          </a:solidFill>
                          <a:latin typeface="Cambria Math"/>
                        </a:rPr>
                        <m:t xml:space="preserve">2</m:t>
                      </m:r>
                    </m:sup>
                  </m:sSup>
                </m:oMath>
              </m:oMathPara>
            </a14:m>
            <a:endParaRPr sz="1900"/>
          </a:p>
        </p:txBody>
      </p:sp>
    </p:spTree>
    <p:extLst>
      <p:ext uri="{BB962C8B-B14F-4D97-AF65-F5344CB8AC3E}">
        <p14:creationId xmlns:p14="http://schemas.microsoft.com/office/powerpoint/2010/main" val="1900818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5670</TotalTime>
  <Words>8211</Words>
  <Application>Microsoft Office PowerPoint</Application>
  <PresentationFormat>On-screen Show (16:9)</PresentationFormat>
  <Paragraphs>1097</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49</cp:revision>
  <dcterms:created xsi:type="dcterms:W3CDTF">2019-11-27T15:26:32Z</dcterms:created>
  <dcterms:modified xsi:type="dcterms:W3CDTF">2026-09-27T20:03:50Z</dcterms:modified>
</cp:coreProperties>
</file>