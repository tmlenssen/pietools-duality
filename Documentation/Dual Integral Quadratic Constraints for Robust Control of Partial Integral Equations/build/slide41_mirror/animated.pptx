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18" Type="http://schemas.openxmlformats.org/officeDocument/2006/relationships/image" Target="../media/image131.png"/><Relationship Id="rId26" Type="http://schemas.openxmlformats.org/officeDocument/2006/relationships/image" Target="../media/image124.png"/><Relationship Id="rId21" Type="http://schemas.openxmlformats.org/officeDocument/2006/relationships/image" Target="../media/image134.png"/><Relationship Id="rId7" Type="http://schemas.openxmlformats.org/officeDocument/2006/relationships/image" Target="../media/image118.png"/><Relationship Id="rId17" Type="http://schemas.openxmlformats.org/officeDocument/2006/relationships/image" Target="../media/image129.png"/><Relationship Id="rId25" Type="http://schemas.openxmlformats.org/officeDocument/2006/relationships/image" Target="../media/image123.png"/><Relationship Id="rId16" Type="http://schemas.openxmlformats.org/officeDocument/2006/relationships/image" Target="../media/image128.png"/><Relationship Id="rId20" Type="http://schemas.openxmlformats.org/officeDocument/2006/relationships/image" Target="../media/image133.png"/><Relationship Id="rId29" Type="http://schemas.openxmlformats.org/officeDocument/2006/relationships/image" Target="../media/image135.png"/><Relationship Id="rId1" Type="http://schemas.openxmlformats.org/officeDocument/2006/relationships/slideLayout" Target="../slideLayouts/slideLayout12.xml"/><Relationship Id="rId6" Type="http://schemas.openxmlformats.org/officeDocument/2006/relationships/image" Target="../media/image117.png"/><Relationship Id="rId11" Type="http://schemas.openxmlformats.org/officeDocument/2006/relationships/image" Target="../media/image122.png"/><Relationship Id="rId24" Type="http://schemas.openxmlformats.org/officeDocument/2006/relationships/image" Target="../media/image120.png"/><Relationship Id="rId5" Type="http://schemas.openxmlformats.org/officeDocument/2006/relationships/image" Target="../media/image116.png"/><Relationship Id="rId23" Type="http://schemas.openxmlformats.org/officeDocument/2006/relationships/image" Target="../media/image119.png"/><Relationship Id="rId28" Type="http://schemas.openxmlformats.org/officeDocument/2006/relationships/image" Target="../media/image127.png"/><Relationship Id="rId10" Type="http://schemas.openxmlformats.org/officeDocument/2006/relationships/image" Target="../media/image121.png"/><Relationship Id="rId19" Type="http://schemas.openxmlformats.org/officeDocument/2006/relationships/image" Target="../media/image132.png"/><Relationship Id="rId31" Type="http://schemas.openxmlformats.org/officeDocument/2006/relationships/image" Target="../media/image137.png"/><Relationship Id="rId4" Type="http://schemas.openxmlformats.org/officeDocument/2006/relationships/image" Target="../media/image960.png"/><Relationship Id="rId22" Type="http://schemas.openxmlformats.org/officeDocument/2006/relationships/image" Target="../media/image115.png"/><Relationship Id="rId27" Type="http://schemas.openxmlformats.org/officeDocument/2006/relationships/image" Target="../media/image126.png"/><Relationship Id="rId30" Type="http://schemas.openxmlformats.org/officeDocument/2006/relationships/image" Target="../media/image136.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8.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9.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0.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2.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4.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3.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5.png"/></Relationships>
</file>

<file path=ppt/slides/_rels/slide5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6.png"/></Relationships>
</file>

<file path=ppt/slides/_rels/slide5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9000" name="Primal controller diagram"/>
          <p:cNvGrpSpPr/>
          <p:nvPr/>
        </p:nvGrpSpPr>
        <p:grpSpPr>
          <a:xfrm>
            <a:off x="609600" y="977900"/>
            <a:ext cx="3454400" cy="1403350"/>
            <a:chOff x="457200" y="889000"/>
            <a:chExt cx="4064000" cy="1651000"/>
          </a:xfrm>
        </p:grpSpPr>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p:grpSp>
      <p:grpSp>
        <p:nvGrpSpPr>
          <p:cNvPr id="9001" name="Dual controller diagram"/>
          <p:cNvGrpSpPr/>
          <p:nvPr/>
        </p:nvGrpSpPr>
        <p:grpSpPr>
          <a:xfrm>
            <a:off x="4927600" y="977900"/>
            <a:ext cx="3454400" cy="1403350"/>
            <a:chOff x="4572000" y="889000"/>
            <a:chExt cx="4064000" cy="1651000"/>
          </a:xfrm>
        </p:grpSpPr>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p:grpSp>
      <p:sp>
        <p:nvSpPr>
          <p:cNvPr id="9101" name="Title"/>
          <p:cNvSpPr/>
          <p:nvPr/>
        </p:nvSpPr>
        <p:spPr>
          <a:xfrm>
            <a:off x="457200" y="2317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Thought experiment: constrain K and Kᵀ</a:t>
            </a:r>
            <a:endParaRPr sz="2500"/>
          </a:p>
        </p:txBody>
      </p:sp>
      <p:sp>
        <p:nvSpPr>
          <p:cNvPr id="9102" name="Primal heading"/>
          <p:cNvSpPr/>
          <p:nvPr/>
        </p:nvSpPr>
        <p:spPr>
          <a:xfrm>
            <a:off x="444500" y="692150"/>
            <a:ext cx="3937000" cy="266700"/>
          </a:xfrm>
          <a:prstGeom prst="rect">
            <a:avLst/>
          </a:prstGeom>
          <a:noFill/>
          <a:ln>
            <a:noFill/>
          </a:ln>
        </p:spPr>
        <p:txBody>
          <a:bodyPr wrap="none" lIns="0" tIns="0" rIns="0" bIns="0" anchor="ctr">
            <a:noAutofit/>
          </a:bodyPr>
          <a:lstStyle/>
          <a:p>
            <a:pPr algn="ctr">
              <a:buNone/>
            </a:pPr>
            <a:r>
              <a:rPr lang="en-GB" sz="1400" b="1" i="0" u="none" baseline="0">
                <a:solidFill>
                  <a:srgbClr val="C81919"/>
                </a:solidFill>
                <a:latin typeface="Aptos"/>
                <a:ea typeface="Aptos"/>
                <a:cs typeface="Aptos"/>
              </a:rPr>
              <a:t>Controller</a:t>
            </a:r>
            <a:endParaRPr sz="1400"/>
          </a:p>
        </p:txBody>
      </p:sp>
      <mc:AlternateContent xmlns:mc="http://schemas.openxmlformats.org/markup-compatibility/2006">
        <mc:Choice xmlns:a14="http://schemas.microsoft.com/office/drawing/2010/main" Requires="a14">
          <p:sp>
            <p:nvSpPr>
              <p:cNvPr id="9103" name="Primal controller relation"/>
              <p:cNvSpPr/>
              <p:nvPr/>
            </p:nvSpPr>
            <p:spPr>
              <a:xfrm>
                <a:off x="444500" y="22453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𝐾𝑦</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9103" name="Primal controller relation"/>
              <p:cNvSpPr>
                <a:spLocks noRot="1" noChangeAspect="1" noMove="1" noResize="1" noEditPoints="1" noAdjustHandles="1" noChangeArrowheads="1" noChangeShapeType="1" noTextEdit="1"/>
              </p:cNvSpPr>
              <p:nvPr/>
            </p:nvSpPr>
            <p:spPr>
              <a:xfrm>
                <a:off x="444500" y="2245360"/>
                <a:ext cx="3937000" cy="64008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4" name="Primal filter matrix"/>
              <p:cNvSpPr/>
              <p:nvPr/>
            </p:nvSpPr>
            <p:spPr>
              <a:xfrm>
                <a:off x="393700" y="28092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r>
                        <a:rPr sz="1700">
                          <a:solidFill>
                            <a:srgbClr val="252529"/>
                          </a:solidFill>
                          <a:latin typeface="Cambria Math"/>
                        </a:rPr>
                        <m:t>𝛩</m:t>
                      </m:r>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p:sp>
            <p:nvSpPr>
              <p:cNvPr id="9104" name="Primal filter matrix"/>
              <p:cNvSpPr>
                <a:spLocks noRot="1" noChangeAspect="1" noMove="1" noResize="1" noEditPoints="1" noAdjustHandles="1" noChangeArrowheads="1" noChangeShapeType="1" noTextEdit="1"/>
              </p:cNvSpPr>
              <p:nvPr/>
            </p:nvSpPr>
            <p:spPr>
              <a:xfrm>
                <a:off x="393700" y="2809240"/>
                <a:ext cx="4038600" cy="60452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5" name="Primal transformed signals"/>
              <p:cNvSpPr/>
              <p:nvPr/>
            </p:nvSpPr>
            <p:spPr>
              <a:xfrm>
                <a:off x="393700" y="33426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700">
                              <a:solidFill>
                                <a:srgbClr val="252529"/>
                              </a:solidFill>
                              <a:latin typeface="Cambria Math"/>
                            </a:rPr>
                          </m:ctrlPr>
                        </m:accPr>
                        <m:e>
                          <m:r>
                            <a:rPr sz="1700">
                              <a:solidFill>
                                <a:srgbClr val="252529"/>
                              </a:solidFill>
                              <a:latin typeface="Cambria Math"/>
                            </a:rPr>
                            <m:t>𝑦</m:t>
                          </m:r>
                        </m:e>
                      </m:acc>
                      <m:r>
                        <a:rPr sz="1700">
                          <a:solidFill>
                            <a:srgbClr val="252529"/>
                          </a:solidFill>
                          <a:latin typeface="Cambria Math"/>
                        </a:rPr>
                        <m:t>=</m:t>
                      </m:r>
                      <m:r>
                        <a:rPr sz="1700">
                          <a:solidFill>
                            <a:srgbClr val="252529"/>
                          </a:solidFill>
                          <a:latin typeface="Cambria Math"/>
                        </a:rPr>
                        <m:t>𝑦</m:t>
                      </m:r>
                      <m:r>
                        <a:rPr sz="1700">
                          <a:solidFill>
                            <a:srgbClr val="252529"/>
                          </a:solidFill>
                          <a:latin typeface="Cambria Math"/>
                        </a:rPr>
                        <m:t>,   </m:t>
                      </m:r>
                      <m:acc>
                        <m:accPr>
                          <m:chr m:val="̃"/>
                          <m:ctrlPr>
                            <a:rPr sz="1700">
                              <a:solidFill>
                                <a:srgbClr val="252529"/>
                              </a:solidFill>
                              <a:latin typeface="Cambria Math"/>
                            </a:rPr>
                          </m:ctrlPr>
                        </m:accPr>
                        <m:e>
                          <m:r>
                            <a:rPr sz="1700">
                              <a:solidFill>
                                <a:srgbClr val="252529"/>
                              </a:solidFill>
                              <a:latin typeface="Cambria Math"/>
                            </a:rPr>
                            <m:t>𝑢</m:t>
                          </m:r>
                        </m:e>
                      </m:acc>
                      <m:r>
                        <a:rPr sz="1700">
                          <a:solidFill>
                            <a:srgbClr val="252529"/>
                          </a:solidFill>
                          <a:latin typeface="Cambria Math"/>
                        </a:rPr>
                        <m:t>=</m:t>
                      </m:r>
                      <m:r>
                        <a:rPr sz="1700">
                          <a:solidFill>
                            <a:srgbClr val="252529"/>
                          </a:solidFill>
                          <a:latin typeface="Cambria Math"/>
                        </a:rPr>
                        <m:t>𝑢</m:t>
                      </m:r>
                      <m:r>
                        <a:rPr sz="1700">
                          <a:solidFill>
                            <a:srgbClr val="252529"/>
                          </a:solidFill>
                          <a:latin typeface="Cambria Math"/>
                        </a:rPr>
                        <m:t>−</m:t>
                      </m:r>
                      <m:r>
                        <a:rPr sz="1700">
                          <a:solidFill>
                            <a:srgbClr val="252529"/>
                          </a:solidFill>
                          <a:latin typeface="Cambria Math"/>
                        </a:rPr>
                        <m:t>𝐾𝑦</m:t>
                      </m:r>
                      <m:r>
                        <a:rPr sz="1700">
                          <a:solidFill>
                            <a:srgbClr val="252529"/>
                          </a:solidFill>
                          <a:latin typeface="Cambria Math"/>
                        </a:rPr>
                        <m:t>=0</m:t>
                      </m:r>
                    </m:oMath>
                  </m:oMathPara>
                </a14:m>
                <a:endParaRPr sz="1700"/>
              </a:p>
            </p:txBody>
          </p:sp>
        </mc:Choice>
        <mc:Fallback>
          <p:sp>
            <p:nvSpPr>
              <p:cNvPr id="9105" name="Primal transformed signals"/>
              <p:cNvSpPr>
                <a:spLocks noRot="1" noChangeAspect="1" noMove="1" noResize="1" noEditPoints="1" noAdjustHandles="1" noChangeArrowheads="1" noChangeShapeType="1" noTextEdit="1"/>
              </p:cNvSpPr>
              <p:nvPr/>
            </p:nvSpPr>
            <p:spPr>
              <a:xfrm>
                <a:off x="393700" y="3342640"/>
                <a:ext cx="40386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6" name="Primal expanded inequality"/>
              <p:cNvSpPr/>
              <p:nvPr/>
            </p:nvSpPr>
            <p:spPr>
              <a:xfrm>
                <a:off x="393700" y="37871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700" i="1">
                              <a:solidFill>
                                <a:srgbClr val="252529"/>
                              </a:solidFill>
                              <a:latin typeface="Cambria Math" panose="02040503050406030204" pitchFamily="18" charset="0"/>
                            </a:rPr>
                          </m:ctrlPr>
                        </m:sSupPr>
                        <m:e>
                          <m:d>
                            <m:dPr>
                              <m:begChr m:val="‖"/>
                              <m:endChr m:val="‖"/>
                              <m:ctrlPr>
                                <a:rPr sz="1700">
                                  <a:solidFill>
                                    <a:srgbClr val="252529"/>
                                  </a:solidFill>
                                  <a:latin typeface="Cambria Math"/>
                                </a:rPr>
                              </m:ctrlPr>
                            </m:dPr>
                            <m:e>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r>
                        <a:rPr sz="1700">
                          <a:solidFill>
                            <a:srgbClr val="252529"/>
                          </a:solidFill>
                          <a:latin typeface="Cambria Math"/>
                        </a:rPr>
                        <m:t>≤</m:t>
                      </m:r>
                      <m:sSup>
                        <m:sSupPr>
                          <m:ctrlPr>
                            <a:rPr sz="1700" i="1">
                              <a:solidFill>
                                <a:srgbClr val="252529"/>
                              </a:solidFill>
                              <a:latin typeface="Cambria Math" panose="02040503050406030204" pitchFamily="18" charset="0"/>
                            </a:rPr>
                          </m:ctrlPr>
                        </m:sSupPr>
                        <m:e>
                          <m:d>
                            <m:dPr>
                              <m:begChr m:val="‖"/>
                              <m:endChr m:val="‖"/>
                              <m:ctrlPr>
                                <a:rPr sz="1700">
                                  <a:solidFill>
                                    <a:srgbClr val="252529"/>
                                  </a:solidFill>
                                  <a:latin typeface="Cambria Math"/>
                                </a:rPr>
                              </m:ctrlPr>
                            </m:dPr>
                            <m:e>
                              <m:r>
                                <a:rPr sz="1700">
                                  <a:solidFill>
                                    <a:srgbClr val="252529"/>
                                  </a:solidFill>
                                  <a:latin typeface="Cambria Math"/>
                                </a:rPr>
                                <m:t>𝑦</m:t>
                              </m: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oMath>
                  </m:oMathPara>
                </a14:m>
                <a:endParaRPr sz="1700"/>
              </a:p>
            </p:txBody>
          </p:sp>
        </mc:Choice>
        <mc:Fallback>
          <p:sp>
            <p:nvSpPr>
              <p:cNvPr id="9106" name="Primal expanded inequality"/>
              <p:cNvSpPr>
                <a:spLocks noRot="1" noChangeAspect="1" noMove="1" noResize="1" noEditPoints="1" noAdjustHandles="1" noChangeArrowheads="1" noChangeShapeType="1" noTextEdit="1"/>
              </p:cNvSpPr>
              <p:nvPr/>
            </p:nvSpPr>
            <p:spPr>
              <a:xfrm>
                <a:off x="393700" y="3787140"/>
                <a:ext cx="4038600" cy="60452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7" name="Primal final inequality"/>
              <p:cNvSpPr/>
              <p:nvPr/>
            </p:nvSpPr>
            <p:spPr>
              <a:xfrm>
                <a:off x="393700" y="4208780"/>
                <a:ext cx="40386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acc>
                                <m:accPr>
                                  <m:chr m:val="̃"/>
                                  <m:ctrlPr>
                                    <a:rPr sz="1900">
                                      <a:solidFill>
                                        <a:srgbClr val="C81919"/>
                                      </a:solidFill>
                                      <a:latin typeface="Cambria Math"/>
                                    </a:rPr>
                                  </m:ctrlPr>
                                </m:accPr>
                                <m:e>
                                  <m:r>
                                    <a:rPr sz="1900">
                                      <a:solidFill>
                                        <a:srgbClr val="C81919"/>
                                      </a:solidFill>
                                      <a:latin typeface="Cambria Math"/>
                                    </a:rPr>
                                    <m:t>𝑢</m:t>
                                  </m:r>
                                </m:e>
                              </m:acc>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r>
                        <a:rPr sz="1900">
                          <a:solidFill>
                            <a:srgbClr val="C81919"/>
                          </a:solidFill>
                          <a:latin typeface="Cambria Math"/>
                        </a:rPr>
                        <m:t>=0≤</m:t>
                      </m:r>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acc>
                                <m:accPr>
                                  <m:chr m:val="̃"/>
                                  <m:ctrlPr>
                                    <a:rPr sz="1900">
                                      <a:solidFill>
                                        <a:srgbClr val="C81919"/>
                                      </a:solidFill>
                                      <a:latin typeface="Cambria Math"/>
                                    </a:rPr>
                                  </m:ctrlPr>
                                </m:accPr>
                                <m:e>
                                  <m:r>
                                    <a:rPr sz="1900">
                                      <a:solidFill>
                                        <a:srgbClr val="C81919"/>
                                      </a:solidFill>
                                      <a:latin typeface="Cambria Math"/>
                                    </a:rPr>
                                    <m:t>𝑦</m:t>
                                  </m:r>
                                </m:e>
                              </m:acc>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oMath>
                  </m:oMathPara>
                </a14:m>
                <a:endParaRPr sz="1900"/>
              </a:p>
            </p:txBody>
          </p:sp>
        </mc:Choice>
        <mc:Fallback>
          <p:sp>
            <p:nvSpPr>
              <p:cNvPr id="9107" name="Primal final inequality"/>
              <p:cNvSpPr>
                <a:spLocks noRot="1" noChangeAspect="1" noMove="1" noResize="1" noEditPoints="1" noAdjustHandles="1" noChangeArrowheads="1" noChangeShapeType="1" noTextEdit="1"/>
              </p:cNvSpPr>
              <p:nvPr/>
            </p:nvSpPr>
            <p:spPr>
              <a:xfrm>
                <a:off x="393700" y="4208780"/>
                <a:ext cx="4038600" cy="675640"/>
              </a:xfrm>
              <a:prstGeom prst="rect">
                <a:avLst/>
              </a:prstGeom>
              <a:blipFill>
                <a:blip r:embed="rId26"/>
                <a:stretch>
                  <a:fillRect/>
                </a:stretch>
              </a:blipFill>
              <a:ln>
                <a:noFill/>
              </a:ln>
            </p:spPr>
            <p:txBody>
              <a:bodyPr/>
              <a:lstStyle/>
              <a:p>
                <a:r>
                  <a:rPr lang="en-NL">
                    <a:noFill/>
                  </a:rPr>
                  <a:t> </a:t>
                </a:r>
              </a:p>
            </p:txBody>
          </p:sp>
        </mc:Fallback>
      </mc:AlternateContent>
      <p:sp>
        <p:nvSpPr>
          <p:cNvPr id="9108" name="Dual heading"/>
          <p:cNvSpPr/>
          <p:nvPr/>
        </p:nvSpPr>
        <p:spPr>
          <a:xfrm>
            <a:off x="4762500" y="692150"/>
            <a:ext cx="3937000" cy="266700"/>
          </a:xfrm>
          <a:prstGeom prst="rect">
            <a:avLst/>
          </a:prstGeom>
          <a:noFill/>
          <a:ln>
            <a:noFill/>
          </a:ln>
        </p:spPr>
        <p:txBody>
          <a:bodyPr wrap="none" lIns="0" tIns="0" rIns="0" bIns="0" anchor="ctr">
            <a:noAutofit/>
          </a:bodyPr>
          <a:lstStyle/>
          <a:p>
            <a:pPr algn="ctr">
              <a:buNone/>
            </a:pPr>
            <a:r>
              <a:rPr lang="en-GB" sz="1400" b="1" i="0" u="none" baseline="0">
                <a:solidFill>
                  <a:srgbClr val="C81919"/>
                </a:solidFill>
                <a:latin typeface="Aptos"/>
                <a:ea typeface="Aptos"/>
                <a:cs typeface="Aptos"/>
              </a:rPr>
              <a:t>Dual controller</a:t>
            </a:r>
            <a:endParaRPr sz="1400"/>
          </a:p>
        </p:txBody>
      </p:sp>
      <mc:AlternateContent xmlns:mc="http://schemas.openxmlformats.org/markup-compatibility/2006">
        <mc:Choice xmlns:a14="http://schemas.microsoft.com/office/drawing/2010/main" Requires="a14">
          <p:sp>
            <p:nvSpPr>
              <p:cNvPr id="9109" name="Dual controller relation"/>
              <p:cNvSpPr/>
              <p:nvPr/>
            </p:nvSpPr>
            <p:spPr>
              <a:xfrm>
                <a:off x="4762500" y="22453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800">
                              <a:solidFill>
                                <a:srgbClr val="252529"/>
                              </a:solidFill>
                              <a:latin typeface="Cambria Math"/>
                            </a:rPr>
                          </m:ctrlPr>
                        </m:barPr>
                        <m:e>
                          <m:r>
                            <a:rPr sz="1800">
                              <a:solidFill>
                                <a:srgbClr val="252529"/>
                              </a:solidFill>
                              <a:latin typeface="Cambria Math"/>
                            </a:rPr>
                            <m:t>𝑢</m:t>
                          </m:r>
                        </m:e>
                      </m:ba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p>
                        <m:sSupPr>
                          <m:ctrlPr>
                            <a:rPr sz="1800">
                              <a:solidFill>
                                <a:srgbClr val="252529"/>
                              </a:solidFill>
                              <a:latin typeface="Cambria Math"/>
                            </a:rPr>
                          </m:ctrlPr>
                        </m:sSupPr>
                        <m:e>
                          <m:r>
                            <a:rPr sz="1800">
                              <a:solidFill>
                                <a:srgbClr val="252529"/>
                              </a:solidFill>
                              <a:latin typeface="Cambria Math"/>
                            </a:rPr>
                            <m:t>𝐾</m:t>
                          </m:r>
                        </m:e>
                        <m:sup>
                          <m:r>
                            <a:rPr sz="1800">
                              <a:solidFill>
                                <a:srgbClr val="252529"/>
                              </a:solidFill>
                              <a:latin typeface="Cambria Math"/>
                            </a:rPr>
                            <m:t>⊤</m:t>
                          </m:r>
                        </m:sup>
                      </m:sSup>
                      <m:bar>
                        <m:barPr>
                          <m:pos m:val="bot"/>
                          <m:ctrlPr>
                            <a:rPr sz="1800">
                              <a:solidFill>
                                <a:srgbClr val="252529"/>
                              </a:solidFill>
                              <a:latin typeface="Cambria Math"/>
                            </a:rPr>
                          </m:ctrlPr>
                        </m:barPr>
                        <m:e>
                          <m:r>
                            <a:rPr sz="1800">
                              <a:solidFill>
                                <a:srgbClr val="252529"/>
                              </a:solidFill>
                              <a:latin typeface="Cambria Math"/>
                            </a:rPr>
                            <m:t>𝑦</m:t>
                          </m:r>
                        </m:e>
                      </m:ba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9109" name="Dual controller relation"/>
              <p:cNvSpPr>
                <a:spLocks noRot="1" noChangeAspect="1" noMove="1" noResize="1" noEditPoints="1" noAdjustHandles="1" noChangeArrowheads="1" noChangeShapeType="1" noTextEdit="1"/>
              </p:cNvSpPr>
              <p:nvPr/>
            </p:nvSpPr>
            <p:spPr>
              <a:xfrm>
                <a:off x="4762500" y="2245360"/>
                <a:ext cx="3937000" cy="6400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0" name="Dual filter matrix"/>
              <p:cNvSpPr/>
              <p:nvPr/>
            </p:nvSpPr>
            <p:spPr>
              <a:xfrm>
                <a:off x="4711700" y="28092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𝛩</m:t>
                          </m:r>
                        </m:e>
                      </m:bar>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p:sp>
            <p:nvSpPr>
              <p:cNvPr id="9110" name="Dual filter matrix"/>
              <p:cNvSpPr>
                <a:spLocks noRot="1" noChangeAspect="1" noMove="1" noResize="1" noEditPoints="1" noAdjustHandles="1" noChangeArrowheads="1" noChangeShapeType="1" noTextEdit="1"/>
              </p:cNvSpPr>
              <p:nvPr/>
            </p:nvSpPr>
            <p:spPr>
              <a:xfrm>
                <a:off x="4711700" y="2809240"/>
                <a:ext cx="40386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1" name="Dual transformed signals"/>
              <p:cNvSpPr/>
              <p:nvPr/>
            </p:nvSpPr>
            <p:spPr>
              <a:xfrm>
                <a:off x="4711700" y="33426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𝑦</m:t>
                          </m:r>
                        </m:e>
                      </m:bar>
                      <m:r>
                        <a:rPr sz="1700">
                          <a:solidFill>
                            <a:srgbClr val="252529"/>
                          </a:solidFill>
                          <a:latin typeface="Cambria Math"/>
                        </a:rPr>
                        <m:t>,   </m:t>
                      </m:r>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𝑢</m:t>
                          </m:r>
                        </m:e>
                      </m:bar>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r>
                        <a:rPr sz="1700">
                          <a:solidFill>
                            <a:srgbClr val="252529"/>
                          </a:solidFill>
                          <a:latin typeface="Cambria Math"/>
                        </a:rPr>
                        <m:t>=0</m:t>
                      </m:r>
                    </m:oMath>
                  </m:oMathPara>
                </a14:m>
                <a:endParaRPr sz="1700"/>
              </a:p>
            </p:txBody>
          </p:sp>
        </mc:Choice>
        <mc:Fallback>
          <p:sp>
            <p:nvSpPr>
              <p:cNvPr id="9111" name="Dual transformed signals"/>
              <p:cNvSpPr>
                <a:spLocks noRot="1" noChangeAspect="1" noMove="1" noResize="1" noEditPoints="1" noAdjustHandles="1" noChangeArrowheads="1" noChangeShapeType="1" noTextEdit="1"/>
              </p:cNvSpPr>
              <p:nvPr/>
            </p:nvSpPr>
            <p:spPr>
              <a:xfrm>
                <a:off x="4711700" y="3342640"/>
                <a:ext cx="4038600" cy="60452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2" name="Dual expanded inequality"/>
              <p:cNvSpPr/>
              <p:nvPr/>
            </p:nvSpPr>
            <p:spPr>
              <a:xfrm>
                <a:off x="4711700" y="37871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700" i="1">
                              <a:solidFill>
                                <a:srgbClr val="252529"/>
                              </a:solidFill>
                              <a:latin typeface="Cambria Math" panose="02040503050406030204" pitchFamily="18" charset="0"/>
                            </a:rPr>
                          </m:ctrlPr>
                        </m:sSupPr>
                        <m:e>
                          <m:d>
                            <m:dPr>
                              <m:begChr m:val="‖"/>
                              <m:endChr m:val="‖"/>
                              <m:ctrlPr>
                                <a:rPr sz="1700" i="1">
                                  <a:solidFill>
                                    <a:srgbClr val="252529"/>
                                  </a:solidFill>
                                  <a:latin typeface="Cambria Math" panose="02040503050406030204" pitchFamily="18" charset="0"/>
                                </a:rPr>
                              </m:ctrlPr>
                            </m:dPr>
                            <m:e>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r>
                        <a:rPr sz="1700">
                          <a:solidFill>
                            <a:srgbClr val="252529"/>
                          </a:solidFill>
                          <a:latin typeface="Cambria Math"/>
                        </a:rPr>
                        <m:t>≤</m:t>
                      </m:r>
                      <m:sSup>
                        <m:sSupPr>
                          <m:ctrlPr>
                            <a:rPr sz="1700" i="1">
                              <a:solidFill>
                                <a:srgbClr val="252529"/>
                              </a:solidFill>
                              <a:latin typeface="Cambria Math" panose="02040503050406030204" pitchFamily="18" charset="0"/>
                            </a:rPr>
                          </m:ctrlPr>
                        </m:sSupPr>
                        <m:e>
                          <m:d>
                            <m:dPr>
                              <m:begChr m:val="‖"/>
                              <m:endChr m:val="‖"/>
                              <m:ctrlPr>
                                <a:rPr sz="1700" i="1">
                                  <a:solidFill>
                                    <a:srgbClr val="252529"/>
                                  </a:solidFill>
                                  <a:latin typeface="Cambria Math" panose="02040503050406030204" pitchFamily="18" charset="0"/>
                                </a:rPr>
                              </m:ctrlPr>
                            </m:dPr>
                            <m:e>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oMath>
                  </m:oMathPara>
                </a14:m>
                <a:endParaRPr sz="1700"/>
              </a:p>
            </p:txBody>
          </p:sp>
        </mc:Choice>
        <mc:Fallback>
          <p:sp>
            <p:nvSpPr>
              <p:cNvPr id="9112" name="Dual expanded inequality"/>
              <p:cNvSpPr>
                <a:spLocks noRot="1" noChangeAspect="1" noMove="1" noResize="1" noEditPoints="1" noAdjustHandles="1" noChangeArrowheads="1" noChangeShapeType="1" noTextEdit="1"/>
              </p:cNvSpPr>
              <p:nvPr/>
            </p:nvSpPr>
            <p:spPr>
              <a:xfrm>
                <a:off x="4711700" y="3787140"/>
                <a:ext cx="40386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3" name="Dual final inequality"/>
              <p:cNvSpPr/>
              <p:nvPr/>
            </p:nvSpPr>
            <p:spPr>
              <a:xfrm>
                <a:off x="4711700" y="4208780"/>
                <a:ext cx="40386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bar>
                                <m:barPr>
                                  <m:pos m:val="bot"/>
                                  <m:ctrlPr>
                                    <a:rPr sz="1900" i="1">
                                      <a:solidFill>
                                        <a:srgbClr val="C81919"/>
                                      </a:solidFill>
                                      <a:latin typeface="Cambria Math" panose="02040503050406030204" pitchFamily="18" charset="0"/>
                                    </a:rPr>
                                  </m:ctrlPr>
                                </m:barPr>
                                <m:e>
                                  <m:acc>
                                    <m:accPr>
                                      <m:chr m:val="̃"/>
                                      <m:ctrlPr>
                                        <a:rPr sz="1900">
                                          <a:solidFill>
                                            <a:srgbClr val="C81919"/>
                                          </a:solidFill>
                                          <a:latin typeface="Cambria Math"/>
                                        </a:rPr>
                                      </m:ctrlPr>
                                    </m:accPr>
                                    <m:e>
                                      <m:r>
                                        <a:rPr sz="1900">
                                          <a:solidFill>
                                            <a:srgbClr val="C81919"/>
                                          </a:solidFill>
                                          <a:latin typeface="Cambria Math"/>
                                        </a:rPr>
                                        <m:t>𝑢</m:t>
                                      </m:r>
                                    </m:e>
                                  </m:acc>
                                </m:e>
                              </m:bar>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r>
                        <a:rPr sz="1900">
                          <a:solidFill>
                            <a:srgbClr val="C81919"/>
                          </a:solidFill>
                          <a:latin typeface="Cambria Math"/>
                        </a:rPr>
                        <m:t>=0≤</m:t>
                      </m:r>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bar>
                                <m:barPr>
                                  <m:pos m:val="bot"/>
                                  <m:ctrlPr>
                                    <a:rPr sz="1900" i="1">
                                      <a:solidFill>
                                        <a:srgbClr val="C81919"/>
                                      </a:solidFill>
                                      <a:latin typeface="Cambria Math" panose="02040503050406030204" pitchFamily="18" charset="0"/>
                                    </a:rPr>
                                  </m:ctrlPr>
                                </m:barPr>
                                <m:e>
                                  <m:acc>
                                    <m:accPr>
                                      <m:chr m:val="̃"/>
                                      <m:ctrlPr>
                                        <a:rPr sz="1900">
                                          <a:solidFill>
                                            <a:srgbClr val="C81919"/>
                                          </a:solidFill>
                                          <a:latin typeface="Cambria Math"/>
                                        </a:rPr>
                                      </m:ctrlPr>
                                    </m:accPr>
                                    <m:e>
                                      <m:r>
                                        <a:rPr sz="1900">
                                          <a:solidFill>
                                            <a:srgbClr val="C81919"/>
                                          </a:solidFill>
                                          <a:latin typeface="Cambria Math"/>
                                        </a:rPr>
                                        <m:t>𝑦</m:t>
                                      </m:r>
                                    </m:e>
                                  </m:acc>
                                </m:e>
                              </m:bar>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oMath>
                  </m:oMathPara>
                </a14:m>
                <a:endParaRPr sz="1900"/>
              </a:p>
            </p:txBody>
          </p:sp>
        </mc:Choice>
        <mc:Fallback>
          <p:sp>
            <p:nvSpPr>
              <p:cNvPr id="9113" name="Dual final inequality"/>
              <p:cNvSpPr>
                <a:spLocks noRot="1" noChangeAspect="1" noMove="1" noResize="1" noEditPoints="1" noAdjustHandles="1" noChangeArrowheads="1" noChangeShapeType="1" noTextEdit="1"/>
              </p:cNvSpPr>
              <p:nvPr/>
            </p:nvSpPr>
            <p:spPr>
              <a:xfrm>
                <a:off x="4711700" y="4208780"/>
                <a:ext cx="4038600" cy="675640"/>
              </a:xfrm>
              <a:prstGeom prst="rect">
                <a:avLst/>
              </a:prstGeom>
              <a:blipFill>
                <a:blip r:embed="rId31"/>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8205</Words>
  <Application>Microsoft Office PowerPoint</Application>
  <PresentationFormat>On-screen Show (16:9)</PresentationFormat>
  <Paragraphs>1103</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2026-09-27T20:09:29Z</dcterms:modified>
</cp:coreProperties>
</file>