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5"/>
  </p:notesMasterIdLst>
  <p:sldIdLst>
    <p:sldId id="479" r:id="rId45"/>
    <p:sldId id="480" r:id="rId46"/>
    <p:sldId id="481" r:id="rId47"/>
    <p:sldId id="482" r:id="rId48"/>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varScale="1">
        <p:scale>
          <a:sx n="124" d="100"/>
          <a:sy n="124" d="100"/>
        </p:scale>
        <p:origin x="2820" y="90"/>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28/09/2026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41</a:t>
            </a:fld>
            <a:endParaRPr lang="en-GB"/>
          </a:p>
        </p:txBody>
      </p:sp>
    </p:spTree>
    <p:extLst>
      <p:ext uri="{BB962C8B-B14F-4D97-AF65-F5344CB8AC3E}">
        <p14:creationId xmlns:p14="http://schemas.microsoft.com/office/powerpoint/2010/main" val="259495147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B8FA96-FF47-0D13-B3DB-51F48828186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647E712-E17B-081D-6D16-7C37AFA0AB1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D887EA6-B2A8-BE99-C34A-719BFD02FB58}"/>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541307E4-E14D-526F-DEFB-6798B543BDE3}"/>
              </a:ext>
            </a:extLst>
          </p:cNvPr>
          <p:cNvSpPr>
            <a:spLocks noGrp="1"/>
          </p:cNvSpPr>
          <p:nvPr>
            <p:ph type="sldNum" sz="quarter" idx="5"/>
          </p:nvPr>
        </p:nvSpPr>
        <p:spPr/>
        <p:txBody>
          <a:bodyPr/>
          <a:lstStyle/>
          <a:p>
            <a:fld id="{AA799BBE-B871-48D7-983C-C0B1D7156DCD}" type="slidenum">
              <a:rPr lang="en-GB" smtClean="0"/>
              <a:t>42</a:t>
            </a:fld>
            <a:endParaRPr lang="en-GB"/>
          </a:p>
        </p:txBody>
      </p:sp>
    </p:spTree>
    <p:extLst>
      <p:ext uri="{BB962C8B-B14F-4D97-AF65-F5344CB8AC3E}">
        <p14:creationId xmlns:p14="http://schemas.microsoft.com/office/powerpoint/2010/main" val="235511740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DF2DF2-EEFE-0697-B312-DA35EA5FF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C0AAC57-0093-5626-15CF-16F41DC846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ED6186-E79B-F794-14C8-37BF8E0187B0}"/>
              </a:ext>
            </a:extLst>
          </p:cNvPr>
          <p:cNvSpPr>
            <a:spLocks noGrp="1"/>
          </p:cNvSpPr>
          <p:nvPr>
            <p:ph type="body" idx="1"/>
          </p:nvPr>
        </p:nvSpPr>
        <p:spPr/>
        <p:txBody>
          <a:bodyPr/>
          <a:lstStyle/>
          <a:p>
            <a:endParaRPr lang="en-NL" dirty="0"/>
          </a:p>
        </p:txBody>
      </p:sp>
      <p:sp>
        <p:nvSpPr>
          <p:cNvPr id="4" name="Slide Number Placeholder 3">
            <a:extLst>
              <a:ext uri="{FF2B5EF4-FFF2-40B4-BE49-F238E27FC236}">
                <a16:creationId xmlns:a16="http://schemas.microsoft.com/office/drawing/2014/main" id="{217D4BB9-AFA5-92B4-8F06-5C1F0979DEE4}"/>
              </a:ext>
            </a:extLst>
          </p:cNvPr>
          <p:cNvSpPr>
            <a:spLocks noGrp="1"/>
          </p:cNvSpPr>
          <p:nvPr>
            <p:ph type="sldNum" sz="quarter" idx="5"/>
          </p:nvPr>
        </p:nvSpPr>
        <p:spPr/>
        <p:txBody>
          <a:bodyPr/>
          <a:lstStyle/>
          <a:p>
            <a:fld id="{AA799BBE-B871-48D7-983C-C0B1D7156DCD}" type="slidenum">
              <a:rPr lang="en-GB" smtClean="0"/>
              <a:t>43</a:t>
            </a:fld>
            <a:endParaRPr lang="en-GB"/>
          </a:p>
        </p:txBody>
      </p:sp>
    </p:spTree>
    <p:extLst>
      <p:ext uri="{BB962C8B-B14F-4D97-AF65-F5344CB8AC3E}">
        <p14:creationId xmlns:p14="http://schemas.microsoft.com/office/powerpoint/2010/main" val="3501966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587EB3-072C-DEC1-1942-C20620E8F9F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74F3A02F-BCD3-AA7C-A45E-B59366B3290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925143285"/>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669771-A782-CB52-EB72-80B0537742C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C04AB3A-FFFB-F74A-CDAD-C4FCE468F30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2643927"/>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F426B1-5B98-1A20-31E7-CFF1EAF1D4F5}"/>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6289D27-5C97-1FD4-590D-5CFB94E241B2}"/>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409924294"/>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0B29F3-74DB-4879-B54D-A3F0CA811172}"/>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853C085B-5731-C271-6ACE-59759666F0ED}"/>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062837444"/>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60</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61</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62</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63</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transpose_slide23_image731.png"/><Relationship Id="rId7" Type="http://schemas.openxmlformats.org/officeDocument/2006/relationships/image" Target="../media/transpose_slide23_image771.png"/><Relationship Id="rIdBlock107" Type="http://schemas.openxmlformats.org/officeDocument/2006/relationships/image" Target="../media/transpose_slide23_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transpose_slide23_image760.png"/><Relationship Id="rId5" Type="http://schemas.openxmlformats.org/officeDocument/2006/relationships/image" Target="../media/transpose_slide23_image752.png"/><Relationship Id="rId4" Type="http://schemas.openxmlformats.org/officeDocument/2006/relationships/image" Target="../media/transpose_slide23_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transpose_slide24_image731.png"/><Relationship Id="rId5" Type="http://schemas.openxmlformats.org/officeDocument/2006/relationships/image" Target="../media/transpose_slide24_image79.png"/><Relationship Id="rIdBlock105" Type="http://schemas.openxmlformats.org/officeDocument/2006/relationships/image" Target="../media/transpose_slide24_extraction20_image70.png"/><Relationship Id="rId4" Type="http://schemas.openxmlformats.org/officeDocument/2006/relationships/image" Target="../media/transpose_slide24_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3.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79.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79.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transpose_slide31_image770.png"/><Relationship Id="rId13" Type="http://schemas.openxmlformats.org/officeDocument/2006/relationships/image" Target="../media/transpose_slide31_image90.png"/><Relationship Id="rId18" Type="http://schemas.openxmlformats.org/officeDocument/2006/relationships/image" Target="../media/transpose_slide31_image95.png"/><Relationship Id="rIdRevisedLFR129" Type="http://schemas.openxmlformats.org/officeDocument/2006/relationships/image" Target="../media/transpose_slide31_revised_lfr19_image96.png"/><Relationship Id="rIdPillarBlock19" Type="http://schemas.openxmlformats.org/officeDocument/2006/relationships/image" Target="../media/transpose_slide31_image731.png"/><Relationship Id="rId12" Type="http://schemas.openxmlformats.org/officeDocument/2006/relationships/image" Target="../media/transpose_slide31_image89.png"/><Relationship Id="rId17" Type="http://schemas.openxmlformats.org/officeDocument/2006/relationships/image" Target="../media/transpose_slide31_image94.png"/><Relationship Id="rId2" Type="http://schemas.openxmlformats.org/officeDocument/2006/relationships/notesSlide" Target="../notesSlides/notesSlide25.xml"/><Relationship Id="rId16" Type="http://schemas.openxmlformats.org/officeDocument/2006/relationships/image" Target="../media/transpose_slide31_image93.png"/><Relationship Id="rId1" Type="http://schemas.openxmlformats.org/officeDocument/2006/relationships/slideLayout" Target="../slideLayouts/slideLayout6.xml"/><Relationship Id="rId11" Type="http://schemas.openxmlformats.org/officeDocument/2006/relationships/image" Target="../media/transpose_slide31_image88.png"/><Relationship Id="rId15" Type="http://schemas.openxmlformats.org/officeDocument/2006/relationships/image" Target="../media/transpose_slide31_image92.png"/><Relationship Id="rId10" Type="http://schemas.openxmlformats.org/officeDocument/2006/relationships/image" Target="../media/transpose_slide31_image87.png"/><Relationship Id="rId19" Type="http://schemas.openxmlformats.org/officeDocument/2006/relationships/image" Target="../media/transpose_slide31_image96.png"/><Relationship Id="rId9" Type="http://schemas.openxmlformats.org/officeDocument/2006/relationships/image" Target="../media/transpose_slide31_image861.png"/><Relationship Id="rId14" Type="http://schemas.openxmlformats.org/officeDocument/2006/relationships/image" Target="../media/transpose_slide31_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4.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85.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8" Type="http://schemas.openxmlformats.org/officeDocument/2006/relationships/image" Target="../media/image113.png"/><Relationship Id="rId3" Type="http://schemas.openxmlformats.org/officeDocument/2006/relationships/image" Target="../media/image88.png"/><Relationship Id="rId7" Type="http://schemas.openxmlformats.org/officeDocument/2006/relationships/image" Target="../media/image112.png"/><Relationship Id="rId2" Type="http://schemas.openxmlformats.org/officeDocument/2006/relationships/image" Target="../media/image87.png"/><Relationship Id="rId1" Type="http://schemas.openxmlformats.org/officeDocument/2006/relationships/slideLayout" Target="../slideLayouts/slideLayout12.xml"/><Relationship Id="rId6" Type="http://schemas.openxmlformats.org/officeDocument/2006/relationships/image" Target="../media/image111.png"/><Relationship Id="rId5" Type="http://schemas.openxmlformats.org/officeDocument/2006/relationships/image" Target="../media/slide38theta_image112.png"/><Relationship Id="rId4" Type="http://schemas.openxmlformats.org/officeDocument/2006/relationships/image" Target="../media/slide38theta_image111.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4.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89.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transpose_slide41_image119.png"/><Relationship Id="rId13" Type="http://schemas.openxmlformats.org/officeDocument/2006/relationships/image" Target="../media/transpose_slide41_slide41original_restore41_image124.png"/><Relationship Id="rId26" Type="http://schemas.openxmlformats.org/officeDocument/2006/relationships/image" Target="../media/transpose_slide41_image1290.png"/><Relationship Id="rId3" Type="http://schemas.openxmlformats.org/officeDocument/2006/relationships/image" Target="../media/transpose_slide41_image115.png"/><Relationship Id="rId21" Type="http://schemas.openxmlformats.org/officeDocument/2006/relationships/image" Target="../media/transpose_slide41_image127.png"/><Relationship Id="rId34" Type="http://schemas.openxmlformats.org/officeDocument/2006/relationships/image" Target="../media/transpose_slide41_image1350.png"/><Relationship Id="rId7" Type="http://schemas.openxmlformats.org/officeDocument/2006/relationships/image" Target="../media/transpose_slide41_slide41original_restore41_image118.png"/><Relationship Id="rId25" Type="http://schemas.openxmlformats.org/officeDocument/2006/relationships/image" Target="../media/transpose_slide41_image131.png"/><Relationship Id="rId33" Type="http://schemas.openxmlformats.org/officeDocument/2006/relationships/image" Target="../media/transpose_slide41_image136.png"/><Relationship Id="rId2" Type="http://schemas.openxmlformats.org/officeDocument/2006/relationships/notesSlide" Target="../notesSlides/notesSlide34.xml"/><Relationship Id="rId16" Type="http://schemas.openxmlformats.org/officeDocument/2006/relationships/image" Target="../media/transpose_slide41_image124.png"/><Relationship Id="rId20" Type="http://schemas.openxmlformats.org/officeDocument/2006/relationships/image" Target="../media/transpose_slide41_image126.png"/><Relationship Id="rId29" Type="http://schemas.openxmlformats.org/officeDocument/2006/relationships/image" Target="../media/transpose_slide41_image133.png"/><Relationship Id="rId1" Type="http://schemas.openxmlformats.org/officeDocument/2006/relationships/slideLayout" Target="../slideLayouts/slideLayout12.xml"/><Relationship Id="rId6" Type="http://schemas.openxmlformats.org/officeDocument/2006/relationships/image" Target="../media/transpose_slide41_image118.png"/><Relationship Id="rId24" Type="http://schemas.openxmlformats.org/officeDocument/2006/relationships/image" Target="../media/transpose_slide41_image129.png"/><Relationship Id="rId32" Type="http://schemas.openxmlformats.org/officeDocument/2006/relationships/image" Target="../media/transpose_slide41_image1330.png"/><Relationship Id="rId5" Type="http://schemas.openxmlformats.org/officeDocument/2006/relationships/image" Target="../media/transpose_slide41_image117.png"/><Relationship Id="rId15" Type="http://schemas.openxmlformats.org/officeDocument/2006/relationships/image" Target="../media/transpose_slide41_image123.png"/><Relationship Id="rId23" Type="http://schemas.openxmlformats.org/officeDocument/2006/relationships/image" Target="../media/transpose_slide41_slide41original_image116.png"/><Relationship Id="rId28" Type="http://schemas.openxmlformats.org/officeDocument/2006/relationships/image" Target="../media/transpose_slide41_image132.png"/><Relationship Id="rId10" Type="http://schemas.openxmlformats.org/officeDocument/2006/relationships/image" Target="../media/transpose_slide41_image121.png"/><Relationship Id="rId19" Type="http://schemas.openxmlformats.org/officeDocument/2006/relationships/image" Target="../media/transpose_slide41_slide41original_restore41_image132.png"/><Relationship Id="rId31" Type="http://schemas.openxmlformats.org/officeDocument/2006/relationships/image" Target="../media/transpose_slide41_image135.png"/><Relationship Id="rId4" Type="http://schemas.openxmlformats.org/officeDocument/2006/relationships/image" Target="../media/transpose_slide41_image116.png"/><Relationship Id="rId9" Type="http://schemas.openxmlformats.org/officeDocument/2006/relationships/image" Target="../media/transpose_slide41_image120.png"/><Relationship Id="rId14" Type="http://schemas.openxmlformats.org/officeDocument/2006/relationships/image" Target="../media/transpose_slide41_image122.png"/><Relationship Id="rId22" Type="http://schemas.openxmlformats.org/officeDocument/2006/relationships/image" Target="../media/transpose_slide41_image128.png"/><Relationship Id="rId27" Type="http://schemas.openxmlformats.org/officeDocument/2006/relationships/image" Target="../media/transpose_slide41_image1310.png"/><Relationship Id="rId30" Type="http://schemas.openxmlformats.org/officeDocument/2006/relationships/image" Target="../media/transpose_slide41_image134.png"/></Relationships>
</file>

<file path=ppt/slides/_rels/slide42.xml.rels><?xml version="1.0" encoding="UTF-8" standalone="yes"?>
<Relationships xmlns="http://schemas.openxmlformats.org/package/2006/relationships"><Relationship Id="rId3" Type="http://schemas.openxmlformats.org/officeDocument/2006/relationships/image" Target="../media/transpose_slide42_image137.png"/><Relationship Id="rId2" Type="http://schemas.openxmlformats.org/officeDocument/2006/relationships/notesSlide" Target="../notesSlides/notesSlide35.xml"/><Relationship Id="rId1" Type="http://schemas.openxmlformats.org/officeDocument/2006/relationships/slideLayout" Target="../slideLayouts/slideLayout12.xml"/><Relationship Id="rId6" Type="http://schemas.openxmlformats.org/officeDocument/2006/relationships/image" Target="../media/transpose_slide42_image135.png"/><Relationship Id="rId5" Type="http://schemas.openxmlformats.org/officeDocument/2006/relationships/image" Target="../media/transpose_slide42_image139.png"/><Relationship Id="rId4" Type="http://schemas.openxmlformats.org/officeDocument/2006/relationships/image" Target="../media/transpose_slide42_image138.png"/></Relationships>
</file>

<file path=ppt/slides/_rels/slide43.xml.rels><?xml version="1.0" encoding="UTF-8" standalone="yes"?>
<Relationships xmlns="http://schemas.openxmlformats.org/package/2006/relationships"><Relationship Id="rId8" Type="http://schemas.openxmlformats.org/officeDocument/2006/relationships/image" Target="../media/transpose_slide43_slide43full_image144.png"/><Relationship Id="rId13" Type="http://schemas.openxmlformats.org/officeDocument/2006/relationships/image" Target="../media/transpose_slide43_image140.png"/><Relationship Id="rId18" Type="http://schemas.openxmlformats.org/officeDocument/2006/relationships/image" Target="../media/transpose_slide43_slide43full_image155.png"/><Relationship Id="rId26" Type="http://schemas.openxmlformats.org/officeDocument/2006/relationships/image" Target="../media/transpose_slide43_slide43full_image163.png"/><Relationship Id="rId3" Type="http://schemas.openxmlformats.org/officeDocument/2006/relationships/image" Target="../media/transpose_slide43_slide43full_image140.png"/><Relationship Id="rId21" Type="http://schemas.openxmlformats.org/officeDocument/2006/relationships/image" Target="../media/transpose_slide43_slide43full_image158.png"/><Relationship Id="rId7" Type="http://schemas.openxmlformats.org/officeDocument/2006/relationships/image" Target="../media/transpose_slide43_slide43full_image143.png"/><Relationship Id="rId12" Type="http://schemas.openxmlformats.org/officeDocument/2006/relationships/image" Target="../media/transpose_slide43_slide43full_image148.png"/><Relationship Id="rId17" Type="http://schemas.openxmlformats.org/officeDocument/2006/relationships/image" Target="../media/transpose_slide43_slide43full_image154.png"/><Relationship Id="rId25" Type="http://schemas.openxmlformats.org/officeDocument/2006/relationships/image" Target="../media/transpose_slide43_slide43full_image162.png"/><Relationship Id="rId2" Type="http://schemas.openxmlformats.org/officeDocument/2006/relationships/notesSlide" Target="../notesSlides/notesSlide36.xml"/><Relationship Id="rId16" Type="http://schemas.openxmlformats.org/officeDocument/2006/relationships/image" Target="../media/transpose_slide43_slide43full_image153.png"/><Relationship Id="rId20" Type="http://schemas.openxmlformats.org/officeDocument/2006/relationships/image" Target="../media/transpose_slide43_slide43full_image157.png"/><Relationship Id="rId29" Type="http://schemas.openxmlformats.org/officeDocument/2006/relationships/image" Target="../media/transpose_slide43_slide43full_image166.png"/><Relationship Id="rId1" Type="http://schemas.openxmlformats.org/officeDocument/2006/relationships/slideLayout" Target="../slideLayouts/slideLayout12.xml"/><Relationship Id="rId6" Type="http://schemas.openxmlformats.org/officeDocument/2006/relationships/image" Target="../media/transpose_slide43_slide43full_slide43animated_slide43theta_image143.png"/><Relationship Id="rId11" Type="http://schemas.openxmlformats.org/officeDocument/2006/relationships/image" Target="../media/transpose_slide43_slide43full_image147.png"/><Relationship Id="rId24" Type="http://schemas.openxmlformats.org/officeDocument/2006/relationships/image" Target="../media/transpose_slide43_slide43full_image161.png"/><Relationship Id="rId5" Type="http://schemas.openxmlformats.org/officeDocument/2006/relationships/image" Target="../media/transpose_slide43_slide43full_image142.png"/><Relationship Id="rId15" Type="http://schemas.openxmlformats.org/officeDocument/2006/relationships/image" Target="../media/transpose_slide43_slide43full_image152.png"/><Relationship Id="rId23" Type="http://schemas.openxmlformats.org/officeDocument/2006/relationships/image" Target="../media/transpose_slide43_slide43full_image160.png"/><Relationship Id="rId28" Type="http://schemas.openxmlformats.org/officeDocument/2006/relationships/image" Target="../media/transpose_slide43_slide43full_image165.png"/><Relationship Id="rId10" Type="http://schemas.openxmlformats.org/officeDocument/2006/relationships/image" Target="../media/transpose_slide43_slide43full_image146.png"/><Relationship Id="rId19" Type="http://schemas.openxmlformats.org/officeDocument/2006/relationships/image" Target="../media/transpose_slide43_slide43full_image156.png"/><Relationship Id="rId31" Type="http://schemas.openxmlformats.org/officeDocument/2006/relationships/image" Target="../media/transpose_slide43_slide43full_image168.png"/><Relationship Id="rId4" Type="http://schemas.openxmlformats.org/officeDocument/2006/relationships/image" Target="../media/transpose_slide43_slide43full_image141.png"/><Relationship Id="rId9" Type="http://schemas.openxmlformats.org/officeDocument/2006/relationships/image" Target="../media/transpose_slide43_slide43full_image145.png"/><Relationship Id="rId14" Type="http://schemas.openxmlformats.org/officeDocument/2006/relationships/image" Target="../media/transpose_slide43_slide43full_image151.png"/><Relationship Id="rId22" Type="http://schemas.openxmlformats.org/officeDocument/2006/relationships/image" Target="../media/transpose_slide43_slide43full_image159.png"/><Relationship Id="rId27" Type="http://schemas.openxmlformats.org/officeDocument/2006/relationships/image" Target="../media/transpose_slide43_slide43full_image164.png"/><Relationship Id="rId30" Type="http://schemas.openxmlformats.org/officeDocument/2006/relationships/image" Target="../media/transpose_slide43_slide43full_image167.png"/></Relationships>
</file>

<file path=ppt/slides/_rels/slide44.xml.rels><?xml version="1.0" encoding="utf-8"?><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37.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68.jpeg"/><Relationship Id="rIdSlideFlow118" Type="http://schemas.openxmlformats.org/officeDocument/2006/relationships/image" Target="../media/image91.png"/><Relationship Id="rIdSlideFlow119" Type="http://schemas.openxmlformats.org/officeDocument/2006/relationships/image" Target="../media/image92.png"/><Relationship Id="rIdSlideFlow120" Type="http://schemas.openxmlformats.org/officeDocument/2006/relationships/image" Target="../media/image94.png"/><Relationship Id="rIdSlideFlow121" Type="http://schemas.openxmlformats.org/officeDocument/2006/relationships/image" Target="../media/image93.png"/></Relationships>
</file>

<file path=ppt/slides/_rels/slide45.xml.rels><?xml version="1.0" encoding="utf-8"?><Relationships xmlns="http://schemas.openxmlformats.org/package/2006/relationships"><Relationship Id="rId13" Type="http://schemas.openxmlformats.org/officeDocument/2006/relationships/image" Target="../media/image91.png"/><Relationship Id="rId3" Type="http://schemas.openxmlformats.org/officeDocument/2006/relationships/image" Target="../media/image9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00.png"/><Relationship Id="rId2" Type="http://schemas.openxmlformats.org/officeDocument/2006/relationships/notesSlide" Target="../notesSlides/notesSlide38.xml"/><Relationship Id="rIdRevisedLFR128" Type="http://schemas.openxmlformats.org/officeDocument/2006/relationships/image" Target="../media/revised_lfr19_image102.png"/><Relationship Id="rId16" Type="http://schemas.openxmlformats.org/officeDocument/2006/relationships/image" Target="../media/image94.png"/><Relationship Id="rId1" Type="http://schemas.openxmlformats.org/officeDocument/2006/relationships/slideLayout" Target="../slideLayouts/slideLayout6.xml"/><Relationship Id="rId11" Type="http://schemas.openxmlformats.org/officeDocument/2006/relationships/image" Target="../media/image790.png"/><Relationship Id="rId15" Type="http://schemas.openxmlformats.org/officeDocument/2006/relationships/image" Target="../media/image93.png"/><Relationship Id="rId10" Type="http://schemas.openxmlformats.org/officeDocument/2006/relationships/image" Target="../media/image82.png"/><Relationship Id="rId9" Type="http://schemas.openxmlformats.org/officeDocument/2006/relationships/image" Target="../media/image770.png"/><Relationship Id="rId14" Type="http://schemas.openxmlformats.org/officeDocument/2006/relationships/image" Target="../media/image92.png"/><Relationship Id="rIdSlideFlow114" Type="http://schemas.openxmlformats.org/officeDocument/2006/relationships/image" Target="../media/revised_lfr19_image96.png"/><Relationship Id="rIdSlideFlow115" Type="http://schemas.openxmlformats.org/officeDocument/2006/relationships/image" Target="../media/image722.png"/><Relationship Id="rIdSlideFlow116" Type="http://schemas.openxmlformats.org/officeDocument/2006/relationships/image" Target="../media/image81.png"/><Relationship Id="rIdSlideFlow117" Type="http://schemas.openxmlformats.org/officeDocument/2006/relationships/image" Target="../media/image740.png"/><Relationship Id="rIdSlideFlow118" Type="http://schemas.openxmlformats.org/officeDocument/2006/relationships/image" Target="../media/image751.png"/><Relationship Id="rIdSlideFlow119" Type="http://schemas.openxmlformats.org/officeDocument/2006/relationships/image" Target="../media/revised_lfr19_image102.png"/><Relationship Id="rIdSlideFlow120" Type="http://schemas.openxmlformats.org/officeDocument/2006/relationships/image" Target="../media/extraction20_image70.png"/><Relationship Id="rIdSlideFlow121" Type="http://schemas.openxmlformats.org/officeDocument/2006/relationships/image" Target="../media/image67.png"/><Relationship Id="rIdSlideFlow122" Type="http://schemas.openxmlformats.org/officeDocument/2006/relationships/image" Target="../media/image68.jpeg"/><Relationship Id="rIdSlideFlow123" Type="http://schemas.openxmlformats.org/officeDocument/2006/relationships/image" Target="../media/image7.jpg"/><Relationship Id="rIdSlideFlow124" Type="http://schemas.openxmlformats.org/officeDocument/2006/relationships/image" Target="../media/image114.png"/><Relationship Id="rIdSlideFlow125" Type="http://schemas.openxmlformats.org/officeDocument/2006/relationships/image" Target="../media/image115.png"/><Relationship Id="rIdSlideFlow126" Type="http://schemas.openxmlformats.org/officeDocument/2006/relationships/image" Target="../media/image97.png"/></Relationships>
</file>

<file path=ppt/slides/_rels/slide46.xml.rels><?xml version="1.0" encoding="utf-8"?><Relationships xmlns="http://schemas.openxmlformats.org/package/2006/relationships"><Relationship Id="rId8" Type="http://schemas.openxmlformats.org/officeDocument/2006/relationships/image" Target="../media/image115.png"/><Relationship Id="rId3" Type="http://schemas.openxmlformats.org/officeDocument/2006/relationships/image" Target="../media/image95.png"/><Relationship Id="rId7" Type="http://schemas.openxmlformats.org/officeDocument/2006/relationships/image" Target="../media/image114.png"/><Relationship Id="rId2" Type="http://schemas.openxmlformats.org/officeDocument/2006/relationships/notesSlide" Target="../notesSlides/notesSlide39.xml"/><Relationship Id="rId1" Type="http://schemas.openxmlformats.org/officeDocument/2006/relationships/slideLayout" Target="../slideLayouts/slideLayout6.xml"/><Relationship Id="rId6" Type="http://schemas.openxmlformats.org/officeDocument/2006/relationships/image" Target="../media/image110.png"/><Relationship Id="rId5" Type="http://schemas.openxmlformats.org/officeDocument/2006/relationships/image" Target="../media/image97.png"/><Relationship Id="rId4" Type="http://schemas.openxmlformats.org/officeDocument/2006/relationships/image" Target="../media/image96.png"/><Relationship Id="rIdSlideFlow108" Type="http://schemas.openxmlformats.org/officeDocument/2006/relationships/image" Target="../media/image90.png"/><Relationship Id="rIdSlideFlow109" Type="http://schemas.openxmlformats.org/officeDocument/2006/relationships/image" Target="../media/revised_lfr19_image96.png"/><Relationship Id="rIdSlideFlow110" Type="http://schemas.openxmlformats.org/officeDocument/2006/relationships/image" Target="../media/image770.png"/><Relationship Id="rIdSlideFlow111" Type="http://schemas.openxmlformats.org/officeDocument/2006/relationships/image" Target="../media/image82.png"/><Relationship Id="rIdSlideFlow112" Type="http://schemas.openxmlformats.org/officeDocument/2006/relationships/image" Target="../media/image790.png"/><Relationship Id="rIdSlideFlow113" Type="http://schemas.openxmlformats.org/officeDocument/2006/relationships/image" Target="../media/image800.png"/><Relationship Id="rIdSlideFlow114" Type="http://schemas.openxmlformats.org/officeDocument/2006/relationships/image" Target="../media/revised_lfr19_image102.png"/><Relationship Id="rIdSlideFlow115" Type="http://schemas.openxmlformats.org/officeDocument/2006/relationships/image" Target="../media/image731.png"/><Relationship Id="rIdSlideFlow116" Type="http://schemas.openxmlformats.org/officeDocument/2006/relationships/image" Target="../media/image93.png"/></Relationships>
</file>

<file path=ppt/slides/_rels/slide47.xml.rels><?xml version="1.0" encoding="utf-8"?><Relationships xmlns="http://schemas.openxmlformats.org/package/2006/relationships"><Relationship Id="rId3" Type="http://schemas.openxmlformats.org/officeDocument/2006/relationships/image" Target="../media/image116.png"/><Relationship Id="rId2" Type="http://schemas.openxmlformats.org/officeDocument/2006/relationships/notesSlide" Target="../notesSlides/notesSlide40.xml"/><Relationship Id="rId1" Type="http://schemas.openxmlformats.org/officeDocument/2006/relationships/slideLayout" Target="../slideLayouts/slideLayout6.xml"/><Relationship Id="rId4" Type="http://schemas.openxmlformats.org/officeDocument/2006/relationships/image" Target="../media/image115.png"/><Relationship Id="rIdSlideFlow104" Type="http://schemas.openxmlformats.org/officeDocument/2006/relationships/image" Target="../media/image95.png"/><Relationship Id="rIdSlideFlow105" Type="http://schemas.openxmlformats.org/officeDocument/2006/relationships/image" Target="../media/image96.png"/><Relationship Id="rIdSlideFlow106" Type="http://schemas.openxmlformats.org/officeDocument/2006/relationships/image" Target="../media/image110.png"/><Relationship Id="rIdSlideFlow107" Type="http://schemas.openxmlformats.org/officeDocument/2006/relationships/image" Target="../media/image97.png"/></Relationships>
</file>

<file path=ppt/slides/_rels/slide48.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17.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9.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18.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41.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50.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42.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51.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19.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43.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52.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20.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44.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4.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45.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21.png"/><Relationship Id="rIdClosing4" Type="http://schemas.openxmlformats.org/officeDocument/2006/relationships/image" Target="../media/image33.png"/><Relationship Id="rId4" Type="http://schemas.openxmlformats.org/officeDocument/2006/relationships/image" Target="../media/image7.jpg"/></Relationships>
</file>

<file path=ppt/slides/_rels/slide5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6.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46.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7.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7.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8.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8.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9.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9.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60.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0.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23.png"/></Relationships>
</file>

<file path=ppt/slides/_rels/slide61.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22.png"/><Relationship Id="rId2" Type="http://schemas.openxmlformats.org/officeDocument/2006/relationships/notesSlide" Target="../notesSlides/notesSlide51.xml"/><Relationship Id="rId1" Type="http://schemas.openxmlformats.org/officeDocument/2006/relationships/slideLayout" Target="../slideLayouts/slideLayout12.xml"/><Relationship Id="rId4" Type="http://schemas.openxmlformats.org/officeDocument/2006/relationships/image" Target="../media/image124.png"/></Relationships>
</file>

<file path=ppt/slides/_rels/slide62.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2.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26.png"/></Relationships>
</file>

<file path=ppt/slides/_rels/slide63.xml.rels><?xml version="1.0" encoding="UTF-8" standalone="yes"?>
<Relationships xmlns="http://schemas.openxmlformats.org/package/2006/relationships"><Relationship Id="rId3" Type="http://schemas.openxmlformats.org/officeDocument/2006/relationships/image" Target="../media/image122.png"/><Relationship Id="rId2" Type="http://schemas.openxmlformats.org/officeDocument/2006/relationships/notesSlide" Target="../notesSlides/notesSlide53.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27.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m="http://schemas.openxmlformats.org/officeDocument/2006/math" xmlns="">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m="http://schemas.openxmlformats.org/officeDocument/2006/math" xmlns="">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m="http://schemas.openxmlformats.org/officeDocument/2006/math" xmlns="">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m="http://schemas.openxmlformats.org/officeDocument/2006/math" xmlns="">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m="http://schemas.openxmlformats.org/officeDocument/2006/math" xmlns="">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m="http://schemas.openxmlformats.org/officeDocument/2006/math" xmlns="">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m="http://schemas.openxmlformats.org/officeDocument/2006/math" xmlns="">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 xmlns:m="http://schemas.openxmlformats.org/officeDocument/2006/math">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par>
                                <p:cTn id="13" presetID="1" presetClass="mediacall" presetSubtype="0" fill="hold" nodeType="withEffect">
                                  <p:stCondLst>
                                    <p:cond delay="0"/>
                                  </p:stCondLst>
                                  <p:childTnLst>
                                    <p:cmd type="call" cmd="playFrom(0.0)">
                                      <p:cBhvr>
                                        <p:cTn id="14" dur="18000" fill="hold"/>
                                        <p:tgtEl>
                                          <p:spTgt spid="4"/>
                                        </p:tgtEl>
                                      </p:cBhvr>
                                    </p:cmd>
                                  </p:childTnLst>
                                </p:cTn>
                              </p:par>
                              <p:par>
                                <p:cTn id="15" presetID="1" presetClass="entr" presetSubtype="0" fill="hold" nodeType="withEffect">
                                  <p:stCondLst>
                                    <p:cond delay="0"/>
                                  </p:stCondLst>
                                  <p:childTnLst>
                                    <p:set>
                                      <p:cBhvr>
                                        <p:cTn id="16" dur="1" fill="hold">
                                          <p:stCondLst>
                                            <p:cond delay="0"/>
                                          </p:stCondLst>
                                        </p:cTn>
                                        <p:tgtEl>
                                          <p:spTgt spid="4"/>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09"/>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2"/>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3"/>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4"/>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5"/>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8"/>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19"/>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0"/>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1"/>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2"/>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3" repeatCount="indefinite" fill="remove" display="0">
                  <p:stCondLst>
                    <p:cond delay="indefinite"/>
                  </p:stCondLst>
                </p:cTn>
                <p:tgtEl>
                  <p:spTgt spid="4"/>
                </p:tgtEl>
              </p:cMediaNode>
            </p:video>
          </p:childTnLst>
        </p:cTn>
      </p:par>
    </p:tnLst>
    <p:bldLst>
      <p:bldP spid="2" grpId="0"/>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m="http://schemas.openxmlformats.org/officeDocument/2006/math" xmlns="">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m="http://schemas.openxmlformats.org/officeDocument/2006/math" xmlns="">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m="http://schemas.openxmlformats.org/officeDocument/2006/math" xmlns="">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m="http://schemas.openxmlformats.org/officeDocument/2006/math" xmlns="">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m="http://schemas.openxmlformats.org/officeDocument/2006/math" xmlns="">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m="http://schemas.openxmlformats.org/officeDocument/2006/math" xmlns="">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m="http://schemas.openxmlformats.org/officeDocument/2006/math" xmlns="">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 xmlns:m="http://schemas.openxmlformats.org/officeDocument/2006/math">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xmlns:m="http://schemas.openxmlformats.org/officeDocument/2006/math">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 xmlns:m="http://schemas.openxmlformats.org/officeDocument/2006/math">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 xmlns:m="http://schemas.openxmlformats.org/officeDocument/2006/math">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m="http://schemas.openxmlformats.org/officeDocument/2006/math" xmlns="">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m="http://schemas.openxmlformats.org/officeDocument/2006/math" xmlns="">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m="http://schemas.openxmlformats.org/officeDocument/2006/math" xmlns="">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m="http://schemas.openxmlformats.org/officeDocument/2006/math" xmlns="">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m="http://schemas.openxmlformats.org/officeDocument/2006/math" xmlns="">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 xmlns:m="http://schemas.openxmlformats.org/officeDocument/2006/math">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m="http://schemas.openxmlformats.org/officeDocument/2006/math" xmlns="">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m="http://schemas.openxmlformats.org/officeDocument/2006/math" xmlns="">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m="http://schemas.openxmlformats.org/officeDocument/2006/math" xmlns="">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m="http://schemas.openxmlformats.org/officeDocument/2006/math" xmlns="">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m="http://schemas.openxmlformats.org/officeDocument/2006/math" xmlns="">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m="http://schemas.openxmlformats.org/officeDocument/2006/math" xmlns="">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m="http://schemas.openxmlformats.org/officeDocument/2006/math" xmlns="">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m="http://schemas.openxmlformats.org/officeDocument/2006/math" xmlns="">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xmlns="">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mc:AlternateContent xmlns:mc="http://schemas.openxmlformats.org/markup-compatibility/2006" xmlns:a14="http://schemas.microsoft.com/office/drawing/2010/main">
        <mc:Choice Requires="a14">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A suitable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𝚯</m:t>
                    </m:r>
                  </m:oMath>
                </a14:m>
                <a:r>
                  <a:rPr lang="en-GB" sz="2200" b="1" i="0" u="none" baseline="0" dirty="0">
                    <a:solidFill>
                      <a:srgbClr val="252529"/>
                    </a:solidFill>
                    <a:latin typeface="Aptos"/>
                    <a:ea typeface="Aptos"/>
                    <a:cs typeface="Aptos"/>
                  </a:rPr>
                  <a:t> depends on </a:t>
                </a:r>
                <a14:m>
                  <m:oMath xmlns:m="http://schemas.openxmlformats.org/officeDocument/2006/math">
                    <m:r>
                      <a:rPr lang="en-GB" sz="22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2200" dirty="0"/>
              </a:p>
            </p:txBody>
          </p:sp>
        </mc:Choice>
        <mc:Fallback xmlns="">
          <p:sp>
            <p:nvSpPr>
              <p:cNvPr id="107" name="Theta summary title"/>
              <p:cNvSpPr>
                <a:spLocks noRot="1" noChangeAspect="1" noMove="1" noResize="1" noEditPoints="1" noAdjustHandles="1" noChangeArrowheads="1" noChangeShapeType="1" noTextEdit="1"/>
              </p:cNvSpPr>
              <p:nvPr/>
            </p:nvSpPr>
            <p:spPr>
              <a:xfrm>
                <a:off x="3911600" y="374650"/>
                <a:ext cx="4775200" cy="419100"/>
              </a:xfrm>
              <a:prstGeom prst="rect">
                <a:avLst/>
              </a:prstGeom>
              <a:blipFill>
                <a:blip r:embed="rId3"/>
                <a:stretch>
                  <a:fillRect l="-3576" t="-8696" b="-31884"/>
                </a:stretch>
              </a:blipFill>
              <a:ln>
                <a:noFill/>
              </a:ln>
            </p:spPr>
            <p:txBody>
              <a:bodyPr/>
              <a:lstStyle/>
              <a:p>
                <a:r>
                  <a:rPr lang="en-NL">
                    <a:noFill/>
                  </a:rPr>
                  <a:t> </a:t>
                </a:r>
              </a:p>
            </p:txBody>
          </p:sp>
        </mc:Fallback>
      </mc:AlternateContent>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5"/>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xmlns="">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6"/>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xmlns="">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7"/>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xmlns:a14="http://schemas.microsoft.com/office/drawing/2010/main">
        <mc:Choice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xmlns="">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8"/>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xmlns:m="http://schemas.openxmlformats.org/officeDocument/2006/math">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 xmlns:m="http://schemas.openxmlformats.org/officeDocument/2006/math">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p:sp>
        <p:nvSpPr>
          <p:cNvPr id="20" name="Controller">
            <a:extLst>
              <a:ext uri="{FF2B5EF4-FFF2-40B4-BE49-F238E27FC236}">
                <a16:creationId xmlns:a16="http://schemas.microsoft.com/office/drawing/2014/main" id="{78DBC8F3-D54E-F2A5-F4D4-7C717C039440}"/>
              </a:ext>
            </a:extLst>
          </p:cNvPr>
          <p:cNvSpPr/>
          <p:nvPr/>
        </p:nvSpPr>
        <p:spPr>
          <a:xfrm>
            <a:off x="5889282" y="891858"/>
            <a:ext cx="676656" cy="676656"/>
          </a:xfrm>
          <a:prstGeom prst="roundRect">
            <a:avLst>
              <a:gd name="adj" fmla="val 5000"/>
            </a:avLst>
          </a:prstGeom>
          <a:solidFill>
            <a:srgbClr val="FFFFFF"/>
          </a:solidFill>
          <a:ln w="10795">
            <a:solidFill>
              <a:schemeClr val="tx1"/>
            </a:solidFill>
            <a:prstDash val="solid"/>
          </a:ln>
        </p:spPr>
        <p:txBody>
          <a:bodyPr/>
          <a:lstStyle/>
          <a:p>
            <a:endParaRPr lang="en-NL"/>
          </a:p>
        </p:txBody>
      </p:sp>
      <p:sp>
        <p:nvSpPr>
          <p:cNvPr id="17" name="Controller">
            <a:extLst>
              <a:ext uri="{FF2B5EF4-FFF2-40B4-BE49-F238E27FC236}">
                <a16:creationId xmlns:a16="http://schemas.microsoft.com/office/drawing/2014/main" id="{554F8653-08F0-5301-C1AC-BC92E886C4A6}"/>
              </a:ext>
            </a:extLst>
          </p:cNvPr>
          <p:cNvSpPr/>
          <p:nvPr/>
        </p:nvSpPr>
        <p:spPr>
          <a:xfrm>
            <a:off x="1766233" y="888492"/>
            <a:ext cx="676656" cy="676656"/>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xmlns:m="http://schemas.openxmlformats.org/officeDocument/2006/math" xmlns="">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sp>
        <p:nvSpPr>
          <p:cNvPr id="56" name="Controller">
            <a:extLst>
              <a:ext uri="{FF2B5EF4-FFF2-40B4-BE49-F238E27FC236}">
                <a16:creationId xmlns:a16="http://schemas.microsoft.com/office/drawing/2014/main" id="{99686D86-246C-0882-FD3F-B24207115938}"/>
              </a:ext>
            </a:extLst>
          </p:cNvPr>
          <p:cNvSpPr/>
          <p:nvPr/>
        </p:nvSpPr>
        <p:spPr>
          <a:xfrm>
            <a:off x="17705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17705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m="http://schemas.openxmlformats.org/officeDocument/2006/math" xmlns="">
          <p:sp>
            <p:nvSpPr>
              <p:cNvPr id="57" name="Controller label">
                <a:extLst>
                  <a:ext uri="{FF2B5EF4-FFF2-40B4-BE49-F238E27FC236}">
                    <a16:creationId xmlns:a16="http://schemas.microsoft.com/office/drawing/2014/main" id="{3C181149-C897-40DA-8B8D-E085C428D3BF}"/>
                  </a:ext>
                </a:extLst>
              </p:cNvPr>
              <p:cNvSpPr>
                <a:spLocks noRot="1" noChangeAspect="1" noMove="1" noResize="1" noEditPoints="1" noAdjustHandles="1" noChangeArrowheads="1" noChangeShapeType="1" noTextEdit="1"/>
              </p:cNvSpPr>
              <p:nvPr/>
            </p:nvSpPr>
            <p:spPr>
              <a:xfrm>
                <a:off x="1770552" y="980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4572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xmlns:m="http://schemas.openxmlformats.org/officeDocument/2006/math" xmlns="">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457200" y="1037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9" name="Plant measured channel">
                <a:extLst>
                  <a:ext uri="{FF2B5EF4-FFF2-40B4-BE49-F238E27FC236}">
                    <a16:creationId xmlns:a16="http://schemas.microsoft.com/office/drawing/2014/main" id="{CBA17F91-32C2-778C-AEA3-B7706867AA79}"/>
                  </a:ext>
                </a:extLst>
              </p:cNvPr>
              <p:cNvSpPr/>
              <p:nvPr/>
            </p:nvSpPr>
            <p:spPr>
              <a:xfrm>
                <a:off x="33463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xmlns:m="http://schemas.openxmlformats.org/officeDocument/2006/math" xmlns="">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3346308" y="1019238"/>
                <a:ext cx="563880" cy="380619"/>
              </a:xfrm>
              <a:prstGeom prst="rect">
                <a:avLst/>
              </a:prstGeom>
              <a:blipFill>
                <a:blip r:embed="rId6"/>
                <a:stretch>
                  <a:fillRect b="-9524"/>
                </a:stretch>
              </a:blipFill>
              <a:ln>
                <a:noFill/>
              </a:ln>
            </p:spPr>
            <p:txBody>
              <a:bodyPr/>
              <a:lstStyle/>
              <a:p>
                <a:r>
                  <a:rPr lang="en-NL">
                    <a:noFill/>
                  </a:rPr>
                  <a:t> </a:t>
                </a:r>
              </a:p>
            </p:txBody>
          </p:sp>
        </mc:Fallback>
      </mc:AlternateContent>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m="http://schemas.openxmlformats.org/officeDocument/2006/math" xmlns="">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09643"/>
                <a:ext cx="201529"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oMath>
                  </m:oMathPara>
                </a14:m>
                <a:endParaRPr lang="en-NL" dirty="0"/>
              </a:p>
            </p:txBody>
          </p:sp>
        </mc:Choice>
        <mc:Fallback xmlns:m="http://schemas.openxmlformats.org/officeDocument/2006/math" xmlns="">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09643"/>
                <a:ext cx="201529" cy="307777"/>
              </a:xfrm>
              <a:prstGeom prst="rect">
                <a:avLst/>
              </a:prstGeom>
              <a:blipFill>
                <a:blip r:embed="rId8"/>
                <a:stretch>
                  <a:fillRect l="-33333" t="-1961" r="-66667" b="-23529"/>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095123"/>
                <a:ext cx="206916" cy="307777"/>
              </a:xfrm>
              <a:prstGeom prst="rect">
                <a:avLst/>
              </a:prstGeom>
              <a:noFill/>
            </p:spPr>
            <p:txBody>
              <a:bodyPr wrap="none" lIns="0" tIns="0" rIns="0" bIns="0" rtlCol="0">
                <a:spAutoFit/>
              </a:bodyPr>
              <a:lstStyle/>
              <a:p>
                <a:pPr/>
                <a14:m>
                  <m:oMathPara xmlns:m="http://schemas.openxmlformats.org/officeDocument/2006/math">
                    <m:oMath>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oMath>
                  </m:oMathPara>
                </a14:m>
                <a:endParaRPr lang="en-NL" sz="2000" dirty="0"/>
              </a:p>
            </p:txBody>
          </p:sp>
        </mc:Choice>
        <mc:Fallback xmlns:m="http://schemas.openxmlformats.org/officeDocument/2006/math" xmlns="">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095123"/>
                <a:ext cx="206916" cy="307777"/>
              </a:xfrm>
              <a:prstGeom prst="rect">
                <a:avLst/>
              </a:prstGeom>
              <a:blipFill>
                <a:blip r:embed="rId9"/>
                <a:stretch>
                  <a:fillRect l="-20588" t="-4000" r="-61765"/>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0"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0"/>
                <a:stretch>
                  <a:fillRect l="-1770" t="-4082" b="-20408"/>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xmlns:m="http://schemas.openxmlformats.org/officeDocument/2006/math" xmlns="">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p:sp>
        <p:nvSpPr>
          <p:cNvPr id="23" name="Controller">
            <a:extLst>
              <a:ext uri="{FF2B5EF4-FFF2-40B4-BE49-F238E27FC236}">
                <a16:creationId xmlns:a16="http://schemas.microsoft.com/office/drawing/2014/main" id="{1D411108-A9EF-EA44-DABF-FA5387A75CDA}"/>
              </a:ext>
            </a:extLst>
          </p:cNvPr>
          <p:cNvSpPr/>
          <p:nvPr/>
        </p:nvSpPr>
        <p:spPr>
          <a:xfrm>
            <a:off x="5885352" y="889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4" name="Controller label">
                <a:extLst>
                  <a:ext uri="{FF2B5EF4-FFF2-40B4-BE49-F238E27FC236}">
                    <a16:creationId xmlns:a16="http://schemas.microsoft.com/office/drawing/2014/main" id="{4B4EFE33-C7F1-06DB-C3AC-0CF2BE1ED2F0}"/>
                  </a:ext>
                </a:extLst>
              </p:cNvPr>
              <p:cNvSpPr/>
              <p:nvPr/>
            </p:nvSpPr>
            <p:spPr>
              <a:xfrm>
                <a:off x="5885352" y="980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xmlns:m="http://schemas.openxmlformats.org/officeDocument/2006/math" xmlns="">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5885352" y="980630"/>
                <a:ext cx="676656" cy="493395"/>
              </a:xfrm>
              <a:prstGeom prst="rect">
                <a:avLst/>
              </a:prstGeom>
              <a:blipFill>
                <a:blip r:embed="rId14"/>
                <a:stretch>
                  <a:fillRect l="-27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4572000" y="1037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m="http://schemas.openxmlformats.org/officeDocument/2006/math" xmlns="">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4572000" y="1037017"/>
                <a:ext cx="563880" cy="380619"/>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Plant measured channel">
                <a:extLst>
                  <a:ext uri="{FF2B5EF4-FFF2-40B4-BE49-F238E27FC236}">
                    <a16:creationId xmlns:a16="http://schemas.microsoft.com/office/drawing/2014/main" id="{E2B745A6-0C1E-FCCA-8CE2-8CBA087AF257}"/>
                  </a:ext>
                </a:extLst>
              </p:cNvPr>
              <p:cNvSpPr/>
              <p:nvPr/>
            </p:nvSpPr>
            <p:spPr>
              <a:xfrm>
                <a:off x="7461108" y="1019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m="http://schemas.openxmlformats.org/officeDocument/2006/math" xmlns="">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7461108" y="1019238"/>
                <a:ext cx="563880" cy="380619"/>
              </a:xfrm>
              <a:prstGeom prst="rect">
                <a:avLst/>
              </a:prstGeom>
              <a:blipFill>
                <a:blip r:embed="rId16"/>
                <a:stretch>
                  <a:fillRect b="-3175"/>
                </a:stretch>
              </a:blipFill>
              <a:ln>
                <a:noFill/>
              </a:ln>
            </p:spPr>
            <p:txBody>
              <a:bodyPr/>
              <a:lstStyle/>
              <a:p>
                <a:r>
                  <a:rPr lang="en-NL">
                    <a:noFill/>
                  </a:rPr>
                  <a:t> </a:t>
                </a:r>
              </a:p>
            </p:txBody>
          </p:sp>
        </mc:Fallback>
      </mc:AlternateContent>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m="http://schemas.openxmlformats.org/officeDocument/2006/math" xmlns="">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685284"/>
                <a:ext cx="201529" cy="374846"/>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𝑦</m:t>
                              </m:r>
                            </m:e>
                          </m:acc>
                        </m:e>
                      </m:bar>
                    </m:oMath>
                  </m:oMathPara>
                </a14:m>
                <a:endParaRPr lang="en-NL" dirty="0"/>
              </a:p>
            </p:txBody>
          </p:sp>
        </mc:Choice>
        <mc:Fallback xmlns:m="http://schemas.openxmlformats.org/officeDocument/2006/math" xmlns="">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685284"/>
                <a:ext cx="201529" cy="374846"/>
              </a:xfrm>
              <a:prstGeom prst="rect">
                <a:avLst/>
              </a:prstGeom>
              <a:blipFill>
                <a:blip r:embed="rId20"/>
                <a:stretch>
                  <a:fillRect l="-33333" r="-66667" b="-322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E730C26E-DFE9-CA8B-CB78-6CD3DA2D0100}"/>
                  </a:ext>
                </a:extLst>
              </p:cNvPr>
              <p:cNvSpPr txBox="1"/>
              <p:nvPr/>
            </p:nvSpPr>
            <p:spPr>
              <a:xfrm>
                <a:off x="8486242" y="2075513"/>
                <a:ext cx="206915" cy="322268"/>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000" b="0" i="1" smtClean="0">
                              <a:latin typeface="Cambria Math" panose="02040503050406030204" pitchFamily="18" charset="0"/>
                            </a:rPr>
                          </m:ctrlPr>
                        </m:barPr>
                        <m:e>
                          <m:acc>
                            <m:accPr>
                              <m:chr m:val="˜"/>
                              <m:ctrlPr>
                                <a:rPr lang="en-US" sz="2000" b="0" i="1" smtClean="0">
                                  <a:latin typeface="Cambria Math" panose="02040503050406030204" pitchFamily="18" charset="0"/>
                                </a:rPr>
                              </m:ctrlPr>
                            </m:accPr>
                            <m:e>
                              <m:r>
                                <a:rPr lang="en-US" sz="2000" b="0" i="1" smtClean="0">
                                  <a:latin typeface="Cambria Math" panose="02040503050406030204" pitchFamily="18" charset="0"/>
                                </a:rPr>
                                <m:t>𝑢</m:t>
                              </m:r>
                            </m:e>
                          </m:acc>
                        </m:e>
                      </m:bar>
                    </m:oMath>
                  </m:oMathPara>
                </a14:m>
                <a:endParaRPr lang="en-NL" sz="2000" dirty="0"/>
              </a:p>
            </p:txBody>
          </p:sp>
        </mc:Choice>
        <mc:Fallback xmlns:m="http://schemas.openxmlformats.org/officeDocument/2006/math" xmlns="">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86242" y="2075513"/>
                <a:ext cx="206915" cy="322268"/>
              </a:xfrm>
              <a:prstGeom prst="rect">
                <a:avLst/>
              </a:prstGeom>
              <a:blipFill>
                <a:blip r:embed="rId21"/>
                <a:stretch>
                  <a:fillRect l="-17647" r="-64706"/>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1" name="Primal filter matrix"/>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acc>
                                  <m:accPr>
                                    <m:chr m:val="̃"/>
                                    <m:ctrlPr>
                                      <a:rPr sz="1600">
                                        <a:solidFill>
                                          <a:srgbClr val="252529"/>
                                        </a:solidFill>
                                        <a:latin typeface="Cambria Math"/>
                                      </a:rPr>
                                    </m:ctrlPr>
                                  </m:accPr>
                                  <m:e>
                                    <m:r>
                                      <a:rPr sz="1600">
                                        <a:solidFill>
                                          <a:srgbClr val="252529"/>
                                        </a:solidFill>
                                        <a:latin typeface="Cambria Math"/>
                                      </a:rPr>
                                      <m:t>𝑦</m:t>
                                    </m:r>
                                  </m:e>
                                </m:acc>
                              </m:e>
                            </m:mr>
                            <m:mr>
                              <m:e>
                                <m:acc>
                                  <m:accPr>
                                    <m:chr m:val="̃"/>
                                    <m:ctrlPr>
                                      <a:rPr sz="1600">
                                        <a:solidFill>
                                          <a:srgbClr val="252529"/>
                                        </a:solidFill>
                                        <a:latin typeface="Cambria Math"/>
                                      </a:rPr>
                                    </m:ctrlPr>
                                  </m:accPr>
                                  <m:e>
                                    <m:r>
                                      <a:rPr sz="1600">
                                        <a:solidFill>
                                          <a:srgbClr val="252529"/>
                                        </a:solidFill>
                                        <a:latin typeface="Cambria Math"/>
                                      </a:rPr>
                                      <m:t>𝑢</m:t>
                                    </m:r>
                                  </m:e>
                                </m:acc>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r>
                                  <a:rPr sz="1600">
                                    <a:solidFill>
                                      <a:srgbClr val="252529"/>
                                    </a:solidFill>
                                    <a:latin typeface="Cambria Math"/>
                                  </a:rPr>
                                  <m:t>𝐾</m:t>
                                </m:r>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𝑦</m:t>
                                </m:r>
                              </m:e>
                            </m:mr>
                            <m:mr>
                              <m:e>
                                <m:r>
                                  <a:rPr sz="1600">
                                    <a:solidFill>
                                      <a:srgbClr val="252529"/>
                                    </a:solidFill>
                                    <a:latin typeface="Cambria Math"/>
                                  </a:rPr>
                                  <m:t>𝑢</m:t>
                                </m:r>
                              </m:e>
                            </m:mr>
                          </m:m>
                        </m:e>
                      </m:d>
                    </m:oMath>
                  </m:oMathPara>
                </a14:m>
                <a:endParaRPr sz="1600" dirty="0"/>
              </a:p>
            </p:txBody>
          </p:sp>
        </mc:Choice>
        <mc:Fallback xmlns="">
          <p:sp>
            <p:nvSpPr>
              <p:cNvPr id="10001" name="Primal filter matrix"/>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Primal energy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a:solidFill>
                                    <a:srgbClr val="252529"/>
                                  </a:solidFill>
                                  <a:latin typeface="Cambria Math"/>
                                </a:rPr>
                              </m:ctrlPr>
                            </m:dPr>
                            <m:e>
                              <m:r>
                                <a:rPr sz="1600">
                                  <a:solidFill>
                                    <a:srgbClr val="252529"/>
                                  </a:solidFill>
                                  <a:latin typeface="Cambria Math"/>
                                </a:rPr>
                                <m:t>𝑦</m:t>
                              </m: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xmlns:m="http://schemas.openxmlformats.org/officeDocument/2006/math">
          <p:sp>
            <p:nvSpPr>
              <p:cNvPr id="10002" name="Primal energy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Primal controller relation"/>
              <p:cNvSpPr/>
              <p:nvPr/>
            </p:nvSpPr>
            <p:spPr>
              <a:xfrm>
                <a:off x="444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252529"/>
                          </a:solidFill>
                          <a:latin typeface="Cambria Math"/>
                        </a:rPr>
                        <m:t>𝑢</m:t>
                      </m: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r>
                        <a:rPr sz="1600">
                          <a:solidFill>
                            <a:srgbClr val="252529"/>
                          </a:solidFill>
                          <a:latin typeface="Cambria Math"/>
                        </a:rPr>
                        <m:t>𝐾𝑦</m:t>
                      </m: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3" name="Primal controller relation"/>
              <p:cNvSpPr>
                <a:spLocks noRot="1" noChangeAspect="1" noMove="1" noResize="1" noEditPoints="1" noAdjustHandles="1" noChangeArrowheads="1" noChangeShapeType="1" noTextEdit="1"/>
              </p:cNvSpPr>
              <p:nvPr/>
            </p:nvSpPr>
            <p:spPr>
              <a:xfrm>
                <a:off x="444500" y="3812540"/>
                <a:ext cx="3937000" cy="60452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p:cNvSpPr/>
              <p:nvPr/>
            </p:nvSpPr>
            <p:spPr>
              <a:xfrm>
                <a:off x="444500" y="4231705"/>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p:cNvSpPr>
                <a:spLocks noRot="1" noChangeAspect="1" noMove="1" noResize="1" noEditPoints="1" noAdjustHandles="1" noChangeArrowheads="1" noChangeShapeType="1" noTextEdit="1"/>
              </p:cNvSpPr>
              <p:nvPr/>
            </p:nvSpPr>
            <p:spPr>
              <a:xfrm>
                <a:off x="444500" y="4231705"/>
                <a:ext cx="3937000" cy="6400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5" name="Dual Pick Theta"/>
              <p:cNvSpPr/>
              <p:nvPr/>
            </p:nvSpPr>
            <p:spPr>
              <a:xfrm>
                <a:off x="4775200" y="2555875"/>
                <a:ext cx="3911600" cy="247650"/>
              </a:xfrm>
              <a:prstGeom prst="rect">
                <a:avLst/>
              </a:prstGeom>
              <a:noFill/>
              <a:ln>
                <a:noFill/>
              </a:ln>
            </p:spPr>
            <p:txBody>
              <a:bodyPr wrap="none" lIns="0" tIns="0" rIns="0" bIns="0" anchor="ctr">
                <a:noAutofit/>
              </a:bodyPr>
              <a:lstStyle/>
              <a:p>
                <a:pPr algn="l">
                  <a:buNone/>
                </a:pPr>
                <a:r>
                  <a:rPr lang="en-GB" sz="1300" b="1" i="0" u="none" baseline="0" dirty="0">
                    <a:solidFill>
                      <a:srgbClr val="C81919"/>
                    </a:solidFill>
                    <a:latin typeface="Aptos"/>
                    <a:ea typeface="Aptos"/>
                    <a:cs typeface="Aptos"/>
                  </a:rPr>
                  <a:t>Pick </a:t>
                </a:r>
                <a14:m>
                  <m:oMath xmlns:m="http://schemas.openxmlformats.org/officeDocument/2006/math">
                    <m:bar>
                      <m:barPr>
                        <m:pos m:val="bot"/>
                        <m:ctrlPr>
                          <a:rPr lang="en-US" sz="1300" b="1" i="0" u="none" baseline="0" smtClean="0">
                            <a:solidFill>
                              <a:srgbClr val="C81919"/>
                            </a:solidFill>
                            <a:latin typeface="Cambria Math" panose="02040503050406030204" pitchFamily="18" charset="0"/>
                          </a:rPr>
                        </m:ctrlPr>
                      </m:barPr>
                      <m:e>
                        <m:r>
                          <a:rPr lang="en-US" sz="1300" b="1" i="0" u="none" baseline="0" smtClean="0">
                            <a:solidFill>
                              <a:srgbClr val="C81919"/>
                            </a:solidFill>
                            <a:latin typeface="Cambria Math" panose="02040503050406030204" pitchFamily="18" charset="0"/>
                          </a:rPr>
                          <m:t>𝚯</m:t>
                        </m:r>
                      </m:e>
                    </m:bar>
                  </m:oMath>
                </a14:m>
                <a:endParaRPr sz="1300" b="1" dirty="0"/>
              </a:p>
            </p:txBody>
          </p:sp>
        </mc:Choice>
        <mc:Fallback xmlns:m="http://schemas.openxmlformats.org/officeDocument/2006/math" xmlns="">
          <p:sp>
            <p:nvSpPr>
              <p:cNvPr id="10005" name="Dual Pick Theta"/>
              <p:cNvSpPr>
                <a:spLocks noRot="1" noChangeAspect="1" noMove="1" noResize="1" noEditPoints="1" noAdjustHandles="1" noChangeArrowheads="1" noChangeShapeType="1" noTextEdit="1"/>
              </p:cNvSpPr>
              <p:nvPr/>
            </p:nvSpPr>
            <p:spPr>
              <a:xfrm>
                <a:off x="4775200" y="2555875"/>
                <a:ext cx="3911600" cy="247650"/>
              </a:xfrm>
              <a:prstGeom prst="rect">
                <a:avLst/>
              </a:prstGeom>
              <a:blipFill>
                <a:blip r:embed="rId26"/>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6" name="Dual Energy heading"/>
              <p:cNvSpPr/>
              <p:nvPr/>
            </p:nvSpPr>
            <p:spPr>
              <a:xfrm>
                <a:off x="4775200" y="3305175"/>
                <a:ext cx="3911600" cy="247650"/>
              </a:xfrm>
              <a:prstGeom prst="rect">
                <a:avLst/>
              </a:prstGeom>
              <a:noFill/>
              <a:ln>
                <a:noFill/>
              </a:ln>
            </p:spPr>
            <p:txBody>
              <a:bodyPr wrap="none" lIns="0" tIns="0" rIns="0" bIns="0" anchor="ctr">
                <a:noAutofit/>
              </a:bodyPr>
              <a:lstStyle/>
              <a:p>
                <a:r>
                  <a:rPr lang="en-GB" sz="1300" b="1" i="0" u="none" baseline="0" dirty="0">
                    <a:solidFill>
                      <a:srgbClr val="C81919"/>
                    </a:solidFill>
                    <a:latin typeface="Aptos"/>
                    <a:ea typeface="Aptos"/>
                    <a:cs typeface="Aptos"/>
                  </a:rPr>
                  <a:t>Energy loss through </a:t>
                </a:r>
                <a14:m>
                  <m:oMath xmlns:m="http://schemas.openxmlformats.org/officeDocument/2006/math">
                    <m:bar>
                      <m:barPr>
                        <m:pos m:val="bot"/>
                        <m:ctrlPr>
                          <a:rPr lang="en-US" sz="1300" b="1" i="0" smtClean="0">
                            <a:solidFill>
                              <a:srgbClr val="C81919"/>
                            </a:solidFill>
                            <a:latin typeface="Cambria Math" panose="02040503050406030204" pitchFamily="18" charset="0"/>
                          </a:rPr>
                        </m:ctrlPr>
                      </m:barPr>
                      <m:e>
                        <m:r>
                          <a:rPr lang="en-US" sz="1300" b="1" i="0" smtClean="0">
                            <a:solidFill>
                              <a:srgbClr val="C81919"/>
                            </a:solidFill>
                            <a:latin typeface="Cambria Math" panose="02040503050406030204" pitchFamily="18" charset="0"/>
                          </a:rPr>
                          <m:t>𝚯</m:t>
                        </m:r>
                      </m:e>
                    </m:bar>
                  </m:oMath>
                </a14:m>
                <a:endParaRPr sz="1300" dirty="0"/>
              </a:p>
            </p:txBody>
          </p:sp>
        </mc:Choice>
        <mc:Fallback xmlns:m="http://schemas.openxmlformats.org/officeDocument/2006/math" xmlns="">
          <p:sp>
            <p:nvSpPr>
              <p:cNvPr id="10006" name="Dual Energy heading"/>
              <p:cNvSpPr>
                <a:spLocks noRot="1" noChangeAspect="1" noMove="1" noResize="1" noEditPoints="1" noAdjustHandles="1" noChangeArrowheads="1" noChangeShapeType="1" noTextEdit="1"/>
              </p:cNvSpPr>
              <p:nvPr/>
            </p:nvSpPr>
            <p:spPr>
              <a:xfrm>
                <a:off x="4775200" y="3305175"/>
                <a:ext cx="3911600" cy="247650"/>
              </a:xfrm>
              <a:prstGeom prst="rect">
                <a:avLst/>
              </a:prstGeom>
              <a:blipFill>
                <a:blip r:embed="rId27"/>
                <a:stretch>
                  <a:fillRect l="-2492" t="-7317" b="-3170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e>
                            </m:mr>
                            <m:m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e>
                            </m:mr>
                          </m:m>
                        </m:e>
                      </m:d>
                      <m:r>
                        <a:rPr sz="1600">
                          <a:solidFill>
                            <a:srgbClr val="252529"/>
                          </a:solidFill>
                          <a:latin typeface="Cambria Math"/>
                        </a:rPr>
                        <m:t>=</m:t>
                      </m:r>
                      <m:d>
                        <m:dPr>
                          <m:begChr m:val="["/>
                          <m:endChr m:val="]"/>
                          <m:ctrlPr>
                            <a:rPr sz="1600" i="1">
                              <a:solidFill>
                                <a:srgbClr val="252529"/>
                              </a:solidFill>
                              <a:latin typeface="Cambria Math" panose="02040503050406030204" pitchFamily="18" charset="0"/>
                            </a:rPr>
                          </m:ctrlPr>
                        </m:dPr>
                        <m:e>
                          <m:m>
                            <m:mPr>
                              <m:mcs>
                                <m:mc>
                                  <m:mcPr>
                                    <m:count m:val="2"/>
                                    <m:mcJc m:val="center"/>
                                  </m:mcPr>
                                </m:mc>
                              </m:mcs>
                              <m:ctrlPr>
                                <a:rPr sz="1600" i="1">
                                  <a:solidFill>
                                    <a:srgbClr val="252529"/>
                                  </a:solidFill>
                                  <a:latin typeface="Cambria Math" panose="02040503050406030204" pitchFamily="18" charset="0"/>
                                </a:rPr>
                              </m:ctrlPr>
                            </m:mPr>
                            <m:mr>
                              <m:e>
                                <m:r>
                                  <a:rPr sz="1600">
                                    <a:solidFill>
                                      <a:srgbClr val="252529"/>
                                    </a:solidFill>
                                    <a:latin typeface="Cambria Math"/>
                                  </a:rPr>
                                  <m:t>𝐼</m:t>
                                </m:r>
                              </m:e>
                              <m:e>
                                <m:r>
                                  <a:rPr sz="1600">
                                    <a:solidFill>
                                      <a:srgbClr val="252529"/>
                                    </a:solidFill>
                                    <a:latin typeface="Cambria Math"/>
                                  </a:rPr>
                                  <m:t>0</m:t>
                                </m:r>
                              </m:e>
                            </m:mr>
                            <m:mr>
                              <m:e>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e>
                              <m:e>
                                <m:r>
                                  <a:rPr sz="1600">
                                    <a:solidFill>
                                      <a:srgbClr val="252529"/>
                                    </a:solidFill>
                                    <a:latin typeface="Cambria Math"/>
                                  </a:rPr>
                                  <m:t>𝐼</m:t>
                                </m:r>
                              </m:e>
                            </m:mr>
                          </m:m>
                        </m:e>
                      </m:d>
                      <m:d>
                        <m:dPr>
                          <m:begChr m:val="["/>
                          <m:endChr m:val="]"/>
                          <m:ctrlPr>
                            <a:rPr sz="1600" i="1">
                              <a:solidFill>
                                <a:srgbClr val="252529"/>
                              </a:solidFill>
                              <a:latin typeface="Cambria Math" panose="02040503050406030204" pitchFamily="18" charset="0"/>
                            </a:rPr>
                          </m:ctrlPr>
                        </m:dPr>
                        <m:e>
                          <m:m>
                            <m:mPr>
                              <m:mcs>
                                <m:mc>
                                  <m:mcPr>
                                    <m:count m:val="1"/>
                                    <m:mcJc m:val="center"/>
                                  </m:mcPr>
                                </m:mc>
                              </m:mcs>
                              <m:ctrlPr>
                                <a:rPr sz="1600" i="1">
                                  <a:solidFill>
                                    <a:srgbClr val="252529"/>
                                  </a:solidFill>
                                  <a:latin typeface="Cambria Math" panose="02040503050406030204" pitchFamily="18" charset="0"/>
                                </a:rPr>
                              </m:ctrlPr>
                            </m:mPr>
                            <m:mr>
                              <m:e>
                                <m:bar>
                                  <m:barPr>
                                    <m:pos m:val="bot"/>
                                    <m:ctrlPr>
                                      <a:rPr sz="1600">
                                        <a:solidFill>
                                          <a:srgbClr val="252529"/>
                                        </a:solidFill>
                                        <a:latin typeface="Cambria Math"/>
                                      </a:rPr>
                                    </m:ctrlPr>
                                  </m:barPr>
                                  <m:e>
                                    <m:r>
                                      <a:rPr sz="1600">
                                        <a:solidFill>
                                          <a:srgbClr val="252529"/>
                                        </a:solidFill>
                                        <a:latin typeface="Cambria Math"/>
                                      </a:rPr>
                                      <m:t>𝑦</m:t>
                                    </m:r>
                                  </m:e>
                                </m:bar>
                              </m:e>
                            </m:mr>
                            <m:mr>
                              <m:e>
                                <m:bar>
                                  <m:barPr>
                                    <m:pos m:val="bot"/>
                                    <m:ctrlPr>
                                      <a:rPr sz="1600">
                                        <a:solidFill>
                                          <a:srgbClr val="252529"/>
                                        </a:solidFill>
                                        <a:latin typeface="Cambria Math"/>
                                      </a:rPr>
                                    </m:ctrlPr>
                                  </m:barPr>
                                  <m:e>
                                    <m:r>
                                      <a:rPr sz="1600">
                                        <a:solidFill>
                                          <a:srgbClr val="252529"/>
                                        </a:solidFill>
                                        <a:latin typeface="Cambria Math"/>
                                      </a:rPr>
                                      <m:t>𝑢</m:t>
                                    </m:r>
                                  </m:e>
                                </m:bar>
                              </m:e>
                            </m:mr>
                          </m:m>
                        </m:e>
                      </m:d>
                    </m:oMath>
                  </m:oMathPara>
                </a14:m>
                <a:endParaRPr sz="1600" dirty="0"/>
              </a:p>
            </p:txBody>
          </p:sp>
        </mc:Choice>
        <mc:Fallback xmlns="">
          <p:sp>
            <p:nvSpPr>
              <p:cNvPr id="10007" name="Dual filter matrix"/>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2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8" name="Dual energy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1"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08" name="Dual energy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9" name="Dual controller relation"/>
              <p:cNvSpPr/>
              <p:nvPr/>
            </p:nvSpPr>
            <p:spPr>
              <a:xfrm>
                <a:off x="4762500" y="38125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sz="1600">
                              <a:solidFill>
                                <a:srgbClr val="252529"/>
                              </a:solidFill>
                              <a:latin typeface="Cambria Math"/>
                            </a:rPr>
                          </m:ctrlPr>
                        </m:barPr>
                        <m:e>
                          <m:r>
                            <a:rPr sz="1600">
                              <a:solidFill>
                                <a:srgbClr val="252529"/>
                              </a:solidFill>
                              <a:latin typeface="Cambria Math"/>
                            </a:rPr>
                            <m:t>𝑢</m:t>
                          </m:r>
                        </m:e>
                      </m:bar>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m:t>
                      </m:r>
                      <m:sSup>
                        <m:sSupPr>
                          <m:ctrlPr>
                            <a:rPr sz="1600">
                              <a:solidFill>
                                <a:srgbClr val="252529"/>
                              </a:solidFill>
                              <a:latin typeface="Cambria Math"/>
                            </a:rPr>
                          </m:ctrlPr>
                        </m:sSupPr>
                        <m:e>
                          <m:r>
                            <a:rPr sz="1600">
                              <a:solidFill>
                                <a:srgbClr val="252529"/>
                              </a:solidFill>
                              <a:latin typeface="Cambria Math"/>
                            </a:rPr>
                            <m:t>𝐾</m:t>
                          </m:r>
                        </m:e>
                        <m:sup>
                          <m:r>
                            <a:rPr lang="en-US" sz="1600" b="0" i="0" smtClean="0">
                              <a:solidFill>
                                <a:srgbClr val="252529"/>
                              </a:solidFill>
                              <a:latin typeface="Cambria Math" panose="02040503050406030204" pitchFamily="18" charset="0"/>
                            </a:rPr>
                            <m:t>⊤</m:t>
                          </m:r>
                        </m:sup>
                      </m:sSup>
                      <m:bar>
                        <m:barPr>
                          <m:pos m:val="bot"/>
                          <m:ctrlPr>
                            <a:rPr sz="1600">
                              <a:solidFill>
                                <a:srgbClr val="252529"/>
                              </a:solidFill>
                              <a:latin typeface="Cambria Math"/>
                            </a:rPr>
                          </m:ctrlPr>
                        </m:barPr>
                        <m:e>
                          <m:r>
                            <a:rPr sz="1600">
                              <a:solidFill>
                                <a:srgbClr val="252529"/>
                              </a:solidFill>
                              <a:latin typeface="Cambria Math"/>
                            </a:rPr>
                            <m:t>𝑦</m:t>
                          </m:r>
                        </m:e>
                      </m:bar>
                      <m:d>
                        <m:dPr>
                          <m:ctrlPr>
                            <a:rPr sz="1600">
                              <a:solidFill>
                                <a:srgbClr val="252529"/>
                              </a:solidFill>
                              <a:latin typeface="Cambria Math"/>
                            </a:rPr>
                          </m:ctrlPr>
                        </m:dPr>
                        <m:e>
                          <m:r>
                            <a:rPr sz="1600">
                              <a:solidFill>
                                <a:srgbClr val="252529"/>
                              </a:solidFill>
                              <a:latin typeface="Cambria Math"/>
                            </a:rPr>
                            <m:t>𝑡</m:t>
                          </m:r>
                        </m:e>
                      </m:d>
                    </m:oMath>
                  </m:oMathPara>
                </a14:m>
                <a:endParaRPr sz="1600" dirty="0"/>
              </a:p>
            </p:txBody>
          </p:sp>
        </mc:Choice>
        <mc:Fallback xmlns="">
          <p:sp>
            <p:nvSpPr>
              <p:cNvPr id="10009" name="Dual controller relation"/>
              <p:cNvSpPr>
                <a:spLocks noRot="1" noChangeAspect="1" noMove="1" noResize="1" noEditPoints="1" noAdjustHandles="1" noChangeArrowheads="1" noChangeShapeType="1" noTextEdit="1"/>
              </p:cNvSpPr>
              <p:nvPr/>
            </p:nvSpPr>
            <p:spPr>
              <a:xfrm>
                <a:off x="4762500" y="3812540"/>
                <a:ext cx="3937000" cy="60452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p:cNvSpPr/>
              <p:nvPr/>
            </p:nvSpPr>
            <p:spPr>
              <a:xfrm>
                <a:off x="4762500" y="416287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p:cNvSpPr>
                <a:spLocks noRot="1" noChangeAspect="1" noMove="1" noResize="1" noEditPoints="1" noAdjustHandles="1" noChangeArrowheads="1" noChangeShapeType="1" noTextEdit="1"/>
              </p:cNvSpPr>
              <p:nvPr/>
            </p:nvSpPr>
            <p:spPr>
              <a:xfrm>
                <a:off x="4762500" y="4162870"/>
                <a:ext cx="3937000" cy="640080"/>
              </a:xfrm>
              <a:prstGeom prst="rect">
                <a:avLst/>
              </a:prstGeom>
              <a:blipFill>
                <a:blip r:embed="rId3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TextBox 20">
                <a:extLst>
                  <a:ext uri="{FF2B5EF4-FFF2-40B4-BE49-F238E27FC236}">
                    <a16:creationId xmlns:a16="http://schemas.microsoft.com/office/drawing/2014/main" id="{7BC64A6E-AE17-5108-FB6D-93C8EDD0FC25}"/>
                  </a:ext>
                </a:extLst>
              </p:cNvPr>
              <p:cNvSpPr txBox="1"/>
              <p:nvPr/>
            </p:nvSpPr>
            <p:spPr>
              <a:xfrm>
                <a:off x="4081595" y="1055658"/>
                <a:ext cx="318998" cy="307777"/>
              </a:xfrm>
              <a:prstGeom prst="rect">
                <a:avLst/>
              </a:prstGeom>
              <a:noFill/>
            </p:spPr>
            <p:txBody>
              <a:bodyPr wrap="none" lIns="0" tIns="0" rIns="0" bIns="0" rtlCol="0">
                <a:spAutoFit/>
              </a:bodyPr>
              <a:lstStyle/>
              <a:p>
                <a:pPr/>
                <a14:m>
                  <m:oMathPara xmlns:m="http://schemas.openxmlformats.org/officeDocument/2006/math">
                    <m:oMath>
                      <m:r>
                        <a:rPr lang="en-NL" sz="2000" i="1" smtClean="0">
                          <a:latin typeface="Cambria Math" panose="02040503050406030204" pitchFamily="18" charset="0"/>
                          <a:ea typeface="Cambria Math" panose="02040503050406030204" pitchFamily="18" charset="0"/>
                        </a:rPr>
                        <m:t>⇔</m:t>
                      </m:r>
                    </m:oMath>
                  </m:oMathPara>
                </a14:m>
                <a:endParaRPr lang="en-NL" dirty="0"/>
              </a:p>
            </p:txBody>
          </p:sp>
        </mc:Choice>
        <mc:Fallback xmlns:m="http://schemas.openxmlformats.org/officeDocument/2006/math" xmlns="">
          <p:sp>
            <p:nvSpPr>
              <p:cNvPr id="21" name="TextBox 20">
                <a:extLst>
                  <a:ext uri="{FF2B5EF4-FFF2-40B4-BE49-F238E27FC236}">
                    <a16:creationId xmlns:a16="http://schemas.microsoft.com/office/drawing/2014/main" id="{7BC64A6E-AE17-5108-FB6D-93C8EDD0FC25}"/>
                  </a:ext>
                </a:extLst>
              </p:cNvPr>
              <p:cNvSpPr txBox="1">
                <a:spLocks noRot="1" noChangeAspect="1" noMove="1" noResize="1" noEditPoints="1" noAdjustHandles="1" noChangeArrowheads="1" noChangeShapeType="1" noTextEdit="1"/>
              </p:cNvSpPr>
              <p:nvPr/>
            </p:nvSpPr>
            <p:spPr>
              <a:xfrm>
                <a:off x="4081595" y="1055658"/>
                <a:ext cx="318998" cy="307777"/>
              </a:xfrm>
              <a:prstGeom prst="rect">
                <a:avLst/>
              </a:prstGeom>
              <a:blipFill>
                <a:blip r:embed="rId32"/>
                <a:stretch>
                  <a:fillRect l="-15385" r="-1346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1" name="Primal filtered inequality"/>
              <p:cNvSpPr/>
              <p:nvPr/>
            </p:nvSpPr>
            <p:spPr>
              <a:xfrm>
                <a:off x="444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𝑢</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acc>
                                <m:accPr>
                                  <m:chr m:val="̃"/>
                                  <m:ctrlPr>
                                    <a:rPr sz="1600">
                                      <a:solidFill>
                                        <a:srgbClr val="252529"/>
                                      </a:solidFill>
                                      <a:latin typeface="Cambria Math"/>
                                    </a:rPr>
                                  </m:ctrlPr>
                                </m:accPr>
                                <m:e>
                                  <m:r>
                                    <a:rPr sz="1600">
                                      <a:solidFill>
                                        <a:srgbClr val="252529"/>
                                      </a:solidFill>
                                      <a:latin typeface="Cambria Math"/>
                                    </a:rPr>
                                    <m:t>𝑦</m:t>
                                  </m:r>
                                </m:e>
                              </m:acc>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21" name="Primal filtered inequality"/>
              <p:cNvSpPr>
                <a:spLocks noRot="1" noChangeAspect="1" noMove="1" noResize="1" noEditPoints="1" noAdjustHandles="1" noChangeArrowheads="1" noChangeShapeType="1" noTextEdit="1"/>
              </p:cNvSpPr>
              <p:nvPr/>
            </p:nvSpPr>
            <p:spPr>
              <a:xfrm>
                <a:off x="444500" y="3474720"/>
                <a:ext cx="3937000" cy="568960"/>
              </a:xfrm>
              <a:prstGeom prst="rect">
                <a:avLst/>
              </a:prstGeom>
              <a:blipFill>
                <a:blip r:embed="rId3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Dual filtered inequality"/>
              <p:cNvSpPr/>
              <p:nvPr/>
            </p:nvSpPr>
            <p:spPr>
              <a:xfrm>
                <a:off x="4762500" y="3474720"/>
                <a:ext cx="39370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𝑢</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r>
                        <a:rPr sz="1600">
                          <a:solidFill>
                            <a:srgbClr val="252529"/>
                          </a:solidFill>
                          <a:latin typeface="Cambria Math"/>
                        </a:rPr>
                        <m:t>≤</m:t>
                      </m:r>
                      <m:sSup>
                        <m:sSupPr>
                          <m:ctrlPr>
                            <a:rPr sz="1600" i="1">
                              <a:solidFill>
                                <a:srgbClr val="252529"/>
                              </a:solidFill>
                              <a:latin typeface="Cambria Math" panose="02040503050406030204" pitchFamily="18" charset="0"/>
                            </a:rPr>
                          </m:ctrlPr>
                        </m:sSupPr>
                        <m:e>
                          <m:d>
                            <m:dPr>
                              <m:begChr m:val="‖"/>
                              <m:endChr m:val="‖"/>
                              <m:ctrlPr>
                                <a:rPr sz="1600" i="1">
                                  <a:solidFill>
                                    <a:srgbClr val="252529"/>
                                  </a:solidFill>
                                  <a:latin typeface="Cambria Math" panose="02040503050406030204" pitchFamily="18" charset="0"/>
                                </a:rPr>
                              </m:ctrlPr>
                            </m:dPr>
                            <m:e>
                              <m:bar>
                                <m:barPr>
                                  <m:pos m:val="bot"/>
                                  <m:ctrlPr>
                                    <a:rPr sz="1600" i="1">
                                      <a:solidFill>
                                        <a:srgbClr val="252529"/>
                                      </a:solidFill>
                                      <a:latin typeface="Cambria Math" panose="02040503050406030204" pitchFamily="18" charset="0"/>
                                    </a:rPr>
                                  </m:ctrlPr>
                                </m:barPr>
                                <m:e>
                                  <m:acc>
                                    <m:accPr>
                                      <m:chr m:val="̃"/>
                                      <m:ctrlPr>
                                        <a:rPr sz="1600">
                                          <a:solidFill>
                                            <a:srgbClr val="252529"/>
                                          </a:solidFill>
                                          <a:latin typeface="Cambria Math"/>
                                        </a:rPr>
                                      </m:ctrlPr>
                                    </m:accPr>
                                    <m:e>
                                      <m:r>
                                        <a:rPr sz="1600">
                                          <a:solidFill>
                                            <a:srgbClr val="252529"/>
                                          </a:solidFill>
                                          <a:latin typeface="Cambria Math"/>
                                        </a:rPr>
                                        <m:t>𝑦</m:t>
                                      </m:r>
                                    </m:e>
                                  </m:acc>
                                </m:e>
                              </m:bar>
                              <m:d>
                                <m:dPr>
                                  <m:ctrlPr>
                                    <a:rPr sz="1600">
                                      <a:solidFill>
                                        <a:srgbClr val="252529"/>
                                      </a:solidFill>
                                      <a:latin typeface="Cambria Math"/>
                                    </a:rPr>
                                  </m:ctrlPr>
                                </m:dPr>
                                <m:e>
                                  <m:r>
                                    <a:rPr sz="1600">
                                      <a:solidFill>
                                        <a:srgbClr val="252529"/>
                                      </a:solidFill>
                                      <a:latin typeface="Cambria Math"/>
                                    </a:rPr>
                                    <m:t>𝑡</m:t>
                                  </m:r>
                                </m:e>
                              </m:d>
                            </m:e>
                          </m:d>
                        </m:e>
                        <m:sup>
                          <m:r>
                            <a:rPr sz="1600">
                              <a:solidFill>
                                <a:srgbClr val="252529"/>
                              </a:solidFill>
                              <a:latin typeface="Cambria Math"/>
                            </a:rPr>
                            <m:t>2</m:t>
                          </m:r>
                        </m:sup>
                      </m:sSup>
                    </m:oMath>
                  </m:oMathPara>
                </a14:m>
                <a:endParaRPr sz="1600" dirty="0"/>
              </a:p>
            </p:txBody>
          </p:sp>
        </mc:Choice>
        <mc:Fallback xmlns="">
          <p:sp>
            <p:nvSpPr>
              <p:cNvPr id="10032" name="Dual filtered inequality"/>
              <p:cNvSpPr>
                <a:spLocks noRot="1" noChangeAspect="1" noMove="1" noResize="1" noEditPoints="1" noAdjustHandles="1" noChangeArrowheads="1" noChangeShapeType="1" noTextEdit="1"/>
              </p:cNvSpPr>
              <p:nvPr/>
            </p:nvSpPr>
            <p:spPr>
              <a:xfrm>
                <a:off x="4762500" y="3474720"/>
                <a:ext cx="3937000" cy="568960"/>
              </a:xfrm>
              <a:prstGeom prst="rect">
                <a:avLst/>
              </a:prstGeom>
              <a:blipFill>
                <a:blip r:embed="rId34"/>
                <a:stretch>
                  <a:fillRect/>
                </a:stretch>
              </a:blipFill>
              <a:ln>
                <a:noFill/>
              </a:ln>
            </p:spPr>
            <p:txBody>
              <a:bodyPr/>
              <a:lstStyle/>
              <a:p>
                <a:r>
                  <a:rPr lang="en-NL">
                    <a:noFill/>
                  </a:rPr>
                  <a:t> </a:t>
                </a:r>
              </a:p>
            </p:txBody>
          </p:sp>
        </mc:Fallback>
      </mc:AlternateContent>
      <p:sp>
        <p:nvSpPr>
          <p:cNvPr id="10033" name="Primal final inequality red box"/>
          <p:cNvSpPr/>
          <p:nvPr/>
        </p:nvSpPr>
        <p:spPr>
          <a:xfrm>
            <a:off x="1397010" y="3541134"/>
            <a:ext cx="2032000" cy="703580"/>
          </a:xfrm>
          <a:prstGeom prst="rect">
            <a:avLst/>
          </a:prstGeom>
          <a:noFill/>
          <a:ln w="25400">
            <a:solidFill>
              <a:srgbClr val="C81919"/>
            </a:solidFill>
          </a:ln>
        </p:spPr>
      </p:sp>
      <p:sp>
        <p:nvSpPr>
          <p:cNvPr id="10034" name="Dual final inequality red box"/>
          <p:cNvSpPr/>
          <p:nvPr/>
        </p:nvSpPr>
        <p:spPr>
          <a:xfrm>
            <a:off x="5714990" y="3554852"/>
            <a:ext cx="2032000" cy="703580"/>
          </a:xfrm>
          <a:prstGeom prst="rect">
            <a:avLst/>
          </a:prstGeom>
          <a:noFill/>
          <a:ln w="25400">
            <a:solidFill>
              <a:srgbClr val="C81919"/>
            </a:solidFill>
          </a:ln>
        </p:spPr>
      </p:sp>
      <p:sp>
        <p:nvSpPr>
          <p:cNvPr id="5" name="TextBox 4">
            <a:extLst>
              <a:ext uri="{FF2B5EF4-FFF2-40B4-BE49-F238E27FC236}">
                <a16:creationId xmlns:a16="http://schemas.microsoft.com/office/drawing/2014/main" id="{C4D7C24D-8A8A-964B-7EF1-3CE111706C19}"/>
              </a:ext>
            </a:extLst>
          </p:cNvPr>
          <p:cNvSpPr txBox="1"/>
          <p:nvPr/>
        </p:nvSpPr>
        <p:spPr>
          <a:xfrm>
            <a:off x="2821782" y="4355335"/>
            <a:ext cx="3487750" cy="300082"/>
          </a:xfrm>
          <a:prstGeom prst="rect">
            <a:avLst/>
          </a:prstGeom>
          <a:noFill/>
        </p:spPr>
        <p:txBody>
          <a:bodyPr wrap="none" rtlCol="0">
            <a:spAutoFit/>
          </a:bodyPr>
          <a:lstStyle/>
          <a:p>
            <a:r>
              <a:rPr lang="en-US" b="1" dirty="0">
                <a:solidFill>
                  <a:srgbClr val="C00000"/>
                </a:solidFill>
              </a:rPr>
              <a:t>Identical inequality </a:t>
            </a:r>
            <a:r>
              <a:rPr lang="en-US" b="1" dirty="0" err="1">
                <a:solidFill>
                  <a:srgbClr val="C00000"/>
                </a:solidFill>
              </a:rPr>
              <a:t>w.r.t.</a:t>
            </a:r>
            <a:r>
              <a:rPr lang="en-US" b="1" dirty="0">
                <a:solidFill>
                  <a:srgbClr val="C00000"/>
                </a:solidFill>
              </a:rPr>
              <a:t> system channels</a:t>
            </a:r>
            <a:endParaRPr lang="en-NL" b="1" dirty="0">
              <a:solidFill>
                <a:srgbClr val="C00000"/>
              </a:solidFill>
            </a:endParaRPr>
          </a:p>
        </p:txBody>
      </p:sp>
    </p:spTree>
    <p:extLst>
      <p:ext uri="{BB962C8B-B14F-4D97-AF65-F5344CB8AC3E}">
        <p14:creationId xmlns:p14="http://schemas.microsoft.com/office/powerpoint/2010/main" val="19008185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9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9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6"/>
                                        </p:tgtEl>
                                        <p:attrNameLst>
                                          <p:attrName>style.visibility</p:attrName>
                                        </p:attrNameLst>
                                      </p:cBhvr>
                                      <p:to>
                                        <p:strVal val="visible"/>
                                      </p:to>
                                    </p:set>
                                  </p:childTnLst>
                                </p:cTn>
                              </p:par>
                              <p:par>
                                <p:cTn id="27" presetID="1" presetClass="exit" presetSubtype="0" fill="hold" grpId="0" nodeType="withEffect">
                                  <p:stCondLst>
                                    <p:cond delay="0"/>
                                  </p:stCondLst>
                                  <p:childTnLst>
                                    <p:set>
                                      <p:cBhvr>
                                        <p:cTn id="28" dur="1" fill="hold">
                                          <p:stCondLst>
                                            <p:cond delay="0"/>
                                          </p:stCondLst>
                                        </p:cTn>
                                        <p:tgtEl>
                                          <p:spTgt spid="17"/>
                                        </p:tgtEl>
                                        <p:attrNameLst>
                                          <p:attrName>style.visibility</p:attrName>
                                        </p:attrNameLst>
                                      </p:cBhvr>
                                      <p:to>
                                        <p:strVal val="hidden"/>
                                      </p:to>
                                    </p:set>
                                  </p:childTnLst>
                                </p:cTn>
                              </p:par>
                              <p:par>
                                <p:cTn id="29" presetID="1" presetClass="entr" presetSubtype="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childTnLst>
                                </p:cTn>
                              </p:par>
                              <p:par>
                                <p:cTn id="31" presetID="1" presetClass="exit" presetSubtype="0" fill="hold" grpId="0" nodeType="withEffect">
                                  <p:stCondLst>
                                    <p:cond delay="0"/>
                                  </p:stCondLst>
                                  <p:childTnLst>
                                    <p:set>
                                      <p:cBhvr>
                                        <p:cTn id="32" dur="1" fill="hold">
                                          <p:stCondLst>
                                            <p:cond delay="0"/>
                                          </p:stCondLst>
                                        </p:cTn>
                                        <p:tgtEl>
                                          <p:spTgt spid="20"/>
                                        </p:tgtEl>
                                        <p:attrNameLst>
                                          <p:attrName>style.visibility</p:attrName>
                                        </p:attrNameLst>
                                      </p:cBhvr>
                                      <p:to>
                                        <p:strVal val="hidden"/>
                                      </p:to>
                                    </p:set>
                                  </p:childTnLst>
                                </p:cTn>
                              </p:par>
                              <p:par>
                                <p:cTn id="33" presetID="1" presetClass="entr" presetSubtype="0" fill="hold" grpId="0" nodeType="withEffect">
                                  <p:stCondLst>
                                    <p:cond delay="0"/>
                                  </p:stCondLst>
                                  <p:childTnLst>
                                    <p:set>
                                      <p:cBhvr>
                                        <p:cTn id="34" dur="1" fill="hold">
                                          <p:stCondLst>
                                            <p:cond delay="0"/>
                                          </p:stCondLst>
                                        </p:cTn>
                                        <p:tgtEl>
                                          <p:spTgt spid="2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2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2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3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3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3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37"/>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38"/>
                                        </p:tgtEl>
                                        <p:attrNameLst>
                                          <p:attrName>style.visibility</p:attrName>
                                        </p:attrNameLst>
                                      </p:cBhvr>
                                      <p:to>
                                        <p:strVal val="visible"/>
                                      </p:to>
                                    </p:set>
                                  </p:childTnLst>
                                </p:cTn>
                              </p:par>
                            </p:childTnLst>
                          </p:cTn>
                        </p:par>
                      </p:childTnLst>
                    </p:cTn>
                  </p:par>
                  <p:par>
                    <p:cTn id="53" fill="hold">
                      <p:stCondLst>
                        <p:cond delay="indefinite"/>
                      </p:stCondLst>
                      <p:childTnLst>
                        <p:par>
                          <p:cTn id="54" fill="hold">
                            <p:stCondLst>
                              <p:cond delay="0"/>
                            </p:stCondLst>
                            <p:childTnLst>
                              <p:par>
                                <p:cTn id="55" presetID="1" presetClass="entr" presetSubtype="0" fill="hold" grpId="0" nodeType="clickEffect">
                                  <p:stCondLst>
                                    <p:cond delay="0"/>
                                  </p:stCondLst>
                                  <p:childTnLst>
                                    <p:set>
                                      <p:cBhvr>
                                        <p:cTn id="56" dur="1" fill="hold">
                                          <p:stCondLst>
                                            <p:cond delay="0"/>
                                          </p:stCondLst>
                                        </p:cTn>
                                        <p:tgtEl>
                                          <p:spTgt spid="1000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005"/>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007"/>
                                        </p:tgtEl>
                                        <p:attrNameLst>
                                          <p:attrName>style.visibility</p:attrName>
                                        </p:attrNameLst>
                                      </p:cBhvr>
                                      <p:to>
                                        <p:strVal val="visible"/>
                                      </p:to>
                                    </p:set>
                                  </p:childTnLst>
                                </p:cTn>
                              </p:par>
                              <p:par>
                                <p:cTn id="61" presetID="1" presetClass="entr" presetSubtype="0" fill="hold" grpId="0" nodeType="withEffect">
                                  <p:stCondLst>
                                    <p:cond delay="0"/>
                                  </p:stCondLst>
                                  <p:childTnLst>
                                    <p:set>
                                      <p:cBhvr>
                                        <p:cTn id="62" dur="1" fill="hold">
                                          <p:stCondLst>
                                            <p:cond delay="0"/>
                                          </p:stCondLst>
                                        </p:cTn>
                                        <p:tgtEl>
                                          <p:spTgt spid="14"/>
                                        </p:tgtEl>
                                        <p:attrNameLst>
                                          <p:attrName>style.visibility</p:attrName>
                                        </p:attrNameLst>
                                      </p:cBhvr>
                                      <p:to>
                                        <p:strVal val="visible"/>
                                      </p:to>
                                    </p:set>
                                  </p:childTnLst>
                                </p:cTn>
                              </p:par>
                            </p:childTnLst>
                          </p:cTn>
                        </p:par>
                      </p:childTnLst>
                    </p:cTn>
                  </p:par>
                  <p:par>
                    <p:cTn id="63" fill="hold">
                      <p:stCondLst>
                        <p:cond delay="indefinite"/>
                      </p:stCondLst>
                      <p:childTnLst>
                        <p:par>
                          <p:cTn id="64" fill="hold">
                            <p:stCondLst>
                              <p:cond delay="0"/>
                            </p:stCondLst>
                            <p:childTnLst>
                              <p:par>
                                <p:cTn id="65" presetID="1" presetClass="entr" presetSubtype="0" fill="hold" grpId="0" nodeType="clickEffect">
                                  <p:stCondLst>
                                    <p:cond delay="0"/>
                                  </p:stCondLst>
                                  <p:childTnLst>
                                    <p:set>
                                      <p:cBhvr>
                                        <p:cTn id="66" dur="1" fill="hold">
                                          <p:stCondLst>
                                            <p:cond delay="0"/>
                                          </p:stCondLst>
                                        </p:cTn>
                                        <p:tgtEl>
                                          <p:spTgt spid="18"/>
                                        </p:tgtEl>
                                        <p:attrNameLst>
                                          <p:attrName>style.visibility</p:attrName>
                                        </p:attrNameLst>
                                      </p:cBhvr>
                                      <p:to>
                                        <p:strVal val="visible"/>
                                      </p:to>
                                    </p:set>
                                  </p:childTnLst>
                                </p:cTn>
                              </p:par>
                              <p:par>
                                <p:cTn id="67" presetID="1" presetClass="entr" presetSubtype="0" fill="hold" grpId="0" nodeType="withEffect">
                                  <p:stCondLst>
                                    <p:cond delay="0"/>
                                  </p:stCondLst>
                                  <p:childTnLst>
                                    <p:set>
                                      <p:cBhvr>
                                        <p:cTn id="68" dur="1" fill="hold">
                                          <p:stCondLst>
                                            <p:cond delay="0"/>
                                          </p:stCondLst>
                                        </p:cTn>
                                        <p:tgtEl>
                                          <p:spTgt spid="10006"/>
                                        </p:tgtEl>
                                        <p:attrNameLst>
                                          <p:attrName>style.visibility</p:attrName>
                                        </p:attrNameLst>
                                      </p:cBhvr>
                                      <p:to>
                                        <p:strVal val="visible"/>
                                      </p:to>
                                    </p:set>
                                  </p:childTnLst>
                                </p:cTn>
                              </p:par>
                            </p:childTnLst>
                          </p:cTn>
                        </p:par>
                      </p:childTnLst>
                    </p:cTn>
                  </p:par>
                  <p:par>
                    <p:cTn id="69" fill="hold">
                      <p:stCondLst>
                        <p:cond delay="indefinite"/>
                      </p:stCondLst>
                      <p:childTnLst>
                        <p:par>
                          <p:cTn id="70" fill="hold">
                            <p:stCondLst>
                              <p:cond delay="0"/>
                            </p:stCondLst>
                            <p:childTnLst>
                              <p:par>
                                <p:cTn id="71" presetID="1" presetClass="entr" presetSubtype="0" fill="hold" nodeType="clickEffect">
                                  <p:stCondLst>
                                    <p:cond delay="0"/>
                                  </p:stCondLst>
                                  <p:childTnLst>
                                    <p:set>
                                      <p:cBhvr>
                                        <p:cTn id="72" dur="1" fill="hold">
                                          <p:stCondLst>
                                            <p:cond delay="0"/>
                                          </p:stCondLst>
                                        </p:cTn>
                                        <p:tgtEl>
                                          <p:spTgt spid="10021"/>
                                        </p:tgtEl>
                                        <p:attrNameLst>
                                          <p:attrName>style.visibility</p:attrName>
                                        </p:attrNameLst>
                                      </p:cBhvr>
                                      <p:to>
                                        <p:strVal val="visible"/>
                                      </p:to>
                                    </p:set>
                                  </p:childTnLst>
                                </p:cTn>
                              </p:par>
                              <p:par>
                                <p:cTn id="73" presetID="1" presetClass="entr" presetSubtype="0" fill="hold" nodeType="withEffect">
                                  <p:stCondLst>
                                    <p:cond delay="0"/>
                                  </p:stCondLst>
                                  <p:childTnLst>
                                    <p:set>
                                      <p:cBhvr>
                                        <p:cTn id="74" dur="1" fill="hold">
                                          <p:stCondLst>
                                            <p:cond delay="0"/>
                                          </p:stCondLst>
                                        </p:cTn>
                                        <p:tgtEl>
                                          <p:spTgt spid="10032"/>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0" presetClass="entr" presetSubtype="0" fill="hold" nodeType="clickEffect">
                                  <p:stCondLst>
                                    <p:cond delay="0"/>
                                  </p:stCondLst>
                                  <p:childTnLst>
                                    <p:animEffect transition="in" filter="fade">
                                      <p:cBhvr>
                                        <p:cTn id="78" dur="600"/>
                                        <p:tgtEl>
                                          <p:spTgt spid="10008"/>
                                        </p:tgtEl>
                                      </p:cBhvr>
                                    </p:animEffect>
                                    <p:set>
                                      <p:cBhvr>
                                        <p:cTn id="79" dur="1" fill="hold">
                                          <p:stCondLst>
                                            <p:cond delay="0"/>
                                          </p:stCondLst>
                                        </p:cTn>
                                        <p:tgtEl>
                                          <p:spTgt spid="10008"/>
                                        </p:tgtEl>
                                        <p:attrNameLst>
                                          <p:attrName>style.visibility</p:attrName>
                                        </p:attrNameLst>
                                      </p:cBhvr>
                                      <p:to>
                                        <p:strVal val="visible"/>
                                      </p:to>
                                    </p:set>
                                  </p:childTnLst>
                                </p:cTn>
                              </p:par>
                              <p:par>
                                <p:cTn id="80" presetID="10" presetClass="exit" presetSubtype="0" fill="hold" nodeType="withEffect">
                                  <p:stCondLst>
                                    <p:cond delay="0"/>
                                  </p:stCondLst>
                                  <p:childTnLst>
                                    <p:animEffect transition="out" filter="fade">
                                      <p:cBhvr>
                                        <p:cTn id="81" dur="600"/>
                                        <p:tgtEl>
                                          <p:spTgt spid="10032"/>
                                        </p:tgtEl>
                                      </p:cBhvr>
                                    </p:animEffect>
                                    <p:set>
                                      <p:cBhvr>
                                        <p:cTn id="82" dur="1" fill="hold">
                                          <p:stCondLst>
                                            <p:cond delay="599"/>
                                          </p:stCondLst>
                                        </p:cTn>
                                        <p:tgtEl>
                                          <p:spTgt spid="10032"/>
                                        </p:tgtEl>
                                        <p:attrNameLst>
                                          <p:attrName>style.visibility</p:attrName>
                                        </p:attrNameLst>
                                      </p:cBhvr>
                                      <p:to>
                                        <p:strVal val="hidden"/>
                                      </p:to>
                                    </p:set>
                                  </p:childTnLst>
                                </p:cTn>
                              </p:par>
                              <p:par>
                                <p:cTn id="83" presetID="10" presetClass="entr" presetSubtype="0" fill="hold" nodeType="withEffect">
                                  <p:stCondLst>
                                    <p:cond delay="0"/>
                                  </p:stCondLst>
                                  <p:childTnLst>
                                    <p:animEffect transition="in" filter="fade">
                                      <p:cBhvr>
                                        <p:cTn id="84" dur="600"/>
                                        <p:tgtEl>
                                          <p:spTgt spid="10002"/>
                                        </p:tgtEl>
                                      </p:cBhvr>
                                    </p:animEffect>
                                    <p:set>
                                      <p:cBhvr>
                                        <p:cTn id="85" dur="1" fill="hold">
                                          <p:stCondLst>
                                            <p:cond delay="0"/>
                                          </p:stCondLst>
                                        </p:cTn>
                                        <p:tgtEl>
                                          <p:spTgt spid="10002"/>
                                        </p:tgtEl>
                                        <p:attrNameLst>
                                          <p:attrName>style.visibility</p:attrName>
                                        </p:attrNameLst>
                                      </p:cBhvr>
                                      <p:to>
                                        <p:strVal val="visible"/>
                                      </p:to>
                                    </p:set>
                                  </p:childTnLst>
                                </p:cTn>
                              </p:par>
                              <p:par>
                                <p:cTn id="86" presetID="10" presetClass="exit" presetSubtype="0" fill="hold" nodeType="withEffect">
                                  <p:stCondLst>
                                    <p:cond delay="0"/>
                                  </p:stCondLst>
                                  <p:childTnLst>
                                    <p:animEffect transition="out" filter="fade">
                                      <p:cBhvr>
                                        <p:cTn id="87" dur="600"/>
                                        <p:tgtEl>
                                          <p:spTgt spid="10021"/>
                                        </p:tgtEl>
                                      </p:cBhvr>
                                    </p:animEffect>
                                    <p:set>
                                      <p:cBhvr>
                                        <p:cTn id="88" dur="1" fill="hold">
                                          <p:stCondLst>
                                            <p:cond delay="599"/>
                                          </p:stCondLst>
                                        </p:cTn>
                                        <p:tgtEl>
                                          <p:spTgt spid="10021"/>
                                        </p:tgtEl>
                                        <p:attrNameLst>
                                          <p:attrName>style.visibility</p:attrName>
                                        </p:attrNameLst>
                                      </p:cBhvr>
                                      <p:to>
                                        <p:strVal val="hidden"/>
                                      </p:to>
                                    </p:set>
                                  </p:childTnLst>
                                </p:cTn>
                              </p:par>
                            </p:childTnLst>
                          </p:cTn>
                        </p:par>
                        <p:par>
                          <p:cTn id="89" fill="hold">
                            <p:stCondLst>
                              <p:cond delay="600"/>
                            </p:stCondLst>
                            <p:childTnLst>
                              <p:par>
                                <p:cTn id="90" presetID="1" presetClass="entr" presetSubtype="0" fill="hold" grpId="1" nodeType="afterEffect">
                                  <p:stCondLst>
                                    <p:cond delay="0"/>
                                  </p:stCondLst>
                                  <p:childTnLst>
                                    <p:set>
                                      <p:cBhvr>
                                        <p:cTn id="91" dur="1" fill="hold">
                                          <p:stCondLst>
                                            <p:cond delay="0"/>
                                          </p:stCondLst>
                                        </p:cTn>
                                        <p:tgtEl>
                                          <p:spTgt spid="10003"/>
                                        </p:tgtEl>
                                        <p:attrNameLst>
                                          <p:attrName>style.visibility</p:attrName>
                                        </p:attrNameLst>
                                      </p:cBhvr>
                                      <p:to>
                                        <p:strVal val="visible"/>
                                      </p:to>
                                    </p:set>
                                  </p:childTnLst>
                                </p:cTn>
                              </p:par>
                            </p:childTnLst>
                          </p:cTn>
                        </p:par>
                        <p:par>
                          <p:cTn id="92" fill="hold">
                            <p:stCondLst>
                              <p:cond delay="600"/>
                            </p:stCondLst>
                            <p:childTnLst>
                              <p:par>
                                <p:cTn id="93" presetID="1" presetClass="entr" presetSubtype="0" fill="hold" grpId="1" nodeType="afterEffect">
                                  <p:stCondLst>
                                    <p:cond delay="0"/>
                                  </p:stCondLst>
                                  <p:childTnLst>
                                    <p:set>
                                      <p:cBhvr>
                                        <p:cTn id="94" dur="1" fill="hold">
                                          <p:stCondLst>
                                            <p:cond delay="0"/>
                                          </p:stCondLst>
                                        </p:cTn>
                                        <p:tgtEl>
                                          <p:spTgt spid="10009"/>
                                        </p:tgtEl>
                                        <p:attrNameLst>
                                          <p:attrName>style.visibility</p:attrName>
                                        </p:attrNameLst>
                                      </p:cBhvr>
                                      <p:to>
                                        <p:strVal val="visible"/>
                                      </p:to>
                                    </p:set>
                                  </p:childTnLst>
                                </p:cTn>
                              </p:par>
                            </p:childTnLst>
                          </p:cTn>
                        </p:par>
                      </p:childTnLst>
                    </p:cTn>
                  </p:par>
                  <p:par>
                    <p:cTn id="95" fill="hold">
                      <p:stCondLst>
                        <p:cond delay="indefinite"/>
                      </p:stCondLst>
                      <p:childTnLst>
                        <p:par>
                          <p:cTn id="96" fill="hold">
                            <p:stCondLst>
                              <p:cond delay="0"/>
                            </p:stCondLst>
                            <p:childTnLst>
                              <p:par>
                                <p:cTn id="97" presetID="1" presetClass="entr" presetSubtype="0" fill="hold" grpId="1" nodeType="clickEffect">
                                  <p:stCondLst>
                                    <p:cond delay="0"/>
                                  </p:stCondLst>
                                  <p:childTnLst>
                                    <p:set>
                                      <p:cBhvr>
                                        <p:cTn id="98" dur="1" fill="hold">
                                          <p:stCondLst>
                                            <p:cond delay="0"/>
                                          </p:stCondLst>
                                        </p:cTn>
                                        <p:tgtEl>
                                          <p:spTgt spid="10004"/>
                                        </p:tgtEl>
                                        <p:attrNameLst>
                                          <p:attrName>style.visibility</p:attrName>
                                        </p:attrNameLst>
                                      </p:cBhvr>
                                      <p:to>
                                        <p:strVal val="visible"/>
                                      </p:to>
                                    </p:set>
                                  </p:childTnLst>
                                </p:cTn>
                              </p:par>
                              <p:par>
                                <p:cTn id="99" presetID="1" presetClass="entr" presetSubtype="0" fill="hold" grpId="1" nodeType="withEffect">
                                  <p:stCondLst>
                                    <p:cond delay="0"/>
                                  </p:stCondLst>
                                  <p:childTnLst>
                                    <p:set>
                                      <p:cBhvr>
                                        <p:cTn id="100" dur="1" fill="hold">
                                          <p:stCondLst>
                                            <p:cond delay="0"/>
                                          </p:stCondLst>
                                        </p:cTn>
                                        <p:tgtEl>
                                          <p:spTgt spid="10010"/>
                                        </p:tgtEl>
                                        <p:attrNameLst>
                                          <p:attrName>style.visibility</p:attrName>
                                        </p:attrNameLst>
                                      </p:cBhvr>
                                      <p:to>
                                        <p:strVal val="visible"/>
                                      </p:to>
                                    </p:set>
                                  </p:childTnLst>
                                </p:cTn>
                              </p:par>
                            </p:childTnLst>
                          </p:cTn>
                        </p:par>
                      </p:childTnLst>
                    </p:cTn>
                  </p:par>
                  <p:par>
                    <p:cTn id="101" fill="hold">
                      <p:stCondLst>
                        <p:cond delay="indefinite"/>
                      </p:stCondLst>
                      <p:childTnLst>
                        <p:par>
                          <p:cTn id="102" fill="hold">
                            <p:stCondLst>
                              <p:cond delay="0"/>
                            </p:stCondLst>
                            <p:childTnLst>
                              <p:par>
                                <p:cTn id="103" presetID="42" presetClass="path" presetSubtype="0" accel="50000" decel="50000" fill="hold" grpId="0" nodeType="clickEffect">
                                  <p:stCondLst>
                                    <p:cond delay="0"/>
                                  </p:stCondLst>
                                  <p:childTnLst>
                                    <p:animMotion origin="layout" path="M 1.11111E-6 3.45679E-6 L 1.11111E-6 -0.13673 " pathEditMode="relative" rAng="0" ptsTypes="AA">
                                      <p:cBhvr>
                                        <p:cTn id="104" dur="500" fill="hold"/>
                                        <p:tgtEl>
                                          <p:spTgt spid="10004"/>
                                        </p:tgtEl>
                                        <p:attrNameLst>
                                          <p:attrName>ppt_x</p:attrName>
                                          <p:attrName>ppt_y</p:attrName>
                                        </p:attrNameLst>
                                      </p:cBhvr>
                                      <p:rCtr x="0" y="-6852"/>
                                    </p:animMotion>
                                  </p:childTnLst>
                                </p:cTn>
                              </p:par>
                              <p:par>
                                <p:cTn id="105" presetID="42" presetClass="path" presetSubtype="0" accel="50000" decel="50000" fill="hold" grpId="0" nodeType="withEffect">
                                  <p:stCondLst>
                                    <p:cond delay="0"/>
                                  </p:stCondLst>
                                  <p:childTnLst>
                                    <p:animMotion origin="layout" path="M -1.11111E-6 3.7037E-6 L -1.11111E-6 -0.12068 " pathEditMode="relative" rAng="0" ptsTypes="AA">
                                      <p:cBhvr>
                                        <p:cTn id="106" dur="500" fill="hold"/>
                                        <p:tgtEl>
                                          <p:spTgt spid="10010"/>
                                        </p:tgtEl>
                                        <p:attrNameLst>
                                          <p:attrName>ppt_x</p:attrName>
                                          <p:attrName>ppt_y</p:attrName>
                                        </p:attrNameLst>
                                      </p:cBhvr>
                                      <p:rCtr x="0" y="-6049"/>
                                    </p:animMotion>
                                  </p:childTnLst>
                                </p:cTn>
                              </p:par>
                              <p:par>
                                <p:cTn id="107" presetID="1" presetClass="exit" presetSubtype="0" fill="hold" grpId="0" nodeType="withEffect">
                                  <p:stCondLst>
                                    <p:cond delay="0"/>
                                  </p:stCondLst>
                                  <p:childTnLst>
                                    <p:set>
                                      <p:cBhvr>
                                        <p:cTn id="108" dur="1" fill="hold">
                                          <p:stCondLst>
                                            <p:cond delay="0"/>
                                          </p:stCondLst>
                                        </p:cTn>
                                        <p:tgtEl>
                                          <p:spTgt spid="10002"/>
                                        </p:tgtEl>
                                        <p:attrNameLst>
                                          <p:attrName>style.visibility</p:attrName>
                                        </p:attrNameLst>
                                      </p:cBhvr>
                                      <p:to>
                                        <p:strVal val="hidden"/>
                                      </p:to>
                                    </p:set>
                                  </p:childTnLst>
                                </p:cTn>
                              </p:par>
                              <p:par>
                                <p:cTn id="109" presetID="1" presetClass="exit" presetSubtype="0" fill="hold" grpId="0" nodeType="withEffect">
                                  <p:stCondLst>
                                    <p:cond delay="0"/>
                                  </p:stCondLst>
                                  <p:childTnLst>
                                    <p:set>
                                      <p:cBhvr>
                                        <p:cTn id="110" dur="1" fill="hold">
                                          <p:stCondLst>
                                            <p:cond delay="0"/>
                                          </p:stCondLst>
                                        </p:cTn>
                                        <p:tgtEl>
                                          <p:spTgt spid="10008"/>
                                        </p:tgtEl>
                                        <p:attrNameLst>
                                          <p:attrName>style.visibility</p:attrName>
                                        </p:attrNameLst>
                                      </p:cBhvr>
                                      <p:to>
                                        <p:strVal val="hidden"/>
                                      </p:to>
                                    </p:set>
                                  </p:childTnLst>
                                </p:cTn>
                              </p:par>
                              <p:par>
                                <p:cTn id="111" presetID="1" presetClass="exit" presetSubtype="0" fill="hold" grpId="0" nodeType="withEffect">
                                  <p:stCondLst>
                                    <p:cond delay="0"/>
                                  </p:stCondLst>
                                  <p:childTnLst>
                                    <p:set>
                                      <p:cBhvr>
                                        <p:cTn id="112" dur="1" fill="hold">
                                          <p:stCondLst>
                                            <p:cond delay="0"/>
                                          </p:stCondLst>
                                        </p:cTn>
                                        <p:tgtEl>
                                          <p:spTgt spid="10003"/>
                                        </p:tgtEl>
                                        <p:attrNameLst>
                                          <p:attrName>style.visibility</p:attrName>
                                        </p:attrNameLst>
                                      </p:cBhvr>
                                      <p:to>
                                        <p:strVal val="hidden"/>
                                      </p:to>
                                    </p:set>
                                  </p:childTnLst>
                                </p:cTn>
                              </p:par>
                              <p:par>
                                <p:cTn id="113" presetID="1" presetClass="exit" presetSubtype="0" fill="hold" grpId="0" nodeType="withEffect">
                                  <p:stCondLst>
                                    <p:cond delay="0"/>
                                  </p:stCondLst>
                                  <p:childTnLst>
                                    <p:set>
                                      <p:cBhvr>
                                        <p:cTn id="114" dur="1" fill="hold">
                                          <p:stCondLst>
                                            <p:cond delay="0"/>
                                          </p:stCondLst>
                                        </p:cTn>
                                        <p:tgtEl>
                                          <p:spTgt spid="10009"/>
                                        </p:tgtEl>
                                        <p:attrNameLst>
                                          <p:attrName>style.visibility</p:attrName>
                                        </p:attrNameLst>
                                      </p:cBhvr>
                                      <p:to>
                                        <p:strVal val="hidden"/>
                                      </p:to>
                                    </p:set>
                                  </p:childTnLst>
                                </p:cTn>
                              </p:par>
                              <p:par>
                                <p:cTn id="115" presetID="10" presetClass="entr" presetSubtype="0" fill="hold" nodeType="withEffect">
                                  <p:stCondLst>
                                    <p:cond delay="550"/>
                                  </p:stCondLst>
                                  <p:childTnLst>
                                    <p:set>
                                      <p:cBhvr>
                                        <p:cTn id="116" dur="1" fill="hold">
                                          <p:stCondLst>
                                            <p:cond delay="0"/>
                                          </p:stCondLst>
                                        </p:cTn>
                                        <p:tgtEl>
                                          <p:spTgt spid="10033"/>
                                        </p:tgtEl>
                                        <p:attrNameLst>
                                          <p:attrName>style.visibility</p:attrName>
                                        </p:attrNameLst>
                                      </p:cBhvr>
                                      <p:to>
                                        <p:strVal val="visible"/>
                                      </p:to>
                                    </p:set>
                                    <p:animEffect transition="in" filter="fade">
                                      <p:cBhvr>
                                        <p:cTn id="117" dur="350"/>
                                        <p:tgtEl>
                                          <p:spTgt spid="10033"/>
                                        </p:tgtEl>
                                      </p:cBhvr>
                                    </p:animEffect>
                                  </p:childTnLst>
                                </p:cTn>
                              </p:par>
                              <p:par>
                                <p:cTn id="118" presetID="10" presetClass="entr" presetSubtype="0" fill="hold" nodeType="withEffect">
                                  <p:stCondLst>
                                    <p:cond delay="550"/>
                                  </p:stCondLst>
                                  <p:childTnLst>
                                    <p:set>
                                      <p:cBhvr>
                                        <p:cTn id="119" dur="1" fill="hold">
                                          <p:stCondLst>
                                            <p:cond delay="0"/>
                                          </p:stCondLst>
                                        </p:cTn>
                                        <p:tgtEl>
                                          <p:spTgt spid="10034"/>
                                        </p:tgtEl>
                                        <p:attrNameLst>
                                          <p:attrName>style.visibility</p:attrName>
                                        </p:attrNameLst>
                                      </p:cBhvr>
                                      <p:to>
                                        <p:strVal val="visible"/>
                                      </p:to>
                                    </p:set>
                                    <p:animEffect transition="in" filter="fade">
                                      <p:cBhvr>
                                        <p:cTn id="120" dur="350"/>
                                        <p:tgtEl>
                                          <p:spTgt spid="10034"/>
                                        </p:tgtEl>
                                      </p:cBhvr>
                                    </p:animEffect>
                                  </p:childTnLst>
                                </p:cTn>
                              </p:par>
                              <p:par>
                                <p:cTn id="121" presetID="1" presetClass="entr" presetSubtype="0" fill="hold" grpId="0" nodeType="withEffect">
                                  <p:stCondLst>
                                    <p:cond delay="550"/>
                                  </p:stCondLst>
                                  <p:childTnLst>
                                    <p:set>
                                      <p:cBhvr>
                                        <p:cTn id="122"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17" grpId="0" animBg="1"/>
      <p:bldP spid="56" grpId="0" animBg="1"/>
      <p:bldP spid="63" grpId="0" animBg="1"/>
      <p:bldP spid="192" grpId="0" animBg="1"/>
      <p:bldP spid="193" grpId="0" animBg="1"/>
      <p:bldP spid="194" grpId="0"/>
      <p:bldP spid="195" grpId="0" animBg="1"/>
      <p:bldP spid="196" grpId="0" animBg="1"/>
      <p:bldP spid="197" grpId="0" animBg="1"/>
      <p:bldP spid="198" grpId="0" animBg="1"/>
      <p:bldP spid="11" grpId="0"/>
      <p:bldP spid="12" grpId="0"/>
      <p:bldP spid="14" grpId="0"/>
      <p:bldP spid="18" grpId="0"/>
      <p:bldP spid="23" grpId="0" animBg="1"/>
      <p:bldP spid="27" grpId="0" animBg="1"/>
      <p:bldP spid="28" grpId="0" animBg="1"/>
      <p:bldP spid="29" grpId="0" animBg="1"/>
      <p:bldP spid="30" grpId="0"/>
      <p:bldP spid="31" grpId="0" animBg="1"/>
      <p:bldP spid="32" grpId="0" animBg="1"/>
      <p:bldP spid="33" grpId="0" animBg="1"/>
      <p:bldP spid="34" grpId="0" animBg="1"/>
      <p:bldP spid="37" grpId="0"/>
      <p:bldP spid="38" grpId="0"/>
      <p:bldP spid="10001" grpId="0"/>
      <p:bldP spid="10002" grpId="0"/>
      <p:bldP spid="10002" grpId="1"/>
      <p:bldP spid="10003" grpId="0"/>
      <p:bldP spid="10003" grpId="1"/>
      <p:bldP spid="10004" grpId="0"/>
      <p:bldP spid="10004" grpId="1"/>
      <p:bldP spid="10005" grpId="0"/>
      <p:bldP spid="10006" grpId="0"/>
      <p:bldP spid="10007" grpId="0"/>
      <p:bldP spid="10008" grpId="0"/>
      <p:bldP spid="10008" grpId="1"/>
      <p:bldP spid="10009" grpId="0"/>
      <p:bldP spid="10009" grpId="1"/>
      <p:bldP spid="10010" grpId="0"/>
      <p:bldP spid="10010" grpId="1"/>
      <p:bldP spid="5"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3CB5AF-977E-FD18-4BF0-238F4A3C54DC}"/>
            </a:ext>
          </a:extLst>
        </p:cNvPr>
        <p:cNvGrpSpPr/>
        <p:nvPr/>
      </p:nvGrpSpPr>
      <p:grpSpPr>
        <a:xfrm>
          <a:off x="0" y="0"/>
          <a:ext cx="0" cy="0"/>
          <a:chOff x="0" y="0"/>
          <a:chExt cx="0" cy="0"/>
        </a:xfrm>
      </p:grpSpPr>
      <p:sp>
        <p:nvSpPr>
          <p:cNvPr id="3" name="Footer Placeholder 2">
            <a:extLst>
              <a:ext uri="{FF2B5EF4-FFF2-40B4-BE49-F238E27FC236}">
                <a16:creationId xmlns:a16="http://schemas.microsoft.com/office/drawing/2014/main" id="{932728EC-375A-02AA-6ACB-8B562A5DDA85}"/>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450EC25E-87BB-2EDD-DD26-9411991B889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mc:AlternateContent xmlns:mc="http://schemas.openxmlformats.org/markup-compatibility/2006" xmlns:a14="http://schemas.microsoft.com/office/drawing/2010/main">
        <mc:Choice Requires="a14">
          <p:sp>
            <p:nvSpPr>
              <p:cNvPr id="10001" name="!!Primal filter matrix">
                <a:extLst>
                  <a:ext uri="{FF2B5EF4-FFF2-40B4-BE49-F238E27FC236}">
                    <a16:creationId xmlns:a16="http://schemas.microsoft.com/office/drawing/2014/main" id="{F8BE90C6-38B9-5BE0-A2C7-779672B605A9}"/>
                  </a:ext>
                </a:extLst>
              </p:cNvPr>
              <p:cNvSpPr/>
              <p:nvPr/>
            </p:nvSpPr>
            <p:spPr>
              <a:xfrm>
                <a:off x="444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1"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2745740"/>
                <a:ext cx="3937000" cy="6045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4" name="Primal final inequality">
                <a:extLst>
                  <a:ext uri="{FF2B5EF4-FFF2-40B4-BE49-F238E27FC236}">
                    <a16:creationId xmlns:a16="http://schemas.microsoft.com/office/drawing/2014/main" id="{F8CA6A30-5EF2-E93D-C77D-B370C9FFD794}"/>
                  </a:ext>
                </a:extLst>
              </p:cNvPr>
              <p:cNvSpPr/>
              <p:nvPr/>
            </p:nvSpPr>
            <p:spPr>
              <a:xfrm>
                <a:off x="444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𝑦</m:t>
                                  </m: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04" name="Primal final inequality">
                <a:extLst>
                  <a:ext uri="{FF2B5EF4-FFF2-40B4-BE49-F238E27FC236}">
                    <a16:creationId xmlns:a16="http://schemas.microsoft.com/office/drawing/2014/main" id="{F8CA6A30-5EF2-E93D-C77D-B370C9FFD794}"/>
                  </a:ext>
                </a:extLst>
              </p:cNvPr>
              <p:cNvSpPr>
                <a:spLocks noRot="1" noChangeAspect="1" noMove="1" noResize="1" noEditPoints="1" noAdjustHandles="1" noChangeArrowheads="1" noChangeShapeType="1" noTextEdit="1"/>
              </p:cNvSpPr>
              <p:nvPr/>
            </p:nvSpPr>
            <p:spPr>
              <a:xfrm>
                <a:off x="444500" y="3522790"/>
                <a:ext cx="3937000" cy="64008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7" name="!!Dual filter matrix">
                <a:extLst>
                  <a:ext uri="{FF2B5EF4-FFF2-40B4-BE49-F238E27FC236}">
                    <a16:creationId xmlns:a16="http://schemas.microsoft.com/office/drawing/2014/main" id="{A7C94E3B-7145-BB9E-73C9-FB0B02A93982}"/>
                  </a:ext>
                </a:extLst>
              </p:cNvPr>
              <p:cNvSpPr/>
              <p:nvPr/>
            </p:nvSpPr>
            <p:spPr>
              <a:xfrm>
                <a:off x="4762500" y="27457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p:sp>
            <p:nvSpPr>
              <p:cNvPr id="10007"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27457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10" name="Dual final inequality">
                <a:extLst>
                  <a:ext uri="{FF2B5EF4-FFF2-40B4-BE49-F238E27FC236}">
                    <a16:creationId xmlns:a16="http://schemas.microsoft.com/office/drawing/2014/main" id="{A14BACD2-F1BF-E183-1EBF-57EA7CC0AA54}"/>
                  </a:ext>
                </a:extLst>
              </p:cNvPr>
              <p:cNvSpPr/>
              <p:nvPr/>
            </p:nvSpPr>
            <p:spPr>
              <a:xfrm>
                <a:off x="4762500" y="3522790"/>
                <a:ext cx="3937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600" i="1" smtClean="0">
                          <a:solidFill>
                            <a:srgbClr val="252529"/>
                          </a:solidFill>
                          <a:latin typeface="Cambria Math" panose="02040503050406030204" pitchFamily="18" charset="0"/>
                        </a:rPr>
                        <m:t>0≤</m:t>
                      </m:r>
                      <m:nary>
                        <m:naryPr>
                          <m:limLoc m:val="subSup"/>
                          <m:ctrlPr>
                            <a:rPr lang="en-US" sz="1600" i="1" smtClean="0">
                              <a:solidFill>
                                <a:srgbClr val="252529"/>
                              </a:solidFill>
                              <a:latin typeface="Cambria Math" panose="02040503050406030204" pitchFamily="18" charset="0"/>
                            </a:rPr>
                          </m:ctrlPr>
                        </m:naryPr>
                        <m:sub>
                          <m:r>
                            <a:rPr lang="en-US" sz="1600" i="1" smtClean="0">
                              <a:solidFill>
                                <a:srgbClr val="252529"/>
                              </a:solidFill>
                              <a:latin typeface="Cambria Math" panose="02040503050406030204" pitchFamily="18" charset="0"/>
                            </a:rPr>
                            <m:t>0</m:t>
                          </m:r>
                        </m:sub>
                        <m:sup>
                          <m:r>
                            <a:rPr lang="en-US" sz="1600" i="1" smtClean="0">
                              <a:solidFill>
                                <a:srgbClr val="252529"/>
                              </a:solidFill>
                              <a:latin typeface="Cambria Math" panose="02040503050406030204" pitchFamily="18" charset="0"/>
                            </a:rPr>
                            <m:t>𝑇</m:t>
                          </m:r>
                        </m:sup>
                        <m:e>
                          <m:sSup>
                            <m:sSupPr>
                              <m:ctrlPr>
                                <a:rPr lang="en-US" sz="1600" i="1" smtClean="0">
                                  <a:solidFill>
                                    <a:srgbClr val="252529"/>
                                  </a:solidFill>
                                  <a:latin typeface="Cambria Math" panose="02040503050406030204" pitchFamily="18" charset="0"/>
                                </a:rPr>
                              </m:ctrlPr>
                            </m:sSupPr>
                            <m:e>
                              <m:d>
                                <m:dPr>
                                  <m:begChr m:val="‖"/>
                                  <m:endChr m:val="‖"/>
                                  <m:ctrlPr>
                                    <a:rPr lang="en-US" sz="1600" i="1" smtClean="0">
                                      <a:solidFill>
                                        <a:srgbClr val="252529"/>
                                      </a:solidFill>
                                      <a:latin typeface="Cambria Math" panose="02040503050406030204" pitchFamily="18" charset="0"/>
                                    </a:rPr>
                                  </m:ctrlPr>
                                </m:dPr>
                                <m:e>
                                  <m:bar>
                                    <m:barPr>
                                      <m:pos m:val="bot"/>
                                      <m:ctrlPr>
                                        <a:rPr lang="en-US" sz="1600" i="1" smtClean="0">
                                          <a:solidFill>
                                            <a:srgbClr val="252529"/>
                                          </a:solidFill>
                                          <a:latin typeface="Cambria Math" panose="02040503050406030204" pitchFamily="18" charset="0"/>
                                        </a:rPr>
                                      </m:ctrlPr>
                                    </m:barPr>
                                    <m:e>
                                      <m:r>
                                        <a:rPr lang="en-US" sz="1600" i="1" smtClean="0">
                                          <a:solidFill>
                                            <a:srgbClr val="252529"/>
                                          </a:solidFill>
                                          <a:latin typeface="Cambria Math" panose="02040503050406030204" pitchFamily="18" charset="0"/>
                                        </a:rPr>
                                        <m:t>𝑦</m:t>
                                      </m:r>
                                    </m:e>
                                  </m:bar>
                                  <m:d>
                                    <m:dPr>
                                      <m:ctrlPr>
                                        <a:rPr lang="en-US" sz="1600" i="1" smtClean="0">
                                          <a:solidFill>
                                            <a:srgbClr val="252529"/>
                                          </a:solidFill>
                                          <a:latin typeface="Cambria Math" panose="02040503050406030204" pitchFamily="18" charset="0"/>
                                        </a:rPr>
                                      </m:ctrlPr>
                                    </m:dPr>
                                    <m:e>
                                      <m:r>
                                        <a:rPr lang="en-US" sz="1600" i="1" smtClean="0">
                                          <a:solidFill>
                                            <a:srgbClr val="252529"/>
                                          </a:solidFill>
                                          <a:latin typeface="Cambria Math" panose="02040503050406030204" pitchFamily="18" charset="0"/>
                                        </a:rPr>
                                        <m:t>𝑡</m:t>
                                      </m:r>
                                    </m:e>
                                  </m:d>
                                </m:e>
                              </m:d>
                            </m:e>
                            <m:sup>
                              <m:r>
                                <a:rPr lang="en-US" sz="1600" i="1" smtClean="0">
                                  <a:solidFill>
                                    <a:srgbClr val="252529"/>
                                  </a:solidFill>
                                  <a:latin typeface="Cambria Math" panose="02040503050406030204" pitchFamily="18" charset="0"/>
                                </a:rPr>
                                <m:t>2</m:t>
                              </m:r>
                            </m:sup>
                          </m:sSup>
                        </m:e>
                      </m:nary>
                    </m:oMath>
                  </m:oMathPara>
                </a14:m>
                <a:endParaRPr sz="1600" dirty="0"/>
              </a:p>
            </p:txBody>
          </p:sp>
        </mc:Choice>
        <mc:Fallback xmlns="">
          <p:sp>
            <p:nvSpPr>
              <p:cNvPr id="10010" name="Dual final inequality">
                <a:extLst>
                  <a:ext uri="{FF2B5EF4-FFF2-40B4-BE49-F238E27FC236}">
                    <a16:creationId xmlns:a16="http://schemas.microsoft.com/office/drawing/2014/main" id="{A14BACD2-F1BF-E183-1EBF-57EA7CC0AA54}"/>
                  </a:ext>
                </a:extLst>
              </p:cNvPr>
              <p:cNvSpPr>
                <a:spLocks noRot="1" noChangeAspect="1" noMove="1" noResize="1" noEditPoints="1" noAdjustHandles="1" noChangeArrowheads="1" noChangeShapeType="1" noTextEdit="1"/>
              </p:cNvSpPr>
              <p:nvPr/>
            </p:nvSpPr>
            <p:spPr>
              <a:xfrm>
                <a:off x="4762500" y="3522790"/>
                <a:ext cx="3937000" cy="640080"/>
              </a:xfrm>
              <a:prstGeom prst="rect">
                <a:avLst/>
              </a:prstGeom>
              <a:blipFill>
                <a:blip r:embed="rId6"/>
                <a:stretch>
                  <a:fillRect/>
                </a:stretch>
              </a:blipFill>
              <a:ln>
                <a:noFill/>
              </a:ln>
            </p:spPr>
            <p:txBody>
              <a:bodyPr/>
              <a:lstStyle/>
              <a:p>
                <a:r>
                  <a:rPr lang="en-NL">
                    <a:noFill/>
                  </a:rPr>
                  <a:t> </a:t>
                </a:r>
              </a:p>
            </p:txBody>
          </p:sp>
        </mc:Fallback>
      </mc:AlternateContent>
      <p:sp>
        <p:nvSpPr>
          <p:cNvPr id="7" name="Title 6">
            <a:extLst>
              <a:ext uri="{FF2B5EF4-FFF2-40B4-BE49-F238E27FC236}">
                <a16:creationId xmlns:a16="http://schemas.microsoft.com/office/drawing/2014/main" id="{F53BE328-8567-15FC-D747-E2459C6D0AF0}"/>
              </a:ext>
            </a:extLst>
          </p:cNvPr>
          <p:cNvSpPr>
            <a:spLocks noGrp="1"/>
          </p:cNvSpPr>
          <p:nvPr>
            <p:ph type="title"/>
          </p:nvPr>
        </p:nvSpPr>
        <p:spPr/>
        <p:txBody>
          <a:bodyPr/>
          <a:lstStyle/>
          <a:p>
            <a:endParaRPr lang="en-NL"/>
          </a:p>
        </p:txBody>
      </p:sp>
    </p:spTree>
    <p:extLst>
      <p:ext uri="{BB962C8B-B14F-4D97-AF65-F5344CB8AC3E}">
        <p14:creationId xmlns:p14="http://schemas.microsoft.com/office/powerpoint/2010/main" val="268934735"/>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2217DA-D721-362D-28B5-D2DB7978A419}"/>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483D6E3C-93A0-24B5-6F3C-44792FCDF473}"/>
                  </a:ext>
                </a:extLst>
              </p:cNvPr>
              <p:cNvSpPr>
                <a:spLocks noGrp="1"/>
              </p:cNvSpPr>
              <p:nvPr>
                <p:ph type="title"/>
              </p:nvPr>
            </p:nvSpPr>
            <p:spPr/>
            <p:txBody>
              <a:bodyPr/>
              <a:lstStyle/>
              <a:p>
                <a:r>
                  <a:rPr lang="en-US" dirty="0"/>
                  <a:t>Can we transpose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r>
                  <a:rPr lang="en-US" dirty="0"/>
                  <a:t>?</a:t>
                </a:r>
                <a:endParaRPr lang="en-NL" dirty="0"/>
              </a:p>
            </p:txBody>
          </p:sp>
        </mc:Choice>
        <mc:Fallback xmlns="" xmlns:m="http://schemas.openxmlformats.org/officeDocument/2006/math">
          <p:sp>
            <p:nvSpPr>
              <p:cNvPr id="2" name="Title 1">
                <a:extLst>
                  <a:ext uri="{FF2B5EF4-FFF2-40B4-BE49-F238E27FC236}">
                    <a16:creationId xmlns:a16="http://schemas.microsoft.com/office/drawing/2014/main" id="{483D6E3C-93A0-24B5-6F3C-44792FCDF473}"/>
                  </a:ext>
                </a:extLst>
              </p:cNvPr>
              <p:cNvSpPr>
                <a:spLocks noGrp="1" noRot="1" noChangeAspect="1" noMove="1" noResize="1" noEditPoints="1" noAdjustHandles="1" noChangeArrowheads="1" noChangeShapeType="1" noTextEdit="1"/>
              </p:cNvSpPr>
              <p:nvPr>
                <p:ph type="title"/>
              </p:nvPr>
            </p:nvSpPr>
            <p:spPr>
              <a:blipFill>
                <a:blip r:embed="rId3"/>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46AC66BC-99AA-E67F-18F4-29D3D83159C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AD8DE038-EC54-3C73-24CC-0C09218CEF97}"/>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a:p>
        </p:txBody>
      </p:sp>
      <p:sp>
        <p:nvSpPr>
          <p:cNvPr id="11001" name="Original filter heading"/>
          <p:cNvSpPr/>
          <p:nvPr/>
        </p:nvSpPr>
        <p:spPr>
          <a:xfrm>
            <a:off x="762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Original filter</a:t>
            </a:r>
            <a:endParaRPr sz="1400"/>
          </a:p>
        </p:txBody>
      </p:sp>
      <p:sp>
        <p:nvSpPr>
          <p:cNvPr id="11002" name="Dual filter heading"/>
          <p:cNvSpPr/>
          <p:nvPr/>
        </p:nvSpPr>
        <p:spPr>
          <a:xfrm>
            <a:off x="5080000" y="971550"/>
            <a:ext cx="33020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Required dual filter</a:t>
            </a:r>
            <a:endParaRPr sz="1400"/>
          </a:p>
        </p:txBody>
      </p:sp>
      <mc:AlternateContent xmlns:mc="http://schemas.openxmlformats.org/markup-compatibility/2006" xmlns:a14="http://schemas.microsoft.com/office/drawing/2010/main">
        <mc:Choice Requires="a14">
          <p:sp>
            <p:nvSpPr>
              <p:cNvPr id="11003" name="!!Primal filter matrix">
                <a:extLst>
                  <a:ext uri="{FF2B5EF4-FFF2-40B4-BE49-F238E27FC236}">
                    <a16:creationId xmlns:a16="http://schemas.microsoft.com/office/drawing/2014/main" id="{F8BE90C6-38B9-5BE0-A2C7-779672B605A9}"/>
                  </a:ext>
                </a:extLst>
              </p:cNvPr>
              <p:cNvSpPr/>
              <p:nvPr/>
            </p:nvSpPr>
            <p:spPr>
              <a:xfrm>
                <a:off x="444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600" b="0" i="1" smtClean="0">
                          <a:solidFill>
                            <a:srgbClr val="252529"/>
                          </a:solidFill>
                          <a:latin typeface="Cambria Math" panose="02040503050406030204" pitchFamily="18" charset="0"/>
                        </a:rPr>
                        <m:t>Θ</m:t>
                      </m: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r>
                                  <a:rPr lang="en-US" sz="1600" b="0" i="1" smtClean="0">
                                    <a:solidFill>
                                      <a:srgbClr val="252529"/>
                                    </a:solidFill>
                                    <a:latin typeface="Cambria Math" panose="02040503050406030204" pitchFamily="18" charset="0"/>
                                  </a:rPr>
                                  <m:t>𝐾</m:t>
                                </m:r>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3" name="!!Primal filter matrix">
                <a:extLst>
                  <a:ext uri="{FF2B5EF4-FFF2-40B4-BE49-F238E27FC236}">
                    <a16:creationId xmlns:a16="http://schemas.microsoft.com/office/drawing/2014/main" id="{F8BE90C6-38B9-5BE0-A2C7-779672B605A9}"/>
                  </a:ext>
                </a:extLst>
              </p:cNvPr>
              <p:cNvSpPr>
                <a:spLocks noRot="1" noChangeAspect="1" noMove="1" noResize="1" noEditPoints="1" noAdjustHandles="1" noChangeArrowheads="1" noChangeShapeType="1" noTextEdit="1"/>
              </p:cNvSpPr>
              <p:nvPr/>
            </p:nvSpPr>
            <p:spPr>
              <a:xfrm>
                <a:off x="444500" y="1285240"/>
                <a:ext cx="3937000" cy="6045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4" name="!!Dual filter matrix">
                <a:extLst>
                  <a:ext uri="{FF2B5EF4-FFF2-40B4-BE49-F238E27FC236}">
                    <a16:creationId xmlns:a16="http://schemas.microsoft.com/office/drawing/2014/main" id="{A7C94E3B-7145-BB9E-73C9-FB0B02A93982}"/>
                  </a:ext>
                </a:extLst>
              </p:cNvPr>
              <p:cNvSpPr/>
              <p:nvPr/>
            </p:nvSpPr>
            <p:spPr>
              <a:xfrm>
                <a:off x="4762500" y="1285240"/>
                <a:ext cx="3937000" cy="604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600" b="0" i="1" smtClean="0">
                              <a:solidFill>
                                <a:srgbClr val="252529"/>
                              </a:solidFill>
                              <a:latin typeface="Cambria Math" panose="02040503050406030204" pitchFamily="18" charset="0"/>
                            </a:rPr>
                          </m:ctrlPr>
                        </m:barPr>
                        <m:e>
                          <m:r>
                            <m:rPr>
                              <m:sty m:val="p"/>
                            </m:rPr>
                            <a:rPr lang="en-US" sz="1600" b="0" i="1" smtClean="0">
                              <a:solidFill>
                                <a:srgbClr val="252529"/>
                              </a:solidFill>
                              <a:latin typeface="Cambria Math" panose="02040503050406030204" pitchFamily="18" charset="0"/>
                            </a:rPr>
                            <m:t>Θ</m:t>
                          </m:r>
                        </m:e>
                      </m:bar>
                      <m:r>
                        <a:rPr lang="en-US" sz="1600" b="0" i="1" smtClean="0">
                          <a:solidFill>
                            <a:srgbClr val="252529"/>
                          </a:solidFill>
                          <a:latin typeface="Cambria Math" panose="02040503050406030204" pitchFamily="18" charset="0"/>
                        </a:rPr>
                        <m:t>=</m:t>
                      </m:r>
                      <m:d>
                        <m:dPr>
                          <m:begChr m:val="["/>
                          <m:endChr m:val="]"/>
                          <m:ctrlPr>
                            <a:rPr lang="en-US" sz="1600" b="0" i="1" smtClean="0">
                              <a:solidFill>
                                <a:srgbClr val="252529"/>
                              </a:solidFill>
                              <a:latin typeface="Cambria Math" panose="02040503050406030204" pitchFamily="18" charset="0"/>
                            </a:rPr>
                          </m:ctrlPr>
                        </m:dPr>
                        <m:e>
                          <m:m>
                            <m:mPr>
                              <m:mcs>
                                <m:mc>
                                  <m:mcPr>
                                    <m:count m:val="2"/>
                                    <m:mcJc m:val="center"/>
                                  </m:mcPr>
                                </m:mc>
                              </m:mcs>
                              <m:ctrlPr>
                                <a:rPr lang="en-US" sz="1600" b="0" i="1" smtClean="0">
                                  <a:solidFill>
                                    <a:srgbClr val="252529"/>
                                  </a:solidFill>
                                  <a:latin typeface="Cambria Math" panose="02040503050406030204" pitchFamily="18" charset="0"/>
                                </a:rPr>
                              </m:ctrlPr>
                            </m:mPr>
                            <m:mr>
                              <m:e>
                                <m:r>
                                  <a:rPr lang="en-US" sz="1600" b="0" i="1" smtClean="0">
                                    <a:solidFill>
                                      <a:srgbClr val="252529"/>
                                    </a:solidFill>
                                    <a:latin typeface="Cambria Math" panose="02040503050406030204" pitchFamily="18" charset="0"/>
                                  </a:rPr>
                                  <m:t>𝐼</m:t>
                                </m:r>
                              </m:e>
                              <m:e>
                                <m:r>
                                  <a:rPr lang="en-US" sz="1600" b="0" i="1" smtClean="0">
                                    <a:solidFill>
                                      <a:srgbClr val="252529"/>
                                    </a:solidFill>
                                    <a:latin typeface="Cambria Math" panose="02040503050406030204" pitchFamily="18" charset="0"/>
                                  </a:rPr>
                                  <m:t>0</m:t>
                                </m:r>
                              </m:e>
                            </m:mr>
                            <m:mr>
                              <m:e>
                                <m:r>
                                  <a:rPr lang="en-US" sz="1600" b="0" i="1" smtClean="0">
                                    <a:solidFill>
                                      <a:srgbClr val="252529"/>
                                    </a:solidFill>
                                    <a:latin typeface="Cambria Math" panose="02040503050406030204" pitchFamily="18" charset="0"/>
                                  </a:rPr>
                                  <m:t>−</m:t>
                                </m:r>
                                <m:sSup>
                                  <m:sSupPr>
                                    <m:ctrlPr>
                                      <a:rPr lang="en-US" sz="1600" b="0" i="1" smtClean="0">
                                        <a:solidFill>
                                          <a:srgbClr val="252529"/>
                                        </a:solidFill>
                                        <a:latin typeface="Cambria Math" panose="02040503050406030204" pitchFamily="18" charset="0"/>
                                      </a:rPr>
                                    </m:ctrlPr>
                                  </m:sSupPr>
                                  <m:e>
                                    <m:r>
                                      <a:rPr lang="en-US" sz="1600" b="0" i="1" smtClean="0">
                                        <a:solidFill>
                                          <a:srgbClr val="252529"/>
                                        </a:solidFill>
                                        <a:latin typeface="Cambria Math" panose="02040503050406030204" pitchFamily="18" charset="0"/>
                                      </a:rPr>
                                      <m:t>𝐾</m:t>
                                    </m:r>
                                  </m:e>
                                  <m:sup>
                                    <m:r>
                                      <a:rPr lang="en-US" sz="1600" b="0" i="1" smtClean="0">
                                        <a:solidFill>
                                          <a:srgbClr val="252529"/>
                                        </a:solidFill>
                                        <a:latin typeface="Cambria Math" panose="02040503050406030204" pitchFamily="18" charset="0"/>
                                      </a:rPr>
                                      <m:t>⊤</m:t>
                                    </m:r>
                                  </m:sup>
                                </m:sSup>
                              </m:e>
                              <m:e>
                                <m:r>
                                  <a:rPr lang="en-US" sz="1600" b="0" i="1" smtClean="0">
                                    <a:solidFill>
                                      <a:srgbClr val="252529"/>
                                    </a:solidFill>
                                    <a:latin typeface="Cambria Math" panose="02040503050406030204" pitchFamily="18" charset="0"/>
                                  </a:rPr>
                                  <m:t>𝐼</m:t>
                                </m:r>
                              </m:e>
                            </m:mr>
                          </m:m>
                        </m:e>
                      </m:d>
                    </m:oMath>
                  </m:oMathPara>
                </a14:m>
                <a:endParaRPr sz="1600" dirty="0"/>
              </a:p>
            </p:txBody>
          </p:sp>
        </mc:Choice>
        <mc:Fallback xmlns="" xmlns:m="http://schemas.openxmlformats.org/officeDocument/2006/math">
          <p:sp>
            <p:nvSpPr>
              <p:cNvPr id="11004" name="!!Dual filter matrix">
                <a:extLst>
                  <a:ext uri="{FF2B5EF4-FFF2-40B4-BE49-F238E27FC236}">
                    <a16:creationId xmlns:a16="http://schemas.microsoft.com/office/drawing/2014/main" id="{A7C94E3B-7145-BB9E-73C9-FB0B02A93982}"/>
                  </a:ext>
                </a:extLst>
              </p:cNvPr>
              <p:cNvSpPr>
                <a:spLocks noRot="1" noChangeAspect="1" noMove="1" noResize="1" noEditPoints="1" noAdjustHandles="1" noChangeArrowheads="1" noChangeShapeType="1" noTextEdit="1"/>
              </p:cNvSpPr>
              <p:nvPr/>
            </p:nvSpPr>
            <p:spPr>
              <a:xfrm>
                <a:off x="4762500" y="1285240"/>
                <a:ext cx="3937000" cy="6045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05" name="Transpose comparison"/>
              <p:cNvSpPr/>
              <p:nvPr/>
            </p:nvSpPr>
            <p:spPr>
              <a:xfrm>
                <a:off x="508000" y="2430780"/>
                <a:ext cx="8128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400">
                              <a:solidFill>
                                <a:srgbClr val="252529"/>
                              </a:solidFill>
                              <a:latin typeface="Cambria Math"/>
                            </a:rPr>
                          </m:ctrlPr>
                        </m:sSupPr>
                        <m:e>
                          <m:r>
                            <m:rPr>
                              <m:sty m:val="p"/>
                            </m:rPr>
                            <a:rPr sz="2400">
                              <a:solidFill>
                                <a:srgbClr val="252529"/>
                              </a:solidFill>
                              <a:latin typeface="Cambria Math"/>
                            </a:rPr>
                            <m:t>Θ</m:t>
                          </m:r>
                        </m:e>
                        <m:sup>
                          <m:r>
                            <a:rPr sz="2400">
                              <a:solidFill>
                                <a:srgbClr val="252529"/>
                              </a:solidFill>
                              <a:latin typeface="Cambria Math"/>
                            </a:rPr>
                            <m:t>⊤</m:t>
                          </m:r>
                        </m:sup>
                      </m:sSup>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mr>
                            <m:mr>
                              <m:e>
                                <m:r>
                                  <a:rPr sz="2400">
                                    <a:solidFill>
                                      <a:srgbClr val="252529"/>
                                    </a:solidFill>
                                    <a:latin typeface="Cambria Math"/>
                                  </a:rPr>
                                  <m:t>0</m:t>
                                </m:r>
                              </m:e>
                              <m:e>
                                <m:r>
                                  <a:rPr sz="2400">
                                    <a:solidFill>
                                      <a:srgbClr val="252529"/>
                                    </a:solidFill>
                                    <a:latin typeface="Cambria Math"/>
                                  </a:rPr>
                                  <m:t>𝐼</m:t>
                                </m:r>
                              </m:e>
                            </m:mr>
                          </m:m>
                        </m:e>
                      </m:d>
                      <m:r>
                        <a:rPr sz="2400">
                          <a:solidFill>
                            <a:srgbClr val="252529"/>
                          </a:solidFill>
                          <a:latin typeface="Cambria Math"/>
                        </a:rPr>
                        <m:t>≠</m:t>
                      </m:r>
                      <m:d>
                        <m:dPr>
                          <m:begChr m:val="["/>
                          <m:endChr m:val="]"/>
                          <m:ctrlPr>
                            <a:rPr sz="2400" i="1">
                              <a:solidFill>
                                <a:srgbClr val="252529"/>
                              </a:solidFill>
                              <a:latin typeface="Cambria Math" panose="02040503050406030204" pitchFamily="18" charset="0"/>
                            </a:rPr>
                          </m:ctrlPr>
                        </m:dPr>
                        <m:e>
                          <m:m>
                            <m:mPr>
                              <m:mcs>
                                <m:mc>
                                  <m:mcPr>
                                    <m:count m:val="2"/>
                                    <m:mcJc m:val="center"/>
                                  </m:mcPr>
                                </m:mc>
                              </m:mcs>
                              <m:ctrlPr>
                                <a:rPr sz="2400" i="1">
                                  <a:solidFill>
                                    <a:srgbClr val="252529"/>
                                  </a:solidFill>
                                  <a:latin typeface="Cambria Math" panose="02040503050406030204" pitchFamily="18" charset="0"/>
                                </a:rPr>
                              </m:ctrlPr>
                            </m:mPr>
                            <m:mr>
                              <m:e>
                                <m:r>
                                  <a:rPr sz="2400">
                                    <a:solidFill>
                                      <a:srgbClr val="252529"/>
                                    </a:solidFill>
                                    <a:latin typeface="Cambria Math"/>
                                  </a:rPr>
                                  <m:t>𝐼</m:t>
                                </m:r>
                              </m:e>
                              <m:e>
                                <m:r>
                                  <a:rPr sz="2400">
                                    <a:solidFill>
                                      <a:srgbClr val="252529"/>
                                    </a:solidFill>
                                    <a:latin typeface="Cambria Math"/>
                                  </a:rPr>
                                  <m:t>0</m:t>
                                </m:r>
                              </m:e>
                            </m:mr>
                            <m:mr>
                              <m:e>
                                <m:r>
                                  <a:rPr sz="2400">
                                    <a:solidFill>
                                      <a:srgbClr val="C81919"/>
                                    </a:solidFill>
                                    <a:latin typeface="Cambria Math"/>
                                  </a:rPr>
                                  <m:t>−</m:t>
                                </m:r>
                                <m:sSup>
                                  <m:sSupPr>
                                    <m:ctrlPr>
                                      <a:rPr sz="2400">
                                        <a:solidFill>
                                          <a:srgbClr val="C81919"/>
                                        </a:solidFill>
                                        <a:latin typeface="Cambria Math"/>
                                      </a:rPr>
                                    </m:ctrlPr>
                                  </m:sSupPr>
                                  <m:e>
                                    <m:r>
                                      <a:rPr sz="2400">
                                        <a:solidFill>
                                          <a:srgbClr val="C81919"/>
                                        </a:solidFill>
                                        <a:latin typeface="Cambria Math"/>
                                      </a:rPr>
                                      <m:t>𝐾</m:t>
                                    </m:r>
                                  </m:e>
                                  <m:sup>
                                    <m:r>
                                      <a:rPr sz="2400">
                                        <a:solidFill>
                                          <a:srgbClr val="C81919"/>
                                        </a:solidFill>
                                        <a:latin typeface="Cambria Math"/>
                                      </a:rPr>
                                      <m:t>⊤</m:t>
                                    </m:r>
                                  </m:sup>
                                </m:sSup>
                              </m:e>
                              <m:e>
                                <m:r>
                                  <a:rPr sz="2400">
                                    <a:solidFill>
                                      <a:srgbClr val="252529"/>
                                    </a:solidFill>
                                    <a:latin typeface="Cambria Math"/>
                                  </a:rPr>
                                  <m:t>𝐼</m:t>
                                </m:r>
                              </m:e>
                            </m:mr>
                          </m:m>
                        </m:e>
                      </m:d>
                      <m:r>
                        <a:rPr sz="2400">
                          <a:solidFill>
                            <a:srgbClr val="252529"/>
                          </a:solidFill>
                          <a:latin typeface="Cambria Math"/>
                        </a:rPr>
                        <m:t>=</m:t>
                      </m:r>
                      <m:bar>
                        <m:barPr>
                          <m:pos m:val="bot"/>
                          <m:ctrlPr>
                            <a:rPr sz="2400">
                              <a:solidFill>
                                <a:srgbClr val="252529"/>
                              </a:solidFill>
                              <a:latin typeface="Cambria Math"/>
                            </a:rPr>
                          </m:ctrlPr>
                        </m:barPr>
                        <m:e>
                          <m:r>
                            <m:rPr>
                              <m:sty m:val="p"/>
                            </m:rPr>
                            <a:rPr sz="2400">
                              <a:solidFill>
                                <a:srgbClr val="252529"/>
                              </a:solidFill>
                              <a:latin typeface="Cambria Math"/>
                            </a:rPr>
                            <m:t>Θ</m:t>
                          </m:r>
                        </m:e>
                      </m:bar>
                    </m:oMath>
                  </m:oMathPara>
                </a14:m>
                <a:endParaRPr sz="2400"/>
              </a:p>
            </p:txBody>
          </p:sp>
        </mc:Choice>
        <mc:Fallback xmlns="" xmlns:m="http://schemas.openxmlformats.org/officeDocument/2006/math">
          <p:sp>
            <p:nvSpPr>
              <p:cNvPr id="11005" name="Transpose comparison"/>
              <p:cNvSpPr>
                <a:spLocks noRot="1" noChangeAspect="1" noMove="1" noResize="1" noEditPoints="1" noAdjustHandles="1" noChangeArrowheads="1" noChangeShapeType="1" noTextEdit="1"/>
              </p:cNvSpPr>
              <p:nvPr/>
            </p:nvSpPr>
            <p:spPr>
              <a:xfrm>
                <a:off x="508000" y="2430780"/>
                <a:ext cx="8128000" cy="853440"/>
              </a:xfrm>
              <a:prstGeom prst="rect">
                <a:avLst/>
              </a:prstGeom>
              <a:blipFill>
                <a:blip r:embed="rId6"/>
                <a:stretch>
                  <a:fillRect/>
                </a:stretch>
              </a:blipFill>
              <a:ln>
                <a:noFill/>
              </a:ln>
            </p:spPr>
            <p:txBody>
              <a:bodyPr/>
              <a:lstStyle/>
              <a:p>
                <a:r>
                  <a:rPr lang="en-NL">
                    <a:noFill/>
                  </a:rPr>
                  <a:t> </a:t>
                </a:r>
              </a:p>
            </p:txBody>
          </p:sp>
        </mc:Fallback>
      </mc:AlternateContent>
      <p:sp>
        <p:nvSpPr>
          <p:cNvPr id="11006" name="Transpose explanation"/>
          <p:cNvSpPr/>
          <p:nvPr/>
        </p:nvSpPr>
        <p:spPr>
          <a:xfrm>
            <a:off x="444500" y="3457575"/>
            <a:ext cx="8255000" cy="323850"/>
          </a:xfrm>
          <a:prstGeom prst="rect">
            <a:avLst/>
          </a:prstGeom>
          <a:noFill/>
          <a:ln>
            <a:noFill/>
          </a:ln>
        </p:spPr>
        <p:txBody>
          <a:bodyPr wrap="none" lIns="0" tIns="0" rIns="0" bIns="0" anchor="ctr">
            <a:noAutofit/>
          </a:bodyPr>
          <a:lstStyle/>
          <a:p>
            <a:pPr algn="ctr">
              <a:buNone/>
            </a:pPr>
            <a:r>
              <a:rPr lang="en-GB" sz="1700" b="0" i="0" u="none" baseline="0" dirty="0">
                <a:solidFill>
                  <a:srgbClr val="252529"/>
                </a:solidFill>
                <a:latin typeface="Aptos"/>
                <a:ea typeface="Aptos"/>
                <a:cs typeface="Aptos"/>
              </a:rPr>
              <a:t>Transposing moves the controller block to the wrong position.</a:t>
            </a:r>
            <a:endParaRPr sz="1700" dirty="0"/>
          </a:p>
        </p:txBody>
      </p:sp>
      <p:sp>
        <p:nvSpPr>
          <p:cNvPr id="11009" name="Dual operation steps"/>
          <p:cNvSpPr/>
          <p:nvPr/>
        </p:nvSpPr>
        <p:spPr>
          <a:xfrm>
            <a:off x="508000" y="2092325"/>
            <a:ext cx="8128000" cy="2857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Transpose · exchange the blocks · invert</a:t>
            </a:r>
            <a:endParaRPr sz="1500" dirty="0"/>
          </a:p>
        </p:txBody>
      </p:sp>
      <mc:AlternateContent xmlns:mc="http://schemas.openxmlformats.org/markup-compatibility/2006" xmlns:a14="http://schemas.microsoft.com/office/drawing/2010/main">
        <mc:Choice Requires="a14">
          <p:sp>
            <p:nvSpPr>
              <p:cNvPr id="14001" name="Full D 0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1" name="Full D 0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2" name="Full D 0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2" name="Full D 0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3" name="Full D 0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03" name="Full D 0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4" name="Full D 0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04" name="Full D 0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5" name="Full D 0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5" name="Full D 0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6" name="Full D 0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06" name="Full D 0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7" name="Full D 0 symbol"/>
              <p:cNvSpPr/>
              <p:nvPr/>
            </p:nvSpPr>
            <p:spPr>
              <a:xfrm>
                <a:off x="4102100" y="2738120"/>
                <a:ext cx="1397000" cy="924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600">
                              <a:solidFill>
                                <a:srgbClr val="252529"/>
                              </a:solidFill>
                              <a:latin typeface="Cambria Math"/>
                            </a:rPr>
                          </m:ctrlPr>
                        </m:sSupPr>
                        <m:e>
                          <m:r>
                            <m:rPr>
                              <m:sty m:val="p"/>
                            </m:rPr>
                            <a:rPr sz="2600">
                              <a:solidFill>
                                <a:srgbClr val="252529"/>
                              </a:solidFill>
                              <a:latin typeface="Cambria Math"/>
                            </a:rPr>
                            <m:t>Θ</m:t>
                          </m:r>
                        </m:e>
                        <m:sup>
                          <m:r>
                            <a:rPr lang="en-US" sz="2600" b="0" i="1" smtClean="0">
                              <a:solidFill>
                                <a:srgbClr val="252529"/>
                              </a:solidFill>
                              <a:latin typeface="Cambria Math" panose="02040503050406030204" pitchFamily="18" charset="0"/>
                            </a:rPr>
                            <m:t>⊤</m:t>
                          </m:r>
                        </m:sup>
                      </m:sSup>
                    </m:oMath>
                  </m:oMathPara>
                </a14:m>
                <a:endParaRPr sz="2600" dirty="0"/>
              </a:p>
            </p:txBody>
          </p:sp>
        </mc:Choice>
        <mc:Fallback xmlns="">
          <p:sp>
            <p:nvSpPr>
              <p:cNvPr id="14007" name="Full D 0 symbol"/>
              <p:cNvSpPr>
                <a:spLocks noRot="1" noChangeAspect="1" noMove="1" noResize="1" noEditPoints="1" noAdjustHandles="1" noChangeArrowheads="1" noChangeShapeType="1" noTextEdit="1"/>
              </p:cNvSpPr>
              <p:nvPr/>
            </p:nvSpPr>
            <p:spPr>
              <a:xfrm>
                <a:off x="4102100" y="2738120"/>
                <a:ext cx="1397000" cy="92456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Full D 1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09" name="Full D 1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0" name="Full D 1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0" name="Full D 1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Full D 1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11" name="Full D 1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2" name="Full D 1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12" name="Full D 1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Full D 1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3" name="Full D 1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4" name="Full D 1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14" name="Full D 1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5" name="Full D 1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5" name="Full D 1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6" name="Full D 1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16" name="Full D 1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7" name="Full D 1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𝐾</m:t>
                      </m:r>
                    </m:oMath>
                  </m:oMathPara>
                </a14:m>
                <a:endParaRPr sz="2300"/>
              </a:p>
            </p:txBody>
          </p:sp>
        </mc:Choice>
        <mc:Fallback xmlns="">
          <p:sp>
            <p:nvSpPr>
              <p:cNvPr id="14017" name="Full D 1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8" name="Full D 1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18" name="Full D 1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19" name="Full D 1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20" name="Full D 1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21" name="Full D 1 transpose"/>
              <p:cNvSpPr/>
              <p:nvPr/>
            </p:nvSpPr>
            <p:spPr>
              <a:xfrm>
                <a:off x="5448300" y="2496820"/>
                <a:ext cx="279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m:t>
                      </m:r>
                    </m:oMath>
                  </m:oMathPara>
                </a14:m>
                <a:endParaRPr sz="1600"/>
              </a:p>
            </p:txBody>
          </p:sp>
        </mc:Choice>
        <mc:Fallback xmlns="">
          <p:sp>
            <p:nvSpPr>
              <p:cNvPr id="14021" name="Full D 1 transpose"/>
              <p:cNvSpPr>
                <a:spLocks noRot="1" noChangeAspect="1" noMove="1" noResize="1" noEditPoints="1" noAdjustHandles="1" noChangeArrowheads="1" noChangeShapeType="1" noTextEdit="1"/>
              </p:cNvSpPr>
              <p:nvPr/>
            </p:nvSpPr>
            <p:spPr>
              <a:xfrm>
                <a:off x="5448300" y="2496820"/>
                <a:ext cx="279400" cy="56896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3" name="Full D 2 prefix"/>
              <p:cNvSpPr/>
              <p:nvPr/>
            </p:nvSpPr>
            <p:spPr>
              <a:xfrm>
                <a:off x="7937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23" name="Full D 2 prefix"/>
              <p:cNvSpPr>
                <a:spLocks noRot="1" noChangeAspect="1" noMove="1" noResize="1" noEditPoints="1" noAdjustHandles="1" noChangeArrowheads="1" noChangeShapeType="1" noTextEdit="1"/>
              </p:cNvSpPr>
              <p:nvPr/>
            </p:nvSpPr>
            <p:spPr>
              <a:xfrm>
                <a:off x="793750" y="2791460"/>
                <a:ext cx="1841500" cy="8178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4" name="Full D 2 open"/>
              <p:cNvSpPr/>
              <p:nvPr/>
            </p:nvSpPr>
            <p:spPr>
              <a:xfrm>
                <a:off x="25400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4" name="Full D 2 open"/>
              <p:cNvSpPr>
                <a:spLocks noRot="1" noChangeAspect="1" noMove="1" noResize="1" noEditPoints="1" noAdjustHandles="1" noChangeArrowheads="1" noChangeShapeType="1" noTextEdit="1"/>
              </p:cNvSpPr>
              <p:nvPr/>
            </p:nvSpPr>
            <p:spPr>
              <a:xfrm>
                <a:off x="2540000" y="2021840"/>
                <a:ext cx="381000" cy="22047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5" name="Full D 2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25" name="Full D 2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6" name="Full D 2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26" name="Full D 2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7" name="Full D 2 left factor"/>
              <p:cNvSpPr/>
              <p:nvPr/>
            </p:nvSpPr>
            <p:spPr>
              <a:xfrm>
                <a:off x="28003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m:t>
                                </m:r>
                                <m:r>
                                  <a:rPr sz="2300">
                                    <a:solidFill>
                                      <a:srgbClr val="252529"/>
                                    </a:solidFill>
                                    <a:latin typeface="Cambria Math"/>
                                  </a:rPr>
                                  <m:t>𝐼</m:t>
                                </m:r>
                              </m:e>
                            </m:mr>
                            <m:mr>
                              <m:e>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7" name="Full D 2 left factor"/>
              <p:cNvSpPr>
                <a:spLocks noRot="1" noChangeAspect="1" noMove="1" noResize="1" noEditPoints="1" noAdjustHandles="1" noChangeArrowheads="1" noChangeShapeType="1" noTextEdit="1"/>
              </p:cNvSpPr>
              <p:nvPr/>
            </p:nvSpPr>
            <p:spPr>
              <a:xfrm>
                <a:off x="2800350" y="2791460"/>
                <a:ext cx="1181100" cy="8178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8" name="Full D 2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a:p>
            </p:txBody>
          </p:sp>
        </mc:Choice>
        <mc:Fallback xmlns="">
          <p:sp>
            <p:nvSpPr>
              <p:cNvPr id="14028" name="Full D 2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9" name="Full D 2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29" name="Full D 2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0" name="Full D 2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dirty="0"/>
              </a:p>
            </p:txBody>
          </p:sp>
        </mc:Choice>
        <mc:Fallback xmlns="">
          <p:sp>
            <p:nvSpPr>
              <p:cNvPr id="14030" name="Full D 2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1" name="Full D 2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31" name="Full D 2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2" name="Full D 2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32" name="Full D 2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33" name="Full D 2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34" name="Full D 2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36" name="Full D 3 prefix"/>
              <p:cNvSpPr/>
              <p:nvPr/>
            </p:nvSpPr>
            <p:spPr>
              <a:xfrm>
                <a:off x="18732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36" name="Full D 3 prefix"/>
              <p:cNvSpPr>
                <a:spLocks noRot="1" noChangeAspect="1" noMove="1" noResize="1" noEditPoints="1" noAdjustHandles="1" noChangeArrowheads="1" noChangeShapeType="1" noTextEdit="1"/>
              </p:cNvSpPr>
              <p:nvPr/>
            </p:nvSpPr>
            <p:spPr>
              <a:xfrm>
                <a:off x="1873250" y="2791460"/>
                <a:ext cx="1841500" cy="817880"/>
              </a:xfrm>
              <a:prstGeom prst="rect">
                <a:avLst/>
              </a:prstGeom>
              <a:blipFill>
                <a:blip r:embed="rId2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7" name="Full D 3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37" name="Full D 3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8" name="Full D 3 close"/>
              <p:cNvSpPr/>
              <p:nvPr/>
            </p:nvSpPr>
            <p:spPr>
              <a:xfrm>
                <a:off x="67691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38" name="Full D 3 close"/>
              <p:cNvSpPr>
                <a:spLocks noRot="1" noChangeAspect="1" noMove="1" noResize="1" noEditPoints="1" noAdjustHandles="1" noChangeArrowheads="1" noChangeShapeType="1" noTextEdit="1"/>
              </p:cNvSpPr>
              <p:nvPr/>
            </p:nvSpPr>
            <p:spPr>
              <a:xfrm>
                <a:off x="6769100" y="2021840"/>
                <a:ext cx="381000" cy="2204720"/>
              </a:xfrm>
              <a:prstGeom prst="rect">
                <a:avLst/>
              </a:prstGeom>
              <a:blipFill>
                <a:blip r:embed="rId9"/>
                <a:stretch>
                  <a:fillRect l="-1111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39" name="Full D 3 inverse"/>
              <p:cNvSpPr/>
              <p:nvPr/>
            </p:nvSpPr>
            <p:spPr>
              <a:xfrm>
                <a:off x="69469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39" name="Full D 3 inverse"/>
              <p:cNvSpPr>
                <a:spLocks noRot="1" noChangeAspect="1" noMove="1" noResize="1" noEditPoints="1" noAdjustHandles="1" noChangeArrowheads="1" noChangeShapeType="1" noTextEdit="1"/>
              </p:cNvSpPr>
              <p:nvPr/>
            </p:nvSpPr>
            <p:spPr>
              <a:xfrm>
                <a:off x="69469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0" name="Full D 3 right factor"/>
              <p:cNvSpPr/>
              <p:nvPr/>
            </p:nvSpPr>
            <p:spPr>
              <a:xfrm>
                <a:off x="5670550" y="2791460"/>
                <a:ext cx="1181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300" i="1">
                              <a:solidFill>
                                <a:srgbClr val="252529"/>
                              </a:solidFill>
                              <a:latin typeface="Cambria Math" panose="02040503050406030204" pitchFamily="18" charset="0"/>
                            </a:rPr>
                          </m:ctrlPr>
                        </m:dPr>
                        <m:e>
                          <m:m>
                            <m:mPr>
                              <m:mcs>
                                <m:mc>
                                  <m:mcPr>
                                    <m:count m:val="2"/>
                                    <m:mcJc m:val="center"/>
                                  </m:mcPr>
                                </m:mc>
                              </m:mcs>
                              <m:ctrlPr>
                                <a:rPr sz="2300" i="1">
                                  <a:solidFill>
                                    <a:srgbClr val="252529"/>
                                  </a:solidFill>
                                  <a:latin typeface="Cambria Math" panose="02040503050406030204" pitchFamily="18" charset="0"/>
                                </a:rPr>
                              </m:ctrlPr>
                            </m:mPr>
                            <m:mr>
                              <m:e>
                                <m:r>
                                  <a:rPr sz="2300">
                                    <a:solidFill>
                                      <a:srgbClr val="252529"/>
                                    </a:solidFill>
                                    <a:latin typeface="Cambria Math"/>
                                  </a:rPr>
                                  <m:t>0</m:t>
                                </m:r>
                              </m:e>
                              <m:e>
                                <m:r>
                                  <a:rPr sz="2300">
                                    <a:solidFill>
                                      <a:srgbClr val="252529"/>
                                    </a:solidFill>
                                    <a:latin typeface="Cambria Math"/>
                                  </a:rPr>
                                  <m:t>𝐼</m:t>
                                </m:r>
                              </m:e>
                            </m:mr>
                            <m:mr>
                              <m:e>
                                <m:r>
                                  <a:rPr sz="2300">
                                    <a:solidFill>
                                      <a:srgbClr val="252529"/>
                                    </a:solidFill>
                                    <a:latin typeface="Cambria Math"/>
                                  </a:rPr>
                                  <m:t>−</m:t>
                                </m:r>
                                <m:r>
                                  <a:rPr sz="2300">
                                    <a:solidFill>
                                      <a:srgbClr val="252529"/>
                                    </a:solidFill>
                                    <a:latin typeface="Cambria Math"/>
                                  </a:rPr>
                                  <m:t>𝐼</m:t>
                                </m:r>
                              </m:e>
                              <m:e>
                                <m:r>
                                  <a:rPr sz="2300">
                                    <a:solidFill>
                                      <a:srgbClr val="252529"/>
                                    </a:solidFill>
                                    <a:latin typeface="Cambria Math"/>
                                  </a:rPr>
                                  <m:t>0</m:t>
                                </m:r>
                              </m:e>
                            </m:mr>
                          </m:m>
                        </m:e>
                      </m:d>
                    </m:oMath>
                  </m:oMathPara>
                </a14:m>
                <a:endParaRPr sz="2300" dirty="0"/>
              </a:p>
            </p:txBody>
          </p:sp>
        </mc:Choice>
        <mc:Fallback xmlns="">
          <p:sp>
            <p:nvSpPr>
              <p:cNvPr id="14040" name="Full D 3 right factor"/>
              <p:cNvSpPr>
                <a:spLocks noRot="1" noChangeAspect="1" noMove="1" noResize="1" noEditPoints="1" noAdjustHandles="1" noChangeArrowheads="1" noChangeShapeType="1" noTextEdit="1"/>
              </p:cNvSpPr>
              <p:nvPr/>
            </p:nvSpPr>
            <p:spPr>
              <a:xfrm>
                <a:off x="5670550" y="2791460"/>
                <a:ext cx="1181100" cy="81788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1" name="Full D 3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dirty="0"/>
              </a:p>
            </p:txBody>
          </p:sp>
        </mc:Choice>
        <mc:Fallback xmlns="">
          <p:sp>
            <p:nvSpPr>
              <p:cNvPr id="14041" name="Full D 3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2" name="Full D 3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r>
                        <a:rPr sz="2300">
                          <a:solidFill>
                            <a:srgbClr val="C81919"/>
                          </a:solidFill>
                          <a:latin typeface="Cambria Math"/>
                        </a:rPr>
                        <m:t>𝐼</m:t>
                      </m:r>
                    </m:oMath>
                  </m:oMathPara>
                </a14:m>
                <a:endParaRPr sz="2300"/>
              </a:p>
            </p:txBody>
          </p:sp>
        </mc:Choice>
        <mc:Fallback xmlns="">
          <p:sp>
            <p:nvSpPr>
              <p:cNvPr id="14042" name="Full D 3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2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3" name="Full D 3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43" name="Full D 3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4" name="Full D 3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44" name="Full D 3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26"/>
                <a:stretch>
                  <a:fillRect/>
                </a:stretch>
              </a:blipFill>
              <a:ln>
                <a:noFill/>
              </a:ln>
            </p:spPr>
            <p:txBody>
              <a:bodyPr/>
              <a:lstStyle/>
              <a:p>
                <a:r>
                  <a:rPr lang="en-NL">
                    <a:noFill/>
                  </a:rPr>
                  <a:t> </a:t>
                </a:r>
              </a:p>
            </p:txBody>
          </p:sp>
        </mc:Fallback>
      </mc:AlternateContent>
      <p:sp>
        <p:nvSpPr>
          <p:cNvPr id="14045" name="Full D 3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46" name="Full D 3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48" name="Full D 4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48" name="Full D 4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49" name="Full D 4 open"/>
              <p:cNvSpPr/>
              <p:nvPr/>
            </p:nvSpPr>
            <p:spPr>
              <a:xfrm>
                <a:off x="37973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a:p>
            </p:txBody>
          </p:sp>
        </mc:Choice>
        <mc:Fallback xmlns="">
          <p:sp>
            <p:nvSpPr>
              <p:cNvPr id="14049" name="Full D 4 open"/>
              <p:cNvSpPr>
                <a:spLocks noRot="1" noChangeAspect="1" noMove="1" noResize="1" noEditPoints="1" noAdjustHandles="1" noChangeArrowheads="1" noChangeShapeType="1" noTextEdit="1"/>
              </p:cNvSpPr>
              <p:nvPr/>
            </p:nvSpPr>
            <p:spPr>
              <a:xfrm>
                <a:off x="3797300" y="2021840"/>
                <a:ext cx="381000" cy="2204720"/>
              </a:xfrm>
              <a:prstGeom prst="rect">
                <a:avLst/>
              </a:prstGeom>
              <a:blipFill>
                <a:blip r:embed="rId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0" name="Full D 4 close"/>
              <p:cNvSpPr/>
              <p:nvPr/>
            </p:nvSpPr>
            <p:spPr>
              <a:xfrm>
                <a:off x="5422900" y="2021840"/>
                <a:ext cx="381000" cy="2204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6200">
                          <a:solidFill>
                            <a:srgbClr val="252529"/>
                          </a:solidFill>
                          <a:latin typeface="Cambria Math"/>
                        </a:rPr>
                        <m:t>)</m:t>
                      </m:r>
                    </m:oMath>
                  </m:oMathPara>
                </a14:m>
                <a:endParaRPr sz="6200" dirty="0"/>
              </a:p>
            </p:txBody>
          </p:sp>
        </mc:Choice>
        <mc:Fallback xmlns="">
          <p:sp>
            <p:nvSpPr>
              <p:cNvPr id="14050" name="Full D 4 close"/>
              <p:cNvSpPr>
                <a:spLocks noRot="1" noChangeAspect="1" noMove="1" noResize="1" noEditPoints="1" noAdjustHandles="1" noChangeArrowheads="1" noChangeShapeType="1" noTextEdit="1"/>
              </p:cNvSpPr>
              <p:nvPr/>
            </p:nvSpPr>
            <p:spPr>
              <a:xfrm>
                <a:off x="5422900" y="2021840"/>
                <a:ext cx="381000" cy="2204720"/>
              </a:xfrm>
              <a:prstGeom prst="rect">
                <a:avLst/>
              </a:prstGeom>
              <a:blipFill>
                <a:blip r:embed="rId28"/>
                <a:stretch>
                  <a:fillRect l="-1290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1" name="Full D 4 inverse"/>
              <p:cNvSpPr/>
              <p:nvPr/>
            </p:nvSpPr>
            <p:spPr>
              <a:xfrm>
                <a:off x="5575300" y="2471420"/>
                <a:ext cx="533400" cy="5689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00">
                          <a:solidFill>
                            <a:srgbClr val="C81919"/>
                          </a:solidFill>
                          <a:latin typeface="Cambria Math"/>
                        </a:rPr>
                        <m:t>−1</m:t>
                      </m:r>
                    </m:oMath>
                  </m:oMathPara>
                </a14:m>
                <a:endParaRPr sz="1600"/>
              </a:p>
            </p:txBody>
          </p:sp>
        </mc:Choice>
        <mc:Fallback xmlns="">
          <p:sp>
            <p:nvSpPr>
              <p:cNvPr id="14051" name="Full D 4 inverse"/>
              <p:cNvSpPr>
                <a:spLocks noRot="1" noChangeAspect="1" noMove="1" noResize="1" noEditPoints="1" noAdjustHandles="1" noChangeArrowheads="1" noChangeShapeType="1" noTextEdit="1"/>
              </p:cNvSpPr>
              <p:nvPr/>
            </p:nvSpPr>
            <p:spPr>
              <a:xfrm>
                <a:off x="5575300" y="2471420"/>
                <a:ext cx="533400" cy="5689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2" name="Full D 4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2" name="Full D 4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3" name="Full D 4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53" name="Full D 4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4" name="Full D 4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54" name="Full D 4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55" name="Full D 4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55" name="Full D 4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56" name="Full D 4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57" name="Full D 4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59" name="Full D 5 prefix"/>
              <p:cNvSpPr/>
              <p:nvPr/>
            </p:nvSpPr>
            <p:spPr>
              <a:xfrm>
                <a:off x="2406650" y="2791460"/>
                <a:ext cx="18415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300">
                          <a:solidFill>
                            <a:srgbClr val="252529"/>
                          </a:solidFill>
                          <a:latin typeface="Cambria Math"/>
                        </a:rPr>
                        <m:t>D</m:t>
                      </m:r>
                      <m:d>
                        <m:dPr>
                          <m:ctrlPr>
                            <a:rPr sz="2300">
                              <a:solidFill>
                                <a:srgbClr val="252529"/>
                              </a:solidFill>
                              <a:latin typeface="Cambria Math"/>
                            </a:rPr>
                          </m:ctrlPr>
                        </m:dPr>
                        <m:e>
                          <m:r>
                            <m:rPr>
                              <m:sty m:val="p"/>
                            </m:rPr>
                            <a:rPr sz="2300">
                              <a:solidFill>
                                <a:srgbClr val="252529"/>
                              </a:solidFill>
                              <a:latin typeface="Cambria Math"/>
                            </a:rPr>
                            <m:t>Θ</m:t>
                          </m:r>
                        </m:e>
                      </m:d>
                      <m:r>
                        <a:rPr sz="2300">
                          <a:solidFill>
                            <a:srgbClr val="252529"/>
                          </a:solidFill>
                          <a:latin typeface="Cambria Math"/>
                        </a:rPr>
                        <m:t>=</m:t>
                      </m:r>
                    </m:oMath>
                  </m:oMathPara>
                </a14:m>
                <a:endParaRPr sz="2300"/>
              </a:p>
            </p:txBody>
          </p:sp>
        </mc:Choice>
        <mc:Fallback xmlns="">
          <p:sp>
            <p:nvSpPr>
              <p:cNvPr id="14059" name="Full D 5 prefix"/>
              <p:cNvSpPr>
                <a:spLocks noRot="1" noChangeAspect="1" noMove="1" noResize="1" noEditPoints="1" noAdjustHandles="1" noChangeArrowheads="1" noChangeShapeType="1" noTextEdit="1"/>
              </p:cNvSpPr>
              <p:nvPr/>
            </p:nvSpPr>
            <p:spPr>
              <a:xfrm>
                <a:off x="2406650" y="2791460"/>
                <a:ext cx="1841500" cy="817880"/>
              </a:xfrm>
              <a:prstGeom prst="rect">
                <a:avLst/>
              </a:prstGeom>
              <a:blipFill>
                <a:blip r:embed="rId2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0" name="Full D 5 cell0"/>
              <p:cNvSpPr/>
              <p:nvPr/>
            </p:nvSpPr>
            <p:spPr>
              <a:xfrm>
                <a:off x="40068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a:p>
            </p:txBody>
          </p:sp>
        </mc:Choice>
        <mc:Fallback xmlns="">
          <p:sp>
            <p:nvSpPr>
              <p:cNvPr id="14060" name="Full D 5 cell0"/>
              <p:cNvSpPr>
                <a:spLocks noRot="1" noChangeAspect="1" noMove="1" noResize="1" noEditPoints="1" noAdjustHandles="1" noChangeArrowheads="1" noChangeShapeType="1" noTextEdit="1"/>
              </p:cNvSpPr>
              <p:nvPr/>
            </p:nvSpPr>
            <p:spPr>
              <a:xfrm>
                <a:off x="4006850" y="2626360"/>
                <a:ext cx="927100" cy="81788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1" name="Full D 5 cell1"/>
              <p:cNvSpPr/>
              <p:nvPr/>
            </p:nvSpPr>
            <p:spPr>
              <a:xfrm>
                <a:off x="4667250" y="26263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0</m:t>
                      </m:r>
                    </m:oMath>
                  </m:oMathPara>
                </a14:m>
                <a:endParaRPr sz="2300"/>
              </a:p>
            </p:txBody>
          </p:sp>
        </mc:Choice>
        <mc:Fallback xmlns="">
          <p:sp>
            <p:nvSpPr>
              <p:cNvPr id="14061" name="Full D 5 cell1"/>
              <p:cNvSpPr>
                <a:spLocks noRot="1" noChangeAspect="1" noMove="1" noResize="1" noEditPoints="1" noAdjustHandles="1" noChangeArrowheads="1" noChangeShapeType="1" noTextEdit="1"/>
              </p:cNvSpPr>
              <p:nvPr/>
            </p:nvSpPr>
            <p:spPr>
              <a:xfrm>
                <a:off x="4667250" y="2626360"/>
                <a:ext cx="927100" cy="81788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2" name="Full D 5 cell2"/>
              <p:cNvSpPr/>
              <p:nvPr/>
            </p:nvSpPr>
            <p:spPr>
              <a:xfrm>
                <a:off x="40068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C81919"/>
                          </a:solidFill>
                          <a:latin typeface="Cambria Math"/>
                        </a:rPr>
                        <m:t>−</m:t>
                      </m:r>
                      <m:sSup>
                        <m:sSupPr>
                          <m:ctrlPr>
                            <a:rPr sz="2300">
                              <a:solidFill>
                                <a:srgbClr val="C81919"/>
                              </a:solidFill>
                              <a:latin typeface="Cambria Math"/>
                            </a:rPr>
                          </m:ctrlPr>
                        </m:sSupPr>
                        <m:e>
                          <m:r>
                            <a:rPr sz="2300">
                              <a:solidFill>
                                <a:srgbClr val="C81919"/>
                              </a:solidFill>
                              <a:latin typeface="Cambria Math"/>
                            </a:rPr>
                            <m:t>𝐾</m:t>
                          </m:r>
                        </m:e>
                        <m:sup>
                          <m:r>
                            <a:rPr sz="2300">
                              <a:solidFill>
                                <a:srgbClr val="C81919"/>
                              </a:solidFill>
                              <a:latin typeface="Cambria Math"/>
                            </a:rPr>
                            <m:t>⊤</m:t>
                          </m:r>
                        </m:sup>
                      </m:sSup>
                    </m:oMath>
                  </m:oMathPara>
                </a14:m>
                <a:endParaRPr sz="2300"/>
              </a:p>
            </p:txBody>
          </p:sp>
        </mc:Choice>
        <mc:Fallback xmlns="">
          <p:sp>
            <p:nvSpPr>
              <p:cNvPr id="14062" name="Full D 5 cell2"/>
              <p:cNvSpPr>
                <a:spLocks noRot="1" noChangeAspect="1" noMove="1" noResize="1" noEditPoints="1" noAdjustHandles="1" noChangeArrowheads="1" noChangeShapeType="1" noTextEdit="1"/>
              </p:cNvSpPr>
              <p:nvPr/>
            </p:nvSpPr>
            <p:spPr>
              <a:xfrm>
                <a:off x="4006850" y="2956560"/>
                <a:ext cx="927100" cy="817880"/>
              </a:xfrm>
              <a:prstGeom prst="rect">
                <a:avLst/>
              </a:prstGeom>
              <a:blipFill>
                <a:blip r:embed="rId3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63" name="Full D 5 cell3"/>
              <p:cNvSpPr/>
              <p:nvPr/>
            </p:nvSpPr>
            <p:spPr>
              <a:xfrm>
                <a:off x="4667250" y="2956560"/>
                <a:ext cx="927100" cy="8178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𝐼</m:t>
                      </m:r>
                    </m:oMath>
                  </m:oMathPara>
                </a14:m>
                <a:endParaRPr sz="2300" dirty="0"/>
              </a:p>
            </p:txBody>
          </p:sp>
        </mc:Choice>
        <mc:Fallback xmlns="">
          <p:sp>
            <p:nvSpPr>
              <p:cNvPr id="14063" name="Full D 5 cell3"/>
              <p:cNvSpPr>
                <a:spLocks noRot="1" noChangeAspect="1" noMove="1" noResize="1" noEditPoints="1" noAdjustHandles="1" noChangeArrowheads="1" noChangeShapeType="1" noTextEdit="1"/>
              </p:cNvSpPr>
              <p:nvPr/>
            </p:nvSpPr>
            <p:spPr>
              <a:xfrm>
                <a:off x="4667250" y="2956560"/>
                <a:ext cx="927100" cy="817880"/>
              </a:xfrm>
              <a:prstGeom prst="rect">
                <a:avLst/>
              </a:prstGeom>
              <a:blipFill>
                <a:blip r:embed="rId17"/>
                <a:stretch>
                  <a:fillRect/>
                </a:stretch>
              </a:blipFill>
              <a:ln>
                <a:noFill/>
              </a:ln>
            </p:spPr>
            <p:txBody>
              <a:bodyPr/>
              <a:lstStyle/>
              <a:p>
                <a:r>
                  <a:rPr lang="en-NL">
                    <a:noFill/>
                  </a:rPr>
                  <a:t> </a:t>
                </a:r>
              </a:p>
            </p:txBody>
          </p:sp>
        </mc:Fallback>
      </mc:AlternateContent>
      <p:sp>
        <p:nvSpPr>
          <p:cNvPr id="14064" name="Full D 5 left bracket"/>
          <p:cNvSpPr/>
          <p:nvPr/>
        </p:nvSpPr>
        <p:spPr>
          <a:xfrm>
            <a:off x="4127500" y="2844800"/>
            <a:ext cx="127000" cy="723900"/>
          </a:xfrm>
          <a:custGeom>
            <a:avLst/>
            <a:gdLst/>
            <a:ahLst/>
            <a:cxnLst/>
            <a:rect l="0" t="0" r="r" b="b"/>
            <a:pathLst>
              <a:path w="127000" h="723900" fill="none">
                <a:moveTo>
                  <a:pt x="114300" y="12700"/>
                </a:moveTo>
                <a:lnTo>
                  <a:pt x="12700" y="12700"/>
                </a:lnTo>
                <a:lnTo>
                  <a:pt x="12700" y="711200"/>
                </a:lnTo>
                <a:lnTo>
                  <a:pt x="114300" y="711200"/>
                </a:lnTo>
              </a:path>
            </a:pathLst>
          </a:custGeom>
          <a:noFill/>
          <a:ln w="14605">
            <a:solidFill>
              <a:srgbClr val="252529"/>
            </a:solidFill>
          </a:ln>
        </p:spPr>
      </p:sp>
      <p:sp>
        <p:nvSpPr>
          <p:cNvPr id="14065" name="Full D 5 right bracket"/>
          <p:cNvSpPr/>
          <p:nvPr/>
        </p:nvSpPr>
        <p:spPr>
          <a:xfrm>
            <a:off x="5346700" y="2844800"/>
            <a:ext cx="127000" cy="723900"/>
          </a:xfrm>
          <a:custGeom>
            <a:avLst/>
            <a:gdLst/>
            <a:ahLst/>
            <a:cxnLst/>
            <a:rect l="0" t="0" r="r" b="b"/>
            <a:pathLst>
              <a:path w="127000" h="723900" fill="none">
                <a:moveTo>
                  <a:pt x="12700" y="12700"/>
                </a:moveTo>
                <a:lnTo>
                  <a:pt x="114300" y="12700"/>
                </a:lnTo>
                <a:lnTo>
                  <a:pt x="114300" y="711200"/>
                </a:lnTo>
                <a:lnTo>
                  <a:pt x="12700" y="711200"/>
                </a:lnTo>
              </a:path>
            </a:pathLst>
          </a:custGeom>
          <a:noFill/>
          <a:ln w="14605">
            <a:solidFill>
              <a:srgbClr val="252529"/>
            </a:solidFill>
          </a:ln>
        </p:spPr>
      </p:sp>
      <mc:AlternateContent xmlns:mc="http://schemas.openxmlformats.org/markup-compatibility/2006" xmlns:a14="http://schemas.microsoft.com/office/drawing/2010/main">
        <mc:Choice Requires="a14">
          <p:sp>
            <p:nvSpPr>
              <p:cNvPr id="14066" name="Full D 5 answer"/>
              <p:cNvSpPr/>
              <p:nvPr/>
            </p:nvSpPr>
            <p:spPr>
              <a:xfrm>
                <a:off x="5626100" y="2755900"/>
                <a:ext cx="1270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m:t>
                      </m:r>
                      <m:bar>
                        <m:barPr>
                          <m:pos m:val="bot"/>
                          <m:ctrlPr>
                            <a:rPr sz="2500">
                              <a:solidFill>
                                <a:srgbClr val="252529"/>
                              </a:solidFill>
                              <a:latin typeface="Cambria Math"/>
                            </a:rPr>
                          </m:ctrlPr>
                        </m:barPr>
                        <m:e>
                          <m:r>
                            <m:rPr>
                              <m:sty m:val="p"/>
                            </m:rPr>
                            <a:rPr sz="2500">
                              <a:solidFill>
                                <a:srgbClr val="252529"/>
                              </a:solidFill>
                              <a:latin typeface="Cambria Math"/>
                            </a:rPr>
                            <m:t>Θ</m:t>
                          </m:r>
                        </m:e>
                      </m:bar>
                    </m:oMath>
                  </m:oMathPara>
                </a14:m>
                <a:endParaRPr sz="2500" dirty="0"/>
              </a:p>
            </p:txBody>
          </p:sp>
        </mc:Choice>
        <mc:Fallback xmlns="">
          <p:sp>
            <p:nvSpPr>
              <p:cNvPr id="14066" name="Full D 5 answer"/>
              <p:cNvSpPr>
                <a:spLocks noRot="1" noChangeAspect="1" noMove="1" noResize="1" noEditPoints="1" noAdjustHandles="1" noChangeArrowheads="1" noChangeShapeType="1" noTextEdit="1"/>
              </p:cNvSpPr>
              <p:nvPr/>
            </p:nvSpPr>
            <p:spPr>
              <a:xfrm>
                <a:off x="5626100" y="2755900"/>
                <a:ext cx="1270000" cy="889000"/>
              </a:xfrm>
              <a:prstGeom prst="rect">
                <a:avLst/>
              </a:prstGeom>
              <a:blipFill>
                <a:blip r:embed="rId31"/>
                <a:stretch>
                  <a:fillRect/>
                </a:stretch>
              </a:blipFill>
              <a:ln>
                <a:noFill/>
              </a:ln>
            </p:spPr>
            <p:txBody>
              <a:bodyPr/>
              <a:lstStyle/>
              <a:p>
                <a:r>
                  <a:rPr lang="en-NL">
                    <a:noFill/>
                  </a:rPr>
                  <a:t> </a:t>
                </a:r>
              </a:p>
            </p:txBody>
          </p:sp>
        </mc:Fallback>
      </mc:AlternateContent>
      <p:sp>
        <p:nvSpPr>
          <p:cNvPr id="14068" name="Full dual operation box"/>
          <p:cNvSpPr/>
          <p:nvPr/>
        </p:nvSpPr>
        <p:spPr>
          <a:xfrm>
            <a:off x="762000" y="2451100"/>
            <a:ext cx="7620000" cy="1549400"/>
          </a:xfrm>
          <a:prstGeom prst="rect">
            <a:avLst/>
          </a:prstGeom>
          <a:noFill/>
          <a:ln w="22860">
            <a:solidFill>
              <a:srgbClr val="C81919"/>
            </a:solidFill>
          </a:ln>
        </p:spPr>
      </p:sp>
    </p:spTree>
    <p:extLst>
      <p:ext uri="{BB962C8B-B14F-4D97-AF65-F5344CB8AC3E}">
        <p14:creationId xmlns:p14="http://schemas.microsoft.com/office/powerpoint/2010/main" val="6828105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xmlns:a14="http://schemas.microsoft.com/office/drawing/2010/main" xmlns:m="http://schemas.openxmlformats.org/officeDocument/2006/math">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005"/>
                                        </p:tgtEl>
                                        <p:attrNameLst>
                                          <p:attrName>style.visibility</p:attrName>
                                        </p:attrNameLst>
                                      </p:cBhvr>
                                      <p:to>
                                        <p:strVal val="visible"/>
                                      </p:to>
                                    </p:set>
                                    <p:animEffect transition="in" filter="fade">
                                      <p:cBhvr>
                                        <p:cTn id="7" dur="400"/>
                                        <p:tgtEl>
                                          <p:spTgt spid="11005"/>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006"/>
                                        </p:tgtEl>
                                        <p:attrNameLst>
                                          <p:attrName>style.visibility</p:attrName>
                                        </p:attrNameLst>
                                      </p:cBhvr>
                                      <p:to>
                                        <p:strVal val="visible"/>
                                      </p:to>
                                    </p:set>
                                    <p:animEffect transition="in" filter="fade">
                                      <p:cBhvr>
                                        <p:cTn id="10" dur="400"/>
                                        <p:tgtEl>
                                          <p:spTgt spid="11006"/>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xit" presetSubtype="0" fill="hold" grpId="1" nodeType="clickEffect">
                                  <p:stCondLst>
                                    <p:cond delay="0"/>
                                  </p:stCondLst>
                                  <p:childTnLst>
                                    <p:animEffect transition="out" filter="fade">
                                      <p:cBhvr>
                                        <p:cTn id="14" dur="124"/>
                                        <p:tgtEl>
                                          <p:spTgt spid="11005"/>
                                        </p:tgtEl>
                                      </p:cBhvr>
                                    </p:animEffect>
                                    <p:set>
                                      <p:cBhvr>
                                        <p:cTn id="15" dur="1" fill="hold">
                                          <p:stCondLst>
                                            <p:cond delay="124"/>
                                          </p:stCondLst>
                                        </p:cTn>
                                        <p:tgtEl>
                                          <p:spTgt spid="11005"/>
                                        </p:tgtEl>
                                        <p:attrNameLst>
                                          <p:attrName>style.visibility</p:attrName>
                                        </p:attrNameLst>
                                      </p:cBhvr>
                                      <p:to>
                                        <p:strVal val="hidden"/>
                                      </p:to>
                                    </p:set>
                                  </p:childTnLst>
                                </p:cTn>
                              </p:par>
                              <p:par>
                                <p:cTn id="16" presetID="10" presetClass="exit" presetSubtype="0" fill="hold" grpId="1" nodeType="withEffect">
                                  <p:stCondLst>
                                    <p:cond delay="0"/>
                                  </p:stCondLst>
                                  <p:childTnLst>
                                    <p:animEffect transition="out" filter="fade">
                                      <p:cBhvr>
                                        <p:cTn id="17" dur="124"/>
                                        <p:tgtEl>
                                          <p:spTgt spid="11006"/>
                                        </p:tgtEl>
                                      </p:cBhvr>
                                    </p:animEffect>
                                    <p:set>
                                      <p:cBhvr>
                                        <p:cTn id="18" dur="1" fill="hold">
                                          <p:stCondLst>
                                            <p:cond delay="124"/>
                                          </p:stCondLst>
                                        </p:cTn>
                                        <p:tgtEl>
                                          <p:spTgt spid="11006"/>
                                        </p:tgtEl>
                                        <p:attrNameLst>
                                          <p:attrName>style.visibility</p:attrName>
                                        </p:attrNameLst>
                                      </p:cBhvr>
                                      <p:to>
                                        <p:strVal val="hidden"/>
                                      </p:to>
                                    </p:set>
                                  </p:childTnLst>
                                </p:cTn>
                              </p:par>
                              <p:par>
                                <p:cTn id="19" presetID="10" presetClass="entr" presetSubtype="0" fill="hold" grpId="0" nodeType="withEffect">
                                  <p:stCondLst>
                                    <p:cond delay="124"/>
                                  </p:stCondLst>
                                  <p:childTnLst>
                                    <p:set>
                                      <p:cBhvr>
                                        <p:cTn id="20" dur="1" fill="hold">
                                          <p:stCondLst>
                                            <p:cond delay="0"/>
                                          </p:stCondLst>
                                        </p:cTn>
                                        <p:tgtEl>
                                          <p:spTgt spid="11009"/>
                                        </p:tgtEl>
                                        <p:attrNameLst>
                                          <p:attrName>style.visibility</p:attrName>
                                        </p:attrNameLst>
                                      </p:cBhvr>
                                      <p:to>
                                        <p:strVal val="visible"/>
                                      </p:to>
                                    </p:set>
                                    <p:animEffect transition="in" filter="fade">
                                      <p:cBhvr>
                                        <p:cTn id="21" dur="166"/>
                                        <p:tgtEl>
                                          <p:spTgt spid="11009"/>
                                        </p:tgtEl>
                                      </p:cBhvr>
                                    </p:animEffect>
                                  </p:childTnLst>
                                </p:cTn>
                              </p:par>
                              <p:par>
                                <p:cTn id="22" presetID="10" presetClass="entr" presetSubtype="0" fill="hold" nodeType="withEffect">
                                  <p:stCondLst>
                                    <p:cond delay="124"/>
                                  </p:stCondLst>
                                  <p:childTnLst>
                                    <p:animEffect transition="in" filter="fade">
                                      <p:cBhvr>
                                        <p:cTn id="23" dur="166"/>
                                        <p:tgtEl>
                                          <p:spTgt spid="14001"/>
                                        </p:tgtEl>
                                      </p:cBhvr>
                                    </p:animEffect>
                                    <p:set>
                                      <p:cBhvr>
                                        <p:cTn id="24" dur="1" fill="hold">
                                          <p:stCondLst>
                                            <p:cond delay="0"/>
                                          </p:stCondLst>
                                        </p:cTn>
                                        <p:tgtEl>
                                          <p:spTgt spid="14001"/>
                                        </p:tgtEl>
                                        <p:attrNameLst>
                                          <p:attrName>style.visibility</p:attrName>
                                        </p:attrNameLst>
                                      </p:cBhvr>
                                      <p:to>
                                        <p:strVal val="visible"/>
                                      </p:to>
                                    </p:set>
                                  </p:childTnLst>
                                </p:cTn>
                              </p:par>
                              <p:par>
                                <p:cTn id="25" presetID="10" presetClass="entr" presetSubtype="0" fill="hold" nodeType="withEffect">
                                  <p:stCondLst>
                                    <p:cond delay="124"/>
                                  </p:stCondLst>
                                  <p:childTnLst>
                                    <p:animEffect transition="in" filter="fade">
                                      <p:cBhvr>
                                        <p:cTn id="26" dur="166"/>
                                        <p:tgtEl>
                                          <p:spTgt spid="14002"/>
                                        </p:tgtEl>
                                      </p:cBhvr>
                                    </p:animEffect>
                                    <p:set>
                                      <p:cBhvr>
                                        <p:cTn id="27" dur="1" fill="hold">
                                          <p:stCondLst>
                                            <p:cond delay="0"/>
                                          </p:stCondLst>
                                        </p:cTn>
                                        <p:tgtEl>
                                          <p:spTgt spid="14002"/>
                                        </p:tgtEl>
                                        <p:attrNameLst>
                                          <p:attrName>style.visibility</p:attrName>
                                        </p:attrNameLst>
                                      </p:cBhvr>
                                      <p:to>
                                        <p:strVal val="visible"/>
                                      </p:to>
                                    </p:set>
                                  </p:childTnLst>
                                </p:cTn>
                              </p:par>
                              <p:par>
                                <p:cTn id="28" presetID="10" presetClass="entr" presetSubtype="0" fill="hold" nodeType="withEffect">
                                  <p:stCondLst>
                                    <p:cond delay="124"/>
                                  </p:stCondLst>
                                  <p:childTnLst>
                                    <p:animEffect transition="in" filter="fade">
                                      <p:cBhvr>
                                        <p:cTn id="29" dur="166"/>
                                        <p:tgtEl>
                                          <p:spTgt spid="14003"/>
                                        </p:tgtEl>
                                      </p:cBhvr>
                                    </p:animEffect>
                                    <p:set>
                                      <p:cBhvr>
                                        <p:cTn id="30" dur="1" fill="hold">
                                          <p:stCondLst>
                                            <p:cond delay="0"/>
                                          </p:stCondLst>
                                        </p:cTn>
                                        <p:tgtEl>
                                          <p:spTgt spid="14003"/>
                                        </p:tgtEl>
                                        <p:attrNameLst>
                                          <p:attrName>style.visibility</p:attrName>
                                        </p:attrNameLst>
                                      </p:cBhvr>
                                      <p:to>
                                        <p:strVal val="visible"/>
                                      </p:to>
                                    </p:set>
                                  </p:childTnLst>
                                </p:cTn>
                              </p:par>
                              <p:par>
                                <p:cTn id="31" presetID="10" presetClass="entr" presetSubtype="0" fill="hold" nodeType="withEffect">
                                  <p:stCondLst>
                                    <p:cond delay="124"/>
                                  </p:stCondLst>
                                  <p:childTnLst>
                                    <p:animEffect transition="in" filter="fade">
                                      <p:cBhvr>
                                        <p:cTn id="32" dur="166"/>
                                        <p:tgtEl>
                                          <p:spTgt spid="14004"/>
                                        </p:tgtEl>
                                      </p:cBhvr>
                                    </p:animEffect>
                                    <p:set>
                                      <p:cBhvr>
                                        <p:cTn id="33" dur="1" fill="hold">
                                          <p:stCondLst>
                                            <p:cond delay="0"/>
                                          </p:stCondLst>
                                        </p:cTn>
                                        <p:tgtEl>
                                          <p:spTgt spid="14004"/>
                                        </p:tgtEl>
                                        <p:attrNameLst>
                                          <p:attrName>style.visibility</p:attrName>
                                        </p:attrNameLst>
                                      </p:cBhvr>
                                      <p:to>
                                        <p:strVal val="visible"/>
                                      </p:to>
                                    </p:set>
                                  </p:childTnLst>
                                </p:cTn>
                              </p:par>
                              <p:par>
                                <p:cTn id="34" presetID="10" presetClass="entr" presetSubtype="0" fill="hold" nodeType="withEffect">
                                  <p:stCondLst>
                                    <p:cond delay="124"/>
                                  </p:stCondLst>
                                  <p:childTnLst>
                                    <p:animEffect transition="in" filter="fade">
                                      <p:cBhvr>
                                        <p:cTn id="35" dur="166"/>
                                        <p:tgtEl>
                                          <p:spTgt spid="14005"/>
                                        </p:tgtEl>
                                      </p:cBhvr>
                                    </p:animEffect>
                                    <p:set>
                                      <p:cBhvr>
                                        <p:cTn id="36" dur="1" fill="hold">
                                          <p:stCondLst>
                                            <p:cond delay="0"/>
                                          </p:stCondLst>
                                        </p:cTn>
                                        <p:tgtEl>
                                          <p:spTgt spid="14005"/>
                                        </p:tgtEl>
                                        <p:attrNameLst>
                                          <p:attrName>style.visibility</p:attrName>
                                        </p:attrNameLst>
                                      </p:cBhvr>
                                      <p:to>
                                        <p:strVal val="visible"/>
                                      </p:to>
                                    </p:set>
                                  </p:childTnLst>
                                </p:cTn>
                              </p:par>
                              <p:par>
                                <p:cTn id="37" presetID="10" presetClass="entr" presetSubtype="0" fill="hold" nodeType="withEffect">
                                  <p:stCondLst>
                                    <p:cond delay="124"/>
                                  </p:stCondLst>
                                  <p:childTnLst>
                                    <p:animEffect transition="in" filter="fade">
                                      <p:cBhvr>
                                        <p:cTn id="38" dur="166"/>
                                        <p:tgtEl>
                                          <p:spTgt spid="14006"/>
                                        </p:tgtEl>
                                      </p:cBhvr>
                                    </p:animEffect>
                                    <p:set>
                                      <p:cBhvr>
                                        <p:cTn id="39" dur="1" fill="hold">
                                          <p:stCondLst>
                                            <p:cond delay="0"/>
                                          </p:stCondLst>
                                        </p:cTn>
                                        <p:tgtEl>
                                          <p:spTgt spid="14006"/>
                                        </p:tgtEl>
                                        <p:attrNameLst>
                                          <p:attrName>style.visibility</p:attrName>
                                        </p:attrNameLst>
                                      </p:cBhvr>
                                      <p:to>
                                        <p:strVal val="visible"/>
                                      </p:to>
                                    </p:set>
                                  </p:childTnLst>
                                </p:cTn>
                              </p:par>
                              <p:par>
                                <p:cTn id="40" presetID="10" presetClass="entr" presetSubtype="0" fill="hold" nodeType="withEffect">
                                  <p:stCondLst>
                                    <p:cond delay="124"/>
                                  </p:stCondLst>
                                  <p:childTnLst>
                                    <p:animEffect transition="in" filter="fade">
                                      <p:cBhvr>
                                        <p:cTn id="41" dur="166"/>
                                        <p:tgtEl>
                                          <p:spTgt spid="14007"/>
                                        </p:tgtEl>
                                      </p:cBhvr>
                                    </p:animEffect>
                                    <p:set>
                                      <p:cBhvr>
                                        <p:cTn id="42" dur="1" fill="hold">
                                          <p:stCondLst>
                                            <p:cond delay="0"/>
                                          </p:stCondLst>
                                        </p:cTn>
                                        <p:tgtEl>
                                          <p:spTgt spid="14007"/>
                                        </p:tgtEl>
                                        <p:attrNameLst>
                                          <p:attrName>style.visibility</p:attrName>
                                        </p:attrNameLst>
                                      </p:cBhvr>
                                      <p:to>
                                        <p:strVal val="visible"/>
                                      </p:to>
                                    </p:set>
                                  </p:childTnLst>
                                </p:cTn>
                              </p:par>
                              <p:par>
                                <p:cTn id="43" presetID="10" presetClass="entr" presetSubtype="0" fill="hold" nodeType="withEffect">
                                  <p:stCondLst>
                                    <p:cond delay="124"/>
                                  </p:stCondLst>
                                  <p:childTnLst>
                                    <p:animEffect transition="in" filter="fade">
                                      <p:cBhvr>
                                        <p:cTn id="44" dur="166"/>
                                        <p:tgtEl>
                                          <p:spTgt spid="14068"/>
                                        </p:tgtEl>
                                      </p:cBhvr>
                                    </p:animEffect>
                                    <p:set>
                                      <p:cBhvr>
                                        <p:cTn id="45" dur="1" fill="hold">
                                          <p:stCondLst>
                                            <p:cond delay="0"/>
                                          </p:stCondLst>
                                        </p:cTn>
                                        <p:tgtEl>
                                          <p:spTgt spid="14068"/>
                                        </p:tgtEl>
                                        <p:attrNameLst>
                                          <p:attrName>style.visibility</p:attrName>
                                        </p:attrNameLst>
                                      </p:cBhvr>
                                      <p:to>
                                        <p:strVal val="visible"/>
                                      </p:to>
                                    </p:set>
                                  </p:childTnLst>
                                </p:cTn>
                              </p:par>
                            </p:childTnLst>
                          </p:cTn>
                        </p:par>
                      </p:childTnLst>
                    </p:cTn>
                  </p:par>
                  <p:par>
                    <p:cTn id="46" fill="hold">
                      <p:stCondLst>
                        <p:cond delay="indefinite"/>
                      </p:stCondLst>
                      <p:childTnLst>
                        <p:par>
                          <p:cTn id="47" fill="hold">
                            <p:stCondLst>
                              <p:cond delay="0"/>
                            </p:stCondLst>
                            <p:childTnLst>
                              <p:par>
                                <p:cTn id="48" presetID="10" presetClass="exit" presetSubtype="0" fill="hold" nodeType="clickEffect">
                                  <p:stCondLst>
                                    <p:cond delay="0"/>
                                  </p:stCondLst>
                                  <p:childTnLst>
                                    <p:animEffect transition="out" filter="fade">
                                      <p:cBhvr>
                                        <p:cTn id="49" dur="104"/>
                                        <p:tgtEl>
                                          <p:spTgt spid="14001"/>
                                        </p:tgtEl>
                                      </p:cBhvr>
                                    </p:animEffect>
                                    <p:set>
                                      <p:cBhvr>
                                        <p:cTn id="50" dur="1" fill="hold">
                                          <p:stCondLst>
                                            <p:cond delay="103"/>
                                          </p:stCondLst>
                                        </p:cTn>
                                        <p:tgtEl>
                                          <p:spTgt spid="14001"/>
                                        </p:tgtEl>
                                        <p:attrNameLst>
                                          <p:attrName>style.visibility</p:attrName>
                                        </p:attrNameLst>
                                      </p:cBhvr>
                                      <p:to>
                                        <p:strVal val="hidden"/>
                                      </p:to>
                                    </p:set>
                                  </p:childTnLst>
                                </p:cTn>
                              </p:par>
                              <p:par>
                                <p:cTn id="51" presetID="10" presetClass="exit" presetSubtype="0" fill="hold" nodeType="withEffect">
                                  <p:stCondLst>
                                    <p:cond delay="850"/>
                                  </p:stCondLst>
                                  <p:childTnLst>
                                    <p:animEffect transition="out" filter="fade">
                                      <p:cBhvr>
                                        <p:cTn id="52" dur="104"/>
                                        <p:tgtEl>
                                          <p:spTgt spid="14002"/>
                                        </p:tgtEl>
                                      </p:cBhvr>
                                    </p:animEffect>
                                    <p:set>
                                      <p:cBhvr>
                                        <p:cTn id="53" dur="1" fill="hold">
                                          <p:stCondLst>
                                            <p:cond delay="103"/>
                                          </p:stCondLst>
                                        </p:cTn>
                                        <p:tgtEl>
                                          <p:spTgt spid="14002"/>
                                        </p:tgtEl>
                                        <p:attrNameLst>
                                          <p:attrName>style.visibility</p:attrName>
                                        </p:attrNameLst>
                                      </p:cBhvr>
                                      <p:to>
                                        <p:strVal val="hidden"/>
                                      </p:to>
                                    </p:set>
                                  </p:childTnLst>
                                </p:cTn>
                              </p:par>
                              <p:par>
                                <p:cTn id="54" presetID="10" presetClass="exit" presetSubtype="0" fill="hold" nodeType="withEffect">
                                  <p:stCondLst>
                                    <p:cond delay="850"/>
                                  </p:stCondLst>
                                  <p:childTnLst>
                                    <p:animEffect transition="out" filter="fade">
                                      <p:cBhvr>
                                        <p:cTn id="55" dur="104"/>
                                        <p:tgtEl>
                                          <p:spTgt spid="14003"/>
                                        </p:tgtEl>
                                      </p:cBhvr>
                                    </p:animEffect>
                                    <p:set>
                                      <p:cBhvr>
                                        <p:cTn id="56" dur="1" fill="hold">
                                          <p:stCondLst>
                                            <p:cond delay="103"/>
                                          </p:stCondLst>
                                        </p:cTn>
                                        <p:tgtEl>
                                          <p:spTgt spid="14003"/>
                                        </p:tgtEl>
                                        <p:attrNameLst>
                                          <p:attrName>style.visibility</p:attrName>
                                        </p:attrNameLst>
                                      </p:cBhvr>
                                      <p:to>
                                        <p:strVal val="hidden"/>
                                      </p:to>
                                    </p:set>
                                  </p:childTnLst>
                                </p:cTn>
                              </p:par>
                              <p:par>
                                <p:cTn id="57" presetID="10" presetClass="exit" presetSubtype="0" fill="hold" nodeType="withEffect">
                                  <p:stCondLst>
                                    <p:cond delay="850"/>
                                  </p:stCondLst>
                                  <p:childTnLst>
                                    <p:animEffect transition="out" filter="fade">
                                      <p:cBhvr>
                                        <p:cTn id="58" dur="104"/>
                                        <p:tgtEl>
                                          <p:spTgt spid="14004"/>
                                        </p:tgtEl>
                                      </p:cBhvr>
                                    </p:animEffect>
                                    <p:set>
                                      <p:cBhvr>
                                        <p:cTn id="59" dur="1" fill="hold">
                                          <p:stCondLst>
                                            <p:cond delay="103"/>
                                          </p:stCondLst>
                                        </p:cTn>
                                        <p:tgtEl>
                                          <p:spTgt spid="14004"/>
                                        </p:tgtEl>
                                        <p:attrNameLst>
                                          <p:attrName>style.visibility</p:attrName>
                                        </p:attrNameLst>
                                      </p:cBhvr>
                                      <p:to>
                                        <p:strVal val="hidden"/>
                                      </p:to>
                                    </p:set>
                                  </p:childTnLst>
                                </p:cTn>
                              </p:par>
                              <p:par>
                                <p:cTn id="60" presetID="10" presetClass="exit" presetSubtype="0" fill="hold" nodeType="withEffect">
                                  <p:stCondLst>
                                    <p:cond delay="850"/>
                                  </p:stCondLst>
                                  <p:childTnLst>
                                    <p:animEffect transition="out" filter="fade">
                                      <p:cBhvr>
                                        <p:cTn id="61" dur="104"/>
                                        <p:tgtEl>
                                          <p:spTgt spid="14005"/>
                                        </p:tgtEl>
                                      </p:cBhvr>
                                    </p:animEffect>
                                    <p:set>
                                      <p:cBhvr>
                                        <p:cTn id="62" dur="1" fill="hold">
                                          <p:stCondLst>
                                            <p:cond delay="103"/>
                                          </p:stCondLst>
                                        </p:cTn>
                                        <p:tgtEl>
                                          <p:spTgt spid="14005"/>
                                        </p:tgtEl>
                                        <p:attrNameLst>
                                          <p:attrName>style.visibility</p:attrName>
                                        </p:attrNameLst>
                                      </p:cBhvr>
                                      <p:to>
                                        <p:strVal val="hidden"/>
                                      </p:to>
                                    </p:set>
                                  </p:childTnLst>
                                </p:cTn>
                              </p:par>
                              <p:par>
                                <p:cTn id="63" presetID="10" presetClass="exit" presetSubtype="0" fill="hold" nodeType="withEffect">
                                  <p:stCondLst>
                                    <p:cond delay="850"/>
                                  </p:stCondLst>
                                  <p:childTnLst>
                                    <p:animEffect transition="out" filter="fade">
                                      <p:cBhvr>
                                        <p:cTn id="64" dur="104"/>
                                        <p:tgtEl>
                                          <p:spTgt spid="14006"/>
                                        </p:tgtEl>
                                      </p:cBhvr>
                                    </p:animEffect>
                                    <p:set>
                                      <p:cBhvr>
                                        <p:cTn id="65" dur="1" fill="hold">
                                          <p:stCondLst>
                                            <p:cond delay="103"/>
                                          </p:stCondLst>
                                        </p:cTn>
                                        <p:tgtEl>
                                          <p:spTgt spid="14006"/>
                                        </p:tgtEl>
                                        <p:attrNameLst>
                                          <p:attrName>style.visibility</p:attrName>
                                        </p:attrNameLst>
                                      </p:cBhvr>
                                      <p:to>
                                        <p:strVal val="hidden"/>
                                      </p:to>
                                    </p:set>
                                  </p:childTnLst>
                                </p:cTn>
                              </p:par>
                              <p:par>
                                <p:cTn id="66" presetID="10" presetClass="exit" presetSubtype="0" fill="hold" nodeType="withEffect">
                                  <p:stCondLst>
                                    <p:cond delay="663"/>
                                  </p:stCondLst>
                                  <p:childTnLst>
                                    <p:animEffect transition="out" filter="fade">
                                      <p:cBhvr>
                                        <p:cTn id="67" dur="104"/>
                                        <p:tgtEl>
                                          <p:spTgt spid="14007"/>
                                        </p:tgtEl>
                                      </p:cBhvr>
                                    </p:animEffect>
                                    <p:set>
                                      <p:cBhvr>
                                        <p:cTn id="68" dur="1" fill="hold">
                                          <p:stCondLst>
                                            <p:cond delay="103"/>
                                          </p:stCondLst>
                                        </p:cTn>
                                        <p:tgtEl>
                                          <p:spTgt spid="14007"/>
                                        </p:tgtEl>
                                        <p:attrNameLst>
                                          <p:attrName>style.visibility</p:attrName>
                                        </p:attrNameLst>
                                      </p:cBhvr>
                                      <p:to>
                                        <p:strVal val="hidden"/>
                                      </p:to>
                                    </p:set>
                                  </p:childTnLst>
                                </p:cTn>
                              </p:par>
                              <p:par>
                                <p:cTn id="69" presetID="10" presetClass="entr" presetSubtype="0" fill="hold" nodeType="withEffect">
                                  <p:stCondLst>
                                    <p:cond delay="850"/>
                                  </p:stCondLst>
                                  <p:childTnLst>
                                    <p:animEffect transition="in" filter="fade">
                                      <p:cBhvr>
                                        <p:cTn id="70" dur="124"/>
                                        <p:tgtEl>
                                          <p:spTgt spid="14009"/>
                                        </p:tgtEl>
                                      </p:cBhvr>
                                    </p:animEffect>
                                    <p:set>
                                      <p:cBhvr>
                                        <p:cTn id="71" dur="1" fill="hold">
                                          <p:stCondLst>
                                            <p:cond delay="0"/>
                                          </p:stCondLst>
                                        </p:cTn>
                                        <p:tgtEl>
                                          <p:spTgt spid="14009"/>
                                        </p:tgtEl>
                                        <p:attrNameLst>
                                          <p:attrName>style.visibility</p:attrName>
                                        </p:attrNameLst>
                                      </p:cBhvr>
                                      <p:to>
                                        <p:strVal val="visible"/>
                                      </p:to>
                                    </p:set>
                                  </p:childTnLst>
                                </p:cTn>
                              </p:par>
                              <p:par>
                                <p:cTn id="72" presetID="10" presetClass="entr" presetSubtype="0" fill="hold" nodeType="withEffect">
                                  <p:stCondLst>
                                    <p:cond delay="850"/>
                                  </p:stCondLst>
                                  <p:childTnLst>
                                    <p:animEffect transition="in" filter="fade">
                                      <p:cBhvr>
                                        <p:cTn id="73" dur="124"/>
                                        <p:tgtEl>
                                          <p:spTgt spid="14010"/>
                                        </p:tgtEl>
                                      </p:cBhvr>
                                    </p:animEffect>
                                    <p:set>
                                      <p:cBhvr>
                                        <p:cTn id="74" dur="1" fill="hold">
                                          <p:stCondLst>
                                            <p:cond delay="0"/>
                                          </p:stCondLst>
                                        </p:cTn>
                                        <p:tgtEl>
                                          <p:spTgt spid="14010"/>
                                        </p:tgtEl>
                                        <p:attrNameLst>
                                          <p:attrName>style.visibility</p:attrName>
                                        </p:attrNameLst>
                                      </p:cBhvr>
                                      <p:to>
                                        <p:strVal val="visible"/>
                                      </p:to>
                                    </p:set>
                                  </p:childTnLst>
                                </p:cTn>
                              </p:par>
                              <p:par>
                                <p:cTn id="75" presetID="10" presetClass="entr" presetSubtype="0" fill="hold" nodeType="withEffect">
                                  <p:stCondLst>
                                    <p:cond delay="850"/>
                                  </p:stCondLst>
                                  <p:childTnLst>
                                    <p:animEffect transition="in" filter="fade">
                                      <p:cBhvr>
                                        <p:cTn id="76" dur="124"/>
                                        <p:tgtEl>
                                          <p:spTgt spid="14011"/>
                                        </p:tgtEl>
                                      </p:cBhvr>
                                    </p:animEffect>
                                    <p:set>
                                      <p:cBhvr>
                                        <p:cTn id="77" dur="1" fill="hold">
                                          <p:stCondLst>
                                            <p:cond delay="0"/>
                                          </p:stCondLst>
                                        </p:cTn>
                                        <p:tgtEl>
                                          <p:spTgt spid="14011"/>
                                        </p:tgtEl>
                                        <p:attrNameLst>
                                          <p:attrName>style.visibility</p:attrName>
                                        </p:attrNameLst>
                                      </p:cBhvr>
                                      <p:to>
                                        <p:strVal val="visible"/>
                                      </p:to>
                                    </p:set>
                                  </p:childTnLst>
                                </p:cTn>
                              </p:par>
                              <p:par>
                                <p:cTn id="78" presetID="10" presetClass="entr" presetSubtype="0" fill="hold" nodeType="withEffect">
                                  <p:stCondLst>
                                    <p:cond delay="850"/>
                                  </p:stCondLst>
                                  <p:childTnLst>
                                    <p:animEffect transition="in" filter="fade">
                                      <p:cBhvr>
                                        <p:cTn id="79" dur="124"/>
                                        <p:tgtEl>
                                          <p:spTgt spid="14012"/>
                                        </p:tgtEl>
                                      </p:cBhvr>
                                    </p:animEffect>
                                    <p:set>
                                      <p:cBhvr>
                                        <p:cTn id="80" dur="1" fill="hold">
                                          <p:stCondLst>
                                            <p:cond delay="0"/>
                                          </p:stCondLst>
                                        </p:cTn>
                                        <p:tgtEl>
                                          <p:spTgt spid="14012"/>
                                        </p:tgtEl>
                                        <p:attrNameLst>
                                          <p:attrName>style.visibility</p:attrName>
                                        </p:attrNameLst>
                                      </p:cBhvr>
                                      <p:to>
                                        <p:strVal val="visible"/>
                                      </p:to>
                                    </p:set>
                                  </p:childTnLst>
                                </p:cTn>
                              </p:par>
                              <p:par>
                                <p:cTn id="81" presetID="10" presetClass="entr" presetSubtype="0" fill="hold" nodeType="withEffect">
                                  <p:stCondLst>
                                    <p:cond delay="850"/>
                                  </p:stCondLst>
                                  <p:childTnLst>
                                    <p:animEffect transition="in" filter="fade">
                                      <p:cBhvr>
                                        <p:cTn id="82" dur="124"/>
                                        <p:tgtEl>
                                          <p:spTgt spid="14013"/>
                                        </p:tgtEl>
                                      </p:cBhvr>
                                    </p:animEffect>
                                    <p:set>
                                      <p:cBhvr>
                                        <p:cTn id="83" dur="1" fill="hold">
                                          <p:stCondLst>
                                            <p:cond delay="0"/>
                                          </p:stCondLst>
                                        </p:cTn>
                                        <p:tgtEl>
                                          <p:spTgt spid="14013"/>
                                        </p:tgtEl>
                                        <p:attrNameLst>
                                          <p:attrName>style.visibility</p:attrName>
                                        </p:attrNameLst>
                                      </p:cBhvr>
                                      <p:to>
                                        <p:strVal val="visible"/>
                                      </p:to>
                                    </p:set>
                                  </p:childTnLst>
                                </p:cTn>
                              </p:par>
                              <p:par>
                                <p:cTn id="84" presetID="10" presetClass="entr" presetSubtype="0" fill="hold" nodeType="withEffect">
                                  <p:stCondLst>
                                    <p:cond delay="850"/>
                                  </p:stCondLst>
                                  <p:childTnLst>
                                    <p:animEffect transition="in" filter="fade">
                                      <p:cBhvr>
                                        <p:cTn id="85" dur="124"/>
                                        <p:tgtEl>
                                          <p:spTgt spid="14014"/>
                                        </p:tgtEl>
                                      </p:cBhvr>
                                    </p:animEffect>
                                    <p:set>
                                      <p:cBhvr>
                                        <p:cTn id="86" dur="1" fill="hold">
                                          <p:stCondLst>
                                            <p:cond delay="0"/>
                                          </p:stCondLst>
                                        </p:cTn>
                                        <p:tgtEl>
                                          <p:spTgt spid="14014"/>
                                        </p:tgtEl>
                                        <p:attrNameLst>
                                          <p:attrName>style.visibility</p:attrName>
                                        </p:attrNameLst>
                                      </p:cBhvr>
                                      <p:to>
                                        <p:strVal val="visible"/>
                                      </p:to>
                                    </p:set>
                                  </p:childTnLst>
                                </p:cTn>
                              </p:par>
                              <p:par>
                                <p:cTn id="87" presetID="10" presetClass="entr" presetSubtype="0" fill="hold" nodeType="withEffect">
                                  <p:stCondLst>
                                    <p:cond delay="850"/>
                                  </p:stCondLst>
                                  <p:childTnLst>
                                    <p:animEffect transition="in" filter="fade">
                                      <p:cBhvr>
                                        <p:cTn id="88" dur="124"/>
                                        <p:tgtEl>
                                          <p:spTgt spid="14015"/>
                                        </p:tgtEl>
                                      </p:cBhvr>
                                    </p:animEffect>
                                    <p:set>
                                      <p:cBhvr>
                                        <p:cTn id="89" dur="1" fill="hold">
                                          <p:stCondLst>
                                            <p:cond delay="0"/>
                                          </p:stCondLst>
                                        </p:cTn>
                                        <p:tgtEl>
                                          <p:spTgt spid="14015"/>
                                        </p:tgtEl>
                                        <p:attrNameLst>
                                          <p:attrName>style.visibility</p:attrName>
                                        </p:attrNameLst>
                                      </p:cBhvr>
                                      <p:to>
                                        <p:strVal val="visible"/>
                                      </p:to>
                                    </p:set>
                                  </p:childTnLst>
                                </p:cTn>
                              </p:par>
                              <p:par>
                                <p:cTn id="90" presetID="10" presetClass="entr" presetSubtype="0" fill="hold" nodeType="withEffect">
                                  <p:stCondLst>
                                    <p:cond delay="850"/>
                                  </p:stCondLst>
                                  <p:childTnLst>
                                    <p:animEffect transition="in" filter="fade">
                                      <p:cBhvr>
                                        <p:cTn id="91" dur="124"/>
                                        <p:tgtEl>
                                          <p:spTgt spid="14016"/>
                                        </p:tgtEl>
                                      </p:cBhvr>
                                    </p:animEffect>
                                    <p:set>
                                      <p:cBhvr>
                                        <p:cTn id="92" dur="1" fill="hold">
                                          <p:stCondLst>
                                            <p:cond delay="0"/>
                                          </p:stCondLst>
                                        </p:cTn>
                                        <p:tgtEl>
                                          <p:spTgt spid="14016"/>
                                        </p:tgtEl>
                                        <p:attrNameLst>
                                          <p:attrName>style.visibility</p:attrName>
                                        </p:attrNameLst>
                                      </p:cBhvr>
                                      <p:to>
                                        <p:strVal val="visible"/>
                                      </p:to>
                                    </p:set>
                                  </p:childTnLst>
                                </p:cTn>
                              </p:par>
                              <p:par>
                                <p:cTn id="93" presetID="10" presetClass="entr" presetSubtype="0" fill="hold" nodeType="withEffect">
                                  <p:stCondLst>
                                    <p:cond delay="850"/>
                                  </p:stCondLst>
                                  <p:childTnLst>
                                    <p:animEffect transition="in" filter="fade">
                                      <p:cBhvr>
                                        <p:cTn id="94" dur="124"/>
                                        <p:tgtEl>
                                          <p:spTgt spid="14017"/>
                                        </p:tgtEl>
                                      </p:cBhvr>
                                    </p:animEffect>
                                    <p:set>
                                      <p:cBhvr>
                                        <p:cTn id="95" dur="1" fill="hold">
                                          <p:stCondLst>
                                            <p:cond delay="0"/>
                                          </p:stCondLst>
                                        </p:cTn>
                                        <p:tgtEl>
                                          <p:spTgt spid="14017"/>
                                        </p:tgtEl>
                                        <p:attrNameLst>
                                          <p:attrName>style.visibility</p:attrName>
                                        </p:attrNameLst>
                                      </p:cBhvr>
                                      <p:to>
                                        <p:strVal val="visible"/>
                                      </p:to>
                                    </p:set>
                                  </p:childTnLst>
                                </p:cTn>
                              </p:par>
                              <p:par>
                                <p:cTn id="96" presetID="10" presetClass="entr" presetSubtype="0" fill="hold" nodeType="withEffect">
                                  <p:stCondLst>
                                    <p:cond delay="850"/>
                                  </p:stCondLst>
                                  <p:childTnLst>
                                    <p:animEffect transition="in" filter="fade">
                                      <p:cBhvr>
                                        <p:cTn id="97" dur="124"/>
                                        <p:tgtEl>
                                          <p:spTgt spid="14018"/>
                                        </p:tgtEl>
                                      </p:cBhvr>
                                    </p:animEffect>
                                    <p:set>
                                      <p:cBhvr>
                                        <p:cTn id="98" dur="1" fill="hold">
                                          <p:stCondLst>
                                            <p:cond delay="0"/>
                                          </p:stCondLst>
                                        </p:cTn>
                                        <p:tgtEl>
                                          <p:spTgt spid="14018"/>
                                        </p:tgtEl>
                                        <p:attrNameLst>
                                          <p:attrName>style.visibility</p:attrName>
                                        </p:attrNameLst>
                                      </p:cBhvr>
                                      <p:to>
                                        <p:strVal val="visible"/>
                                      </p:to>
                                    </p:set>
                                  </p:childTnLst>
                                </p:cTn>
                              </p:par>
                              <p:par>
                                <p:cTn id="99" presetID="10" presetClass="entr" presetSubtype="0" fill="hold" nodeType="withEffect">
                                  <p:stCondLst>
                                    <p:cond delay="850"/>
                                  </p:stCondLst>
                                  <p:childTnLst>
                                    <p:animEffect transition="in" filter="fade">
                                      <p:cBhvr>
                                        <p:cTn id="100" dur="124"/>
                                        <p:tgtEl>
                                          <p:spTgt spid="14019"/>
                                        </p:tgtEl>
                                      </p:cBhvr>
                                    </p:animEffect>
                                    <p:set>
                                      <p:cBhvr>
                                        <p:cTn id="101" dur="1" fill="hold">
                                          <p:stCondLst>
                                            <p:cond delay="0"/>
                                          </p:stCondLst>
                                        </p:cTn>
                                        <p:tgtEl>
                                          <p:spTgt spid="14019"/>
                                        </p:tgtEl>
                                        <p:attrNameLst>
                                          <p:attrName>style.visibility</p:attrName>
                                        </p:attrNameLst>
                                      </p:cBhvr>
                                      <p:to>
                                        <p:strVal val="visible"/>
                                      </p:to>
                                    </p:set>
                                  </p:childTnLst>
                                </p:cTn>
                              </p:par>
                              <p:par>
                                <p:cTn id="102" presetID="10" presetClass="entr" presetSubtype="0" fill="hold" nodeType="withEffect">
                                  <p:stCondLst>
                                    <p:cond delay="850"/>
                                  </p:stCondLst>
                                  <p:childTnLst>
                                    <p:animEffect transition="in" filter="fade">
                                      <p:cBhvr>
                                        <p:cTn id="103" dur="124"/>
                                        <p:tgtEl>
                                          <p:spTgt spid="14020"/>
                                        </p:tgtEl>
                                      </p:cBhvr>
                                    </p:animEffect>
                                    <p:set>
                                      <p:cBhvr>
                                        <p:cTn id="104" dur="1" fill="hold">
                                          <p:stCondLst>
                                            <p:cond delay="0"/>
                                          </p:stCondLst>
                                        </p:cTn>
                                        <p:tgtEl>
                                          <p:spTgt spid="14020"/>
                                        </p:tgtEl>
                                        <p:attrNameLst>
                                          <p:attrName>style.visibility</p:attrName>
                                        </p:attrNameLst>
                                      </p:cBhvr>
                                      <p:to>
                                        <p:strVal val="visible"/>
                                      </p:to>
                                    </p:set>
                                  </p:childTnLst>
                                </p:cTn>
                              </p:par>
                              <p:par>
                                <p:cTn id="105" presetID="10" presetClass="entr" presetSubtype="0" fill="hold" nodeType="withEffect">
                                  <p:stCondLst>
                                    <p:cond delay="850"/>
                                  </p:stCondLst>
                                  <p:childTnLst>
                                    <p:animEffect transition="in" filter="fade">
                                      <p:cBhvr>
                                        <p:cTn id="106" dur="124"/>
                                        <p:tgtEl>
                                          <p:spTgt spid="14021"/>
                                        </p:tgtEl>
                                      </p:cBhvr>
                                    </p:animEffect>
                                    <p:set>
                                      <p:cBhvr>
                                        <p:cTn id="107" dur="1" fill="hold">
                                          <p:stCondLst>
                                            <p:cond delay="0"/>
                                          </p:stCondLst>
                                        </p:cTn>
                                        <p:tgtEl>
                                          <p:spTgt spid="14021"/>
                                        </p:tgtEl>
                                        <p:attrNameLst>
                                          <p:attrName>style.visibility</p:attrName>
                                        </p:attrNameLst>
                                      </p:cBhvr>
                                      <p:to>
                                        <p:strVal val="visible"/>
                                      </p:to>
                                    </p:set>
                                  </p:childTnLst>
                                </p:cTn>
                              </p:par>
                              <p:par>
                                <p:cTn id="108" presetID="10" presetClass="exit" presetSubtype="0" fill="hold" nodeType="withEffect">
                                  <p:stCondLst>
                                    <p:cond delay="1720"/>
                                  </p:stCondLst>
                                  <p:childTnLst>
                                    <p:animEffect transition="out" filter="fade">
                                      <p:cBhvr>
                                        <p:cTn id="109" dur="104"/>
                                        <p:tgtEl>
                                          <p:spTgt spid="14009"/>
                                        </p:tgtEl>
                                      </p:cBhvr>
                                    </p:animEffect>
                                    <p:set>
                                      <p:cBhvr>
                                        <p:cTn id="110" dur="1" fill="hold">
                                          <p:stCondLst>
                                            <p:cond delay="103"/>
                                          </p:stCondLst>
                                        </p:cTn>
                                        <p:tgtEl>
                                          <p:spTgt spid="14009"/>
                                        </p:tgtEl>
                                        <p:attrNameLst>
                                          <p:attrName>style.visibility</p:attrName>
                                        </p:attrNameLst>
                                      </p:cBhvr>
                                      <p:to>
                                        <p:strVal val="hidden"/>
                                      </p:to>
                                    </p:set>
                                  </p:childTnLst>
                                </p:cTn>
                              </p:par>
                              <p:par>
                                <p:cTn id="111" presetID="10" presetClass="exit" presetSubtype="0" fill="hold" nodeType="withEffect">
                                  <p:stCondLst>
                                    <p:cond delay="1720"/>
                                  </p:stCondLst>
                                  <p:childTnLst>
                                    <p:animEffect transition="out" filter="fade">
                                      <p:cBhvr>
                                        <p:cTn id="112" dur="104"/>
                                        <p:tgtEl>
                                          <p:spTgt spid="14010"/>
                                        </p:tgtEl>
                                      </p:cBhvr>
                                    </p:animEffect>
                                    <p:set>
                                      <p:cBhvr>
                                        <p:cTn id="113" dur="1" fill="hold">
                                          <p:stCondLst>
                                            <p:cond delay="103"/>
                                          </p:stCondLst>
                                        </p:cTn>
                                        <p:tgtEl>
                                          <p:spTgt spid="14010"/>
                                        </p:tgtEl>
                                        <p:attrNameLst>
                                          <p:attrName>style.visibility</p:attrName>
                                        </p:attrNameLst>
                                      </p:cBhvr>
                                      <p:to>
                                        <p:strVal val="hidden"/>
                                      </p:to>
                                    </p:set>
                                  </p:childTnLst>
                                </p:cTn>
                              </p:par>
                              <p:par>
                                <p:cTn id="114" presetID="10" presetClass="exit" presetSubtype="0" fill="hold" nodeType="withEffect">
                                  <p:stCondLst>
                                    <p:cond delay="1720"/>
                                  </p:stCondLst>
                                  <p:childTnLst>
                                    <p:animEffect transition="out" filter="fade">
                                      <p:cBhvr>
                                        <p:cTn id="115" dur="104"/>
                                        <p:tgtEl>
                                          <p:spTgt spid="14011"/>
                                        </p:tgtEl>
                                      </p:cBhvr>
                                    </p:animEffect>
                                    <p:set>
                                      <p:cBhvr>
                                        <p:cTn id="116" dur="1" fill="hold">
                                          <p:stCondLst>
                                            <p:cond delay="103"/>
                                          </p:stCondLst>
                                        </p:cTn>
                                        <p:tgtEl>
                                          <p:spTgt spid="14011"/>
                                        </p:tgtEl>
                                        <p:attrNameLst>
                                          <p:attrName>style.visibility</p:attrName>
                                        </p:attrNameLst>
                                      </p:cBhvr>
                                      <p:to>
                                        <p:strVal val="hidden"/>
                                      </p:to>
                                    </p:set>
                                  </p:childTnLst>
                                </p:cTn>
                              </p:par>
                              <p:par>
                                <p:cTn id="117" presetID="10" presetClass="exit" presetSubtype="0" fill="hold" nodeType="withEffect">
                                  <p:stCondLst>
                                    <p:cond delay="1720"/>
                                  </p:stCondLst>
                                  <p:childTnLst>
                                    <p:animEffect transition="out" filter="fade">
                                      <p:cBhvr>
                                        <p:cTn id="118" dur="104"/>
                                        <p:tgtEl>
                                          <p:spTgt spid="14012"/>
                                        </p:tgtEl>
                                      </p:cBhvr>
                                    </p:animEffect>
                                    <p:set>
                                      <p:cBhvr>
                                        <p:cTn id="119" dur="1" fill="hold">
                                          <p:stCondLst>
                                            <p:cond delay="103"/>
                                          </p:stCondLst>
                                        </p:cTn>
                                        <p:tgtEl>
                                          <p:spTgt spid="14012"/>
                                        </p:tgtEl>
                                        <p:attrNameLst>
                                          <p:attrName>style.visibility</p:attrName>
                                        </p:attrNameLst>
                                      </p:cBhvr>
                                      <p:to>
                                        <p:strVal val="hidden"/>
                                      </p:to>
                                    </p:set>
                                  </p:childTnLst>
                                </p:cTn>
                              </p:par>
                              <p:par>
                                <p:cTn id="120" presetID="10" presetClass="exit" presetSubtype="0" fill="hold" nodeType="withEffect">
                                  <p:stCondLst>
                                    <p:cond delay="1720"/>
                                  </p:stCondLst>
                                  <p:childTnLst>
                                    <p:animEffect transition="out" filter="fade">
                                      <p:cBhvr>
                                        <p:cTn id="121" dur="104"/>
                                        <p:tgtEl>
                                          <p:spTgt spid="14013"/>
                                        </p:tgtEl>
                                      </p:cBhvr>
                                    </p:animEffect>
                                    <p:set>
                                      <p:cBhvr>
                                        <p:cTn id="122" dur="1" fill="hold">
                                          <p:stCondLst>
                                            <p:cond delay="103"/>
                                          </p:stCondLst>
                                        </p:cTn>
                                        <p:tgtEl>
                                          <p:spTgt spid="14013"/>
                                        </p:tgtEl>
                                        <p:attrNameLst>
                                          <p:attrName>style.visibility</p:attrName>
                                        </p:attrNameLst>
                                      </p:cBhvr>
                                      <p:to>
                                        <p:strVal val="hidden"/>
                                      </p:to>
                                    </p:set>
                                  </p:childTnLst>
                                </p:cTn>
                              </p:par>
                              <p:par>
                                <p:cTn id="123" presetID="10" presetClass="exit" presetSubtype="0" fill="hold" nodeType="withEffect">
                                  <p:stCondLst>
                                    <p:cond delay="1720"/>
                                  </p:stCondLst>
                                  <p:childTnLst>
                                    <p:animEffect transition="out" filter="fade">
                                      <p:cBhvr>
                                        <p:cTn id="124" dur="104"/>
                                        <p:tgtEl>
                                          <p:spTgt spid="14014"/>
                                        </p:tgtEl>
                                      </p:cBhvr>
                                    </p:animEffect>
                                    <p:set>
                                      <p:cBhvr>
                                        <p:cTn id="125" dur="1" fill="hold">
                                          <p:stCondLst>
                                            <p:cond delay="103"/>
                                          </p:stCondLst>
                                        </p:cTn>
                                        <p:tgtEl>
                                          <p:spTgt spid="14014"/>
                                        </p:tgtEl>
                                        <p:attrNameLst>
                                          <p:attrName>style.visibility</p:attrName>
                                        </p:attrNameLst>
                                      </p:cBhvr>
                                      <p:to>
                                        <p:strVal val="hidden"/>
                                      </p:to>
                                    </p:set>
                                  </p:childTnLst>
                                </p:cTn>
                              </p:par>
                              <p:par>
                                <p:cTn id="126" presetID="10" presetClass="exit" presetSubtype="0" fill="hold" nodeType="withEffect">
                                  <p:stCondLst>
                                    <p:cond delay="1720"/>
                                  </p:stCondLst>
                                  <p:childTnLst>
                                    <p:animEffect transition="out" filter="fade">
                                      <p:cBhvr>
                                        <p:cTn id="127" dur="104"/>
                                        <p:tgtEl>
                                          <p:spTgt spid="14015"/>
                                        </p:tgtEl>
                                      </p:cBhvr>
                                    </p:animEffect>
                                    <p:set>
                                      <p:cBhvr>
                                        <p:cTn id="128" dur="1" fill="hold">
                                          <p:stCondLst>
                                            <p:cond delay="103"/>
                                          </p:stCondLst>
                                        </p:cTn>
                                        <p:tgtEl>
                                          <p:spTgt spid="14015"/>
                                        </p:tgtEl>
                                        <p:attrNameLst>
                                          <p:attrName>style.visibility</p:attrName>
                                        </p:attrNameLst>
                                      </p:cBhvr>
                                      <p:to>
                                        <p:strVal val="hidden"/>
                                      </p:to>
                                    </p:set>
                                  </p:childTnLst>
                                </p:cTn>
                              </p:par>
                              <p:par>
                                <p:cTn id="129" presetID="0" presetClass="path" presetSubtype="0" fill="hold" nodeType="withEffect">
                                  <p:stCondLst>
                                    <p:cond delay="1326"/>
                                  </p:stCondLst>
                                  <p:childTnLst>
                                    <p:animMotion origin="layout" path="M 0 0 L -0.072222222 0.064197531 E" pathEditMode="relative" rAng="0">
                                      <p:cBhvr>
                                        <p:cTn id="130" dur="497" accel="20000" decel="20000" fill="hold"/>
                                        <p:tgtEl>
                                          <p:spTgt spid="14016"/>
                                        </p:tgtEl>
                                        <p:attrNameLst>
                                          <p:attrName>ppt_x</p:attrName>
                                          <p:attrName>ppt_y</p:attrName>
                                        </p:attrNameLst>
                                      </p:cBhvr>
                                      <p:rCtr x="0" y="0"/>
                                    </p:animMotion>
                                  </p:childTnLst>
                                </p:cTn>
                              </p:par>
                              <p:par>
                                <p:cTn id="131" presetID="10" presetClass="exit" presetSubtype="0" fill="hold" nodeType="withEffect">
                                  <p:stCondLst>
                                    <p:cond delay="1720"/>
                                  </p:stCondLst>
                                  <p:childTnLst>
                                    <p:animEffect transition="out" filter="fade">
                                      <p:cBhvr>
                                        <p:cTn id="132" dur="104"/>
                                        <p:tgtEl>
                                          <p:spTgt spid="14016"/>
                                        </p:tgtEl>
                                      </p:cBhvr>
                                    </p:animEffect>
                                    <p:set>
                                      <p:cBhvr>
                                        <p:cTn id="133" dur="1" fill="hold">
                                          <p:stCondLst>
                                            <p:cond delay="103"/>
                                          </p:stCondLst>
                                        </p:cTn>
                                        <p:tgtEl>
                                          <p:spTgt spid="14016"/>
                                        </p:tgtEl>
                                        <p:attrNameLst>
                                          <p:attrName>style.visibility</p:attrName>
                                        </p:attrNameLst>
                                      </p:cBhvr>
                                      <p:to>
                                        <p:strVal val="hidden"/>
                                      </p:to>
                                    </p:set>
                                  </p:childTnLst>
                                </p:cTn>
                              </p:par>
                              <p:par>
                                <p:cTn id="134" presetID="0" presetClass="path" presetSubtype="0" fill="hold" nodeType="withEffect">
                                  <p:stCondLst>
                                    <p:cond delay="1326"/>
                                  </p:stCondLst>
                                  <p:childTnLst>
                                    <p:animMotion origin="layout" path="M 0 0 L 0.072222222 -0.064197531 E" pathEditMode="relative" rAng="0">
                                      <p:cBhvr>
                                        <p:cTn id="135" dur="497" accel="20000" decel="20000" fill="hold"/>
                                        <p:tgtEl>
                                          <p:spTgt spid="14017"/>
                                        </p:tgtEl>
                                        <p:attrNameLst>
                                          <p:attrName>ppt_x</p:attrName>
                                          <p:attrName>ppt_y</p:attrName>
                                        </p:attrNameLst>
                                      </p:cBhvr>
                                      <p:rCtr x="0" y="0"/>
                                    </p:animMotion>
                                  </p:childTnLst>
                                </p:cTn>
                              </p:par>
                              <p:par>
                                <p:cTn id="136" presetID="10" presetClass="exit" presetSubtype="0" fill="hold" nodeType="withEffect">
                                  <p:stCondLst>
                                    <p:cond delay="1720"/>
                                  </p:stCondLst>
                                  <p:childTnLst>
                                    <p:animEffect transition="out" filter="fade">
                                      <p:cBhvr>
                                        <p:cTn id="137" dur="104"/>
                                        <p:tgtEl>
                                          <p:spTgt spid="14017"/>
                                        </p:tgtEl>
                                      </p:cBhvr>
                                    </p:animEffect>
                                    <p:set>
                                      <p:cBhvr>
                                        <p:cTn id="138" dur="1" fill="hold">
                                          <p:stCondLst>
                                            <p:cond delay="103"/>
                                          </p:stCondLst>
                                        </p:cTn>
                                        <p:tgtEl>
                                          <p:spTgt spid="14017"/>
                                        </p:tgtEl>
                                        <p:attrNameLst>
                                          <p:attrName>style.visibility</p:attrName>
                                        </p:attrNameLst>
                                      </p:cBhvr>
                                      <p:to>
                                        <p:strVal val="hidden"/>
                                      </p:to>
                                    </p:set>
                                  </p:childTnLst>
                                </p:cTn>
                              </p:par>
                              <p:par>
                                <p:cTn id="139" presetID="10" presetClass="exit" presetSubtype="0" fill="hold" nodeType="withEffect">
                                  <p:stCondLst>
                                    <p:cond delay="1720"/>
                                  </p:stCondLst>
                                  <p:childTnLst>
                                    <p:animEffect transition="out" filter="fade">
                                      <p:cBhvr>
                                        <p:cTn id="140" dur="104"/>
                                        <p:tgtEl>
                                          <p:spTgt spid="14018"/>
                                        </p:tgtEl>
                                      </p:cBhvr>
                                    </p:animEffect>
                                    <p:set>
                                      <p:cBhvr>
                                        <p:cTn id="141" dur="1" fill="hold">
                                          <p:stCondLst>
                                            <p:cond delay="103"/>
                                          </p:stCondLst>
                                        </p:cTn>
                                        <p:tgtEl>
                                          <p:spTgt spid="14018"/>
                                        </p:tgtEl>
                                        <p:attrNameLst>
                                          <p:attrName>style.visibility</p:attrName>
                                        </p:attrNameLst>
                                      </p:cBhvr>
                                      <p:to>
                                        <p:strVal val="hidden"/>
                                      </p:to>
                                    </p:set>
                                  </p:childTnLst>
                                </p:cTn>
                              </p:par>
                              <p:par>
                                <p:cTn id="142" presetID="10" presetClass="exit" presetSubtype="0" fill="hold" nodeType="withEffect">
                                  <p:stCondLst>
                                    <p:cond delay="1720"/>
                                  </p:stCondLst>
                                  <p:childTnLst>
                                    <p:animEffect transition="out" filter="fade">
                                      <p:cBhvr>
                                        <p:cTn id="143" dur="104"/>
                                        <p:tgtEl>
                                          <p:spTgt spid="14019"/>
                                        </p:tgtEl>
                                      </p:cBhvr>
                                    </p:animEffect>
                                    <p:set>
                                      <p:cBhvr>
                                        <p:cTn id="144" dur="1" fill="hold">
                                          <p:stCondLst>
                                            <p:cond delay="103"/>
                                          </p:stCondLst>
                                        </p:cTn>
                                        <p:tgtEl>
                                          <p:spTgt spid="14019"/>
                                        </p:tgtEl>
                                        <p:attrNameLst>
                                          <p:attrName>style.visibility</p:attrName>
                                        </p:attrNameLst>
                                      </p:cBhvr>
                                      <p:to>
                                        <p:strVal val="hidden"/>
                                      </p:to>
                                    </p:set>
                                  </p:childTnLst>
                                </p:cTn>
                              </p:par>
                              <p:par>
                                <p:cTn id="145" presetID="10" presetClass="exit" presetSubtype="0" fill="hold" nodeType="withEffect">
                                  <p:stCondLst>
                                    <p:cond delay="1720"/>
                                  </p:stCondLst>
                                  <p:childTnLst>
                                    <p:animEffect transition="out" filter="fade">
                                      <p:cBhvr>
                                        <p:cTn id="146" dur="104"/>
                                        <p:tgtEl>
                                          <p:spTgt spid="14020"/>
                                        </p:tgtEl>
                                      </p:cBhvr>
                                    </p:animEffect>
                                    <p:set>
                                      <p:cBhvr>
                                        <p:cTn id="147" dur="1" fill="hold">
                                          <p:stCondLst>
                                            <p:cond delay="103"/>
                                          </p:stCondLst>
                                        </p:cTn>
                                        <p:tgtEl>
                                          <p:spTgt spid="14020"/>
                                        </p:tgtEl>
                                        <p:attrNameLst>
                                          <p:attrName>style.visibility</p:attrName>
                                        </p:attrNameLst>
                                      </p:cBhvr>
                                      <p:to>
                                        <p:strVal val="hidden"/>
                                      </p:to>
                                    </p:set>
                                  </p:childTnLst>
                                </p:cTn>
                              </p:par>
                              <p:par>
                                <p:cTn id="148" presetID="10" presetClass="exit" presetSubtype="0" fill="hold" nodeType="withEffect">
                                  <p:stCondLst>
                                    <p:cond delay="1326"/>
                                  </p:stCondLst>
                                  <p:childTnLst>
                                    <p:animEffect transition="out" filter="fade">
                                      <p:cBhvr>
                                        <p:cTn id="149" dur="104"/>
                                        <p:tgtEl>
                                          <p:spTgt spid="14021"/>
                                        </p:tgtEl>
                                      </p:cBhvr>
                                    </p:animEffect>
                                    <p:set>
                                      <p:cBhvr>
                                        <p:cTn id="150" dur="1" fill="hold">
                                          <p:stCondLst>
                                            <p:cond delay="103"/>
                                          </p:stCondLst>
                                        </p:cTn>
                                        <p:tgtEl>
                                          <p:spTgt spid="14021"/>
                                        </p:tgtEl>
                                        <p:attrNameLst>
                                          <p:attrName>style.visibility</p:attrName>
                                        </p:attrNameLst>
                                      </p:cBhvr>
                                      <p:to>
                                        <p:strVal val="hidden"/>
                                      </p:to>
                                    </p:set>
                                  </p:childTnLst>
                                </p:cTn>
                              </p:par>
                              <p:par>
                                <p:cTn id="151" presetID="10" presetClass="entr" presetSubtype="0" fill="hold" nodeType="withEffect">
                                  <p:stCondLst>
                                    <p:cond delay="1720"/>
                                  </p:stCondLst>
                                  <p:childTnLst>
                                    <p:animEffect transition="in" filter="fade">
                                      <p:cBhvr>
                                        <p:cTn id="152" dur="124"/>
                                        <p:tgtEl>
                                          <p:spTgt spid="14023"/>
                                        </p:tgtEl>
                                      </p:cBhvr>
                                    </p:animEffect>
                                    <p:set>
                                      <p:cBhvr>
                                        <p:cTn id="153" dur="1" fill="hold">
                                          <p:stCondLst>
                                            <p:cond delay="0"/>
                                          </p:stCondLst>
                                        </p:cTn>
                                        <p:tgtEl>
                                          <p:spTgt spid="14023"/>
                                        </p:tgtEl>
                                        <p:attrNameLst>
                                          <p:attrName>style.visibility</p:attrName>
                                        </p:attrNameLst>
                                      </p:cBhvr>
                                      <p:to>
                                        <p:strVal val="visible"/>
                                      </p:to>
                                    </p:set>
                                  </p:childTnLst>
                                </p:cTn>
                              </p:par>
                              <p:par>
                                <p:cTn id="154" presetID="10" presetClass="entr" presetSubtype="0" fill="hold" nodeType="withEffect">
                                  <p:stCondLst>
                                    <p:cond delay="1720"/>
                                  </p:stCondLst>
                                  <p:childTnLst>
                                    <p:animEffect transition="in" filter="fade">
                                      <p:cBhvr>
                                        <p:cTn id="155" dur="124"/>
                                        <p:tgtEl>
                                          <p:spTgt spid="14024"/>
                                        </p:tgtEl>
                                      </p:cBhvr>
                                    </p:animEffect>
                                    <p:set>
                                      <p:cBhvr>
                                        <p:cTn id="156" dur="1" fill="hold">
                                          <p:stCondLst>
                                            <p:cond delay="0"/>
                                          </p:stCondLst>
                                        </p:cTn>
                                        <p:tgtEl>
                                          <p:spTgt spid="14024"/>
                                        </p:tgtEl>
                                        <p:attrNameLst>
                                          <p:attrName>style.visibility</p:attrName>
                                        </p:attrNameLst>
                                      </p:cBhvr>
                                      <p:to>
                                        <p:strVal val="visible"/>
                                      </p:to>
                                    </p:set>
                                  </p:childTnLst>
                                </p:cTn>
                              </p:par>
                              <p:par>
                                <p:cTn id="157" presetID="10" presetClass="entr" presetSubtype="0" fill="hold" nodeType="withEffect">
                                  <p:stCondLst>
                                    <p:cond delay="1720"/>
                                  </p:stCondLst>
                                  <p:childTnLst>
                                    <p:animEffect transition="in" filter="fade">
                                      <p:cBhvr>
                                        <p:cTn id="158" dur="124"/>
                                        <p:tgtEl>
                                          <p:spTgt spid="14025"/>
                                        </p:tgtEl>
                                      </p:cBhvr>
                                    </p:animEffect>
                                    <p:set>
                                      <p:cBhvr>
                                        <p:cTn id="159" dur="1" fill="hold">
                                          <p:stCondLst>
                                            <p:cond delay="0"/>
                                          </p:stCondLst>
                                        </p:cTn>
                                        <p:tgtEl>
                                          <p:spTgt spid="14025"/>
                                        </p:tgtEl>
                                        <p:attrNameLst>
                                          <p:attrName>style.visibility</p:attrName>
                                        </p:attrNameLst>
                                      </p:cBhvr>
                                      <p:to>
                                        <p:strVal val="visible"/>
                                      </p:to>
                                    </p:set>
                                  </p:childTnLst>
                                </p:cTn>
                              </p:par>
                              <p:par>
                                <p:cTn id="160" presetID="10" presetClass="entr" presetSubtype="0" fill="hold" nodeType="withEffect">
                                  <p:stCondLst>
                                    <p:cond delay="1720"/>
                                  </p:stCondLst>
                                  <p:childTnLst>
                                    <p:animEffect transition="in" filter="fade">
                                      <p:cBhvr>
                                        <p:cTn id="161" dur="124"/>
                                        <p:tgtEl>
                                          <p:spTgt spid="14026"/>
                                        </p:tgtEl>
                                      </p:cBhvr>
                                    </p:animEffect>
                                    <p:set>
                                      <p:cBhvr>
                                        <p:cTn id="162" dur="1" fill="hold">
                                          <p:stCondLst>
                                            <p:cond delay="0"/>
                                          </p:stCondLst>
                                        </p:cTn>
                                        <p:tgtEl>
                                          <p:spTgt spid="14026"/>
                                        </p:tgtEl>
                                        <p:attrNameLst>
                                          <p:attrName>style.visibility</p:attrName>
                                        </p:attrNameLst>
                                      </p:cBhvr>
                                      <p:to>
                                        <p:strVal val="visible"/>
                                      </p:to>
                                    </p:set>
                                  </p:childTnLst>
                                </p:cTn>
                              </p:par>
                              <p:par>
                                <p:cTn id="163" presetID="10" presetClass="entr" presetSubtype="0" fill="hold" nodeType="withEffect">
                                  <p:stCondLst>
                                    <p:cond delay="1720"/>
                                  </p:stCondLst>
                                  <p:childTnLst>
                                    <p:animEffect transition="in" filter="fade">
                                      <p:cBhvr>
                                        <p:cTn id="164" dur="124"/>
                                        <p:tgtEl>
                                          <p:spTgt spid="14027"/>
                                        </p:tgtEl>
                                      </p:cBhvr>
                                    </p:animEffect>
                                    <p:set>
                                      <p:cBhvr>
                                        <p:cTn id="165" dur="1" fill="hold">
                                          <p:stCondLst>
                                            <p:cond delay="0"/>
                                          </p:stCondLst>
                                        </p:cTn>
                                        <p:tgtEl>
                                          <p:spTgt spid="14027"/>
                                        </p:tgtEl>
                                        <p:attrNameLst>
                                          <p:attrName>style.visibility</p:attrName>
                                        </p:attrNameLst>
                                      </p:cBhvr>
                                      <p:to>
                                        <p:strVal val="visible"/>
                                      </p:to>
                                    </p:set>
                                  </p:childTnLst>
                                </p:cTn>
                              </p:par>
                              <p:par>
                                <p:cTn id="166" presetID="10" presetClass="entr" presetSubtype="0" fill="hold" nodeType="withEffect">
                                  <p:stCondLst>
                                    <p:cond delay="1720"/>
                                  </p:stCondLst>
                                  <p:childTnLst>
                                    <p:animEffect transition="in" filter="fade">
                                      <p:cBhvr>
                                        <p:cTn id="167" dur="124"/>
                                        <p:tgtEl>
                                          <p:spTgt spid="14028"/>
                                        </p:tgtEl>
                                      </p:cBhvr>
                                    </p:animEffect>
                                    <p:set>
                                      <p:cBhvr>
                                        <p:cTn id="168" dur="1" fill="hold">
                                          <p:stCondLst>
                                            <p:cond delay="0"/>
                                          </p:stCondLst>
                                        </p:cTn>
                                        <p:tgtEl>
                                          <p:spTgt spid="14028"/>
                                        </p:tgtEl>
                                        <p:attrNameLst>
                                          <p:attrName>style.visibility</p:attrName>
                                        </p:attrNameLst>
                                      </p:cBhvr>
                                      <p:to>
                                        <p:strVal val="visible"/>
                                      </p:to>
                                    </p:set>
                                  </p:childTnLst>
                                </p:cTn>
                              </p:par>
                              <p:par>
                                <p:cTn id="169" presetID="10" presetClass="entr" presetSubtype="0" fill="hold" nodeType="withEffect">
                                  <p:stCondLst>
                                    <p:cond delay="1720"/>
                                  </p:stCondLst>
                                  <p:childTnLst>
                                    <p:animEffect transition="in" filter="fade">
                                      <p:cBhvr>
                                        <p:cTn id="170" dur="124"/>
                                        <p:tgtEl>
                                          <p:spTgt spid="14029"/>
                                        </p:tgtEl>
                                      </p:cBhvr>
                                    </p:animEffect>
                                    <p:set>
                                      <p:cBhvr>
                                        <p:cTn id="171" dur="1" fill="hold">
                                          <p:stCondLst>
                                            <p:cond delay="0"/>
                                          </p:stCondLst>
                                        </p:cTn>
                                        <p:tgtEl>
                                          <p:spTgt spid="14029"/>
                                        </p:tgtEl>
                                        <p:attrNameLst>
                                          <p:attrName>style.visibility</p:attrName>
                                        </p:attrNameLst>
                                      </p:cBhvr>
                                      <p:to>
                                        <p:strVal val="visible"/>
                                      </p:to>
                                    </p:set>
                                  </p:childTnLst>
                                </p:cTn>
                              </p:par>
                              <p:par>
                                <p:cTn id="172" presetID="10" presetClass="entr" presetSubtype="0" fill="hold" nodeType="withEffect">
                                  <p:stCondLst>
                                    <p:cond delay="1720"/>
                                  </p:stCondLst>
                                  <p:childTnLst>
                                    <p:animEffect transition="in" filter="fade">
                                      <p:cBhvr>
                                        <p:cTn id="173" dur="124"/>
                                        <p:tgtEl>
                                          <p:spTgt spid="14030"/>
                                        </p:tgtEl>
                                      </p:cBhvr>
                                    </p:animEffect>
                                    <p:set>
                                      <p:cBhvr>
                                        <p:cTn id="174" dur="1" fill="hold">
                                          <p:stCondLst>
                                            <p:cond delay="0"/>
                                          </p:stCondLst>
                                        </p:cTn>
                                        <p:tgtEl>
                                          <p:spTgt spid="14030"/>
                                        </p:tgtEl>
                                        <p:attrNameLst>
                                          <p:attrName>style.visibility</p:attrName>
                                        </p:attrNameLst>
                                      </p:cBhvr>
                                      <p:to>
                                        <p:strVal val="visible"/>
                                      </p:to>
                                    </p:set>
                                  </p:childTnLst>
                                </p:cTn>
                              </p:par>
                              <p:par>
                                <p:cTn id="175" presetID="10" presetClass="entr" presetSubtype="0" fill="hold" nodeType="withEffect">
                                  <p:stCondLst>
                                    <p:cond delay="1720"/>
                                  </p:stCondLst>
                                  <p:childTnLst>
                                    <p:animEffect transition="in" filter="fade">
                                      <p:cBhvr>
                                        <p:cTn id="176" dur="124"/>
                                        <p:tgtEl>
                                          <p:spTgt spid="14031"/>
                                        </p:tgtEl>
                                      </p:cBhvr>
                                    </p:animEffect>
                                    <p:set>
                                      <p:cBhvr>
                                        <p:cTn id="177" dur="1" fill="hold">
                                          <p:stCondLst>
                                            <p:cond delay="0"/>
                                          </p:stCondLst>
                                        </p:cTn>
                                        <p:tgtEl>
                                          <p:spTgt spid="14031"/>
                                        </p:tgtEl>
                                        <p:attrNameLst>
                                          <p:attrName>style.visibility</p:attrName>
                                        </p:attrNameLst>
                                      </p:cBhvr>
                                      <p:to>
                                        <p:strVal val="visible"/>
                                      </p:to>
                                    </p:set>
                                  </p:childTnLst>
                                </p:cTn>
                              </p:par>
                              <p:par>
                                <p:cTn id="178" presetID="10" presetClass="entr" presetSubtype="0" fill="hold" nodeType="withEffect">
                                  <p:stCondLst>
                                    <p:cond delay="1720"/>
                                  </p:stCondLst>
                                  <p:childTnLst>
                                    <p:animEffect transition="in" filter="fade">
                                      <p:cBhvr>
                                        <p:cTn id="179" dur="124"/>
                                        <p:tgtEl>
                                          <p:spTgt spid="14032"/>
                                        </p:tgtEl>
                                      </p:cBhvr>
                                    </p:animEffect>
                                    <p:set>
                                      <p:cBhvr>
                                        <p:cTn id="180" dur="1" fill="hold">
                                          <p:stCondLst>
                                            <p:cond delay="0"/>
                                          </p:stCondLst>
                                        </p:cTn>
                                        <p:tgtEl>
                                          <p:spTgt spid="14032"/>
                                        </p:tgtEl>
                                        <p:attrNameLst>
                                          <p:attrName>style.visibility</p:attrName>
                                        </p:attrNameLst>
                                      </p:cBhvr>
                                      <p:to>
                                        <p:strVal val="visible"/>
                                      </p:to>
                                    </p:set>
                                  </p:childTnLst>
                                </p:cTn>
                              </p:par>
                              <p:par>
                                <p:cTn id="181" presetID="10" presetClass="entr" presetSubtype="0" fill="hold" nodeType="withEffect">
                                  <p:stCondLst>
                                    <p:cond delay="1720"/>
                                  </p:stCondLst>
                                  <p:childTnLst>
                                    <p:animEffect transition="in" filter="fade">
                                      <p:cBhvr>
                                        <p:cTn id="182" dur="124"/>
                                        <p:tgtEl>
                                          <p:spTgt spid="14033"/>
                                        </p:tgtEl>
                                      </p:cBhvr>
                                    </p:animEffect>
                                    <p:set>
                                      <p:cBhvr>
                                        <p:cTn id="183" dur="1" fill="hold">
                                          <p:stCondLst>
                                            <p:cond delay="0"/>
                                          </p:stCondLst>
                                        </p:cTn>
                                        <p:tgtEl>
                                          <p:spTgt spid="14033"/>
                                        </p:tgtEl>
                                        <p:attrNameLst>
                                          <p:attrName>style.visibility</p:attrName>
                                        </p:attrNameLst>
                                      </p:cBhvr>
                                      <p:to>
                                        <p:strVal val="visible"/>
                                      </p:to>
                                    </p:set>
                                  </p:childTnLst>
                                </p:cTn>
                              </p:par>
                              <p:par>
                                <p:cTn id="184" presetID="10" presetClass="entr" presetSubtype="0" fill="hold" nodeType="withEffect">
                                  <p:stCondLst>
                                    <p:cond delay="1720"/>
                                  </p:stCondLst>
                                  <p:childTnLst>
                                    <p:animEffect transition="in" filter="fade">
                                      <p:cBhvr>
                                        <p:cTn id="185" dur="124"/>
                                        <p:tgtEl>
                                          <p:spTgt spid="14034"/>
                                        </p:tgtEl>
                                      </p:cBhvr>
                                    </p:animEffect>
                                    <p:set>
                                      <p:cBhvr>
                                        <p:cTn id="186" dur="1" fill="hold">
                                          <p:stCondLst>
                                            <p:cond delay="0"/>
                                          </p:stCondLst>
                                        </p:cTn>
                                        <p:tgtEl>
                                          <p:spTgt spid="14034"/>
                                        </p:tgtEl>
                                        <p:attrNameLst>
                                          <p:attrName>style.visibility</p:attrName>
                                        </p:attrNameLst>
                                      </p:cBhvr>
                                      <p:to>
                                        <p:strVal val="visible"/>
                                      </p:to>
                                    </p:set>
                                  </p:childTnLst>
                                </p:cTn>
                              </p:par>
                              <p:par>
                                <p:cTn id="187" presetID="0" presetClass="path" presetSubtype="0" fill="hold" nodeType="withEffect">
                                  <p:stCondLst>
                                    <p:cond delay="2114"/>
                                  </p:stCondLst>
                                  <p:childTnLst>
                                    <p:animMotion origin="layout" path="M 0 0 L 0.118055556 0.000000000 E" pathEditMode="relative" rAng="0">
                                      <p:cBhvr>
                                        <p:cTn id="188" dur="497" accel="20000" decel="20000" fill="hold"/>
                                        <p:tgtEl>
                                          <p:spTgt spid="14023"/>
                                        </p:tgtEl>
                                        <p:attrNameLst>
                                          <p:attrName>ppt_x</p:attrName>
                                          <p:attrName>ppt_y</p:attrName>
                                        </p:attrNameLst>
                                      </p:cBhvr>
                                      <p:rCtr x="0" y="0"/>
                                    </p:animMotion>
                                  </p:childTnLst>
                                </p:cTn>
                              </p:par>
                              <p:par>
                                <p:cTn id="189" presetID="10" presetClass="exit" presetSubtype="0" fill="hold" nodeType="withEffect">
                                  <p:stCondLst>
                                    <p:cond delay="2508"/>
                                  </p:stCondLst>
                                  <p:childTnLst>
                                    <p:animEffect transition="out" filter="fade">
                                      <p:cBhvr>
                                        <p:cTn id="190" dur="104"/>
                                        <p:tgtEl>
                                          <p:spTgt spid="14023"/>
                                        </p:tgtEl>
                                      </p:cBhvr>
                                    </p:animEffect>
                                    <p:set>
                                      <p:cBhvr>
                                        <p:cTn id="191" dur="1" fill="hold">
                                          <p:stCondLst>
                                            <p:cond delay="103"/>
                                          </p:stCondLst>
                                        </p:cTn>
                                        <p:tgtEl>
                                          <p:spTgt spid="14023"/>
                                        </p:tgtEl>
                                        <p:attrNameLst>
                                          <p:attrName>style.visibility</p:attrName>
                                        </p:attrNameLst>
                                      </p:cBhvr>
                                      <p:to>
                                        <p:strVal val="hidden"/>
                                      </p:to>
                                    </p:set>
                                  </p:childTnLst>
                                </p:cTn>
                              </p:par>
                              <p:par>
                                <p:cTn id="192" presetID="0" presetClass="path" presetSubtype="0" fill="hold" nodeType="withEffect">
                                  <p:stCondLst>
                                    <p:cond delay="2114"/>
                                  </p:stCondLst>
                                  <p:childTnLst>
                                    <p:animMotion origin="layout" path="M 0 0 L 0.137500000 0.000000000 E" pathEditMode="relative" rAng="0">
                                      <p:cBhvr>
                                        <p:cTn id="193" dur="497" accel="20000" decel="20000" fill="hold"/>
                                        <p:tgtEl>
                                          <p:spTgt spid="14024"/>
                                        </p:tgtEl>
                                        <p:attrNameLst>
                                          <p:attrName>ppt_x</p:attrName>
                                          <p:attrName>ppt_y</p:attrName>
                                        </p:attrNameLst>
                                      </p:cBhvr>
                                      <p:rCtr x="0" y="0"/>
                                    </p:animMotion>
                                  </p:childTnLst>
                                </p:cTn>
                              </p:par>
                              <p:par>
                                <p:cTn id="194" presetID="10" presetClass="exit" presetSubtype="0" fill="hold" nodeType="withEffect">
                                  <p:stCondLst>
                                    <p:cond delay="2508"/>
                                  </p:stCondLst>
                                  <p:childTnLst>
                                    <p:animEffect transition="out" filter="fade">
                                      <p:cBhvr>
                                        <p:cTn id="195" dur="104"/>
                                        <p:tgtEl>
                                          <p:spTgt spid="14024"/>
                                        </p:tgtEl>
                                      </p:cBhvr>
                                    </p:animEffect>
                                    <p:set>
                                      <p:cBhvr>
                                        <p:cTn id="196" dur="1" fill="hold">
                                          <p:stCondLst>
                                            <p:cond delay="103"/>
                                          </p:stCondLst>
                                        </p:cTn>
                                        <p:tgtEl>
                                          <p:spTgt spid="14024"/>
                                        </p:tgtEl>
                                        <p:attrNameLst>
                                          <p:attrName>style.visibility</p:attrName>
                                        </p:attrNameLst>
                                      </p:cBhvr>
                                      <p:to>
                                        <p:strVal val="hidden"/>
                                      </p:to>
                                    </p:set>
                                  </p:childTnLst>
                                </p:cTn>
                              </p:par>
                              <p:par>
                                <p:cTn id="197" presetID="10" presetClass="exit" presetSubtype="0" fill="hold" nodeType="withEffect">
                                  <p:stCondLst>
                                    <p:cond delay="2508"/>
                                  </p:stCondLst>
                                  <p:childTnLst>
                                    <p:animEffect transition="out" filter="fade">
                                      <p:cBhvr>
                                        <p:cTn id="198" dur="104"/>
                                        <p:tgtEl>
                                          <p:spTgt spid="14025"/>
                                        </p:tgtEl>
                                      </p:cBhvr>
                                    </p:animEffect>
                                    <p:set>
                                      <p:cBhvr>
                                        <p:cTn id="199" dur="1" fill="hold">
                                          <p:stCondLst>
                                            <p:cond delay="103"/>
                                          </p:stCondLst>
                                        </p:cTn>
                                        <p:tgtEl>
                                          <p:spTgt spid="14025"/>
                                        </p:tgtEl>
                                        <p:attrNameLst>
                                          <p:attrName>style.visibility</p:attrName>
                                        </p:attrNameLst>
                                      </p:cBhvr>
                                      <p:to>
                                        <p:strVal val="hidden"/>
                                      </p:to>
                                    </p:set>
                                  </p:childTnLst>
                                </p:cTn>
                              </p:par>
                              <p:par>
                                <p:cTn id="200" presetID="10" presetClass="exit" presetSubtype="0" fill="hold" nodeType="withEffect">
                                  <p:stCondLst>
                                    <p:cond delay="2508"/>
                                  </p:stCondLst>
                                  <p:childTnLst>
                                    <p:animEffect transition="out" filter="fade">
                                      <p:cBhvr>
                                        <p:cTn id="201" dur="104"/>
                                        <p:tgtEl>
                                          <p:spTgt spid="14026"/>
                                        </p:tgtEl>
                                      </p:cBhvr>
                                    </p:animEffect>
                                    <p:set>
                                      <p:cBhvr>
                                        <p:cTn id="202" dur="1" fill="hold">
                                          <p:stCondLst>
                                            <p:cond delay="103"/>
                                          </p:stCondLst>
                                        </p:cTn>
                                        <p:tgtEl>
                                          <p:spTgt spid="14026"/>
                                        </p:tgtEl>
                                        <p:attrNameLst>
                                          <p:attrName>style.visibility</p:attrName>
                                        </p:attrNameLst>
                                      </p:cBhvr>
                                      <p:to>
                                        <p:strVal val="hidden"/>
                                      </p:to>
                                    </p:set>
                                  </p:childTnLst>
                                </p:cTn>
                              </p:par>
                              <p:par>
                                <p:cTn id="203" presetID="10" presetClass="exit" presetSubtype="0" fill="hold" nodeType="withEffect">
                                  <p:stCondLst>
                                    <p:cond delay="2114"/>
                                  </p:stCondLst>
                                  <p:childTnLst>
                                    <p:animEffect transition="out" filter="fade">
                                      <p:cBhvr>
                                        <p:cTn id="204" dur="104"/>
                                        <p:tgtEl>
                                          <p:spTgt spid="14027"/>
                                        </p:tgtEl>
                                      </p:cBhvr>
                                    </p:animEffect>
                                    <p:set>
                                      <p:cBhvr>
                                        <p:cTn id="205" dur="1" fill="hold">
                                          <p:stCondLst>
                                            <p:cond delay="103"/>
                                          </p:stCondLst>
                                        </p:cTn>
                                        <p:tgtEl>
                                          <p:spTgt spid="14027"/>
                                        </p:tgtEl>
                                        <p:attrNameLst>
                                          <p:attrName>style.visibility</p:attrName>
                                        </p:attrNameLst>
                                      </p:cBhvr>
                                      <p:to>
                                        <p:strVal val="hidden"/>
                                      </p:to>
                                    </p:set>
                                  </p:childTnLst>
                                </p:cTn>
                              </p:par>
                              <p:par>
                                <p:cTn id="206" presetID="10" presetClass="exit" presetSubtype="0" fill="hold" nodeType="withEffect">
                                  <p:stCondLst>
                                    <p:cond delay="2508"/>
                                  </p:stCondLst>
                                  <p:childTnLst>
                                    <p:animEffect transition="out" filter="fade">
                                      <p:cBhvr>
                                        <p:cTn id="207" dur="104"/>
                                        <p:tgtEl>
                                          <p:spTgt spid="14028"/>
                                        </p:tgtEl>
                                      </p:cBhvr>
                                    </p:animEffect>
                                    <p:set>
                                      <p:cBhvr>
                                        <p:cTn id="208" dur="1" fill="hold">
                                          <p:stCondLst>
                                            <p:cond delay="103"/>
                                          </p:stCondLst>
                                        </p:cTn>
                                        <p:tgtEl>
                                          <p:spTgt spid="14028"/>
                                        </p:tgtEl>
                                        <p:attrNameLst>
                                          <p:attrName>style.visibility</p:attrName>
                                        </p:attrNameLst>
                                      </p:cBhvr>
                                      <p:to>
                                        <p:strVal val="hidden"/>
                                      </p:to>
                                    </p:set>
                                  </p:childTnLst>
                                </p:cTn>
                              </p:par>
                              <p:par>
                                <p:cTn id="20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0" dur="497" accel="20000" decel="20000" fill="hold"/>
                                        <p:tgtEl>
                                          <p:spTgt spid="14029"/>
                                        </p:tgtEl>
                                        <p:attrNameLst>
                                          <p:attrName>ppt_x</p:attrName>
                                          <p:attrName>ppt_y</p:attrName>
                                        </p:attrNameLst>
                                      </p:cBhvr>
                                      <p:rCtr x="0" y="0"/>
                                    </p:animMotion>
                                  </p:childTnLst>
                                </p:cTn>
                              </p:par>
                              <p:par>
                                <p:cTn id="211" presetID="10" presetClass="exit" presetSubtype="0" fill="hold" nodeType="withEffect">
                                  <p:stCondLst>
                                    <p:cond delay="2508"/>
                                  </p:stCondLst>
                                  <p:childTnLst>
                                    <p:animEffect transition="out" filter="fade">
                                      <p:cBhvr>
                                        <p:cTn id="212" dur="104"/>
                                        <p:tgtEl>
                                          <p:spTgt spid="14029"/>
                                        </p:tgtEl>
                                      </p:cBhvr>
                                    </p:animEffect>
                                    <p:set>
                                      <p:cBhvr>
                                        <p:cTn id="213" dur="1" fill="hold">
                                          <p:stCondLst>
                                            <p:cond delay="103"/>
                                          </p:stCondLst>
                                        </p:cTn>
                                        <p:tgtEl>
                                          <p:spTgt spid="14029"/>
                                        </p:tgtEl>
                                        <p:attrNameLst>
                                          <p:attrName>style.visibility</p:attrName>
                                        </p:attrNameLst>
                                      </p:cBhvr>
                                      <p:to>
                                        <p:strVal val="hidden"/>
                                      </p:to>
                                    </p:set>
                                  </p:childTnLst>
                                </p:cTn>
                              </p:par>
                              <p:par>
                                <p:cTn id="21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15" dur="497" accel="20000" decel="20000" fill="hold"/>
                                        <p:tgtEl>
                                          <p:spTgt spid="14030"/>
                                        </p:tgtEl>
                                        <p:attrNameLst>
                                          <p:attrName>ppt_x</p:attrName>
                                          <p:attrName>ppt_y</p:attrName>
                                        </p:attrNameLst>
                                      </p:cBhvr>
                                      <p:rCtr x="0" y="0"/>
                                    </p:animMotion>
                                  </p:childTnLst>
                                </p:cTn>
                              </p:par>
                              <p:par>
                                <p:cTn id="216" presetID="10" presetClass="exit" presetSubtype="0" fill="hold" nodeType="withEffect">
                                  <p:stCondLst>
                                    <p:cond delay="2508"/>
                                  </p:stCondLst>
                                  <p:childTnLst>
                                    <p:animEffect transition="out" filter="fade">
                                      <p:cBhvr>
                                        <p:cTn id="217" dur="104"/>
                                        <p:tgtEl>
                                          <p:spTgt spid="14030"/>
                                        </p:tgtEl>
                                      </p:cBhvr>
                                    </p:animEffect>
                                    <p:set>
                                      <p:cBhvr>
                                        <p:cTn id="218" dur="1" fill="hold">
                                          <p:stCondLst>
                                            <p:cond delay="103"/>
                                          </p:stCondLst>
                                        </p:cTn>
                                        <p:tgtEl>
                                          <p:spTgt spid="14030"/>
                                        </p:tgtEl>
                                        <p:attrNameLst>
                                          <p:attrName>style.visibility</p:attrName>
                                        </p:attrNameLst>
                                      </p:cBhvr>
                                      <p:to>
                                        <p:strVal val="hidden"/>
                                      </p:to>
                                    </p:set>
                                  </p:childTnLst>
                                </p:cTn>
                              </p:par>
                              <p:par>
                                <p:cTn id="219"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0" dur="497" accel="20000" decel="20000" fill="hold"/>
                                        <p:tgtEl>
                                          <p:spTgt spid="14031"/>
                                        </p:tgtEl>
                                        <p:attrNameLst>
                                          <p:attrName>ppt_x</p:attrName>
                                          <p:attrName>ppt_y</p:attrName>
                                        </p:attrNameLst>
                                      </p:cBhvr>
                                      <p:rCtr x="0" y="0"/>
                                    </p:animMotion>
                                  </p:childTnLst>
                                </p:cTn>
                              </p:par>
                              <p:par>
                                <p:cTn id="221" presetID="10" presetClass="exit" presetSubtype="0" fill="hold" nodeType="withEffect">
                                  <p:stCondLst>
                                    <p:cond delay="2508"/>
                                  </p:stCondLst>
                                  <p:childTnLst>
                                    <p:animEffect transition="out" filter="fade">
                                      <p:cBhvr>
                                        <p:cTn id="222" dur="104"/>
                                        <p:tgtEl>
                                          <p:spTgt spid="14031"/>
                                        </p:tgtEl>
                                      </p:cBhvr>
                                    </p:animEffect>
                                    <p:set>
                                      <p:cBhvr>
                                        <p:cTn id="223" dur="1" fill="hold">
                                          <p:stCondLst>
                                            <p:cond delay="103"/>
                                          </p:stCondLst>
                                        </p:cTn>
                                        <p:tgtEl>
                                          <p:spTgt spid="14031"/>
                                        </p:tgtEl>
                                        <p:attrNameLst>
                                          <p:attrName>style.visibility</p:attrName>
                                        </p:attrNameLst>
                                      </p:cBhvr>
                                      <p:to>
                                        <p:strVal val="hidden"/>
                                      </p:to>
                                    </p:set>
                                  </p:childTnLst>
                                </p:cTn>
                              </p:par>
                              <p:par>
                                <p:cTn id="224" presetID="0" presetClass="path" presetSubtype="0" fill="hold" nodeType="withEffect">
                                  <p:stCondLst>
                                    <p:cond delay="2114"/>
                                  </p:stCondLst>
                                  <p:childTnLst>
                                    <p:animMotion origin="layout" path="M 0 0 C -0.009204746 0.000000000 -0.016666667 -0.014371107 -0.016666667 -0.032098765 C -0.016666667 -0.049826424 -0.009204746 -0.064197531 0.000000000 -0.064197531 E" pathEditMode="relative" rAng="0">
                                      <p:cBhvr>
                                        <p:cTn id="225" dur="497" accel="20000" decel="20000" fill="hold"/>
                                        <p:tgtEl>
                                          <p:spTgt spid="14032"/>
                                        </p:tgtEl>
                                        <p:attrNameLst>
                                          <p:attrName>ppt_x</p:attrName>
                                          <p:attrName>ppt_y</p:attrName>
                                        </p:attrNameLst>
                                      </p:cBhvr>
                                      <p:rCtr x="0" y="0"/>
                                    </p:animMotion>
                                  </p:childTnLst>
                                </p:cTn>
                              </p:par>
                              <p:par>
                                <p:cTn id="226" presetID="10" presetClass="exit" presetSubtype="0" fill="hold" nodeType="withEffect">
                                  <p:stCondLst>
                                    <p:cond delay="2508"/>
                                  </p:stCondLst>
                                  <p:childTnLst>
                                    <p:animEffect transition="out" filter="fade">
                                      <p:cBhvr>
                                        <p:cTn id="227" dur="104"/>
                                        <p:tgtEl>
                                          <p:spTgt spid="14032"/>
                                        </p:tgtEl>
                                      </p:cBhvr>
                                    </p:animEffect>
                                    <p:set>
                                      <p:cBhvr>
                                        <p:cTn id="228" dur="1" fill="hold">
                                          <p:stCondLst>
                                            <p:cond delay="103"/>
                                          </p:stCondLst>
                                        </p:cTn>
                                        <p:tgtEl>
                                          <p:spTgt spid="14032"/>
                                        </p:tgtEl>
                                        <p:attrNameLst>
                                          <p:attrName>style.visibility</p:attrName>
                                        </p:attrNameLst>
                                      </p:cBhvr>
                                      <p:to>
                                        <p:strVal val="hidden"/>
                                      </p:to>
                                    </p:set>
                                  </p:childTnLst>
                                </p:cTn>
                              </p:par>
                              <p:par>
                                <p:cTn id="229" presetID="10" presetClass="exit" presetSubtype="0" fill="hold" nodeType="withEffect">
                                  <p:stCondLst>
                                    <p:cond delay="2508"/>
                                  </p:stCondLst>
                                  <p:childTnLst>
                                    <p:animEffect transition="out" filter="fade">
                                      <p:cBhvr>
                                        <p:cTn id="230" dur="104"/>
                                        <p:tgtEl>
                                          <p:spTgt spid="14033"/>
                                        </p:tgtEl>
                                      </p:cBhvr>
                                    </p:animEffect>
                                    <p:set>
                                      <p:cBhvr>
                                        <p:cTn id="231" dur="1" fill="hold">
                                          <p:stCondLst>
                                            <p:cond delay="103"/>
                                          </p:stCondLst>
                                        </p:cTn>
                                        <p:tgtEl>
                                          <p:spTgt spid="14033"/>
                                        </p:tgtEl>
                                        <p:attrNameLst>
                                          <p:attrName>style.visibility</p:attrName>
                                        </p:attrNameLst>
                                      </p:cBhvr>
                                      <p:to>
                                        <p:strVal val="hidden"/>
                                      </p:to>
                                    </p:set>
                                  </p:childTnLst>
                                </p:cTn>
                              </p:par>
                              <p:par>
                                <p:cTn id="232" presetID="10" presetClass="exit" presetSubtype="0" fill="hold" nodeType="withEffect">
                                  <p:stCondLst>
                                    <p:cond delay="2508"/>
                                  </p:stCondLst>
                                  <p:childTnLst>
                                    <p:animEffect transition="out" filter="fade">
                                      <p:cBhvr>
                                        <p:cTn id="233" dur="104"/>
                                        <p:tgtEl>
                                          <p:spTgt spid="14034"/>
                                        </p:tgtEl>
                                      </p:cBhvr>
                                    </p:animEffect>
                                    <p:set>
                                      <p:cBhvr>
                                        <p:cTn id="234" dur="1" fill="hold">
                                          <p:stCondLst>
                                            <p:cond delay="103"/>
                                          </p:stCondLst>
                                        </p:cTn>
                                        <p:tgtEl>
                                          <p:spTgt spid="14034"/>
                                        </p:tgtEl>
                                        <p:attrNameLst>
                                          <p:attrName>style.visibility</p:attrName>
                                        </p:attrNameLst>
                                      </p:cBhvr>
                                      <p:to>
                                        <p:strVal val="hidden"/>
                                      </p:to>
                                    </p:set>
                                  </p:childTnLst>
                                </p:cTn>
                              </p:par>
                              <p:par>
                                <p:cTn id="235" presetID="10" presetClass="entr" presetSubtype="0" fill="hold" nodeType="withEffect">
                                  <p:stCondLst>
                                    <p:cond delay="2508"/>
                                  </p:stCondLst>
                                  <p:childTnLst>
                                    <p:animEffect transition="in" filter="fade">
                                      <p:cBhvr>
                                        <p:cTn id="236" dur="124"/>
                                        <p:tgtEl>
                                          <p:spTgt spid="14036"/>
                                        </p:tgtEl>
                                      </p:cBhvr>
                                    </p:animEffect>
                                    <p:set>
                                      <p:cBhvr>
                                        <p:cTn id="237" dur="1" fill="hold">
                                          <p:stCondLst>
                                            <p:cond delay="0"/>
                                          </p:stCondLst>
                                        </p:cTn>
                                        <p:tgtEl>
                                          <p:spTgt spid="14036"/>
                                        </p:tgtEl>
                                        <p:attrNameLst>
                                          <p:attrName>style.visibility</p:attrName>
                                        </p:attrNameLst>
                                      </p:cBhvr>
                                      <p:to>
                                        <p:strVal val="visible"/>
                                      </p:to>
                                    </p:set>
                                  </p:childTnLst>
                                </p:cTn>
                              </p:par>
                              <p:par>
                                <p:cTn id="238" presetID="10" presetClass="entr" presetSubtype="0" fill="hold" nodeType="withEffect">
                                  <p:stCondLst>
                                    <p:cond delay="2508"/>
                                  </p:stCondLst>
                                  <p:childTnLst>
                                    <p:animEffect transition="in" filter="fade">
                                      <p:cBhvr>
                                        <p:cTn id="239" dur="124"/>
                                        <p:tgtEl>
                                          <p:spTgt spid="14037"/>
                                        </p:tgtEl>
                                      </p:cBhvr>
                                    </p:animEffect>
                                    <p:set>
                                      <p:cBhvr>
                                        <p:cTn id="240" dur="1" fill="hold">
                                          <p:stCondLst>
                                            <p:cond delay="0"/>
                                          </p:stCondLst>
                                        </p:cTn>
                                        <p:tgtEl>
                                          <p:spTgt spid="14037"/>
                                        </p:tgtEl>
                                        <p:attrNameLst>
                                          <p:attrName>style.visibility</p:attrName>
                                        </p:attrNameLst>
                                      </p:cBhvr>
                                      <p:to>
                                        <p:strVal val="visible"/>
                                      </p:to>
                                    </p:set>
                                  </p:childTnLst>
                                </p:cTn>
                              </p:par>
                              <p:par>
                                <p:cTn id="241" presetID="10" presetClass="entr" presetSubtype="0" fill="hold" nodeType="withEffect">
                                  <p:stCondLst>
                                    <p:cond delay="2508"/>
                                  </p:stCondLst>
                                  <p:childTnLst>
                                    <p:animEffect transition="in" filter="fade">
                                      <p:cBhvr>
                                        <p:cTn id="242" dur="124"/>
                                        <p:tgtEl>
                                          <p:spTgt spid="14038"/>
                                        </p:tgtEl>
                                      </p:cBhvr>
                                    </p:animEffect>
                                    <p:set>
                                      <p:cBhvr>
                                        <p:cTn id="243" dur="1" fill="hold">
                                          <p:stCondLst>
                                            <p:cond delay="0"/>
                                          </p:stCondLst>
                                        </p:cTn>
                                        <p:tgtEl>
                                          <p:spTgt spid="14038"/>
                                        </p:tgtEl>
                                        <p:attrNameLst>
                                          <p:attrName>style.visibility</p:attrName>
                                        </p:attrNameLst>
                                      </p:cBhvr>
                                      <p:to>
                                        <p:strVal val="visible"/>
                                      </p:to>
                                    </p:set>
                                  </p:childTnLst>
                                </p:cTn>
                              </p:par>
                              <p:par>
                                <p:cTn id="244" presetID="10" presetClass="entr" presetSubtype="0" fill="hold" nodeType="withEffect">
                                  <p:stCondLst>
                                    <p:cond delay="2508"/>
                                  </p:stCondLst>
                                  <p:childTnLst>
                                    <p:animEffect transition="in" filter="fade">
                                      <p:cBhvr>
                                        <p:cTn id="245" dur="124"/>
                                        <p:tgtEl>
                                          <p:spTgt spid="14039"/>
                                        </p:tgtEl>
                                      </p:cBhvr>
                                    </p:animEffect>
                                    <p:set>
                                      <p:cBhvr>
                                        <p:cTn id="246" dur="1" fill="hold">
                                          <p:stCondLst>
                                            <p:cond delay="0"/>
                                          </p:stCondLst>
                                        </p:cTn>
                                        <p:tgtEl>
                                          <p:spTgt spid="14039"/>
                                        </p:tgtEl>
                                        <p:attrNameLst>
                                          <p:attrName>style.visibility</p:attrName>
                                        </p:attrNameLst>
                                      </p:cBhvr>
                                      <p:to>
                                        <p:strVal val="visible"/>
                                      </p:to>
                                    </p:set>
                                  </p:childTnLst>
                                </p:cTn>
                              </p:par>
                              <p:par>
                                <p:cTn id="247" presetID="10" presetClass="entr" presetSubtype="0" fill="hold" nodeType="withEffect">
                                  <p:stCondLst>
                                    <p:cond delay="2508"/>
                                  </p:stCondLst>
                                  <p:childTnLst>
                                    <p:animEffect transition="in" filter="fade">
                                      <p:cBhvr>
                                        <p:cTn id="248" dur="124"/>
                                        <p:tgtEl>
                                          <p:spTgt spid="14040"/>
                                        </p:tgtEl>
                                      </p:cBhvr>
                                    </p:animEffect>
                                    <p:set>
                                      <p:cBhvr>
                                        <p:cTn id="249" dur="1" fill="hold">
                                          <p:stCondLst>
                                            <p:cond delay="0"/>
                                          </p:stCondLst>
                                        </p:cTn>
                                        <p:tgtEl>
                                          <p:spTgt spid="14040"/>
                                        </p:tgtEl>
                                        <p:attrNameLst>
                                          <p:attrName>style.visibility</p:attrName>
                                        </p:attrNameLst>
                                      </p:cBhvr>
                                      <p:to>
                                        <p:strVal val="visible"/>
                                      </p:to>
                                    </p:set>
                                  </p:childTnLst>
                                </p:cTn>
                              </p:par>
                              <p:par>
                                <p:cTn id="250" presetID="10" presetClass="entr" presetSubtype="0" fill="hold" nodeType="withEffect">
                                  <p:stCondLst>
                                    <p:cond delay="2508"/>
                                  </p:stCondLst>
                                  <p:childTnLst>
                                    <p:animEffect transition="in" filter="fade">
                                      <p:cBhvr>
                                        <p:cTn id="251" dur="124"/>
                                        <p:tgtEl>
                                          <p:spTgt spid="14041"/>
                                        </p:tgtEl>
                                      </p:cBhvr>
                                    </p:animEffect>
                                    <p:set>
                                      <p:cBhvr>
                                        <p:cTn id="252" dur="1" fill="hold">
                                          <p:stCondLst>
                                            <p:cond delay="0"/>
                                          </p:stCondLst>
                                        </p:cTn>
                                        <p:tgtEl>
                                          <p:spTgt spid="14041"/>
                                        </p:tgtEl>
                                        <p:attrNameLst>
                                          <p:attrName>style.visibility</p:attrName>
                                        </p:attrNameLst>
                                      </p:cBhvr>
                                      <p:to>
                                        <p:strVal val="visible"/>
                                      </p:to>
                                    </p:set>
                                  </p:childTnLst>
                                </p:cTn>
                              </p:par>
                              <p:par>
                                <p:cTn id="253" presetID="10" presetClass="entr" presetSubtype="0" fill="hold" nodeType="withEffect">
                                  <p:stCondLst>
                                    <p:cond delay="2508"/>
                                  </p:stCondLst>
                                  <p:childTnLst>
                                    <p:animEffect transition="in" filter="fade">
                                      <p:cBhvr>
                                        <p:cTn id="254" dur="124"/>
                                        <p:tgtEl>
                                          <p:spTgt spid="14042"/>
                                        </p:tgtEl>
                                      </p:cBhvr>
                                    </p:animEffect>
                                    <p:set>
                                      <p:cBhvr>
                                        <p:cTn id="255" dur="1" fill="hold">
                                          <p:stCondLst>
                                            <p:cond delay="0"/>
                                          </p:stCondLst>
                                        </p:cTn>
                                        <p:tgtEl>
                                          <p:spTgt spid="14042"/>
                                        </p:tgtEl>
                                        <p:attrNameLst>
                                          <p:attrName>style.visibility</p:attrName>
                                        </p:attrNameLst>
                                      </p:cBhvr>
                                      <p:to>
                                        <p:strVal val="visible"/>
                                      </p:to>
                                    </p:set>
                                  </p:childTnLst>
                                </p:cTn>
                              </p:par>
                              <p:par>
                                <p:cTn id="256" presetID="10" presetClass="entr" presetSubtype="0" fill="hold" nodeType="withEffect">
                                  <p:stCondLst>
                                    <p:cond delay="2508"/>
                                  </p:stCondLst>
                                  <p:childTnLst>
                                    <p:animEffect transition="in" filter="fade">
                                      <p:cBhvr>
                                        <p:cTn id="257" dur="124"/>
                                        <p:tgtEl>
                                          <p:spTgt spid="14043"/>
                                        </p:tgtEl>
                                      </p:cBhvr>
                                    </p:animEffect>
                                    <p:set>
                                      <p:cBhvr>
                                        <p:cTn id="258" dur="1" fill="hold">
                                          <p:stCondLst>
                                            <p:cond delay="0"/>
                                          </p:stCondLst>
                                        </p:cTn>
                                        <p:tgtEl>
                                          <p:spTgt spid="14043"/>
                                        </p:tgtEl>
                                        <p:attrNameLst>
                                          <p:attrName>style.visibility</p:attrName>
                                        </p:attrNameLst>
                                      </p:cBhvr>
                                      <p:to>
                                        <p:strVal val="visible"/>
                                      </p:to>
                                    </p:set>
                                  </p:childTnLst>
                                </p:cTn>
                              </p:par>
                              <p:par>
                                <p:cTn id="259" presetID="10" presetClass="entr" presetSubtype="0" fill="hold" nodeType="withEffect">
                                  <p:stCondLst>
                                    <p:cond delay="2508"/>
                                  </p:stCondLst>
                                  <p:childTnLst>
                                    <p:animEffect transition="in" filter="fade">
                                      <p:cBhvr>
                                        <p:cTn id="260" dur="124"/>
                                        <p:tgtEl>
                                          <p:spTgt spid="14044"/>
                                        </p:tgtEl>
                                      </p:cBhvr>
                                    </p:animEffect>
                                    <p:set>
                                      <p:cBhvr>
                                        <p:cTn id="261" dur="1" fill="hold">
                                          <p:stCondLst>
                                            <p:cond delay="0"/>
                                          </p:stCondLst>
                                        </p:cTn>
                                        <p:tgtEl>
                                          <p:spTgt spid="14044"/>
                                        </p:tgtEl>
                                        <p:attrNameLst>
                                          <p:attrName>style.visibility</p:attrName>
                                        </p:attrNameLst>
                                      </p:cBhvr>
                                      <p:to>
                                        <p:strVal val="visible"/>
                                      </p:to>
                                    </p:set>
                                  </p:childTnLst>
                                </p:cTn>
                              </p:par>
                              <p:par>
                                <p:cTn id="262" presetID="10" presetClass="entr" presetSubtype="0" fill="hold" nodeType="withEffect">
                                  <p:stCondLst>
                                    <p:cond delay="2508"/>
                                  </p:stCondLst>
                                  <p:childTnLst>
                                    <p:animEffect transition="in" filter="fade">
                                      <p:cBhvr>
                                        <p:cTn id="263" dur="124"/>
                                        <p:tgtEl>
                                          <p:spTgt spid="14045"/>
                                        </p:tgtEl>
                                      </p:cBhvr>
                                    </p:animEffect>
                                    <p:set>
                                      <p:cBhvr>
                                        <p:cTn id="264" dur="1" fill="hold">
                                          <p:stCondLst>
                                            <p:cond delay="0"/>
                                          </p:stCondLst>
                                        </p:cTn>
                                        <p:tgtEl>
                                          <p:spTgt spid="14045"/>
                                        </p:tgtEl>
                                        <p:attrNameLst>
                                          <p:attrName>style.visibility</p:attrName>
                                        </p:attrNameLst>
                                      </p:cBhvr>
                                      <p:to>
                                        <p:strVal val="visible"/>
                                      </p:to>
                                    </p:set>
                                  </p:childTnLst>
                                </p:cTn>
                              </p:par>
                              <p:par>
                                <p:cTn id="265" presetID="10" presetClass="entr" presetSubtype="0" fill="hold" nodeType="withEffect">
                                  <p:stCondLst>
                                    <p:cond delay="2508"/>
                                  </p:stCondLst>
                                  <p:childTnLst>
                                    <p:animEffect transition="in" filter="fade">
                                      <p:cBhvr>
                                        <p:cTn id="266" dur="124"/>
                                        <p:tgtEl>
                                          <p:spTgt spid="14046"/>
                                        </p:tgtEl>
                                      </p:cBhvr>
                                    </p:animEffect>
                                    <p:set>
                                      <p:cBhvr>
                                        <p:cTn id="267" dur="1" fill="hold">
                                          <p:stCondLst>
                                            <p:cond delay="0"/>
                                          </p:stCondLst>
                                        </p:cTn>
                                        <p:tgtEl>
                                          <p:spTgt spid="14046"/>
                                        </p:tgtEl>
                                        <p:attrNameLst>
                                          <p:attrName>style.visibility</p:attrName>
                                        </p:attrNameLst>
                                      </p:cBhvr>
                                      <p:to>
                                        <p:strVal val="visible"/>
                                      </p:to>
                                    </p:set>
                                  </p:childTnLst>
                                </p:cTn>
                              </p:par>
                              <p:par>
                                <p:cTn id="268" presetID="0" presetClass="path" presetSubtype="0" fill="hold" nodeType="withEffect">
                                  <p:stCondLst>
                                    <p:cond delay="2902"/>
                                  </p:stCondLst>
                                  <p:childTnLst>
                                    <p:animMotion origin="layout" path="M 0 0 L 0.058333333 0.000000000 E" pathEditMode="relative" rAng="0">
                                      <p:cBhvr>
                                        <p:cTn id="269" dur="497" accel="20000" decel="20000" fill="hold"/>
                                        <p:tgtEl>
                                          <p:spTgt spid="14036"/>
                                        </p:tgtEl>
                                        <p:attrNameLst>
                                          <p:attrName>ppt_x</p:attrName>
                                          <p:attrName>ppt_y</p:attrName>
                                        </p:attrNameLst>
                                      </p:cBhvr>
                                      <p:rCtr x="0" y="0"/>
                                    </p:animMotion>
                                  </p:childTnLst>
                                </p:cTn>
                              </p:par>
                              <p:par>
                                <p:cTn id="270" presetID="10" presetClass="exit" presetSubtype="0" fill="hold" nodeType="withEffect">
                                  <p:stCondLst>
                                    <p:cond delay="3295"/>
                                  </p:stCondLst>
                                  <p:childTnLst>
                                    <p:animEffect transition="out" filter="fade">
                                      <p:cBhvr>
                                        <p:cTn id="271" dur="104"/>
                                        <p:tgtEl>
                                          <p:spTgt spid="14036"/>
                                        </p:tgtEl>
                                      </p:cBhvr>
                                    </p:animEffect>
                                    <p:set>
                                      <p:cBhvr>
                                        <p:cTn id="272" dur="1" fill="hold">
                                          <p:stCondLst>
                                            <p:cond delay="103"/>
                                          </p:stCondLst>
                                        </p:cTn>
                                        <p:tgtEl>
                                          <p:spTgt spid="14036"/>
                                        </p:tgtEl>
                                        <p:attrNameLst>
                                          <p:attrName>style.visibility</p:attrName>
                                        </p:attrNameLst>
                                      </p:cBhvr>
                                      <p:to>
                                        <p:strVal val="hidden"/>
                                      </p:to>
                                    </p:set>
                                  </p:childTnLst>
                                </p:cTn>
                              </p:par>
                              <p:par>
                                <p:cTn id="273" presetID="10" presetClass="exit" presetSubtype="0" fill="hold" nodeType="withEffect">
                                  <p:stCondLst>
                                    <p:cond delay="3295"/>
                                  </p:stCondLst>
                                  <p:childTnLst>
                                    <p:animEffect transition="out" filter="fade">
                                      <p:cBhvr>
                                        <p:cTn id="274" dur="104"/>
                                        <p:tgtEl>
                                          <p:spTgt spid="14037"/>
                                        </p:tgtEl>
                                      </p:cBhvr>
                                    </p:animEffect>
                                    <p:set>
                                      <p:cBhvr>
                                        <p:cTn id="275" dur="1" fill="hold">
                                          <p:stCondLst>
                                            <p:cond delay="103"/>
                                          </p:stCondLst>
                                        </p:cTn>
                                        <p:tgtEl>
                                          <p:spTgt spid="14037"/>
                                        </p:tgtEl>
                                        <p:attrNameLst>
                                          <p:attrName>style.visibility</p:attrName>
                                        </p:attrNameLst>
                                      </p:cBhvr>
                                      <p:to>
                                        <p:strVal val="hidden"/>
                                      </p:to>
                                    </p:set>
                                  </p:childTnLst>
                                </p:cTn>
                              </p:par>
                              <p:par>
                                <p:cTn id="276" presetID="0" presetClass="path" presetSubtype="0" fill="hold" nodeType="withEffect">
                                  <p:stCondLst>
                                    <p:cond delay="2902"/>
                                  </p:stCondLst>
                                  <p:childTnLst>
                                    <p:animMotion origin="layout" path="M 0 0 L -0.147222222 0.000000000 E" pathEditMode="relative" rAng="0">
                                      <p:cBhvr>
                                        <p:cTn id="277" dur="497" accel="20000" decel="20000" fill="hold"/>
                                        <p:tgtEl>
                                          <p:spTgt spid="14038"/>
                                        </p:tgtEl>
                                        <p:attrNameLst>
                                          <p:attrName>ppt_x</p:attrName>
                                          <p:attrName>ppt_y</p:attrName>
                                        </p:attrNameLst>
                                      </p:cBhvr>
                                      <p:rCtr x="0" y="0"/>
                                    </p:animMotion>
                                  </p:childTnLst>
                                </p:cTn>
                              </p:par>
                              <p:par>
                                <p:cTn id="278" presetID="10" presetClass="exit" presetSubtype="0" fill="hold" nodeType="withEffect">
                                  <p:stCondLst>
                                    <p:cond delay="3295"/>
                                  </p:stCondLst>
                                  <p:childTnLst>
                                    <p:animEffect transition="out" filter="fade">
                                      <p:cBhvr>
                                        <p:cTn id="279" dur="104"/>
                                        <p:tgtEl>
                                          <p:spTgt spid="14038"/>
                                        </p:tgtEl>
                                      </p:cBhvr>
                                    </p:animEffect>
                                    <p:set>
                                      <p:cBhvr>
                                        <p:cTn id="280" dur="1" fill="hold">
                                          <p:stCondLst>
                                            <p:cond delay="103"/>
                                          </p:stCondLst>
                                        </p:cTn>
                                        <p:tgtEl>
                                          <p:spTgt spid="14038"/>
                                        </p:tgtEl>
                                        <p:attrNameLst>
                                          <p:attrName>style.visibility</p:attrName>
                                        </p:attrNameLst>
                                      </p:cBhvr>
                                      <p:to>
                                        <p:strVal val="hidden"/>
                                      </p:to>
                                    </p:set>
                                  </p:childTnLst>
                                </p:cTn>
                              </p:par>
                              <p:par>
                                <p:cTn id="281" presetID="0" presetClass="path" presetSubtype="0" fill="hold" nodeType="withEffect">
                                  <p:stCondLst>
                                    <p:cond delay="2902"/>
                                  </p:stCondLst>
                                  <p:childTnLst>
                                    <p:animMotion origin="layout" path="M 0 0 L -0.150000000 0.000000000 E" pathEditMode="relative" rAng="0">
                                      <p:cBhvr>
                                        <p:cTn id="282" dur="497" accel="20000" decel="20000" fill="hold"/>
                                        <p:tgtEl>
                                          <p:spTgt spid="14039"/>
                                        </p:tgtEl>
                                        <p:attrNameLst>
                                          <p:attrName>ppt_x</p:attrName>
                                          <p:attrName>ppt_y</p:attrName>
                                        </p:attrNameLst>
                                      </p:cBhvr>
                                      <p:rCtr x="0" y="0"/>
                                    </p:animMotion>
                                  </p:childTnLst>
                                </p:cTn>
                              </p:par>
                              <p:par>
                                <p:cTn id="283" presetID="10" presetClass="exit" presetSubtype="0" fill="hold" nodeType="withEffect">
                                  <p:stCondLst>
                                    <p:cond delay="3295"/>
                                  </p:stCondLst>
                                  <p:childTnLst>
                                    <p:animEffect transition="out" filter="fade">
                                      <p:cBhvr>
                                        <p:cTn id="284" dur="104"/>
                                        <p:tgtEl>
                                          <p:spTgt spid="14039"/>
                                        </p:tgtEl>
                                      </p:cBhvr>
                                    </p:animEffect>
                                    <p:set>
                                      <p:cBhvr>
                                        <p:cTn id="285" dur="1" fill="hold">
                                          <p:stCondLst>
                                            <p:cond delay="103"/>
                                          </p:stCondLst>
                                        </p:cTn>
                                        <p:tgtEl>
                                          <p:spTgt spid="14039"/>
                                        </p:tgtEl>
                                        <p:attrNameLst>
                                          <p:attrName>style.visibility</p:attrName>
                                        </p:attrNameLst>
                                      </p:cBhvr>
                                      <p:to>
                                        <p:strVal val="hidden"/>
                                      </p:to>
                                    </p:set>
                                  </p:childTnLst>
                                </p:cTn>
                              </p:par>
                              <p:par>
                                <p:cTn id="286" presetID="10" presetClass="exit" presetSubtype="0" fill="hold" nodeType="withEffect">
                                  <p:stCondLst>
                                    <p:cond delay="2902"/>
                                  </p:stCondLst>
                                  <p:childTnLst>
                                    <p:animEffect transition="out" filter="fade">
                                      <p:cBhvr>
                                        <p:cTn id="287" dur="104"/>
                                        <p:tgtEl>
                                          <p:spTgt spid="14040"/>
                                        </p:tgtEl>
                                      </p:cBhvr>
                                    </p:animEffect>
                                    <p:set>
                                      <p:cBhvr>
                                        <p:cTn id="288" dur="1" fill="hold">
                                          <p:stCondLst>
                                            <p:cond delay="103"/>
                                          </p:stCondLst>
                                        </p:cTn>
                                        <p:tgtEl>
                                          <p:spTgt spid="14040"/>
                                        </p:tgtEl>
                                        <p:attrNameLst>
                                          <p:attrName>style.visibility</p:attrName>
                                        </p:attrNameLst>
                                      </p:cBhvr>
                                      <p:to>
                                        <p:strVal val="hidden"/>
                                      </p:to>
                                    </p:set>
                                  </p:childTnLst>
                                </p:cTn>
                              </p:par>
                              <p:par>
                                <p:cTn id="28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0" dur="497" accel="20000" decel="20000" fill="hold"/>
                                        <p:tgtEl>
                                          <p:spTgt spid="14041"/>
                                        </p:tgtEl>
                                        <p:attrNameLst>
                                          <p:attrName>ppt_x</p:attrName>
                                          <p:attrName>ppt_y</p:attrName>
                                        </p:attrNameLst>
                                      </p:cBhvr>
                                      <p:rCtr x="0" y="0"/>
                                    </p:animMotion>
                                  </p:childTnLst>
                                </p:cTn>
                              </p:par>
                              <p:par>
                                <p:cTn id="291" presetID="10" presetClass="exit" presetSubtype="0" fill="hold" nodeType="withEffect">
                                  <p:stCondLst>
                                    <p:cond delay="3295"/>
                                  </p:stCondLst>
                                  <p:childTnLst>
                                    <p:animEffect transition="out" filter="fade">
                                      <p:cBhvr>
                                        <p:cTn id="292" dur="104"/>
                                        <p:tgtEl>
                                          <p:spTgt spid="14041"/>
                                        </p:tgtEl>
                                      </p:cBhvr>
                                    </p:animEffect>
                                    <p:set>
                                      <p:cBhvr>
                                        <p:cTn id="293" dur="1" fill="hold">
                                          <p:stCondLst>
                                            <p:cond delay="103"/>
                                          </p:stCondLst>
                                        </p:cTn>
                                        <p:tgtEl>
                                          <p:spTgt spid="14041"/>
                                        </p:tgtEl>
                                        <p:attrNameLst>
                                          <p:attrName>style.visibility</p:attrName>
                                        </p:attrNameLst>
                                      </p:cBhvr>
                                      <p:to>
                                        <p:strVal val="hidden"/>
                                      </p:to>
                                    </p:set>
                                  </p:childTnLst>
                                </p:cTn>
                              </p:par>
                              <p:par>
                                <p:cTn id="29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295" dur="497" accel="20000" decel="20000" fill="hold"/>
                                        <p:tgtEl>
                                          <p:spTgt spid="14042"/>
                                        </p:tgtEl>
                                        <p:attrNameLst>
                                          <p:attrName>ppt_x</p:attrName>
                                          <p:attrName>ppt_y</p:attrName>
                                        </p:attrNameLst>
                                      </p:cBhvr>
                                      <p:rCtr x="0" y="0"/>
                                    </p:animMotion>
                                  </p:childTnLst>
                                </p:cTn>
                              </p:par>
                              <p:par>
                                <p:cTn id="296" presetID="10" presetClass="exit" presetSubtype="0" fill="hold" nodeType="withEffect">
                                  <p:stCondLst>
                                    <p:cond delay="3295"/>
                                  </p:stCondLst>
                                  <p:childTnLst>
                                    <p:animEffect transition="out" filter="fade">
                                      <p:cBhvr>
                                        <p:cTn id="297" dur="104"/>
                                        <p:tgtEl>
                                          <p:spTgt spid="14042"/>
                                        </p:tgtEl>
                                      </p:cBhvr>
                                    </p:animEffect>
                                    <p:set>
                                      <p:cBhvr>
                                        <p:cTn id="298" dur="1" fill="hold">
                                          <p:stCondLst>
                                            <p:cond delay="103"/>
                                          </p:stCondLst>
                                        </p:cTn>
                                        <p:tgtEl>
                                          <p:spTgt spid="14042"/>
                                        </p:tgtEl>
                                        <p:attrNameLst>
                                          <p:attrName>style.visibility</p:attrName>
                                        </p:attrNameLst>
                                      </p:cBhvr>
                                      <p:to>
                                        <p:strVal val="hidden"/>
                                      </p:to>
                                    </p:set>
                                  </p:childTnLst>
                                </p:cTn>
                              </p:par>
                              <p:par>
                                <p:cTn id="299"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0" dur="497" accel="20000" decel="20000" fill="hold"/>
                                        <p:tgtEl>
                                          <p:spTgt spid="14043"/>
                                        </p:tgtEl>
                                        <p:attrNameLst>
                                          <p:attrName>ppt_x</p:attrName>
                                          <p:attrName>ppt_y</p:attrName>
                                        </p:attrNameLst>
                                      </p:cBhvr>
                                      <p:rCtr x="0" y="0"/>
                                    </p:animMotion>
                                  </p:childTnLst>
                                </p:cTn>
                              </p:par>
                              <p:par>
                                <p:cTn id="301" presetID="10" presetClass="exit" presetSubtype="0" fill="hold" nodeType="withEffect">
                                  <p:stCondLst>
                                    <p:cond delay="3295"/>
                                  </p:stCondLst>
                                  <p:childTnLst>
                                    <p:animEffect transition="out" filter="fade">
                                      <p:cBhvr>
                                        <p:cTn id="302" dur="104"/>
                                        <p:tgtEl>
                                          <p:spTgt spid="14043"/>
                                        </p:tgtEl>
                                      </p:cBhvr>
                                    </p:animEffect>
                                    <p:set>
                                      <p:cBhvr>
                                        <p:cTn id="303" dur="1" fill="hold">
                                          <p:stCondLst>
                                            <p:cond delay="103"/>
                                          </p:stCondLst>
                                        </p:cTn>
                                        <p:tgtEl>
                                          <p:spTgt spid="14043"/>
                                        </p:tgtEl>
                                        <p:attrNameLst>
                                          <p:attrName>style.visibility</p:attrName>
                                        </p:attrNameLst>
                                      </p:cBhvr>
                                      <p:to>
                                        <p:strVal val="hidden"/>
                                      </p:to>
                                    </p:set>
                                  </p:childTnLst>
                                </p:cTn>
                              </p:par>
                              <p:par>
                                <p:cTn id="304" presetID="0" presetClass="path" presetSubtype="0" fill="hold" nodeType="withEffect">
                                  <p:stCondLst>
                                    <p:cond delay="2902"/>
                                  </p:stCondLst>
                                  <p:childTnLst>
                                    <p:animMotion origin="layout" path="M 0 0 C 0.000000000 0.013636660 -0.016167495 0.024691358 -0.036111111 0.024691358 C -0.056054727 0.024691358 -0.072222222 0.013636660 -0.072222222 0.000000000 E" pathEditMode="relative" rAng="0">
                                      <p:cBhvr>
                                        <p:cTn id="305" dur="497" accel="20000" decel="20000" fill="hold"/>
                                        <p:tgtEl>
                                          <p:spTgt spid="14044"/>
                                        </p:tgtEl>
                                        <p:attrNameLst>
                                          <p:attrName>ppt_x</p:attrName>
                                          <p:attrName>ppt_y</p:attrName>
                                        </p:attrNameLst>
                                      </p:cBhvr>
                                      <p:rCtr x="0" y="0"/>
                                    </p:animMotion>
                                  </p:childTnLst>
                                </p:cTn>
                              </p:par>
                              <p:par>
                                <p:cTn id="306" presetID="10" presetClass="exit" presetSubtype="0" fill="hold" nodeType="withEffect">
                                  <p:stCondLst>
                                    <p:cond delay="3295"/>
                                  </p:stCondLst>
                                  <p:childTnLst>
                                    <p:animEffect transition="out" filter="fade">
                                      <p:cBhvr>
                                        <p:cTn id="307" dur="104"/>
                                        <p:tgtEl>
                                          <p:spTgt spid="14044"/>
                                        </p:tgtEl>
                                      </p:cBhvr>
                                    </p:animEffect>
                                    <p:set>
                                      <p:cBhvr>
                                        <p:cTn id="308" dur="1" fill="hold">
                                          <p:stCondLst>
                                            <p:cond delay="103"/>
                                          </p:stCondLst>
                                        </p:cTn>
                                        <p:tgtEl>
                                          <p:spTgt spid="14044"/>
                                        </p:tgtEl>
                                        <p:attrNameLst>
                                          <p:attrName>style.visibility</p:attrName>
                                        </p:attrNameLst>
                                      </p:cBhvr>
                                      <p:to>
                                        <p:strVal val="hidden"/>
                                      </p:to>
                                    </p:set>
                                  </p:childTnLst>
                                </p:cTn>
                              </p:par>
                              <p:par>
                                <p:cTn id="309" presetID="10" presetClass="exit" presetSubtype="0" fill="hold" nodeType="withEffect">
                                  <p:stCondLst>
                                    <p:cond delay="3295"/>
                                  </p:stCondLst>
                                  <p:childTnLst>
                                    <p:animEffect transition="out" filter="fade">
                                      <p:cBhvr>
                                        <p:cTn id="310" dur="104"/>
                                        <p:tgtEl>
                                          <p:spTgt spid="14045"/>
                                        </p:tgtEl>
                                      </p:cBhvr>
                                    </p:animEffect>
                                    <p:set>
                                      <p:cBhvr>
                                        <p:cTn id="311" dur="1" fill="hold">
                                          <p:stCondLst>
                                            <p:cond delay="103"/>
                                          </p:stCondLst>
                                        </p:cTn>
                                        <p:tgtEl>
                                          <p:spTgt spid="14045"/>
                                        </p:tgtEl>
                                        <p:attrNameLst>
                                          <p:attrName>style.visibility</p:attrName>
                                        </p:attrNameLst>
                                      </p:cBhvr>
                                      <p:to>
                                        <p:strVal val="hidden"/>
                                      </p:to>
                                    </p:set>
                                  </p:childTnLst>
                                </p:cTn>
                              </p:par>
                              <p:par>
                                <p:cTn id="312" presetID="10" presetClass="exit" presetSubtype="0" fill="hold" nodeType="withEffect">
                                  <p:stCondLst>
                                    <p:cond delay="3295"/>
                                  </p:stCondLst>
                                  <p:childTnLst>
                                    <p:animEffect transition="out" filter="fade">
                                      <p:cBhvr>
                                        <p:cTn id="313" dur="104"/>
                                        <p:tgtEl>
                                          <p:spTgt spid="14046"/>
                                        </p:tgtEl>
                                      </p:cBhvr>
                                    </p:animEffect>
                                    <p:set>
                                      <p:cBhvr>
                                        <p:cTn id="314" dur="1" fill="hold">
                                          <p:stCondLst>
                                            <p:cond delay="103"/>
                                          </p:stCondLst>
                                        </p:cTn>
                                        <p:tgtEl>
                                          <p:spTgt spid="14046"/>
                                        </p:tgtEl>
                                        <p:attrNameLst>
                                          <p:attrName>style.visibility</p:attrName>
                                        </p:attrNameLst>
                                      </p:cBhvr>
                                      <p:to>
                                        <p:strVal val="hidden"/>
                                      </p:to>
                                    </p:set>
                                  </p:childTnLst>
                                </p:cTn>
                              </p:par>
                              <p:par>
                                <p:cTn id="315" presetID="10" presetClass="entr" presetSubtype="0" fill="hold" nodeType="withEffect">
                                  <p:stCondLst>
                                    <p:cond delay="3295"/>
                                  </p:stCondLst>
                                  <p:childTnLst>
                                    <p:animEffect transition="in" filter="fade">
                                      <p:cBhvr>
                                        <p:cTn id="316" dur="124"/>
                                        <p:tgtEl>
                                          <p:spTgt spid="14048"/>
                                        </p:tgtEl>
                                      </p:cBhvr>
                                    </p:animEffect>
                                    <p:set>
                                      <p:cBhvr>
                                        <p:cTn id="317" dur="1" fill="hold">
                                          <p:stCondLst>
                                            <p:cond delay="0"/>
                                          </p:stCondLst>
                                        </p:cTn>
                                        <p:tgtEl>
                                          <p:spTgt spid="14048"/>
                                        </p:tgtEl>
                                        <p:attrNameLst>
                                          <p:attrName>style.visibility</p:attrName>
                                        </p:attrNameLst>
                                      </p:cBhvr>
                                      <p:to>
                                        <p:strVal val="visible"/>
                                      </p:to>
                                    </p:set>
                                  </p:childTnLst>
                                </p:cTn>
                              </p:par>
                              <p:par>
                                <p:cTn id="318" presetID="10" presetClass="entr" presetSubtype="0" fill="hold" nodeType="withEffect">
                                  <p:stCondLst>
                                    <p:cond delay="3295"/>
                                  </p:stCondLst>
                                  <p:childTnLst>
                                    <p:animEffect transition="in" filter="fade">
                                      <p:cBhvr>
                                        <p:cTn id="319" dur="124"/>
                                        <p:tgtEl>
                                          <p:spTgt spid="14049"/>
                                        </p:tgtEl>
                                      </p:cBhvr>
                                    </p:animEffect>
                                    <p:set>
                                      <p:cBhvr>
                                        <p:cTn id="320" dur="1" fill="hold">
                                          <p:stCondLst>
                                            <p:cond delay="0"/>
                                          </p:stCondLst>
                                        </p:cTn>
                                        <p:tgtEl>
                                          <p:spTgt spid="14049"/>
                                        </p:tgtEl>
                                        <p:attrNameLst>
                                          <p:attrName>style.visibility</p:attrName>
                                        </p:attrNameLst>
                                      </p:cBhvr>
                                      <p:to>
                                        <p:strVal val="visible"/>
                                      </p:to>
                                    </p:set>
                                  </p:childTnLst>
                                </p:cTn>
                              </p:par>
                              <p:par>
                                <p:cTn id="321" presetID="10" presetClass="entr" presetSubtype="0" fill="hold" nodeType="withEffect">
                                  <p:stCondLst>
                                    <p:cond delay="3295"/>
                                  </p:stCondLst>
                                  <p:childTnLst>
                                    <p:animEffect transition="in" filter="fade">
                                      <p:cBhvr>
                                        <p:cTn id="322" dur="124"/>
                                        <p:tgtEl>
                                          <p:spTgt spid="14050"/>
                                        </p:tgtEl>
                                      </p:cBhvr>
                                    </p:animEffect>
                                    <p:set>
                                      <p:cBhvr>
                                        <p:cTn id="323" dur="1" fill="hold">
                                          <p:stCondLst>
                                            <p:cond delay="0"/>
                                          </p:stCondLst>
                                        </p:cTn>
                                        <p:tgtEl>
                                          <p:spTgt spid="14050"/>
                                        </p:tgtEl>
                                        <p:attrNameLst>
                                          <p:attrName>style.visibility</p:attrName>
                                        </p:attrNameLst>
                                      </p:cBhvr>
                                      <p:to>
                                        <p:strVal val="visible"/>
                                      </p:to>
                                    </p:set>
                                  </p:childTnLst>
                                </p:cTn>
                              </p:par>
                              <p:par>
                                <p:cTn id="324" presetID="10" presetClass="entr" presetSubtype="0" fill="hold" nodeType="withEffect">
                                  <p:stCondLst>
                                    <p:cond delay="3295"/>
                                  </p:stCondLst>
                                  <p:childTnLst>
                                    <p:animEffect transition="in" filter="fade">
                                      <p:cBhvr>
                                        <p:cTn id="325" dur="124"/>
                                        <p:tgtEl>
                                          <p:spTgt spid="14051"/>
                                        </p:tgtEl>
                                      </p:cBhvr>
                                    </p:animEffect>
                                    <p:set>
                                      <p:cBhvr>
                                        <p:cTn id="326" dur="1" fill="hold">
                                          <p:stCondLst>
                                            <p:cond delay="0"/>
                                          </p:stCondLst>
                                        </p:cTn>
                                        <p:tgtEl>
                                          <p:spTgt spid="14051"/>
                                        </p:tgtEl>
                                        <p:attrNameLst>
                                          <p:attrName>style.visibility</p:attrName>
                                        </p:attrNameLst>
                                      </p:cBhvr>
                                      <p:to>
                                        <p:strVal val="visible"/>
                                      </p:to>
                                    </p:set>
                                  </p:childTnLst>
                                </p:cTn>
                              </p:par>
                              <p:par>
                                <p:cTn id="327" presetID="10" presetClass="entr" presetSubtype="0" fill="hold" nodeType="withEffect">
                                  <p:stCondLst>
                                    <p:cond delay="3295"/>
                                  </p:stCondLst>
                                  <p:childTnLst>
                                    <p:animEffect transition="in" filter="fade">
                                      <p:cBhvr>
                                        <p:cTn id="328" dur="124"/>
                                        <p:tgtEl>
                                          <p:spTgt spid="14052"/>
                                        </p:tgtEl>
                                      </p:cBhvr>
                                    </p:animEffect>
                                    <p:set>
                                      <p:cBhvr>
                                        <p:cTn id="329" dur="1" fill="hold">
                                          <p:stCondLst>
                                            <p:cond delay="0"/>
                                          </p:stCondLst>
                                        </p:cTn>
                                        <p:tgtEl>
                                          <p:spTgt spid="14052"/>
                                        </p:tgtEl>
                                        <p:attrNameLst>
                                          <p:attrName>style.visibility</p:attrName>
                                        </p:attrNameLst>
                                      </p:cBhvr>
                                      <p:to>
                                        <p:strVal val="visible"/>
                                      </p:to>
                                    </p:set>
                                  </p:childTnLst>
                                </p:cTn>
                              </p:par>
                              <p:par>
                                <p:cTn id="330" presetID="10" presetClass="entr" presetSubtype="0" fill="hold" nodeType="withEffect">
                                  <p:stCondLst>
                                    <p:cond delay="3295"/>
                                  </p:stCondLst>
                                  <p:childTnLst>
                                    <p:animEffect transition="in" filter="fade">
                                      <p:cBhvr>
                                        <p:cTn id="331" dur="124"/>
                                        <p:tgtEl>
                                          <p:spTgt spid="14053"/>
                                        </p:tgtEl>
                                      </p:cBhvr>
                                    </p:animEffect>
                                    <p:set>
                                      <p:cBhvr>
                                        <p:cTn id="332" dur="1" fill="hold">
                                          <p:stCondLst>
                                            <p:cond delay="0"/>
                                          </p:stCondLst>
                                        </p:cTn>
                                        <p:tgtEl>
                                          <p:spTgt spid="14053"/>
                                        </p:tgtEl>
                                        <p:attrNameLst>
                                          <p:attrName>style.visibility</p:attrName>
                                        </p:attrNameLst>
                                      </p:cBhvr>
                                      <p:to>
                                        <p:strVal val="visible"/>
                                      </p:to>
                                    </p:set>
                                  </p:childTnLst>
                                </p:cTn>
                              </p:par>
                              <p:par>
                                <p:cTn id="333" presetID="10" presetClass="entr" presetSubtype="0" fill="hold" nodeType="withEffect">
                                  <p:stCondLst>
                                    <p:cond delay="3295"/>
                                  </p:stCondLst>
                                  <p:childTnLst>
                                    <p:animEffect transition="in" filter="fade">
                                      <p:cBhvr>
                                        <p:cTn id="334" dur="124"/>
                                        <p:tgtEl>
                                          <p:spTgt spid="14054"/>
                                        </p:tgtEl>
                                      </p:cBhvr>
                                    </p:animEffect>
                                    <p:set>
                                      <p:cBhvr>
                                        <p:cTn id="335" dur="1" fill="hold">
                                          <p:stCondLst>
                                            <p:cond delay="0"/>
                                          </p:stCondLst>
                                        </p:cTn>
                                        <p:tgtEl>
                                          <p:spTgt spid="14054"/>
                                        </p:tgtEl>
                                        <p:attrNameLst>
                                          <p:attrName>style.visibility</p:attrName>
                                        </p:attrNameLst>
                                      </p:cBhvr>
                                      <p:to>
                                        <p:strVal val="visible"/>
                                      </p:to>
                                    </p:set>
                                  </p:childTnLst>
                                </p:cTn>
                              </p:par>
                              <p:par>
                                <p:cTn id="336" presetID="10" presetClass="entr" presetSubtype="0" fill="hold" nodeType="withEffect">
                                  <p:stCondLst>
                                    <p:cond delay="3295"/>
                                  </p:stCondLst>
                                  <p:childTnLst>
                                    <p:animEffect transition="in" filter="fade">
                                      <p:cBhvr>
                                        <p:cTn id="337" dur="124"/>
                                        <p:tgtEl>
                                          <p:spTgt spid="14055"/>
                                        </p:tgtEl>
                                      </p:cBhvr>
                                    </p:animEffect>
                                    <p:set>
                                      <p:cBhvr>
                                        <p:cTn id="338" dur="1" fill="hold">
                                          <p:stCondLst>
                                            <p:cond delay="0"/>
                                          </p:stCondLst>
                                        </p:cTn>
                                        <p:tgtEl>
                                          <p:spTgt spid="14055"/>
                                        </p:tgtEl>
                                        <p:attrNameLst>
                                          <p:attrName>style.visibility</p:attrName>
                                        </p:attrNameLst>
                                      </p:cBhvr>
                                      <p:to>
                                        <p:strVal val="visible"/>
                                      </p:to>
                                    </p:set>
                                  </p:childTnLst>
                                </p:cTn>
                              </p:par>
                              <p:par>
                                <p:cTn id="339" presetID="10" presetClass="entr" presetSubtype="0" fill="hold" nodeType="withEffect">
                                  <p:stCondLst>
                                    <p:cond delay="3295"/>
                                  </p:stCondLst>
                                  <p:childTnLst>
                                    <p:animEffect transition="in" filter="fade">
                                      <p:cBhvr>
                                        <p:cTn id="340" dur="124"/>
                                        <p:tgtEl>
                                          <p:spTgt spid="14056"/>
                                        </p:tgtEl>
                                      </p:cBhvr>
                                    </p:animEffect>
                                    <p:set>
                                      <p:cBhvr>
                                        <p:cTn id="341" dur="1" fill="hold">
                                          <p:stCondLst>
                                            <p:cond delay="0"/>
                                          </p:stCondLst>
                                        </p:cTn>
                                        <p:tgtEl>
                                          <p:spTgt spid="14056"/>
                                        </p:tgtEl>
                                        <p:attrNameLst>
                                          <p:attrName>style.visibility</p:attrName>
                                        </p:attrNameLst>
                                      </p:cBhvr>
                                      <p:to>
                                        <p:strVal val="visible"/>
                                      </p:to>
                                    </p:set>
                                  </p:childTnLst>
                                </p:cTn>
                              </p:par>
                              <p:par>
                                <p:cTn id="342" presetID="10" presetClass="entr" presetSubtype="0" fill="hold" nodeType="withEffect">
                                  <p:stCondLst>
                                    <p:cond delay="3295"/>
                                  </p:stCondLst>
                                  <p:childTnLst>
                                    <p:animEffect transition="in" filter="fade">
                                      <p:cBhvr>
                                        <p:cTn id="343" dur="124"/>
                                        <p:tgtEl>
                                          <p:spTgt spid="14057"/>
                                        </p:tgtEl>
                                      </p:cBhvr>
                                    </p:animEffect>
                                    <p:set>
                                      <p:cBhvr>
                                        <p:cTn id="344" dur="1" fill="hold">
                                          <p:stCondLst>
                                            <p:cond delay="0"/>
                                          </p:stCondLst>
                                        </p:cTn>
                                        <p:tgtEl>
                                          <p:spTgt spid="14057"/>
                                        </p:tgtEl>
                                        <p:attrNameLst>
                                          <p:attrName>style.visibility</p:attrName>
                                        </p:attrNameLst>
                                      </p:cBhvr>
                                      <p:to>
                                        <p:strVal val="visible"/>
                                      </p:to>
                                    </p:set>
                                  </p:childTnLst>
                                </p:cTn>
                              </p:par>
                              <p:par>
                                <p:cTn id="345" presetID="10" presetClass="exit" presetSubtype="0" fill="hold" nodeType="withEffect">
                                  <p:stCondLst>
                                    <p:cond delay="3876"/>
                                  </p:stCondLst>
                                  <p:childTnLst>
                                    <p:animEffect transition="out" filter="fade">
                                      <p:cBhvr>
                                        <p:cTn id="346" dur="104"/>
                                        <p:tgtEl>
                                          <p:spTgt spid="14048"/>
                                        </p:tgtEl>
                                      </p:cBhvr>
                                    </p:animEffect>
                                    <p:set>
                                      <p:cBhvr>
                                        <p:cTn id="347" dur="1" fill="hold">
                                          <p:stCondLst>
                                            <p:cond delay="103"/>
                                          </p:stCondLst>
                                        </p:cTn>
                                        <p:tgtEl>
                                          <p:spTgt spid="14048"/>
                                        </p:tgtEl>
                                        <p:attrNameLst>
                                          <p:attrName>style.visibility</p:attrName>
                                        </p:attrNameLst>
                                      </p:cBhvr>
                                      <p:to>
                                        <p:strVal val="hidden"/>
                                      </p:to>
                                    </p:set>
                                  </p:childTnLst>
                                </p:cTn>
                              </p:par>
                              <p:par>
                                <p:cTn id="348" presetID="10" presetClass="exit" presetSubtype="0" fill="hold" nodeType="withEffect">
                                  <p:stCondLst>
                                    <p:cond delay="3689"/>
                                  </p:stCondLst>
                                  <p:childTnLst>
                                    <p:animEffect transition="out" filter="fade">
                                      <p:cBhvr>
                                        <p:cTn id="349" dur="104"/>
                                        <p:tgtEl>
                                          <p:spTgt spid="14049"/>
                                        </p:tgtEl>
                                      </p:cBhvr>
                                    </p:animEffect>
                                    <p:set>
                                      <p:cBhvr>
                                        <p:cTn id="350" dur="1" fill="hold">
                                          <p:stCondLst>
                                            <p:cond delay="103"/>
                                          </p:stCondLst>
                                        </p:cTn>
                                        <p:tgtEl>
                                          <p:spTgt spid="14049"/>
                                        </p:tgtEl>
                                        <p:attrNameLst>
                                          <p:attrName>style.visibility</p:attrName>
                                        </p:attrNameLst>
                                      </p:cBhvr>
                                      <p:to>
                                        <p:strVal val="hidden"/>
                                      </p:to>
                                    </p:set>
                                  </p:childTnLst>
                                </p:cTn>
                              </p:par>
                              <p:par>
                                <p:cTn id="351" presetID="10" presetClass="exit" presetSubtype="0" fill="hold" nodeType="withEffect">
                                  <p:stCondLst>
                                    <p:cond delay="3689"/>
                                  </p:stCondLst>
                                  <p:childTnLst>
                                    <p:animEffect transition="out" filter="fade">
                                      <p:cBhvr>
                                        <p:cTn id="352" dur="104"/>
                                        <p:tgtEl>
                                          <p:spTgt spid="14050"/>
                                        </p:tgtEl>
                                      </p:cBhvr>
                                    </p:animEffect>
                                    <p:set>
                                      <p:cBhvr>
                                        <p:cTn id="353" dur="1" fill="hold">
                                          <p:stCondLst>
                                            <p:cond delay="103"/>
                                          </p:stCondLst>
                                        </p:cTn>
                                        <p:tgtEl>
                                          <p:spTgt spid="14050"/>
                                        </p:tgtEl>
                                        <p:attrNameLst>
                                          <p:attrName>style.visibility</p:attrName>
                                        </p:attrNameLst>
                                      </p:cBhvr>
                                      <p:to>
                                        <p:strVal val="hidden"/>
                                      </p:to>
                                    </p:set>
                                  </p:childTnLst>
                                </p:cTn>
                              </p:par>
                              <p:par>
                                <p:cTn id="354" presetID="10" presetClass="exit" presetSubtype="0" fill="hold" nodeType="withEffect">
                                  <p:stCondLst>
                                    <p:cond delay="3689"/>
                                  </p:stCondLst>
                                  <p:childTnLst>
                                    <p:animEffect transition="out" filter="fade">
                                      <p:cBhvr>
                                        <p:cTn id="355" dur="104"/>
                                        <p:tgtEl>
                                          <p:spTgt spid="14051"/>
                                        </p:tgtEl>
                                      </p:cBhvr>
                                    </p:animEffect>
                                    <p:set>
                                      <p:cBhvr>
                                        <p:cTn id="356" dur="1" fill="hold">
                                          <p:stCondLst>
                                            <p:cond delay="103"/>
                                          </p:stCondLst>
                                        </p:cTn>
                                        <p:tgtEl>
                                          <p:spTgt spid="14051"/>
                                        </p:tgtEl>
                                        <p:attrNameLst>
                                          <p:attrName>style.visibility</p:attrName>
                                        </p:attrNameLst>
                                      </p:cBhvr>
                                      <p:to>
                                        <p:strVal val="hidden"/>
                                      </p:to>
                                    </p:set>
                                  </p:childTnLst>
                                </p:cTn>
                              </p:par>
                              <p:par>
                                <p:cTn id="357" presetID="10" presetClass="exit" presetSubtype="0" fill="hold" nodeType="withEffect">
                                  <p:stCondLst>
                                    <p:cond delay="3876"/>
                                  </p:stCondLst>
                                  <p:childTnLst>
                                    <p:animEffect transition="out" filter="fade">
                                      <p:cBhvr>
                                        <p:cTn id="358" dur="104"/>
                                        <p:tgtEl>
                                          <p:spTgt spid="14052"/>
                                        </p:tgtEl>
                                      </p:cBhvr>
                                    </p:animEffect>
                                    <p:set>
                                      <p:cBhvr>
                                        <p:cTn id="359" dur="1" fill="hold">
                                          <p:stCondLst>
                                            <p:cond delay="103"/>
                                          </p:stCondLst>
                                        </p:cTn>
                                        <p:tgtEl>
                                          <p:spTgt spid="14052"/>
                                        </p:tgtEl>
                                        <p:attrNameLst>
                                          <p:attrName>style.visibility</p:attrName>
                                        </p:attrNameLst>
                                      </p:cBhvr>
                                      <p:to>
                                        <p:strVal val="hidden"/>
                                      </p:to>
                                    </p:set>
                                  </p:childTnLst>
                                </p:cTn>
                              </p:par>
                              <p:par>
                                <p:cTn id="360" presetID="10" presetClass="exit" presetSubtype="0" fill="hold" nodeType="withEffect">
                                  <p:stCondLst>
                                    <p:cond delay="3876"/>
                                  </p:stCondLst>
                                  <p:childTnLst>
                                    <p:animEffect transition="out" filter="fade">
                                      <p:cBhvr>
                                        <p:cTn id="361" dur="104"/>
                                        <p:tgtEl>
                                          <p:spTgt spid="14053"/>
                                        </p:tgtEl>
                                      </p:cBhvr>
                                    </p:animEffect>
                                    <p:set>
                                      <p:cBhvr>
                                        <p:cTn id="362" dur="1" fill="hold">
                                          <p:stCondLst>
                                            <p:cond delay="103"/>
                                          </p:stCondLst>
                                        </p:cTn>
                                        <p:tgtEl>
                                          <p:spTgt spid="14053"/>
                                        </p:tgtEl>
                                        <p:attrNameLst>
                                          <p:attrName>style.visibility</p:attrName>
                                        </p:attrNameLst>
                                      </p:cBhvr>
                                      <p:to>
                                        <p:strVal val="hidden"/>
                                      </p:to>
                                    </p:set>
                                  </p:childTnLst>
                                </p:cTn>
                              </p:par>
                              <p:par>
                                <p:cTn id="363" presetID="10" presetClass="exit" presetSubtype="0" fill="hold" nodeType="withEffect">
                                  <p:stCondLst>
                                    <p:cond delay="3876"/>
                                  </p:stCondLst>
                                  <p:childTnLst>
                                    <p:animEffect transition="out" filter="fade">
                                      <p:cBhvr>
                                        <p:cTn id="364" dur="104"/>
                                        <p:tgtEl>
                                          <p:spTgt spid="14054"/>
                                        </p:tgtEl>
                                      </p:cBhvr>
                                    </p:animEffect>
                                    <p:set>
                                      <p:cBhvr>
                                        <p:cTn id="365" dur="1" fill="hold">
                                          <p:stCondLst>
                                            <p:cond delay="103"/>
                                          </p:stCondLst>
                                        </p:cTn>
                                        <p:tgtEl>
                                          <p:spTgt spid="14054"/>
                                        </p:tgtEl>
                                        <p:attrNameLst>
                                          <p:attrName>style.visibility</p:attrName>
                                        </p:attrNameLst>
                                      </p:cBhvr>
                                      <p:to>
                                        <p:strVal val="hidden"/>
                                      </p:to>
                                    </p:set>
                                  </p:childTnLst>
                                </p:cTn>
                              </p:par>
                              <p:par>
                                <p:cTn id="366" presetID="10" presetClass="exit" presetSubtype="0" fill="hold" nodeType="withEffect">
                                  <p:stCondLst>
                                    <p:cond delay="3876"/>
                                  </p:stCondLst>
                                  <p:childTnLst>
                                    <p:animEffect transition="out" filter="fade">
                                      <p:cBhvr>
                                        <p:cTn id="367" dur="104"/>
                                        <p:tgtEl>
                                          <p:spTgt spid="14055"/>
                                        </p:tgtEl>
                                      </p:cBhvr>
                                    </p:animEffect>
                                    <p:set>
                                      <p:cBhvr>
                                        <p:cTn id="368" dur="1" fill="hold">
                                          <p:stCondLst>
                                            <p:cond delay="103"/>
                                          </p:stCondLst>
                                        </p:cTn>
                                        <p:tgtEl>
                                          <p:spTgt spid="14055"/>
                                        </p:tgtEl>
                                        <p:attrNameLst>
                                          <p:attrName>style.visibility</p:attrName>
                                        </p:attrNameLst>
                                      </p:cBhvr>
                                      <p:to>
                                        <p:strVal val="hidden"/>
                                      </p:to>
                                    </p:set>
                                  </p:childTnLst>
                                </p:cTn>
                              </p:par>
                              <p:par>
                                <p:cTn id="369" presetID="10" presetClass="exit" presetSubtype="0" fill="hold" nodeType="withEffect">
                                  <p:stCondLst>
                                    <p:cond delay="3876"/>
                                  </p:stCondLst>
                                  <p:childTnLst>
                                    <p:animEffect transition="out" filter="fade">
                                      <p:cBhvr>
                                        <p:cTn id="370" dur="104"/>
                                        <p:tgtEl>
                                          <p:spTgt spid="14056"/>
                                        </p:tgtEl>
                                      </p:cBhvr>
                                    </p:animEffect>
                                    <p:set>
                                      <p:cBhvr>
                                        <p:cTn id="371" dur="1" fill="hold">
                                          <p:stCondLst>
                                            <p:cond delay="103"/>
                                          </p:stCondLst>
                                        </p:cTn>
                                        <p:tgtEl>
                                          <p:spTgt spid="14056"/>
                                        </p:tgtEl>
                                        <p:attrNameLst>
                                          <p:attrName>style.visibility</p:attrName>
                                        </p:attrNameLst>
                                      </p:cBhvr>
                                      <p:to>
                                        <p:strVal val="hidden"/>
                                      </p:to>
                                    </p:set>
                                  </p:childTnLst>
                                </p:cTn>
                              </p:par>
                              <p:par>
                                <p:cTn id="372" presetID="10" presetClass="exit" presetSubtype="0" fill="hold" nodeType="withEffect">
                                  <p:stCondLst>
                                    <p:cond delay="3876"/>
                                  </p:stCondLst>
                                  <p:childTnLst>
                                    <p:animEffect transition="out" filter="fade">
                                      <p:cBhvr>
                                        <p:cTn id="373" dur="104"/>
                                        <p:tgtEl>
                                          <p:spTgt spid="14057"/>
                                        </p:tgtEl>
                                      </p:cBhvr>
                                    </p:animEffect>
                                    <p:set>
                                      <p:cBhvr>
                                        <p:cTn id="374" dur="1" fill="hold">
                                          <p:stCondLst>
                                            <p:cond delay="103"/>
                                          </p:stCondLst>
                                        </p:cTn>
                                        <p:tgtEl>
                                          <p:spTgt spid="14057"/>
                                        </p:tgtEl>
                                        <p:attrNameLst>
                                          <p:attrName>style.visibility</p:attrName>
                                        </p:attrNameLst>
                                      </p:cBhvr>
                                      <p:to>
                                        <p:strVal val="hidden"/>
                                      </p:to>
                                    </p:set>
                                  </p:childTnLst>
                                </p:cTn>
                              </p:par>
                              <p:par>
                                <p:cTn id="375" presetID="10" presetClass="entr" presetSubtype="0" fill="hold" nodeType="withEffect">
                                  <p:stCondLst>
                                    <p:cond delay="3876"/>
                                  </p:stCondLst>
                                  <p:childTnLst>
                                    <p:animEffect transition="in" filter="fade">
                                      <p:cBhvr>
                                        <p:cTn id="376" dur="124"/>
                                        <p:tgtEl>
                                          <p:spTgt spid="14059"/>
                                        </p:tgtEl>
                                      </p:cBhvr>
                                    </p:animEffect>
                                    <p:set>
                                      <p:cBhvr>
                                        <p:cTn id="377" dur="1" fill="hold">
                                          <p:stCondLst>
                                            <p:cond delay="0"/>
                                          </p:stCondLst>
                                        </p:cTn>
                                        <p:tgtEl>
                                          <p:spTgt spid="14059"/>
                                        </p:tgtEl>
                                        <p:attrNameLst>
                                          <p:attrName>style.visibility</p:attrName>
                                        </p:attrNameLst>
                                      </p:cBhvr>
                                      <p:to>
                                        <p:strVal val="visible"/>
                                      </p:to>
                                    </p:set>
                                  </p:childTnLst>
                                </p:cTn>
                              </p:par>
                              <p:par>
                                <p:cTn id="378" presetID="10" presetClass="entr" presetSubtype="0" fill="hold" nodeType="withEffect">
                                  <p:stCondLst>
                                    <p:cond delay="3876"/>
                                  </p:stCondLst>
                                  <p:childTnLst>
                                    <p:animEffect transition="in" filter="fade">
                                      <p:cBhvr>
                                        <p:cTn id="379" dur="124"/>
                                        <p:tgtEl>
                                          <p:spTgt spid="14060"/>
                                        </p:tgtEl>
                                      </p:cBhvr>
                                    </p:animEffect>
                                    <p:set>
                                      <p:cBhvr>
                                        <p:cTn id="380" dur="1" fill="hold">
                                          <p:stCondLst>
                                            <p:cond delay="0"/>
                                          </p:stCondLst>
                                        </p:cTn>
                                        <p:tgtEl>
                                          <p:spTgt spid="14060"/>
                                        </p:tgtEl>
                                        <p:attrNameLst>
                                          <p:attrName>style.visibility</p:attrName>
                                        </p:attrNameLst>
                                      </p:cBhvr>
                                      <p:to>
                                        <p:strVal val="visible"/>
                                      </p:to>
                                    </p:set>
                                  </p:childTnLst>
                                </p:cTn>
                              </p:par>
                              <p:par>
                                <p:cTn id="381" presetID="10" presetClass="entr" presetSubtype="0" fill="hold" nodeType="withEffect">
                                  <p:stCondLst>
                                    <p:cond delay="3876"/>
                                  </p:stCondLst>
                                  <p:childTnLst>
                                    <p:animEffect transition="in" filter="fade">
                                      <p:cBhvr>
                                        <p:cTn id="382" dur="124"/>
                                        <p:tgtEl>
                                          <p:spTgt spid="14061"/>
                                        </p:tgtEl>
                                      </p:cBhvr>
                                    </p:animEffect>
                                    <p:set>
                                      <p:cBhvr>
                                        <p:cTn id="383" dur="1" fill="hold">
                                          <p:stCondLst>
                                            <p:cond delay="0"/>
                                          </p:stCondLst>
                                        </p:cTn>
                                        <p:tgtEl>
                                          <p:spTgt spid="14061"/>
                                        </p:tgtEl>
                                        <p:attrNameLst>
                                          <p:attrName>style.visibility</p:attrName>
                                        </p:attrNameLst>
                                      </p:cBhvr>
                                      <p:to>
                                        <p:strVal val="visible"/>
                                      </p:to>
                                    </p:set>
                                  </p:childTnLst>
                                </p:cTn>
                              </p:par>
                              <p:par>
                                <p:cTn id="384" presetID="10" presetClass="entr" presetSubtype="0" fill="hold" nodeType="withEffect">
                                  <p:stCondLst>
                                    <p:cond delay="3876"/>
                                  </p:stCondLst>
                                  <p:childTnLst>
                                    <p:animEffect transition="in" filter="fade">
                                      <p:cBhvr>
                                        <p:cTn id="385" dur="124"/>
                                        <p:tgtEl>
                                          <p:spTgt spid="14062"/>
                                        </p:tgtEl>
                                      </p:cBhvr>
                                    </p:animEffect>
                                    <p:set>
                                      <p:cBhvr>
                                        <p:cTn id="386" dur="1" fill="hold">
                                          <p:stCondLst>
                                            <p:cond delay="0"/>
                                          </p:stCondLst>
                                        </p:cTn>
                                        <p:tgtEl>
                                          <p:spTgt spid="14062"/>
                                        </p:tgtEl>
                                        <p:attrNameLst>
                                          <p:attrName>style.visibility</p:attrName>
                                        </p:attrNameLst>
                                      </p:cBhvr>
                                      <p:to>
                                        <p:strVal val="visible"/>
                                      </p:to>
                                    </p:set>
                                  </p:childTnLst>
                                </p:cTn>
                              </p:par>
                              <p:par>
                                <p:cTn id="387" presetID="10" presetClass="entr" presetSubtype="0" fill="hold" nodeType="withEffect">
                                  <p:stCondLst>
                                    <p:cond delay="3876"/>
                                  </p:stCondLst>
                                  <p:childTnLst>
                                    <p:animEffect transition="in" filter="fade">
                                      <p:cBhvr>
                                        <p:cTn id="388" dur="124"/>
                                        <p:tgtEl>
                                          <p:spTgt spid="14063"/>
                                        </p:tgtEl>
                                      </p:cBhvr>
                                    </p:animEffect>
                                    <p:set>
                                      <p:cBhvr>
                                        <p:cTn id="389" dur="1" fill="hold">
                                          <p:stCondLst>
                                            <p:cond delay="0"/>
                                          </p:stCondLst>
                                        </p:cTn>
                                        <p:tgtEl>
                                          <p:spTgt spid="14063"/>
                                        </p:tgtEl>
                                        <p:attrNameLst>
                                          <p:attrName>style.visibility</p:attrName>
                                        </p:attrNameLst>
                                      </p:cBhvr>
                                      <p:to>
                                        <p:strVal val="visible"/>
                                      </p:to>
                                    </p:set>
                                  </p:childTnLst>
                                </p:cTn>
                              </p:par>
                              <p:par>
                                <p:cTn id="390" presetID="10" presetClass="entr" presetSubtype="0" fill="hold" nodeType="withEffect">
                                  <p:stCondLst>
                                    <p:cond delay="3876"/>
                                  </p:stCondLst>
                                  <p:childTnLst>
                                    <p:animEffect transition="in" filter="fade">
                                      <p:cBhvr>
                                        <p:cTn id="391" dur="124"/>
                                        <p:tgtEl>
                                          <p:spTgt spid="14064"/>
                                        </p:tgtEl>
                                      </p:cBhvr>
                                    </p:animEffect>
                                    <p:set>
                                      <p:cBhvr>
                                        <p:cTn id="392" dur="1" fill="hold">
                                          <p:stCondLst>
                                            <p:cond delay="0"/>
                                          </p:stCondLst>
                                        </p:cTn>
                                        <p:tgtEl>
                                          <p:spTgt spid="14064"/>
                                        </p:tgtEl>
                                        <p:attrNameLst>
                                          <p:attrName>style.visibility</p:attrName>
                                        </p:attrNameLst>
                                      </p:cBhvr>
                                      <p:to>
                                        <p:strVal val="visible"/>
                                      </p:to>
                                    </p:set>
                                  </p:childTnLst>
                                </p:cTn>
                              </p:par>
                              <p:par>
                                <p:cTn id="393" presetID="10" presetClass="entr" presetSubtype="0" fill="hold" nodeType="withEffect">
                                  <p:stCondLst>
                                    <p:cond delay="3876"/>
                                  </p:stCondLst>
                                  <p:childTnLst>
                                    <p:animEffect transition="in" filter="fade">
                                      <p:cBhvr>
                                        <p:cTn id="394" dur="124"/>
                                        <p:tgtEl>
                                          <p:spTgt spid="14065"/>
                                        </p:tgtEl>
                                      </p:cBhvr>
                                    </p:animEffect>
                                    <p:set>
                                      <p:cBhvr>
                                        <p:cTn id="395" dur="1" fill="hold">
                                          <p:stCondLst>
                                            <p:cond delay="0"/>
                                          </p:stCondLst>
                                        </p:cTn>
                                        <p:tgtEl>
                                          <p:spTgt spid="14065"/>
                                        </p:tgtEl>
                                        <p:attrNameLst>
                                          <p:attrName>style.visibility</p:attrName>
                                        </p:attrNameLst>
                                      </p:cBhvr>
                                      <p:to>
                                        <p:strVal val="visible"/>
                                      </p:to>
                                    </p:set>
                                  </p:childTnLst>
                                </p:cTn>
                              </p:par>
                              <p:par>
                                <p:cTn id="396" presetID="10" presetClass="entr" presetSubtype="0" fill="hold" nodeType="withEffect">
                                  <p:stCondLst>
                                    <p:cond delay="3876"/>
                                  </p:stCondLst>
                                  <p:childTnLst>
                                    <p:animEffect transition="in" filter="fade">
                                      <p:cBhvr>
                                        <p:cTn id="397" dur="124"/>
                                        <p:tgtEl>
                                          <p:spTgt spid="14066"/>
                                        </p:tgtEl>
                                      </p:cBhvr>
                                    </p:animEffect>
                                    <p:set>
                                      <p:cBhvr>
                                        <p:cTn id="398" dur="1" fill="hold">
                                          <p:stCondLst>
                                            <p:cond delay="0"/>
                                          </p:stCondLst>
                                        </p:cTn>
                                        <p:tgtEl>
                                          <p:spTgt spid="1406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005" grpId="0"/>
      <p:bldP spid="11005" grpId="1"/>
      <p:bldP spid="11006" grpId="0"/>
      <p:bldP spid="11006" grpId="1"/>
      <p:bldP spid="11009"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EDCF42-4D3B-71D4-33BF-E4C901009C2A}"/>
            </a:ext>
          </a:extLst>
        </p:cNvPr>
        <p:cNvGrpSpPr/>
        <p:nvPr/>
      </p:nvGrpSpPr>
      <p:grpSpPr>
        <a:xfrm>
          <a:off x="0" y="0"/>
          <a:ext cx="0" cy="0"/>
          <a:chOff x="0" y="0"/>
          <a:chExt cx="0" cy="0"/>
        </a:xfrm>
      </p:grpSpPr>
      <p:sp>
        <p:nvSpPr>
          <p:cNvPr id="20001" name="!!Physical pillar">
            <a:extLst>
              <a:ext uri="{FF2B5EF4-FFF2-40B4-BE49-F238E27FC236}">
                <a16:creationId xmlns:a16="http://schemas.microsoft.com/office/drawing/2014/main" id="{2FAC969D-EEFE-5C2C-F663-3ACD17ED9C35}"/>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Flow PIE 20002">
            <a:extLst>
              <a:ext uri="{FF2B5EF4-FFF2-40B4-BE49-F238E27FC236}">
                <a16:creationId xmlns:a16="http://schemas.microsoft.com/office/drawing/2014/main" id="{FB60CB8E-870E-FF8A-CF9B-B243BA10C513}"/>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Sliding content 44 20003">
            <a:extLst>
              <a:ext uri="{FF2B5EF4-FFF2-40B4-BE49-F238E27FC236}">
                <a16:creationId xmlns:a16="http://schemas.microsoft.com/office/drawing/2014/main" id="{297051C0-3B68-3AF4-DCE3-8731BB10ECF7}"/>
              </a:ext>
            </a:extLst>
          </p:cNvPr>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Flow PIE 20005">
            <a:extLst>
              <a:ext uri="{FF2B5EF4-FFF2-40B4-BE49-F238E27FC236}">
                <a16:creationId xmlns:a16="http://schemas.microsoft.com/office/drawing/2014/main" id="{CFBD3BEB-8F57-782B-2E6F-529003EE162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Sliding content 44 20006">
            <a:extLst>
              <a:ext uri="{FF2B5EF4-FFF2-40B4-BE49-F238E27FC236}">
                <a16:creationId xmlns:a16="http://schemas.microsoft.com/office/drawing/2014/main" id="{BEE6AF2E-5B3A-56C0-156A-D2044BD549DB}"/>
              </a:ext>
            </a:extLst>
          </p:cNvPr>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Flow PIE 20007">
            <a:extLst>
              <a:ext uri="{FF2B5EF4-FFF2-40B4-BE49-F238E27FC236}">
                <a16:creationId xmlns:a16="http://schemas.microsoft.com/office/drawing/2014/main" id="{4F164F88-24AC-3113-E54A-7C8B4A9ACCDC}"/>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Sliding center 44 20008">
            <a:extLst>
              <a:ext uri="{FF2B5EF4-FFF2-40B4-BE49-F238E27FC236}">
                <a16:creationId xmlns:a16="http://schemas.microsoft.com/office/drawing/2014/main" id="{499EBBFF-EBC2-B1C1-F47A-8BA3B969E389}"/>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Sliding center 44 20009">
            <a:extLst>
              <a:ext uri="{FF2B5EF4-FFF2-40B4-BE49-F238E27FC236}">
                <a16:creationId xmlns:a16="http://schemas.microsoft.com/office/drawing/2014/main" id="{5E1F9093-BC2D-48FE-4C31-AA6C45516AB3}"/>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liding center 44 20010">
            <a:extLst>
              <a:ext uri="{FF2B5EF4-FFF2-40B4-BE49-F238E27FC236}">
                <a16:creationId xmlns:a16="http://schemas.microsoft.com/office/drawing/2014/main" id="{0B4753F2-1DB8-E893-F59E-20E8D2AB9B1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liding center 44 20011">
            <a:extLst>
              <a:ext uri="{FF2B5EF4-FFF2-40B4-BE49-F238E27FC236}">
                <a16:creationId xmlns:a16="http://schemas.microsoft.com/office/drawing/2014/main" id="{5E079199-8DEA-4AED-D5B5-C12455AF11C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Flow PIE 20012">
            <a:extLst>
              <a:ext uri="{FF2B5EF4-FFF2-40B4-BE49-F238E27FC236}">
                <a16:creationId xmlns:a16="http://schemas.microsoft.com/office/drawing/2014/main" id="{68B46CE1-5B6E-302B-4CC3-F94B870D6D10}"/>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B93808DC-3B04-7420-8404-71D9BF6520C5}"/>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52F6D2E-E137-175C-BD1A-6E122C496E7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0CEC781-E320-2663-4747-D3A2F2C3AE7E}"/>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44</a:t>
            </a:fld>
            <a:endParaRPr lang="en-GB"/>
          </a:p>
        </p:txBody>
      </p:sp>
      <p:grpSp>
        <p:nvGrpSpPr>
          <p:cNvPr id="30001" name="!!Sliding content 44 30001">
            <a:extLst>
              <a:ext uri="{FF2B5EF4-FFF2-40B4-BE49-F238E27FC236}">
                <a16:creationId xmlns:a16="http://schemas.microsoft.com/office/drawing/2014/main" id="{61E9A479-307C-F296-A3CB-59F44C130B53}"/>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a:extLst>
              <a:ext uri="{FF2B5EF4-FFF2-40B4-BE49-F238E27FC236}">
                <a16:creationId xmlns:a16="http://schemas.microsoft.com/office/drawing/2014/main" id="{4C55836B-20A5-EC56-07E8-6A5602FDF6CE}"/>
              </a:ext>
            </a:extLst>
          </p:cNvPr>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Flow PIE 30019">
            <a:extLst>
              <a:ext uri="{FF2B5EF4-FFF2-40B4-BE49-F238E27FC236}">
                <a16:creationId xmlns:a16="http://schemas.microsoft.com/office/drawing/2014/main" id="{29BF0EB2-8008-4A83-EDE7-4F1539B42573}"/>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BD9BC991-DC2B-235D-94DA-AABDBBD7459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CCC1055C-E4F9-5E57-7076-C307C7FC7837}"/>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0610F10B-82D9-8873-5E8E-5F631764980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EC0FA7FC-9C77-E3B1-34EB-D415847F82D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CFB0BD17-FF36-957D-531B-78C6FAB5885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92FBC885-B8EC-A2DE-7B58-73C31153C47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331A1459-A58C-11EF-5F49-C170991267B1}"/>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C54578E6-2AE6-A80B-CF4E-B4A63BE7F484}"/>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90E69E8-FF6B-FF8D-9678-8A3FD3ECC8F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3CC6D73-E541-16D1-1C74-8D49B48CED64}"/>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E2FE86CF-1ED0-8EDC-25DD-D3040564A95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B7006D74-651C-122E-3D36-65849BF9C121}"/>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9F37F187-D70C-D841-DD78-FDB64307D155}"/>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978F0213-6303-AAD4-647B-73E434D9B777}"/>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A65E771-7ABF-BEBD-6393-33521BA7202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Sliding content 44 39990">
            <a:extLst>
              <a:ext uri="{FF2B5EF4-FFF2-40B4-BE49-F238E27FC236}">
                <a16:creationId xmlns:a16="http://schemas.microsoft.com/office/drawing/2014/main" id="{DC66CA60-F31A-1833-7EB6-48C5C3FFBAAB}"/>
              </a:ext>
            </a:extLst>
          </p:cNvPr>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liding content 44 30037">
            <a:extLst>
              <a:ext uri="{FF2B5EF4-FFF2-40B4-BE49-F238E27FC236}">
                <a16:creationId xmlns:a16="http://schemas.microsoft.com/office/drawing/2014/main" id="{0283178A-7C19-0619-3968-F38A88D5F810}"/>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Sliding content 44 39991">
            <a:extLst>
              <a:ext uri="{FF2B5EF4-FFF2-40B4-BE49-F238E27FC236}">
                <a16:creationId xmlns:a16="http://schemas.microsoft.com/office/drawing/2014/main" id="{4EE35D63-FC84-C8FA-38DE-63E80E69C1D2}"/>
              </a:ext>
            </a:extLst>
          </p:cNvPr>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40091" name="!!Flow Analysis 2">
            <a:extLst>
              <a:ext uri="{FF2B5EF4-FFF2-40B4-BE49-F238E27FC236}">
                <a16:creationId xmlns:a16="http://schemas.microsoft.com/office/drawing/2014/main" id="{BC45C81A-258D-7172-B4EE-A52D585EAD47}"/>
              </a:ext>
            </a:extLst>
          </p:cNvPr>
          <p:cNvSpPr/>
          <p:nvPr/>
        </p:nvSpPr>
        <p:spPr>
          <a:xfrm>
            <a:off x="11074400" y="0"/>
            <a:ext cx="3606800" cy="5143500"/>
          </a:xfrm>
          <a:prstGeom prst="rect">
            <a:avLst/>
          </a:prstGeom>
          <a:solidFill>
            <a:srgbClr val="C81919">
              <a:alpha val="50196"/>
            </a:srgbClr>
          </a:solidFill>
          <a:ln>
            <a:noFill/>
          </a:ln>
        </p:spPr>
        <p:txBody>
          <a:bodyPr/>
          <a:lstStyle/>
          <a:p>
            <a:endParaRPr lang="en-NL"/>
          </a:p>
        </p:txBody>
      </p:sp>
      <p:sp>
        <p:nvSpPr>
          <p:cNvPr id="40092" name="!!Flow Analysis 3">
            <a:extLst>
              <a:ext uri="{FF2B5EF4-FFF2-40B4-BE49-F238E27FC236}">
                <a16:creationId xmlns:a16="http://schemas.microsoft.com/office/drawing/2014/main" id="{FAD5F3E4-F192-667D-E194-6CC3314B0878}"/>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40093" name="!!Flow Analysis 7">
                <a:extLst>
                  <a:ext uri="{FF2B5EF4-FFF2-40B4-BE49-F238E27FC236}">
                    <a16:creationId xmlns:a16="http://schemas.microsoft.com/office/drawing/2014/main" id="{34AB0EB5-FEEE-8C2C-D63F-4B3DDD6C5AE4}"/>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40093"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11226800" y="4108450"/>
                <a:ext cx="3302000" cy="342900"/>
              </a:xfrm>
              <a:prstGeom prst="rect">
                <a:avLst/>
              </a:prstGeom>
              <a:blipFill>
                <a:blip r:embed="rIdSlideFlow118"/>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94" name="!!Flow Analysis 8">
                <a:extLst>
                  <a:ext uri="{FF2B5EF4-FFF2-40B4-BE49-F238E27FC236}">
                    <a16:creationId xmlns:a16="http://schemas.microsoft.com/office/drawing/2014/main" id="{28280CA4-60AE-F571-618D-2E3E31C058C5}"/>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40094"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19"/>
                <a:stretch>
                  <a:fillRect l="-3071" t="-30000" r="-1536" b="-42000"/>
                </a:stretch>
              </a:blipFill>
              <a:ln>
                <a:noFill/>
              </a:ln>
            </p:spPr>
            <p:txBody>
              <a:bodyPr/>
              <a:lstStyle/>
              <a:p>
                <a:r>
                  <a:rPr lang="en-NL">
                    <a:noFill/>
                  </a:rPr>
                  <a:t> </a:t>
                </a:r>
              </a:p>
            </p:txBody>
          </p:sp>
        </mc:Fallback>
      </mc:AlternateContent>
      <p:pic>
        <p:nvPicPr>
          <p:cNvPr id="40095"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SlideFlow120"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40096" name="!!Sliding center 45 32">
            <a:extLst>
              <a:ext uri="{FF2B5EF4-FFF2-40B4-BE49-F238E27FC236}">
                <a16:creationId xmlns:a16="http://schemas.microsoft.com/office/drawing/2014/main" id="{CA62F6D7-172B-0E0F-BED9-264185957CD0}"/>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40097" name="!!Sliding center 45 34">
                <a:extLst>
                  <a:ext uri="{FF2B5EF4-FFF2-40B4-BE49-F238E27FC236}">
                    <a16:creationId xmlns:a16="http://schemas.microsoft.com/office/drawing/2014/main" id="{7B5329C6-C010-A83E-B34A-5E38BF3A766C}"/>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40097"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1"/>
                <a:stretch>
                  <a:fillRect t="-11364" b="-29545"/>
                </a:stretch>
              </a:blipFill>
              <a:ln>
                <a:noFill/>
              </a:ln>
            </p:spPr>
            <p:txBody>
              <a:bodyPr/>
              <a:lstStyle/>
              <a:p>
                <a:r>
                  <a:rPr lang="en-NL">
                    <a:noFill/>
                  </a:rPr>
                  <a:t> </a:t>
                </a:r>
              </a:p>
            </p:txBody>
          </p:sp>
        </mc:Fallback>
      </mc:AlternateContent>
      <p:sp>
        <p:nvSpPr>
          <p:cNvPr id="40098" name="!!Sliding center 45 36">
            <a:extLst>
              <a:ext uri="{FF2B5EF4-FFF2-40B4-BE49-F238E27FC236}">
                <a16:creationId xmlns:a16="http://schemas.microsoft.com/office/drawing/2014/main" id="{248A13C0-1320-6291-E95D-9A1A43F38431}"/>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40099" name="!!Sliding center 45 38">
            <a:extLst>
              <a:ext uri="{FF2B5EF4-FFF2-40B4-BE49-F238E27FC236}">
                <a16:creationId xmlns:a16="http://schemas.microsoft.com/office/drawing/2014/main" id="{29E20567-588E-10E4-42F3-8BDFD0744079}"/>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418756681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E99EB4-3764-BD96-AE22-235CAF731BE4}"/>
            </a:ext>
          </a:extLst>
        </p:cNvPr>
        <p:cNvGrpSpPr/>
        <p:nvPr/>
      </p:nvGrpSpPr>
      <p:grpSpPr>
        <a:xfrm>
          <a:off x="0" y="0"/>
          <a:ext cx="0" cy="0"/>
          <a:chOff x="0" y="0"/>
          <a:chExt cx="0" cy="0"/>
        </a:xfrm>
      </p:grpSpPr>
      <p:sp>
        <p:nvSpPr>
          <p:cNvPr id="20002" name="!!Flow PIE 20002">
            <a:extLst>
              <a:ext uri="{FF2B5EF4-FFF2-40B4-BE49-F238E27FC236}">
                <a16:creationId xmlns:a16="http://schemas.microsoft.com/office/drawing/2014/main" id="{D44E39C9-13C2-3452-0EF8-1ED6ECFF230C}"/>
              </a:ext>
            </a:extLst>
          </p:cNvPr>
          <p:cNvSpPr/>
          <p:nvPr/>
        </p:nvSpPr>
        <p:spPr>
          <a:xfrm>
            <a:off x="-448" y="0"/>
            <a:ext cx="3606800" cy="5143500"/>
          </a:xfrm>
          <a:prstGeom prst="rect">
            <a:avLst/>
          </a:prstGeom>
          <a:solidFill>
            <a:srgbClr val="C81919">
              <a:alpha val="50196"/>
            </a:srgbClr>
          </a:solidFill>
          <a:ln>
            <a:noFill/>
          </a:ln>
        </p:spPr>
        <p:txBody>
          <a:bodyPr/>
          <a:lstStyle/>
          <a:p>
            <a:endParaRPr lang="en-NL"/>
          </a:p>
        </p:txBody>
      </p:sp>
      <p:sp>
        <p:nvSpPr>
          <p:cNvPr id="20005" name="!!Flow PIE 20005">
            <a:extLst>
              <a:ext uri="{FF2B5EF4-FFF2-40B4-BE49-F238E27FC236}">
                <a16:creationId xmlns:a16="http://schemas.microsoft.com/office/drawing/2014/main" id="{28E4D847-C090-BBB8-693C-BEA916C14EE0}"/>
              </a:ext>
            </a:extLst>
          </p:cNvPr>
          <p:cNvSpPr/>
          <p:nvPr/>
        </p:nvSpPr>
        <p:spPr>
          <a:xfrm>
            <a:off x="16965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Flow PIE 20007">
            <a:extLst>
              <a:ext uri="{FF2B5EF4-FFF2-40B4-BE49-F238E27FC236}">
                <a16:creationId xmlns:a16="http://schemas.microsoft.com/office/drawing/2014/main" id="{31C25975-554D-879D-2CAC-1B9D512E76A6}"/>
              </a:ext>
            </a:extLst>
          </p:cNvPr>
          <p:cNvSpPr/>
          <p:nvPr/>
        </p:nvSpPr>
        <p:spPr>
          <a:xfrm>
            <a:off x="16965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Flow PIE 20012">
            <a:extLst>
              <a:ext uri="{FF2B5EF4-FFF2-40B4-BE49-F238E27FC236}">
                <a16:creationId xmlns:a16="http://schemas.microsoft.com/office/drawing/2014/main" id="{0AD71456-660D-7315-EF48-E1E193DFA476}"/>
              </a:ext>
            </a:extLst>
          </p:cNvPr>
          <p:cNvSpPr/>
          <p:nvPr/>
        </p:nvSpPr>
        <p:spPr>
          <a:xfrm>
            <a:off x="151952"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Flow PIE 20013">
                <a:extLst>
                  <a:ext uri="{FF2B5EF4-FFF2-40B4-BE49-F238E27FC236}">
                    <a16:creationId xmlns:a16="http://schemas.microsoft.com/office/drawing/2014/main" id="{4B8B0394-3ECA-22AB-56A2-F02B81623325}"/>
                  </a:ext>
                </a:extLst>
              </p:cNvPr>
              <p:cNvSpPr/>
              <p:nvPr/>
            </p:nvSpPr>
            <p:spPr>
              <a:xfrm>
                <a:off x="215452"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215452"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AB480C32-10B2-B7C0-22D8-9E0D84BF714A}"/>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Flow PIE 30019">
            <a:extLst>
              <a:ext uri="{FF2B5EF4-FFF2-40B4-BE49-F238E27FC236}">
                <a16:creationId xmlns:a16="http://schemas.microsoft.com/office/drawing/2014/main" id="{66CCDDB3-9732-9221-B6B5-130A7D91B7C5}"/>
              </a:ext>
            </a:extLst>
          </p:cNvPr>
          <p:cNvGrpSpPr/>
          <p:nvPr/>
        </p:nvGrpSpPr>
        <p:grpSpPr>
          <a:xfrm>
            <a:off x="393252" y="1574800"/>
            <a:ext cx="2921000" cy="2239010"/>
            <a:chOff x="1995932" y="1819148"/>
            <a:chExt cx="3138932" cy="2405888"/>
          </a:xfrm>
        </p:grpSpPr>
        <p:sp>
          <p:nvSpPr>
            <p:cNvPr id="30020"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Flow PIE 30034">
            <a:extLst>
              <a:ext uri="{FF2B5EF4-FFF2-40B4-BE49-F238E27FC236}">
                <a16:creationId xmlns:a16="http://schemas.microsoft.com/office/drawing/2014/main" id="{682EB208-F1CA-0DF6-2AB4-D125ACCD29FB}"/>
              </a:ext>
            </a:extLst>
          </p:cNvPr>
          <p:cNvGrpSpPr/>
          <p:nvPr/>
        </p:nvGrpSpPr>
        <p:grpSpPr>
          <a:xfrm>
            <a:off x="1407731" y="2222014"/>
            <a:ext cx="874551" cy="874613"/>
            <a:chOff x="3086100" y="2514599"/>
            <a:chExt cx="939800" cy="939800"/>
          </a:xfrm>
        </p:grpSpPr>
        <p:sp>
          <p:nvSpPr>
            <p:cNvPr id="30035"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 name="!!Flow Analysis 2">
            <a:extLst>
              <a:ext uri="{FF2B5EF4-FFF2-40B4-BE49-F238E27FC236}">
                <a16:creationId xmlns:a16="http://schemas.microsoft.com/office/drawing/2014/main" id="{BC45C81A-258D-7172-B4EE-A52D585EAD47}"/>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FAD5F3E4-F192-667D-E194-6CC3314B0878}"/>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Uncertainty Description</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34AB0EB5-FEEE-8C2C-D63F-4B3DDD6C5AE4}"/>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34AB0EB5-FEEE-8C2C-D63F-4B3DDD6C5AE4}"/>
                  </a:ext>
                </a:extLst>
              </p:cNvPr>
              <p:cNvSpPr>
                <a:spLocks noRot="1" noChangeAspect="1" noMove="1" noResize="1" noEditPoints="1" noAdjustHandles="1" noChangeArrowheads="1" noChangeShapeType="1" noTextEdit="1"/>
              </p:cNvSpPr>
              <p:nvPr/>
            </p:nvSpPr>
            <p:spPr>
              <a:xfrm>
                <a:off x="5689600" y="4108450"/>
                <a:ext cx="3302000" cy="342900"/>
              </a:xfrm>
              <a:prstGeom prst="rect">
                <a:avLst/>
              </a:prstGeom>
              <a:blipFill>
                <a:blip r:embed="rId1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28280CA4-60AE-F571-618D-2E3E31C058C5}"/>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28280CA4-60AE-F571-618D-2E3E31C058C5}"/>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14"/>
                <a:stretch>
                  <a:fillRect l="-3071" t="-30000" r="-1536" b="-42000"/>
                </a:stretch>
              </a:blipFill>
              <a:ln>
                <a:noFill/>
              </a:ln>
            </p:spPr>
            <p:txBody>
              <a:bodyPr/>
              <a:lstStyle/>
              <a:p>
                <a:r>
                  <a:rPr lang="en-NL">
                    <a:noFill/>
                  </a:rPr>
                  <a:t> </a:t>
                </a:r>
              </a:p>
            </p:txBody>
          </p:sp>
        </mc:Fallback>
      </mc:AlternateContent>
      <p:sp>
        <p:nvSpPr>
          <p:cNvPr id="9" name="Slide Number Placeholder 5">
            <a:extLst>
              <a:ext uri="{FF2B5EF4-FFF2-40B4-BE49-F238E27FC236}">
                <a16:creationId xmlns:a16="http://schemas.microsoft.com/office/drawing/2014/main" id="{C452F409-538A-2B95-1A39-0657A4B2625F}"/>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45</a:t>
            </a:fld>
            <a:endParaRPr lang="en-GB" sz="800"/>
          </a:p>
        </p:txBody>
      </p:sp>
      <p:sp>
        <p:nvSpPr>
          <p:cNvPr id="32" name="!!Sliding center 45 32">
            <a:extLst>
              <a:ext uri="{FF2B5EF4-FFF2-40B4-BE49-F238E27FC236}">
                <a16:creationId xmlns:a16="http://schemas.microsoft.com/office/drawing/2014/main" id="{CA62F6D7-172B-0E0F-BED9-264185957CD0}"/>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5 34">
                <a:extLst>
                  <a:ext uri="{FF2B5EF4-FFF2-40B4-BE49-F238E27FC236}">
                    <a16:creationId xmlns:a16="http://schemas.microsoft.com/office/drawing/2014/main" id="{7B5329C6-C010-A83E-B34A-5E38BF3A766C}"/>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4"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15"/>
                <a:stretch>
                  <a:fillRect t="-11364" b="-29545"/>
                </a:stretch>
              </a:blipFill>
              <a:ln>
                <a:noFill/>
              </a:ln>
            </p:spPr>
            <p:txBody>
              <a:bodyPr/>
              <a:lstStyle/>
              <a:p>
                <a:r>
                  <a:rPr lang="en-NL">
                    <a:noFill/>
                  </a:rPr>
                  <a:t> </a:t>
                </a:r>
              </a:p>
            </p:txBody>
          </p:sp>
        </mc:Fallback>
      </mc:AlternateContent>
      <p:sp>
        <p:nvSpPr>
          <p:cNvPr id="36" name="!!Sliding center 45 36">
            <a:extLst>
              <a:ext uri="{FF2B5EF4-FFF2-40B4-BE49-F238E27FC236}">
                <a16:creationId xmlns:a16="http://schemas.microsoft.com/office/drawing/2014/main" id="{248A13C0-1320-6291-E95D-9A1A43F38431}"/>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5 38">
            <a:extLst>
              <a:ext uri="{FF2B5EF4-FFF2-40B4-BE49-F238E27FC236}">
                <a16:creationId xmlns:a16="http://schemas.microsoft.com/office/drawing/2014/main" id="{29E20567-588E-10E4-42F3-8BDFD0744079}"/>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02B90DBF-A222-F998-0063-AC5281CD2768}"/>
              </a:ext>
            </a:extLst>
          </p:cNvPr>
          <p:cNvPicPr>
            <a:picLocks noChangeAspect="1"/>
          </p:cNvPicPr>
          <p:nvPr/>
        </p:nvPicPr>
        <p:blipFill>
          <a:blip r:embed="rId16"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Physical pillar">
            <a:extLst>
              <a:ext uri="{FF2B5EF4-FFF2-40B4-BE49-F238E27FC236}">
                <a16:creationId xmlns:a16="http://schemas.microsoft.com/office/drawing/2014/main" id="{2FAC969D-EEFE-5C2C-F663-3ACD17ED9C35}"/>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30167" name="!!Sliding content 44 20003">
            <a:extLst>
              <a:ext uri="{FF2B5EF4-FFF2-40B4-BE49-F238E27FC236}">
                <a16:creationId xmlns:a16="http://schemas.microsoft.com/office/drawing/2014/main" id="{297051C0-3B68-3AF4-DCE3-8731BB10ECF7}"/>
              </a:ext>
            </a:extLst>
          </p:cNvPr>
          <p:cNvSpPr/>
          <p:nvPr/>
        </p:nvSpPr>
        <p:spPr>
          <a:xfrm>
            <a:off x="-54102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30168" name="!!Sliding content 44 20006">
            <a:extLst>
              <a:ext uri="{FF2B5EF4-FFF2-40B4-BE49-F238E27FC236}">
                <a16:creationId xmlns:a16="http://schemas.microsoft.com/office/drawing/2014/main" id="{BEE6AF2E-5B3A-56C0-156A-D2044BD549DB}"/>
              </a:ext>
            </a:extLst>
          </p:cNvPr>
          <p:cNvSpPr/>
          <p:nvPr/>
        </p:nvSpPr>
        <p:spPr>
          <a:xfrm>
            <a:off x="-53340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grpSp>
        <p:nvGrpSpPr>
          <p:cNvPr id="30169" name="!!Sliding content 44 30001">
            <a:extLst>
              <a:ext uri="{FF2B5EF4-FFF2-40B4-BE49-F238E27FC236}">
                <a16:creationId xmlns:a16="http://schemas.microsoft.com/office/drawing/2014/main" id="{61E9A479-307C-F296-A3CB-59F44C130B53}"/>
              </a:ext>
            </a:extLst>
          </p:cNvPr>
          <p:cNvGrpSpPr/>
          <p:nvPr/>
        </p:nvGrpSpPr>
        <p:grpSpPr>
          <a:xfrm>
            <a:off x="-5143500" y="1574800"/>
            <a:ext cx="2921000" cy="2239010"/>
            <a:chOff x="1995932" y="1819148"/>
            <a:chExt cx="3138932" cy="2405888"/>
          </a:xfrm>
        </p:grpSpPr>
        <p:sp>
          <p:nvSpPr>
            <p:cNvPr id="30170" name="Plant to uncertainty">
              <a:extLst>
                <a:ext uri="{FF2B5EF4-FFF2-40B4-BE49-F238E27FC236}">
                  <a16:creationId xmlns:a16="http://schemas.microsoft.com/office/drawing/2014/main" id="{8E5D0341-E8B3-C75D-A579-C16A2EE57CB7}"/>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1" name="Uncertainty to plant">
              <a:extLst>
                <a:ext uri="{FF2B5EF4-FFF2-40B4-BE49-F238E27FC236}">
                  <a16:creationId xmlns:a16="http://schemas.microsoft.com/office/drawing/2014/main" id="{98BAB595-A1B8-6D08-FCCD-E29FF3915CAD}"/>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2" name="Controller plant channel">
              <a:extLst>
                <a:ext uri="{FF2B5EF4-FFF2-40B4-BE49-F238E27FC236}">
                  <a16:creationId xmlns:a16="http://schemas.microsoft.com/office/drawing/2014/main" id="{A93CC696-40AB-5ADC-E726-26800473358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3" name="Plant controller channel">
              <a:extLst>
                <a:ext uri="{FF2B5EF4-FFF2-40B4-BE49-F238E27FC236}">
                  <a16:creationId xmlns:a16="http://schemas.microsoft.com/office/drawing/2014/main" id="{0836FF5A-14ED-338F-5636-A5371B218C2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4" name="Controller">
              <a:extLst>
                <a:ext uri="{FF2B5EF4-FFF2-40B4-BE49-F238E27FC236}">
                  <a16:creationId xmlns:a16="http://schemas.microsoft.com/office/drawing/2014/main" id="{1EF01B99-8DDD-1495-1765-C19FDD0BCAE7}"/>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5" name="Controller label">
                  <a:extLst>
                    <a:ext uri="{FF2B5EF4-FFF2-40B4-BE49-F238E27FC236}">
                      <a16:creationId xmlns:a16="http://schemas.microsoft.com/office/drawing/2014/main" id="{597966D5-20F3-D2C6-94DE-BD9F9562E2B5}"/>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7" name="Controller external channel">
                  <a:extLst>
                    <a:ext uri="{FF2B5EF4-FFF2-40B4-BE49-F238E27FC236}">
                      <a16:creationId xmlns:a16="http://schemas.microsoft.com/office/drawing/2014/main" id="{AA9A3ECB-8600-4E6E-FAF1-83A4D46DEEE0}"/>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 xmlns:m="http://schemas.openxmlformats.org/officeDocument/2006/math">
            <p:sp>
              <p:nvSpPr>
                <p:cNvPr id="30177"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8" name="Plant measured channel">
                  <a:extLst>
                    <a:ext uri="{FF2B5EF4-FFF2-40B4-BE49-F238E27FC236}">
                      <a16:creationId xmlns:a16="http://schemas.microsoft.com/office/drawing/2014/main" id="{56C1F3E6-038F-3E13-09A2-53BF11050EDB}"/>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178"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Uncertainty output channel">
                  <a:extLst>
                    <a:ext uri="{FF2B5EF4-FFF2-40B4-BE49-F238E27FC236}">
                      <a16:creationId xmlns:a16="http://schemas.microsoft.com/office/drawing/2014/main" id="{4F5C2C55-17D6-E4AE-07D1-33F3C710F15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79"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Uncertainty input channel">
                  <a:extLst>
                    <a:ext uri="{FF2B5EF4-FFF2-40B4-BE49-F238E27FC236}">
                      <a16:creationId xmlns:a16="http://schemas.microsoft.com/office/drawing/2014/main" id="{ECBC14AD-B982-5B82-FF7D-D8E907C31458}"/>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 xmlns:m="http://schemas.openxmlformats.org/officeDocument/2006/math">
            <p:sp>
              <p:nvSpPr>
                <p:cNvPr id="30180"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8"/>
                  <a:stretch>
                    <a:fillRect/>
                  </a:stretch>
                </a:blipFill>
                <a:ln>
                  <a:noFill/>
                </a:ln>
              </p:spPr>
              <p:txBody>
                <a:bodyPr/>
                <a:lstStyle/>
                <a:p>
                  <a:r>
                    <a:rPr lang="en-NL">
                      <a:noFill/>
                    </a:rPr>
                    <a:t> </a:t>
                  </a:r>
                </a:p>
              </p:txBody>
            </p:sp>
          </mc:Fallback>
        </mc:AlternateContent>
        <p:sp>
          <p:nvSpPr>
            <p:cNvPr id="30181" name="Uncertainty">
              <a:extLst>
                <a:ext uri="{FF2B5EF4-FFF2-40B4-BE49-F238E27FC236}">
                  <a16:creationId xmlns:a16="http://schemas.microsoft.com/office/drawing/2014/main" id="{5BCBCA84-FBF7-31E0-7DEF-F1E7ADF806CE}"/>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2" name="Uncertainty label">
                  <a:extLst>
                    <a:ext uri="{FF2B5EF4-FFF2-40B4-BE49-F238E27FC236}">
                      <a16:creationId xmlns:a16="http://schemas.microsoft.com/office/drawing/2014/main" id="{414256D2-891A-41C2-54A2-03D8F1A9D059}"/>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9"/>
                  <a:stretch>
                    <a:fillRect/>
                  </a:stretch>
                </a:blipFill>
                <a:ln>
                  <a:noFill/>
                </a:ln>
              </p:spPr>
              <p:txBody>
                <a:bodyPr/>
                <a:lstStyle/>
                <a:p>
                  <a:r>
                    <a:rPr lang="en-NL">
                      <a:noFill/>
                    </a:rPr>
                    <a:t> </a:t>
                  </a:r>
                </a:p>
              </p:txBody>
            </p:sp>
          </mc:Fallback>
        </mc:AlternateContent>
      </p:grpSp>
      <p:grpSp>
        <p:nvGrpSpPr>
          <p:cNvPr id="30184" name="!!PDE block">
            <a:extLst>
              <a:ext uri="{FF2B5EF4-FFF2-40B4-BE49-F238E27FC236}">
                <a16:creationId xmlns:a16="http://schemas.microsoft.com/office/drawing/2014/main" id="{4C55836B-20A5-EC56-07E8-6A5602FDF6CE}"/>
              </a:ext>
            </a:extLst>
          </p:cNvPr>
          <p:cNvGrpSpPr/>
          <p:nvPr/>
        </p:nvGrpSpPr>
        <p:grpSpPr>
          <a:xfrm>
            <a:off x="-4129021" y="2222014"/>
            <a:ext cx="874551" cy="874613"/>
            <a:chOff x="3086100" y="2514600"/>
            <a:chExt cx="939800" cy="939800"/>
          </a:xfrm>
        </p:grpSpPr>
        <p:sp>
          <p:nvSpPr>
            <p:cNvPr id="30185" name="Plant">
              <a:extLst>
                <a:ext uri="{FF2B5EF4-FFF2-40B4-BE49-F238E27FC236}">
                  <a16:creationId xmlns:a16="http://schemas.microsoft.com/office/drawing/2014/main" id="{9CA1AA01-05BB-2174-7914-DD1C674E14FF}"/>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86" name="Plant label">
                  <a:extLst>
                    <a:ext uri="{FF2B5EF4-FFF2-40B4-BE49-F238E27FC236}">
                      <a16:creationId xmlns:a16="http://schemas.microsoft.com/office/drawing/2014/main" id="{8443D1AD-4C83-D46D-4351-2880889F0A2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3018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20"/>
                  <a:stretch>
                    <a:fillRect/>
                  </a:stretch>
                </a:blipFill>
                <a:ln>
                  <a:noFill/>
                </a:ln>
              </p:spPr>
              <p:txBody>
                <a:bodyPr/>
                <a:lstStyle/>
                <a:p>
                  <a:r>
                    <a:rPr lang="en-NL">
                      <a:noFill/>
                    </a:rPr>
                    <a:t> </a:t>
                  </a:r>
                </a:p>
              </p:txBody>
            </p:sp>
          </mc:Fallback>
        </mc:AlternateContent>
      </p:grpSp>
      <p:sp>
        <p:nvSpPr>
          <p:cNvPr id="30187" name="!!Sliding content 44 39990">
            <a:extLst>
              <a:ext uri="{FF2B5EF4-FFF2-40B4-BE49-F238E27FC236}">
                <a16:creationId xmlns:a16="http://schemas.microsoft.com/office/drawing/2014/main" id="{DC66CA60-F31A-1833-7EB6-48C5C3FFBAAB}"/>
              </a:ext>
            </a:extLst>
          </p:cNvPr>
          <p:cNvSpPr/>
          <p:nvPr/>
        </p:nvSpPr>
        <p:spPr>
          <a:xfrm>
            <a:off x="-5384800" y="4203700"/>
            <a:ext cx="1066800" cy="584200"/>
          </a:xfrm>
          <a:prstGeom prst="rect">
            <a:avLst/>
          </a:prstGeom>
          <a:solidFill>
            <a:srgbClr val="FFFFFF"/>
          </a:solidFill>
          <a:ln>
            <a:noFill/>
          </a:ln>
        </p:spPr>
        <p:txBody>
          <a:bodyPr/>
          <a:lstStyle/>
          <a:p>
            <a:endParaRPr lang="en-NL"/>
          </a:p>
        </p:txBody>
      </p:sp>
      <p:grpSp>
        <p:nvGrpSpPr>
          <p:cNvPr id="30188" name="!!Sliding content 44 30037">
            <a:extLst>
              <a:ext uri="{FF2B5EF4-FFF2-40B4-BE49-F238E27FC236}">
                <a16:creationId xmlns:a16="http://schemas.microsoft.com/office/drawing/2014/main" id="{0283178A-7C19-0619-3968-F38A88D5F810}"/>
              </a:ext>
            </a:extLst>
          </p:cNvPr>
          <p:cNvGrpSpPr/>
          <p:nvPr/>
        </p:nvGrpSpPr>
        <p:grpSpPr>
          <a:xfrm>
            <a:off x="-5346700" y="4254500"/>
            <a:ext cx="990600" cy="476250"/>
            <a:chOff x="1879600" y="241300"/>
            <a:chExt cx="5597595" cy="2692400"/>
          </a:xfrm>
        </p:grpSpPr>
        <p:pic>
          <p:nvPicPr>
            <p:cNvPr id="30189" name="Figure with corrected editable mathematics">
              <a:extLst>
                <a:ext uri="{FF2B5EF4-FFF2-40B4-BE49-F238E27FC236}">
                  <a16:creationId xmlns:a16="http://schemas.microsoft.com/office/drawing/2014/main" id="{A684B643-ED2B-4A7F-DADF-F2041C4F82A7}"/>
                </a:ext>
              </a:extLst>
            </p:cNvPr>
            <p:cNvPicPr>
              <a:picLocks noChangeAspect="1"/>
            </p:cNvPicPr>
            <p:nvPr/>
          </p:nvPicPr>
          <p:blipFill>
            <a:blip r:embed="rIdSlideFlow121"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190" name="!!Sliding content 44 30039">
            <a:extLst>
              <a:ext uri="{FF2B5EF4-FFF2-40B4-BE49-F238E27FC236}">
                <a16:creationId xmlns:a16="http://schemas.microsoft.com/office/drawing/2014/main" id="{9CFE4FAA-5D8A-3579-AA73-D730BBBCFD49}"/>
              </a:ext>
            </a:extLst>
          </p:cNvPr>
          <p:cNvPicPr>
            <a:picLocks noChangeAspect="1"/>
          </p:cNvPicPr>
          <p:nvPr/>
        </p:nvPicPr>
        <p:blipFill>
          <a:blip r:embed="rIdSlideFlow122" cstate="print">
            <a:extLst>
              <a:ext uri="{28A0092B-C50C-407E-A947-70E740481C1C}">
                <a14:useLocalDpi xmlns:a14="http://schemas.microsoft.com/office/drawing/2010/main" val="0"/>
              </a:ext>
            </a:extLst>
          </a:blip>
          <a:srcRect l="6208" r="6507" b="12822"/>
          <a:stretch>
            <a:fillRect/>
          </a:stretch>
        </p:blipFill>
        <p:spPr>
          <a:xfrm>
            <a:off x="-4216400" y="4241800"/>
            <a:ext cx="977900" cy="508000"/>
          </a:xfrm>
          <a:prstGeom prst="rect">
            <a:avLst/>
          </a:prstGeom>
        </p:spPr>
      </p:pic>
      <p:pic>
        <p:nvPicPr>
          <p:cNvPr id="30191" name="!!Sliding content 44 30040" descr="Products and Technologies - Canon Production Printing">
            <a:extLst>
              <a:ext uri="{FF2B5EF4-FFF2-40B4-BE49-F238E27FC236}">
                <a16:creationId xmlns:a16="http://schemas.microsoft.com/office/drawing/2014/main" id="{9F72744F-1C0B-7047-92F3-859EC38777E9}"/>
              </a:ext>
            </a:extLst>
          </p:cNvPr>
          <p:cNvPicPr>
            <a:picLocks noChangeAspect="1"/>
          </p:cNvPicPr>
          <p:nvPr/>
        </p:nvPicPr>
        <p:blipFill>
          <a:blip r:embed="rIdSlideFlow123"/>
          <a:stretch>
            <a:fillRect/>
          </a:stretch>
        </p:blipFill>
        <p:spPr>
          <a:xfrm>
            <a:off x="-3098800" y="4254500"/>
            <a:ext cx="977900" cy="478790"/>
          </a:xfrm>
          <a:prstGeom prst="rect">
            <a:avLst/>
          </a:prstGeom>
        </p:spPr>
      </p:pic>
      <p:sp>
        <p:nvSpPr>
          <p:cNvPr id="30192" name="!!Sliding content 44 39991">
            <a:extLst>
              <a:ext uri="{FF2B5EF4-FFF2-40B4-BE49-F238E27FC236}">
                <a16:creationId xmlns:a16="http://schemas.microsoft.com/office/drawing/2014/main" id="{4EE35D63-FC84-C8FA-38DE-63E80E69C1D2}"/>
              </a:ext>
            </a:extLst>
          </p:cNvPr>
          <p:cNvSpPr/>
          <p:nvPr/>
        </p:nvSpPr>
        <p:spPr>
          <a:xfrm>
            <a:off x="-53848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
        <p:nvSpPr>
          <p:cNvPr id="30193" name="!!Sliding center 44 20008">
            <a:extLst>
              <a:ext uri="{FF2B5EF4-FFF2-40B4-BE49-F238E27FC236}">
                <a16:creationId xmlns:a16="http://schemas.microsoft.com/office/drawing/2014/main" id="{499EBBFF-EBC2-B1C1-F47A-8BA3B969E389}"/>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30194" name="!!Sliding center 44 20009">
            <a:extLst>
              <a:ext uri="{FF2B5EF4-FFF2-40B4-BE49-F238E27FC236}">
                <a16:creationId xmlns:a16="http://schemas.microsoft.com/office/drawing/2014/main" id="{5E1F9093-BC2D-48FE-4C31-AA6C45516AB3}"/>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30195" name="!!Sliding center 44 20010">
            <a:extLst>
              <a:ext uri="{FF2B5EF4-FFF2-40B4-BE49-F238E27FC236}">
                <a16:creationId xmlns:a16="http://schemas.microsoft.com/office/drawing/2014/main" id="{0B4753F2-1DB8-E893-F59E-20E8D2AB9B1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6" name="!!Sliding center 44 20011">
            <a:extLst>
              <a:ext uri="{FF2B5EF4-FFF2-40B4-BE49-F238E27FC236}">
                <a16:creationId xmlns:a16="http://schemas.microsoft.com/office/drawing/2014/main" id="{5E079199-8DEA-4AED-D5B5-C12455AF11C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7" name="!!Flow Synthesis 6">
            <a:extLst>
              <a:ext uri="{FF2B5EF4-FFF2-40B4-BE49-F238E27FC236}">
                <a16:creationId xmlns:a16="http://schemas.microsoft.com/office/drawing/2014/main" id="{D703C8B0-5DA5-5751-3376-5CA2CF2E17FF}"/>
              </a:ext>
            </a:extLst>
          </p:cNvPr>
          <p:cNvSpPr/>
          <p:nvPr/>
        </p:nvSpPr>
        <p:spPr>
          <a:xfrm>
            <a:off x="11074400" y="0"/>
            <a:ext cx="3606800" cy="5143500"/>
          </a:xfrm>
          <a:prstGeom prst="rect">
            <a:avLst/>
          </a:prstGeom>
          <a:solidFill>
            <a:srgbClr val="C81919">
              <a:alpha val="50196"/>
            </a:srgbClr>
          </a:solidFill>
          <a:ln>
            <a:noFill/>
          </a:ln>
        </p:spPr>
        <p:txBody>
          <a:bodyPr/>
          <a:lstStyle/>
          <a:p>
            <a:endParaRPr lang="en-NL" dirty="0"/>
          </a:p>
        </p:txBody>
      </p:sp>
      <p:sp>
        <p:nvSpPr>
          <p:cNvPr id="30198" name="!!Flow Synthesis 11">
            <a:extLst>
              <a:ext uri="{FF2B5EF4-FFF2-40B4-BE49-F238E27FC236}">
                <a16:creationId xmlns:a16="http://schemas.microsoft.com/office/drawing/2014/main" id="{ACA36901-9FAB-4D2E-0B1E-A8B9FF827A73}"/>
              </a:ext>
            </a:extLst>
          </p:cNvPr>
          <p:cNvSpPr/>
          <p:nvPr/>
        </p:nvSpPr>
        <p:spPr>
          <a:xfrm>
            <a:off x="112444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30199" name="!!Flow Synthesis 13">
            <a:extLst>
              <a:ext uri="{FF2B5EF4-FFF2-40B4-BE49-F238E27FC236}">
                <a16:creationId xmlns:a16="http://schemas.microsoft.com/office/drawing/2014/main" id="{A50C9CA7-26DB-BC1F-AFFB-01B2B253AC96}"/>
              </a:ext>
            </a:extLst>
          </p:cNvPr>
          <p:cNvSpPr/>
          <p:nvPr/>
        </p:nvSpPr>
        <p:spPr>
          <a:xfrm>
            <a:off x="11226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30200" name="!!Flow Synthesis 15">
                <a:extLst>
                  <a:ext uri="{FF2B5EF4-FFF2-40B4-BE49-F238E27FC236}">
                    <a16:creationId xmlns:a16="http://schemas.microsoft.com/office/drawing/2014/main" id="{6C6F5EF8-4780-EA7D-B8B0-E761562F6759}"/>
                  </a:ext>
                </a:extLst>
              </p:cNvPr>
              <p:cNvSpPr/>
              <p:nvPr/>
            </p:nvSpPr>
            <p:spPr>
              <a:xfrm>
                <a:off x="113333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30200"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11333398" y="4572000"/>
                <a:ext cx="3175000" cy="304800"/>
              </a:xfrm>
              <a:prstGeom prst="rect">
                <a:avLst/>
              </a:prstGeom>
              <a:blipFill>
                <a:blip r:embed="rIdSlideFlow124"/>
                <a:stretch>
                  <a:fillRect l="-3071" t="-30000" r="-1536" b="-42000"/>
                </a:stretch>
              </a:blipFill>
              <a:ln>
                <a:noFill/>
              </a:ln>
            </p:spPr>
            <p:txBody>
              <a:bodyPr/>
              <a:lstStyle/>
              <a:p>
                <a:r>
                  <a:rPr lang="en-NL">
                    <a:noFill/>
                  </a:rPr>
                  <a:t> </a:t>
                </a:r>
              </a:p>
            </p:txBody>
          </p:sp>
        </mc:Fallback>
      </mc:AlternateContent>
      <p:pic>
        <p:nvPicPr>
          <p:cNvPr id="30201"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SlideFlow125" cstate="print">
            <a:extLst>
              <a:ext uri="{28A0092B-C50C-407E-A947-70E740481C1C}">
                <a14:useLocalDpi xmlns:a14="http://schemas.microsoft.com/office/drawing/2010/main" val="0"/>
              </a:ext>
            </a:extLst>
          </a:blip>
          <a:srcRect/>
          <a:stretch/>
        </p:blipFill>
        <p:spPr>
          <a:xfrm>
            <a:off x="11461098" y="1777808"/>
            <a:ext cx="2919599" cy="1784478"/>
          </a:xfrm>
          <a:prstGeom prst="rect">
            <a:avLst/>
          </a:prstGeom>
        </p:spPr>
      </p:pic>
      <p:sp>
        <p:nvSpPr>
          <p:cNvPr id="30202" name="!!Sliding center 46 32">
            <a:extLst>
              <a:ext uri="{FF2B5EF4-FFF2-40B4-BE49-F238E27FC236}">
                <a16:creationId xmlns:a16="http://schemas.microsoft.com/office/drawing/2014/main" id="{85D8F719-2267-0C64-D7C9-DC27544C20FB}"/>
              </a:ext>
            </a:extLst>
          </p:cNvPr>
          <p:cNvSpPr/>
          <p:nvPr/>
        </p:nvSpPr>
        <p:spPr>
          <a:xfrm>
            <a:off x="93980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203" name="!!Sliding center 46 34">
                <a:extLst>
                  <a:ext uri="{FF2B5EF4-FFF2-40B4-BE49-F238E27FC236}">
                    <a16:creationId xmlns:a16="http://schemas.microsoft.com/office/drawing/2014/main" id="{7ABB1BDC-93CF-6E3C-F305-7490A15DBDA7}"/>
                  </a:ext>
                </a:extLst>
              </p:cNvPr>
              <p:cNvSpPr/>
              <p:nvPr/>
            </p:nvSpPr>
            <p:spPr>
              <a:xfrm>
                <a:off x="9220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0203"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9220200" y="1949450"/>
                <a:ext cx="1778000" cy="266700"/>
              </a:xfrm>
              <a:prstGeom prst="rect">
                <a:avLst/>
              </a:prstGeom>
              <a:blipFill>
                <a:blip r:embed="rIdSlideFlow126"/>
                <a:stretch>
                  <a:fillRect/>
                </a:stretch>
              </a:blipFill>
              <a:ln>
                <a:noFill/>
              </a:ln>
            </p:spPr>
            <p:txBody>
              <a:bodyPr/>
              <a:lstStyle/>
              <a:p>
                <a:r>
                  <a:rPr lang="en-NL">
                    <a:noFill/>
                  </a:rPr>
                  <a:t> </a:t>
                </a:r>
              </a:p>
            </p:txBody>
          </p:sp>
        </mc:Fallback>
      </mc:AlternateContent>
      <p:sp>
        <p:nvSpPr>
          <p:cNvPr id="30204" name="!!Sliding center 46 36">
            <a:extLst>
              <a:ext uri="{FF2B5EF4-FFF2-40B4-BE49-F238E27FC236}">
                <a16:creationId xmlns:a16="http://schemas.microsoft.com/office/drawing/2014/main" id="{059D78BC-7712-3472-90C5-2A73836E0F9F}"/>
              </a:ext>
            </a:extLst>
          </p:cNvPr>
          <p:cNvSpPr/>
          <p:nvPr/>
        </p:nvSpPr>
        <p:spPr>
          <a:xfrm>
            <a:off x="93980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205" name="!!Sliding center 46 38">
            <a:extLst>
              <a:ext uri="{FF2B5EF4-FFF2-40B4-BE49-F238E27FC236}">
                <a16:creationId xmlns:a16="http://schemas.microsoft.com/office/drawing/2014/main" id="{75BDAAEE-E4DD-6E22-9B66-526CA7AF7FFA}"/>
              </a:ext>
            </a:extLst>
          </p:cNvPr>
          <p:cNvSpPr/>
          <p:nvPr/>
        </p:nvSpPr>
        <p:spPr>
          <a:xfrm>
            <a:off x="9220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91355414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D56B67-483D-35C7-CB2A-505B39B1A74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F6FDCE4-3330-5E17-B8CD-4E0D9E8C841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2" name="!!Flow Analysis 2">
            <a:extLst>
              <a:ext uri="{FF2B5EF4-FFF2-40B4-BE49-F238E27FC236}">
                <a16:creationId xmlns:a16="http://schemas.microsoft.com/office/drawing/2014/main" id="{3CFD6E59-32C2-BF7E-297A-18D43B0C60AF}"/>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Flow Analysis 3">
            <a:extLst>
              <a:ext uri="{FF2B5EF4-FFF2-40B4-BE49-F238E27FC236}">
                <a16:creationId xmlns:a16="http://schemas.microsoft.com/office/drawing/2014/main" id="{3159E6B8-DE47-EAB7-2A70-BB42DA911B44}"/>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7" name="!!Flow Analysis 7">
                <a:extLst>
                  <a:ext uri="{FF2B5EF4-FFF2-40B4-BE49-F238E27FC236}">
                    <a16:creationId xmlns:a16="http://schemas.microsoft.com/office/drawing/2014/main" id="{957CD929-8153-77A9-0E0D-71E4B17C0A6C}"/>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7"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152400" y="4108450"/>
                <a:ext cx="3302000" cy="342900"/>
              </a:xfrm>
              <a:prstGeom prst="rect">
                <a:avLst/>
              </a:prstGeom>
              <a:blipFill>
                <a:blip r:embed="rId3"/>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 name="!!Flow Analysis 8">
                <a:extLst>
                  <a:ext uri="{FF2B5EF4-FFF2-40B4-BE49-F238E27FC236}">
                    <a16:creationId xmlns:a16="http://schemas.microsoft.com/office/drawing/2014/main" id="{DA552458-7267-5808-3374-1E457F5B1C66}"/>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8"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4"/>
                <a:stretch>
                  <a:fillRect l="-2879" t="-30000" r="-1536" b="-42000"/>
                </a:stretch>
              </a:blipFill>
              <a:ln>
                <a:noFill/>
              </a:ln>
            </p:spPr>
            <p:txBody>
              <a:bodyPr/>
              <a:lstStyle/>
              <a:p>
                <a:r>
                  <a:rPr lang="en-NL">
                    <a:noFill/>
                  </a:rPr>
                  <a:t> </a:t>
                </a:r>
              </a:p>
            </p:txBody>
          </p:sp>
        </mc:Fallback>
      </mc:AlternateContent>
      <p:sp>
        <p:nvSpPr>
          <p:cNvPr id="32" name="!!Sliding center 46 32">
            <a:extLst>
              <a:ext uri="{FF2B5EF4-FFF2-40B4-BE49-F238E27FC236}">
                <a16:creationId xmlns:a16="http://schemas.microsoft.com/office/drawing/2014/main" id="{85D8F719-2267-0C64-D7C9-DC27544C20FB}"/>
              </a:ext>
            </a:extLst>
          </p:cNvPr>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4" name="!!Sliding center 46 34">
                <a:extLst>
                  <a:ext uri="{FF2B5EF4-FFF2-40B4-BE49-F238E27FC236}">
                    <a16:creationId xmlns:a16="http://schemas.microsoft.com/office/drawing/2014/main" id="{7ABB1BDC-93CF-6E3C-F305-7490A15DBDA7}"/>
                  </a:ext>
                </a:extLst>
              </p:cNvPr>
              <p:cNvSpPr/>
              <p:nvPr/>
            </p:nvSpPr>
            <p:spPr>
              <a:xfrm>
                <a:off x="36830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34"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3683000" y="1949450"/>
                <a:ext cx="1778000" cy="266700"/>
              </a:xfrm>
              <a:prstGeom prst="rect">
                <a:avLst/>
              </a:prstGeom>
              <a:blipFill>
                <a:blip r:embed="rId5"/>
                <a:stretch>
                  <a:fillRect/>
                </a:stretch>
              </a:blipFill>
              <a:ln>
                <a:noFill/>
              </a:ln>
            </p:spPr>
            <p:txBody>
              <a:bodyPr/>
              <a:lstStyle/>
              <a:p>
                <a:r>
                  <a:rPr lang="en-NL">
                    <a:noFill/>
                  </a:rPr>
                  <a:t> </a:t>
                </a:r>
              </a:p>
            </p:txBody>
          </p:sp>
        </mc:Fallback>
      </mc:AlternateContent>
      <p:sp>
        <p:nvSpPr>
          <p:cNvPr id="36" name="!!Sliding center 46 36">
            <a:extLst>
              <a:ext uri="{FF2B5EF4-FFF2-40B4-BE49-F238E27FC236}">
                <a16:creationId xmlns:a16="http://schemas.microsoft.com/office/drawing/2014/main" id="{059D78BC-7712-3472-90C5-2A73836E0F9F}"/>
              </a:ext>
            </a:extLst>
          </p:cNvPr>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8" name="!!Sliding center 46 38">
            <a:extLst>
              <a:ext uri="{FF2B5EF4-FFF2-40B4-BE49-F238E27FC236}">
                <a16:creationId xmlns:a16="http://schemas.microsoft.com/office/drawing/2014/main" id="{75BDAAEE-E4DD-6E22-9B66-526CA7AF7FFA}"/>
              </a:ext>
            </a:extLst>
          </p:cNvPr>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pic>
        <p:nvPicPr>
          <p:cNvPr id="30066"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86698" y="1777808"/>
            <a:ext cx="2919600" cy="1784478"/>
          </a:xfrm>
          <a:prstGeom prst="rect">
            <a:avLst/>
          </a:prstGeom>
        </p:spPr>
      </p:pic>
      <p:sp>
        <p:nvSpPr>
          <p:cNvPr id="6" name="!!Flow Synthesis 6">
            <a:extLst>
              <a:ext uri="{FF2B5EF4-FFF2-40B4-BE49-F238E27FC236}">
                <a16:creationId xmlns:a16="http://schemas.microsoft.com/office/drawing/2014/main" id="{D703C8B0-5DA5-5751-3376-5CA2CF2E17FF}"/>
              </a:ext>
            </a:extLst>
          </p:cNvPr>
          <p:cNvSpPr/>
          <p:nvPr/>
        </p:nvSpPr>
        <p:spPr>
          <a:xfrm>
            <a:off x="553720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ACA36901-9FAB-4D2E-0B1E-A8B9FF827A73}"/>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A50C9CA7-26DB-BC1F-AFFB-01B2B253AC96}"/>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6C6F5EF8-4780-EA7D-B8B0-E761562F6759}"/>
                  </a:ext>
                </a:extLst>
              </p:cNvPr>
              <p:cNvSpPr/>
              <p:nvPr/>
            </p:nvSpPr>
            <p:spPr>
              <a:xfrm>
                <a:off x="57961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6C6F5EF8-4780-EA7D-B8B0-E761562F6759}"/>
                  </a:ext>
                </a:extLst>
              </p:cNvPr>
              <p:cNvSpPr>
                <a:spLocks noRot="1" noChangeAspect="1" noMove="1" noResize="1" noEditPoints="1" noAdjustHandles="1" noChangeArrowheads="1" noChangeShapeType="1" noTextEdit="1"/>
              </p:cNvSpPr>
              <p:nvPr/>
            </p:nvSpPr>
            <p:spPr>
              <a:xfrm>
                <a:off x="5796198" y="4572000"/>
                <a:ext cx="3175000" cy="304800"/>
              </a:xfrm>
              <a:prstGeom prst="rect">
                <a:avLst/>
              </a:prstGeom>
              <a:blipFill>
                <a:blip r:embed="rId7"/>
                <a:stretch>
                  <a:fillRect l="-3071"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87B3746C-C9D4-F5C0-0A10-82DF4EFDB369}"/>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46</a:t>
            </a:fld>
            <a:endParaRPr lang="en-GB" sz="800"/>
          </a:p>
        </p:txBody>
      </p:sp>
      <p:pic>
        <p:nvPicPr>
          <p:cNvPr id="19" name="!!Flow Synthesis 19">
            <a:extLst>
              <a:ext uri="{FF2B5EF4-FFF2-40B4-BE49-F238E27FC236}">
                <a16:creationId xmlns:a16="http://schemas.microsoft.com/office/drawing/2014/main" id="{3A19A885-5692-940B-24EF-16865348230B}"/>
              </a:ext>
            </a:extLst>
          </p:cNvPr>
          <p:cNvPicPr>
            <a:picLocks noChangeAspect="1"/>
          </p:cNvPicPr>
          <p:nvPr/>
        </p:nvPicPr>
        <p:blipFill>
          <a:blip r:embed="rId8" cstate="print">
            <a:extLst>
              <a:ext uri="{28A0092B-C50C-407E-A947-70E740481C1C}">
                <a14:useLocalDpi xmlns:a14="http://schemas.microsoft.com/office/drawing/2010/main" val="0"/>
              </a:ext>
            </a:extLst>
          </a:blip>
          <a:srcRect/>
          <a:stretch/>
        </p:blipFill>
        <p:spPr>
          <a:xfrm>
            <a:off x="5923898" y="1777808"/>
            <a:ext cx="2919599" cy="1784478"/>
          </a:xfrm>
          <a:prstGeom prst="rect">
            <a:avLst/>
          </a:prstGeom>
        </p:spPr>
      </p:pic>
      <p:sp>
        <p:nvSpPr>
          <p:cNvPr id="30166" name="!!Flow PIE 20002">
            <a:extLst>
              <a:ext uri="{FF2B5EF4-FFF2-40B4-BE49-F238E27FC236}">
                <a16:creationId xmlns:a16="http://schemas.microsoft.com/office/drawing/2014/main" id="{D44E39C9-13C2-3452-0EF8-1ED6ECFF230C}"/>
              </a:ext>
            </a:extLst>
          </p:cNvPr>
          <p:cNvSpPr/>
          <p:nvPr/>
        </p:nvSpPr>
        <p:spPr>
          <a:xfrm>
            <a:off x="-5540188" y="0"/>
            <a:ext cx="3606800" cy="5143500"/>
          </a:xfrm>
          <a:prstGeom prst="rect">
            <a:avLst/>
          </a:prstGeom>
          <a:solidFill>
            <a:srgbClr val="C81919">
              <a:alpha val="50196"/>
            </a:srgbClr>
          </a:solidFill>
          <a:ln>
            <a:noFill/>
          </a:ln>
        </p:spPr>
        <p:txBody>
          <a:bodyPr/>
          <a:lstStyle/>
          <a:p>
            <a:endParaRPr lang="en-NL"/>
          </a:p>
        </p:txBody>
      </p:sp>
      <p:sp>
        <p:nvSpPr>
          <p:cNvPr id="30167" name="!!Flow PIE 20005">
            <a:extLst>
              <a:ext uri="{FF2B5EF4-FFF2-40B4-BE49-F238E27FC236}">
                <a16:creationId xmlns:a16="http://schemas.microsoft.com/office/drawing/2014/main" id="{28E4D847-C090-BBB8-693C-BEA916C14EE0}"/>
              </a:ext>
            </a:extLst>
          </p:cNvPr>
          <p:cNvSpPr/>
          <p:nvPr/>
        </p:nvSpPr>
        <p:spPr>
          <a:xfrm>
            <a:off x="-5370090"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30168" name="!!Flow PIE 20007">
            <a:extLst>
              <a:ext uri="{FF2B5EF4-FFF2-40B4-BE49-F238E27FC236}">
                <a16:creationId xmlns:a16="http://schemas.microsoft.com/office/drawing/2014/main" id="{31C25975-554D-879D-2CAC-1B9D512E76A6}"/>
              </a:ext>
            </a:extLst>
          </p:cNvPr>
          <p:cNvSpPr/>
          <p:nvPr/>
        </p:nvSpPr>
        <p:spPr>
          <a:xfrm>
            <a:off x="-5370090"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30169" name="!!Flow PIE 20012">
            <a:extLst>
              <a:ext uri="{FF2B5EF4-FFF2-40B4-BE49-F238E27FC236}">
                <a16:creationId xmlns:a16="http://schemas.microsoft.com/office/drawing/2014/main" id="{0AD71456-660D-7315-EF48-E1E193DFA476}"/>
              </a:ext>
            </a:extLst>
          </p:cNvPr>
          <p:cNvSpPr/>
          <p:nvPr/>
        </p:nvSpPr>
        <p:spPr>
          <a:xfrm>
            <a:off x="-5387788"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30170" name="!!Flow PIE 20013">
                <a:extLst>
                  <a:ext uri="{FF2B5EF4-FFF2-40B4-BE49-F238E27FC236}">
                    <a16:creationId xmlns:a16="http://schemas.microsoft.com/office/drawing/2014/main" id="{4B8B0394-3ECA-22AB-56A2-F02B81623325}"/>
                  </a:ext>
                </a:extLst>
              </p:cNvPr>
              <p:cNvSpPr/>
              <p:nvPr/>
            </p:nvSpPr>
            <p:spPr>
              <a:xfrm>
                <a:off x="-5324288"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30170" name="!!Flow PIE 20013">
                <a:extLst>
                  <a:ext uri="{FF2B5EF4-FFF2-40B4-BE49-F238E27FC236}">
                    <a16:creationId xmlns:a16="http://schemas.microsoft.com/office/drawing/2014/main" id="{4B8B0394-3ECA-22AB-56A2-F02B81623325}"/>
                  </a:ext>
                </a:extLst>
              </p:cNvPr>
              <p:cNvSpPr>
                <a:spLocks noRot="1" noChangeAspect="1" noMove="1" noResize="1" noEditPoints="1" noAdjustHandles="1" noChangeArrowheads="1" noChangeShapeType="1" noTextEdit="1"/>
              </p:cNvSpPr>
              <p:nvPr/>
            </p:nvSpPr>
            <p:spPr>
              <a:xfrm>
                <a:off x="-5324288" y="4457700"/>
                <a:ext cx="3175000" cy="304800"/>
              </a:xfrm>
              <a:prstGeom prst="rect">
                <a:avLst/>
              </a:prstGeom>
              <a:blipFill>
                <a:blip r:embed="rIdSlideFlow108"/>
                <a:stretch>
                  <a:fillRect t="-10000" b="-32000"/>
                </a:stretch>
              </a:blipFill>
              <a:ln>
                <a:noFill/>
              </a:ln>
            </p:spPr>
            <p:txBody>
              <a:bodyPr/>
              <a:lstStyle/>
              <a:p>
                <a:r>
                  <a:rPr lang="en-NL">
                    <a:noFill/>
                  </a:rPr>
                  <a:t> </a:t>
                </a:r>
              </a:p>
            </p:txBody>
          </p:sp>
        </mc:Fallback>
      </mc:AlternateContent>
      <p:grpSp>
        <p:nvGrpSpPr>
          <p:cNvPr id="30171" name="!!Flow PIE 30019">
            <a:extLst>
              <a:ext uri="{FF2B5EF4-FFF2-40B4-BE49-F238E27FC236}">
                <a16:creationId xmlns:a16="http://schemas.microsoft.com/office/drawing/2014/main" id="{66CCDDB3-9732-9221-B6B5-130A7D91B7C5}"/>
              </a:ext>
            </a:extLst>
          </p:cNvPr>
          <p:cNvGrpSpPr/>
          <p:nvPr/>
        </p:nvGrpSpPr>
        <p:grpSpPr>
          <a:xfrm>
            <a:off x="-5146488" y="1574800"/>
            <a:ext cx="2921000" cy="2239010"/>
            <a:chOff x="1995932" y="1819148"/>
            <a:chExt cx="3138932" cy="2405888"/>
          </a:xfrm>
        </p:grpSpPr>
        <p:sp>
          <p:nvSpPr>
            <p:cNvPr id="30172" name="Plant to uncertainty">
              <a:extLst>
                <a:ext uri="{FF2B5EF4-FFF2-40B4-BE49-F238E27FC236}">
                  <a16:creationId xmlns:a16="http://schemas.microsoft.com/office/drawing/2014/main" id="{9970FE05-EEED-4E73-5F73-DA9D59B8AE1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173" name="Uncertainty to plant">
              <a:extLst>
                <a:ext uri="{FF2B5EF4-FFF2-40B4-BE49-F238E27FC236}">
                  <a16:creationId xmlns:a16="http://schemas.microsoft.com/office/drawing/2014/main" id="{936326B6-0A9C-2E1E-DB15-172E5D823A60}"/>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174" name="Controller plant channel">
              <a:extLst>
                <a:ext uri="{FF2B5EF4-FFF2-40B4-BE49-F238E27FC236}">
                  <a16:creationId xmlns:a16="http://schemas.microsoft.com/office/drawing/2014/main" id="{14AC970C-B701-8C32-F489-4C50F4704F5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175" name="Plant controller channel">
              <a:extLst>
                <a:ext uri="{FF2B5EF4-FFF2-40B4-BE49-F238E27FC236}">
                  <a16:creationId xmlns:a16="http://schemas.microsoft.com/office/drawing/2014/main" id="{05AA6917-15B5-FEB1-62A0-F89167064383}"/>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176" name="Controller">
              <a:extLst>
                <a:ext uri="{FF2B5EF4-FFF2-40B4-BE49-F238E27FC236}">
                  <a16:creationId xmlns:a16="http://schemas.microsoft.com/office/drawing/2014/main" id="{D68FCD6D-A458-6F0C-883E-E04094868149}"/>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177" name="Controller label">
                  <a:extLst>
                    <a:ext uri="{FF2B5EF4-FFF2-40B4-BE49-F238E27FC236}">
                      <a16:creationId xmlns:a16="http://schemas.microsoft.com/office/drawing/2014/main" id="{5EDD2408-CBDD-9951-FE27-C7F60D618677}"/>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m="http://schemas.openxmlformats.org/officeDocument/2006/math" xmlns="">
            <p:sp>
              <p:nvSpPr>
                <p:cNvPr id="3017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SlideFlow10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79" name="Controller external channel">
                  <a:extLst>
                    <a:ext uri="{FF2B5EF4-FFF2-40B4-BE49-F238E27FC236}">
                      <a16:creationId xmlns:a16="http://schemas.microsoft.com/office/drawing/2014/main" id="{4B36FC3D-BF86-A3E9-29E6-8D07BE9D960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 xmlns:m="http://schemas.openxmlformats.org/officeDocument/2006/math">
            <p:sp>
              <p:nvSpPr>
                <p:cNvPr id="30179"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SlideFlow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0" name="Plant measured channel">
                  <a:extLst>
                    <a:ext uri="{FF2B5EF4-FFF2-40B4-BE49-F238E27FC236}">
                      <a16:creationId xmlns:a16="http://schemas.microsoft.com/office/drawing/2014/main" id="{A968A37F-F1C6-F7C2-BE38-788DA055731F}"/>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180"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SlideFlow111"/>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1" name="Uncertainty output channel">
                  <a:extLst>
                    <a:ext uri="{FF2B5EF4-FFF2-40B4-BE49-F238E27FC236}">
                      <a16:creationId xmlns:a16="http://schemas.microsoft.com/office/drawing/2014/main" id="{89F355AA-EBC9-73F2-F7F0-1AF4572B3088}"/>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 xmlns:m="http://schemas.openxmlformats.org/officeDocument/2006/math">
            <p:sp>
              <p:nvSpPr>
                <p:cNvPr id="30181"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lideFlow1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182" name="Uncertainty input channel">
                  <a:extLst>
                    <a:ext uri="{FF2B5EF4-FFF2-40B4-BE49-F238E27FC236}">
                      <a16:creationId xmlns:a16="http://schemas.microsoft.com/office/drawing/2014/main" id="{85976CE7-46A8-4EEC-DDB0-543CD220833E}"/>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 xmlns:m="http://schemas.openxmlformats.org/officeDocument/2006/math">
            <p:sp>
              <p:nvSpPr>
                <p:cNvPr id="30182"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lideFlow113"/>
                  <a:stretch>
                    <a:fillRect/>
                  </a:stretch>
                </a:blipFill>
                <a:ln>
                  <a:noFill/>
                </a:ln>
              </p:spPr>
              <p:txBody>
                <a:bodyPr/>
                <a:lstStyle/>
                <a:p>
                  <a:r>
                    <a:rPr lang="en-NL">
                      <a:noFill/>
                    </a:rPr>
                    <a:t> </a:t>
                  </a:r>
                </a:p>
              </p:txBody>
            </p:sp>
          </mc:Fallback>
        </mc:AlternateContent>
        <p:sp>
          <p:nvSpPr>
            <p:cNvPr id="30183" name="Uncertainty">
              <a:extLst>
                <a:ext uri="{FF2B5EF4-FFF2-40B4-BE49-F238E27FC236}">
                  <a16:creationId xmlns:a16="http://schemas.microsoft.com/office/drawing/2014/main" id="{DCB8EF8C-4DD6-39F0-99C0-22A153461E2A}"/>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184" name="Uncertainty label">
                  <a:extLst>
                    <a:ext uri="{FF2B5EF4-FFF2-40B4-BE49-F238E27FC236}">
                      <a16:creationId xmlns:a16="http://schemas.microsoft.com/office/drawing/2014/main" id="{05EEDB90-173E-1DBD-7E74-54D3DCE83F2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3018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lideFlow114"/>
                  <a:stretch>
                    <a:fillRect/>
                  </a:stretch>
                </a:blipFill>
                <a:ln>
                  <a:noFill/>
                </a:ln>
              </p:spPr>
              <p:txBody>
                <a:bodyPr/>
                <a:lstStyle/>
                <a:p>
                  <a:r>
                    <a:rPr lang="en-NL">
                      <a:noFill/>
                    </a:rPr>
                    <a:t> </a:t>
                  </a:r>
                </a:p>
              </p:txBody>
            </p:sp>
          </mc:Fallback>
        </mc:AlternateContent>
      </p:grpSp>
      <p:grpSp>
        <p:nvGrpSpPr>
          <p:cNvPr id="30186" name="!!Flow PIE 30034">
            <a:extLst>
              <a:ext uri="{FF2B5EF4-FFF2-40B4-BE49-F238E27FC236}">
                <a16:creationId xmlns:a16="http://schemas.microsoft.com/office/drawing/2014/main" id="{682EB208-F1CA-0DF6-2AB4-D125ACCD29FB}"/>
              </a:ext>
            </a:extLst>
          </p:cNvPr>
          <p:cNvGrpSpPr/>
          <p:nvPr/>
        </p:nvGrpSpPr>
        <p:grpSpPr>
          <a:xfrm>
            <a:off x="-4132009" y="2222014"/>
            <a:ext cx="874551" cy="874613"/>
            <a:chOff x="3086100" y="2514599"/>
            <a:chExt cx="939800" cy="939800"/>
          </a:xfrm>
        </p:grpSpPr>
        <p:sp>
          <p:nvSpPr>
            <p:cNvPr id="30187" name="Plant">
              <a:extLst>
                <a:ext uri="{FF2B5EF4-FFF2-40B4-BE49-F238E27FC236}">
                  <a16:creationId xmlns:a16="http://schemas.microsoft.com/office/drawing/2014/main" id="{6B147216-A0F4-826A-7D5A-6052CB4536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188" name="Plant label">
                  <a:extLst>
                    <a:ext uri="{FF2B5EF4-FFF2-40B4-BE49-F238E27FC236}">
                      <a16:creationId xmlns:a16="http://schemas.microsoft.com/office/drawing/2014/main" id="{AA4CA1FA-8D59-E705-920C-8E694852137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30188"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lideFlow115"/>
                  <a:stretch>
                    <a:fillRect/>
                  </a:stretch>
                </a:blipFill>
                <a:ln>
                  <a:noFill/>
                </a:ln>
              </p:spPr>
              <p:txBody>
                <a:bodyPr/>
                <a:lstStyle/>
                <a:p>
                  <a:r>
                    <a:rPr lang="en-NL">
                      <a:noFill/>
                    </a:rPr>
                    <a:t> </a:t>
                  </a:r>
                </a:p>
              </p:txBody>
            </p:sp>
          </mc:Fallback>
        </mc:AlternateContent>
      </p:grpSp>
      <p:sp>
        <p:nvSpPr>
          <p:cNvPr id="30189" name="!!Sliding center 45 32">
            <a:extLst>
              <a:ext uri="{FF2B5EF4-FFF2-40B4-BE49-F238E27FC236}">
                <a16:creationId xmlns:a16="http://schemas.microsoft.com/office/drawing/2014/main" id="{CA62F6D7-172B-0E0F-BED9-264185957CD0}"/>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0190" name="!!Sliding center 45 34">
                <a:extLst>
                  <a:ext uri="{FF2B5EF4-FFF2-40B4-BE49-F238E27FC236}">
                    <a16:creationId xmlns:a16="http://schemas.microsoft.com/office/drawing/2014/main" id="{7B5329C6-C010-A83E-B34A-5E38BF3A766C}"/>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Analyse </a:t>
                </a:r>
                <a14:m>
                  <m:oMath xmlns:m="http://schemas.openxmlformats.org/officeDocument/2006/math">
                    <m:r>
                      <m:rPr>
                        <m:sty m:val="p"/>
                      </m:rPr>
                      <a:rPr lang="el-GR" sz="1400" b="0" i="1" u="none" baseline="0" smtClean="0">
                        <a:latin typeface="Cambria Math" panose="02040503050406030204" pitchFamily="18" charset="0"/>
                        <a:ea typeface="Cambria Math" panose="02040503050406030204" pitchFamily="18" charset="0"/>
                        <a:cs typeface="Aptos"/>
                      </a:rPr>
                      <m:t>Δ</m:t>
                    </m:r>
                  </m:oMath>
                </a14:m>
                <a:endParaRPr sz="1400" dirty="0"/>
              </a:p>
            </p:txBody>
          </p:sp>
        </mc:Choice>
        <mc:Fallback xmlns="">
          <p:sp>
            <p:nvSpPr>
              <p:cNvPr id="30190" name="!!Sliding center 45 34">
                <a:extLst>
                  <a:ext uri="{FF2B5EF4-FFF2-40B4-BE49-F238E27FC236}">
                    <a16:creationId xmlns:a16="http://schemas.microsoft.com/office/drawing/2014/main" id="{7B5329C6-C010-A83E-B34A-5E38BF3A766C}"/>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16"/>
                <a:stretch>
                  <a:fillRect t="-11364" b="-29545"/>
                </a:stretch>
              </a:blipFill>
              <a:ln>
                <a:noFill/>
              </a:ln>
            </p:spPr>
            <p:txBody>
              <a:bodyPr/>
              <a:lstStyle/>
              <a:p>
                <a:r>
                  <a:rPr lang="en-NL">
                    <a:noFill/>
                  </a:rPr>
                  <a:t> </a:t>
                </a:r>
              </a:p>
            </p:txBody>
          </p:sp>
        </mc:Fallback>
      </mc:AlternateContent>
      <p:sp>
        <p:nvSpPr>
          <p:cNvPr id="30191" name="!!Sliding center 45 36">
            <a:extLst>
              <a:ext uri="{FF2B5EF4-FFF2-40B4-BE49-F238E27FC236}">
                <a16:creationId xmlns:a16="http://schemas.microsoft.com/office/drawing/2014/main" id="{248A13C0-1320-6291-E95D-9A1A43F38431}"/>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30192" name="!!Sliding center 45 38">
            <a:extLst>
              <a:ext uri="{FF2B5EF4-FFF2-40B4-BE49-F238E27FC236}">
                <a16:creationId xmlns:a16="http://schemas.microsoft.com/office/drawing/2014/main" id="{29E20567-588E-10E4-42F3-8BDFD0744079}"/>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30193" name="!!Sliding content 47 9">
            <a:extLst>
              <a:ext uri="{FF2B5EF4-FFF2-40B4-BE49-F238E27FC236}">
                <a16:creationId xmlns:a16="http://schemas.microsoft.com/office/drawing/2014/main" id="{6EED9644-F236-174E-09FF-61DEBA996088}"/>
              </a:ext>
            </a:extLst>
          </p:cNvPr>
          <p:cNvSpPr/>
          <p:nvPr/>
        </p:nvSpPr>
        <p:spPr>
          <a:xfrm>
            <a:off x="94488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Tree>
    <p:extLst>
      <p:ext uri="{BB962C8B-B14F-4D97-AF65-F5344CB8AC3E}">
        <p14:creationId xmlns:p14="http://schemas.microsoft.com/office/powerpoint/2010/main" val="366785954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BAD2FF-873E-7136-B8E0-20738BE2D962}"/>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4D5C06E-2B73-C787-17B2-1213D52C8028}"/>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Flow Synthesis 6">
            <a:extLst>
              <a:ext uri="{FF2B5EF4-FFF2-40B4-BE49-F238E27FC236}">
                <a16:creationId xmlns:a16="http://schemas.microsoft.com/office/drawing/2014/main" id="{8BB87A1A-3E4D-B238-CD14-E0F2D35EDD71}"/>
              </a:ext>
            </a:extLst>
          </p:cNvPr>
          <p:cNvSpPr/>
          <p:nvPr/>
        </p:nvSpPr>
        <p:spPr>
          <a:xfrm>
            <a:off x="0" y="0"/>
            <a:ext cx="3606800" cy="5143500"/>
          </a:xfrm>
          <a:prstGeom prst="rect">
            <a:avLst/>
          </a:prstGeom>
          <a:solidFill>
            <a:srgbClr val="C81919">
              <a:alpha val="50196"/>
            </a:srgbClr>
          </a:solidFill>
          <a:ln>
            <a:noFill/>
          </a:ln>
        </p:spPr>
        <p:txBody>
          <a:bodyPr/>
          <a:lstStyle/>
          <a:p>
            <a:endParaRPr lang="en-NL" dirty="0"/>
          </a:p>
        </p:txBody>
      </p:sp>
      <p:sp>
        <p:nvSpPr>
          <p:cNvPr id="11" name="!!Flow Synthesis 11">
            <a:extLst>
              <a:ext uri="{FF2B5EF4-FFF2-40B4-BE49-F238E27FC236}">
                <a16:creationId xmlns:a16="http://schemas.microsoft.com/office/drawing/2014/main" id="{7E5E2DB7-65AC-05AF-E417-A4B673A7D002}"/>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Robust Controller Synthesis</a:t>
            </a:r>
            <a:endParaRPr sz="2000" dirty="0"/>
          </a:p>
        </p:txBody>
      </p:sp>
      <p:sp>
        <p:nvSpPr>
          <p:cNvPr id="13" name="!!Flow Synthesis 13">
            <a:extLst>
              <a:ext uri="{FF2B5EF4-FFF2-40B4-BE49-F238E27FC236}">
                <a16:creationId xmlns:a16="http://schemas.microsoft.com/office/drawing/2014/main" id="{49D100C7-AF9D-D445-BE9C-D5F1DD7ACF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Equivalent Dissipation</a:t>
            </a:r>
            <a:endParaRPr sz="1800" dirty="0"/>
          </a:p>
        </p:txBody>
      </p:sp>
      <mc:AlternateContent xmlns:mc="http://schemas.openxmlformats.org/markup-compatibility/2006" xmlns:a14="http://schemas.microsoft.com/office/drawing/2010/main">
        <mc:Choice Requires="a14">
          <p:sp>
            <p:nvSpPr>
              <p:cNvPr id="15" name="!!Flow Synthesis 15">
                <a:extLst>
                  <a:ext uri="{FF2B5EF4-FFF2-40B4-BE49-F238E27FC236}">
                    <a16:creationId xmlns:a16="http://schemas.microsoft.com/office/drawing/2014/main" id="{E6FE8EEE-8534-9FD1-23A6-870D8E3281B2}"/>
                  </a:ext>
                </a:extLst>
              </p:cNvPr>
              <p:cNvSpPr/>
              <p:nvPr/>
            </p:nvSpPr>
            <p:spPr>
              <a:xfrm>
                <a:off x="258998"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𝑤</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m:t>
                      </m:r>
                      <m:nary>
                        <m:naryPr>
                          <m:limLoc m:val="subSup"/>
                          <m:ctrlPr>
                            <a:rPr lang="en-US" sz="1600" b="0" i="1" u="none" baseline="0" dirty="0" smtClean="0">
                              <a:solidFill>
                                <a:srgbClr val="633434"/>
                              </a:solidFill>
                              <a:latin typeface="Cambria Math" panose="02040503050406030204" pitchFamily="18" charset="0"/>
                            </a:rPr>
                          </m:ctrlPr>
                        </m:naryPr>
                        <m:sub>
                          <m:r>
                            <a:rPr lang="en-US" sz="1600" b="0" i="1" u="none" baseline="0" dirty="0" smtClean="0">
                              <a:solidFill>
                                <a:srgbClr val="633434"/>
                              </a:solidFill>
                              <a:latin typeface="Cambria Math" panose="02040503050406030204" pitchFamily="18" charset="0"/>
                            </a:rPr>
                            <m:t>0</m:t>
                          </m:r>
                        </m:sub>
                        <m:sup>
                          <m:r>
                            <a:rPr lang="en-US" sz="1600" b="0" i="1"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bar>
                                    <m:barPr>
                                      <m:pos m:val="bot"/>
                                      <m:ctrlPr>
                                        <a:rPr lang="en-US" sz="1600" b="0" i="1" u="none" baseline="0" dirty="0" smtClean="0">
                                          <a:solidFill>
                                            <a:srgbClr val="633434"/>
                                          </a:solidFill>
                                          <a:latin typeface="Cambria Math" panose="02040503050406030204" pitchFamily="18" charset="0"/>
                                        </a:rPr>
                                      </m:ctrlPr>
                                    </m:barPr>
                                    <m:e>
                                      <m:acc>
                                        <m:accPr>
                                          <m:chr m:val="˜"/>
                                          <m:ctrlPr>
                                            <a:rPr lang="en-US" sz="1600" b="0" i="1" u="none" baseline="0" dirty="0" smtClean="0">
                                              <a:solidFill>
                                                <a:srgbClr val="633434"/>
                                              </a:solidFill>
                                              <a:latin typeface="Cambria Math" panose="02040503050406030204" pitchFamily="18" charset="0"/>
                                            </a:rPr>
                                          </m:ctrlPr>
                                        </m:accPr>
                                        <m:e>
                                          <m:r>
                                            <a:rPr lang="en-US" sz="1600" b="0" i="1" u="none" baseline="0" dirty="0" smtClean="0">
                                              <a:solidFill>
                                                <a:srgbClr val="633434"/>
                                              </a:solidFill>
                                              <a:latin typeface="Cambria Math" panose="02040503050406030204" pitchFamily="18" charset="0"/>
                                            </a:rPr>
                                            <m:t>𝑧</m:t>
                                          </m:r>
                                        </m:e>
                                      </m:acc>
                                    </m:e>
                                  </m:bar>
                                  <m:d>
                                    <m:dPr>
                                      <m:ctrlPr>
                                        <a:rPr lang="en-US" sz="1600" b="0" i="1" u="none" baseline="0" dirty="0" smtClean="0">
                                          <a:solidFill>
                                            <a:srgbClr val="633434"/>
                                          </a:solidFill>
                                          <a:latin typeface="Cambria Math" panose="02040503050406030204" pitchFamily="18" charset="0"/>
                                        </a:rPr>
                                      </m:ctrlPr>
                                    </m:dPr>
                                    <m:e>
                                      <m:r>
                                        <a:rPr lang="en-US" sz="1600" b="0" i="1" u="none" baseline="0" dirty="0" smtClean="0">
                                          <a:solidFill>
                                            <a:srgbClr val="633434"/>
                                          </a:solidFill>
                                          <a:latin typeface="Cambria Math" panose="02040503050406030204" pitchFamily="18" charset="0"/>
                                        </a:rPr>
                                        <m:t>𝑡</m:t>
                                      </m:r>
                                    </m:e>
                                  </m:d>
                                </m:e>
                              </m:d>
                            </m:e>
                            <m:sup>
                              <m:r>
                                <a:rPr lang="en-US" sz="1600" b="0" i="1" u="none" baseline="0" dirty="0" smtClean="0">
                                  <a:solidFill>
                                    <a:srgbClr val="633434"/>
                                  </a:solidFill>
                                  <a:latin typeface="Cambria Math" panose="02040503050406030204" pitchFamily="18" charset="0"/>
                                </a:rPr>
                                <m:t>2</m:t>
                              </m:r>
                            </m:sup>
                          </m:sSup>
                        </m:e>
                      </m:nary>
                      <m:r>
                        <a:rPr lang="en-US" sz="1600" b="0" i="1" u="none" baseline="0" dirty="0" smtClean="0">
                          <a:solidFill>
                            <a:srgbClr val="633434"/>
                          </a:solidFill>
                          <a:latin typeface="Cambria Math" panose="02040503050406030204" pitchFamily="18" charset="0"/>
                        </a:rPr>
                        <m:t>𝑑𝑡</m:t>
                      </m:r>
                      <m:r>
                        <a:rPr lang="en-US" sz="1600" b="0" i="1" u="none" baseline="0" dirty="0" smtClean="0">
                          <a:solidFill>
                            <a:srgbClr val="633434"/>
                          </a:solidFill>
                          <a:latin typeface="Cambria Math" panose="02040503050406030204" pitchFamily="18" charset="0"/>
                        </a:rPr>
                        <m:t> ∀ </m:t>
                      </m:r>
                      <m:r>
                        <a:rPr lang="en-US" sz="1600" b="0" i="1" u="none" baseline="0" dirty="0" smtClean="0">
                          <a:solidFill>
                            <a:srgbClr val="633434"/>
                          </a:solidFill>
                          <a:latin typeface="Cambria Math" panose="02040503050406030204" pitchFamily="18" charset="0"/>
                        </a:rPr>
                        <m:t>𝑇</m:t>
                      </m:r>
                      <m:r>
                        <a:rPr lang="en-US" sz="1600" b="0" i="1"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5" name="!!Flow Synthesis 15">
                <a:extLst>
                  <a:ext uri="{FF2B5EF4-FFF2-40B4-BE49-F238E27FC236}">
                    <a16:creationId xmlns:a16="http://schemas.microsoft.com/office/drawing/2014/main" id="{E6FE8EEE-8534-9FD1-23A6-870D8E3281B2}"/>
                  </a:ext>
                </a:extLst>
              </p:cNvPr>
              <p:cNvSpPr>
                <a:spLocks noRot="1" noChangeAspect="1" noMove="1" noResize="1" noEditPoints="1" noAdjustHandles="1" noChangeArrowheads="1" noChangeShapeType="1" noTextEdit="1"/>
              </p:cNvSpPr>
              <p:nvPr/>
            </p:nvSpPr>
            <p:spPr>
              <a:xfrm>
                <a:off x="258998" y="4572000"/>
                <a:ext cx="3175000" cy="304800"/>
              </a:xfrm>
              <a:prstGeom prst="rect">
                <a:avLst/>
              </a:prstGeom>
              <a:blipFill>
                <a:blip r:embed="rId3"/>
                <a:stretch>
                  <a:fillRect l="-2879" t="-30000" r="-1536" b="-42000"/>
                </a:stretch>
              </a:blipFill>
              <a:ln>
                <a:noFill/>
              </a:ln>
            </p:spPr>
            <p:txBody>
              <a:bodyPr/>
              <a:lstStyle/>
              <a:p>
                <a:r>
                  <a:rPr lang="en-NL">
                    <a:noFill/>
                  </a:rPr>
                  <a:t> </a:t>
                </a:r>
              </a:p>
            </p:txBody>
          </p:sp>
        </mc:Fallback>
      </mc:AlternateContent>
      <p:sp>
        <p:nvSpPr>
          <p:cNvPr id="17" name="Slide Number Placeholder 5">
            <a:extLst>
              <a:ext uri="{FF2B5EF4-FFF2-40B4-BE49-F238E27FC236}">
                <a16:creationId xmlns:a16="http://schemas.microsoft.com/office/drawing/2014/main" id="{40DA0777-A36E-0A93-D988-8AA971948343}"/>
              </a:ext>
            </a:extLst>
          </p:cNvPr>
          <p:cNvSpPr txBox="1">
            <a:spLocks/>
          </p:cNvSpPr>
          <p:nvPr/>
        </p:nvSpPr>
        <p:spPr>
          <a:xfrm>
            <a:off x="7874000" y="4876800"/>
            <a:ext cx="355600" cy="152400"/>
          </a:xfrm>
          <a:prstGeom prst="rect">
            <a:avLst/>
          </a:prstGeom>
          <a:noFill/>
          <a:ln>
            <a:noFill/>
          </a:ln>
        </p:spPr>
        <p:txBody>
          <a:bodyPr wrap="square" lIns="0" tIns="0" rIns="0" bIns="0" anchor="t">
            <a:noAutofit/>
          </a:bodyPr>
          <a:lstStyle>
            <a:defPPr>
              <a:defRPr lang="nl-NL"/>
            </a:defPPr>
            <a:lvl1pPr marL="0" indent="0" algn="r"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r"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r"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r"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r"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r"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r"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r"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r"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fld id="{02D62CF7-B451-42A0-BFB3-67C7E3FB3001}" type="slidenum">
              <a:rPr lang="en-GB" sz="800" smtClean="0"/>
              <a:pPr>
                <a:defRPr sz="800" b="0">
                  <a:solidFill>
                    <a:srgbClr val="747B82"/>
                  </a:solidFill>
                  <a:latin typeface="Aptos"/>
                  <a:ea typeface="Aptos"/>
                  <a:cs typeface="Aptos"/>
                </a:defRPr>
              </a:pPr>
              <a:t>47</a:t>
            </a:fld>
            <a:endParaRPr lang="en-GB" sz="800"/>
          </a:p>
        </p:txBody>
      </p:sp>
      <p:pic>
        <p:nvPicPr>
          <p:cNvPr id="19" name="!!Flow Synthesis 19">
            <a:extLst>
              <a:ext uri="{FF2B5EF4-FFF2-40B4-BE49-F238E27FC236}">
                <a16:creationId xmlns:a16="http://schemas.microsoft.com/office/drawing/2014/main" id="{87DFCC8D-4F45-22A6-39D4-595706947B41}"/>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386698" y="1777808"/>
            <a:ext cx="2919599" cy="1784478"/>
          </a:xfrm>
          <a:prstGeom prst="rect">
            <a:avLst/>
          </a:prstGeom>
        </p:spPr>
      </p:pic>
      <p:sp>
        <p:nvSpPr>
          <p:cNvPr id="4" name="Title 1">
            <a:extLst>
              <a:ext uri="{FF2B5EF4-FFF2-40B4-BE49-F238E27FC236}">
                <a16:creationId xmlns:a16="http://schemas.microsoft.com/office/drawing/2014/main" id="{6A41745E-F326-C4D8-39D1-46E67D2B1CAF}"/>
              </a:ext>
            </a:extLst>
          </p:cNvPr>
          <p:cNvSpPr>
            <a:spLocks noGrp="1"/>
          </p:cNvSpPr>
          <p:nvPr>
            <p:ph type="title"/>
          </p:nvPr>
        </p:nvSpPr>
        <p:spPr>
          <a:xfrm>
            <a:off x="457200" y="381000"/>
            <a:ext cx="8229600" cy="508000"/>
          </a:xfrm>
        </p:spPr>
        <p:txBody>
          <a:bodyPr/>
          <a:lstStyle/>
          <a:p>
            <a:endParaRPr lang="en-NL" dirty="0"/>
          </a:p>
        </p:txBody>
      </p:sp>
      <p:sp>
        <p:nvSpPr>
          <p:cNvPr id="9" name="!!Sliding content 47 9">
            <a:extLst>
              <a:ext uri="{FF2B5EF4-FFF2-40B4-BE49-F238E27FC236}">
                <a16:creationId xmlns:a16="http://schemas.microsoft.com/office/drawing/2014/main" id="{6EED9644-F236-174E-09FF-61DEBA996088}"/>
              </a:ext>
            </a:extLst>
          </p:cNvPr>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dirty="0">
                <a:solidFill>
                  <a:srgbClr val="252529"/>
                </a:solidFill>
                <a:latin typeface="Aptos"/>
                <a:ea typeface="Aptos"/>
                <a:cs typeface="Aptos"/>
              </a:rPr>
              <a:t>Contributions</a:t>
            </a:r>
            <a:endParaRPr sz="2200" dirty="0"/>
          </a:p>
        </p:txBody>
      </p:sp>
      <p:sp>
        <p:nvSpPr>
          <p:cNvPr id="119" name="!!Flow Analysis 2">
            <a:extLst>
              <a:ext uri="{FF2B5EF4-FFF2-40B4-BE49-F238E27FC236}">
                <a16:creationId xmlns:a16="http://schemas.microsoft.com/office/drawing/2014/main" id="{3CFD6E59-32C2-BF7E-297A-18D43B0C60AF}"/>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120" name="!!Flow Analysis 3">
            <a:extLst>
              <a:ext uri="{FF2B5EF4-FFF2-40B4-BE49-F238E27FC236}">
                <a16:creationId xmlns:a16="http://schemas.microsoft.com/office/drawing/2014/main" id="{3159E6B8-DE47-EAB7-2A70-BB42DA911B44}"/>
              </a:ext>
            </a:extLst>
          </p:cNvPr>
          <p:cNvSpPr/>
          <p:nvPr/>
        </p:nvSpPr>
        <p:spPr>
          <a:xfrm>
            <a:off x="-5367102" y="360010"/>
            <a:ext cx="3352800" cy="381000"/>
          </a:xfrm>
          <a:prstGeom prst="rect">
            <a:avLst/>
          </a:prstGeom>
          <a:noFill/>
          <a:ln>
            <a:noFill/>
          </a:ln>
        </p:spPr>
        <p:txBody>
          <a:bodyPr wrap="none" lIns="0" tIns="0" rIns="0" bIns="0" anchor="ctr">
            <a:noAutofit/>
          </a:bodyPr>
          <a:lstStyle/>
          <a:p>
            <a:pPr algn="ctr">
              <a:buNone/>
            </a:pPr>
            <a:r>
              <a:rPr lang="en-GB" sz="2000" b="1" dirty="0">
                <a:solidFill>
                  <a:srgbClr val="252529"/>
                </a:solidFill>
                <a:latin typeface="Aptos"/>
              </a:rPr>
              <a:t>Robust Analysis</a:t>
            </a:r>
            <a:endParaRPr sz="2000" dirty="0"/>
          </a:p>
        </p:txBody>
      </p:sp>
      <mc:AlternateContent xmlns:mc="http://schemas.openxmlformats.org/markup-compatibility/2006" xmlns:a14="http://schemas.microsoft.com/office/drawing/2010/main">
        <mc:Choice Requires="a14">
          <p:sp>
            <p:nvSpPr>
              <p:cNvPr id="121" name="!!Flow Analysis 7">
                <a:extLst>
                  <a:ext uri="{FF2B5EF4-FFF2-40B4-BE49-F238E27FC236}">
                    <a16:creationId xmlns:a16="http://schemas.microsoft.com/office/drawing/2014/main" id="{957CD929-8153-77A9-0E0D-71E4B17C0A6C}"/>
                  </a:ext>
                </a:extLst>
              </p:cNvPr>
              <p:cNvSpPr/>
              <p:nvPr/>
            </p:nvSpPr>
            <p:spPr>
              <a:xfrm>
                <a:off x="-53848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Linearization of </a:t>
                </a:r>
                <a14:m>
                  <m:oMath xmlns:m="http://schemas.openxmlformats.org/officeDocument/2006/math">
                    <m:r>
                      <a:rPr lang="en-GB" sz="1800" b="1" i="1" u="none" baseline="0" smtClean="0">
                        <a:solidFill>
                          <a:srgbClr val="252529"/>
                        </a:solidFill>
                        <a:latin typeface="Cambria Math" panose="02040503050406030204" pitchFamily="18" charset="0"/>
                        <a:ea typeface="Cambria Math" panose="02040503050406030204" pitchFamily="18" charset="0"/>
                        <a:cs typeface="Aptos"/>
                      </a:rPr>
                      <m:t>𝚫</m:t>
                    </m:r>
                  </m:oMath>
                </a14:m>
                <a:endParaRPr sz="1800" dirty="0"/>
              </a:p>
            </p:txBody>
          </p:sp>
        </mc:Choice>
        <mc:Fallback xmlns="">
          <p:sp>
            <p:nvSpPr>
              <p:cNvPr id="121" name="!!Flow Analysis 7">
                <a:extLst>
                  <a:ext uri="{FF2B5EF4-FFF2-40B4-BE49-F238E27FC236}">
                    <a16:creationId xmlns:a16="http://schemas.microsoft.com/office/drawing/2014/main" id="{957CD929-8153-77A9-0E0D-71E4B17C0A6C}"/>
                  </a:ext>
                </a:extLst>
              </p:cNvPr>
              <p:cNvSpPr>
                <a:spLocks noRot="1" noChangeAspect="1" noMove="1" noResize="1" noEditPoints="1" noAdjustHandles="1" noChangeArrowheads="1" noChangeShapeType="1" noTextEdit="1"/>
              </p:cNvSpPr>
              <p:nvPr/>
            </p:nvSpPr>
            <p:spPr>
              <a:xfrm>
                <a:off x="-5384800" y="4108450"/>
                <a:ext cx="3302000" cy="342900"/>
              </a:xfrm>
              <a:prstGeom prst="rect">
                <a:avLst/>
              </a:prstGeom>
              <a:blipFill>
                <a:blip r:embed="rIdSlideFlow104"/>
                <a:stretch>
                  <a:fillRect t="-10714" b="-3392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Flow Analysis 8">
                <a:extLst>
                  <a:ext uri="{FF2B5EF4-FFF2-40B4-BE49-F238E27FC236}">
                    <a16:creationId xmlns:a16="http://schemas.microsoft.com/office/drawing/2014/main" id="{DA552458-7267-5808-3374-1E457F5B1C66}"/>
                  </a:ext>
                </a:extLst>
              </p:cNvPr>
              <p:cNvSpPr/>
              <p:nvPr/>
            </p:nvSpPr>
            <p:spPr>
              <a:xfrm>
                <a:off x="-5278202" y="4572000"/>
                <a:ext cx="3175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𝑤</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m:t>
                      </m:r>
                      <m:nary>
                        <m:naryPr>
                          <m:limLoc m:val="subSup"/>
                          <m:ctrlPr>
                            <a:rPr lang="en-US" sz="1600" b="0" i="0" u="none" baseline="0" dirty="0" smtClean="0">
                              <a:solidFill>
                                <a:srgbClr val="633434"/>
                              </a:solidFill>
                              <a:latin typeface="Cambria Math" panose="02040503050406030204" pitchFamily="18" charset="0"/>
                            </a:rPr>
                          </m:ctrlPr>
                        </m:naryPr>
                        <m:sub>
                          <m:r>
                            <a:rPr lang="en-US" sz="1600" b="0" i="0" u="none" baseline="0" dirty="0" smtClean="0">
                              <a:solidFill>
                                <a:srgbClr val="633434"/>
                              </a:solidFill>
                              <a:latin typeface="Cambria Math" panose="02040503050406030204" pitchFamily="18" charset="0"/>
                            </a:rPr>
                            <m:t>0</m:t>
                          </m:r>
                        </m:sub>
                        <m:sup>
                          <m:r>
                            <a:rPr lang="en-US" sz="1600" b="0" i="0" u="none" baseline="0" dirty="0" smtClean="0">
                              <a:solidFill>
                                <a:srgbClr val="633434"/>
                              </a:solidFill>
                              <a:latin typeface="Cambria Math" panose="02040503050406030204" pitchFamily="18" charset="0"/>
                            </a:rPr>
                            <m:t>𝑇</m:t>
                          </m:r>
                        </m:sup>
                        <m:e>
                          <m:sSup>
                            <m:sSupPr>
                              <m:ctrlPr>
                                <a:rPr lang="en-US" sz="1600" b="0" i="1" u="none" baseline="0" dirty="0" smtClean="0">
                                  <a:solidFill>
                                    <a:srgbClr val="633434"/>
                                  </a:solidFill>
                                  <a:latin typeface="Cambria Math" panose="02040503050406030204" pitchFamily="18" charset="0"/>
                                </a:rPr>
                              </m:ctrlPr>
                            </m:sSupPr>
                            <m:e>
                              <m:d>
                                <m:dPr>
                                  <m:begChr m:val="‖"/>
                                  <m:endChr m:val="‖"/>
                                  <m:ctrlPr>
                                    <a:rPr lang="en-US" sz="1600" b="0" i="1" u="none" baseline="0" dirty="0" smtClean="0">
                                      <a:solidFill>
                                        <a:srgbClr val="633434"/>
                                      </a:solidFill>
                                      <a:latin typeface="Cambria Math" panose="02040503050406030204" pitchFamily="18" charset="0"/>
                                    </a:rPr>
                                  </m:ctrlPr>
                                </m:dPr>
                                <m:e>
                                  <m:acc>
                                    <m:accPr>
                                      <m:chr m:val="˜"/>
                                      <m:ctrlPr>
                                        <a:rPr lang="en-US" sz="1600" b="0" i="0" u="none" baseline="0" dirty="0" smtClean="0">
                                          <a:solidFill>
                                            <a:srgbClr val="633434"/>
                                          </a:solidFill>
                                          <a:latin typeface="Cambria Math" panose="02040503050406030204" pitchFamily="18" charset="0"/>
                                        </a:rPr>
                                      </m:ctrlPr>
                                    </m:accPr>
                                    <m:e>
                                      <m:r>
                                        <a:rPr lang="en-US" sz="1600" b="0" i="0" u="none" baseline="0" dirty="0" smtClean="0">
                                          <a:solidFill>
                                            <a:srgbClr val="633434"/>
                                          </a:solidFill>
                                          <a:latin typeface="Cambria Math" panose="02040503050406030204" pitchFamily="18" charset="0"/>
                                        </a:rPr>
                                        <m:t>𝑧</m:t>
                                      </m:r>
                                    </m:e>
                                  </m:acc>
                                  <m:d>
                                    <m:dPr>
                                      <m:ctrlPr>
                                        <a:rPr lang="en-US" sz="1600" b="0" i="0" u="none" baseline="0" dirty="0" smtClean="0">
                                          <a:solidFill>
                                            <a:srgbClr val="633434"/>
                                          </a:solidFill>
                                          <a:latin typeface="Cambria Math" panose="02040503050406030204" pitchFamily="18" charset="0"/>
                                        </a:rPr>
                                      </m:ctrlPr>
                                    </m:dPr>
                                    <m:e>
                                      <m:r>
                                        <a:rPr lang="en-US" sz="1600" b="0" i="0" u="none" baseline="0" dirty="0" smtClean="0">
                                          <a:solidFill>
                                            <a:srgbClr val="633434"/>
                                          </a:solidFill>
                                          <a:latin typeface="Cambria Math" panose="02040503050406030204" pitchFamily="18" charset="0"/>
                                        </a:rPr>
                                        <m:t>𝑡</m:t>
                                      </m:r>
                                    </m:e>
                                  </m:d>
                                </m:e>
                              </m:d>
                            </m:e>
                            <m:sup>
                              <m:r>
                                <a:rPr lang="en-US" sz="1600" b="0" i="0" u="none" baseline="0" dirty="0" smtClean="0">
                                  <a:solidFill>
                                    <a:srgbClr val="633434"/>
                                  </a:solidFill>
                                  <a:latin typeface="Cambria Math" panose="02040503050406030204" pitchFamily="18" charset="0"/>
                                </a:rPr>
                                <m:t>2</m:t>
                              </m:r>
                            </m:sup>
                          </m:sSup>
                        </m:e>
                      </m:nary>
                      <m:r>
                        <a:rPr lang="en-US" sz="1600" b="0" i="0" u="none" baseline="0" dirty="0" smtClean="0">
                          <a:solidFill>
                            <a:srgbClr val="633434"/>
                          </a:solidFill>
                          <a:latin typeface="Cambria Math" panose="02040503050406030204" pitchFamily="18" charset="0"/>
                        </a:rPr>
                        <m:t>𝑑𝑡</m:t>
                      </m:r>
                      <m:r>
                        <a:rPr lang="en-US" sz="1600" b="0" i="0" u="none" baseline="0" dirty="0" smtClean="0">
                          <a:solidFill>
                            <a:srgbClr val="633434"/>
                          </a:solidFill>
                          <a:latin typeface="Cambria Math" panose="02040503050406030204" pitchFamily="18" charset="0"/>
                        </a:rPr>
                        <m:t> ∀ </m:t>
                      </m:r>
                      <m:r>
                        <a:rPr lang="en-US" sz="1600" b="0" i="0" u="none" baseline="0" dirty="0" smtClean="0">
                          <a:solidFill>
                            <a:srgbClr val="633434"/>
                          </a:solidFill>
                          <a:latin typeface="Cambria Math" panose="02040503050406030204" pitchFamily="18" charset="0"/>
                        </a:rPr>
                        <m:t>𝑇</m:t>
                      </m:r>
                      <m:r>
                        <a:rPr lang="en-US" sz="1600" b="0" i="0" u="none" baseline="0" dirty="0" smtClean="0">
                          <a:solidFill>
                            <a:srgbClr val="633434"/>
                          </a:solidFill>
                          <a:latin typeface="Cambria Math" panose="02040503050406030204" pitchFamily="18" charset="0"/>
                        </a:rPr>
                        <m:t>&gt;0</m:t>
                      </m:r>
                    </m:oMath>
                  </m:oMathPara>
                </a14:m>
                <a:endParaRPr sz="1600" dirty="0">
                  <a:solidFill>
                    <a:srgbClr val="633434"/>
                  </a:solidFill>
                  <a:latin typeface="Aptos"/>
                  <a:ea typeface="Aptos"/>
                  <a:cs typeface="Aptos"/>
                </a:endParaRPr>
              </a:p>
            </p:txBody>
          </p:sp>
        </mc:Choice>
        <mc:Fallback xmlns="">
          <p:sp>
            <p:nvSpPr>
              <p:cNvPr id="122" name="!!Flow Analysis 8">
                <a:extLst>
                  <a:ext uri="{FF2B5EF4-FFF2-40B4-BE49-F238E27FC236}">
                    <a16:creationId xmlns:a16="http://schemas.microsoft.com/office/drawing/2014/main" id="{DA552458-7267-5808-3374-1E457F5B1C66}"/>
                  </a:ext>
                </a:extLst>
              </p:cNvPr>
              <p:cNvSpPr>
                <a:spLocks noRot="1" noChangeAspect="1" noMove="1" noResize="1" noEditPoints="1" noAdjustHandles="1" noChangeArrowheads="1" noChangeShapeType="1" noTextEdit="1"/>
              </p:cNvSpPr>
              <p:nvPr/>
            </p:nvSpPr>
            <p:spPr>
              <a:xfrm>
                <a:off x="-5278202" y="4572000"/>
                <a:ext cx="3175000" cy="304800"/>
              </a:xfrm>
              <a:prstGeom prst="rect">
                <a:avLst/>
              </a:prstGeom>
              <a:blipFill>
                <a:blip r:embed="rIdSlideFlow105"/>
                <a:stretch>
                  <a:fillRect l="-2879" t="-30000" r="-1536" b="-42000"/>
                </a:stretch>
              </a:blipFill>
              <a:ln>
                <a:noFill/>
              </a:ln>
            </p:spPr>
            <p:txBody>
              <a:bodyPr/>
              <a:lstStyle/>
              <a:p>
                <a:r>
                  <a:rPr lang="en-NL">
                    <a:noFill/>
                  </a:rPr>
                  <a:t> </a:t>
                </a:r>
              </a:p>
            </p:txBody>
          </p:sp>
        </mc:Fallback>
      </mc:AlternateContent>
      <p:pic>
        <p:nvPicPr>
          <p:cNvPr id="123" name="!!Flow Analysis 30066">
            <a:extLst>
              <a:ext uri="{FF2B5EF4-FFF2-40B4-BE49-F238E27FC236}">
                <a16:creationId xmlns:a16="http://schemas.microsoft.com/office/drawing/2014/main" id="{A99DFEDE-AB1C-A929-54EA-DEC4D6751E6C}"/>
              </a:ext>
            </a:extLst>
          </p:cNvPr>
          <p:cNvPicPr>
            <a:picLocks noChangeAspect="1"/>
          </p:cNvPicPr>
          <p:nvPr/>
        </p:nvPicPr>
        <p:blipFill>
          <a:blip r:embed="rIdSlideFlow106" cstate="print">
            <a:extLst>
              <a:ext uri="{28A0092B-C50C-407E-A947-70E740481C1C}">
                <a14:useLocalDpi xmlns:a14="http://schemas.microsoft.com/office/drawing/2010/main" val="0"/>
              </a:ext>
            </a:extLst>
          </a:blip>
          <a:stretch>
            <a:fillRect/>
          </a:stretch>
        </p:blipFill>
        <p:spPr>
          <a:xfrm>
            <a:off x="-5150502" y="1777808"/>
            <a:ext cx="2919600" cy="1784478"/>
          </a:xfrm>
          <a:prstGeom prst="rect">
            <a:avLst/>
          </a:prstGeom>
        </p:spPr>
      </p:pic>
      <p:sp>
        <p:nvSpPr>
          <p:cNvPr id="124" name="!!Sliding center 46 32">
            <a:extLst>
              <a:ext uri="{FF2B5EF4-FFF2-40B4-BE49-F238E27FC236}">
                <a16:creationId xmlns:a16="http://schemas.microsoft.com/office/drawing/2014/main" id="{85D8F719-2267-0C64-D7C9-DC27544C20FB}"/>
              </a:ext>
            </a:extLst>
          </p:cNvPr>
          <p:cNvSpPr/>
          <p:nvPr/>
        </p:nvSpPr>
        <p:spPr>
          <a:xfrm>
            <a:off x="-16764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25" name="!!Sliding center 46 34">
                <a:extLst>
                  <a:ext uri="{FF2B5EF4-FFF2-40B4-BE49-F238E27FC236}">
                    <a16:creationId xmlns:a16="http://schemas.microsoft.com/office/drawing/2014/main" id="{7ABB1BDC-93CF-6E3C-F305-7490A15DBDA7}"/>
                  </a:ext>
                </a:extLst>
              </p:cNvPr>
              <p:cNvSpPr/>
              <p:nvPr/>
            </p:nvSpPr>
            <p:spPr>
              <a:xfrm>
                <a:off x="-1854200" y="1949450"/>
                <a:ext cx="1778000" cy="266700"/>
              </a:xfrm>
              <a:prstGeom prst="rect">
                <a:avLst/>
              </a:prstGeom>
              <a:noFill/>
              <a:ln>
                <a:noFill/>
              </a:ln>
            </p:spPr>
            <p:txBody>
              <a:bodyPr wrap="none" lIns="0" tIns="0" rIns="0" bIns="0" anchor="ctr">
                <a:noAutofit/>
              </a:bodyPr>
              <a:lstStyle/>
              <a:p>
                <a:pPr algn="ctr">
                  <a:buNone/>
                </a:pPr>
                <a14:m>
                  <m:oMathPara xmlns:m="http://schemas.openxmlformats.org/officeDocument/2006/math">
                    <m:oMath>
                      <m:r>
                        <a:rPr lang="en-US" sz="1400" b="0" i="0" u="none" baseline="0" dirty="0" smtClean="0">
                          <a:latin typeface="Cambria Math" panose="02040503050406030204" pitchFamily="18" charset="0"/>
                        </a:rPr>
                        <m:t>𝐃</m:t>
                      </m:r>
                      <m:d>
                        <m:dPr>
                          <m:ctrlPr>
                            <a:rPr lang="en-US" sz="1400" b="0" i="0" u="none" baseline="0" dirty="0" smtClean="0">
                              <a:latin typeface="Cambria Math" panose="02040503050406030204" pitchFamily="18" charset="0"/>
                            </a:rPr>
                          </m:ctrlPr>
                        </m:dPr>
                        <m:e>
                          <m:r>
                            <m:rPr>
                              <m:sty m:val="p"/>
                            </m:rPr>
                            <a:rPr lang="en-US" sz="1400" b="0" i="0" u="none" baseline="0" dirty="0" smtClean="0">
                              <a:latin typeface="Cambria Math" panose="02040503050406030204" pitchFamily="18" charset="0"/>
                            </a:rPr>
                            <m:t>Θ</m:t>
                          </m:r>
                        </m:e>
                      </m:d>
                      <m:r>
                        <a:rPr lang="en-US" sz="1400" b="0" i="0" u="none" baseline="0" dirty="0" smtClean="0">
                          <a:latin typeface="Cambria Math" panose="02040503050406030204" pitchFamily="18" charset="0"/>
                        </a:rPr>
                        <m:t>=</m:t>
                      </m:r>
                      <m:bar>
                        <m:barPr>
                          <m:pos m:val="bot"/>
                          <m:ctrlPr>
                            <a:rPr lang="en-US" sz="1400" b="0" i="0" u="none" baseline="0" dirty="0" smtClean="0">
                              <a:latin typeface="Cambria Math" panose="02040503050406030204" pitchFamily="18" charset="0"/>
                            </a:rPr>
                          </m:ctrlPr>
                        </m:barPr>
                        <m:e>
                          <m:r>
                            <m:rPr>
                              <m:sty m:val="p"/>
                            </m:rPr>
                            <a:rPr lang="en-US" sz="1400" b="0" i="0" u="none" baseline="0" dirty="0" smtClean="0">
                              <a:latin typeface="Cambria Math" panose="02040503050406030204" pitchFamily="18" charset="0"/>
                            </a:rPr>
                            <m:t>Θ</m:t>
                          </m:r>
                        </m:e>
                      </m:bar>
                    </m:oMath>
                  </m:oMathPara>
                </a14:m>
                <a:endParaRPr sz="1400" dirty="0"/>
              </a:p>
            </p:txBody>
          </p:sp>
        </mc:Choice>
        <mc:Fallback xmlns="">
          <p:sp>
            <p:nvSpPr>
              <p:cNvPr id="125" name="!!Sliding center 46 34">
                <a:extLst>
                  <a:ext uri="{FF2B5EF4-FFF2-40B4-BE49-F238E27FC236}">
                    <a16:creationId xmlns:a16="http://schemas.microsoft.com/office/drawing/2014/main" id="{7ABB1BDC-93CF-6E3C-F305-7490A15DBDA7}"/>
                  </a:ext>
                </a:extLst>
              </p:cNvPr>
              <p:cNvSpPr>
                <a:spLocks noRot="1" noChangeAspect="1" noMove="1" noResize="1" noEditPoints="1" noAdjustHandles="1" noChangeArrowheads="1" noChangeShapeType="1" noTextEdit="1"/>
              </p:cNvSpPr>
              <p:nvPr/>
            </p:nvSpPr>
            <p:spPr>
              <a:xfrm>
                <a:off x="-1854200" y="1949450"/>
                <a:ext cx="1778000" cy="266700"/>
              </a:xfrm>
              <a:prstGeom prst="rect">
                <a:avLst/>
              </a:prstGeom>
              <a:blipFill>
                <a:blip r:embed="rIdSlideFlow107"/>
                <a:stretch>
                  <a:fillRect/>
                </a:stretch>
              </a:blipFill>
              <a:ln>
                <a:noFill/>
              </a:ln>
            </p:spPr>
            <p:txBody>
              <a:bodyPr/>
              <a:lstStyle/>
              <a:p>
                <a:r>
                  <a:rPr lang="en-NL">
                    <a:noFill/>
                  </a:rPr>
                  <a:t> </a:t>
                </a:r>
              </a:p>
            </p:txBody>
          </p:sp>
        </mc:Fallback>
      </mc:AlternateContent>
      <p:sp>
        <p:nvSpPr>
          <p:cNvPr id="126" name="!!Sliding center 46 36">
            <a:extLst>
              <a:ext uri="{FF2B5EF4-FFF2-40B4-BE49-F238E27FC236}">
                <a16:creationId xmlns:a16="http://schemas.microsoft.com/office/drawing/2014/main" id="{059D78BC-7712-3472-90C5-2A73836E0F9F}"/>
              </a:ext>
            </a:extLst>
          </p:cNvPr>
          <p:cNvSpPr/>
          <p:nvPr/>
        </p:nvSpPr>
        <p:spPr>
          <a:xfrm>
            <a:off x="-16764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127" name="!!Sliding center 46 38">
            <a:extLst>
              <a:ext uri="{FF2B5EF4-FFF2-40B4-BE49-F238E27FC236}">
                <a16:creationId xmlns:a16="http://schemas.microsoft.com/office/drawing/2014/main" id="{75BDAAEE-E4DD-6E22-9B66-526CA7AF7FFA}"/>
              </a:ext>
            </a:extLst>
          </p:cNvPr>
          <p:cNvSpPr/>
          <p:nvPr/>
        </p:nvSpPr>
        <p:spPr>
          <a:xfrm>
            <a:off x="-18542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Tree>
    <p:extLst>
      <p:ext uri="{BB962C8B-B14F-4D97-AF65-F5344CB8AC3E}">
        <p14:creationId xmlns:p14="http://schemas.microsoft.com/office/powerpoint/2010/main" val="1341154288"/>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p14:dur="1200">
        <p159:morph option="byObject"/>
      </p:transition>
    </mc:Choice>
    <mc:Fallback>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 xmlns:m="http://schemas.openxmlformats.org/officeDocument/2006/math">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a14="http://schemas.microsoft.com/office/drawing/2010/main" xmlns:m="http://schemas.openxmlformats.org/officeDocument/2006/math"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m="http://schemas.openxmlformats.org/officeDocument/2006/math" xmlns="">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m="http://schemas.openxmlformats.org/officeDocument/2006/math" xmlns="">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m="http://schemas.openxmlformats.org/officeDocument/2006/math" xmlns="">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m="http://schemas.openxmlformats.org/officeDocument/2006/math" xmlns="">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m="http://schemas.openxmlformats.org/officeDocument/2006/math" xmlns="">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m="http://schemas.openxmlformats.org/officeDocument/2006/math"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m="http://schemas.openxmlformats.org/officeDocument/2006/math"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m="http://schemas.openxmlformats.org/officeDocument/2006/math" xmlns="">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m="http://schemas.openxmlformats.org/officeDocument/2006/math" xmlns="">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m="http://schemas.openxmlformats.org/officeDocument/2006/math" xmlns="">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m="http://schemas.openxmlformats.org/officeDocument/2006/math" xmlns="">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 xmlns:m="http://schemas.openxmlformats.org/officeDocument/2006/math">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 xmlns:m="http://schemas.openxmlformats.org/officeDocument/2006/math">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 xmlns:m="http://schemas.openxmlformats.org/officeDocument/2006/math">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53</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m="http://schemas.openxmlformats.org/officeDocument/2006/math" xmlns="">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m="http://schemas.openxmlformats.org/officeDocument/2006/math" xmlns="">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xmlns:m="http://schemas.openxmlformats.org/officeDocument/2006/math">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55</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xmlns:m="http://schemas.openxmlformats.org/officeDocument/2006/math">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xmlns:m="http://schemas.openxmlformats.org/officeDocument/2006/math">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xmlns:m="http://schemas.openxmlformats.org/officeDocument/2006/math">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xmlns:m="http://schemas.openxmlformats.org/officeDocument/2006/math">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xmlns:m="http://schemas.openxmlformats.org/officeDocument/2006/math">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xmlns:m="http://schemas.openxmlformats.org/officeDocument/2006/math">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xmlns:m="http://schemas.openxmlformats.org/officeDocument/2006/math">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 xmlns:m="http://schemas.openxmlformats.org/officeDocument/2006/math">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5735</TotalTime>
  <Words>8677</Words>
  <Application>Microsoft Office PowerPoint</Application>
  <PresentationFormat>On-screen Show (16:9)</PresentationFormat>
  <Paragraphs>1208</Paragraphs>
  <Slides>63</Slides>
  <Notes>53</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63</vt:i4>
      </vt:variant>
    </vt:vector>
  </HeadingPairs>
  <TitlesOfParts>
    <vt:vector size="69"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PowerPoint Presentation</vt:lpstr>
      <vt:lpstr>Can we transpose \Θ?</vt:lpstr>
      <vt:lpstr>PowerPoint Presentation</vt:lpstr>
      <vt:lpstr>PowerPoint Presentation</vt:lpstr>
      <vt:lpstr>PowerPoint Presentation</vt:lpstr>
      <vt:lpstr>PowerPoint Presentation</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59</cp:revision>
  <dcterms:created xsi:type="dcterms:W3CDTF">2019-11-27T15:26:32Z</dcterms:created>
  <dcterms:modified xsi:type="dcterms:W3CDTF">2026-09-27T22:22:27Z</dcterms:modified>
</cp:coreProperties>
</file>