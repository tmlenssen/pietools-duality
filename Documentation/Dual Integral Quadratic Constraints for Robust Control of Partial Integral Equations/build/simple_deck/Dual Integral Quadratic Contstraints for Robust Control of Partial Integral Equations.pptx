
<file path=[Content_Types].xml><?xml version="1.0" encoding="utf-8"?>
<Types xmlns="http://schemas.openxmlformats.org/package/2006/content-types">
  <Default Extension="gif" ContentType="image/gif"/>
  <Default Extension="jpeg" ContentType="image/jpeg"/>
  <Default Extension="jp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44"/>
  </p:notesMasterIdLst>
  <p:sldIdLst>
    <p:sldId id="401" r:id="rId2"/>
    <p:sldId id="402" r:id="rId3"/>
    <p:sldId id="403" r:id="rId4"/>
    <p:sldId id="410" r:id="rId5"/>
    <p:sldId id="411" r:id="rId6"/>
    <p:sldId id="444" r:id="rId7"/>
    <p:sldId id="414" r:id="rId8"/>
    <p:sldId id="415" r:id="rId9"/>
    <p:sldId id="416" r:id="rId10"/>
    <p:sldId id="445" r:id="rId11"/>
    <p:sldId id="417" r:id="rId12"/>
    <p:sldId id="418" r:id="rId13"/>
    <p:sldId id="419" r:id="rId14"/>
    <p:sldId id="420" r:id="rId15"/>
    <p:sldId id="422" r:id="rId16"/>
    <p:sldId id="424" r:id="rId17"/>
    <p:sldId id="425" r:id="rId18"/>
    <p:sldId id="440" r:id="rId19"/>
    <p:sldId id="404" r:id="rId20"/>
    <p:sldId id="405" r:id="rId21"/>
    <p:sldId id="406" r:id="rId22"/>
    <p:sldId id="407" r:id="rId23"/>
    <p:sldId id="408" r:id="rId24"/>
    <p:sldId id="409" r:id="rId25"/>
    <p:sldId id="426" r:id="rId26"/>
    <p:sldId id="441" r:id="rId27"/>
    <p:sldId id="442" r:id="rId28"/>
    <p:sldId id="443" r:id="rId29"/>
    <p:sldId id="435" r:id="rId30"/>
    <p:sldId id="436" r:id="rId31"/>
    <p:sldId id="437" r:id="rId32"/>
    <p:sldId id="438" r:id="rId33"/>
    <p:sldId id="439" r:id="rId34"/>
    <p:sldId id="421" r:id="rId35"/>
    <p:sldId id="427" r:id="rId36"/>
    <p:sldId id="431" r:id="rId37"/>
    <p:sldId id="428" r:id="rId38"/>
    <p:sldId id="429" r:id="rId39"/>
    <p:sldId id="432" r:id="rId40"/>
    <p:sldId id="430" r:id="rId41"/>
    <p:sldId id="433" r:id="rId42"/>
    <p:sldId id="434" r:id="rId43"/>
  </p:sldIdLst>
  <p:sldSz cx="9144000" cy="5143500" type="screen16x9"/>
  <p:notesSz cx="6858000" cy="9144000"/>
  <p:defaultTextStyle>
    <a:defPPr>
      <a:defRPr lang="nl-NL"/>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81919"/>
    <a:srgbClr val="000000"/>
    <a:srgbClr val="FFFFFF"/>
    <a:srgbClr val="EEE8E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ijl, gemiddeld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58" autoAdjust="0"/>
    <p:restoredTop sz="85122" autoAdjust="0"/>
  </p:normalViewPr>
  <p:slideViewPr>
    <p:cSldViewPr snapToGrid="0" showGuides="1">
      <p:cViewPr varScale="1">
        <p:scale>
          <a:sx n="84" d="100"/>
          <a:sy n="84" d="100"/>
        </p:scale>
        <p:origin x="2376" y="762"/>
      </p:cViewPr>
      <p:guideLst/>
    </p:cSldViewPr>
  </p:slideViewPr>
  <p:outlineViewPr>
    <p:cViewPr>
      <p:scale>
        <a:sx n="33" d="100"/>
        <a:sy n="33" d="100"/>
      </p:scale>
      <p:origin x="0" y="-3978"/>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Tijdelijke aanduiding voo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5F25DE2-B715-4EA4-8CF0-DA425EA806A7}" type="datetimeFigureOut">
              <a:rPr lang="en-GB" smtClean="0"/>
              <a:t>25/09/2026</a:t>
            </a:fld>
            <a:endParaRPr lang="en-GB"/>
          </a:p>
        </p:txBody>
      </p:sp>
      <p:sp>
        <p:nvSpPr>
          <p:cNvPr id="4" name="Tijdelijke aanduiding voor dia-afbeelding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Tijdelijke aanduiding voor notiti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nl-NL"/>
              <a:t>Klik om de modelstijlen te bewerken</a:t>
            </a:r>
          </a:p>
          <a:p>
            <a:pPr lvl="1"/>
            <a:r>
              <a:rPr lang="nl-NL"/>
              <a:t>Tweede niveau</a:t>
            </a:r>
          </a:p>
          <a:p>
            <a:pPr lvl="2"/>
            <a:r>
              <a:rPr lang="nl-NL"/>
              <a:t>Derde niveau</a:t>
            </a:r>
          </a:p>
          <a:p>
            <a:pPr lvl="3"/>
            <a:r>
              <a:rPr lang="nl-NL"/>
              <a:t>Vierde niveau</a:t>
            </a:r>
          </a:p>
          <a:p>
            <a:pPr lvl="4"/>
            <a:r>
              <a:rPr lang="nl-NL"/>
              <a:t>Vijfde niveau</a:t>
            </a:r>
            <a:endParaRPr lang="en-GB"/>
          </a:p>
        </p:txBody>
      </p:sp>
      <p:sp>
        <p:nvSpPr>
          <p:cNvPr id="6" name="Tijdelijke aanduiding voor voetteks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Tijdelijke aanduiding voor dia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A799BBE-B871-48D7-983C-C0B1D7156DCD}" type="slidenum">
              <a:rPr lang="en-GB" smtClean="0"/>
              <a:t>‹#›</a:t>
            </a:fld>
            <a:endParaRPr lang="en-GB"/>
          </a:p>
        </p:txBody>
      </p:sp>
    </p:spTree>
    <p:extLst>
      <p:ext uri="{BB962C8B-B14F-4D97-AF65-F5344CB8AC3E}">
        <p14:creationId xmlns:p14="http://schemas.microsoft.com/office/powerpoint/2010/main" val="1433719315"/>
      </p:ext>
    </p:extLst>
  </p:cSld>
  <p:clrMap bg1="lt1" tx1="dk1" bg2="lt2" tx2="dk2" accent1="accent1" accent2="accent2" accent3="accent3" accent4="accent4" accent5="accent5" accent6="accent6" hlink="hlink" folHlink="folHlink"/>
  <p:notesStyle>
    <a:lvl1pPr marL="0" algn="l" defTabSz="685800" rtl="0" eaLnBrk="1" latinLnBrk="0" hangingPunct="1">
      <a:defRPr sz="900" kern="1200">
        <a:solidFill>
          <a:schemeClr val="tx1"/>
        </a:solidFill>
        <a:latin typeface="+mn-lt"/>
        <a:ea typeface="+mn-ea"/>
        <a:cs typeface="+mn-cs"/>
      </a:defRPr>
    </a:lvl1pPr>
    <a:lvl2pPr marL="342900" algn="l" defTabSz="685800" rtl="0" eaLnBrk="1" latinLnBrk="0" hangingPunct="1">
      <a:defRPr sz="900" kern="1200">
        <a:solidFill>
          <a:schemeClr val="tx1"/>
        </a:solidFill>
        <a:latin typeface="+mn-lt"/>
        <a:ea typeface="+mn-ea"/>
        <a:cs typeface="+mn-cs"/>
      </a:defRPr>
    </a:lvl2pPr>
    <a:lvl3pPr marL="685800" algn="l" defTabSz="685800" rtl="0" eaLnBrk="1" latinLnBrk="0" hangingPunct="1">
      <a:defRPr sz="900" kern="1200">
        <a:solidFill>
          <a:schemeClr val="tx1"/>
        </a:solidFill>
        <a:latin typeface="+mn-lt"/>
        <a:ea typeface="+mn-ea"/>
        <a:cs typeface="+mn-cs"/>
      </a:defRPr>
    </a:lvl3pPr>
    <a:lvl4pPr marL="1028700" algn="l" defTabSz="685800" rtl="0" eaLnBrk="1" latinLnBrk="0" hangingPunct="1">
      <a:defRPr sz="900" kern="1200">
        <a:solidFill>
          <a:schemeClr val="tx1"/>
        </a:solidFill>
        <a:latin typeface="+mn-lt"/>
        <a:ea typeface="+mn-ea"/>
        <a:cs typeface="+mn-cs"/>
      </a:defRPr>
    </a:lvl4pPr>
    <a:lvl5pPr marL="1371600" algn="l" defTabSz="685800" rtl="0" eaLnBrk="1" latinLnBrk="0" hangingPunct="1">
      <a:defRPr sz="900" kern="1200">
        <a:solidFill>
          <a:schemeClr val="tx1"/>
        </a:solidFill>
        <a:latin typeface="+mn-lt"/>
        <a:ea typeface="+mn-ea"/>
        <a:cs typeface="+mn-cs"/>
      </a:defRPr>
    </a:lvl5pPr>
    <a:lvl6pPr marL="1714500" algn="l" defTabSz="685800" rtl="0" eaLnBrk="1" latinLnBrk="0" hangingPunct="1">
      <a:defRPr sz="900" kern="1200">
        <a:solidFill>
          <a:schemeClr val="tx1"/>
        </a:solidFill>
        <a:latin typeface="+mn-lt"/>
        <a:ea typeface="+mn-ea"/>
        <a:cs typeface="+mn-cs"/>
      </a:defRPr>
    </a:lvl6pPr>
    <a:lvl7pPr marL="2057400" algn="l" defTabSz="685800" rtl="0" eaLnBrk="1" latinLnBrk="0" hangingPunct="1">
      <a:defRPr sz="900" kern="1200">
        <a:solidFill>
          <a:schemeClr val="tx1"/>
        </a:solidFill>
        <a:latin typeface="+mn-lt"/>
        <a:ea typeface="+mn-ea"/>
        <a:cs typeface="+mn-cs"/>
      </a:defRPr>
    </a:lvl7pPr>
    <a:lvl8pPr marL="2400300" algn="l" defTabSz="685800" rtl="0" eaLnBrk="1" latinLnBrk="0" hangingPunct="1">
      <a:defRPr sz="900" kern="1200">
        <a:solidFill>
          <a:schemeClr val="tx1"/>
        </a:solidFill>
        <a:latin typeface="+mn-lt"/>
        <a:ea typeface="+mn-ea"/>
        <a:cs typeface="+mn-cs"/>
      </a:defRPr>
    </a:lvl8pPr>
    <a:lvl9pPr marL="2743200" algn="l" defTabSz="685800"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en-GB" dirty="0"/>
          </a:p>
        </p:txBody>
      </p:sp>
      <p:sp>
        <p:nvSpPr>
          <p:cNvPr id="4" name="Tijdelijke aanduiding voor dianummer 3"/>
          <p:cNvSpPr>
            <a:spLocks noGrp="1"/>
          </p:cNvSpPr>
          <p:nvPr>
            <p:ph type="sldNum" sz="quarter" idx="10"/>
          </p:nvPr>
        </p:nvSpPr>
        <p:spPr/>
        <p:txBody>
          <a:bodyPr/>
          <a:lstStyle/>
          <a:p>
            <a:fld id="{AA799BBE-B871-48D7-983C-C0B1D7156DCD}" type="slidenum">
              <a:rPr lang="en-GB" smtClean="0"/>
              <a:t>1</a:t>
            </a:fld>
            <a:endParaRPr lang="en-GB" dirty="0"/>
          </a:p>
        </p:txBody>
      </p:sp>
    </p:spTree>
    <p:extLst>
      <p:ext uri="{BB962C8B-B14F-4D97-AF65-F5344CB8AC3E}">
        <p14:creationId xmlns:p14="http://schemas.microsoft.com/office/powerpoint/2010/main" val="21969191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serves as an intuitive yet insightful slide to explain PDEs, it shows the limitations of a rigid body representation as we push for performance where partial differential equations could better capture the </a:t>
            </a:r>
            <a:r>
              <a:rPr lang="en-US" dirty="0" err="1"/>
              <a:t>flexmodes</a:t>
            </a:r>
            <a:r>
              <a:rPr lang="en-US" dirty="0"/>
              <a:t> of the system such that we can account for them in analysis, observation or controlling the system.</a:t>
            </a:r>
          </a:p>
          <a:p>
            <a:endParaRPr lang="en-US" dirty="0"/>
          </a:p>
          <a:p>
            <a:r>
              <a:rPr lang="en-NL" dirty="0"/>
              <a:t>That additional detail comes with greater complexity: PDE models involve infinitely many modes, spatial </a:t>
            </a:r>
            <a:r>
              <a:rPr lang="en-US" dirty="0"/>
              <a:t>distributed dynamics</a:t>
            </a:r>
            <a:r>
              <a:rPr lang="en-NL" dirty="0"/>
              <a:t>, and boundary conditions, making analysis and design more challenging.</a:t>
            </a:r>
          </a:p>
        </p:txBody>
      </p:sp>
      <p:sp>
        <p:nvSpPr>
          <p:cNvPr id="4" name="Slide Number Placeholder 3"/>
          <p:cNvSpPr>
            <a:spLocks noGrp="1"/>
          </p:cNvSpPr>
          <p:nvPr>
            <p:ph type="sldNum" sz="quarter" idx="5"/>
          </p:nvPr>
        </p:nvSpPr>
        <p:spPr/>
        <p:txBody>
          <a:bodyPr/>
          <a:lstStyle/>
          <a:p>
            <a:fld id="{AA799BBE-B871-48D7-983C-C0B1D7156DCD}" type="slidenum">
              <a:rPr lang="en-GB" smtClean="0"/>
              <a:t>2</a:t>
            </a:fld>
            <a:endParaRPr lang="en-GB"/>
          </a:p>
        </p:txBody>
      </p:sp>
    </p:spTree>
    <p:extLst>
      <p:ext uri="{BB962C8B-B14F-4D97-AF65-F5344CB8AC3E}">
        <p14:creationId xmlns:p14="http://schemas.microsoft.com/office/powerpoint/2010/main" val="7616435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L" dirty="0"/>
              <a:t>This is especially relevant at ASML, where we want to achieve as much throughput as possible. The wafer stage carries the chips and needs to move as fast as possible, while still reaching </a:t>
            </a:r>
            <a:r>
              <a:rPr lang="en-NL" dirty="0" err="1"/>
              <a:t>nanometer</a:t>
            </a:r>
            <a:r>
              <a:rPr lang="en-NL" dirty="0"/>
              <a:t>-level precision.</a:t>
            </a:r>
            <a:endParaRPr lang="en-US" dirty="0"/>
          </a:p>
          <a:p>
            <a:endParaRPr lang="en-NL" dirty="0"/>
          </a:p>
          <a:p>
            <a:r>
              <a:rPr lang="en-NL" dirty="0"/>
              <a:t>This creates a trade-off between weight and stiffness. A lighter stage can move faster under the same forces, but it also becomes more flexible, which makes it harder to position accurately. As we saw on the previous slide, this flexibility can be described using partial differential equations instead of ordinary, or lumped, differential equations. Typical examples are wave and beam equations.</a:t>
            </a:r>
            <a:endParaRPr lang="en-US" dirty="0"/>
          </a:p>
          <a:p>
            <a:endParaRPr lang="en-NL" dirty="0"/>
          </a:p>
          <a:p>
            <a:r>
              <a:rPr lang="en-NL" dirty="0"/>
              <a:t>Another example is large-scale production printing at Canon in Venlo. If a wet piece of paper dries in an uncontrolled way, it can wrinkle or deform. The same problem appears in printing, because the paper becomes slightly wet during the printing process and then needs to be dried in a controlled way.</a:t>
            </a:r>
            <a:endParaRPr lang="en-US" dirty="0"/>
          </a:p>
          <a:p>
            <a:endParaRPr lang="en-NL" dirty="0"/>
          </a:p>
          <a:p>
            <a:r>
              <a:rPr lang="en-NL" dirty="0"/>
              <a:t>Again, there is a trade-off between throughput and quality. Drying faster increases production speed, but if the temperature or moisture is not distributed evenly across the paper, the paper can deform. Since heat and moisture vary across both space and time, this again naturally leads to partial differential equations.</a:t>
            </a:r>
            <a:endParaRPr lang="en-US" dirty="0"/>
          </a:p>
          <a:p>
            <a:endParaRPr lang="en-NL" dirty="0"/>
          </a:p>
          <a:p>
            <a:r>
              <a:rPr lang="en-NL" dirty="0"/>
              <a:t>The final, seemingly unrelated example is Parkinson’s disease. In a healthy person, the cortex generates possible actions and sends this information to the basal ganglia. The basal ganglia help select which actions should be carried out and which should be suppressed. This information is then passed through the thalamus back to the motor cortex, which helps execute the movement.</a:t>
            </a:r>
            <a:endParaRPr lang="en-US" dirty="0"/>
          </a:p>
          <a:p>
            <a:endParaRPr lang="en-NL" dirty="0"/>
          </a:p>
          <a:p>
            <a:r>
              <a:rPr lang="en-NL" dirty="0"/>
              <a:t>In patients with Parkinson’s disease, this selection mechanism is disturbed because of a loss of dopamine. As a result, the basal ganglia suppress movement too strongly, making it harder to start and control movements. This leads to symptoms such as slow movement, stiffness, and tremor.</a:t>
            </a:r>
          </a:p>
          <a:p>
            <a:r>
              <a:rPr lang="en-NL" dirty="0"/>
              <a:t>Although this problem looks very different from a wafer stage or a drying sheet of paper, it also involves dynamics that are distributed over space. In all three examples, the main challenge is the same: we want to understand and control systems whose </a:t>
            </a:r>
            <a:r>
              <a:rPr lang="en-NL" dirty="0" err="1"/>
              <a:t>behavior</a:t>
            </a:r>
            <a:r>
              <a:rPr lang="en-NL" dirty="0"/>
              <a:t> cannot be described well by only a few lumped variables.</a:t>
            </a:r>
          </a:p>
        </p:txBody>
      </p:sp>
      <p:sp>
        <p:nvSpPr>
          <p:cNvPr id="4" name="Slide Number Placeholder 3"/>
          <p:cNvSpPr>
            <a:spLocks noGrp="1"/>
          </p:cNvSpPr>
          <p:nvPr>
            <p:ph type="sldNum" sz="quarter" idx="5"/>
          </p:nvPr>
        </p:nvSpPr>
        <p:spPr/>
        <p:txBody>
          <a:bodyPr/>
          <a:lstStyle/>
          <a:p>
            <a:fld id="{AA799BBE-B871-48D7-983C-C0B1D7156DCD}" type="slidenum">
              <a:rPr lang="en-GB" smtClean="0"/>
              <a:t>3</a:t>
            </a:fld>
            <a:endParaRPr lang="en-GB"/>
          </a:p>
        </p:txBody>
      </p:sp>
    </p:spTree>
    <p:extLst>
      <p:ext uri="{BB962C8B-B14F-4D97-AF65-F5344CB8AC3E}">
        <p14:creationId xmlns:p14="http://schemas.microsoft.com/office/powerpoint/2010/main" val="29142395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NL" dirty="0"/>
                  <a:t>To explain robust control, let’s take a simplified version of our printing process. See here the model of a cross-section of a piece of paper. For illustrative purposes, suppose it is heated up during the printing process, after which it needs to be cooled. Let’s also suppose our piece of paper is very poor at conducting heat.</a:t>
                </a:r>
              </a:p>
              <a:p>
                <a:r>
                  <a:rPr lang="en-NL" dirty="0"/>
                  <a:t>This cooling is affected by the ambient temperature in the spot where the printer is situated, which can deviate from day to day, for example due to the weather or air-conditioning settings. This deviation is captured by the variable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 As we increase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 we increase the ambient temperature and thus make it more difficult for our paper to cool down.</a:t>
                </a:r>
              </a:p>
              <a:p>
                <a:r>
                  <a:rPr lang="en-NL" dirty="0"/>
                  <a:t>At some point, our poorly heat-conducting paper can no longer dissipate enough heat and no longer behaves as desired</a:t>
                </a:r>
                <a:r>
                  <a:rPr lang="en-US" dirty="0"/>
                  <a:t> and thus start to heat up</a:t>
                </a:r>
                <a:r>
                  <a:rPr lang="en-NL" dirty="0"/>
                  <a:t>. One example of robust analysis is then to determine for which values of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the paper still cools down properly, without having to simulate the system for an infinite number of possible values of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a:t>
                </a:r>
              </a:p>
              <a:p>
                <a:r>
                  <a:rPr lang="en-NL" dirty="0"/>
                  <a:t>This robust analysis problem was the focus of my internship. For my graduation thesis, I then took the next step and focused on robust control: not only determining whether the system behaves correctly under uncertainty, but designing a controller that makes sure it does.</a:t>
                </a:r>
              </a:p>
            </p:txBody>
          </p:sp>
        </mc:Choice>
        <mc:Fallback xmlns="">
          <p:sp>
            <p:nvSpPr>
              <p:cNvPr id="3" name="Notes Placeholder 2"/>
              <p:cNvSpPr>
                <a:spLocks noGrp="1"/>
              </p:cNvSpPr>
              <p:nvPr>
                <p:ph type="body" idx="1"/>
              </p:nvPr>
            </p:nvSpPr>
            <p:spPr/>
            <p:txBody>
              <a:bodyPr/>
              <a:lstStyle/>
              <a:p>
                <a:r>
                  <a:rPr lang="en-NL" dirty="0"/>
                  <a:t>To explain robust control, let’s take a simplified version of our printing process. See here the model of a cross-section of a piece of paper. For illustrative purposes, suppose it is heated up during the printing process, after which it needs to be cooled. Let’s also suppose our piece of paper is very poor at conducting heat.</a:t>
                </a:r>
              </a:p>
              <a:p>
                <a:r>
                  <a:rPr lang="en-NL" dirty="0"/>
                  <a:t>This cooling is affected by the ambient temperature in the spot where the printer is situated, which can deviate from day to day, for example due to the weather or air-conditioning settings. This deviation is captured by the variable </a:t>
                </a:r>
                <a:r>
                  <a:rPr lang="en-NL" sz="900" i="0" kern="1200">
                    <a:solidFill>
                      <a:schemeClr val="tx1"/>
                    </a:solidFill>
                    <a:latin typeface="+mn-lt"/>
                    <a:ea typeface="+mn-ea"/>
                    <a:cs typeface="+mn-cs"/>
                  </a:rPr>
                  <a:t>𝛿</a:t>
                </a:r>
                <a:r>
                  <a:rPr lang="en-NL" dirty="0"/>
                  <a:t>. As we increase </a:t>
                </a:r>
                <a:r>
                  <a:rPr lang="en-NL" sz="900" i="0" kern="1200">
                    <a:solidFill>
                      <a:schemeClr val="tx1"/>
                    </a:solidFill>
                    <a:latin typeface="+mn-lt"/>
                    <a:ea typeface="+mn-ea"/>
                    <a:cs typeface="+mn-cs"/>
                  </a:rPr>
                  <a:t>𝛿</a:t>
                </a:r>
                <a:r>
                  <a:rPr lang="en-NL" dirty="0"/>
                  <a:t>, we increase the ambient temperature and thus make it more difficult for our paper to cool down.</a:t>
                </a:r>
              </a:p>
              <a:p>
                <a:r>
                  <a:rPr lang="en-NL" dirty="0"/>
                  <a:t>At some point, our poorly heat-conducting paper can no longer dissipate enough heat and no longer behaves as desired</a:t>
                </a:r>
                <a:r>
                  <a:rPr lang="en-US" dirty="0"/>
                  <a:t> and thus start to heat up</a:t>
                </a:r>
                <a:r>
                  <a:rPr lang="en-NL" dirty="0"/>
                  <a:t>. One example of robust analysis is then to determine for which values of </a:t>
                </a:r>
                <a:r>
                  <a:rPr lang="en-NL" sz="900" i="0" kern="1200">
                    <a:solidFill>
                      <a:schemeClr val="tx1"/>
                    </a:solidFill>
                    <a:latin typeface="+mn-lt"/>
                    <a:ea typeface="+mn-ea"/>
                    <a:cs typeface="+mn-cs"/>
                  </a:rPr>
                  <a:t>𝛿</a:t>
                </a:r>
                <a:r>
                  <a:rPr lang="en-NL" dirty="0"/>
                  <a:t>the paper still cools down properly, without having to simulate the system for an infinite number of possible values of </a:t>
                </a:r>
                <a:r>
                  <a:rPr lang="en-NL" sz="900" i="0" kern="1200">
                    <a:solidFill>
                      <a:schemeClr val="tx1"/>
                    </a:solidFill>
                    <a:latin typeface="+mn-lt"/>
                    <a:ea typeface="+mn-ea"/>
                    <a:cs typeface="+mn-cs"/>
                  </a:rPr>
                  <a:t>𝛿</a:t>
                </a:r>
                <a:r>
                  <a:rPr lang="en-NL" dirty="0"/>
                  <a:t>.</a:t>
                </a:r>
              </a:p>
              <a:p>
                <a:r>
                  <a:rPr lang="en-NL" dirty="0"/>
                  <a:t>This robust analysis problem was the focus of my internship. For my graduation thesis, I then took the next step and focused on robust control: not only determining whether the system behaves correctly under uncertainty, but designing a controller that makes sure it does.</a:t>
                </a:r>
              </a:p>
            </p:txBody>
          </p:sp>
        </mc:Fallback>
      </mc:AlternateContent>
      <p:sp>
        <p:nvSpPr>
          <p:cNvPr id="4" name="Slide Number Placeholder 3"/>
          <p:cNvSpPr>
            <a:spLocks noGrp="1"/>
          </p:cNvSpPr>
          <p:nvPr>
            <p:ph type="sldNum" sz="quarter" idx="5"/>
          </p:nvPr>
        </p:nvSpPr>
        <p:spPr/>
        <p:txBody>
          <a:bodyPr/>
          <a:lstStyle/>
          <a:p>
            <a:fld id="{AA799BBE-B871-48D7-983C-C0B1D7156DCD}" type="slidenum">
              <a:rPr lang="en-GB" smtClean="0"/>
              <a:t>4</a:t>
            </a:fld>
            <a:endParaRPr lang="en-GB"/>
          </a:p>
        </p:txBody>
      </p:sp>
    </p:spTree>
    <p:extLst>
      <p:ext uri="{BB962C8B-B14F-4D97-AF65-F5344CB8AC3E}">
        <p14:creationId xmlns:p14="http://schemas.microsoft.com/office/powerpoint/2010/main" val="321926037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7</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8</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9</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6F4547-1D74-6924-7F4F-0FD1145E7B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0B1FEC-F382-0D05-EF9C-7DB56DA68E2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2DF4A45-1859-632F-DF7E-C24E9426CD6C}"/>
              </a:ext>
            </a:extLst>
          </p:cNvPr>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a:extLst>
              <a:ext uri="{FF2B5EF4-FFF2-40B4-BE49-F238E27FC236}">
                <a16:creationId xmlns:a16="http://schemas.microsoft.com/office/drawing/2014/main" id="{C70AABC9-5F70-0EDA-AD6C-D2924BF85F73}"/>
              </a:ext>
            </a:extLst>
          </p:cNvPr>
          <p:cNvSpPr>
            <a:spLocks noGrp="1"/>
          </p:cNvSpPr>
          <p:nvPr>
            <p:ph type="sldNum" sz="quarter" idx="5"/>
          </p:nvPr>
        </p:nvSpPr>
        <p:spPr/>
        <p:txBody>
          <a:bodyPr/>
          <a:lstStyle/>
          <a:p>
            <a:fld id="{AA799BBE-B871-48D7-983C-C0B1D7156DCD}" type="slidenum">
              <a:rPr lang="en-GB" smtClean="0"/>
              <a:t>10</a:t>
            </a:fld>
            <a:endParaRPr lang="en-GB"/>
          </a:p>
        </p:txBody>
      </p:sp>
    </p:spTree>
    <p:extLst>
      <p:ext uri="{BB962C8B-B14F-4D97-AF65-F5344CB8AC3E}">
        <p14:creationId xmlns:p14="http://schemas.microsoft.com/office/powerpoint/2010/main" val="139120968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11</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12</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13</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14</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16</a:t>
            </a:fld>
            <a:endParaRPr lang="en-GB"/>
          </a:p>
        </p:txBody>
      </p:sp>
    </p:spTree>
    <p:extLst>
      <p:ext uri="{BB962C8B-B14F-4D97-AF65-F5344CB8AC3E}">
        <p14:creationId xmlns:p14="http://schemas.microsoft.com/office/powerpoint/2010/main" val="264570187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457FB1-094A-B8EA-B1A3-88158F04A49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25D46CB-8AA4-A207-E755-3C87E61DDDD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A08875B-C080-32D5-5838-B091F114DB1D}"/>
              </a:ext>
            </a:extLst>
          </p:cNvPr>
          <p:cNvSpPr>
            <a:spLocks noGrp="1"/>
          </p:cNvSpPr>
          <p:nvPr>
            <p:ph type="body" idx="1"/>
          </p:nvPr>
        </p:nvSpPr>
        <p:spPr/>
        <p:txBody>
          <a:bodyPr/>
          <a:lstStyle/>
          <a:p>
            <a:r>
              <a:rPr lang="en-US" dirty="0"/>
              <a:t>Assume full state information is known</a:t>
            </a:r>
          </a:p>
          <a:p>
            <a:endParaRPr lang="en-US" dirty="0"/>
          </a:p>
          <a:p>
            <a:r>
              <a:rPr lang="en-US" dirty="0"/>
              <a:t>Needs to be satisfied for all uncertainty, infinite dimensional system, uncertainty</a:t>
            </a:r>
          </a:p>
          <a:p>
            <a:endParaRPr lang="en-US" dirty="0"/>
          </a:p>
          <a:p>
            <a:r>
              <a:rPr lang="en-US" dirty="0"/>
              <a:t>Thinking of discretization have already lost the battle, the physics of the system determines that PDE is the representation of the system. First thing AI tries to do is discretize the model</a:t>
            </a:r>
            <a:endParaRPr lang="en-NL" dirty="0"/>
          </a:p>
        </p:txBody>
      </p:sp>
      <p:sp>
        <p:nvSpPr>
          <p:cNvPr id="4" name="Slide Number Placeholder 3">
            <a:extLst>
              <a:ext uri="{FF2B5EF4-FFF2-40B4-BE49-F238E27FC236}">
                <a16:creationId xmlns:a16="http://schemas.microsoft.com/office/drawing/2014/main" id="{2E39ABB2-5B7B-B47D-854E-5E660D1E7555}"/>
              </a:ext>
            </a:extLst>
          </p:cNvPr>
          <p:cNvSpPr>
            <a:spLocks noGrp="1"/>
          </p:cNvSpPr>
          <p:nvPr>
            <p:ph type="sldNum" sz="quarter" idx="5"/>
          </p:nvPr>
        </p:nvSpPr>
        <p:spPr/>
        <p:txBody>
          <a:bodyPr/>
          <a:lstStyle/>
          <a:p>
            <a:fld id="{AA799BBE-B871-48D7-983C-C0B1D7156DCD}" type="slidenum">
              <a:rPr lang="en-GB" smtClean="0"/>
              <a:t>17</a:t>
            </a:fld>
            <a:endParaRPr lang="en-GB"/>
          </a:p>
        </p:txBody>
      </p:sp>
    </p:spTree>
    <p:extLst>
      <p:ext uri="{BB962C8B-B14F-4D97-AF65-F5344CB8AC3E}">
        <p14:creationId xmlns:p14="http://schemas.microsoft.com/office/powerpoint/2010/main" val="31282072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7F2CC4-64BA-41F9-F81A-49861278779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595AD93-F5F7-C821-9E72-B115490DCAB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5CD64D6-7401-AA83-1E04-D8737E210D94}"/>
              </a:ext>
            </a:extLst>
          </p:cNvPr>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a:extLst>
              <a:ext uri="{FF2B5EF4-FFF2-40B4-BE49-F238E27FC236}">
                <a16:creationId xmlns:a16="http://schemas.microsoft.com/office/drawing/2014/main" id="{C4DEE983-7A01-9522-EA1E-BFE65BC3BF9D}"/>
              </a:ext>
            </a:extLst>
          </p:cNvPr>
          <p:cNvSpPr>
            <a:spLocks noGrp="1"/>
          </p:cNvSpPr>
          <p:nvPr>
            <p:ph type="sldNum" sz="quarter" idx="5"/>
          </p:nvPr>
        </p:nvSpPr>
        <p:spPr/>
        <p:txBody>
          <a:bodyPr/>
          <a:lstStyle/>
          <a:p>
            <a:fld id="{AA799BBE-B871-48D7-983C-C0B1D7156DCD}" type="slidenum">
              <a:rPr lang="en-GB" smtClean="0"/>
              <a:t>18</a:t>
            </a:fld>
            <a:endParaRPr lang="en-GB"/>
          </a:p>
        </p:txBody>
      </p:sp>
    </p:spTree>
    <p:extLst>
      <p:ext uri="{BB962C8B-B14F-4D97-AF65-F5344CB8AC3E}">
        <p14:creationId xmlns:p14="http://schemas.microsoft.com/office/powerpoint/2010/main" val="210797835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Partial Differential Equations give a natural way to describe distributed systems, but stability analysis, observer design, and controller synthesis are challenging. Spatially distributed dynamics and boundary conditions complicate the application of large amount of theory that has been developed for ordinary differential equations.</a:t>
            </a:r>
          </a:p>
          <a:p>
            <a:endParaRPr lang="en-US" dirty="0"/>
          </a:p>
          <a:p>
            <a:r>
              <a:rPr lang="en-US" dirty="0"/>
              <a:t>More recently, partial differential equations have been introduced as an alternative representation that brings much of the properties of ODEs to partial differential equations.</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19</a:t>
            </a:fld>
            <a:endParaRPr lang="en-GB"/>
          </a:p>
        </p:txBody>
      </p:sp>
    </p:spTree>
    <p:extLst>
      <p:ext uri="{BB962C8B-B14F-4D97-AF65-F5344CB8AC3E}">
        <p14:creationId xmlns:p14="http://schemas.microsoft.com/office/powerpoint/2010/main" val="249993413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Partial Differential Equations give a natural way to describe distributed systems, but stability analysis, observer design, and controller synthesis are challenging. Spatially distributed dynamics and boundary conditions complicate the application of large amount of theory that has been developed for ordinary differential equations.</a:t>
            </a:r>
          </a:p>
          <a:p>
            <a:endParaRPr lang="en-US" dirty="0"/>
          </a:p>
          <a:p>
            <a:r>
              <a:rPr lang="en-US" dirty="0"/>
              <a:t>More recently, partial differential equations have been introduced as an alternative representation that brings much of the properties of ODEs to partial differential equations.</a:t>
            </a:r>
          </a:p>
          <a:p>
            <a:endParaRPr lang="en-US" dirty="0"/>
          </a:p>
          <a:p>
            <a:r>
              <a:rPr lang="en-US" dirty="0"/>
              <a:t>Manner prose</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20</a:t>
            </a:fld>
            <a:endParaRPr lang="en-GB"/>
          </a:p>
        </p:txBody>
      </p:sp>
    </p:spTree>
    <p:extLst>
      <p:ext uri="{BB962C8B-B14F-4D97-AF65-F5344CB8AC3E}">
        <p14:creationId xmlns:p14="http://schemas.microsoft.com/office/powerpoint/2010/main" val="249993413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Partial Differential Equations give a natural way to describe distributed systems, but stability analysis, observer design, and controller synthesis are challenging. Spatially distributed dynamics and boundary conditions complicate the application of large amount of theory that has been developed for ordinary differential equations.</a:t>
            </a:r>
          </a:p>
          <a:p>
            <a:endParaRPr lang="en-US" dirty="0"/>
          </a:p>
          <a:p>
            <a:r>
              <a:rPr lang="en-US" dirty="0"/>
              <a:t>More recently, partial differential equations have been introduced as an alternative representation that brings much of the properties of ODEs to partial differential equations.</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21</a:t>
            </a:fld>
            <a:endParaRPr lang="en-GB"/>
          </a:p>
        </p:txBody>
      </p:sp>
    </p:spTree>
    <p:extLst>
      <p:ext uri="{BB962C8B-B14F-4D97-AF65-F5344CB8AC3E}">
        <p14:creationId xmlns:p14="http://schemas.microsoft.com/office/powerpoint/2010/main" val="249993413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Partial Differential Equations give a natural way to describe distributed systems, but stability analysis, observer design, and controller synthesis are challenging. Spatially distributed dynamics and boundary conditions complicate the application of large amount of theory that has been developed for ordinary differential equations.</a:t>
            </a:r>
          </a:p>
          <a:p>
            <a:endParaRPr lang="en-US" dirty="0"/>
          </a:p>
          <a:p>
            <a:r>
              <a:rPr lang="en-US" dirty="0"/>
              <a:t>More recently, partial differential equations have been introduced as an alternative representation that brings much of the properties of ODEs to partial differential equations.</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22</a:t>
            </a:fld>
            <a:endParaRPr lang="en-GB"/>
          </a:p>
        </p:txBody>
      </p:sp>
    </p:spTree>
    <p:extLst>
      <p:ext uri="{BB962C8B-B14F-4D97-AF65-F5344CB8AC3E}">
        <p14:creationId xmlns:p14="http://schemas.microsoft.com/office/powerpoint/2010/main" val="249993413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Partial Differential Equations give a natural way to describe distributed systems, but stability analysis, observer design, and controller synthesis are challenging. Spatially distributed dynamics and boundary conditions complicate the application of large amount of theory that has been developed for ordinary differential equations.</a:t>
            </a:r>
          </a:p>
          <a:p>
            <a:endParaRPr lang="en-US" dirty="0"/>
          </a:p>
          <a:p>
            <a:r>
              <a:rPr lang="en-US" dirty="0"/>
              <a:t>More recently, partial differential equations have been introduced as an alternative representation that brings much of the properties of ODEs to partial differential equations.</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23</a:t>
            </a:fld>
            <a:endParaRPr lang="en-GB"/>
          </a:p>
        </p:txBody>
      </p:sp>
    </p:spTree>
    <p:extLst>
      <p:ext uri="{BB962C8B-B14F-4D97-AF65-F5344CB8AC3E}">
        <p14:creationId xmlns:p14="http://schemas.microsoft.com/office/powerpoint/2010/main" val="249993413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Partial Differential Equations give a natural way to describe distributed systems, but stability analysis, observer design, and controller synthesis are challenging. Spatially distributed dynamics and boundary conditions complicate the application of large amount of theory that has been developed for ordinary differential equations.</a:t>
            </a:r>
          </a:p>
          <a:p>
            <a:endParaRPr lang="en-US" dirty="0"/>
          </a:p>
          <a:p>
            <a:r>
              <a:rPr lang="en-US" dirty="0"/>
              <a:t>More recently, partial differential equations have been introduced as an alternative representation that brings much of the properties of ODEs to partial differential equations.</a:t>
            </a:r>
          </a:p>
          <a:p>
            <a:endParaRPr lang="en-US" dirty="0"/>
          </a:p>
          <a:p>
            <a:r>
              <a:rPr lang="en-US" dirty="0"/>
              <a:t>Five steps PDE to PIE,</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24</a:t>
            </a:fld>
            <a:endParaRPr lang="en-GB"/>
          </a:p>
        </p:txBody>
      </p:sp>
    </p:spTree>
    <p:extLst>
      <p:ext uri="{BB962C8B-B14F-4D97-AF65-F5344CB8AC3E}">
        <p14:creationId xmlns:p14="http://schemas.microsoft.com/office/powerpoint/2010/main" val="249993413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25</a:t>
            </a:fld>
            <a:endParaRPr lang="en-GB"/>
          </a:p>
        </p:txBody>
      </p:sp>
    </p:spTree>
    <p:extLst>
      <p:ext uri="{BB962C8B-B14F-4D97-AF65-F5344CB8AC3E}">
        <p14:creationId xmlns:p14="http://schemas.microsoft.com/office/powerpoint/2010/main" val="325218412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dirty="0">
                <a:solidFill>
                  <a:srgbClr val="252529"/>
                </a:solidFill>
                <a:latin typeface="Aptos"/>
                <a:ea typeface="Aptos"/>
                <a:cs typeface="Aptos"/>
              </a:rPr>
              <a:t>Parkinsonian </a:t>
            </a:r>
            <a:r>
              <a:rPr lang="en-GB" sz="1200" b="0" i="0" u="none" baseline="0" dirty="0" err="1">
                <a:solidFill>
                  <a:srgbClr val="252529"/>
                </a:solidFill>
                <a:latin typeface="Aptos"/>
                <a:ea typeface="Aptos"/>
                <a:cs typeface="Aptos"/>
              </a:rPr>
              <a:t>GPe</a:t>
            </a:r>
            <a:r>
              <a:rPr lang="en-GB" sz="1200" b="0" i="0" u="none" baseline="0" dirty="0">
                <a:solidFill>
                  <a:srgbClr val="252529"/>
                </a:solidFill>
                <a:latin typeface="Aptos"/>
                <a:ea typeface="Aptos"/>
                <a:cs typeface="Aptos"/>
              </a:rPr>
              <a:t>-STN sector simulation. Each channel satisfies </a:t>
            </a:r>
            <a:r>
              <a:rPr lang="en-GB" sz="1200" b="0" i="0" u="none" baseline="0" dirty="0" err="1">
                <a:solidFill>
                  <a:srgbClr val="252529"/>
                </a:solidFill>
                <a:latin typeface="Aptos"/>
                <a:ea typeface="Aptos"/>
                <a:cs typeface="Aptos"/>
              </a:rPr>
              <a:t>q_i</a:t>
            </a:r>
            <a:r>
              <a:rPr lang="en-GB" sz="1200" b="0" i="0" u="none" baseline="0" dirty="0">
                <a:solidFill>
                  <a:srgbClr val="252529"/>
                </a:solidFill>
                <a:latin typeface="Aptos"/>
                <a:ea typeface="Aptos"/>
                <a:cs typeface="Aptos"/>
              </a:rPr>
              <a:t>=</a:t>
            </a:r>
            <a:r>
              <a:rPr lang="en-GB" sz="1200" b="0" i="0" u="none" baseline="0" dirty="0" err="1">
                <a:solidFill>
                  <a:srgbClr val="252529"/>
                </a:solidFill>
                <a:latin typeface="Aptos"/>
                <a:ea typeface="Aptos"/>
                <a:cs typeface="Aptos"/>
              </a:rPr>
              <a:t>w_i</a:t>
            </a:r>
            <a:r>
              <a:rPr lang="en-GB" sz="1200" b="0" i="0" u="none" baseline="0" dirty="0">
                <a:solidFill>
                  <a:srgbClr val="252529"/>
                </a:solidFill>
                <a:latin typeface="Aptos"/>
                <a:ea typeface="Aptos"/>
                <a:cs typeface="Aptos"/>
              </a:rPr>
              <a:t>(</a:t>
            </a:r>
            <a:r>
              <a:rPr lang="en-GB" sz="1200" b="0" i="0" u="none" baseline="0" dirty="0" err="1">
                <a:solidFill>
                  <a:srgbClr val="252529"/>
                </a:solidFill>
                <a:latin typeface="Aptos"/>
                <a:ea typeface="Aptos"/>
                <a:cs typeface="Aptos"/>
              </a:rPr>
              <a:t>beta_i</a:t>
            </a:r>
            <a:r>
              <a:rPr lang="en-GB" sz="1200" b="0" i="0" u="none" baseline="0" dirty="0">
                <a:solidFill>
                  <a:srgbClr val="252529"/>
                </a:solidFill>
                <a:latin typeface="Aptos"/>
                <a:ea typeface="Aptos"/>
                <a:cs typeface="Aptos"/>
              </a:rPr>
              <a:t>*</a:t>
            </a:r>
            <a:r>
              <a:rPr lang="en-GB" sz="1200" b="0" i="0" u="none" baseline="0" dirty="0" err="1">
                <a:solidFill>
                  <a:srgbClr val="252529"/>
                </a:solidFill>
                <a:latin typeface="Aptos"/>
                <a:ea typeface="Aptos"/>
                <a:cs typeface="Aptos"/>
              </a:rPr>
              <a:t>z_i-w_i</a:t>
            </a:r>
            <a:r>
              <a:rPr lang="en-GB" sz="1200" b="0" i="0" u="none" baseline="0" dirty="0">
                <a:solidFill>
                  <a:srgbClr val="252529"/>
                </a:solidFill>
                <a:latin typeface="Aptos"/>
                <a:ea typeface="Aptos"/>
                <a:cs typeface="Aptos"/>
              </a:rPr>
              <a:t>)&gt;=0. The supply function panel plots the accumulated supply integral, giving the hard IQC and </a:t>
            </a:r>
            <a:r>
              <a:rPr lang="en-GB" sz="1200" b="0" i="0" u="none" baseline="0" dirty="0" err="1">
                <a:solidFill>
                  <a:srgbClr val="252529"/>
                </a:solidFill>
                <a:latin typeface="Aptos"/>
                <a:ea typeface="Aptos"/>
                <a:cs typeface="Aptos"/>
              </a:rPr>
              <a:t>dissipativity</a:t>
            </a:r>
            <a:r>
              <a:rPr lang="en-GB" sz="1200" b="0" i="0" u="none" baseline="0" dirty="0">
                <a:solidFill>
                  <a:srgbClr val="252529"/>
                </a:solidFill>
                <a:latin typeface="Aptos"/>
                <a:ea typeface="Aptos"/>
                <a:cs typeface="Aptos"/>
              </a:rPr>
              <a:t> with zero storage. </a:t>
            </a:r>
            <a:r>
              <a:rPr lang="en-GB" sz="1200" b="0" i="0" u="none" baseline="0" dirty="0" err="1">
                <a:solidFill>
                  <a:srgbClr val="252529"/>
                </a:solidFill>
                <a:latin typeface="Aptos"/>
                <a:ea typeface="Aptos"/>
                <a:cs typeface="Aptos"/>
              </a:rPr>
              <a:t>beta_S</a:t>
            </a:r>
            <a:r>
              <a:rPr lang="en-GB" sz="1200" b="0" i="0" u="none" baseline="0" dirty="0">
                <a:solidFill>
                  <a:srgbClr val="252529"/>
                </a:solidFill>
                <a:latin typeface="Aptos"/>
                <a:ea typeface="Aptos"/>
                <a:cs typeface="Aptos"/>
              </a:rPr>
              <a:t>=0.7344121335837432, </a:t>
            </a:r>
            <a:r>
              <a:rPr lang="en-GB" sz="1200" b="0" i="0" u="none" baseline="0" dirty="0" err="1">
                <a:solidFill>
                  <a:srgbClr val="252529"/>
                </a:solidFill>
                <a:latin typeface="Aptos"/>
                <a:ea typeface="Aptos"/>
                <a:cs typeface="Aptos"/>
              </a:rPr>
              <a:t>beta_G</a:t>
            </a:r>
            <a:r>
              <a:rPr lang="en-GB" sz="1200" b="0" i="0" u="none" baseline="0" dirty="0">
                <a:solidFill>
                  <a:srgbClr val="252529"/>
                </a:solidFill>
                <a:latin typeface="Aptos"/>
                <a:ea typeface="Aptos"/>
                <a:cs typeface="Aptos"/>
              </a:rPr>
              <a:t>=0.7048314668921489. Click to play the embedded clean 4K video; all text and math labels are editable PowerPoint overlays.</a:t>
            </a:r>
          </a:p>
          <a:p>
            <a:pPr algn="ctr">
              <a:buNone/>
            </a:pPr>
            <a:endParaRPr lang="en-GB" sz="1200" b="0" i="0" u="none" baseline="0" dirty="0">
              <a:solidFill>
                <a:srgbClr val="252529"/>
              </a:solidFill>
              <a:latin typeface="Aptos"/>
            </a:endParaRPr>
          </a:p>
          <a:p>
            <a:pPr algn="ctr">
              <a:buNone/>
            </a:pPr>
            <a:r>
              <a:rPr lang="en-NL" sz="1200" dirty="0"/>
              <a:t>This says that the increase in stored energy cannot exceed the supplied energy. It is a supply–storage balance, so you can explain it without introducing a Lyapunov stability argument.</a:t>
            </a:r>
            <a:endParaRPr sz="1200" dirty="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 STN–GPe Zames–Falb simulation
Uses the three-pole multiplier in Section 9 of the manuscript:
M(s)=1-H(s), H(s)=sum_k kappa_k/(s+a_k),
a=(1/.014,1/.006,1/.004), kappa_k=(2/3)*(10.7,20,12.3)_k/43*a_k.
The filter starts at zero. Its impulse response is nonnegative and has L1 norm 2/3.
The nonlinearities, delays, initial history, and response are exactly those of the sector demonstration.
Global slope alpha=1 is used. The synthesis value .562 is local and does not cover this trajectory.
The supply q_i=2*w_i*(alpha*z_i-w_i-H(alpha*z_i-w_i)) matches the paper's unregularized matrix normalization.
The integral can decrease while remaining nonnegative. This is a hard IQC for this causal realization.
It does not assert stability of the feedback interconnection, or identify the IQC integral with physical energy.
The HTML has editable DOM labels and switches between accumulated supply and instantaneous supply.
The 4K video and poster contain no baked labels; the accompanying PowerPoint has editable text/math overlays.
Regenerate: python Presentation/SectorIQC/simulate_zames_falb.py
Render: python Presentation/SectorIQC/render_zames_falb.py
The plotted integrals are accumulated supplies, not storage functions. Nonnegativity of a storage function alone does not prove dissipativity; the supply inequality is essential. Sector IQCs permit zero storage directly. Dynamic IQCs describe the filtered signals and can require filter storage in a state-space interpretation.</a:t>
            </a:r>
            <a:endParaRPr sz="120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 STN–GPe Zames–Falb simulation
Uses the three-pole multiplier in Section 9 of the manuscript:
M(s)=1-H(s), H(s)=sum_k kappa_k/(s+a_k),
a=(1/.014,1/.006,1/.004), kappa_k=(2/3)*(10.7,20,12.3)_k/43*a_k.
The filter starts at zero. Its impulse response is nonnegative and has L1 norm 2/3.
The nonlinearities, delays, initial history, and response are exactly those of the sector demonstration.
Global slope alpha=1 is used. The synthesis value .562 is local and does not cover this trajectory.
The supply q_i=2*w_i*(alpha*z_i-w_i-H(alpha*z_i-w_i)) matches the paper's unregularized matrix normalization.
The integral can decrease while remaining nonnegative. This is a hard IQC for this causal realization.
It does not assert stability of the feedback interconnection, or identify the IQC integral with physical energy.
The HTML has editable DOM labels and switches between accumulated supply and instantaneous supply.
The 4K video and poster contain no baked labels; the accompanying PowerPoint has editable text/math overlays.
Regenerate: python Presentation/SectorIQC/simulate_zames_falb.py
Render: python Presentation/SectorIQC/render_zames_falb.py
The plotted integrals are accumulated supplies, not storage functions. Nonnegativity of a storage function alone does not prove dissipativity; the supply inequality is essential. Sector IQCs permit zero storage directly. Dynamic IQCs describe the filtered signals and can require filter storage in a state-space interpretation.</a:t>
            </a:r>
            <a:endParaRPr sz="120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2D0A36-CA77-C300-A6F7-97B9E16078C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3F59CF2-D16C-EF45-F4C8-30427152CCD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4BFC593-F465-69EB-2F78-C12B58AFFE5F}"/>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p>
          <a:p>
            <a:endParaRPr lang="en-US" dirty="0"/>
          </a:p>
          <a:p>
            <a:endParaRPr lang="en-US" dirty="0"/>
          </a:p>
          <a:p>
            <a:r>
              <a:rPr lang="en-US" dirty="0"/>
              <a:t>Introduce IQC for parametric uncertainty things we can do, keep the promise to show another example</a:t>
            </a:r>
          </a:p>
          <a:p>
            <a:r>
              <a:rPr lang="en-US" dirty="0"/>
              <a:t>Introduce duality argument for sector bounded uncertainty</a:t>
            </a:r>
          </a:p>
          <a:p>
            <a:endParaRPr lang="en-NL" dirty="0"/>
          </a:p>
        </p:txBody>
      </p:sp>
      <p:sp>
        <p:nvSpPr>
          <p:cNvPr id="4" name="Slide Number Placeholder 3">
            <a:extLst>
              <a:ext uri="{FF2B5EF4-FFF2-40B4-BE49-F238E27FC236}">
                <a16:creationId xmlns:a16="http://schemas.microsoft.com/office/drawing/2014/main" id="{1AF9EF2A-760A-6A74-6E24-B06539328A05}"/>
              </a:ext>
            </a:extLst>
          </p:cNvPr>
          <p:cNvSpPr>
            <a:spLocks noGrp="1"/>
          </p:cNvSpPr>
          <p:nvPr>
            <p:ph type="sldNum" sz="quarter" idx="5"/>
          </p:nvPr>
        </p:nvSpPr>
        <p:spPr/>
        <p:txBody>
          <a:bodyPr/>
          <a:lstStyle/>
          <a:p>
            <a:fld id="{AA799BBE-B871-48D7-983C-C0B1D7156DCD}" type="slidenum">
              <a:rPr lang="en-GB" smtClean="0"/>
              <a:t>29</a:t>
            </a:fld>
            <a:endParaRPr lang="en-GB"/>
          </a:p>
        </p:txBody>
      </p:sp>
    </p:spTree>
    <p:extLst>
      <p:ext uri="{BB962C8B-B14F-4D97-AF65-F5344CB8AC3E}">
        <p14:creationId xmlns:p14="http://schemas.microsoft.com/office/powerpoint/2010/main" val="188500617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0EB01E-37AD-E8FA-9C1F-8C344852626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866527D-97B8-A2AF-9413-6B648B4D60F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826BE2E-E8C8-0310-FA51-015CABFE942B}"/>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endParaRPr lang="en-NL" dirty="0"/>
          </a:p>
        </p:txBody>
      </p:sp>
      <p:sp>
        <p:nvSpPr>
          <p:cNvPr id="4" name="Slide Number Placeholder 3">
            <a:extLst>
              <a:ext uri="{FF2B5EF4-FFF2-40B4-BE49-F238E27FC236}">
                <a16:creationId xmlns:a16="http://schemas.microsoft.com/office/drawing/2014/main" id="{ED135E5A-7679-96E5-C74E-DEA4AD7FC8E6}"/>
              </a:ext>
            </a:extLst>
          </p:cNvPr>
          <p:cNvSpPr>
            <a:spLocks noGrp="1"/>
          </p:cNvSpPr>
          <p:nvPr>
            <p:ph type="sldNum" sz="quarter" idx="5"/>
          </p:nvPr>
        </p:nvSpPr>
        <p:spPr/>
        <p:txBody>
          <a:bodyPr/>
          <a:lstStyle/>
          <a:p>
            <a:fld id="{AA799BBE-B871-48D7-983C-C0B1D7156DCD}" type="slidenum">
              <a:rPr lang="en-GB" smtClean="0"/>
              <a:t>30</a:t>
            </a:fld>
            <a:endParaRPr lang="en-GB"/>
          </a:p>
        </p:txBody>
      </p:sp>
    </p:spTree>
    <p:extLst>
      <p:ext uri="{BB962C8B-B14F-4D97-AF65-F5344CB8AC3E}">
        <p14:creationId xmlns:p14="http://schemas.microsoft.com/office/powerpoint/2010/main" val="244275755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7CDAE7-A72B-1ED4-B079-BDB9E083C88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E3B2949-F688-D84D-C862-9A859F3E752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916B365-6B80-7FB6-6763-B38AC2E0DCC8}"/>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endParaRPr lang="en-NL" dirty="0"/>
          </a:p>
        </p:txBody>
      </p:sp>
      <p:sp>
        <p:nvSpPr>
          <p:cNvPr id="4" name="Slide Number Placeholder 3">
            <a:extLst>
              <a:ext uri="{FF2B5EF4-FFF2-40B4-BE49-F238E27FC236}">
                <a16:creationId xmlns:a16="http://schemas.microsoft.com/office/drawing/2014/main" id="{31429EC9-F4AF-0020-C441-796E5E846DA7}"/>
              </a:ext>
            </a:extLst>
          </p:cNvPr>
          <p:cNvSpPr>
            <a:spLocks noGrp="1"/>
          </p:cNvSpPr>
          <p:nvPr>
            <p:ph type="sldNum" sz="quarter" idx="5"/>
          </p:nvPr>
        </p:nvSpPr>
        <p:spPr/>
        <p:txBody>
          <a:bodyPr/>
          <a:lstStyle/>
          <a:p>
            <a:fld id="{AA799BBE-B871-48D7-983C-C0B1D7156DCD}" type="slidenum">
              <a:rPr lang="en-GB" smtClean="0"/>
              <a:t>31</a:t>
            </a:fld>
            <a:endParaRPr lang="en-GB"/>
          </a:p>
        </p:txBody>
      </p:sp>
    </p:spTree>
    <p:extLst>
      <p:ext uri="{BB962C8B-B14F-4D97-AF65-F5344CB8AC3E}">
        <p14:creationId xmlns:p14="http://schemas.microsoft.com/office/powerpoint/2010/main" val="112382572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DA005E-35F6-3992-F2C3-9EF0342A15D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ACB3672-5D59-7FB5-06C3-4BAA3371F55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F92726B-0260-A0C6-C6F3-AED3D63BE3D9}"/>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endParaRPr lang="en-NL" dirty="0"/>
          </a:p>
        </p:txBody>
      </p:sp>
      <p:sp>
        <p:nvSpPr>
          <p:cNvPr id="4" name="Slide Number Placeholder 3">
            <a:extLst>
              <a:ext uri="{FF2B5EF4-FFF2-40B4-BE49-F238E27FC236}">
                <a16:creationId xmlns:a16="http://schemas.microsoft.com/office/drawing/2014/main" id="{64A6D3D6-CD21-D5B2-B466-BD7234800A0D}"/>
              </a:ext>
            </a:extLst>
          </p:cNvPr>
          <p:cNvSpPr>
            <a:spLocks noGrp="1"/>
          </p:cNvSpPr>
          <p:nvPr>
            <p:ph type="sldNum" sz="quarter" idx="5"/>
          </p:nvPr>
        </p:nvSpPr>
        <p:spPr/>
        <p:txBody>
          <a:bodyPr/>
          <a:lstStyle/>
          <a:p>
            <a:fld id="{AA799BBE-B871-48D7-983C-C0B1D7156DCD}" type="slidenum">
              <a:rPr lang="en-GB" smtClean="0"/>
              <a:t>32</a:t>
            </a:fld>
            <a:endParaRPr lang="en-GB"/>
          </a:p>
        </p:txBody>
      </p:sp>
    </p:spTree>
    <p:extLst>
      <p:ext uri="{BB962C8B-B14F-4D97-AF65-F5344CB8AC3E}">
        <p14:creationId xmlns:p14="http://schemas.microsoft.com/office/powerpoint/2010/main" val="263510423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r>
              <a:t>Two fields on the same spatial domain: v1 is heat deviation and v2 is moisture deviation. Full model is unchanged; introduce the states first. Both schematic profiles start at zero on the left and flatten at the no-flux right boundary, using a sin(pi*s/2)-shaped colour progression. The two simple arrows show the +v1 coupling from heat to moisture and the -3v2 coupling from moisture to heat. They indicate reaction coupling, not spatial transport. Gradients illustrate a boundary-compatible profile, not a simulation result.</a:t>
            </a: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3CBD0E-B216-D69A-5960-BB446D99694A}"/>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F3F4B2DC-C3F6-4BF3-14F2-73D5FA5C9E8C}"/>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r>
              <a:t>Two fields on the same spatial domain: v1 is heat deviation and v2 is moisture deviation. Full model is unchanged; introduce the states first. Both schematic profiles start at zero on the left and flatten at the no-flux right boundary, using a sin(pi*s/2)-shaped colour progression. The two simple arrows show the +v1 coupling from heat to moisture and the -3v2 coupling from moisture to heat. They indicate reaction coupling, not spatial transport. Gradients illustrate a boundary-compatible profile, not a simulation result.</a:t>
            </a:r>
          </a:p>
        </p:txBody>
      </p:sp>
    </p:spTree>
    <p:extLst>
      <p:ext uri="{BB962C8B-B14F-4D97-AF65-F5344CB8AC3E}">
        <p14:creationId xmlns:p14="http://schemas.microsoft.com/office/powerpoint/2010/main" val="264917848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55986F-3474-6329-229F-AA912E4E42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D6A95F-D039-0F99-5182-A08021A3F5A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3470B4-9F82-A335-873E-8F41B2A7BA41}"/>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03827E28-C4B1-3905-59EB-3E6525D4020C}"/>
              </a:ext>
            </a:extLst>
          </p:cNvPr>
          <p:cNvSpPr>
            <a:spLocks noGrp="1"/>
          </p:cNvSpPr>
          <p:nvPr>
            <p:ph type="sldNum" sz="quarter" idx="5"/>
          </p:nvPr>
        </p:nvSpPr>
        <p:spPr/>
        <p:txBody>
          <a:bodyPr/>
          <a:lstStyle/>
          <a:p>
            <a:fld id="{AA799BBE-B871-48D7-983C-C0B1D7156DCD}" type="slidenum">
              <a:rPr lang="en-GB" smtClean="0"/>
              <a:t>37</a:t>
            </a:fld>
            <a:endParaRPr lang="en-GB"/>
          </a:p>
        </p:txBody>
      </p:sp>
    </p:spTree>
    <p:extLst>
      <p:ext uri="{BB962C8B-B14F-4D97-AF65-F5344CB8AC3E}">
        <p14:creationId xmlns:p14="http://schemas.microsoft.com/office/powerpoint/2010/main" val="240699804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931F7C-4941-8036-AF1F-DD3D7EC558B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462CE9-4341-F79A-E018-53FEB32271A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C033D12-3888-7A57-820C-54EADABE66D1}"/>
              </a:ext>
            </a:extLst>
          </p:cNvPr>
          <p:cNvSpPr>
            <a:spLocks noGrp="1"/>
          </p:cNvSpPr>
          <p:nvPr>
            <p:ph type="body" idx="1"/>
          </p:nvPr>
        </p:nvSpPr>
        <p:spPr/>
        <p:txBody>
          <a:bodyPr/>
          <a:lstStyle/>
          <a:p>
            <a:r>
              <a:rPr lang="en-US" dirty="0" err="1"/>
              <a:t>w_p</a:t>
            </a:r>
            <a:r>
              <a:rPr lang="en-US" dirty="0"/>
              <a:t> models some heat disturbance acting on the piece of paper as it is leaving the printer, </a:t>
            </a:r>
            <a:r>
              <a:rPr lang="en-NL" dirty="0"/>
              <a:t>such as drying heat, warm airflow, or ambient temperature</a:t>
            </a:r>
            <a:r>
              <a:rPr lang="en-US" dirty="0"/>
              <a:t>. Our performance channel </a:t>
            </a:r>
            <a:r>
              <a:rPr lang="en-US" dirty="0" err="1"/>
              <a:t>z_p</a:t>
            </a:r>
            <a:r>
              <a:rPr lang="en-US" dirty="0"/>
              <a:t> wants to know what effect this disturbance has on the average temperature of our sheet of paper. Lets put this equation in to a more generic form that is easier to interpret the LFR structure</a:t>
            </a:r>
            <a:endParaRPr lang="en-NL" dirty="0"/>
          </a:p>
        </p:txBody>
      </p:sp>
      <p:sp>
        <p:nvSpPr>
          <p:cNvPr id="4" name="Slide Number Placeholder 3">
            <a:extLst>
              <a:ext uri="{FF2B5EF4-FFF2-40B4-BE49-F238E27FC236}">
                <a16:creationId xmlns:a16="http://schemas.microsoft.com/office/drawing/2014/main" id="{380B9D66-0D3B-3A7A-7112-3C6458BCCF48}"/>
              </a:ext>
            </a:extLst>
          </p:cNvPr>
          <p:cNvSpPr>
            <a:spLocks noGrp="1"/>
          </p:cNvSpPr>
          <p:nvPr>
            <p:ph type="sldNum" sz="quarter" idx="5"/>
          </p:nvPr>
        </p:nvSpPr>
        <p:spPr/>
        <p:txBody>
          <a:bodyPr/>
          <a:lstStyle/>
          <a:p>
            <a:fld id="{AA799BBE-B871-48D7-983C-C0B1D7156DCD}" type="slidenum">
              <a:rPr lang="en-GB" smtClean="0"/>
              <a:t>38</a:t>
            </a:fld>
            <a:endParaRPr lang="en-GB"/>
          </a:p>
        </p:txBody>
      </p:sp>
    </p:spTree>
    <p:extLst>
      <p:ext uri="{BB962C8B-B14F-4D97-AF65-F5344CB8AC3E}">
        <p14:creationId xmlns:p14="http://schemas.microsoft.com/office/powerpoint/2010/main" val="332561038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A3F3D3-0EE7-9C56-6E24-F23744BC1BA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4F64D4-DA47-D55E-DDF6-DC3F9DC497B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197E073-FB25-F0BB-AB31-C5B13D1937F4}"/>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D55E1D78-9390-2689-3F12-B63F667D810B}"/>
              </a:ext>
            </a:extLst>
          </p:cNvPr>
          <p:cNvSpPr>
            <a:spLocks noGrp="1"/>
          </p:cNvSpPr>
          <p:nvPr>
            <p:ph type="sldNum" sz="quarter" idx="5"/>
          </p:nvPr>
        </p:nvSpPr>
        <p:spPr/>
        <p:txBody>
          <a:bodyPr/>
          <a:lstStyle/>
          <a:p>
            <a:fld id="{AA799BBE-B871-48D7-983C-C0B1D7156DCD}" type="slidenum">
              <a:rPr lang="en-GB" smtClean="0"/>
              <a:t>39</a:t>
            </a:fld>
            <a:endParaRPr lang="en-GB"/>
          </a:p>
        </p:txBody>
      </p:sp>
    </p:spTree>
    <p:extLst>
      <p:ext uri="{BB962C8B-B14F-4D97-AF65-F5344CB8AC3E}">
        <p14:creationId xmlns:p14="http://schemas.microsoft.com/office/powerpoint/2010/main" val="179117885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CF62B4-F904-B835-A741-73497CB16D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C6FFB3-7E02-49A4-3E4E-DC17E34B4F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DDF093-9020-D34C-87ED-B8C07956611C}"/>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B12BE2F6-1DD2-2BF9-4F95-37D67A282D76}"/>
              </a:ext>
            </a:extLst>
          </p:cNvPr>
          <p:cNvSpPr>
            <a:spLocks noGrp="1"/>
          </p:cNvSpPr>
          <p:nvPr>
            <p:ph type="sldNum" sz="quarter" idx="5"/>
          </p:nvPr>
        </p:nvSpPr>
        <p:spPr/>
        <p:txBody>
          <a:bodyPr/>
          <a:lstStyle/>
          <a:p>
            <a:fld id="{AA799BBE-B871-48D7-983C-C0B1D7156DCD}" type="slidenum">
              <a:rPr lang="en-GB" smtClean="0"/>
              <a:t>40</a:t>
            </a:fld>
            <a:endParaRPr lang="en-GB"/>
          </a:p>
        </p:txBody>
      </p:sp>
    </p:spTree>
    <p:extLst>
      <p:ext uri="{BB962C8B-B14F-4D97-AF65-F5344CB8AC3E}">
        <p14:creationId xmlns:p14="http://schemas.microsoft.com/office/powerpoint/2010/main" val="281650727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0692FC-E50E-7410-1948-F596E5B405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EBECD8-34FD-7060-6F13-3DB07A27BC0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82CF1FE-4F29-D212-5370-A7C0F85E3704}"/>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B296F4E6-2143-3F0C-6EDB-57BE7FBCE002}"/>
              </a:ext>
            </a:extLst>
          </p:cNvPr>
          <p:cNvSpPr>
            <a:spLocks noGrp="1"/>
          </p:cNvSpPr>
          <p:nvPr>
            <p:ph type="sldNum" sz="quarter" idx="5"/>
          </p:nvPr>
        </p:nvSpPr>
        <p:spPr/>
        <p:txBody>
          <a:bodyPr/>
          <a:lstStyle/>
          <a:p>
            <a:fld id="{AA799BBE-B871-48D7-983C-C0B1D7156DCD}" type="slidenum">
              <a:rPr lang="en-GB" smtClean="0"/>
              <a:t>41</a:t>
            </a:fld>
            <a:endParaRPr lang="en-GB"/>
          </a:p>
        </p:txBody>
      </p:sp>
    </p:spTree>
    <p:extLst>
      <p:ext uri="{BB962C8B-B14F-4D97-AF65-F5344CB8AC3E}">
        <p14:creationId xmlns:p14="http://schemas.microsoft.com/office/powerpoint/2010/main" val="693633490"/>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A9B25A-1FF9-FD01-FB79-13D266FF2E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7EAA84D-3CD8-3C17-8815-B2FD7BC4A68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6FC7A1D-2549-2D4A-CC60-12DA3130D141}"/>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endParaRPr lang="en-NL" dirty="0"/>
          </a:p>
        </p:txBody>
      </p:sp>
      <p:sp>
        <p:nvSpPr>
          <p:cNvPr id="4" name="Slide Number Placeholder 3">
            <a:extLst>
              <a:ext uri="{FF2B5EF4-FFF2-40B4-BE49-F238E27FC236}">
                <a16:creationId xmlns:a16="http://schemas.microsoft.com/office/drawing/2014/main" id="{59A52DDA-0371-289C-2514-C51B87AB1A93}"/>
              </a:ext>
            </a:extLst>
          </p:cNvPr>
          <p:cNvSpPr>
            <a:spLocks noGrp="1"/>
          </p:cNvSpPr>
          <p:nvPr>
            <p:ph type="sldNum" sz="quarter" idx="5"/>
          </p:nvPr>
        </p:nvSpPr>
        <p:spPr/>
        <p:txBody>
          <a:bodyPr/>
          <a:lstStyle/>
          <a:p>
            <a:fld id="{AA799BBE-B871-48D7-983C-C0B1D7156DCD}" type="slidenum">
              <a:rPr lang="en-GB" smtClean="0"/>
              <a:t>42</a:t>
            </a:fld>
            <a:endParaRPr lang="en-GB"/>
          </a:p>
        </p:txBody>
      </p:sp>
    </p:spTree>
    <p:extLst>
      <p:ext uri="{BB962C8B-B14F-4D97-AF65-F5344CB8AC3E}">
        <p14:creationId xmlns:p14="http://schemas.microsoft.com/office/powerpoint/2010/main" val="403928453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Clean White - Title">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44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title</a:t>
            </a:r>
          </a:p>
        </p:txBody>
      </p:sp>
      <p:sp>
        <p:nvSpPr>
          <p:cNvPr id="3" name="Clean subTitle 1"/>
          <p:cNvSpPr>
            <a:spLocks noGrp="1"/>
          </p:cNvSpPr>
          <p:nvPr>
            <p:ph type="subTitle" idx="1"/>
          </p:nvPr>
        </p:nvSpPr>
        <p:spPr>
          <a:xfrm>
            <a:off x="457200" y="1663700"/>
            <a:ext cx="8229600" cy="4064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sp>
        <p:nvSpPr>
          <p:cNvPr id="4" name="Clean body 13"/>
          <p:cNvSpPr>
            <a:spLocks noGrp="1"/>
          </p:cNvSpPr>
          <p:nvPr>
            <p:ph type="body" idx="13"/>
          </p:nvPr>
        </p:nvSpPr>
        <p:spPr>
          <a:xfrm>
            <a:off x="457200" y="2971800"/>
            <a:ext cx="3276600" cy="749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252529"/>
                </a:solidFill>
                <a:latin typeface="Aptos"/>
                <a:ea typeface="Aptos"/>
                <a:cs typeface="Aptos"/>
              </a:defRPr>
            </a:lvl1pPr>
            <a:lvl2pPr marL="203200" indent="0" algn="l">
              <a:lnSpc>
                <a:spcPct val="112000"/>
              </a:lnSpc>
              <a:spcAft>
                <a:spcPts val="0"/>
              </a:spcAft>
              <a:buNone/>
              <a:defRPr sz="1400" b="0">
                <a:solidFill>
                  <a:srgbClr val="252529"/>
                </a:solidFill>
                <a:latin typeface="Aptos"/>
                <a:ea typeface="Aptos"/>
                <a:cs typeface="Aptos"/>
              </a:defRPr>
            </a:lvl2pPr>
            <a:lvl3pPr marL="406400" indent="0" algn="l">
              <a:lnSpc>
                <a:spcPct val="112000"/>
              </a:lnSpc>
              <a:spcAft>
                <a:spcPts val="0"/>
              </a:spcAft>
              <a:buNone/>
              <a:defRPr sz="1400" b="0">
                <a:solidFill>
                  <a:srgbClr val="252529"/>
                </a:solidFill>
                <a:latin typeface="Aptos"/>
                <a:ea typeface="Aptos"/>
                <a:cs typeface="Aptos"/>
              </a:defRPr>
            </a:lvl3pPr>
            <a:lvl4pPr marL="609600" indent="0" algn="l">
              <a:lnSpc>
                <a:spcPct val="112000"/>
              </a:lnSpc>
              <a:spcAft>
                <a:spcPts val="0"/>
              </a:spcAft>
              <a:buNone/>
              <a:defRPr sz="14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0"/>
              </a:spcAft>
              <a:buNone/>
              <a:defRPr sz="1300" b="0">
                <a:solidFill>
                  <a:srgbClr val="252529"/>
                </a:solidFill>
                <a:latin typeface="Aptos"/>
                <a:ea typeface="Aptos"/>
                <a:cs typeface="Aptos"/>
              </a:defRPr>
            </a:pPr>
            <a:r>
              <a:t>Name and supervisor</a:t>
            </a:r>
          </a:p>
        </p:txBody>
      </p:sp>
      <p:sp>
        <p:nvSpPr>
          <p:cNvPr id="5" name="Clean body 14"/>
          <p:cNvSpPr>
            <a:spLocks noGrp="1"/>
          </p:cNvSpPr>
          <p:nvPr>
            <p:ph type="body" idx="14"/>
          </p:nvPr>
        </p:nvSpPr>
        <p:spPr>
          <a:xfrm>
            <a:off x="457200" y="3835400"/>
            <a:ext cx="3276600" cy="368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1100" b="0">
                <a:solidFill>
                  <a:srgbClr val="747B82"/>
                </a:solidFill>
                <a:latin typeface="Aptos"/>
                <a:ea typeface="Aptos"/>
                <a:cs typeface="Aptos"/>
              </a:defRPr>
            </a:pPr>
            <a:r>
              <a:t>Department / date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secHead" preserve="1">
  <p:cSld name="Clean White - Section">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171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section title</a:t>
            </a:r>
          </a:p>
        </p:txBody>
      </p:sp>
      <p:sp>
        <p:nvSpPr>
          <p:cNvPr id="3" name="Clean subTitle 1"/>
          <p:cNvSpPr>
            <a:spLocks noGrp="1"/>
          </p:cNvSpPr>
          <p:nvPr>
            <p:ph type="subTitle" idx="1"/>
          </p:nvPr>
        </p:nvSpPr>
        <p:spPr>
          <a:xfrm>
            <a:off x="457200" y="3048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itle" preserve="1">
  <p:cSld name="Clean White - Title with figure">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44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title</a:t>
            </a:r>
          </a:p>
        </p:txBody>
      </p:sp>
      <p:sp>
        <p:nvSpPr>
          <p:cNvPr id="3" name="Clean subTitle 1"/>
          <p:cNvSpPr>
            <a:spLocks noGrp="1"/>
          </p:cNvSpPr>
          <p:nvPr>
            <p:ph type="subTitle" idx="1"/>
          </p:nvPr>
        </p:nvSpPr>
        <p:spPr>
          <a:xfrm>
            <a:off x="457200" y="1663700"/>
            <a:ext cx="8229600" cy="4064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sp>
        <p:nvSpPr>
          <p:cNvPr id="4" name="Clean body 13"/>
          <p:cNvSpPr>
            <a:spLocks noGrp="1"/>
          </p:cNvSpPr>
          <p:nvPr>
            <p:ph type="body" idx="13"/>
          </p:nvPr>
        </p:nvSpPr>
        <p:spPr>
          <a:xfrm>
            <a:off x="457200" y="2971800"/>
            <a:ext cx="3276600" cy="749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252529"/>
                </a:solidFill>
                <a:latin typeface="Aptos"/>
                <a:ea typeface="Aptos"/>
                <a:cs typeface="Aptos"/>
              </a:defRPr>
            </a:lvl1pPr>
            <a:lvl2pPr marL="203200" indent="0" algn="l">
              <a:lnSpc>
                <a:spcPct val="112000"/>
              </a:lnSpc>
              <a:spcAft>
                <a:spcPts val="0"/>
              </a:spcAft>
              <a:buNone/>
              <a:defRPr sz="1400" b="0">
                <a:solidFill>
                  <a:srgbClr val="252529"/>
                </a:solidFill>
                <a:latin typeface="Aptos"/>
                <a:ea typeface="Aptos"/>
                <a:cs typeface="Aptos"/>
              </a:defRPr>
            </a:lvl2pPr>
            <a:lvl3pPr marL="406400" indent="0" algn="l">
              <a:lnSpc>
                <a:spcPct val="112000"/>
              </a:lnSpc>
              <a:spcAft>
                <a:spcPts val="0"/>
              </a:spcAft>
              <a:buNone/>
              <a:defRPr sz="1400" b="0">
                <a:solidFill>
                  <a:srgbClr val="252529"/>
                </a:solidFill>
                <a:latin typeface="Aptos"/>
                <a:ea typeface="Aptos"/>
                <a:cs typeface="Aptos"/>
              </a:defRPr>
            </a:lvl3pPr>
            <a:lvl4pPr marL="609600" indent="0" algn="l">
              <a:lnSpc>
                <a:spcPct val="112000"/>
              </a:lnSpc>
              <a:spcAft>
                <a:spcPts val="0"/>
              </a:spcAft>
              <a:buNone/>
              <a:defRPr sz="14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0"/>
              </a:spcAft>
              <a:buNone/>
              <a:defRPr sz="1300" b="0">
                <a:solidFill>
                  <a:srgbClr val="252529"/>
                </a:solidFill>
                <a:latin typeface="Aptos"/>
                <a:ea typeface="Aptos"/>
                <a:cs typeface="Aptos"/>
              </a:defRPr>
            </a:pPr>
            <a:r>
              <a:t>Name and supervisor</a:t>
            </a:r>
          </a:p>
        </p:txBody>
      </p:sp>
      <p:sp>
        <p:nvSpPr>
          <p:cNvPr id="5" name="Clean body 14"/>
          <p:cNvSpPr>
            <a:spLocks noGrp="1"/>
          </p:cNvSpPr>
          <p:nvPr>
            <p:ph type="body" idx="14"/>
          </p:nvPr>
        </p:nvSpPr>
        <p:spPr>
          <a:xfrm>
            <a:off x="457200" y="3835400"/>
            <a:ext cx="3276600" cy="368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1100" b="0">
                <a:solidFill>
                  <a:srgbClr val="747B82"/>
                </a:solidFill>
                <a:latin typeface="Aptos"/>
                <a:ea typeface="Aptos"/>
                <a:cs typeface="Aptos"/>
              </a:defRPr>
            </a:pPr>
            <a:r>
              <a:t>Department / date</a:t>
            </a:r>
          </a:p>
        </p:txBody>
      </p:sp>
      <p:sp>
        <p:nvSpPr>
          <p:cNvPr id="25" name="Clean pic 15"/>
          <p:cNvSpPr>
            <a:spLocks noGrp="1"/>
          </p:cNvSpPr>
          <p:nvPr>
            <p:ph type="pic" idx="15"/>
          </p:nvPr>
        </p:nvSpPr>
        <p:spPr>
          <a:xfrm>
            <a:off x="4381500" y="2349500"/>
            <a:ext cx="4064000" cy="20701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Clean White - Title and Conten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Clean White - Comparison">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444500"/>
            <a:ext cx="3911600" cy="863600"/>
          </a:xfrm>
          <a:prstGeom prst="rect">
            <a:avLst/>
          </a:prstGeom>
          <a:noFill/>
          <a:ln>
            <a:noFill/>
          </a:ln>
        </p:spPr>
        <p:txBody>
          <a:bodyPr wrap="square" lIns="0" tIns="0" rIns="0" bIns="0" anchor="t">
            <a:noAutofit/>
          </a:bodyPr>
          <a:lstStyle>
            <a:lvl1pPr marL="0" indent="0" algn="l">
              <a:lnSpc>
                <a:spcPct val="112000"/>
              </a:lnSpc>
              <a:spcAft>
                <a:spcPts val="0"/>
              </a:spcAft>
              <a:buNone/>
              <a:defRPr sz="2000" b="1">
                <a:solidFill>
                  <a:srgbClr val="252529"/>
                </a:solidFill>
                <a:latin typeface="Aptos"/>
                <a:ea typeface="Aptos"/>
                <a:cs typeface="Aptos"/>
              </a:defRPr>
            </a:lvl1pPr>
            <a:lvl2pPr marL="203200" indent="0" algn="l">
              <a:lnSpc>
                <a:spcPct val="112000"/>
              </a:lnSpc>
              <a:spcAft>
                <a:spcPts val="0"/>
              </a:spcAft>
              <a:buNone/>
              <a:defRPr sz="1900" b="1">
                <a:solidFill>
                  <a:srgbClr val="252529"/>
                </a:solidFill>
                <a:latin typeface="Aptos"/>
                <a:ea typeface="Aptos"/>
                <a:cs typeface="Aptos"/>
              </a:defRPr>
            </a:lvl2pPr>
            <a:lvl3pPr marL="406400" indent="0" algn="l">
              <a:lnSpc>
                <a:spcPct val="112000"/>
              </a:lnSpc>
              <a:spcAft>
                <a:spcPts val="0"/>
              </a:spcAft>
              <a:buNone/>
              <a:defRPr sz="1800" b="1">
                <a:solidFill>
                  <a:srgbClr val="252529"/>
                </a:solidFill>
                <a:latin typeface="Aptos"/>
                <a:ea typeface="Aptos"/>
                <a:cs typeface="Aptos"/>
              </a:defRPr>
            </a:lvl3pPr>
            <a:lvl4pPr marL="609600" indent="0" algn="l">
              <a:lnSpc>
                <a:spcPct val="112000"/>
              </a:lnSpc>
              <a:spcAft>
                <a:spcPts val="0"/>
              </a:spcAft>
              <a:buNone/>
              <a:defRPr sz="1700" b="1">
                <a:solidFill>
                  <a:srgbClr val="252529"/>
                </a:solidFill>
                <a:latin typeface="Aptos"/>
                <a:ea typeface="Aptos"/>
                <a:cs typeface="Aptos"/>
              </a:defRPr>
            </a:lvl4pPr>
            <a:lvl5pPr marL="812800" indent="0" algn="l">
              <a:lnSpc>
                <a:spcPct val="112000"/>
              </a:lnSpc>
              <a:spcAft>
                <a:spcPts val="0"/>
              </a:spcAft>
              <a:buNone/>
              <a:defRPr sz="1600" b="1">
                <a:solidFill>
                  <a:srgbClr val="252529"/>
                </a:solidFill>
                <a:latin typeface="Aptos"/>
                <a:ea typeface="Aptos"/>
                <a:cs typeface="Aptos"/>
              </a:defRPr>
            </a:lvl5pPr>
            <a:lvl6pPr marL="1016000" indent="0" algn="l">
              <a:lnSpc>
                <a:spcPct val="112000"/>
              </a:lnSpc>
              <a:spcAft>
                <a:spcPts val="0"/>
              </a:spcAft>
              <a:buNone/>
              <a:defRPr sz="1500" b="1">
                <a:solidFill>
                  <a:srgbClr val="252529"/>
                </a:solidFill>
                <a:latin typeface="Aptos"/>
                <a:ea typeface="Aptos"/>
                <a:cs typeface="Aptos"/>
              </a:defRPr>
            </a:lvl6pPr>
            <a:lvl7pPr marL="1219200" indent="0" algn="l">
              <a:lnSpc>
                <a:spcPct val="112000"/>
              </a:lnSpc>
              <a:spcAft>
                <a:spcPts val="0"/>
              </a:spcAft>
              <a:buNone/>
              <a:defRPr sz="1400" b="1">
                <a:solidFill>
                  <a:srgbClr val="252529"/>
                </a:solidFill>
                <a:latin typeface="Aptos"/>
                <a:ea typeface="Aptos"/>
                <a:cs typeface="Aptos"/>
              </a:defRPr>
            </a:lvl7pPr>
            <a:lvl8pPr marL="1422400" indent="0" algn="l">
              <a:lnSpc>
                <a:spcPct val="112000"/>
              </a:lnSpc>
              <a:spcAft>
                <a:spcPts val="0"/>
              </a:spcAft>
              <a:buNone/>
              <a:defRPr sz="1400" b="1">
                <a:solidFill>
                  <a:srgbClr val="252529"/>
                </a:solidFill>
                <a:latin typeface="Aptos"/>
                <a:ea typeface="Aptos"/>
                <a:cs typeface="Aptos"/>
              </a:defRPr>
            </a:lvl8pPr>
            <a:lvl9pPr marL="1625600" indent="0" algn="l">
              <a:lnSpc>
                <a:spcPct val="112000"/>
              </a:lnSpc>
              <a:spcAft>
                <a:spcPts val="0"/>
              </a:spcAft>
              <a:buNone/>
              <a:defRPr sz="1400" b="1">
                <a:solidFill>
                  <a:srgbClr val="252529"/>
                </a:solidFill>
                <a:latin typeface="Aptos"/>
                <a:ea typeface="Aptos"/>
                <a:cs typeface="Aptos"/>
              </a:defRPr>
            </a:lvl9pPr>
          </a:lstStyle>
          <a:p>
            <a:pPr marL="0" indent="0" algn="l">
              <a:lnSpc>
                <a:spcPct val="112000"/>
              </a:lnSpc>
              <a:spcAft>
                <a:spcPts val="0"/>
              </a:spcAft>
              <a:buNone/>
              <a:defRPr sz="2000" b="1">
                <a:solidFill>
                  <a:srgbClr val="252529"/>
                </a:solidFill>
                <a:latin typeface="Aptos"/>
                <a:ea typeface="Aptos"/>
                <a:cs typeface="Aptos"/>
              </a:defRPr>
            </a:pPr>
            <a:r>
              <a:t>Left heading</a:t>
            </a:r>
          </a:p>
        </p:txBody>
      </p:sp>
      <p:sp>
        <p:nvSpPr>
          <p:cNvPr id="23" name="Clean body 13"/>
          <p:cNvSpPr>
            <a:spLocks noGrp="1"/>
          </p:cNvSpPr>
          <p:nvPr>
            <p:ph type="body" idx="13"/>
          </p:nvPr>
        </p:nvSpPr>
        <p:spPr>
          <a:xfrm>
            <a:off x="4775200" y="444500"/>
            <a:ext cx="3911600" cy="863600"/>
          </a:xfrm>
          <a:prstGeom prst="rect">
            <a:avLst/>
          </a:prstGeom>
          <a:noFill/>
          <a:ln>
            <a:noFill/>
          </a:ln>
        </p:spPr>
        <p:txBody>
          <a:bodyPr wrap="square" lIns="0" tIns="0" rIns="0" bIns="0" anchor="t">
            <a:noAutofit/>
          </a:bodyPr>
          <a:lstStyle>
            <a:lvl1pPr marL="0" indent="0" algn="l">
              <a:lnSpc>
                <a:spcPct val="112000"/>
              </a:lnSpc>
              <a:spcAft>
                <a:spcPts val="0"/>
              </a:spcAft>
              <a:buNone/>
              <a:defRPr sz="2000" b="1">
                <a:solidFill>
                  <a:srgbClr val="252529"/>
                </a:solidFill>
                <a:latin typeface="Aptos"/>
                <a:ea typeface="Aptos"/>
                <a:cs typeface="Aptos"/>
              </a:defRPr>
            </a:lvl1pPr>
            <a:lvl2pPr marL="203200" indent="0" algn="l">
              <a:lnSpc>
                <a:spcPct val="112000"/>
              </a:lnSpc>
              <a:spcAft>
                <a:spcPts val="0"/>
              </a:spcAft>
              <a:buNone/>
              <a:defRPr sz="1900" b="1">
                <a:solidFill>
                  <a:srgbClr val="252529"/>
                </a:solidFill>
                <a:latin typeface="Aptos"/>
                <a:ea typeface="Aptos"/>
                <a:cs typeface="Aptos"/>
              </a:defRPr>
            </a:lvl2pPr>
            <a:lvl3pPr marL="406400" indent="0" algn="l">
              <a:lnSpc>
                <a:spcPct val="112000"/>
              </a:lnSpc>
              <a:spcAft>
                <a:spcPts val="0"/>
              </a:spcAft>
              <a:buNone/>
              <a:defRPr sz="1800" b="1">
                <a:solidFill>
                  <a:srgbClr val="252529"/>
                </a:solidFill>
                <a:latin typeface="Aptos"/>
                <a:ea typeface="Aptos"/>
                <a:cs typeface="Aptos"/>
              </a:defRPr>
            </a:lvl3pPr>
            <a:lvl4pPr marL="609600" indent="0" algn="l">
              <a:lnSpc>
                <a:spcPct val="112000"/>
              </a:lnSpc>
              <a:spcAft>
                <a:spcPts val="0"/>
              </a:spcAft>
              <a:buNone/>
              <a:defRPr sz="1700" b="1">
                <a:solidFill>
                  <a:srgbClr val="252529"/>
                </a:solidFill>
                <a:latin typeface="Aptos"/>
                <a:ea typeface="Aptos"/>
                <a:cs typeface="Aptos"/>
              </a:defRPr>
            </a:lvl4pPr>
            <a:lvl5pPr marL="812800" indent="0" algn="l">
              <a:lnSpc>
                <a:spcPct val="112000"/>
              </a:lnSpc>
              <a:spcAft>
                <a:spcPts val="0"/>
              </a:spcAft>
              <a:buNone/>
              <a:defRPr sz="1600" b="1">
                <a:solidFill>
                  <a:srgbClr val="252529"/>
                </a:solidFill>
                <a:latin typeface="Aptos"/>
                <a:ea typeface="Aptos"/>
                <a:cs typeface="Aptos"/>
              </a:defRPr>
            </a:lvl5pPr>
            <a:lvl6pPr marL="1016000" indent="0" algn="l">
              <a:lnSpc>
                <a:spcPct val="112000"/>
              </a:lnSpc>
              <a:spcAft>
                <a:spcPts val="0"/>
              </a:spcAft>
              <a:buNone/>
              <a:defRPr sz="1500" b="1">
                <a:solidFill>
                  <a:srgbClr val="252529"/>
                </a:solidFill>
                <a:latin typeface="Aptos"/>
                <a:ea typeface="Aptos"/>
                <a:cs typeface="Aptos"/>
              </a:defRPr>
            </a:lvl6pPr>
            <a:lvl7pPr marL="1219200" indent="0" algn="l">
              <a:lnSpc>
                <a:spcPct val="112000"/>
              </a:lnSpc>
              <a:spcAft>
                <a:spcPts val="0"/>
              </a:spcAft>
              <a:buNone/>
              <a:defRPr sz="1400" b="1">
                <a:solidFill>
                  <a:srgbClr val="252529"/>
                </a:solidFill>
                <a:latin typeface="Aptos"/>
                <a:ea typeface="Aptos"/>
                <a:cs typeface="Aptos"/>
              </a:defRPr>
            </a:lvl7pPr>
            <a:lvl8pPr marL="1422400" indent="0" algn="l">
              <a:lnSpc>
                <a:spcPct val="112000"/>
              </a:lnSpc>
              <a:spcAft>
                <a:spcPts val="0"/>
              </a:spcAft>
              <a:buNone/>
              <a:defRPr sz="1400" b="1">
                <a:solidFill>
                  <a:srgbClr val="252529"/>
                </a:solidFill>
                <a:latin typeface="Aptos"/>
                <a:ea typeface="Aptos"/>
                <a:cs typeface="Aptos"/>
              </a:defRPr>
            </a:lvl8pPr>
            <a:lvl9pPr marL="1625600" indent="0" algn="l">
              <a:lnSpc>
                <a:spcPct val="112000"/>
              </a:lnSpc>
              <a:spcAft>
                <a:spcPts val="0"/>
              </a:spcAft>
              <a:buNone/>
              <a:defRPr sz="1400" b="1">
                <a:solidFill>
                  <a:srgbClr val="252529"/>
                </a:solidFill>
                <a:latin typeface="Aptos"/>
                <a:ea typeface="Aptos"/>
                <a:cs typeface="Aptos"/>
              </a:defRPr>
            </a:lvl9pPr>
          </a:lstStyle>
          <a:p>
            <a:pPr marL="0" indent="0" algn="l">
              <a:lnSpc>
                <a:spcPct val="112000"/>
              </a:lnSpc>
              <a:spcAft>
                <a:spcPts val="0"/>
              </a:spcAft>
              <a:buNone/>
              <a:defRPr sz="2000" b="1">
                <a:solidFill>
                  <a:srgbClr val="252529"/>
                </a:solidFill>
                <a:latin typeface="Aptos"/>
                <a:ea typeface="Aptos"/>
                <a:cs typeface="Aptos"/>
              </a:defRPr>
            </a:pPr>
            <a:r>
              <a:t>Right heading</a:t>
            </a:r>
          </a:p>
        </p:txBody>
      </p:sp>
      <p:sp>
        <p:nvSpPr>
          <p:cNvPr id="11" name="Clean obj 1"/>
          <p:cNvSpPr>
            <a:spLocks noGrp="1"/>
          </p:cNvSpPr>
          <p:nvPr>
            <p:ph idx="1"/>
          </p:nvPr>
        </p:nvSpPr>
        <p:spPr>
          <a:xfrm>
            <a:off x="457200" y="1536700"/>
            <a:ext cx="3911600" cy="2921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12" name="Clean obj 2"/>
          <p:cNvSpPr>
            <a:spLocks noGrp="1"/>
          </p:cNvSpPr>
          <p:nvPr>
            <p:ph idx="2"/>
          </p:nvPr>
        </p:nvSpPr>
        <p:spPr>
          <a:xfrm>
            <a:off x="4775200" y="1536700"/>
            <a:ext cx="3911600" cy="2921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6.xml><?xml version="1.0" encoding="utf-8"?>
<p:sldLayout xmlns:a="http://schemas.openxmlformats.org/drawingml/2006/main" xmlns:r="http://schemas.openxmlformats.org/officeDocument/2006/relationships" xmlns:p="http://schemas.openxmlformats.org/presentationml/2006/main" type="objTx" preserve="1">
  <p:cSld name="Clean White - Text and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23" name="Clean pic 13"/>
          <p:cNvSpPr>
            <a:spLocks noGrp="1"/>
          </p:cNvSpPr>
          <p:nvPr>
            <p:ph type="pic" idx="13"/>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lean White - Wide Text and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53340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23" name="Clean pic 13"/>
          <p:cNvSpPr>
            <a:spLocks noGrp="1"/>
          </p:cNvSpPr>
          <p:nvPr>
            <p:ph type="pic" idx="13"/>
          </p:nvPr>
        </p:nvSpPr>
        <p:spPr>
          <a:xfrm>
            <a:off x="6248400" y="1219200"/>
            <a:ext cx="24384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Clean White - Figure and Caption">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obj 13"/>
          <p:cNvSpPr>
            <a:spLocks noGrp="1"/>
          </p:cNvSpPr>
          <p:nvPr>
            <p:ph idx="13"/>
          </p:nvPr>
        </p:nvSpPr>
        <p:spPr>
          <a:xfrm>
            <a:off x="1625600" y="1092200"/>
            <a:ext cx="5892800" cy="33147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figure or video</a:t>
            </a:r>
          </a:p>
        </p:txBody>
      </p:sp>
      <p:sp>
        <p:nvSpPr>
          <p:cNvPr id="24" name="Clean body 14"/>
          <p:cNvSpPr>
            <a:spLocks noGrp="1"/>
          </p:cNvSpPr>
          <p:nvPr>
            <p:ph type="body" idx="14"/>
          </p:nvPr>
        </p:nvSpPr>
        <p:spPr>
          <a:xfrm>
            <a:off x="914400" y="4470400"/>
            <a:ext cx="7315200" cy="254000"/>
          </a:xfrm>
          <a:prstGeom prst="rect">
            <a:avLst/>
          </a:prstGeom>
          <a:noFill/>
          <a:ln>
            <a:noFill/>
          </a:ln>
        </p:spPr>
        <p:txBody>
          <a:bodyPr wrap="square" lIns="0" tIns="0" rIns="0" bIns="0" anchor="t">
            <a:noAutofit/>
          </a:bodyPr>
          <a:lstStyle>
            <a:lvl1pPr marL="0" indent="0" algn="ctr">
              <a:lnSpc>
                <a:spcPct val="112000"/>
              </a:lnSpc>
              <a:spcAft>
                <a:spcPts val="0"/>
              </a:spcAft>
              <a:buNone/>
              <a:defRPr sz="1400" b="0">
                <a:solidFill>
                  <a:srgbClr val="747B82"/>
                </a:solidFill>
                <a:latin typeface="Aptos"/>
                <a:ea typeface="Aptos"/>
                <a:cs typeface="Aptos"/>
              </a:defRPr>
            </a:lvl1pPr>
            <a:lvl2pPr marL="203200" indent="0" algn="ctr">
              <a:lnSpc>
                <a:spcPct val="112000"/>
              </a:lnSpc>
              <a:spcAft>
                <a:spcPts val="0"/>
              </a:spcAft>
              <a:buNone/>
              <a:defRPr sz="1400" b="0">
                <a:solidFill>
                  <a:srgbClr val="747B82"/>
                </a:solidFill>
                <a:latin typeface="Aptos"/>
                <a:ea typeface="Aptos"/>
                <a:cs typeface="Aptos"/>
              </a:defRPr>
            </a:lvl2pPr>
            <a:lvl3pPr marL="406400" indent="0" algn="ctr">
              <a:lnSpc>
                <a:spcPct val="112000"/>
              </a:lnSpc>
              <a:spcAft>
                <a:spcPts val="0"/>
              </a:spcAft>
              <a:buNone/>
              <a:defRPr sz="1400" b="0">
                <a:solidFill>
                  <a:srgbClr val="747B82"/>
                </a:solidFill>
                <a:latin typeface="Aptos"/>
                <a:ea typeface="Aptos"/>
                <a:cs typeface="Aptos"/>
              </a:defRPr>
            </a:lvl3pPr>
            <a:lvl4pPr marL="609600" indent="0" algn="ctr">
              <a:lnSpc>
                <a:spcPct val="112000"/>
              </a:lnSpc>
              <a:spcAft>
                <a:spcPts val="0"/>
              </a:spcAft>
              <a:buNone/>
              <a:defRPr sz="1400" b="0">
                <a:solidFill>
                  <a:srgbClr val="747B82"/>
                </a:solidFill>
                <a:latin typeface="Aptos"/>
                <a:ea typeface="Aptos"/>
                <a:cs typeface="Aptos"/>
              </a:defRPr>
            </a:lvl4pPr>
            <a:lvl5pPr marL="812800" indent="0" algn="ctr">
              <a:lnSpc>
                <a:spcPct val="112000"/>
              </a:lnSpc>
              <a:spcAft>
                <a:spcPts val="0"/>
              </a:spcAft>
              <a:buNone/>
              <a:defRPr sz="1400" b="0">
                <a:solidFill>
                  <a:srgbClr val="747B82"/>
                </a:solidFill>
                <a:latin typeface="Aptos"/>
                <a:ea typeface="Aptos"/>
                <a:cs typeface="Aptos"/>
              </a:defRPr>
            </a:lvl5pPr>
            <a:lvl6pPr marL="1016000" indent="0" algn="ctr">
              <a:lnSpc>
                <a:spcPct val="112000"/>
              </a:lnSpc>
              <a:spcAft>
                <a:spcPts val="0"/>
              </a:spcAft>
              <a:buNone/>
              <a:defRPr sz="1400" b="0">
                <a:solidFill>
                  <a:srgbClr val="747B82"/>
                </a:solidFill>
                <a:latin typeface="Aptos"/>
                <a:ea typeface="Aptos"/>
                <a:cs typeface="Aptos"/>
              </a:defRPr>
            </a:lvl6pPr>
            <a:lvl7pPr marL="1219200" indent="0" algn="ctr">
              <a:lnSpc>
                <a:spcPct val="112000"/>
              </a:lnSpc>
              <a:spcAft>
                <a:spcPts val="0"/>
              </a:spcAft>
              <a:buNone/>
              <a:defRPr sz="1400" b="0">
                <a:solidFill>
                  <a:srgbClr val="747B82"/>
                </a:solidFill>
                <a:latin typeface="Aptos"/>
                <a:ea typeface="Aptos"/>
                <a:cs typeface="Aptos"/>
              </a:defRPr>
            </a:lvl7pPr>
            <a:lvl8pPr marL="1422400" indent="0" algn="ctr">
              <a:lnSpc>
                <a:spcPct val="112000"/>
              </a:lnSpc>
              <a:spcAft>
                <a:spcPts val="0"/>
              </a:spcAft>
              <a:buNone/>
              <a:defRPr sz="1400" b="0">
                <a:solidFill>
                  <a:srgbClr val="747B82"/>
                </a:solidFill>
                <a:latin typeface="Aptos"/>
                <a:ea typeface="Aptos"/>
                <a:cs typeface="Aptos"/>
              </a:defRPr>
            </a:lvl8pPr>
            <a:lvl9pPr marL="1625600" indent="0" algn="ctr">
              <a:lnSpc>
                <a:spcPct val="112000"/>
              </a:lnSpc>
              <a:spcAft>
                <a:spcPts val="0"/>
              </a:spcAft>
              <a:buNone/>
              <a:defRPr sz="1400" b="0">
                <a:solidFill>
                  <a:srgbClr val="747B82"/>
                </a:solidFill>
                <a:latin typeface="Aptos"/>
                <a:ea typeface="Aptos"/>
                <a:cs typeface="Aptos"/>
              </a:defRPr>
            </a:lvl9pPr>
          </a:lstStyle>
          <a:p>
            <a:pPr marL="0" indent="0" algn="ctr">
              <a:lnSpc>
                <a:spcPct val="112000"/>
              </a:lnSpc>
              <a:spcAft>
                <a:spcPts val="0"/>
              </a:spcAft>
              <a:buNone/>
              <a:defRPr sz="1200" b="0">
                <a:solidFill>
                  <a:srgbClr val="747B82"/>
                </a:solidFill>
                <a:latin typeface="Aptos"/>
                <a:ea typeface="Aptos"/>
                <a:cs typeface="Aptos"/>
              </a:defRPr>
            </a:pPr>
            <a:r>
              <a:t>Click to add caption</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Clean White - Three Panel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5" name="Clean pic 15"/>
          <p:cNvSpPr>
            <a:spLocks noGrp="1"/>
          </p:cNvSpPr>
          <p:nvPr>
            <p:ph type="pic" idx="15"/>
          </p:nvPr>
        </p:nvSpPr>
        <p:spPr>
          <a:xfrm>
            <a:off x="4572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23" name="Clean obj 13"/>
          <p:cNvSpPr>
            <a:spLocks noGrp="1"/>
          </p:cNvSpPr>
          <p:nvPr>
            <p:ph idx="13"/>
          </p:nvPr>
        </p:nvSpPr>
        <p:spPr>
          <a:xfrm>
            <a:off x="33528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6" name="Clean pic 16"/>
          <p:cNvSpPr>
            <a:spLocks noGrp="1"/>
          </p:cNvSpPr>
          <p:nvPr>
            <p:ph type="pic" idx="16"/>
          </p:nvPr>
        </p:nvSpPr>
        <p:spPr>
          <a:xfrm>
            <a:off x="33528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24" name="Clean obj 14"/>
          <p:cNvSpPr>
            <a:spLocks noGrp="1"/>
          </p:cNvSpPr>
          <p:nvPr>
            <p:ph idx="14"/>
          </p:nvPr>
        </p:nvSpPr>
        <p:spPr>
          <a:xfrm>
            <a:off x="62484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7" name="Clean pic 17"/>
          <p:cNvSpPr>
            <a:spLocks noGrp="1"/>
          </p:cNvSpPr>
          <p:nvPr>
            <p:ph type="pic" idx="17"/>
          </p:nvPr>
        </p:nvSpPr>
        <p:spPr>
          <a:xfrm>
            <a:off x="62484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Clean White - Picture and Tex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11" name="Clean obj 1"/>
          <p:cNvSpPr>
            <a:spLocks noGrp="1"/>
          </p:cNvSpPr>
          <p:nvPr>
            <p:ph idx="1"/>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lean White - Picture and Wide Tex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219200"/>
            <a:ext cx="24384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11" name="Clean obj 1"/>
          <p:cNvSpPr>
            <a:spLocks noGrp="1"/>
          </p:cNvSpPr>
          <p:nvPr>
            <p:ph idx="1"/>
          </p:nvPr>
        </p:nvSpPr>
        <p:spPr>
          <a:xfrm>
            <a:off x="3352800" y="1219200"/>
            <a:ext cx="53340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Clean White - Title Only">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Clean White - Blank">
    <p:bg>
      <p:bgPr>
        <a:solidFill>
          <a:srgbClr val="FFFFFF"/>
        </a:solidFill>
        <a:effectLst/>
      </p:bgPr>
    </p:bg>
    <p:spTree>
      <p:nvGrpSpPr>
        <p:cNvPr id="1" name=""/>
        <p:cNvGrpSpPr/>
        <p:nvPr/>
      </p:nvGrpSpPr>
      <p:grpSpPr>
        <a:xfrm>
          <a:off x="0" y="0"/>
          <a:ext cx="0" cy="0"/>
          <a:chOff x="0" y="0"/>
          <a:chExt cx="0" cy="0"/>
        </a:xfrm>
      </p:grpSpPr>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Clean White - Large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092200"/>
            <a:ext cx="8229600" cy="34798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Clean White - Two Column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12" name="Clean obj 2"/>
          <p:cNvSpPr>
            <a:spLocks noGrp="1"/>
          </p:cNvSpPr>
          <p:nvPr>
            <p:ph idx="2"/>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tbl" preserve="1">
  <p:cSld name="Clean White - Table and Note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tbl 13"/>
          <p:cNvSpPr>
            <a:spLocks noGrp="1"/>
          </p:cNvSpPr>
          <p:nvPr>
            <p:ph type="tbl" idx="13"/>
          </p:nvPr>
        </p:nvSpPr>
        <p:spPr>
          <a:xfrm>
            <a:off x="457200" y="1219200"/>
            <a:ext cx="8229600" cy="22225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table</a:t>
            </a:r>
          </a:p>
        </p:txBody>
      </p:sp>
      <p:sp>
        <p:nvSpPr>
          <p:cNvPr id="11" name="Clean obj 1"/>
          <p:cNvSpPr>
            <a:spLocks noGrp="1"/>
          </p:cNvSpPr>
          <p:nvPr>
            <p:ph idx="1"/>
          </p:nvPr>
        </p:nvSpPr>
        <p:spPr>
          <a:xfrm>
            <a:off x="457200" y="3721100"/>
            <a:ext cx="8229600" cy="8255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notes</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chart" preserve="1">
  <p:cSld name="Clean White - Char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chart 13"/>
          <p:cNvSpPr>
            <a:spLocks noGrp="1"/>
          </p:cNvSpPr>
          <p:nvPr>
            <p:ph type="chart" idx="13"/>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chart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TUe - Clean Whit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3" name="Clean body 1"/>
          <p:cNvSpPr>
            <a:spLocks noGrp="1"/>
          </p:cNvSpPr>
          <p:nvPr>
            <p:ph type="body" idx="1"/>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pic>
        <p:nvPicPr>
          <p:cNvPr id="100" name="TUe logo"/>
          <p:cNvPicPr>
            <a:picLocks noChangeAspect="1"/>
          </p:cNvPicPr>
          <p:nvPr/>
        </p:nvPicPr>
        <p:blipFill>
          <a:blip r:embed="rId19"/>
          <a:stretch>
            <a:fillRect/>
          </a:stretch>
        </p:blipFill>
        <p:spPr>
          <a:xfrm>
            <a:off x="8458200" y="4813300"/>
            <a:ext cx="457200" cy="267053"/>
          </a:xfrm>
          <a:prstGeom prst="rect">
            <a:avLst/>
          </a:prstGeom>
        </p:spPr>
      </p:pic>
    </p:spTree>
  </p:cSld>
  <p:clrMap bg1="lt1" tx1="dk1" bg2="lt2" tx2="dk2" accent1="accent1" accent2="accent2" accent3="accent3" accent4="accent4" accent5="accent5" accent6="accent6" hlink="hlink" folHlink="folHlink"/>
  <p:sldLayoutIdLst>
    <p:sldLayoutId id="2147483684" r:id="rId1"/>
    <p:sldLayoutId id="2147483685" r:id="rId2"/>
    <p:sldLayoutId id="2147483661" r:id="rId3"/>
    <p:sldLayoutId id="2147483662" r:id="rId4"/>
    <p:sldLayoutId id="2147483664" r:id="rId5"/>
    <p:sldLayoutId id="2147483672" r:id="rId6"/>
    <p:sldLayoutId id="2147483673" r:id="rId7"/>
    <p:sldLayoutId id="2147483674" r:id="rId8"/>
    <p:sldLayoutId id="2147483675" r:id="rId9"/>
    <p:sldLayoutId id="2147483676" r:id="rId10"/>
    <p:sldLayoutId id="2147483677" r:id="rId11"/>
    <p:sldLayoutId id="2147483678" r:id="rId12"/>
    <p:sldLayoutId id="2147483679" r:id="rId13"/>
    <p:sldLayoutId id="2147483680" r:id="rId14"/>
    <p:sldLayoutId id="2147483681" r:id="rId15"/>
    <p:sldLayoutId id="2147483682" r:id="rId16"/>
    <p:sldLayoutId id="2147483683" r:id="rId17"/>
  </p:sldLayoutIdLst>
  <p:hf hdr="0" dt="0"/>
  <p:txStyles>
    <p:title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p:titleStyle>
    <p:body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p:bodyStyle>
    <p:other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p:otherStyle>
  </p:txStyles>
</p:sldMaster>
</file>

<file path=ppt/slides/_rels/slide1.xml.rels><?xml version="1.0" encoding="utf-8"?><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 Id="rId28" Type="http://schemas.openxmlformats.org/officeDocument/2006/relationships/image" Target="../media/image2.png"/><Relationship Id="rIdBakedFigure10" Type="http://schemas.openxmlformats.org/officeDocument/2006/relationships/image" Target="../media/bakedFigure1_10.png"/></Relationships>
</file>

<file path=ppt/slides/_rels/slide2.xml.rels><?xml version="1.0" encoding="utf-8"?><Relationships xmlns="http://schemas.openxmlformats.org/package/2006/relationships"><Relationship Id="rId8" Type="http://schemas.openxmlformats.org/officeDocument/2006/relationships/image" Target="../media/image29.png"/><Relationship Id="rId3" Type="http://schemas.microsoft.com/office/2007/relationships/media" Target="../media/media2.mp4"/><Relationship Id="rId7" Type="http://schemas.openxmlformats.org/officeDocument/2006/relationships/image" Target="../media/image28.png"/><Relationship Id="rId2" Type="http://schemas.openxmlformats.org/officeDocument/2006/relationships/video" Target="../media/media1.mp4"/><Relationship Id="rId1" Type="http://schemas.microsoft.com/office/2007/relationships/media" Target="../media/media1.mp4"/><Relationship Id="rId6" Type="http://schemas.openxmlformats.org/officeDocument/2006/relationships/notesSlide" Target="../notesSlides/notesSlide2.xml"/><Relationship Id="rId5" Type="http://schemas.openxmlformats.org/officeDocument/2006/relationships/slideLayout" Target="../slideLayouts/slideLayout5.xml"/><Relationship Id="rId4" Type="http://schemas.openxmlformats.org/officeDocument/2006/relationships/video" Target="../media/media2.mp4"/><Relationship Id="rId9" Type="http://schemas.openxmlformats.org/officeDocument/2006/relationships/image" Target="../media/image1.png"/></Relationships>
</file>

<file path=ppt/slides/_rels/slide3.xml.rels><?xml version="1.0" encoding="utf-8"?><Relationships xmlns="http://schemas.openxmlformats.org/package/2006/relationships"><Relationship Id="rId8" Type="http://schemas.openxmlformats.org/officeDocument/2006/relationships/image" Target="../media/image43.gif"/><Relationship Id="rId3" Type="http://schemas.openxmlformats.org/officeDocument/2006/relationships/image" Target="../media/image30.jpeg"/><Relationship Id="rId7"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4.xml"/><Relationship Id="rId4" Type="http://schemas.openxmlformats.org/officeDocument/2006/relationships/image" Target="../media/image31.jpg"/><Relationship Id="rIdBakedFigure24" Type="http://schemas.openxmlformats.org/officeDocument/2006/relationships/image" Target="../media/bakedFigure3_24.png"/><Relationship Id="rIdBakedFigure29" Type="http://schemas.openxmlformats.org/officeDocument/2006/relationships/image" Target="../media/bakedFigure3_29.png"/></Relationships>
</file>

<file path=ppt/slides/_rels/slide4.xml.rels><?xml version="1.0" encoding="utf-8"?><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4.xml"/><Relationship Id="rId1" Type="http://schemas.openxmlformats.org/officeDocument/2006/relationships/slideLayout" Target="../slideLayouts/slideLayout5.xml"/><Relationship Id="rId6" Type="http://schemas.openxmlformats.org/officeDocument/2006/relationships/image" Target="../media/image1510.png"/><Relationship Id="rId4" Type="http://schemas.openxmlformats.org/officeDocument/2006/relationships/image" Target="../media/image1.png"/><Relationship Id="rIdBakedFigure18" Type="http://schemas.openxmlformats.org/officeDocument/2006/relationships/image" Target="../media/bakedFigure4_18.png"/><Relationship Id="rIdBakedFigure7" Type="http://schemas.openxmlformats.org/officeDocument/2006/relationships/image" Target="../media/bakedFigure4_7.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2.jp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2.jpg"/><Relationship Id="rId1" Type="http://schemas.openxmlformats.org/officeDocument/2006/relationships/slideLayout" Target="../slideLayouts/slideLayout5.xml"/></Relationships>
</file>

<file path=ppt/slides/_rels/slide7.xml.rels><?xml version="1.0" encoding="utf-8"?><Relationships xmlns="http://schemas.openxmlformats.org/package/2006/relationships"><Relationship Id="rId3" Type="http://schemas.openxmlformats.org/officeDocument/2006/relationships/image" Target="../media/image1410.png"/><Relationship Id="rId2" Type="http://schemas.openxmlformats.org/officeDocument/2006/relationships/notesSlide" Target="../notesSlides/notesSlide5.xml"/><Relationship Id="rId1" Type="http://schemas.openxmlformats.org/officeDocument/2006/relationships/slideLayout" Target="../slideLayouts/slideLayout5.xml"/><Relationship Id="rId11" Type="http://schemas.openxmlformats.org/officeDocument/2006/relationships/image" Target="../media/image1.png"/><Relationship Id="rIdBakedFigure56" Type="http://schemas.openxmlformats.org/officeDocument/2006/relationships/image" Target="../media/bakedFigure7_56.png"/></Relationships>
</file>

<file path=ppt/slides/_rels/slide8.xml.rels><?xml version="1.0" encoding="utf-8"?><Relationships xmlns="http://schemas.openxmlformats.org/package/2006/relationships"><Relationship Id="rId3" Type="http://schemas.openxmlformats.org/officeDocument/2006/relationships/image" Target="../media/image170.png"/><Relationship Id="rId2" Type="http://schemas.openxmlformats.org/officeDocument/2006/relationships/notesSlide" Target="../notesSlides/notesSlide6.xml"/><Relationship Id="rId1" Type="http://schemas.openxmlformats.org/officeDocument/2006/relationships/slideLayout" Target="../slideLayouts/slideLayout5.xml"/><Relationship Id="rId19" Type="http://schemas.openxmlformats.org/officeDocument/2006/relationships/image" Target="../media/image1.png"/><Relationship Id="rIdBakedFigure62" Type="http://schemas.openxmlformats.org/officeDocument/2006/relationships/image" Target="../media/bakedFigure8_62.png"/></Relationships>
</file>

<file path=ppt/slides/_rels/slide9.xml.rels><?xml version="1.0" encoding="utf-8"?><Relationships xmlns="http://schemas.openxmlformats.org/package/2006/relationships"><Relationship Id="rId3" Type="http://schemas.openxmlformats.org/officeDocument/2006/relationships/image" Target="../media/image190.png"/><Relationship Id="rId2" Type="http://schemas.openxmlformats.org/officeDocument/2006/relationships/notesSlide" Target="../notesSlides/notesSlide7.xml"/><Relationship Id="rId1" Type="http://schemas.openxmlformats.org/officeDocument/2006/relationships/slideLayout" Target="../slideLayouts/slideLayout5.xml"/><Relationship Id="rId14" Type="http://schemas.openxmlformats.org/officeDocument/2006/relationships/image" Target="../media/image1.png"/><Relationship Id="rIdBakedFigure60" Type="http://schemas.openxmlformats.org/officeDocument/2006/relationships/image" Target="../media/bakedFigure9_60.png"/></Relationships>
</file>

<file path=ppt/slides/_rels/slide10.xml.rels><?xml version="1.0" encoding="utf-8"?><Relationships xmlns="http://schemas.openxmlformats.org/package/2006/relationships"><Relationship Id="rId3" Type="http://schemas.openxmlformats.org/officeDocument/2006/relationships/image" Target="../media/image190.png"/><Relationship Id="rId2" Type="http://schemas.openxmlformats.org/officeDocument/2006/relationships/notesSlide" Target="../notesSlides/notesSlide8.xml"/><Relationship Id="rId1" Type="http://schemas.openxmlformats.org/officeDocument/2006/relationships/slideLayout" Target="../slideLayouts/slideLayout5.xml"/><Relationship Id="rId14" Type="http://schemas.openxmlformats.org/officeDocument/2006/relationships/image" Target="../media/image1.png"/><Relationship Id="rIdBakedFigure60" Type="http://schemas.openxmlformats.org/officeDocument/2006/relationships/image" Target="../media/bakedFigure10_60.png"/></Relationships>
</file>

<file path=ppt/slides/_rels/slide11.xml.rels><?xml version="1.0" encoding="utf-8"?><Relationships xmlns="http://schemas.openxmlformats.org/package/2006/relationships"><Relationship Id="rId3" Type="http://schemas.openxmlformats.org/officeDocument/2006/relationships/image" Target="../media/image210.png"/><Relationship Id="rId21"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5.xml"/><Relationship Id="rIdBakedFigure58" Type="http://schemas.openxmlformats.org/officeDocument/2006/relationships/image" Target="../media/bakedFigure11_58.png"/></Relationships>
</file>

<file path=ppt/slides/_rels/slide12.xml.rels><?xml version="1.0" encoding="utf-8"?><Relationships xmlns="http://schemas.openxmlformats.org/package/2006/relationships"><Relationship Id="rId3" Type="http://schemas.openxmlformats.org/officeDocument/2006/relationships/image" Target="../media/image230.png"/><Relationship Id="rId12"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5.xml"/><Relationship Id="rIdBakedFigure54" Type="http://schemas.openxmlformats.org/officeDocument/2006/relationships/image" Target="../media/bakedFigure12_54.png"/></Relationships>
</file>

<file path=ppt/slides/_rels/slide13.xml.rels><?xml version="1.0" encoding="utf-8"?><Relationships xmlns="http://schemas.openxmlformats.org/package/2006/relationships"><Relationship Id="rId2" Type="http://schemas.openxmlformats.org/officeDocument/2006/relationships/notesSlide" Target="../notesSlides/notesSlide11.xml"/><Relationship Id="rId29" Type="http://schemas.openxmlformats.org/officeDocument/2006/relationships/image" Target="../media/image1.png"/><Relationship Id="rId1" Type="http://schemas.openxmlformats.org/officeDocument/2006/relationships/slideLayout" Target="../slideLayouts/slideLayout5.xml"/><Relationship Id="rIdBakedFigure70" Type="http://schemas.openxmlformats.org/officeDocument/2006/relationships/image" Target="../media/bakedFigure13_70.png"/><Relationship Id="rIdBakedFigure76" Type="http://schemas.openxmlformats.org/officeDocument/2006/relationships/image" Target="../media/bakedFigure13_76.png"/></Relationships>
</file>

<file path=ppt/slides/_rels/slide14.xml.rels><?xml version="1.0" encoding="utf-8"?><Relationships xmlns="http://schemas.openxmlformats.org/package/2006/relationships"><Relationship Id="rId2" Type="http://schemas.openxmlformats.org/officeDocument/2006/relationships/notesSlide" Target="../notesSlides/notesSlide12.xml"/><Relationship Id="rId29" Type="http://schemas.openxmlformats.org/officeDocument/2006/relationships/image" Target="../media/image1.png"/><Relationship Id="rId1" Type="http://schemas.openxmlformats.org/officeDocument/2006/relationships/slideLayout" Target="../slideLayouts/slideLayout5.xml"/><Relationship Id="rIdBakedFigure78" Type="http://schemas.openxmlformats.org/officeDocument/2006/relationships/image" Target="../media/bakedFigure14_78.png"/><Relationship Id="rIdBakedFigure80" Type="http://schemas.openxmlformats.org/officeDocument/2006/relationships/image" Target="../media/bakedFigure14_80.png"/></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8.xml.rels><?xml version="1.0" encoding="utf-8"?><Relationships xmlns="http://schemas.openxmlformats.org/package/2006/relationships"><Relationship Id="rId3" Type="http://schemas.openxmlformats.org/officeDocument/2006/relationships/image" Target="../media/image292.png"/><Relationship Id="rId12"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5.xml"/><Relationship Id="rIdBakedFigure54" Type="http://schemas.openxmlformats.org/officeDocument/2006/relationships/image" Target="../media/bakedFigure18_54.png"/></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3" Type="http://schemas.openxmlformats.org/officeDocument/2006/relationships/image" Target="../media/image1100.png"/><Relationship Id="rId2" Type="http://schemas.openxmlformats.org/officeDocument/2006/relationships/notesSlide" Target="../notesSlides/notesSlide17.xml"/><Relationship Id="rId1" Type="http://schemas.openxmlformats.org/officeDocument/2006/relationships/slideLayout" Target="../slideLayouts/slideLayout6.xml"/><Relationship Id="rId5" Type="http://schemas.openxmlformats.org/officeDocument/2006/relationships/image" Target="../media/image1.png"/><Relationship Id="rId4" Type="http://schemas.openxmlformats.org/officeDocument/2006/relationships/image" Target="../media/image1200.png"/></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2.xml"/></Relationships>
</file>

<file path=ppt/slides/_rels/slide26.xml.rels><?xml version="1.0" encoding="utf-8"?><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video" Target="../media/media3.mp4"/><Relationship Id="rId1" Type="http://schemas.microsoft.com/office/2007/relationships/media" Target="../media/media3.mp4"/><Relationship Id="rId5" Type="http://schemas.openxmlformats.org/officeDocument/2006/relationships/image" Target="../media/image152.png"/><Relationship Id="rId4" Type="http://schemas.openxmlformats.org/officeDocument/2006/relationships/notesSlide" Target="../notesSlides/notesSlide23.xml"/></Relationships>
</file>

<file path=ppt/slides/_rels/slide27.xml.rels><?xml version="1.0" encoding="utf-8"?><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video" Target="../media/media4.mp4"/><Relationship Id="rId1" Type="http://schemas.microsoft.com/office/2007/relationships/media" Target="../media/media4.mp4"/><Relationship Id="rId5" Type="http://schemas.openxmlformats.org/officeDocument/2006/relationships/image" Target="../media/image163.png"/><Relationship Id="rId4" Type="http://schemas.openxmlformats.org/officeDocument/2006/relationships/notesSlide" Target="../notesSlides/notesSlide24.xml"/></Relationships>
</file>

<file path=ppt/slides/_rels/slide28.xml.rels><?xml version="1.0" encoding="utf-8"?><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video" Target="../media/media5.mp4"/><Relationship Id="rId1" Type="http://schemas.microsoft.com/office/2007/relationships/media" Target="../media/media5.mp4"/><Relationship Id="rId5" Type="http://schemas.openxmlformats.org/officeDocument/2006/relationships/image" Target="../media/image174.png"/><Relationship Id="rId4" Type="http://schemas.openxmlformats.org/officeDocument/2006/relationships/notesSlide" Target="../notesSlides/notesSlide25.xml"/></Relationships>
</file>

<file path=ppt/slides/_rels/slide29.xml.rels><?xml version="1.0" encoding="utf-8"?><Relationships xmlns="http://schemas.openxmlformats.org/package/2006/relationships"><Relationship Id="rId12" Type="http://schemas.openxmlformats.org/officeDocument/2006/relationships/image" Target="../media/image341.png"/><Relationship Id="rId2" Type="http://schemas.openxmlformats.org/officeDocument/2006/relationships/notesSlide" Target="../notesSlides/notesSlide26.xml"/><Relationship Id="rId1" Type="http://schemas.openxmlformats.org/officeDocument/2006/relationships/slideLayout" Target="../slideLayouts/slideLayout12.xml"/><Relationship Id="rIdBakedFigure2" Type="http://schemas.openxmlformats.org/officeDocument/2006/relationships/image" Target="../media/bakedFigure29_2.png"/><Relationship Id="rIdBakedFigure82" Type="http://schemas.openxmlformats.org/officeDocument/2006/relationships/image" Target="../media/bakedFigure29_82.png"/></Relationships>
</file>

<file path=ppt/slides/_rels/slide30.xml.rels><?xml version="1.0" encoding="utf-8"?><Relationships xmlns="http://schemas.openxmlformats.org/package/2006/relationships"><Relationship Id="rId12" Type="http://schemas.openxmlformats.org/officeDocument/2006/relationships/image" Target="../media/image381.png"/><Relationship Id="rId2" Type="http://schemas.openxmlformats.org/officeDocument/2006/relationships/notesSlide" Target="../notesSlides/notesSlide27.xml"/><Relationship Id="rId1" Type="http://schemas.openxmlformats.org/officeDocument/2006/relationships/slideLayout" Target="../slideLayouts/slideLayout12.xml"/><Relationship Id="rIdBakedFigure2" Type="http://schemas.openxmlformats.org/officeDocument/2006/relationships/image" Target="../media/bakedFigure30_2.png"/><Relationship Id="rIdBakedFigure82" Type="http://schemas.openxmlformats.org/officeDocument/2006/relationships/image" Target="../media/bakedFigure30_82.png"/></Relationships>
</file>

<file path=ppt/slides/_rels/slide31.xml.rels><?xml version="1.0" encoding="utf-8"?><Relationships xmlns="http://schemas.openxmlformats.org/package/2006/relationships"><Relationship Id="rId12" Type="http://schemas.openxmlformats.org/officeDocument/2006/relationships/image" Target="../media/image401.png"/><Relationship Id="rId2" Type="http://schemas.openxmlformats.org/officeDocument/2006/relationships/notesSlide" Target="../notesSlides/notesSlide28.xml"/><Relationship Id="rId1" Type="http://schemas.openxmlformats.org/officeDocument/2006/relationships/slideLayout" Target="../slideLayouts/slideLayout12.xml"/><Relationship Id="rIdBakedFigure2" Type="http://schemas.openxmlformats.org/officeDocument/2006/relationships/image" Target="../media/bakedFigure31_2.png"/><Relationship Id="rIdBakedFigure82" Type="http://schemas.openxmlformats.org/officeDocument/2006/relationships/image" Target="../media/bakedFigure31_82.png"/></Relationships>
</file>

<file path=ppt/slides/_rels/slide32.xml.rels><?xml version="1.0" encoding="utf-8"?><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2.xml"/><Relationship Id="rIdBakedFigure2" Type="http://schemas.openxmlformats.org/officeDocument/2006/relationships/image" Target="../media/bakedFigure32_2.png"/><Relationship Id="rIdBakedFigure82" Type="http://schemas.openxmlformats.org/officeDocument/2006/relationships/image" Target="../media/bakedFigure32_82.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7.xml"/></Relationships>
</file>

<file path=ppt/slides/_rels/slide35.xml.rels><?xml version="1.0" encoding="UTF-8" standalone="yes"?>
<Relationships xmlns="http://schemas.openxmlformats.org/package/2006/relationships"><Relationship Id="rId8" Type="http://schemas.openxmlformats.org/officeDocument/2006/relationships/image" Target="../media/image320.png"/><Relationship Id="rId3" Type="http://schemas.openxmlformats.org/officeDocument/2006/relationships/image" Target="../media/image270.png"/><Relationship Id="rId7" Type="http://schemas.openxmlformats.org/officeDocument/2006/relationships/image" Target="../media/image310.png"/><Relationship Id="rId2" Type="http://schemas.openxmlformats.org/officeDocument/2006/relationships/notesSlide" Target="../notesSlides/notesSlide30.xml"/><Relationship Id="rId1" Type="http://schemas.openxmlformats.org/officeDocument/2006/relationships/slideLayout" Target="../slideLayouts/slideLayout12.xml"/><Relationship Id="rId6" Type="http://schemas.openxmlformats.org/officeDocument/2006/relationships/image" Target="../media/image300.png"/><Relationship Id="rId5" Type="http://schemas.openxmlformats.org/officeDocument/2006/relationships/image" Target="../media/image290.png"/><Relationship Id="rId4" Type="http://schemas.openxmlformats.org/officeDocument/2006/relationships/image" Target="../media/image280.png"/><Relationship Id="rId9" Type="http://schemas.openxmlformats.org/officeDocument/2006/relationships/image" Target="../media/image330.png"/></Relationships>
</file>

<file path=ppt/slides/_rels/slide36.xml.rels><?xml version="1.0" encoding="UTF-8" standalone="yes"?>
<Relationships xmlns="http://schemas.openxmlformats.org/package/2006/relationships"><Relationship Id="rId8" Type="http://schemas.openxmlformats.org/officeDocument/2006/relationships/image" Target="../media/image32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60.png"/><Relationship Id="rId2" Type="http://schemas.openxmlformats.org/officeDocument/2006/relationships/notesSlide" Target="../notesSlides/notesSlide31.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351.png"/><Relationship Id="rId5" Type="http://schemas.openxmlformats.org/officeDocument/2006/relationships/image" Target="../media/image290.png"/><Relationship Id="rId10" Type="http://schemas.openxmlformats.org/officeDocument/2006/relationships/image" Target="../media/image340.png"/><Relationship Id="rId4" Type="http://schemas.openxmlformats.org/officeDocument/2006/relationships/image" Target="../media/image280.png"/><Relationship Id="rId9" Type="http://schemas.openxmlformats.org/officeDocument/2006/relationships/image" Target="../media/image330.png"/></Relationships>
</file>

<file path=ppt/slides/_rels/slide37.xml.rels><?xml version="1.0" encoding="UTF-8" standalone="yes"?>
<Relationships xmlns="http://schemas.openxmlformats.org/package/2006/relationships"><Relationship Id="rId8" Type="http://schemas.openxmlformats.org/officeDocument/2006/relationships/image" Target="../media/image320.png"/><Relationship Id="rId13" Type="http://schemas.openxmlformats.org/officeDocument/2006/relationships/image" Target="../media/image40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90.png"/><Relationship Id="rId2" Type="http://schemas.openxmlformats.org/officeDocument/2006/relationships/notesSlide" Target="../notesSlides/notesSlide32.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380.png"/><Relationship Id="rId5" Type="http://schemas.openxmlformats.org/officeDocument/2006/relationships/image" Target="../media/image290.png"/><Relationship Id="rId10" Type="http://schemas.openxmlformats.org/officeDocument/2006/relationships/image" Target="../media/image370.png"/><Relationship Id="rId4" Type="http://schemas.openxmlformats.org/officeDocument/2006/relationships/image" Target="../media/image280.png"/><Relationship Id="rId9" Type="http://schemas.openxmlformats.org/officeDocument/2006/relationships/image" Target="../media/image330.png"/></Relationships>
</file>

<file path=ppt/slides/_rels/slide38.xml.rels><?xml version="1.0" encoding="UTF-8" standalone="yes"?>
<Relationships xmlns="http://schemas.openxmlformats.org/package/2006/relationships"><Relationship Id="rId8" Type="http://schemas.openxmlformats.org/officeDocument/2006/relationships/image" Target="../media/image320.png"/><Relationship Id="rId13" Type="http://schemas.openxmlformats.org/officeDocument/2006/relationships/image" Target="../media/image42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90.png"/><Relationship Id="rId2" Type="http://schemas.openxmlformats.org/officeDocument/2006/relationships/notesSlide" Target="../notesSlides/notesSlide33.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410.png"/><Relationship Id="rId5" Type="http://schemas.openxmlformats.org/officeDocument/2006/relationships/image" Target="../media/image290.png"/><Relationship Id="rId10" Type="http://schemas.openxmlformats.org/officeDocument/2006/relationships/image" Target="../media/image350.png"/><Relationship Id="rId4" Type="http://schemas.openxmlformats.org/officeDocument/2006/relationships/image" Target="../media/image280.png"/><Relationship Id="rId9" Type="http://schemas.openxmlformats.org/officeDocument/2006/relationships/image" Target="../media/image330.png"/></Relationships>
</file>

<file path=ppt/slides/_rels/slide39.xml.rels><?xml version="1.0" encoding="utf-8"?><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2.xml"/><Relationship Id="rId10" Type="http://schemas.openxmlformats.org/officeDocument/2006/relationships/image" Target="../media/image520.png"/><Relationship Id="rIdBakedFigure2" Type="http://schemas.openxmlformats.org/officeDocument/2006/relationships/image" Target="../media/bakedFigure39_2.png"/><Relationship Id="rIdBakedFigure3" Type="http://schemas.openxmlformats.org/officeDocument/2006/relationships/image" Target="../media/bakedFigure39_3.png"/></Relationships>
</file>

<file path=ppt/slides/_rels/slide40.xml.rels><?xml version="1.0" encoding="utf-8"?><Relationships xmlns="http://schemas.openxmlformats.org/package/2006/relationships"><Relationship Id="rId8" Type="http://schemas.openxmlformats.org/officeDocument/2006/relationships/image" Target="../media/image550.png"/><Relationship Id="rId2" Type="http://schemas.openxmlformats.org/officeDocument/2006/relationships/notesSlide" Target="../notesSlides/notesSlide35.xml"/><Relationship Id="rId1" Type="http://schemas.openxmlformats.org/officeDocument/2006/relationships/slideLayout" Target="../slideLayouts/slideLayout12.xml"/><Relationship Id="rIdBakedFigure2" Type="http://schemas.openxmlformats.org/officeDocument/2006/relationships/image" Target="../media/bakedFigure40_2.png"/><Relationship Id="rIdBakedFigure3" Type="http://schemas.openxmlformats.org/officeDocument/2006/relationships/image" Target="../media/bakedFigure40_3.png"/></Relationships>
</file>

<file path=ppt/slides/_rels/slide41.xml.rels><?xml version="1.0" encoding="utf-8"?><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2.xml"/><Relationship Id="rId10" Type="http://schemas.openxmlformats.org/officeDocument/2006/relationships/image" Target="../media/image620.png"/><Relationship Id="rIdBakedFigure2" Type="http://schemas.openxmlformats.org/officeDocument/2006/relationships/image" Target="../media/bakedFigure41_2.png"/><Relationship Id="rIdBakedFigure3" Type="http://schemas.openxmlformats.org/officeDocument/2006/relationships/image" Target="../media/bakedFigure41_3.png"/></Relationships>
</file>

<file path=ppt/slides/_rels/slide42.xml.rels><?xml version="1.0" encoding="utf-8"?><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2.xml"/><Relationship Id="rId11" Type="http://schemas.openxmlformats.org/officeDocument/2006/relationships/image" Target="../media/image660.png"/><Relationship Id="rId10" Type="http://schemas.openxmlformats.org/officeDocument/2006/relationships/image" Target="../media/image650.png"/><Relationship Id="rIdBakedFigure2" Type="http://schemas.openxmlformats.org/officeDocument/2006/relationships/image" Target="../media/bakedFigure42_2.png"/><Relationship Id="rIdBakedFigure3" Type="http://schemas.openxmlformats.org/officeDocument/2006/relationships/image" Target="../media/bakedFigure42_3.png"/></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6" name="Titel 5"/>
          <p:cNvSpPr>
            <a:spLocks noGrp="1"/>
          </p:cNvSpPr>
          <p:nvPr>
            <p:ph type="ctrTitle"/>
          </p:nvPr>
        </p:nvSpPr>
        <p:spPr>
          <a:xfrm>
            <a:off x="457200" y="444500"/>
            <a:ext cx="8229600" cy="1092200"/>
          </a:xfrm>
          <a:noFill/>
          <a:ln>
            <a:noFill/>
          </a:ln>
        </p:spPr>
        <p:txBody>
          <a:bodyPr wrap="square" lIns="0" tIns="0" rIns="0" bIns="0" anchor="t">
            <a:noAutofit/>
          </a:bodyPr>
          <a:lstStyle/>
          <a:p>
            <a:pPr marL="0" indent="0" algn="l" defTabSz="1">
              <a:lnSpc>
                <a:spcPct val="112000"/>
              </a:lnSpc>
              <a:spcAft>
                <a:spcPts val="0"/>
              </a:spcAft>
              <a:buNone/>
              <a:defRPr sz="2800" b="1" u="none" cap="none">
                <a:solidFill>
                  <a:srgbClr val="252529"/>
                </a:solidFill>
                <a:latin typeface="Aptos"/>
                <a:ea typeface="Aptos"/>
                <a:cs typeface="Aptos"/>
              </a:defRPr>
            </a:pPr>
            <a:r>
              <a:rPr lang="en-GB" sz="2800" b="1" u="none" cap="none" dirty="0">
                <a:solidFill>
                  <a:srgbClr val="252529"/>
                </a:solidFill>
                <a:latin typeface="Aptos"/>
                <a:ea typeface="Aptos"/>
                <a:cs typeface="Aptos"/>
              </a:rPr>
              <a:t>Dual Integral Quadratic Constraints for Robust Control of Partial Integral Equations </a:t>
            </a:r>
          </a:p>
        </p:txBody>
      </p:sp>
      <p:sp>
        <p:nvSpPr>
          <p:cNvPr id="7" name="Ondertitel 6"/>
          <p:cNvSpPr>
            <a:spLocks noGrp="1"/>
          </p:cNvSpPr>
          <p:nvPr>
            <p:ph type="subTitle" idx="1"/>
          </p:nvPr>
        </p:nvSpPr>
        <p:spPr>
          <a:xfrm>
            <a:off x="457200" y="1663700"/>
            <a:ext cx="8229600" cy="355600"/>
          </a:xfrm>
          <a:noFill/>
          <a:ln>
            <a:noFill/>
          </a:ln>
        </p:spPr>
        <p:txBody>
          <a:bodyPr wrap="square" lIns="0" tIns="0" rIns="0" bIns="0" anchor="t">
            <a:noAutofit/>
          </a:bodyPr>
          <a:lstStyle/>
          <a:p>
            <a:pPr marL="0" indent="0" algn="l" defTabSz="1">
              <a:lnSpc>
                <a:spcPct val="112000"/>
              </a:lnSpc>
              <a:spcAft>
                <a:spcPts val="0"/>
              </a:spcAft>
              <a:buNone/>
              <a:defRPr sz="1600" b="0" u="none" cap="none">
                <a:solidFill>
                  <a:srgbClr val="C81919"/>
                </a:solidFill>
                <a:latin typeface="Aptos"/>
                <a:ea typeface="Aptos"/>
                <a:cs typeface="Aptos"/>
              </a:defRPr>
            </a:pPr>
            <a:r>
              <a:rPr lang="en-GB" sz="1600" b="0" u="none" cap="none" dirty="0">
                <a:solidFill>
                  <a:srgbClr val="C81919"/>
                </a:solidFill>
                <a:latin typeface="Aptos"/>
                <a:ea typeface="Aptos"/>
                <a:cs typeface="Aptos"/>
              </a:rPr>
              <a:t>An engineering overview</a:t>
            </a:r>
          </a:p>
        </p:txBody>
      </p:sp>
      <p:sp>
        <p:nvSpPr>
          <p:cNvPr id="8" name="Tijdelijke aanduiding voor tekst 7"/>
          <p:cNvSpPr>
            <a:spLocks noGrp="1"/>
          </p:cNvSpPr>
          <p:nvPr>
            <p:ph type="body" sz="quarter" idx="13"/>
          </p:nvPr>
        </p:nvSpPr>
        <p:spPr>
          <a:xfrm>
            <a:off x="457200" y="2971800"/>
            <a:ext cx="3276600" cy="749300"/>
          </a:xfrm>
          <a:noFill/>
          <a:ln>
            <a:noFill/>
          </a:ln>
        </p:spPr>
        <p:txBody>
          <a:bodyPr wrap="square" lIns="0" tIns="0" rIns="0" bIns="0" anchor="t">
            <a:noAutofit/>
          </a:bodyPr>
          <a:lstStyle/>
          <a:p>
            <a:pPr marL="0" indent="0" algn="l" defTabSz="1">
              <a:lnSpc>
                <a:spcPct val="120000"/>
              </a:lnSpc>
              <a:spcAft>
                <a:spcPts val="0"/>
              </a:spcAft>
              <a:buNone/>
              <a:defRPr sz="1300" b="0" u="none" cap="none">
                <a:solidFill>
                  <a:srgbClr val="252529"/>
                </a:solidFill>
                <a:latin typeface="Aptos"/>
                <a:ea typeface="Aptos"/>
                <a:cs typeface="Aptos"/>
              </a:defRPr>
            </a:pPr>
            <a:r>
              <a:rPr lang="en-GB" sz="1300" b="0" u="none" cap="none" dirty="0">
                <a:solidFill>
                  <a:srgbClr val="252529"/>
                </a:solidFill>
                <a:latin typeface="Aptos"/>
                <a:ea typeface="Aptos"/>
                <a:cs typeface="Aptos"/>
              </a:rPr>
              <a:t>T.M. Lenssen – supervisor: Amritam Das</a:t>
            </a:r>
          </a:p>
        </p:txBody>
      </p:sp>
      <p:sp>
        <p:nvSpPr>
          <p:cNvPr id="9" name="Tijdelijke aanduiding voor tekst 8"/>
          <p:cNvSpPr>
            <a:spLocks noGrp="1"/>
          </p:cNvSpPr>
          <p:nvPr>
            <p:ph type="body" sz="quarter" idx="14"/>
          </p:nvPr>
        </p:nvSpPr>
        <p:spPr>
          <a:xfrm>
            <a:off x="457200" y="3835400"/>
            <a:ext cx="3276600" cy="368300"/>
          </a:xfrm>
          <a:noFill/>
          <a:ln>
            <a:noFill/>
          </a:ln>
        </p:spPr>
        <p:txBody>
          <a:bodyPr wrap="square" lIns="0" tIns="0" rIns="0" bIns="0" anchor="t">
            <a:noAutofit/>
          </a:bodyPr>
          <a:lstStyle/>
          <a:p>
            <a:pPr marL="0" indent="0" algn="l" defTabSz="1">
              <a:lnSpc>
                <a:spcPct val="112000"/>
              </a:lnSpc>
              <a:spcAft>
                <a:spcPts val="0"/>
              </a:spcAft>
              <a:buNone/>
              <a:defRPr sz="1100" b="0" u="none" cap="none">
                <a:solidFill>
                  <a:srgbClr val="747B82"/>
                </a:solidFill>
                <a:latin typeface="Aptos"/>
                <a:ea typeface="Aptos"/>
                <a:cs typeface="Aptos"/>
              </a:defRPr>
            </a:pPr>
            <a:r>
              <a:rPr lang="en-GB" sz="1100" b="0" u="none" cap="none" dirty="0">
                <a:solidFill>
                  <a:srgbClr val="747B82"/>
                </a:solidFill>
                <a:latin typeface="Aptos"/>
                <a:ea typeface="Aptos"/>
                <a:cs typeface="Aptos"/>
              </a:rPr>
              <a:t>CS – System &amp; Control / 30-09-2026</a:t>
            </a:r>
          </a:p>
        </p:txBody>
      </p:sp>
      <p:pic xmlns:p="http://schemas.openxmlformats.org/presentationml/2006/main" xmlns:a="http://schemas.openxmlformats.org/drawingml/2006/main" xmlns:r="http://schemas.openxmlformats.org/officeDocument/2006/relationships" xmlns:m="http://schemas.openxmlformats.org/officeDocument/2006/math" xmlns:a14="http://schemas.microsoft.com/office/drawing/2010/main" xmlns:mc="http://schemas.openxmlformats.org/markup-compatibility/2006">
        <p:nvPicPr>
          <p:cNvPr id="10" name="Baked figure with larger labels"/>
          <p:cNvPicPr>
            <a:picLocks noChangeAspect="1"/>
          </p:cNvPicPr>
          <p:nvPr/>
        </p:nvPicPr>
        <p:blipFill>
          <a:blip r:embed="rIdBakedFigure10"/>
          <a:stretch>
            <a:fillRect/>
          </a:stretch>
        </p:blipFill>
        <p:spPr>
          <a:xfrm>
            <a:off x="4386262" y="2347912"/>
            <a:ext cx="4067175" cy="2071688"/>
          </a:xfrm>
          <a:prstGeom prst="rect">
            <a:avLst/>
          </a:prstGeom>
        </p:spPr>
      </p:pic>
      <p:pic>
        <p:nvPicPr>
          <p:cNvPr id="11" name="Original university logo"/>
          <p:cNvPicPr>
            <a:picLocks noChangeAspect="1"/>
          </p:cNvPicPr>
          <p:nvPr/>
        </p:nvPicPr>
        <p:blipFill>
          <a:blip r:embed="rId28"/>
          <a:stretch>
            <a:fillRect/>
          </a:stretch>
        </p:blipFill>
        <p:spPr>
          <a:xfrm>
            <a:off x="457200" y="4523742"/>
            <a:ext cx="1587500" cy="507490"/>
          </a:xfrm>
          <a:prstGeom prst="rect">
            <a:avLst/>
          </a:prstGeom>
        </p:spPr>
      </p:pic>
    </p:spTree>
    <p:extLst>
      <p:ext uri="{BB962C8B-B14F-4D97-AF65-F5344CB8AC3E}">
        <p14:creationId xmlns:p14="http://schemas.microsoft.com/office/powerpoint/2010/main" val="13470964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9F3E02-D28A-2C3B-67AC-3A6A281FDB53}"/>
              </a:ext>
            </a:extLst>
          </p:cNvPr>
          <p:cNvSpPr>
            <a:spLocks noGrp="1"/>
          </p:cNvSpPr>
          <p:nvPr>
            <p:ph type="title"/>
          </p:nvPr>
        </p:nvSpPr>
        <p:spPr>
          <a:xfrm>
            <a:off x="457200" y="444500"/>
            <a:ext cx="3911600" cy="1016000"/>
          </a:xfrm>
          <a:noFill/>
          <a:ln>
            <a:noFill/>
          </a:ln>
        </p:spPr>
        <p:txBody>
          <a:bodyPr wrap="square" lIns="0" tIns="0" rIns="0" bIns="0" anchor="t">
            <a:noAutofit/>
          </a:bodyPr>
          <a:lstStyle/>
          <a:p>
            <a:pPr marL="0" indent="0" algn="l">
              <a:spcAft>
                <a:spcPts val="0"/>
              </a:spcAft>
              <a:buNone/>
              <a:defRPr sz="1800" b="0" u="none" cap="none">
                <a:solidFill>
                  <a:srgbClr val="252529"/>
                </a:solidFill>
                <a:latin typeface="Aptos"/>
                <a:ea typeface="Aptos"/>
                <a:cs typeface="Aptos"/>
              </a:defRPr>
            </a:pPr>
            <a:r>
              <a:rPr lang="en-US" sz="1800" b="1" u="none" cap="none" dirty="0">
                <a:solidFill>
                  <a:srgbClr val="C81919"/>
                </a:solidFill>
                <a:latin typeface="Aptos"/>
                <a:ea typeface="Aptos"/>
                <a:cs typeface="Aptos"/>
              </a:rPr>
              <a:t>Rigid body representation</a:t>
            </a:r>
            <a:br>
              <a:rPr lang="en-US" sz="1800" b="0" u="none" cap="none" dirty="0">
                <a:solidFill>
                  <a:srgbClr val="252529"/>
                </a:solidFill>
                <a:latin typeface="Aptos"/>
                <a:ea typeface="Aptos"/>
                <a:cs typeface="Aptos"/>
              </a:rPr>
            </a:br>
            <a:r>
              <a:rPr lang="en-US" sz="1800" b="0" u="none" cap="none" dirty="0">
                <a:solidFill>
                  <a:srgbClr val="252529"/>
                </a:solidFill>
                <a:latin typeface="Aptos"/>
                <a:ea typeface="Aptos"/>
                <a:cs typeface="Aptos"/>
              </a:rPr>
              <a:t>Ordinary Differential Equation (ODE)</a:t>
            </a:r>
            <a:endParaRPr lang="en-NL" sz="1800" b="0" u="none" cap="none" dirty="0">
              <a:solidFill>
                <a:srgbClr val="252529"/>
              </a:solidFill>
              <a:latin typeface="Aptos"/>
              <a:ea typeface="Aptos"/>
              <a:cs typeface="Aptos"/>
            </a:endParaRPr>
          </a:p>
        </p:txBody>
      </p:sp>
      <p:sp>
        <p:nvSpPr>
          <p:cNvPr id="5" name="Footer Placeholder 4">
            <a:extLst>
              <a:ext uri="{FF2B5EF4-FFF2-40B4-BE49-F238E27FC236}">
                <a16:creationId xmlns:a16="http://schemas.microsoft.com/office/drawing/2014/main" id="{8D332162-6519-8054-2F67-6DB512F0C27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1DCDA0C4-5253-32A4-DE29-89F563853D5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a:t>
            </a:fld>
            <a:endParaRPr lang="en-GB" sz="800" b="0" u="none" cap="none" dirty="0">
              <a:solidFill>
                <a:srgbClr val="747B82"/>
              </a:solidFill>
              <a:latin typeface="Aptos"/>
              <a:ea typeface="Aptos"/>
              <a:cs typeface="Aptos"/>
            </a:endParaRPr>
          </a:p>
        </p:txBody>
      </p:sp>
      <p:sp>
        <p:nvSpPr>
          <p:cNvPr id="7" name="Text Placeholder 6">
            <a:extLst>
              <a:ext uri="{FF2B5EF4-FFF2-40B4-BE49-F238E27FC236}">
                <a16:creationId xmlns:a16="http://schemas.microsoft.com/office/drawing/2014/main" id="{74C2B974-7D0E-F052-FC62-EAA0358C7B64}"/>
              </a:ext>
            </a:extLst>
          </p:cNvPr>
          <p:cNvSpPr>
            <a:spLocks noGrp="1"/>
          </p:cNvSpPr>
          <p:nvPr>
            <p:ph type="body" idx="13"/>
          </p:nvPr>
        </p:nvSpPr>
        <p:spPr>
          <a:xfrm>
            <a:off x="4775200" y="444500"/>
            <a:ext cx="3911600" cy="1016000"/>
          </a:xfrm>
          <a:noFill/>
          <a:ln>
            <a:noFill/>
          </a:ln>
        </p:spPr>
        <p:txBody>
          <a:bodyPr wrap="square" lIns="0" tIns="0" rIns="0" bIns="0" anchor="t">
            <a:noAutofit/>
          </a:bodyPr>
          <a:lstStyle/>
          <a:p>
            <a:pPr marL="0" indent="0" algn="l">
              <a:spcAft>
                <a:spcPts val="0"/>
              </a:spcAft>
              <a:buNone/>
              <a:defRPr sz="1800" b="0" u="none" cap="none">
                <a:solidFill>
                  <a:srgbClr val="252529"/>
                </a:solidFill>
                <a:latin typeface="Aptos"/>
                <a:ea typeface="Aptos"/>
                <a:cs typeface="Aptos"/>
              </a:defRPr>
            </a:pPr>
            <a:r>
              <a:rPr lang="en-US" sz="1800" b="1" u="none" cap="none" dirty="0">
                <a:solidFill>
                  <a:srgbClr val="C81919"/>
                </a:solidFill>
                <a:latin typeface="Aptos"/>
                <a:ea typeface="Aptos"/>
                <a:cs typeface="Aptos"/>
              </a:rPr>
              <a:t>Flexible body representation</a:t>
            </a:r>
            <a:endParaRPr lang="en-US" sz="1800" b="0" u="none" cap="none" dirty="0">
              <a:solidFill>
                <a:srgbClr val="252529"/>
              </a:solidFill>
              <a:latin typeface="Aptos"/>
              <a:ea typeface="Aptos"/>
              <a:cs typeface="Aptos"/>
            </a:endParaRPr>
          </a:p>
          <a:p>
            <a:pPr marL="0" indent="0" algn="l">
              <a:spcAft>
                <a:spcPts val="0"/>
              </a:spcAft>
              <a:buNone/>
              <a:defRPr sz="1800" b="0" u="none" cap="none">
                <a:solidFill>
                  <a:srgbClr val="252529"/>
                </a:solidFill>
                <a:latin typeface="Aptos"/>
                <a:ea typeface="Aptos"/>
                <a:cs typeface="Aptos"/>
              </a:defRPr>
            </a:pPr>
            <a:r>
              <a:rPr lang="en-US" sz="1800" b="0" u="none" cap="none" dirty="0">
                <a:solidFill>
                  <a:srgbClr val="252529"/>
                </a:solidFill>
                <a:latin typeface="Aptos"/>
                <a:ea typeface="Aptos"/>
                <a:cs typeface="Aptos"/>
              </a:rPr>
              <a:t>Partial Differential Equation (PDE)</a:t>
            </a:r>
            <a:endParaRPr lang="en-NL" sz="1800" b="0" u="none" cap="none" dirty="0">
              <a:solidFill>
                <a:srgbClr val="252529"/>
              </a:solidFill>
              <a:latin typeface="Aptos"/>
              <a:ea typeface="Aptos"/>
              <a:cs typeface="Aptos"/>
            </a:endParaRPr>
          </a:p>
        </p:txBody>
      </p:sp>
      <p:pic>
        <p:nvPicPr>
          <p:cNvPr id="20" name="cart_rigid">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7"/>
          <a:stretch>
            <a:fillRect/>
          </a:stretch>
        </p:blipFill>
        <p:spPr>
          <a:xfrm>
            <a:off x="444500" y="1833724"/>
            <a:ext cx="3943350" cy="2228850"/>
          </a:xfrm>
          <a:prstGeom prst="rect">
            <a:avLst/>
          </a:prstGeom>
        </p:spPr>
      </p:pic>
      <p:pic>
        <p:nvPicPr>
          <p:cNvPr id="21" name="cart_flexible">
            <a:hlinkClick r:id="" action="ppaction://media"/>
            <a:extLst>
              <a:ext uri="{FF2B5EF4-FFF2-40B4-BE49-F238E27FC236}">
                <a16:creationId xmlns:a16="http://schemas.microsoft.com/office/drawing/2014/main" id="{31F434AF-6A59-BDFD-1561-13E726349F00}"/>
              </a:ext>
            </a:extLst>
          </p:cNvPr>
          <p:cNvPicPr>
            <a:picLocks noGrp="1" noChangeAspect="1"/>
          </p:cNvPicPr>
          <p:nvPr>
            <a:videoFile r:link="rId4"/>
            <p:extLst>
              <p:ext uri="{DAA4B4D4-6D71-4841-9C94-3DE7FCFB9230}">
                <p14:media xmlns:p14="http://schemas.microsoft.com/office/powerpoint/2010/main" r:embed="rId3"/>
              </p:ext>
            </p:extLst>
          </p:nvPr>
        </p:nvPicPr>
        <p:blipFill>
          <a:blip r:embed="rId8"/>
          <a:stretch>
            <a:fillRect/>
          </a:stretch>
        </p:blipFill>
        <p:spPr>
          <a:xfrm>
            <a:off x="4435475" y="1833239"/>
            <a:ext cx="4552950" cy="2619375"/>
          </a:xfrm>
          <a:prstGeom prst="rect">
            <a:avLst/>
          </a:prstGeom>
        </p:spPr>
      </p:pic>
      <p:pic>
        <p:nvPicPr>
          <p:cNvPr id="22" name="Original TUe logo"/>
          <p:cNvPicPr>
            <a:picLocks noChangeAspect="1"/>
          </p:cNvPicPr>
          <p:nvPr/>
        </p:nvPicPr>
        <p:blipFill>
          <a:blip r:embed="rId9"/>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822285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0000" fill="hold"/>
                                        <p:tgtEl>
                                          <p:spTgt spid="20"/>
                                        </p:tgtEl>
                                      </p:cBhvr>
                                    </p:cmd>
                                  </p:childTnLst>
                                </p:cTn>
                              </p:par>
                            </p:childTnLst>
                          </p:cTn>
                        </p:par>
                      </p:childTnLst>
                    </p:cTn>
                  </p:par>
                  <p:par>
                    <p:cTn id="10" fill="hold">
                      <p:stCondLst>
                        <p:cond delay="indefinite"/>
                      </p:stCondLst>
                      <p:childTnLst>
                        <p:par>
                          <p:cTn id="11" fill="hold">
                            <p:stCondLst>
                              <p:cond delay="0"/>
                            </p:stCondLst>
                            <p:childTnLst>
                              <p:par>
                                <p:cTn id="12" presetID="1" presetClass="mediacall" presetSubtype="0" fill="hold" nodeType="clickEffect">
                                  <p:stCondLst>
                                    <p:cond delay="0"/>
                                  </p:stCondLst>
                                  <p:childTnLst>
                                    <p:cmd type="call" cmd="playFrom(0.0)">
                                      <p:cBhvr>
                                        <p:cTn id="13" dur="10000" fill="hold"/>
                                        <p:tgtEl>
                                          <p:spTgt spid="21"/>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18" fill="hold" display="0">
                  <p:stCondLst>
                    <p:cond delay="indefinite"/>
                  </p:stCondLst>
                </p:cTn>
                <p:tgtEl>
                  <p:spTgt spid="20"/>
                </p:tgtEl>
              </p:cMediaNode>
            </p:video>
            <p:seq concurrent="1" nextAc="seek">
              <p:cTn id="19" restart="whenNotActive" fill="hold" evtFilter="cancelBubble" nodeType="interactiveSeq">
                <p:stCondLst>
                  <p:cond evt="onClick" delay="0">
                    <p:tgtEl>
                      <p:spTgt spid="20"/>
                    </p:tgtEl>
                  </p:cond>
                </p:stCondLst>
                <p:endSync evt="end" delay="0">
                  <p:rtn val="all"/>
                </p:endSync>
                <p:childTnLst>
                  <p:par>
                    <p:cTn id="20" fill="hold">
                      <p:stCondLst>
                        <p:cond delay="0"/>
                      </p:stCondLst>
                      <p:childTnLst>
                        <p:par>
                          <p:cTn id="21" fill="hold">
                            <p:stCondLst>
                              <p:cond delay="0"/>
                            </p:stCondLst>
                            <p:childTnLst>
                              <p:par>
                                <p:cTn id="22" presetID="2" presetClass="mediacall" presetSubtype="0" fill="hold" nodeType="clickEffect">
                                  <p:stCondLst>
                                    <p:cond delay="0"/>
                                  </p:stCondLst>
                                  <p:childTnLst>
                                    <p:cmd type="call" cmd="togglePause">
                                      <p:cBhvr>
                                        <p:cTn id="23" dur="1" fill="hold"/>
                                        <p:tgtEl>
                                          <p:spTgt spid="20"/>
                                        </p:tgtEl>
                                      </p:cBhvr>
                                    </p:cmd>
                                  </p:childTnLst>
                                </p:cTn>
                              </p:par>
                            </p:childTnLst>
                          </p:cTn>
                        </p:par>
                      </p:childTnLst>
                    </p:cTn>
                  </p:par>
                </p:childTnLst>
              </p:cTn>
              <p:nextCondLst>
                <p:cond evt="onClick" delay="0">
                  <p:tgtEl>
                    <p:spTgt spid="20"/>
                  </p:tgtEl>
                </p:cond>
              </p:nextCondLst>
            </p:seq>
            <p:video>
              <p:cMediaNode vol="80000">
                <p:cTn id="24" fill="hold" display="0">
                  <p:stCondLst>
                    <p:cond delay="indefinite"/>
                  </p:stCondLst>
                </p:cTn>
                <p:tgtEl>
                  <p:spTgt spid="21"/>
                </p:tgtEl>
              </p:cMediaNode>
            </p:video>
            <p:seq concurrent="1" nextAc="seek">
              <p:cTn id="25" restart="whenNotActive" fill="hold" evtFilter="cancelBubble" nodeType="interactiveSeq">
                <p:stCondLst>
                  <p:cond evt="onClick" delay="0">
                    <p:tgtEl>
                      <p:spTgt spid="21"/>
                    </p:tgtEl>
                  </p:cond>
                </p:stCondLst>
                <p:endSync evt="end" delay="0">
                  <p:rtn val="all"/>
                </p:endSync>
                <p:childTnLst>
                  <p:par>
                    <p:cTn id="26" fill="hold">
                      <p:stCondLst>
                        <p:cond delay="0"/>
                      </p:stCondLst>
                      <p:childTnLst>
                        <p:par>
                          <p:cTn id="27" fill="hold">
                            <p:stCondLst>
                              <p:cond delay="0"/>
                            </p:stCondLst>
                            <p:childTnLst>
                              <p:par>
                                <p:cTn id="28" presetID="2" presetClass="mediacall" presetSubtype="0" fill="hold" nodeType="clickEffect">
                                  <p:stCondLst>
                                    <p:cond delay="0"/>
                                  </p:stCondLst>
                                  <p:childTnLst>
                                    <p:cmd type="call" cmd="togglePause">
                                      <p:cBhvr>
                                        <p:cTn id="29" dur="1" fill="hold"/>
                                        <p:tgtEl>
                                          <p:spTgt spid="21"/>
                                        </p:tgtEl>
                                      </p:cBhvr>
                                    </p:cmd>
                                  </p:childTnLst>
                                </p:cTn>
                              </p:par>
                            </p:childTnLst>
                          </p:cTn>
                        </p:par>
                      </p:childTnLst>
                    </p:cTn>
                  </p:par>
                </p:childTnLst>
              </p:cTn>
              <p:nextCondLst>
                <p:cond evt="onClick" delay="0">
                  <p:tgtEl>
                    <p:spTgt spid="21"/>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9205015-C4A8-AC7D-A3D9-9C61B3AE867A}"/>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5B621A65-D21A-6541-2096-EDFA3A2E6AF1}"/>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3</a:t>
            </a:fld>
            <a:endParaRPr lang="en-GB" sz="800" b="0" u="none" cap="none" dirty="0">
              <a:solidFill>
                <a:srgbClr val="747B82"/>
              </a:solidFill>
              <a:latin typeface="Aptos"/>
              <a:ea typeface="Aptos"/>
              <a:cs typeface="Aptos"/>
            </a:endParaRPr>
          </a:p>
        </p:txBody>
      </p:sp>
      <p:pic>
        <p:nvPicPr>
          <p:cNvPr id="7" name="Picture 6">
            <a:extLst>
              <a:ext uri="{FF2B5EF4-FFF2-40B4-BE49-F238E27FC236}">
                <a16:creationId xmlns:a16="http://schemas.microsoft.com/office/drawing/2014/main" id="{B400E0AB-D61D-0722-09F6-12DB2BB3E8EF}"/>
              </a:ext>
            </a:extLst>
          </p:cNvPr>
          <p:cNvPicPr>
            <a:picLocks noChangeAspect="1"/>
          </p:cNvPicPr>
          <p:nvPr/>
        </p:nvPicPr>
        <p:blipFill>
          <a:blip r:embed="rId3" cstate="print">
            <a:extLst>
              <a:ext uri="{28A0092B-C50C-407E-A947-70E740481C1C}">
                <a14:useLocalDpi xmlns:a14="http://schemas.microsoft.com/office/drawing/2010/main" val="0"/>
              </a:ext>
            </a:extLst>
          </a:blip>
          <a:srcRect l="6208" r="6507" b="12822"/>
          <a:stretch>
            <a:fillRect/>
          </a:stretch>
        </p:blipFill>
        <p:spPr>
          <a:xfrm>
            <a:off x="457200" y="1575657"/>
            <a:ext cx="2438400" cy="1369887"/>
          </a:xfrm>
          <a:prstGeom prst="rect">
            <a:avLst/>
          </a:prstGeom>
        </p:spPr>
      </p:pic>
      <p:sp>
        <p:nvSpPr>
          <p:cNvPr id="16" name="TextBox 15">
            <a:extLst>
              <a:ext uri="{FF2B5EF4-FFF2-40B4-BE49-F238E27FC236}">
                <a16:creationId xmlns:a16="http://schemas.microsoft.com/office/drawing/2014/main" id="{A86D63BC-A2D1-E7AC-72DC-07EDD2B9EBC8}"/>
              </a:ext>
            </a:extLst>
          </p:cNvPr>
          <p:cNvSpPr txBox="1"/>
          <p:nvPr/>
        </p:nvSpPr>
        <p:spPr>
          <a:xfrm>
            <a:off x="4572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ASML wafer stage</a:t>
            </a:r>
            <a:endParaRPr lang="en-NL" sz="1600" b="1" u="none" cap="none" dirty="0">
              <a:solidFill>
                <a:srgbClr val="C81919"/>
              </a:solidFill>
              <a:latin typeface="Aptos"/>
              <a:ea typeface="Aptos"/>
              <a:cs typeface="Aptos"/>
            </a:endParaRPr>
          </a:p>
        </p:txBody>
      </p:sp>
      <p:sp>
        <p:nvSpPr>
          <p:cNvPr id="18" name="TextBox 17">
            <a:extLst>
              <a:ext uri="{FF2B5EF4-FFF2-40B4-BE49-F238E27FC236}">
                <a16:creationId xmlns:a16="http://schemas.microsoft.com/office/drawing/2014/main" id="{1439CADF-05D4-7D60-D962-6667713AE717}"/>
              </a:ext>
            </a:extLst>
          </p:cNvPr>
          <p:cNvSpPr txBox="1"/>
          <p:nvPr/>
        </p:nvSpPr>
        <p:spPr>
          <a:xfrm>
            <a:off x="33528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Canon Production Printing</a:t>
            </a:r>
            <a:endParaRPr lang="en-NL" sz="1600" b="1" u="none" cap="none" dirty="0">
              <a:solidFill>
                <a:srgbClr val="C81919"/>
              </a:solidFill>
              <a:latin typeface="Aptos"/>
              <a:ea typeface="Aptos"/>
              <a:cs typeface="Aptos"/>
            </a:endParaRPr>
          </a:p>
        </p:txBody>
      </p:sp>
      <p:pic>
        <p:nvPicPr>
          <p:cNvPr id="19" name="Picture 18"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4"/>
          <a:stretch>
            <a:fillRect/>
          </a:stretch>
        </p:blipFill>
        <p:spPr>
          <a:xfrm>
            <a:off x="3352800" y="1332865"/>
            <a:ext cx="2438400" cy="1372870"/>
          </a:xfrm>
          <a:prstGeom prst="rect">
            <a:avLst/>
          </a:prstGeom>
        </p:spPr>
      </p:pic>
      <p:sp>
        <p:nvSpPr>
          <p:cNvPr id="23" name="TextBox 22">
            <a:extLst>
              <a:ext uri="{FF2B5EF4-FFF2-40B4-BE49-F238E27FC236}">
                <a16:creationId xmlns:a16="http://schemas.microsoft.com/office/drawing/2014/main" id="{E6D70A06-0726-1FB4-B77B-E627C962EDE0}"/>
              </a:ext>
            </a:extLst>
          </p:cNvPr>
          <p:cNvSpPr txBox="1"/>
          <p:nvPr/>
        </p:nvSpPr>
        <p:spPr>
          <a:xfrm>
            <a:off x="62484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Parkinsons Disease</a:t>
            </a:r>
            <a:endParaRPr lang="en-NL" sz="1600" b="1" u="none" cap="none" dirty="0">
              <a:solidFill>
                <a:srgbClr val="C81919"/>
              </a:solidFill>
              <a:latin typeface="Aptos"/>
              <a:ea typeface="Aptos"/>
              <a:cs typeface="Aptos"/>
            </a:endParaRPr>
          </a:p>
        </p:txBody>
      </p:sp>
      <p:pic xmlns:p="http://schemas.openxmlformats.org/presentationml/2006/main" xmlns:a="http://schemas.openxmlformats.org/drawingml/2006/main" xmlns:r="http://schemas.openxmlformats.org/officeDocument/2006/relationships" xmlns:m="http://schemas.openxmlformats.org/officeDocument/2006/math" xmlns:a14="http://schemas.microsoft.com/office/drawing/2010/main" xmlns:mc="http://schemas.openxmlformats.org/markup-compatibility/2006">
        <p:nvPicPr>
          <p:cNvPr id="24" name="Baked figure with larger labels"/>
          <p:cNvPicPr>
            <a:picLocks noChangeAspect="1"/>
          </p:cNvPicPr>
          <p:nvPr/>
        </p:nvPicPr>
        <p:blipFill>
          <a:blip r:embed="rIdBakedFigure24"/>
          <a:stretch>
            <a:fillRect/>
          </a:stretch>
        </p:blipFill>
        <p:spPr>
          <a:xfrm>
            <a:off x="6248400" y="1219200"/>
            <a:ext cx="2438400" cy="2438400"/>
          </a:xfrm>
          <a:prstGeom prst="rect">
            <a:avLst/>
          </a:prstGeom>
        </p:spPr>
      </p:pic>
      <p:sp>
        <p:nvSpPr>
          <p:cNvPr id="25" name="TextBox 24">
            <a:extLst>
              <a:ext uri="{FF2B5EF4-FFF2-40B4-BE49-F238E27FC236}">
                <a16:creationId xmlns:a16="http://schemas.microsoft.com/office/drawing/2014/main" id="{C8DCB431-6101-95B4-03AC-356659B97ABB}"/>
              </a:ext>
            </a:extLst>
          </p:cNvPr>
          <p:cNvSpPr txBox="1"/>
          <p:nvPr/>
        </p:nvSpPr>
        <p:spPr>
          <a:xfrm>
            <a:off x="33528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Diffusion-Reaction Equations (PDE)</a:t>
            </a:r>
            <a:endParaRPr lang="en-NL" sz="1300" b="0" u="none" cap="none" dirty="0">
              <a:solidFill>
                <a:srgbClr val="252529"/>
              </a:solidFill>
              <a:latin typeface="Aptos"/>
              <a:ea typeface="Aptos"/>
              <a:cs typeface="Aptos"/>
            </a:endParaRPr>
          </a:p>
        </p:txBody>
      </p:sp>
      <p:sp>
        <p:nvSpPr>
          <p:cNvPr id="26" name="TextBox 25">
            <a:extLst>
              <a:ext uri="{FF2B5EF4-FFF2-40B4-BE49-F238E27FC236}">
                <a16:creationId xmlns:a16="http://schemas.microsoft.com/office/drawing/2014/main" id="{2F1903D6-4357-9D9B-6625-8DD12CD399A3}"/>
              </a:ext>
            </a:extLst>
          </p:cNvPr>
          <p:cNvSpPr txBox="1"/>
          <p:nvPr/>
        </p:nvSpPr>
        <p:spPr>
          <a:xfrm>
            <a:off x="62484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Differential Delay Equations </a:t>
            </a:r>
          </a:p>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(DDE -&gt; PDE)</a:t>
            </a:r>
            <a:endParaRPr lang="en-NL" sz="1300" b="0" u="none" cap="none" dirty="0">
              <a:solidFill>
                <a:srgbClr val="252529"/>
              </a:solidFill>
              <a:latin typeface="Aptos"/>
              <a:ea typeface="Aptos"/>
              <a:cs typeface="Aptos"/>
            </a:endParaRPr>
          </a:p>
        </p:txBody>
      </p:sp>
      <p:sp>
        <p:nvSpPr>
          <p:cNvPr id="27" name="TextBox 26">
            <a:extLst>
              <a:ext uri="{FF2B5EF4-FFF2-40B4-BE49-F238E27FC236}">
                <a16:creationId xmlns:a16="http://schemas.microsoft.com/office/drawing/2014/main" id="{B3155AC1-FC2D-454D-38A1-B2C4E5F12CF3}"/>
              </a:ext>
            </a:extLst>
          </p:cNvPr>
          <p:cNvSpPr txBox="1"/>
          <p:nvPr/>
        </p:nvSpPr>
        <p:spPr>
          <a:xfrm>
            <a:off x="4572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Wave/beam equations (PDE)</a:t>
            </a:r>
            <a:endParaRPr lang="en-NL" sz="1300" b="0" u="none" cap="none" dirty="0">
              <a:solidFill>
                <a:srgbClr val="252529"/>
              </a:solidFill>
              <a:latin typeface="Aptos"/>
              <a:ea typeface="Aptos"/>
              <a:cs typeface="Aptos"/>
            </a:endParaRPr>
          </a:p>
        </p:txBody>
      </p:sp>
      <p:pic xmlns:p="http://schemas.openxmlformats.org/presentationml/2006/main" xmlns:a="http://schemas.openxmlformats.org/drawingml/2006/main" xmlns:r="http://schemas.openxmlformats.org/officeDocument/2006/relationships" xmlns:m="http://schemas.openxmlformats.org/officeDocument/2006/math" xmlns:a14="http://schemas.microsoft.com/office/drawing/2010/main" xmlns:mc="http://schemas.openxmlformats.org/markup-compatibility/2006">
        <p:nvPicPr>
          <p:cNvPr id="29" name="Baked figure with larger labels"/>
          <p:cNvPicPr>
            <a:picLocks noChangeAspect="1"/>
          </p:cNvPicPr>
          <p:nvPr/>
        </p:nvPicPr>
        <p:blipFill>
          <a:blip r:embed="rIdBakedFigure29"/>
          <a:stretch>
            <a:fillRect/>
          </a:stretch>
        </p:blipFill>
        <p:spPr>
          <a:xfrm>
            <a:off x="3352800" y="2838450"/>
            <a:ext cx="2495550" cy="814388"/>
          </a:xfrm>
          <a:prstGeom prst="rect">
            <a:avLst/>
          </a:prstGeom>
        </p:spPr>
      </p:pic>
      <p:pic>
        <p:nvPicPr>
          <p:cNvPr id="32" name="Original TUe logo"/>
          <p:cNvPicPr>
            <a:picLocks noChangeAspect="1"/>
          </p:cNvPicPr>
          <p:nvPr/>
        </p:nvPicPr>
        <p:blipFill>
          <a:blip r:embed="rId7"/>
          <a:stretch>
            <a:fillRect/>
          </a:stretch>
        </p:blipFill>
        <p:spPr>
          <a:xfrm>
            <a:off x="8458200" y="4813300"/>
            <a:ext cx="457200" cy="254000"/>
          </a:xfrm>
          <a:prstGeom prst="rect">
            <a:avLst/>
          </a:prstGeom>
        </p:spPr>
      </p:pic>
      <p:pic>
        <p:nvPicPr>
          <p:cNvPr id="3" name="Picture 2">
            <a:extLst>
              <a:ext uri="{FF2B5EF4-FFF2-40B4-BE49-F238E27FC236}">
                <a16:creationId xmlns:a16="http://schemas.microsoft.com/office/drawing/2014/main" id="{CE68D164-ECC1-2C08-4E8F-C6A89F1A7245}"/>
              </a:ext>
            </a:extLst>
          </p:cNvPr>
          <p:cNvPicPr>
            <a:picLocks noChangeAspect="1"/>
          </p:cNvPicPr>
          <p:nvPr/>
        </p:nvPicPr>
        <p:blipFill>
          <a:blip r:embed="rId8">
            <a:extLst>
              <a:ext uri="{28A0092B-C50C-407E-A947-70E740481C1C}">
                <a14:useLocalDpi xmlns:a14="http://schemas.microsoft.com/office/drawing/2010/main" val="0"/>
              </a:ext>
            </a:extLst>
          </a:blip>
          <a:srcRect l="15942" r="17681"/>
          <a:stretch>
            <a:fillRect/>
          </a:stretch>
        </p:blipFill>
        <p:spPr>
          <a:xfrm>
            <a:off x="6331461" y="1449643"/>
            <a:ext cx="2355339" cy="1977514"/>
          </a:xfrm>
          <a:prstGeom prst="rect">
            <a:avLst/>
          </a:prstGeom>
        </p:spPr>
      </p:pic>
    </p:spTree>
    <p:extLst>
      <p:ext uri="{BB962C8B-B14F-4D97-AF65-F5344CB8AC3E}">
        <p14:creationId xmlns:p14="http://schemas.microsoft.com/office/powerpoint/2010/main" val="15163385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par>
                                <p:cTn id="9" presetID="9" presetClass="emph" presetSubtype="0" grpId="0" nodeType="withEffect">
                                  <p:stCondLst>
                                    <p:cond delay="0"/>
                                  </p:stCondLst>
                                  <p:childTnLst>
                                    <p:set>
                                      <p:cBhvr>
                                        <p:cTn id="10" dur="indefinite"/>
                                        <p:tgtEl>
                                          <p:spTgt spid="16"/>
                                        </p:tgtEl>
                                        <p:attrNameLst>
                                          <p:attrName>style.opacity</p:attrName>
                                        </p:attrNameLst>
                                      </p:cBhvr>
                                      <p:to>
                                        <p:strVal val="0.5"/>
                                      </p:to>
                                    </p:set>
                                    <p:animEffect filter="image" prLst="opacity: 0.5">
                                      <p:cBhvr rctx="IE">
                                        <p:cTn id="11" dur="indefinite"/>
                                        <p:tgtEl>
                                          <p:spTgt spid="16"/>
                                        </p:tgtEl>
                                      </p:cBhvr>
                                    </p:animEffect>
                                  </p:childTnLst>
                                </p:cTn>
                              </p:par>
                              <p:par>
                                <p:cTn id="12" presetID="9" presetClass="emph" presetSubtype="0" nodeType="withEffect">
                                  <p:stCondLst>
                                    <p:cond delay="0"/>
                                  </p:stCondLst>
                                  <p:childTnLst>
                                    <p:set>
                                      <p:cBhvr>
                                        <p:cTn id="13" dur="indefinite"/>
                                        <p:tgtEl>
                                          <p:spTgt spid="7"/>
                                        </p:tgtEl>
                                        <p:attrNameLst>
                                          <p:attrName>style.opacity</p:attrName>
                                        </p:attrNameLst>
                                      </p:cBhvr>
                                      <p:to>
                                        <p:strVal val="0.5"/>
                                      </p:to>
                                    </p:set>
                                    <p:animEffect filter="image" prLst="opacity: 0.5">
                                      <p:cBhvr rctx="IE">
                                        <p:cTn id="14" dur="indefinite"/>
                                        <p:tgtEl>
                                          <p:spTgt spid="7"/>
                                        </p:tgtEl>
                                      </p:cBhvr>
                                    </p:animEffect>
                                  </p:childTnLst>
                                </p:cTn>
                              </p:par>
                              <p:par>
                                <p:cTn id="15" presetID="9" presetClass="emph" presetSubtype="0" grpId="0" nodeType="withEffect">
                                  <p:stCondLst>
                                    <p:cond delay="0"/>
                                  </p:stCondLst>
                                  <p:childTnLst>
                                    <p:set>
                                      <p:cBhvr>
                                        <p:cTn id="16" dur="indefinite"/>
                                        <p:tgtEl>
                                          <p:spTgt spid="27"/>
                                        </p:tgtEl>
                                        <p:attrNameLst>
                                          <p:attrName>style.opacity</p:attrName>
                                        </p:attrNameLst>
                                      </p:cBhvr>
                                      <p:to>
                                        <p:strVal val="0.5"/>
                                      </p:to>
                                    </p:set>
                                    <p:animEffect filter="image" prLst="opacity: 0.5">
                                      <p:cBhvr rctx="IE">
                                        <p:cTn id="17" dur="indefinite"/>
                                        <p:tgtEl>
                                          <p:spTgt spid="27"/>
                                        </p:tgtEl>
                                      </p:cBhvr>
                                    </p:animEffect>
                                  </p:childTnLst>
                                </p:cTn>
                              </p:par>
                              <p:par>
                                <p:cTn id="18" presetID="1" presetClass="entr" presetSubtype="0" fill="hold" nodeType="withEffect">
                                  <p:stCondLst>
                                    <p:cond delay="0"/>
                                  </p:stCondLst>
                                  <p:childTnLst>
                                    <p:set>
                                      <p:cBhvr>
                                        <p:cTn id="19" dur="1" fill="hold">
                                          <p:stCondLst>
                                            <p:cond delay="0"/>
                                          </p:stCondLst>
                                        </p:cTn>
                                        <p:tgtEl>
                                          <p:spTgt spid="29"/>
                                        </p:tgtEl>
                                        <p:attrNameLst>
                                          <p:attrName>style.visibility</p:attrName>
                                        </p:attrNameLst>
                                      </p:cBhvr>
                                      <p:to>
                                        <p:strVal val="visible"/>
                                      </p:to>
                                    </p:set>
                                  </p:childTnLst>
                                </p:cTn>
                              </p:par>
                              <p:par>
                                <p:cTn id="20" presetID="1" presetClass="entr" presetSubtype="0" fill="hold" grpId="0" nodeType="withEffect">
                                  <p:stCondLst>
                                    <p:cond delay="0"/>
                                  </p:stCondLst>
                                  <p:childTnLst>
                                    <p:set>
                                      <p:cBhvr>
                                        <p:cTn id="21" dur="1" fill="hold">
                                          <p:stCondLst>
                                            <p:cond delay="0"/>
                                          </p:stCondLst>
                                        </p:cTn>
                                        <p:tgtEl>
                                          <p:spTgt spid="25"/>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24"/>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23"/>
                                        </p:tgtEl>
                                        <p:attrNameLst>
                                          <p:attrName>style.visibility</p:attrName>
                                        </p:attrNameLst>
                                      </p:cBhvr>
                                      <p:to>
                                        <p:strVal val="visible"/>
                                      </p:to>
                                    </p:set>
                                  </p:childTnLst>
                                </p:cTn>
                              </p:par>
                              <p:par>
                                <p:cTn id="28" presetID="1" presetClass="entr" presetSubtype="0" fill="hold" grpId="0" nodeType="withEffect">
                                  <p:stCondLst>
                                    <p:cond delay="0"/>
                                  </p:stCondLst>
                                  <p:childTnLst>
                                    <p:set>
                                      <p:cBhvr>
                                        <p:cTn id="29" dur="1" fill="hold">
                                          <p:stCondLst>
                                            <p:cond delay="0"/>
                                          </p:stCondLst>
                                        </p:cTn>
                                        <p:tgtEl>
                                          <p:spTgt spid="26"/>
                                        </p:tgtEl>
                                        <p:attrNameLst>
                                          <p:attrName>style.visibility</p:attrName>
                                        </p:attrNameLst>
                                      </p:cBhvr>
                                      <p:to>
                                        <p:strVal val="visible"/>
                                      </p:to>
                                    </p:set>
                                  </p:childTnLst>
                                </p:cTn>
                              </p:par>
                              <p:par>
                                <p:cTn id="30" presetID="9" presetClass="emph" presetSubtype="0" grpId="1" nodeType="withEffect">
                                  <p:stCondLst>
                                    <p:cond delay="0"/>
                                  </p:stCondLst>
                                  <p:childTnLst>
                                    <p:set>
                                      <p:cBhvr>
                                        <p:cTn id="31" dur="indefinite"/>
                                        <p:tgtEl>
                                          <p:spTgt spid="18"/>
                                        </p:tgtEl>
                                        <p:attrNameLst>
                                          <p:attrName>style.opacity</p:attrName>
                                        </p:attrNameLst>
                                      </p:cBhvr>
                                      <p:to>
                                        <p:strVal val="0.5"/>
                                      </p:to>
                                    </p:set>
                                    <p:animEffect filter="image" prLst="opacity: 0.5">
                                      <p:cBhvr rctx="IE">
                                        <p:cTn id="32" dur="indefinite"/>
                                        <p:tgtEl>
                                          <p:spTgt spid="18"/>
                                        </p:tgtEl>
                                      </p:cBhvr>
                                    </p:animEffect>
                                  </p:childTnLst>
                                </p:cTn>
                              </p:par>
                              <p:par>
                                <p:cTn id="33" presetID="9" presetClass="emph" presetSubtype="0" nodeType="withEffect">
                                  <p:stCondLst>
                                    <p:cond delay="0"/>
                                  </p:stCondLst>
                                  <p:childTnLst>
                                    <p:set>
                                      <p:cBhvr>
                                        <p:cTn id="34" dur="indefinite"/>
                                        <p:tgtEl>
                                          <p:spTgt spid="19"/>
                                        </p:tgtEl>
                                        <p:attrNameLst>
                                          <p:attrName>style.opacity</p:attrName>
                                        </p:attrNameLst>
                                      </p:cBhvr>
                                      <p:to>
                                        <p:strVal val="0.5"/>
                                      </p:to>
                                    </p:set>
                                    <p:animEffect filter="image" prLst="opacity: 0.5">
                                      <p:cBhvr rctx="IE">
                                        <p:cTn id="35" dur="indefinite"/>
                                        <p:tgtEl>
                                          <p:spTgt spid="19"/>
                                        </p:tgtEl>
                                      </p:cBhvr>
                                    </p:animEffect>
                                  </p:childTnLst>
                                </p:cTn>
                              </p:par>
                              <p:par>
                                <p:cTn id="36" presetID="9" presetClass="emph" presetSubtype="0" nodeType="withEffect">
                                  <p:stCondLst>
                                    <p:cond delay="0"/>
                                  </p:stCondLst>
                                  <p:childTnLst>
                                    <p:set>
                                      <p:cBhvr>
                                        <p:cTn id="37" dur="indefinite"/>
                                        <p:tgtEl>
                                          <p:spTgt spid="29"/>
                                        </p:tgtEl>
                                        <p:attrNameLst>
                                          <p:attrName>style.opacity</p:attrName>
                                        </p:attrNameLst>
                                      </p:cBhvr>
                                      <p:to>
                                        <p:strVal val="0.5"/>
                                      </p:to>
                                    </p:set>
                                    <p:animEffect filter="image" prLst="opacity: 0.5">
                                      <p:cBhvr rctx="IE">
                                        <p:cTn id="38" dur="indefinite"/>
                                        <p:tgtEl>
                                          <p:spTgt spid="29"/>
                                        </p:tgtEl>
                                      </p:cBhvr>
                                    </p:animEffect>
                                  </p:childTnLst>
                                </p:cTn>
                              </p:par>
                              <p:par>
                                <p:cTn id="39" presetID="9" presetClass="emph" presetSubtype="0" grpId="1" nodeType="withEffect">
                                  <p:stCondLst>
                                    <p:cond delay="0"/>
                                  </p:stCondLst>
                                  <p:childTnLst>
                                    <p:set>
                                      <p:cBhvr>
                                        <p:cTn id="40" dur="indefinite"/>
                                        <p:tgtEl>
                                          <p:spTgt spid="25"/>
                                        </p:tgtEl>
                                        <p:attrNameLst>
                                          <p:attrName>style.opacity</p:attrName>
                                        </p:attrNameLst>
                                      </p:cBhvr>
                                      <p:to>
                                        <p:strVal val="0.5"/>
                                      </p:to>
                                    </p:set>
                                    <p:animEffect filter="image" prLst="opacity: 0.5">
                                      <p:cBhvr rctx="IE">
                                        <p:cTn id="41" dur="indefinite"/>
                                        <p:tgtEl>
                                          <p:spTgt spid="25"/>
                                        </p:tgtEl>
                                      </p:cBhvr>
                                    </p:animEffect>
                                  </p:childTnLst>
                                </p:cTn>
                              </p:par>
                            </p:childTnLst>
                          </p:cTn>
                        </p:par>
                      </p:childTnLst>
                    </p:cTn>
                  </p:par>
                  <p:par>
                    <p:cTn id="42" fill="hold">
                      <p:stCondLst>
                        <p:cond delay="indefinite"/>
                      </p:stCondLst>
                      <p:childTnLst>
                        <p:par>
                          <p:cTn id="43" fill="hold">
                            <p:stCondLst>
                              <p:cond delay="0"/>
                            </p:stCondLst>
                            <p:childTnLst>
                              <p:par>
                                <p:cTn id="44" presetID="1" presetClass="entr" presetSubtype="0" fill="hold" nodeType="clickEffect">
                                  <p:stCondLst>
                                    <p:cond delay="0"/>
                                  </p:stCondLst>
                                  <p:childTnLst>
                                    <p:set>
                                      <p:cBhvr>
                                        <p:cTn id="45"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8" grpId="0"/>
      <p:bldP spid="18" grpId="1"/>
      <p:bldP spid="23" grpId="0"/>
      <p:bldP spid="25" grpId="0"/>
      <p:bldP spid="25" grpId="1"/>
      <p:bldP spid="26" grpId="0"/>
      <p:bldP spid="27" grpId="0"/>
    </p:bldLst>
  </p:timing>
</p:sld>
</file>

<file path=ppt/slides/slide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74204493-B165-34FF-C39F-B2FC7BDF8884}"/>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EF478985-F656-F709-4899-3C28D7FF229D}"/>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4</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4E91D938-0D59-0E14-FC38-BDE168568AE5}"/>
                  </a:ext>
                </a:extLst>
              </p:cNvPr>
              <p:cNvSpPr txBox="1"/>
              <p:nvPr/>
            </p:nvSpPr>
            <p:spPr>
              <a:xfrm>
                <a:off x="762000" y="1854200"/>
                <a:ext cx="7620000" cy="7239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sSub>
                        <m:sSubPr>
                          <m:ctrlPr>
                            <a:rPr lang="en-US" sz="1800" b="0" i="1" smtClean="0">
                              <a:latin typeface="Cambria Math" panose="02040503050406030204" pitchFamily="18" charset="0"/>
                            </a:rPr>
                          </m:ctrlPr>
                        </m:sSubPr>
                        <m:e>
                          <m:r>
                            <m:rPr>
                              <m:sty m:val="p"/>
                            </m:rPr>
                            <a:rPr lang="en-US" sz="1800" b="0" i="1" smtClean="0">
                              <a:latin typeface="Cambria Math" panose="02040503050406030204" pitchFamily="18" charset="0"/>
                            </a:rPr>
                            <m:t>temp</m:t>
                          </m:r>
                        </m:e>
                        <m:sub>
                          <m:r>
                            <a:rPr lang="nl-NL" sz="1800" i="1">
                              <a:latin typeface="Cambria Math" panose="02040503050406030204" pitchFamily="18" charset="0"/>
                            </a:rPr>
                            <m:t>𝑡</m:t>
                          </m:r>
                        </m:sub>
                      </m:sSub>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=0.01 </m:t>
                      </m:r>
                      <m:sSub>
                        <m:sSubPr>
                          <m:ctrlPr>
                            <a:rPr lang="en-US" sz="1800" b="0" i="1" smtClean="0">
                              <a:latin typeface="Cambria Math" panose="02040503050406030204" pitchFamily="18" charset="0"/>
                            </a:rPr>
                          </m:ctrlPr>
                        </m:sSubPr>
                        <m:e>
                          <m:r>
                            <m:rPr>
                              <m:sty m:val="p"/>
                            </m:rPr>
                            <a:rPr lang="en-US" sz="1800" b="0" i="1" smtClean="0">
                              <a:latin typeface="Cambria Math" panose="02040503050406030204" pitchFamily="18" charset="0"/>
                            </a:rPr>
                            <m:t>temp</m:t>
                          </m:r>
                        </m:e>
                        <m:sub>
                          <m:r>
                            <a:rPr lang="nl-NL" sz="1800" i="1">
                              <a:latin typeface="Cambria Math" panose="02040503050406030204" pitchFamily="18" charset="0"/>
                            </a:rPr>
                            <m:t>𝑠𝑠</m:t>
                          </m:r>
                        </m:sub>
                      </m:sSub>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m:t>
                      </m:r>
                      <m:d>
                        <m:dPr>
                          <m:begChr m:val="["/>
                          <m:endChr m:val="]"/>
                          <m:ctrlPr>
                            <a:rPr lang="nl-NL" sz="1800" i="1">
                              <a:latin typeface="Cambria Math" panose="02040503050406030204" pitchFamily="18" charset="0"/>
                            </a:rPr>
                          </m:ctrlPr>
                        </m:dPr>
                        <m:e>
                          <m:limLow>
                            <m:limLowPr>
                              <m:ctrlPr>
                                <a:rPr lang="nl-NL" sz="1800" i="1">
                                  <a:latin typeface="Cambria Math" panose="02040503050406030204" pitchFamily="18" charset="0"/>
                                </a:rPr>
                              </m:ctrlPr>
                            </m:limLowPr>
                            <m:e>
                              <m:groupChr>
                                <m:groupChrPr>
                                  <m:chr m:val="⏟"/>
                                  <m:pos m:val="bot"/>
                                  <m:vertJc m:val="top"/>
                                  <m:ctrlPr>
                                    <a:rPr lang="nl-NL" sz="1800" i="1">
                                      <a:latin typeface="Cambria Math" panose="02040503050406030204" pitchFamily="18" charset="0"/>
                                    </a:rPr>
                                  </m:ctrlPr>
                                </m:groupChrPr>
                                <m:e>
                                  <m:r>
                                    <a:rPr lang="nl-NL" sz="1800" i="1">
                                      <a:latin typeface="Cambria Math" panose="02040503050406030204" pitchFamily="18" charset="0"/>
                                    </a:rPr>
                                    <m:t>0.25</m:t>
                                  </m:r>
                                  <m:d>
                                    <m:dPr>
                                      <m:ctrlPr>
                                        <a:rPr lang="nl-NL" sz="1800" i="1">
                                          <a:latin typeface="Cambria Math" panose="02040503050406030204" pitchFamily="18" charset="0"/>
                                        </a:rPr>
                                      </m:ctrlPr>
                                    </m:dPr>
                                    <m:e>
                                      <m:r>
                                        <a:rPr lang="nl-NL" sz="1800" i="1">
                                          <a:latin typeface="Cambria Math" panose="02040503050406030204" pitchFamily="18" charset="0"/>
                                        </a:rPr>
                                        <m:t>1+</m:t>
                                      </m:r>
                                      <m:r>
                                        <a:rPr lang="nl-NL" sz="1800" i="1" smtClean="0">
                                          <a:solidFill>
                                            <a:srgbClr val="00B050"/>
                                          </a:solidFill>
                                          <a:latin typeface="Cambria Math" panose="02040503050406030204" pitchFamily="18" charset="0"/>
                                        </a:rPr>
                                        <m:t>𝛿</m:t>
                                      </m:r>
                                    </m:e>
                                  </m:d>
                                </m:e>
                              </m:groupChr>
                            </m:e>
                            <m:lim>
                              <m:r>
                                <m:rPr>
                                  <m:nor/>
                                </m:rPr>
                                <a:rPr lang="nl-NL" sz="1800" i="0">
                                  <a:latin typeface="Cambria Math" panose="02040503050406030204" pitchFamily="18" charset="0"/>
                                </a:rPr>
                                <m:t>heat generation</m:t>
                              </m:r>
                            </m:lim>
                          </m:limLow>
                          <m:r>
                            <a:rPr lang="nl-NL" sz="1800" i="1">
                              <a:latin typeface="Cambria Math" panose="02040503050406030204" pitchFamily="18" charset="0"/>
                            </a:rPr>
                            <m:t>−</m:t>
                          </m:r>
                          <m:limLow>
                            <m:limLowPr>
                              <m:ctrlPr>
                                <a:rPr lang="nl-NL" sz="1800" i="1">
                                  <a:latin typeface="Cambria Math" panose="02040503050406030204" pitchFamily="18" charset="0"/>
                                </a:rPr>
                              </m:ctrlPr>
                            </m:limLowPr>
                            <m:e>
                              <m:groupChr>
                                <m:groupChrPr>
                                  <m:chr m:val="⏟"/>
                                  <m:pos m:val="bot"/>
                                  <m:vertJc m:val="top"/>
                                  <m:ctrlPr>
                                    <a:rPr lang="nl-NL" sz="1800" i="1">
                                      <a:latin typeface="Cambria Math" panose="02040503050406030204" pitchFamily="18" charset="0"/>
                                    </a:rPr>
                                  </m:ctrlPr>
                                </m:groupChrPr>
                                <m:e>
                                  <m:r>
                                    <a:rPr lang="nl-NL" sz="1800" i="1">
                                      <a:latin typeface="Cambria Math" panose="02040503050406030204" pitchFamily="18" charset="0"/>
                                    </a:rPr>
                                    <m:t>0.2</m:t>
                                  </m:r>
                                </m:e>
                              </m:groupChr>
                            </m:e>
                            <m:lim>
                              <m:r>
                                <m:rPr>
                                  <m:nor/>
                                </m:rPr>
                                <a:rPr lang="nl-NL" sz="1800" i="0">
                                  <a:latin typeface="Cambria Math" panose="02040503050406030204" pitchFamily="18" charset="0"/>
                                </a:rPr>
                                <m:t>cooling</m:t>
                              </m:r>
                            </m:lim>
                          </m:limLow>
                        </m:e>
                      </m:d>
                      <m:r>
                        <m:rPr>
                          <m:sty m:val="p"/>
                        </m:rPr>
                        <a:rPr lang="en-US" sz="1800" b="0" i="1" smtClean="0">
                          <a:latin typeface="Cambria Math" panose="02040503050406030204" pitchFamily="18" charset="0"/>
                        </a:rPr>
                        <m:t>temp</m:t>
                      </m:r>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m:t>
                      </m:r>
                      <m:r>
                        <a:rPr lang="nl-NL" sz="1800" i="1">
                          <a:latin typeface="Cambria Math" panose="02040503050406030204" pitchFamily="18" charset="0"/>
                        </a:rPr>
                        <m:t>𝑢</m:t>
                      </m:r>
                      <m:d>
                        <m:dPr>
                          <m:ctrlPr>
                            <a:rPr lang="nl-NL" sz="1800" i="1">
                              <a:latin typeface="Cambria Math" panose="02040503050406030204" pitchFamily="18" charset="0"/>
                            </a:rPr>
                          </m:ctrlPr>
                        </m:dPr>
                        <m:e>
                          <m:r>
                            <a:rPr lang="nl-NL" sz="1800" i="1">
                              <a:latin typeface="Cambria Math" panose="02040503050406030204" pitchFamily="18" charset="0"/>
                            </a:rPr>
                            <m:t>𝑡</m:t>
                          </m:r>
                        </m:e>
                      </m:d>
                    </m:oMath>
                  </m:oMathPara>
                </a14:m>
                <a:endParaRPr lang="en-NL" sz="1800" dirty="0"/>
              </a:p>
            </p:txBody>
          </p:sp>
        </mc:Choice>
        <mc:Fallback xmlns="">
          <p:sp>
            <p:nvSpPr>
              <p:cNvPr id="14" name="TextBox 13">
                <a:extLst>
                  <a:ext uri="{FF2B5EF4-FFF2-40B4-BE49-F238E27FC236}">
                    <a16:creationId xmlns:a16="http://schemas.microsoft.com/office/drawing/2014/main" id="{4E91D938-0D59-0E14-FC38-BDE168568AE5}"/>
                  </a:ext>
                </a:extLst>
              </p:cNvPr>
              <p:cNvSpPr txBox="1">
                <a:spLocks noRot="1" noChangeAspect="1" noMove="1" noResize="1" noEditPoints="1" noAdjustHandles="1" noChangeArrowheads="1" noChangeShapeType="1" noTextEdit="1"/>
              </p:cNvSpPr>
              <p:nvPr/>
            </p:nvSpPr>
            <p:spPr>
              <a:xfrm>
                <a:off x="762000" y="1854200"/>
                <a:ext cx="7620000" cy="723900"/>
              </a:xfrm>
              <a:prstGeom prst="rect">
                <a:avLst/>
              </a:prstGeom>
              <a:blipFill>
                <a:blip r:embed="rId3"/>
                <a:stretch>
                  <a:fillRect l="-2080"/>
                </a:stretch>
              </a:blipFill>
              <a:ln>
                <a:noFill/>
              </a:ln>
            </p:spPr>
            <p:txBody>
              <a:bodyPr/>
              <a:lstStyle/>
              <a:p>
                <a:r>
                  <a:rPr lang="en-NL">
                    <a:noFill/>
                  </a:rPr>
                  <a:t> </a:t>
                </a:r>
              </a:p>
            </p:txBody>
          </p:sp>
        </mc:Fallback>
      </mc:AlternateContent>
      <p:pic>
        <p:nvPicPr>
          <p:cNvPr id="23" name="Original TUe logo"/>
          <p:cNvPicPr>
            <a:picLocks noChangeAspect="1"/>
          </p:cNvPicPr>
          <p:nvPr/>
        </p:nvPicPr>
        <p:blipFill>
          <a:blip r:embed="rId4"/>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5A707A7B-DF5A-2FD7-2E79-44904714E5AA}"/>
                  </a:ext>
                </a:extLst>
              </p:cNvPr>
              <p:cNvSpPr txBox="1"/>
              <p:nvPr/>
            </p:nvSpPr>
            <p:spPr>
              <a:xfrm>
                <a:off x="2600077" y="2957885"/>
                <a:ext cx="1537024" cy="784830"/>
              </a:xfrm>
              <a:prstGeom prst="rect">
                <a:avLst/>
              </a:prstGeom>
              <a:noFill/>
            </p:spPr>
            <p:txBody>
              <a:bodyPr wrap="none" rtlCol="0">
                <a:spAutoFit/>
              </a:bodyPr>
              <a:lstStyle/>
              <a:p>
                <a:pPr/>
                <a14:m>
                  <m:oMathPara xmlns:m="http://schemas.openxmlformats.org/officeDocument/2006/math">
                    <m:oMath>
                      <m:r>
                        <a:rPr lang="en-US" sz="1800" b="0" i="1" smtClean="0">
                          <a:latin typeface="Cambria Math" panose="02040503050406030204" pitchFamily="18" charset="0"/>
                        </a:rPr>
                        <m:t>𝛿</m:t>
                      </m:r>
                      <m:r>
                        <a:rPr lang="en-US" sz="1800" b="0" i="1" smtClean="0">
                          <a:latin typeface="Cambria Math" panose="02040503050406030204" pitchFamily="18" charset="0"/>
                        </a:rPr>
                        <m:t>∈[−0.5,0.5]</m:t>
                      </m:r>
                    </m:oMath>
                  </m:oMathPara>
                </a14:m>
                <a:endParaRPr lang="en-US" b="0" dirty="0"/>
              </a:p>
              <a:p>
                <a:endParaRPr lang="en-US" b="0" dirty="0"/>
              </a:p>
              <a:p>
                <a:endParaRPr lang="en-NL" dirty="0"/>
              </a:p>
            </p:txBody>
          </p:sp>
        </mc:Choice>
        <mc:Fallback xmlns="" xmlns:m="http://schemas.openxmlformats.org/officeDocument/2006/math">
          <p:sp>
            <p:nvSpPr>
              <p:cNvPr id="2" name="TextBox 1">
                <a:extLst>
                  <a:ext uri="{FF2B5EF4-FFF2-40B4-BE49-F238E27FC236}">
                    <a16:creationId xmlns:a16="http://schemas.microsoft.com/office/drawing/2014/main" id="{5A707A7B-DF5A-2FD7-2E79-44904714E5AA}"/>
                  </a:ext>
                </a:extLst>
              </p:cNvPr>
              <p:cNvSpPr txBox="1">
                <a:spLocks noRot="1" noChangeAspect="1" noMove="1" noResize="1" noEditPoints="1" noAdjustHandles="1" noChangeArrowheads="1" noChangeShapeType="1" noTextEdit="1"/>
              </p:cNvSpPr>
              <p:nvPr/>
            </p:nvSpPr>
            <p:spPr>
              <a:xfrm>
                <a:off x="2600077" y="2957885"/>
                <a:ext cx="1537024" cy="784830"/>
              </a:xfrm>
              <a:prstGeom prst="rect">
                <a:avLst/>
              </a:prstGeom>
              <a:blipFill>
                <a:blip r:embed="rId6"/>
                <a:stretch>
                  <a:fillRect/>
                </a:stretch>
              </a:blipFill>
            </p:spPr>
            <p:txBody>
              <a:bodyPr/>
              <a:lstStyle/>
              <a:p>
                <a:r>
                  <a:rPr lang="en-NL">
                    <a:noFill/>
                  </a:rPr>
                  <a:t> </a:t>
                </a:r>
              </a:p>
            </p:txBody>
          </p:sp>
        </mc:Fallback>
      </mc:AlternateContent>
      <p:pic xmlns:p="http://schemas.openxmlformats.org/presentationml/2006/main" xmlns:a="http://schemas.openxmlformats.org/drawingml/2006/main" xmlns:r="http://schemas.openxmlformats.org/officeDocument/2006/relationships" xmlns:m="http://schemas.openxmlformats.org/officeDocument/2006/math" xmlns:a14="http://schemas.microsoft.com/office/drawing/2010/main" xmlns:mc="http://schemas.openxmlformats.org/markup-compatibility/2006">
        <p:nvPicPr>
          <p:cNvPr id="18" name="Baked figure with larger labels"/>
          <p:cNvPicPr>
            <a:picLocks noChangeAspect="1"/>
          </p:cNvPicPr>
          <p:nvPr/>
        </p:nvPicPr>
        <p:blipFill>
          <a:blip r:embed="rIdBakedFigure18"/>
          <a:stretch>
            <a:fillRect/>
          </a:stretch>
        </p:blipFill>
        <p:spPr>
          <a:xfrm>
            <a:off x="1147762" y="2619375"/>
            <a:ext cx="3590925" cy="2009775"/>
          </a:xfrm>
          <a:prstGeom prst="rect">
            <a:avLst/>
          </a:prstGeom>
        </p:spPr>
      </p:pic>
      <p:sp>
        <p:nvSpPr>
          <p:cNvPr id="3" name="TextBox 2">
            <a:extLst>
              <a:ext uri="{FF2B5EF4-FFF2-40B4-BE49-F238E27FC236}">
                <a16:creationId xmlns:a16="http://schemas.microsoft.com/office/drawing/2014/main" id="{F8836475-C67C-5FD6-CA27-4A6AECE9B89D}"/>
              </a:ext>
            </a:extLst>
          </p:cNvPr>
          <p:cNvSpPr txBox="1"/>
          <p:nvPr/>
        </p:nvSpPr>
        <p:spPr>
          <a:xfrm>
            <a:off x="5810250" y="3321050"/>
            <a:ext cx="964495" cy="300082"/>
          </a:xfrm>
          <a:prstGeom prst="rect">
            <a:avLst/>
          </a:prstGeom>
          <a:noFill/>
        </p:spPr>
        <p:txBody>
          <a:bodyPr wrap="none" rtlCol="0">
            <a:spAutoFit/>
          </a:bodyPr>
          <a:lstStyle/>
          <a:p>
            <a:r>
              <a:rPr lang="en-US" dirty="0"/>
              <a:t>Cite paper</a:t>
            </a:r>
            <a:endParaRPr lang="en-NL" dirty="0"/>
          </a:p>
        </p:txBody>
      </p:sp>
      <p:pic xmlns:p="http://schemas.openxmlformats.org/presentationml/2006/main" xmlns:a="http://schemas.openxmlformats.org/drawingml/2006/main" xmlns:r="http://schemas.openxmlformats.org/officeDocument/2006/relationships" xmlns:m="http://schemas.openxmlformats.org/officeDocument/2006/math" xmlns:a14="http://schemas.microsoft.com/office/drawing/2010/main" xmlns:mc="http://schemas.openxmlformats.org/markup-compatibility/2006">
        <p:nvPicPr>
          <p:cNvPr id="7" name="Baked figure with larger labels"/>
          <p:cNvPicPr>
            <a:picLocks noChangeAspect="1"/>
          </p:cNvPicPr>
          <p:nvPr/>
        </p:nvPicPr>
        <p:blipFill>
          <a:blip r:embed="rIdBakedFigure7"/>
          <a:stretch>
            <a:fillRect/>
          </a:stretch>
        </p:blipFill>
        <p:spPr>
          <a:xfrm>
            <a:off x="914400" y="366712"/>
            <a:ext cx="6724650" cy="1109662"/>
          </a:xfrm>
          <a:prstGeom prst="rect">
            <a:avLst/>
          </a:prstGeom>
        </p:spPr>
      </p:pic>
    </p:spTree>
    <p:extLst>
      <p:ext uri="{BB962C8B-B14F-4D97-AF65-F5344CB8AC3E}">
        <p14:creationId xmlns:p14="http://schemas.microsoft.com/office/powerpoint/2010/main" val="26491370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2" grpId="0"/>
    </p:bldLst>
  </p:timing>
</p:sld>
</file>

<file path=ppt/slides/slide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EE5B7DCB-9BE7-AAF9-4D4E-ABFDFC0008E7}"/>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47D7F8D4-52BE-C91E-8845-DB204891860F}"/>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5</a:t>
            </a:fld>
            <a:endParaRPr lang="en-GB" sz="800" b="0" u="none" cap="none" dirty="0">
              <a:solidFill>
                <a:srgbClr val="747B82"/>
              </a:solidFill>
              <a:latin typeface="Aptos"/>
              <a:ea typeface="Aptos"/>
              <a:cs typeface="Aptos"/>
            </a:endParaRPr>
          </a:p>
        </p:txBody>
      </p:sp>
      <p:pic>
        <p:nvPicPr>
          <p:cNvPr id="118" name="Picture 7" descr="basal ganglia 1">
            <a:extLst>
              <a:ext uri="{FF2B5EF4-FFF2-40B4-BE49-F238E27FC236}">
                <a16:creationId xmlns:a16="http://schemas.microsoft.com/office/drawing/2014/main" id="{89FA51F9-CFAF-E275-A92E-F03A6738017F}"/>
              </a:ext>
            </a:extLst>
          </p:cNvPr>
          <p:cNvPicPr>
            <a:picLocks noChangeAspect="1"/>
          </p:cNvPicPr>
          <p:nvPr/>
        </p:nvPicPr>
        <p:blipFill>
          <a:blip r:embed="rId2"/>
          <a:stretch>
            <a:fillRect/>
          </a:stretch>
        </p:blipFill>
        <p:spPr>
          <a:xfrm>
            <a:off x="2349500" y="254000"/>
            <a:ext cx="4445000" cy="4445000"/>
          </a:xfrm>
          <a:prstGeom prst="rect">
            <a:avLst/>
          </a:prstGeom>
        </p:spPr>
      </p:pic>
      <p:pic>
        <p:nvPicPr>
          <p:cNvPr id="9"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6991813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DA4647-B815-E9C5-2FA5-AF216549EAFF}"/>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E5E081F0-E818-3A61-F42B-64408B6C99D7}"/>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7844B542-0F9F-433A-C397-AB50E1FF1112}"/>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6</a:t>
            </a:fld>
            <a:endParaRPr lang="en-GB" sz="800" b="0" u="none" cap="none" dirty="0">
              <a:solidFill>
                <a:srgbClr val="747B82"/>
              </a:solidFill>
              <a:latin typeface="Aptos"/>
              <a:ea typeface="Aptos"/>
              <a:cs typeface="Aptos"/>
            </a:endParaRPr>
          </a:p>
        </p:txBody>
      </p:sp>
      <p:pic>
        <p:nvPicPr>
          <p:cNvPr id="118" name="Picture 7" descr="basal ganglia 1">
            <a:extLst>
              <a:ext uri="{FF2B5EF4-FFF2-40B4-BE49-F238E27FC236}">
                <a16:creationId xmlns:a16="http://schemas.microsoft.com/office/drawing/2014/main" id="{CA53A7CC-8835-4B93-58DE-5CBF9226A941}"/>
              </a:ext>
            </a:extLst>
          </p:cNvPr>
          <p:cNvPicPr>
            <a:picLocks noChangeAspect="1"/>
          </p:cNvPicPr>
          <p:nvPr/>
        </p:nvPicPr>
        <p:blipFill>
          <a:blip r:embed="rId2"/>
          <a:srcRect l="23688" t="39675" r="23916" b="33648"/>
          <a:stretch>
            <a:fillRect/>
          </a:stretch>
        </p:blipFill>
        <p:spPr>
          <a:xfrm>
            <a:off x="457200" y="513244"/>
            <a:ext cx="8238683" cy="4194442"/>
          </a:xfrm>
          <a:prstGeom prst="rect">
            <a:avLst/>
          </a:prstGeom>
        </p:spPr>
      </p:pic>
      <p:pic>
        <p:nvPicPr>
          <p:cNvPr id="9" name="Original TUe logo">
            <a:extLst>
              <a:ext uri="{FF2B5EF4-FFF2-40B4-BE49-F238E27FC236}">
                <a16:creationId xmlns:a16="http://schemas.microsoft.com/office/drawing/2014/main" id="{F423FBD4-CE2F-F4E4-605C-26531813F230}"/>
              </a:ext>
            </a:extLst>
          </p:cNvPr>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2148256197"/>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7</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A8C7EF67-BB4A-F683-C28D-D5A8BAFBA5AD}"/>
                  </a:ext>
                </a:extLst>
              </p:cNvPr>
              <p:cNvSpPr txBox="1"/>
              <p:nvPr/>
            </p:nvSpPr>
            <p:spPr>
              <a:xfrm>
                <a:off x="1295400" y="32639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m="http://schemas.openxmlformats.org/officeDocument/2006/math" xmlns="">
          <p:sp>
            <p:nvSpPr>
              <p:cNvPr id="38" name="TextBox 37">
                <a:extLst>
                  <a:ext uri="{FF2B5EF4-FFF2-40B4-BE49-F238E27FC236}">
                    <a16:creationId xmlns:a16="http://schemas.microsoft.com/office/drawing/2014/main" id="{A8C7EF67-BB4A-F683-C28D-D5A8BAFBA5AD}"/>
                  </a:ext>
                </a:extLst>
              </p:cNvPr>
              <p:cNvSpPr txBox="1">
                <a:spLocks noRot="1" noChangeAspect="1" noMove="1" noResize="1" noEditPoints="1" noAdjustHandles="1" noChangeArrowheads="1" noChangeShapeType="1" noTextEdit="1"/>
              </p:cNvSpPr>
              <p:nvPr/>
            </p:nvSpPr>
            <p:spPr>
              <a:xfrm>
                <a:off x="1295400" y="3263900"/>
                <a:ext cx="6553200" cy="1295400"/>
              </a:xfrm>
              <a:prstGeom prst="rect">
                <a:avLst/>
              </a:prstGeom>
              <a:blipFill>
                <a:blip r:embed="rId3"/>
                <a:stretch>
                  <a:fillRect/>
                </a:stretch>
              </a:blipFill>
              <a:ln>
                <a:noFill/>
              </a:ln>
            </p:spPr>
            <p:txBody>
              <a:bodyPr/>
              <a:lstStyle/>
              <a:p>
                <a:r>
                  <a:rPr lang="en-NL">
                    <a:noFill/>
                  </a:rPr>
                  <a:t> </a:t>
                </a:r>
              </a:p>
            </p:txBody>
          </p:sp>
        </mc:Fallback>
      </mc:AlternateContent>
      <p:pic xmlns:p="http://schemas.openxmlformats.org/presentationml/2006/main" xmlns:a="http://schemas.openxmlformats.org/drawingml/2006/main" xmlns:r="http://schemas.openxmlformats.org/officeDocument/2006/relationships" xmlns:m="http://schemas.openxmlformats.org/officeDocument/2006/math" xmlns:a14="http://schemas.microsoft.com/office/drawing/2010/main" xmlns:mc="http://schemas.openxmlformats.org/markup-compatibility/2006">
        <p:nvPicPr>
          <p:cNvPr id="56" name="Baked figure with larger labels"/>
          <p:cNvPicPr>
            <a:picLocks noChangeAspect="1"/>
          </p:cNvPicPr>
          <p:nvPr/>
        </p:nvPicPr>
        <p:blipFill>
          <a:blip r:embed="rIdBakedFigure56"/>
          <a:stretch>
            <a:fillRect/>
          </a:stretch>
        </p:blipFill>
        <p:spPr>
          <a:xfrm>
            <a:off x="1990725" y="547688"/>
            <a:ext cx="4681538" cy="2009775"/>
          </a:xfrm>
          <a:prstGeom prst="rect">
            <a:avLst/>
          </a:prstGeom>
        </p:spPr>
      </p:pic>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1"/>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46F948EF-FE1D-50AB-EDCD-15C12269BE11}"/>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8</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B0D55E98-9D19-4C86-FAFE-5E1AC73F146C}"/>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m="http://schemas.openxmlformats.org/officeDocument/2006/math" xmlns="">
          <p:sp>
            <p:nvSpPr>
              <p:cNvPr id="40" name="TextBox 39">
                <a:extLst>
                  <a:ext uri="{FF2B5EF4-FFF2-40B4-BE49-F238E27FC236}">
                    <a16:creationId xmlns:a16="http://schemas.microsoft.com/office/drawing/2014/main" id="{B0D55E98-9D19-4C86-FAFE-5E1AC73F146C}"/>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a:stretch>
              </a:blipFill>
              <a:ln>
                <a:noFill/>
              </a:ln>
            </p:spPr>
            <p:txBody>
              <a:bodyPr/>
              <a:lstStyle/>
              <a:p>
                <a:r>
                  <a:rPr lang="en-NL">
                    <a:noFill/>
                  </a:rPr>
                  <a:t> </a:t>
                </a:r>
              </a:p>
            </p:txBody>
          </p:sp>
        </mc:Fallback>
      </mc:AlternateContent>
      <p:pic xmlns:p="http://schemas.openxmlformats.org/presentationml/2006/main" xmlns:a="http://schemas.openxmlformats.org/drawingml/2006/main" xmlns:r="http://schemas.openxmlformats.org/officeDocument/2006/relationships" xmlns:m="http://schemas.openxmlformats.org/officeDocument/2006/math" xmlns:a14="http://schemas.microsoft.com/office/drawing/2010/main" xmlns:mc="http://schemas.openxmlformats.org/markup-compatibility/2006">
        <p:nvPicPr>
          <p:cNvPr id="62" name="Baked figure with larger labels"/>
          <p:cNvPicPr>
            <a:picLocks noChangeAspect="1"/>
          </p:cNvPicPr>
          <p:nvPr/>
        </p:nvPicPr>
        <p:blipFill>
          <a:blip r:embed="rIdBakedFigure62"/>
          <a:stretch>
            <a:fillRect/>
          </a:stretch>
        </p:blipFill>
        <p:spPr>
          <a:xfrm>
            <a:off x="1909762" y="390525"/>
            <a:ext cx="4762500" cy="2233612"/>
          </a:xfrm>
          <a:prstGeom prst="rect">
            <a:avLst/>
          </a:prstGeom>
        </p:spPr>
      </p:pic>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9"/>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1E08E4E5-4D18-888A-F985-6F3A5B5DA0A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9</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5EA4E13B-D65C-4F93-08F7-A77D18F6681B}"/>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GS</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SG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GG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m="http://schemas.openxmlformats.org/officeDocument/2006/math" xmlns="">
          <p:sp>
            <p:nvSpPr>
              <p:cNvPr id="42" name="TextBox 41">
                <a:extLst>
                  <a:ext uri="{FF2B5EF4-FFF2-40B4-BE49-F238E27FC236}">
                    <a16:creationId xmlns:a16="http://schemas.microsoft.com/office/drawing/2014/main" id="{5EA4E13B-D65C-4F93-08F7-A77D18F6681B}"/>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a:stretch>
              </a:blipFill>
              <a:ln>
                <a:noFill/>
              </a:ln>
            </p:spPr>
            <p:txBody>
              <a:bodyPr/>
              <a:lstStyle/>
              <a:p>
                <a:r>
                  <a:rPr lang="en-NL">
                    <a:noFill/>
                  </a:rPr>
                  <a:t> </a:t>
                </a:r>
              </a:p>
            </p:txBody>
          </p:sp>
        </mc:Fallback>
      </mc:AlternateContent>
      <p:pic xmlns:p="http://schemas.openxmlformats.org/presentationml/2006/main" xmlns:a="http://schemas.openxmlformats.org/drawingml/2006/main" xmlns:r="http://schemas.openxmlformats.org/officeDocument/2006/relationships" xmlns:m="http://schemas.openxmlformats.org/officeDocument/2006/math" xmlns:a14="http://schemas.microsoft.com/office/drawing/2010/main" xmlns:mc="http://schemas.openxmlformats.org/markup-compatibility/2006">
        <p:nvPicPr>
          <p:cNvPr id="60" name="Baked figure with larger labels"/>
          <p:cNvPicPr>
            <a:picLocks noChangeAspect="1"/>
          </p:cNvPicPr>
          <p:nvPr/>
        </p:nvPicPr>
        <p:blipFill>
          <a:blip r:embed="rIdBakedFigure60"/>
          <a:stretch>
            <a:fillRect/>
          </a:stretch>
        </p:blipFill>
        <p:spPr>
          <a:xfrm>
            <a:off x="1919288" y="409575"/>
            <a:ext cx="4752975" cy="2200275"/>
          </a:xfrm>
          <a:prstGeom prst="rect">
            <a:avLst/>
          </a:prstGeom>
        </p:spPr>
      </p:pic>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4"/>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5462D6B0-B975-E4E8-43A7-522FFD76CEC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CA6300-73ED-2644-1A7A-8419470E6037}"/>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69185F86-CE68-EF7C-3018-1A5BA597229D}"/>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EDFA80B0-0AED-415B-179D-B7D5FA103C78}"/>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10</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39174E3A-315D-35D2-1FD7-0F9A6A8B57A3}"/>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GS</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SG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GG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m="http://schemas.openxmlformats.org/officeDocument/2006/math" xmlns="">
          <p:sp>
            <p:nvSpPr>
              <p:cNvPr id="42" name="TextBox 41">
                <a:extLst>
                  <a:ext uri="{FF2B5EF4-FFF2-40B4-BE49-F238E27FC236}">
                    <a16:creationId xmlns:a16="http://schemas.microsoft.com/office/drawing/2014/main" id="{5EA4E13B-D65C-4F93-08F7-A77D18F6681B}"/>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a:stretch>
              </a:blipFill>
              <a:ln>
                <a:noFill/>
              </a:ln>
            </p:spPr>
            <p:txBody>
              <a:bodyPr/>
              <a:lstStyle/>
              <a:p>
                <a:r>
                  <a:rPr lang="en-NL">
                    <a:noFill/>
                  </a:rPr>
                  <a:t> </a:t>
                </a:r>
              </a:p>
            </p:txBody>
          </p:sp>
        </mc:Fallback>
      </mc:AlternateContent>
      <p:pic xmlns:p="http://schemas.openxmlformats.org/presentationml/2006/main" xmlns:a="http://schemas.openxmlformats.org/drawingml/2006/main" xmlns:r="http://schemas.openxmlformats.org/officeDocument/2006/relationships" xmlns:m="http://schemas.openxmlformats.org/officeDocument/2006/math" xmlns:a14="http://schemas.microsoft.com/office/drawing/2010/main" xmlns:mc="http://schemas.openxmlformats.org/markup-compatibility/2006">
        <p:nvPicPr>
          <p:cNvPr id="60" name="Baked figure with larger labels"/>
          <p:cNvPicPr>
            <a:picLocks noChangeAspect="1"/>
          </p:cNvPicPr>
          <p:nvPr/>
        </p:nvPicPr>
        <p:blipFill>
          <a:blip r:embed="rIdBakedFigure60"/>
          <a:stretch>
            <a:fillRect/>
          </a:stretch>
        </p:blipFill>
        <p:spPr>
          <a:xfrm>
            <a:off x="1919288" y="409575"/>
            <a:ext cx="4752975" cy="2200275"/>
          </a:xfrm>
          <a:prstGeom prst="rect">
            <a:avLst/>
          </a:prstGeom>
        </p:spPr>
      </p:pic>
      <p:sp>
        <p:nvSpPr>
          <p:cNvPr id="68" name="TextBox 67">
            <a:extLst>
              <a:ext uri="{FF2B5EF4-FFF2-40B4-BE49-F238E27FC236}">
                <a16:creationId xmlns:a16="http://schemas.microsoft.com/office/drawing/2014/main" id="{DE5ACBCD-6245-5808-3E38-E90CD319A76E}"/>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a:extLst>
              <a:ext uri="{FF2B5EF4-FFF2-40B4-BE49-F238E27FC236}">
                <a16:creationId xmlns:a16="http://schemas.microsoft.com/office/drawing/2014/main" id="{F67D798B-913D-1D0F-B06B-81BE8DE6D5C1}"/>
              </a:ext>
            </a:extLst>
          </p:cNvPr>
          <p:cNvPicPr>
            <a:picLocks noChangeAspect="1"/>
          </p:cNvPicPr>
          <p:nvPr/>
        </p:nvPicPr>
        <p:blipFill>
          <a:blip r:embed="rId14"/>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E5C3A566-31B3-55FE-6911-9A1EF6E8B3F7}"/>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3828170243"/>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11</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9B74D79A-5656-C6E4-5507-C6A41446797A}"/>
                  </a:ext>
                </a:extLst>
              </p:cNvPr>
              <p:cNvSpPr txBox="1"/>
              <p:nvPr/>
            </p:nvSpPr>
            <p:spPr>
              <a:xfrm>
                <a:off x="1295400" y="2806700"/>
                <a:ext cx="6553200" cy="13716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GS</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SG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GG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m:t>
                              </m:r>
                            </m:sub>
                          </m:sSub>
                          <m:sSub>
                            <m:sSubPr>
                              <m:ctrlPr>
                                <a:rPr lang="en-US" sz="1800" b="0" i="1" smtClean="0">
                                  <a:latin typeface="Cambria Math" panose="02040503050406030204" pitchFamily="18" charset="0"/>
                                </a:rPr>
                              </m:ctrlPr>
                            </m:sSubPr>
                            <m:e>
                              <m:acc>
                                <m:accPr>
                                  <m:chr m:val="̇"/>
                                  <m:ctrlPr>
                                    <a:rPr lang="en-US" sz="1800" b="0" i="1" smtClean="0">
                                      <a:latin typeface="Cambria Math" panose="02040503050406030204" pitchFamily="18" charset="0"/>
                                    </a:rPr>
                                  </m:ctrlPr>
                                </m:accPr>
                                <m:e>
                                  <m:r>
                                    <a:rPr lang="en-US" sz="1800" b="0" i="1" smtClean="0">
                                      <a:latin typeface="Cambria Math" panose="02040503050406030204" pitchFamily="18" charset="0"/>
                                    </a:rPr>
                                    <m:t>𝑥</m:t>
                                  </m:r>
                                </m:e>
                              </m:acc>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𝛿</m:t>
                              </m:r>
                            </m:e>
                            <m:sub>
                              <m:r>
                                <m:rPr>
                                  <m:sty m:val="p"/>
                                </m:rPr>
                                <a:rPr lang="en-US" sz="1800" b="0" i="1" smtClean="0">
                                  <a:solidFill>
                                    <a:srgbClr val="C81919"/>
                                  </a:solidFill>
                                  <a:latin typeface="Cambria Math" panose="02040503050406030204" pitchFamily="18" charset="0"/>
                                </a:rPr>
                                <m:t>S</m:t>
                              </m:r>
                            </m:sub>
                          </m:sSub>
                          <m:d>
                            <m:dPr>
                              <m:ctrlPr>
                                <a:rPr lang="en-US" sz="1800" b="0" i="1" smtClean="0">
                                  <a:solidFill>
                                    <a:srgbClr val="C81919"/>
                                  </a:solidFill>
                                  <a:latin typeface="Cambria Math" panose="02040503050406030204" pitchFamily="18" charset="0"/>
                                </a:rPr>
                              </m:ctrlPr>
                            </m:dPr>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𝑧</m:t>
                                  </m:r>
                                </m:e>
                                <m:sub>
                                  <m:r>
                                    <m:rPr>
                                      <m:sty m:val="p"/>
                                    </m:rPr>
                                    <a:rPr lang="en-US" sz="1800" b="0" i="1" smtClean="0">
                                      <a:solidFill>
                                        <a:srgbClr val="C81919"/>
                                      </a:solidFill>
                                      <a:latin typeface="Cambria Math" panose="02040503050406030204" pitchFamily="18" charset="0"/>
                                    </a:rPr>
                                    <m:t>S</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m:t>
                              </m:r>
                            </m:sub>
                          </m:sSub>
                          <m:sSub>
                            <m:sSubPr>
                              <m:ctrlPr>
                                <a:rPr lang="en-US" sz="1800" b="0" i="1" smtClean="0">
                                  <a:latin typeface="Cambria Math" panose="02040503050406030204" pitchFamily="18" charset="0"/>
                                </a:rPr>
                              </m:ctrlPr>
                            </m:sSubPr>
                            <m:e>
                              <m:acc>
                                <m:accPr>
                                  <m:chr m:val="̇"/>
                                  <m:ctrlPr>
                                    <a:rPr lang="en-US" sz="1800" b="0" i="1" smtClean="0">
                                      <a:latin typeface="Cambria Math" panose="02040503050406030204" pitchFamily="18" charset="0"/>
                                    </a:rPr>
                                  </m:ctrlPr>
                                </m:accPr>
                                <m:e>
                                  <m:r>
                                    <a:rPr lang="en-US" sz="1800" b="0" i="1" smtClean="0">
                                      <a:latin typeface="Cambria Math" panose="02040503050406030204" pitchFamily="18" charset="0"/>
                                    </a:rPr>
                                    <m:t>𝑥</m:t>
                                  </m:r>
                                </m:e>
                              </m:acc>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𝛿</m:t>
                              </m:r>
                            </m:e>
                            <m:sub>
                              <m:r>
                                <m:rPr>
                                  <m:sty m:val="p"/>
                                </m:rPr>
                                <a:rPr lang="en-US" sz="1800" b="0" i="1" smtClean="0">
                                  <a:solidFill>
                                    <a:srgbClr val="C81919"/>
                                  </a:solidFill>
                                  <a:latin typeface="Cambria Math" panose="02040503050406030204" pitchFamily="18" charset="0"/>
                                </a:rPr>
                                <m:t>G</m:t>
                              </m:r>
                            </m:sub>
                          </m:sSub>
                          <m:d>
                            <m:dPr>
                              <m:ctrlPr>
                                <a:rPr lang="en-US" sz="1800" b="0" i="1" smtClean="0">
                                  <a:solidFill>
                                    <a:srgbClr val="C81919"/>
                                  </a:solidFill>
                                  <a:latin typeface="Cambria Math" panose="02040503050406030204" pitchFamily="18" charset="0"/>
                                </a:rPr>
                              </m:ctrlPr>
                            </m:dPr>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𝑧</m:t>
                                  </m:r>
                                </m:e>
                                <m:sub>
                                  <m:r>
                                    <m:rPr>
                                      <m:sty m:val="p"/>
                                    </m:rPr>
                                    <a:rPr lang="en-US" sz="1800" b="0" i="1" smtClean="0">
                                      <a:solidFill>
                                        <a:srgbClr val="C81919"/>
                                      </a:solidFill>
                                      <a:latin typeface="Cambria Math" panose="02040503050406030204" pitchFamily="18" charset="0"/>
                                    </a:rPr>
                                    <m:t>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a:rPr lang="en-US" sz="1800" b="0" i="1" smtClean="0">
                              <a:latin typeface="Cambria Math" panose="02040503050406030204" pitchFamily="18" charset="0"/>
                            </a:rPr>
                            <m:t>.</m:t>
                          </m:r>
                        </m:e>
                      </m:eqArr>
                    </m:oMath>
                  </m:oMathPara>
                </a14:m>
                <a:endParaRPr lang="en-NL" sz="1800" dirty="0"/>
              </a:p>
            </p:txBody>
          </p:sp>
        </mc:Choice>
        <mc:Fallback xmlns:m="http://schemas.openxmlformats.org/officeDocument/2006/math" xmlns="">
          <p:sp>
            <p:nvSpPr>
              <p:cNvPr id="44" name="TextBox 43">
                <a:extLst>
                  <a:ext uri="{FF2B5EF4-FFF2-40B4-BE49-F238E27FC236}">
                    <a16:creationId xmlns:a16="http://schemas.microsoft.com/office/drawing/2014/main" id="{9B74D79A-5656-C6E4-5507-C6A41446797A}"/>
                  </a:ext>
                </a:extLst>
              </p:cNvPr>
              <p:cNvSpPr txBox="1">
                <a:spLocks noRot="1" noChangeAspect="1" noMove="1" noResize="1" noEditPoints="1" noAdjustHandles="1" noChangeArrowheads="1" noChangeShapeType="1" noTextEdit="1"/>
              </p:cNvSpPr>
              <p:nvPr/>
            </p:nvSpPr>
            <p:spPr>
              <a:xfrm>
                <a:off x="1295400" y="2806700"/>
                <a:ext cx="6553200" cy="1371600"/>
              </a:xfrm>
              <a:prstGeom prst="rect">
                <a:avLst/>
              </a:prstGeom>
              <a:blipFill>
                <a:blip r:embed="rId3"/>
                <a:stretch>
                  <a:fillRect/>
                </a:stretch>
              </a:blipFill>
              <a:ln>
                <a:noFill/>
              </a:ln>
            </p:spPr>
            <p:txBody>
              <a:bodyPr/>
              <a:lstStyle/>
              <a:p>
                <a:r>
                  <a:rPr lang="en-NL">
                    <a:noFill/>
                  </a:rPr>
                  <a:t> </a:t>
                </a:r>
              </a:p>
            </p:txBody>
          </p:sp>
        </mc:Fallback>
      </mc:AlternateContent>
      <p:pic xmlns:p="http://schemas.openxmlformats.org/presentationml/2006/main" xmlns:a="http://schemas.openxmlformats.org/drawingml/2006/main" xmlns:r="http://schemas.openxmlformats.org/officeDocument/2006/relationships" xmlns:m="http://schemas.openxmlformats.org/officeDocument/2006/math" xmlns:a14="http://schemas.microsoft.com/office/drawing/2010/main" xmlns:mc="http://schemas.openxmlformats.org/markup-compatibility/2006">
        <p:nvPicPr>
          <p:cNvPr id="58" name="Baked figure with larger labels"/>
          <p:cNvPicPr>
            <a:picLocks noChangeAspect="1"/>
          </p:cNvPicPr>
          <p:nvPr/>
        </p:nvPicPr>
        <p:blipFill>
          <a:blip r:embed="rIdBakedFigure58"/>
          <a:stretch>
            <a:fillRect/>
          </a:stretch>
        </p:blipFill>
        <p:spPr>
          <a:xfrm>
            <a:off x="2438400" y="595312"/>
            <a:ext cx="4138612" cy="1695450"/>
          </a:xfrm>
          <a:prstGeom prst="rect">
            <a:avLst/>
          </a:prstGeom>
        </p:spPr>
      </p:pic>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sp>
        <p:nvSpPr>
          <p:cNvPr id="81" name="TextBox 80">
            <a:extLst>
              <a:ext uri="{FF2B5EF4-FFF2-40B4-BE49-F238E27FC236}">
                <a16:creationId xmlns:a16="http://schemas.microsoft.com/office/drawing/2014/main" id="{BB047B88-FD1C-8DA5-3449-A3624FB9C737}"/>
              </a:ext>
            </a:extLst>
          </p:cNvPr>
          <p:cNvSpPr txBox="1"/>
          <p:nvPr/>
        </p:nvSpPr>
        <p:spPr>
          <a:xfrm>
            <a:off x="787400" y="4203700"/>
            <a:ext cx="7569200" cy="279400"/>
          </a:xfrm>
          <a:prstGeom prst="rect">
            <a:avLst/>
          </a:prstGeom>
          <a:noFill/>
          <a:ln>
            <a:noFill/>
          </a:ln>
        </p:spPr>
        <p:txBody>
          <a:bodyPr wrap="square" lIns="0" tIns="0" rIns="0" bIns="0" rtlCol="0" anchor="t">
            <a:noAutofit/>
          </a:bodyPr>
          <a:lstStyle/>
          <a:p>
            <a:pPr marL="0" indent="0" algn="ctr" defTabSz="1">
              <a:lnSpc>
                <a:spcPct val="110000"/>
              </a:lnSpc>
              <a:spcAft>
                <a:spcPts val="0"/>
              </a:spcAft>
              <a:buNone/>
              <a:defRPr sz="1300" b="1" u="none" cap="none">
                <a:solidFill>
                  <a:srgbClr val="C81919"/>
                </a:solidFill>
                <a:latin typeface="Aptos"/>
                <a:ea typeface="Aptos"/>
                <a:cs typeface="Aptos"/>
              </a:defRPr>
            </a:pPr>
            <a:r>
              <a:rPr lang="en-US" sz="1300" b="1" u="none" cap="none" dirty="0">
                <a:solidFill>
                  <a:srgbClr val="C81919"/>
                </a:solidFill>
                <a:latin typeface="Aptos"/>
                <a:ea typeface="Aptos"/>
                <a:cs typeface="Aptos"/>
              </a:rPr>
              <a:t>Model contains delays and nonlinear activation </a:t>
            </a:r>
            <a:r>
              <a:rPr lang="en-US" sz="1300" b="1" u="none" cap="none" dirty="0" err="1">
                <a:solidFill>
                  <a:srgbClr val="C81919"/>
                </a:solidFill>
                <a:latin typeface="Aptos"/>
                <a:ea typeface="Aptos"/>
                <a:cs typeface="Aptos"/>
              </a:rPr>
              <a:t>funtions</a:t>
            </a:r>
            <a:r>
              <a:rPr lang="en-US" sz="1300" b="1" u="none" cap="none" dirty="0">
                <a:solidFill>
                  <a:srgbClr val="C81919"/>
                </a:solidFill>
                <a:latin typeface="Aptos"/>
                <a:ea typeface="Aptos"/>
                <a:cs typeface="Aptos"/>
              </a:rPr>
              <a:t>!</a:t>
            </a:r>
            <a:endParaRPr lang="en-NL" sz="1300" b="1" u="none" cap="none" dirty="0">
              <a:solidFill>
                <a:srgbClr val="C81919"/>
              </a:solidFill>
              <a:latin typeface="Aptos"/>
              <a:ea typeface="Aptos"/>
              <a:cs typeface="Aptos"/>
            </a:endParaRPr>
          </a:p>
        </p:txBody>
      </p:sp>
      <p:pic>
        <p:nvPicPr>
          <p:cNvPr id="82" name="Original TUe logo"/>
          <p:cNvPicPr>
            <a:picLocks noChangeAspect="1"/>
          </p:cNvPicPr>
          <p:nvPr/>
        </p:nvPicPr>
        <p:blipFill>
          <a:blip r:embed="rId21"/>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364ED054-BA3C-3ACC-F1C5-4EE4D1346E0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12</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5926C627-9E23-2EDD-F91F-30B0EF9B97BE}"/>
                  </a:ext>
                </a:extLst>
              </p:cNvPr>
              <p:cNvSpPr txBox="1"/>
              <p:nvPr/>
            </p:nvSpPr>
            <p:spPr>
              <a:xfrm>
                <a:off x="1295400" y="2908300"/>
                <a:ext cx="6553200" cy="1295400"/>
              </a:xfrm>
              <a:prstGeom prst="rect">
                <a:avLst/>
              </a:prstGeom>
              <a:noFill/>
              <a:ln>
                <a:noFill/>
              </a:ln>
            </p:spPr>
            <p:txBody>
              <a:bodyPr wrap="none" lIns="0" tIns="0" rIns="0" bIns="0" rtlCol="0" anchor="t">
                <a:noAutofit/>
              </a:bodyPr>
              <a:lstStyle/>
              <a:p>
                <a:pPr algn="ctr">
                  <a:spcAft>
                    <a:spcPts val="0"/>
                  </a:spcAft>
                  <a:defRPr sz="1700" b="0" u="none" cap="none">
                    <a:solidFill>
                      <a:srgbClr val="252529"/>
                    </a:solidFill>
                    <a:latin typeface="Cambria Math"/>
                    <a:ea typeface="Cambria Math"/>
                    <a:cs typeface="Cambria Math"/>
                  </a:defRPr>
                </a:pPr>
                <a14:m>
                  <m:oMathPara xmlns:m="http://schemas.openxmlformats.org/officeDocument/2006/math">
                    <m:oMath>
                      <m:eqArr>
                        <m:eqArrPr>
                          <m:ctrlPr>
                            <a:rPr lang="en-US" sz="1700" b="0" i="1" smtClean="0">
                              <a:latin typeface="Cambria Math" panose="02040503050406030204" pitchFamily="18" charset="0"/>
                            </a:rPr>
                          </m:ctrlPr>
                        </m:eqArr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𝑤</m:t>
                              </m:r>
                            </m:e>
                            <m:sub>
                              <m:r>
                                <m:rPr>
                                  <m:sty m:val="p"/>
                                </m:rPr>
                                <a:rPr lang="en-US" sz="1700" b="0" i="1" smtClean="0">
                                  <a:latin typeface="Cambria Math" panose="02040503050406030204" pitchFamily="18" charset="0"/>
                                </a:rPr>
                                <m:t>GS</m:t>
                              </m:r>
                            </m:sub>
                          </m:sSub>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GS</m:t>
                                  </m:r>
                                </m:sub>
                              </m:sSub>
                            </m:e>
                          </m:d>
                          <m:r>
                            <a:rPr lang="en-US" sz="1700" b="0" i="1" smtClean="0">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𝑤</m:t>
                              </m:r>
                            </m:e>
                            <m:sub>
                              <m:r>
                                <m:rPr>
                                  <m:sty m:val="p"/>
                                </m:rPr>
                                <a:rPr lang="en-US" sz="1700" b="0" i="1" smtClean="0">
                                  <a:latin typeface="Cambria Math" panose="02040503050406030204" pitchFamily="18" charset="0"/>
                                </a:rPr>
                                <m:t>SG</m:t>
                              </m:r>
                            </m:sub>
                          </m:sSub>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SG</m:t>
                                  </m:r>
                                </m:sub>
                              </m:sSub>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𝑤</m:t>
                              </m:r>
                            </m:e>
                            <m:sub>
                              <m:r>
                                <m:rPr>
                                  <m:sty m:val="p"/>
                                </m:rPr>
                                <a:rPr lang="en-US" sz="1700" b="0" i="1" smtClean="0">
                                  <a:latin typeface="Cambria Math" panose="02040503050406030204" pitchFamily="18" charset="0"/>
                                </a:rPr>
                                <m:t>GG</m:t>
                              </m:r>
                            </m:sub>
                          </m:sSub>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GG</m:t>
                                  </m:r>
                                </m:sub>
                              </m:sSub>
                            </m:e>
                          </m:d>
                          <m:r>
                            <a:rPr lang="en-US" sz="1700" b="0" i="1" smtClean="0">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S</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r>
                            <a:rPr lang="en-US" sz="1700" b="0" i="1" smtClean="0">
                              <a:solidFill>
                                <a:srgbClr val="C81919"/>
                              </a:solidFill>
                              <a:latin typeface="Cambria Math" panose="02040503050406030204" pitchFamily="18" charset="0"/>
                            </a:rPr>
                            <m:t>𝑢</m:t>
                          </m:r>
                          <m:d>
                            <m:dPr>
                              <m:ctrlPr>
                                <a:rPr lang="en-US" sz="1700" b="0" i="1" smtClean="0">
                                  <a:solidFill>
                                    <a:srgbClr val="C81919"/>
                                  </a:solidFill>
                                  <a:latin typeface="Cambria Math" panose="02040503050406030204" pitchFamily="18" charset="0"/>
                                </a:rPr>
                              </m:ctrlPr>
                            </m:dPr>
                            <m:e>
                              <m:r>
                                <a:rPr lang="en-US" sz="1700" b="0" i="1" smtClean="0">
                                  <a:solidFill>
                                    <a:srgbClr val="C81919"/>
                                  </a:solidFill>
                                  <a:latin typeface="Cambria Math" panose="02040503050406030204" pitchFamily="18" charset="0"/>
                                </a:rPr>
                                <m:t>𝑡</m:t>
                              </m:r>
                            </m:e>
                          </m:d>
                          <m:r>
                            <a:rPr lang="en-US" sz="1700" b="0" i="1" smtClean="0">
                              <a:solidFill>
                                <a:srgbClr val="C81919"/>
                              </a:solidFill>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G</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e>
                      </m:eqArr>
                    </m:oMath>
                  </m:oMathPara>
                </a14:m>
                <a:endParaRPr lang="en-NL" sz="1700" dirty="0"/>
              </a:p>
            </p:txBody>
          </p:sp>
        </mc:Choice>
        <mc:Fallback xmlns:m="http://schemas.openxmlformats.org/officeDocument/2006/math" xmlns="">
          <p:sp>
            <p:nvSpPr>
              <p:cNvPr id="46" name="TextBox 45">
                <a:extLst>
                  <a:ext uri="{FF2B5EF4-FFF2-40B4-BE49-F238E27FC236}">
                    <a16:creationId xmlns:a16="http://schemas.microsoft.com/office/drawing/2014/main" id="{5926C627-9E23-2EDD-F91F-30B0EF9B97BE}"/>
                  </a:ext>
                </a:extLst>
              </p:cNvPr>
              <p:cNvSpPr txBox="1">
                <a:spLocks noRot="1" noChangeAspect="1" noMove="1" noResize="1" noEditPoints="1" noAdjustHandles="1" noChangeArrowheads="1" noChangeShapeType="1" noTextEdit="1"/>
              </p:cNvSpPr>
              <p:nvPr/>
            </p:nvSpPr>
            <p:spPr>
              <a:xfrm>
                <a:off x="1295400" y="2908300"/>
                <a:ext cx="6553200" cy="1295400"/>
              </a:xfrm>
              <a:prstGeom prst="rect">
                <a:avLst/>
              </a:prstGeom>
              <a:blipFill>
                <a:blip r:embed="rId3"/>
                <a:stretch>
                  <a:fillRect/>
                </a:stretch>
              </a:blipFill>
              <a:ln>
                <a:noFill/>
              </a:ln>
            </p:spPr>
            <p:txBody>
              <a:bodyPr/>
              <a:lstStyle/>
              <a:p>
                <a:r>
                  <a:rPr lang="en-NL">
                    <a:noFill/>
                  </a:rPr>
                  <a:t> </a:t>
                </a:r>
              </a:p>
            </p:txBody>
          </p:sp>
        </mc:Fallback>
      </mc:AlternateContent>
      <p:pic xmlns:p="http://schemas.openxmlformats.org/presentationml/2006/main" xmlns:a="http://schemas.openxmlformats.org/drawingml/2006/main" xmlns:r="http://schemas.openxmlformats.org/officeDocument/2006/relationships" xmlns:m="http://schemas.openxmlformats.org/officeDocument/2006/math" xmlns:a14="http://schemas.microsoft.com/office/drawing/2010/main" xmlns:mc="http://schemas.openxmlformats.org/markup-compatibility/2006">
        <p:nvPicPr>
          <p:cNvPr id="54" name="Baked figure with larger labels"/>
          <p:cNvPicPr>
            <a:picLocks noChangeAspect="1"/>
          </p:cNvPicPr>
          <p:nvPr/>
        </p:nvPicPr>
        <p:blipFill>
          <a:blip r:embed="rIdBakedFigure54"/>
          <a:stretch>
            <a:fillRect/>
          </a:stretch>
        </p:blipFill>
        <p:spPr>
          <a:xfrm>
            <a:off x="2338388" y="452438"/>
            <a:ext cx="4795838" cy="1928812"/>
          </a:xfrm>
          <a:prstGeom prst="rect">
            <a:avLst/>
          </a:prstGeom>
        </p:spPr>
      </p:pic>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2"/>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2EE4EDA8-0F9A-EB4C-558C-BEC37746EDE1}"/>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13</a:t>
            </a:fld>
            <a:endParaRPr lang="en-GB" sz="800" b="0" u="none" cap="none" dirty="0">
              <a:solidFill>
                <a:srgbClr val="747B82"/>
              </a:solidFill>
              <a:latin typeface="Aptos"/>
              <a:ea typeface="Aptos"/>
              <a:cs typeface="Aptos"/>
            </a:endParaRPr>
          </a:p>
        </p:txBody>
      </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xmlns:p="http://schemas.openxmlformats.org/presentationml/2006/main" xmlns:a="http://schemas.openxmlformats.org/drawingml/2006/main" xmlns:r="http://schemas.openxmlformats.org/officeDocument/2006/relationships" xmlns:m="http://schemas.openxmlformats.org/officeDocument/2006/math" xmlns:a14="http://schemas.microsoft.com/office/drawing/2010/main" xmlns:mc="http://schemas.openxmlformats.org/markup-compatibility/2006">
        <p:nvPicPr>
          <p:cNvPr id="70" name="Baked figure with larger labels"/>
          <p:cNvPicPr>
            <a:picLocks noChangeAspect="1"/>
          </p:cNvPicPr>
          <p:nvPr/>
        </p:nvPicPr>
        <p:blipFill>
          <a:blip r:embed="rIdBakedFigure70"/>
          <a:stretch>
            <a:fillRect/>
          </a:stretch>
        </p:blipFill>
        <p:spPr>
          <a:xfrm>
            <a:off x="438150" y="1190625"/>
            <a:ext cx="4157662" cy="1785938"/>
          </a:xfrm>
          <a:prstGeom prst="rect">
            <a:avLst/>
          </a:prstGeom>
        </p:spPr>
      </p:pic>
      <p:pic xmlns:p="http://schemas.openxmlformats.org/presentationml/2006/main" xmlns:a="http://schemas.openxmlformats.org/drawingml/2006/main" xmlns:r="http://schemas.openxmlformats.org/officeDocument/2006/relationships" xmlns:m="http://schemas.openxmlformats.org/officeDocument/2006/math" xmlns:a14="http://schemas.microsoft.com/office/drawing/2010/main" xmlns:mc="http://schemas.openxmlformats.org/markup-compatibility/2006">
        <p:nvPicPr>
          <p:cNvPr id="76" name="Baked figure with larger labels"/>
          <p:cNvPicPr>
            <a:picLocks noChangeAspect="1"/>
          </p:cNvPicPr>
          <p:nvPr/>
        </p:nvPicPr>
        <p:blipFill>
          <a:blip r:embed="rIdBakedFigure76"/>
          <a:stretch>
            <a:fillRect/>
          </a:stretch>
        </p:blipFill>
        <p:spPr>
          <a:xfrm>
            <a:off x="4943475" y="1219200"/>
            <a:ext cx="3952875" cy="2305050"/>
          </a:xfrm>
          <a:prstGeom prst="rect">
            <a:avLst/>
          </a:prstGeom>
        </p:spPr>
      </p:pic>
      <p:pic>
        <p:nvPicPr>
          <p:cNvPr id="77" name="Original TUe logo"/>
          <p:cNvPicPr>
            <a:picLocks noChangeAspect="1"/>
          </p:cNvPicPr>
          <p:nvPr/>
        </p:nvPicPr>
        <p:blipFill>
          <a:blip r:embed="rId29"/>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C2296C69-0A75-0F87-DAFB-367E6713983C}"/>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Brain Stimulation</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14</a:t>
            </a:fld>
            <a:endParaRPr lang="en-GB" sz="800" b="0" u="none" cap="none" dirty="0">
              <a:solidFill>
                <a:srgbClr val="747B82"/>
              </a:solidFill>
              <a:latin typeface="Aptos"/>
              <a:ea typeface="Aptos"/>
              <a:cs typeface="Aptos"/>
            </a:endParaRPr>
          </a:p>
        </p:txBody>
      </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xmlns:p="http://schemas.openxmlformats.org/presentationml/2006/main" xmlns:a="http://schemas.openxmlformats.org/drawingml/2006/main" xmlns:r="http://schemas.openxmlformats.org/officeDocument/2006/relationships" xmlns:m="http://schemas.openxmlformats.org/officeDocument/2006/math" xmlns:a14="http://schemas.microsoft.com/office/drawing/2010/main" xmlns:mc="http://schemas.openxmlformats.org/markup-compatibility/2006">
        <p:nvPicPr>
          <p:cNvPr id="78" name="Baked figure with larger labels"/>
          <p:cNvPicPr>
            <a:picLocks noChangeAspect="1"/>
          </p:cNvPicPr>
          <p:nvPr/>
        </p:nvPicPr>
        <p:blipFill>
          <a:blip r:embed="rIdBakedFigure78"/>
          <a:stretch>
            <a:fillRect/>
          </a:stretch>
        </p:blipFill>
        <p:spPr>
          <a:xfrm>
            <a:off x="4962525" y="1452562"/>
            <a:ext cx="3805238" cy="1819275"/>
          </a:xfrm>
          <a:prstGeom prst="rect">
            <a:avLst/>
          </a:prstGeom>
        </p:spPr>
      </p:pic>
      <p:pic xmlns:p="http://schemas.openxmlformats.org/presentationml/2006/main" xmlns:a="http://schemas.openxmlformats.org/drawingml/2006/main" xmlns:r="http://schemas.openxmlformats.org/officeDocument/2006/relationships" xmlns:m="http://schemas.openxmlformats.org/officeDocument/2006/math" xmlns:a14="http://schemas.microsoft.com/office/drawing/2010/main" xmlns:mc="http://schemas.openxmlformats.org/markup-compatibility/2006">
        <p:nvPicPr>
          <p:cNvPr id="80" name="Baked figure with larger labels"/>
          <p:cNvPicPr>
            <a:picLocks noChangeAspect="1"/>
          </p:cNvPicPr>
          <p:nvPr/>
        </p:nvPicPr>
        <p:blipFill>
          <a:blip r:embed="rIdBakedFigure80"/>
          <a:stretch>
            <a:fillRect/>
          </a:stretch>
        </p:blipFill>
        <p:spPr>
          <a:xfrm>
            <a:off x="438150" y="1190625"/>
            <a:ext cx="4157662" cy="1785938"/>
          </a:xfrm>
          <a:prstGeom prst="rect">
            <a:avLst/>
          </a:prstGeom>
        </p:spPr>
      </p:pic>
      <p:pic>
        <p:nvPicPr>
          <p:cNvPr id="81" name="Original TUe logo"/>
          <p:cNvPicPr>
            <a:picLocks noChangeAspect="1"/>
          </p:cNvPicPr>
          <p:nvPr/>
        </p:nvPicPr>
        <p:blipFill>
          <a:blip r:embed="rId29"/>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21927A86-EF03-5022-47E1-ED1BB3BEAFD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Beta-</a:t>
            </a:r>
            <a:r>
              <a:rPr lang="en-US" sz="2500" b="1" u="none" cap="none" dirty="0" err="1">
                <a:solidFill>
                  <a:srgbClr val="252529"/>
                </a:solidFill>
                <a:latin typeface="Aptos"/>
                <a:ea typeface="Aptos"/>
                <a:cs typeface="Aptos"/>
              </a:rPr>
              <a:t>oscilations</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43D43478-F45C-80B7-2251-EC11E771A449}"/>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7FBD1B14-A167-D265-A63A-58DCB6032BC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15</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3412D5D6-0185-91C2-2A41-6C3B78B8A65C}"/>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sp>
        <p:nvSpPr>
          <p:cNvPr id="7" name="TextBox 6">
            <a:extLst>
              <a:ext uri="{FF2B5EF4-FFF2-40B4-BE49-F238E27FC236}">
                <a16:creationId xmlns:a16="http://schemas.microsoft.com/office/drawing/2014/main" id="{1E839C8E-BE40-063E-7661-6AADA38550E1}"/>
              </a:ext>
            </a:extLst>
          </p:cNvPr>
          <p:cNvSpPr txBox="1"/>
          <p:nvPr/>
        </p:nvSpPr>
        <p:spPr>
          <a:xfrm>
            <a:off x="457200" y="2002404"/>
            <a:ext cx="8229600" cy="1841500"/>
          </a:xfrm>
          <a:prstGeom prst="rect">
            <a:avLst/>
          </a:prstGeom>
          <a:noFill/>
          <a:ln>
            <a:noFill/>
          </a:ln>
        </p:spPr>
        <p:txBody>
          <a:bodyPr wrap="square" lIns="0" tIns="0" rIns="0" bIns="0" rtlCol="0" anchor="t">
            <a:noAutofit/>
          </a:bodyPr>
          <a:lstStyle/>
          <a:p>
            <a:pPr marL="0" indent="0" algn="l" defTabSz="1">
              <a:lnSpc>
                <a:spcPct val="120000"/>
              </a:lnSpc>
              <a:spcBef>
                <a:spcPts val="0"/>
              </a:spcBef>
              <a:spcAft>
                <a:spcPts val="1900"/>
              </a:spcAft>
              <a:buFont typeface="Arial" panose="020B0604020202020204" pitchFamily="34" charset="0"/>
              <a:buNone/>
              <a:defRPr sz="2100" b="0" u="none" cap="none">
                <a:solidFill>
                  <a:srgbClr val="252529"/>
                </a:solidFill>
                <a:latin typeface="Aptos"/>
                <a:ea typeface="Aptos"/>
                <a:cs typeface="Aptos"/>
              </a:defRPr>
            </a:pPr>
            <a:r>
              <a:rPr lang="en-US" sz="1600" b="1" dirty="0">
                <a:solidFill>
                  <a:srgbClr val="C81919">
                    <a:alpha val="100000"/>
                  </a:srgbClr>
                </a:solidFill>
                <a:latin typeface="Aptos"/>
              </a:rPr>
              <a:t>Analysis capabilities</a:t>
            </a:r>
          </a:p>
          <a:p>
            <a:pPr defTabSz="1">
              <a:lnSpc>
                <a:spcPct val="113000"/>
              </a:lnSpc>
              <a:spcAft>
                <a:spcPts val="1300"/>
              </a:spcAft>
              <a:defRPr sz="1600" b="0" u="none" cap="none">
                <a:solidFill>
                  <a:srgbClr val="252529">
                    <a:alpha val="30000"/>
                  </a:srgbClr>
                </a:solidFill>
                <a:latin typeface="Aptos"/>
                <a:ea typeface="Aptos"/>
                <a:cs typeface="Aptos"/>
              </a:defRPr>
            </a:pPr>
            <a:r>
              <a:rPr lang="en-US" sz="1600" dirty="0">
                <a:solidFill>
                  <a:srgbClr val="252529">
                    <a:alpha val="30000"/>
                  </a:srgbClr>
                </a:solidFill>
                <a:latin typeface="Aptos"/>
              </a:rPr>
              <a:t>Convex state feedback synthesis</a:t>
            </a:r>
            <a:endParaRPr lang="en-NL" sz="1600" dirty="0">
              <a:solidFill>
                <a:srgbClr val="252529">
                  <a:alpha val="30000"/>
                </a:srgbClr>
              </a:solidFill>
              <a:latin typeface="Aptos"/>
            </a:endParaRPr>
          </a:p>
        </p:txBody>
      </p:sp>
      <p:pic>
        <p:nvPicPr>
          <p:cNvPr id="8" name="Original TUe logo"/>
          <p:cNvPicPr>
            <a:picLocks noChangeAspect="1"/>
          </p:cNvPicPr>
          <p:nvPr/>
        </p:nvPicPr>
        <p:blipFill>
          <a:blip r:embed="rId2"/>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40737386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0CACDC46-5B03-CC7E-FA93-F4744B6FDFF5}"/>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C9BC131D-D2FB-D741-D331-ED81110CD9AF}"/>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039D3539-02C4-6006-7956-CD599CA0BC1B}"/>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16</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F6C2857C-4D39-CEAB-95BF-5566109DC794}"/>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sp>
        <p:nvSpPr>
          <p:cNvPr id="7" name="TextBox 6">
            <a:extLst>
              <a:ext uri="{FF2B5EF4-FFF2-40B4-BE49-F238E27FC236}">
                <a16:creationId xmlns:a16="http://schemas.microsoft.com/office/drawing/2014/main" id="{750847A4-E047-3912-D770-1425B63DA482}"/>
              </a:ext>
            </a:extLst>
          </p:cNvPr>
          <p:cNvSpPr txBox="1"/>
          <p:nvPr/>
        </p:nvSpPr>
        <p:spPr>
          <a:xfrm>
            <a:off x="457200" y="2002404"/>
            <a:ext cx="8229600" cy="1841500"/>
          </a:xfrm>
          <a:prstGeom prst="rect">
            <a:avLst/>
          </a:prstGeom>
          <a:noFill/>
          <a:ln>
            <a:noFill/>
          </a:ln>
        </p:spPr>
        <p:txBody>
          <a:bodyPr wrap="square" lIns="0" tIns="0" rIns="0" bIns="0" rtlCol="0" anchor="t">
            <a:noAutofit/>
          </a:bodyPr>
          <a:lstStyle/>
          <a:p>
            <a:pPr indent="0" defTabSz="1">
              <a:lnSpc>
                <a:spcPct val="113000"/>
              </a:lnSpc>
              <a:spcBef>
                <a:spcPts val="0"/>
              </a:spcBef>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dirty="0">
                <a:solidFill>
                  <a:srgbClr val="252529">
                    <a:alpha val="30000"/>
                  </a:srgbClr>
                </a:solidFill>
                <a:latin typeface="Aptos"/>
              </a:rPr>
              <a:t>Analysis capabilities</a:t>
            </a:r>
          </a:p>
          <a:p>
            <a:pPr defTabSz="1">
              <a:lnSpc>
                <a:spcPct val="113000"/>
              </a:lnSpc>
              <a:spcAft>
                <a:spcPts val="1300"/>
              </a:spcAft>
              <a:defRPr sz="1600" b="0" u="none" cap="none">
                <a:solidFill>
                  <a:srgbClr val="252529">
                    <a:alpha val="30000"/>
                  </a:srgbClr>
                </a:solidFill>
                <a:latin typeface="Aptos"/>
                <a:ea typeface="Aptos"/>
                <a:cs typeface="Aptos"/>
              </a:defRPr>
            </a:pPr>
            <a:r>
              <a:rPr lang="en-US" sz="1600" b="1" dirty="0">
                <a:solidFill>
                  <a:srgbClr val="C81919">
                    <a:alpha val="100000"/>
                  </a:srgbClr>
                </a:solidFill>
                <a:latin typeface="Aptos"/>
              </a:rPr>
              <a:t>Convex state feedback synthesis</a:t>
            </a:r>
            <a:endParaRPr lang="en-NL" sz="1600" b="1" dirty="0">
              <a:solidFill>
                <a:srgbClr val="C81919">
                  <a:alpha val="100000"/>
                </a:srgbClr>
              </a:solidFill>
              <a:latin typeface="Aptos"/>
            </a:endParaRPr>
          </a:p>
        </p:txBody>
      </p:sp>
      <p:pic>
        <p:nvPicPr>
          <p:cNvPr id="8" name="Original TUe logo">
            <a:extLst>
              <a:ext uri="{FF2B5EF4-FFF2-40B4-BE49-F238E27FC236}">
                <a16:creationId xmlns:a16="http://schemas.microsoft.com/office/drawing/2014/main" id="{3532277B-2F23-0968-D05E-CCA3C295582D}"/>
              </a:ext>
            </a:extLst>
          </p:cNvPr>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184162772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60E538-AB9A-55DE-F2AA-096FBEE54688}"/>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2A75B8DC-BBD4-3BC9-CE29-702DCEA42743}"/>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969BF0BA-A706-9BD9-951F-3C8C952FAE03}"/>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17</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29A80ADD-A6A4-ADAF-E56B-FE0EE63645B3}"/>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sp>
        <p:nvSpPr>
          <p:cNvPr id="7" name="TextBox 6">
            <a:extLst>
              <a:ext uri="{FF2B5EF4-FFF2-40B4-BE49-F238E27FC236}">
                <a16:creationId xmlns:a16="http://schemas.microsoft.com/office/drawing/2014/main" id="{6EC9DF87-E14A-2F72-BE4A-6FE32DF3255E}"/>
              </a:ext>
            </a:extLst>
          </p:cNvPr>
          <p:cNvSpPr txBox="1"/>
          <p:nvPr/>
        </p:nvSpPr>
        <p:spPr>
          <a:xfrm>
            <a:off x="457200" y="2002404"/>
            <a:ext cx="8229600" cy="1841500"/>
          </a:xfrm>
          <a:prstGeom prst="rect">
            <a:avLst/>
          </a:prstGeom>
          <a:noFill/>
          <a:ln>
            <a:noFill/>
          </a:ln>
        </p:spPr>
        <p:txBody>
          <a:bodyPr wrap="square" lIns="0" tIns="0" rIns="0" bIns="0" rtlCol="0" anchor="t">
            <a:noAutofit/>
          </a:bodyPr>
          <a:lstStyle/>
          <a:p>
            <a:pPr indent="0" defTabSz="1">
              <a:lnSpc>
                <a:spcPct val="113000"/>
              </a:lnSpc>
              <a:spcBef>
                <a:spcPts val="0"/>
              </a:spcBef>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dirty="0">
                <a:solidFill>
                  <a:srgbClr val="252529">
                    <a:alpha val="30000"/>
                  </a:srgbClr>
                </a:solidFill>
                <a:latin typeface="Aptos"/>
              </a:rPr>
              <a:t>Analysis capabilities</a:t>
            </a:r>
          </a:p>
          <a:p>
            <a:pPr defTabSz="1">
              <a:lnSpc>
                <a:spcPct val="113000"/>
              </a:lnSpc>
              <a:spcAft>
                <a:spcPts val="1300"/>
              </a:spcAft>
              <a:defRPr sz="1600" b="0" u="none" cap="none">
                <a:solidFill>
                  <a:srgbClr val="252529">
                    <a:alpha val="30000"/>
                  </a:srgbClr>
                </a:solidFill>
                <a:latin typeface="Aptos"/>
                <a:ea typeface="Aptos"/>
                <a:cs typeface="Aptos"/>
              </a:defRPr>
            </a:pPr>
            <a:r>
              <a:rPr lang="en-US" sz="1800" dirty="0">
                <a:solidFill>
                  <a:srgbClr val="252529"/>
                </a:solidFill>
                <a:latin typeface="Aptos"/>
              </a:rPr>
              <a:t>Convex state feedback synthesis</a:t>
            </a:r>
            <a:endParaRPr lang="en-NL" sz="1800" dirty="0">
              <a:solidFill>
                <a:srgbClr val="252529"/>
              </a:solidFill>
              <a:latin typeface="Aptos"/>
            </a:endParaRPr>
          </a:p>
        </p:txBody>
      </p:sp>
      <p:pic>
        <p:nvPicPr>
          <p:cNvPr id="8" name="Original TUe logo">
            <a:extLst>
              <a:ext uri="{FF2B5EF4-FFF2-40B4-BE49-F238E27FC236}">
                <a16:creationId xmlns:a16="http://schemas.microsoft.com/office/drawing/2014/main" id="{06976AFE-2C4D-6CF7-7B45-E5598D2FC38F}"/>
              </a:ext>
            </a:extLst>
          </p:cNvPr>
          <p:cNvPicPr>
            <a:picLocks noChangeAspect="1"/>
          </p:cNvPicPr>
          <p:nvPr/>
        </p:nvPicPr>
        <p:blipFill>
          <a:blip r:embed="rId3"/>
          <a:stretch>
            <a:fillRect/>
          </a:stretch>
        </p:blipFill>
        <p:spPr>
          <a:xfrm>
            <a:off x="8458200" y="4813300"/>
            <a:ext cx="457200" cy="254000"/>
          </a:xfrm>
          <a:prstGeom prst="rect">
            <a:avLst/>
          </a:prstGeom>
        </p:spPr>
      </p:pic>
      <p:sp>
        <p:nvSpPr>
          <p:cNvPr id="2" name="Right Brace 1">
            <a:extLst>
              <a:ext uri="{FF2B5EF4-FFF2-40B4-BE49-F238E27FC236}">
                <a16:creationId xmlns:a16="http://schemas.microsoft.com/office/drawing/2014/main" id="{68C5DC0B-E777-5046-9842-142B316C3DE3}"/>
              </a:ext>
            </a:extLst>
          </p:cNvPr>
          <p:cNvSpPr/>
          <p:nvPr/>
        </p:nvSpPr>
        <p:spPr>
          <a:xfrm>
            <a:off x="4196079" y="2468880"/>
            <a:ext cx="460587" cy="255270"/>
          </a:xfrm>
          <a:prstGeom prst="rightBrace">
            <a:avLst/>
          </a:prstGeom>
          <a:ln w="3810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NL"/>
          </a:p>
        </p:txBody>
      </p:sp>
      <p:sp>
        <p:nvSpPr>
          <p:cNvPr id="3" name="TextBox 2">
            <a:extLst>
              <a:ext uri="{FF2B5EF4-FFF2-40B4-BE49-F238E27FC236}">
                <a16:creationId xmlns:a16="http://schemas.microsoft.com/office/drawing/2014/main" id="{D4BB2500-71D7-F457-766E-38B03B073DEB}"/>
              </a:ext>
            </a:extLst>
          </p:cNvPr>
          <p:cNvSpPr txBox="1"/>
          <p:nvPr/>
        </p:nvSpPr>
        <p:spPr>
          <a:xfrm>
            <a:off x="4893644" y="2365682"/>
            <a:ext cx="2662908" cy="461665"/>
          </a:xfrm>
          <a:prstGeom prst="rect">
            <a:avLst/>
          </a:prstGeom>
          <a:noFill/>
        </p:spPr>
        <p:txBody>
          <a:bodyPr wrap="none" rtlCol="0">
            <a:spAutoFit/>
          </a:bodyPr>
          <a:lstStyle/>
          <a:p>
            <a:r>
              <a:rPr lang="en-US" sz="2400" b="1" dirty="0">
                <a:solidFill>
                  <a:srgbClr val="C81919"/>
                </a:solidFill>
                <a:latin typeface="Aptos"/>
              </a:rPr>
              <a:t>Main contribution</a:t>
            </a:r>
            <a:endParaRPr lang="en-NL" sz="2400" b="1" dirty="0">
              <a:solidFill>
                <a:srgbClr val="C81919"/>
              </a:solidFill>
              <a:latin typeface="Aptos"/>
            </a:endParaRPr>
          </a:p>
        </p:txBody>
      </p:sp>
    </p:spTree>
    <p:extLst>
      <p:ext uri="{BB962C8B-B14F-4D97-AF65-F5344CB8AC3E}">
        <p14:creationId xmlns:p14="http://schemas.microsoft.com/office/powerpoint/2010/main" val="424493657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D81BB5-7ED6-30B1-E3E5-0BAE63973278}"/>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A4180B62-B314-B389-54E2-38DB2FC761F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A468E71B-610D-BA1C-0353-7E00C28B25E1}"/>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18</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986C2F95-F51D-3379-0604-32C543ED84D0}"/>
                  </a:ext>
                </a:extLst>
              </p:cNvPr>
              <p:cNvSpPr txBox="1"/>
              <p:nvPr/>
            </p:nvSpPr>
            <p:spPr>
              <a:xfrm>
                <a:off x="1295400" y="2908300"/>
                <a:ext cx="6553200" cy="1295400"/>
              </a:xfrm>
              <a:prstGeom prst="rect">
                <a:avLst/>
              </a:prstGeom>
              <a:noFill/>
              <a:ln>
                <a:noFill/>
              </a:ln>
            </p:spPr>
            <p:txBody>
              <a:bodyPr wrap="none" lIns="0" tIns="0" rIns="0" bIns="0" rtlCol="0" anchor="t">
                <a:noAutofit/>
              </a:bodyPr>
              <a:lstStyle/>
              <a:p>
                <a:pPr algn="ctr">
                  <a:spcAft>
                    <a:spcPts val="0"/>
                  </a:spcAft>
                  <a:defRPr sz="1700" b="0" u="none" cap="none">
                    <a:solidFill>
                      <a:srgbClr val="252529"/>
                    </a:solidFill>
                    <a:latin typeface="Cambria Math"/>
                    <a:ea typeface="Cambria Math"/>
                    <a:cs typeface="Cambria Math"/>
                  </a:defRPr>
                </a:pPr>
                <a14:m>
                  <m:oMathPara xmlns:m="http://schemas.openxmlformats.org/officeDocument/2006/math">
                    <m:oMath>
                      <m:eqArr>
                        <m:eqArrPr>
                          <m:ctrlPr>
                            <a:rPr lang="en-US" sz="1700" b="0" i="1" smtClean="0">
                              <a:latin typeface="Cambria Math" panose="02040503050406030204" pitchFamily="18" charset="0"/>
                            </a:rPr>
                          </m:ctrlPr>
                        </m:eqArr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𝑤</m:t>
                              </m:r>
                            </m:e>
                            <m:sub>
                              <m:r>
                                <m:rPr>
                                  <m:sty m:val="p"/>
                                </m:rPr>
                                <a:rPr lang="en-US" sz="1700" b="0" i="1" smtClean="0">
                                  <a:latin typeface="Cambria Math" panose="02040503050406030204" pitchFamily="18" charset="0"/>
                                </a:rPr>
                                <m:t>GS</m:t>
                              </m:r>
                            </m:sub>
                          </m:sSub>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GS</m:t>
                                  </m:r>
                                </m:sub>
                              </m:sSub>
                            </m:e>
                          </m:d>
                          <m:r>
                            <a:rPr lang="en-US" sz="1700" b="0" i="1" smtClean="0">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𝑤</m:t>
                              </m:r>
                            </m:e>
                            <m:sub>
                              <m:r>
                                <m:rPr>
                                  <m:sty m:val="p"/>
                                </m:rPr>
                                <a:rPr lang="en-US" sz="1700" b="0" i="1" smtClean="0">
                                  <a:latin typeface="Cambria Math" panose="02040503050406030204" pitchFamily="18" charset="0"/>
                                </a:rPr>
                                <m:t>SG</m:t>
                              </m:r>
                            </m:sub>
                          </m:sSub>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SG</m:t>
                                  </m:r>
                                </m:sub>
                              </m:sSub>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𝑤</m:t>
                              </m:r>
                            </m:e>
                            <m:sub>
                              <m:r>
                                <m:rPr>
                                  <m:sty m:val="p"/>
                                </m:rPr>
                                <a:rPr lang="en-US" sz="1700" b="0" i="1" smtClean="0">
                                  <a:latin typeface="Cambria Math" panose="02040503050406030204" pitchFamily="18" charset="0"/>
                                </a:rPr>
                                <m:t>GG</m:t>
                              </m:r>
                            </m:sub>
                          </m:sSub>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GG</m:t>
                                  </m:r>
                                </m:sub>
                              </m:sSub>
                            </m:e>
                          </m:d>
                          <m:r>
                            <a:rPr lang="en-US" sz="1700" b="0" i="1" smtClean="0">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S</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r>
                            <a:rPr lang="en-US" sz="1700" b="0" i="1" smtClean="0">
                              <a:solidFill>
                                <a:schemeClr val="tx1"/>
                              </a:solidFill>
                              <a:latin typeface="Cambria Math" panose="02040503050406030204" pitchFamily="18" charset="0"/>
                            </a:rPr>
                            <m:t>𝑢</m:t>
                          </m:r>
                          <m:d>
                            <m:dPr>
                              <m:ctrlPr>
                                <a:rPr lang="en-US" sz="1700" b="0" i="1" smtClean="0">
                                  <a:solidFill>
                                    <a:schemeClr val="tx1"/>
                                  </a:solidFill>
                                  <a:latin typeface="Cambria Math" panose="02040503050406030204" pitchFamily="18" charset="0"/>
                                </a:rPr>
                              </m:ctrlPr>
                            </m:dPr>
                            <m:e>
                              <m:r>
                                <a:rPr lang="en-US" sz="1700" b="0" i="1" smtClean="0">
                                  <a:solidFill>
                                    <a:schemeClr val="tx1"/>
                                  </a:solidFill>
                                  <a:latin typeface="Cambria Math" panose="02040503050406030204" pitchFamily="18" charset="0"/>
                                </a:rPr>
                                <m:t>𝑡</m:t>
                              </m:r>
                            </m:e>
                          </m:d>
                          <m:r>
                            <a:rPr lang="en-US" sz="1700" b="0" i="1" smtClean="0">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G</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e>
                      </m:eqArr>
                    </m:oMath>
                  </m:oMathPara>
                </a14:m>
                <a:endParaRPr lang="en-NL" sz="1700" dirty="0"/>
              </a:p>
            </p:txBody>
          </p:sp>
        </mc:Choice>
        <mc:Fallback xmlns:m="http://schemas.openxmlformats.org/officeDocument/2006/math" xmlns="">
          <p:sp>
            <p:nvSpPr>
              <p:cNvPr id="46" name="TextBox 45">
                <a:extLst>
                  <a:ext uri="{FF2B5EF4-FFF2-40B4-BE49-F238E27FC236}">
                    <a16:creationId xmlns:a16="http://schemas.microsoft.com/office/drawing/2014/main" id="{986C2F95-F51D-3379-0604-32C543ED84D0}"/>
                  </a:ext>
                </a:extLst>
              </p:cNvPr>
              <p:cNvSpPr txBox="1">
                <a:spLocks noRot="1" noChangeAspect="1" noMove="1" noResize="1" noEditPoints="1" noAdjustHandles="1" noChangeArrowheads="1" noChangeShapeType="1" noTextEdit="1"/>
              </p:cNvSpPr>
              <p:nvPr/>
            </p:nvSpPr>
            <p:spPr>
              <a:xfrm>
                <a:off x="1295400" y="2908300"/>
                <a:ext cx="6553200" cy="1295400"/>
              </a:xfrm>
              <a:prstGeom prst="rect">
                <a:avLst/>
              </a:prstGeom>
              <a:blipFill>
                <a:blip r:embed="rId3"/>
                <a:stretch>
                  <a:fillRect/>
                </a:stretch>
              </a:blipFill>
              <a:ln>
                <a:noFill/>
              </a:ln>
            </p:spPr>
            <p:txBody>
              <a:bodyPr/>
              <a:lstStyle/>
              <a:p>
                <a:r>
                  <a:rPr lang="en-NL">
                    <a:noFill/>
                  </a:rPr>
                  <a:t> </a:t>
                </a:r>
              </a:p>
            </p:txBody>
          </p:sp>
        </mc:Fallback>
      </mc:AlternateContent>
      <p:pic xmlns:p="http://schemas.openxmlformats.org/presentationml/2006/main" xmlns:a="http://schemas.openxmlformats.org/drawingml/2006/main" xmlns:r="http://schemas.openxmlformats.org/officeDocument/2006/relationships" xmlns:m="http://schemas.openxmlformats.org/officeDocument/2006/math" xmlns:a14="http://schemas.microsoft.com/office/drawing/2010/main" xmlns:mc="http://schemas.openxmlformats.org/markup-compatibility/2006">
        <p:nvPicPr>
          <p:cNvPr id="54" name="Baked figure with larger labels"/>
          <p:cNvPicPr>
            <a:picLocks noChangeAspect="1"/>
          </p:cNvPicPr>
          <p:nvPr/>
        </p:nvPicPr>
        <p:blipFill>
          <a:blip r:embed="rIdBakedFigure54"/>
          <a:stretch>
            <a:fillRect/>
          </a:stretch>
        </p:blipFill>
        <p:spPr>
          <a:xfrm>
            <a:off x="2338388" y="452438"/>
            <a:ext cx="4795838" cy="1928812"/>
          </a:xfrm>
          <a:prstGeom prst="rect">
            <a:avLst/>
          </a:prstGeom>
        </p:spPr>
      </p:pic>
      <p:sp>
        <p:nvSpPr>
          <p:cNvPr id="68" name="TextBox 67">
            <a:extLst>
              <a:ext uri="{FF2B5EF4-FFF2-40B4-BE49-F238E27FC236}">
                <a16:creationId xmlns:a16="http://schemas.microsoft.com/office/drawing/2014/main" id="{29357B7B-159A-B941-76F1-7163EEB8E7B8}"/>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a:extLst>
              <a:ext uri="{FF2B5EF4-FFF2-40B4-BE49-F238E27FC236}">
                <a16:creationId xmlns:a16="http://schemas.microsoft.com/office/drawing/2014/main" id="{71938516-7999-D17B-19D3-561F98E24727}"/>
              </a:ext>
            </a:extLst>
          </p:cNvPr>
          <p:cNvPicPr>
            <a:picLocks noChangeAspect="1"/>
          </p:cNvPicPr>
          <p:nvPr/>
        </p:nvPicPr>
        <p:blipFill>
          <a:blip r:embed="rId12"/>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2509134054"/>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Built in boundary conditions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19</a:t>
            </a:fld>
            <a:endParaRPr lang="en-GB" sz="800" b="0" u="none" cap="none" dirty="0">
              <a:solidFill>
                <a:srgbClr val="747B82"/>
              </a:solidFill>
              <a:latin typeface="Aptos"/>
              <a:ea typeface="Aptos"/>
              <a:cs typeface="Aptos"/>
            </a:endParaRPr>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37973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ODE-PDE</a:t>
            </a:r>
            <a:endParaRPr lang="en-NL" sz="2000" b="1" u="none" cap="none" dirty="0">
              <a:solidFill>
                <a:srgbClr val="252529"/>
              </a:solidFill>
              <a:latin typeface="Aptos"/>
              <a:ea typeface="Aptos"/>
              <a:cs typeface="Aptos"/>
            </a:endParaRPr>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1501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PIE</a:t>
            </a:r>
            <a:endParaRPr lang="en-NL" sz="2000" b="1" u="none" cap="none" dirty="0">
              <a:solidFill>
                <a:srgbClr val="252529"/>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8415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5917342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Built in boundary conditions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20</a:t>
            </a:fld>
            <a:endParaRPr lang="en-GB" sz="800" b="0" u="none" cap="none" dirty="0">
              <a:solidFill>
                <a:srgbClr val="747B82"/>
              </a:solidFill>
              <a:latin typeface="Aptos"/>
              <a:ea typeface="Aptos"/>
              <a:cs typeface="Aptos"/>
            </a:endParaRPr>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37973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ODE-PDE</a:t>
            </a:r>
            <a:endParaRPr lang="en-NL" sz="2000" b="1" u="none" cap="none" dirty="0">
              <a:solidFill>
                <a:srgbClr val="252529"/>
              </a:solidFill>
              <a:latin typeface="Aptos"/>
              <a:ea typeface="Aptos"/>
              <a:cs typeface="Aptos"/>
            </a:endParaRPr>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1501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PIE</a:t>
            </a:r>
            <a:endParaRPr lang="en-NL" sz="2000" b="1" u="none" cap="none" dirty="0">
              <a:solidFill>
                <a:srgbClr val="252529"/>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8415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546A1DA8-3169-D41D-49F1-F28B39BF7C9E}"/>
                  </a:ext>
                </a:extLst>
              </p:cNvPr>
              <p:cNvSpPr txBox="1"/>
              <p:nvPr/>
            </p:nvSpPr>
            <p:spPr>
              <a:xfrm>
                <a:off x="2025650" y="2260600"/>
                <a:ext cx="5080000" cy="1333500"/>
              </a:xfrm>
              <a:prstGeom prst="rect">
                <a:avLst/>
              </a:prstGeom>
              <a:noFill/>
              <a:ln>
                <a:noFill/>
              </a:ln>
            </p:spPr>
            <p:txBody>
              <a:bodyPr wrap="none" lIns="0" tIns="0" rIns="0" bIns="0" rtlCol="0" anchor="t">
                <a:noAutofit/>
              </a:bodyPr>
              <a:lstStyle/>
              <a:p>
                <a:pPr algn="ctr">
                  <a:spcAft>
                    <a:spcPts val="0"/>
                  </a:spcAft>
                  <a:defRPr sz="1600" b="0" u="none" cap="none">
                    <a:solidFill>
                      <a:srgbClr val="252529"/>
                    </a:solidFill>
                    <a:latin typeface="Cambria Math"/>
                    <a:ea typeface="Cambria Math"/>
                    <a:cs typeface="Cambria Math"/>
                  </a:defRPr>
                </a:pPr>
                <a14:m>
                  <m:oMathPara xmlns:m="http://schemas.openxmlformats.org/officeDocument/2006/math">
                    <m:oMath>
                      <m:acc>
                        <m:accPr>
                          <m:chr m:val="̇"/>
                          <m:ctrlPr>
                            <a:rPr lang="en-US" sz="1600" b="0" i="1" smtClean="0">
                              <a:latin typeface="Cambria Math" panose="02040503050406030204" pitchFamily="18" charset="0"/>
                            </a:rPr>
                          </m:ctrlPr>
                        </m:accPr>
                        <m:e>
                          <m:r>
                            <a:rPr lang="en-US" sz="1600" b="0" i="1" smtClean="0">
                              <a:latin typeface="Cambria Math" panose="02040503050406030204" pitchFamily="18" charset="0"/>
                            </a:rPr>
                            <m:t>𝑇</m:t>
                          </m:r>
                        </m:e>
                      </m:acc>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𝑡</m:t>
                          </m:r>
                          <m:r>
                            <a:rPr lang="en-US" sz="1600" b="0" i="1" smtClean="0">
                              <a:latin typeface="Cambria Math" panose="02040503050406030204" pitchFamily="18" charset="0"/>
                            </a:rPr>
                            <m:t>,</m:t>
                          </m:r>
                          <m:r>
                            <a:rPr lang="en-US" sz="1600" b="0" i="1" smtClean="0">
                              <a:latin typeface="Cambria Math" panose="02040503050406030204" pitchFamily="18" charset="0"/>
                            </a:rPr>
                            <m:t>𝑠</m:t>
                          </m:r>
                        </m:e>
                      </m:d>
                      <m:r>
                        <a:rPr lang="en-US" sz="1600" b="0" i="1" smtClean="0">
                          <a:latin typeface="Cambria Math" panose="02040503050406030204" pitchFamily="18" charset="0"/>
                        </a:rPr>
                        <m:t>=</m:t>
                      </m:r>
                      <m:r>
                        <a:rPr lang="en-US" sz="1600" b="0" i="1" smtClean="0">
                          <a:latin typeface="Cambria Math" panose="02040503050406030204" pitchFamily="18" charset="0"/>
                        </a:rPr>
                        <m:t>𝑇</m:t>
                      </m:r>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𝑡</m:t>
                          </m:r>
                          <m:r>
                            <a:rPr lang="en-US" sz="1600" b="0" i="1" smtClean="0">
                              <a:latin typeface="Cambria Math" panose="02040503050406030204" pitchFamily="18" charset="0"/>
                            </a:rPr>
                            <m:t>,</m:t>
                          </m:r>
                          <m:r>
                            <a:rPr lang="en-US" sz="1600" b="0" i="1" smtClean="0">
                              <a:latin typeface="Cambria Math" panose="02040503050406030204" pitchFamily="18" charset="0"/>
                            </a:rPr>
                            <m:t>𝑠</m:t>
                          </m:r>
                        </m:e>
                      </m:d>
                    </m:oMath>
                  </m:oMathPara>
                </a14:m>
                <a:endParaRPr lang="en-US" sz="1600" b="0" i="1" dirty="0">
                  <a:latin typeface="Cambria Math" panose="02040503050406030204" pitchFamily="18" charset="0"/>
                </a:endParaRPr>
              </a:p>
              <a:p>
                <a:pPr algn="ctr">
                  <a:spcAft>
                    <a:spcPts val="0"/>
                  </a:spcAft>
                  <a:defRPr sz="1600" b="0" u="none" cap="none">
                    <a:solidFill>
                      <a:srgbClr val="252529"/>
                    </a:solidFill>
                    <a:latin typeface="Cambria Math"/>
                    <a:ea typeface="Cambria Math"/>
                    <a:cs typeface="Cambria Math"/>
                  </a:defRPr>
                </a:pPr>
                <a14:m>
                  <m:oMathPara xmlns:m="http://schemas.openxmlformats.org/officeDocument/2006/math">
                    <m:oMath>
                      <m:r>
                        <a:rPr lang="en-US" sz="1600" b="0" i="1" smtClean="0">
                          <a:latin typeface="Cambria Math" panose="02040503050406030204" pitchFamily="18" charset="0"/>
                        </a:rPr>
                        <m:t>𝑇</m:t>
                      </m:r>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𝑡</m:t>
                          </m:r>
                          <m:r>
                            <a:rPr lang="en-US" sz="1600" b="0" i="1" smtClean="0">
                              <a:latin typeface="Cambria Math" panose="02040503050406030204" pitchFamily="18" charset="0"/>
                            </a:rPr>
                            <m:t>,0</m:t>
                          </m:r>
                        </m:e>
                      </m:d>
                      <m:r>
                        <a:rPr lang="en-US" sz="1600" b="0" i="1" smtClean="0">
                          <a:latin typeface="Cambria Math" panose="02040503050406030204" pitchFamily="18" charset="0"/>
                        </a:rPr>
                        <m:t>=</m:t>
                      </m:r>
                      <m:sSub>
                        <m:sSubPr>
                          <m:ctrlPr>
                            <a:rPr lang="en-US" sz="1600" b="0" i="1" smtClean="0">
                              <a:solidFill>
                                <a:srgbClr val="FF0000"/>
                              </a:solidFill>
                              <a:latin typeface="Cambria Math" panose="02040503050406030204" pitchFamily="18" charset="0"/>
                            </a:rPr>
                          </m:ctrlPr>
                        </m:sSubPr>
                        <m:e>
                          <m:r>
                            <a:rPr lang="en-US" sz="1600" b="0" i="1" smtClean="0">
                              <a:solidFill>
                                <a:srgbClr val="FF0000"/>
                              </a:solidFill>
                              <a:latin typeface="Cambria Math" panose="02040503050406030204" pitchFamily="18" charset="0"/>
                            </a:rPr>
                            <m:t>𝑤</m:t>
                          </m:r>
                        </m:e>
                        <m:sub>
                          <m:r>
                            <a:rPr lang="en-US" sz="1600" b="0" i="1" smtClean="0">
                              <a:solidFill>
                                <a:srgbClr val="FF0000"/>
                              </a:solidFill>
                              <a:latin typeface="Cambria Math" panose="02040503050406030204" pitchFamily="18" charset="0"/>
                            </a:rPr>
                            <m:t>1</m:t>
                          </m:r>
                        </m:sub>
                      </m:sSub>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𝑡</m:t>
                          </m:r>
                        </m:e>
                      </m:d>
                    </m:oMath>
                  </m:oMathPara>
                </a14:m>
                <a:endParaRPr lang="en-US" sz="1600" b="0" i="1" dirty="0">
                  <a:latin typeface="Cambria Math" panose="02040503050406030204" pitchFamily="18" charset="0"/>
                </a:endParaRPr>
              </a:p>
              <a:p>
                <a:pPr algn="ctr">
                  <a:spcAft>
                    <a:spcPts val="0"/>
                  </a:spcAft>
                  <a:defRPr sz="1600" b="0" u="none" cap="none">
                    <a:solidFill>
                      <a:srgbClr val="252529"/>
                    </a:solidFill>
                    <a:latin typeface="Cambria Math"/>
                    <a:ea typeface="Cambria Math"/>
                    <a:cs typeface="Cambria Math"/>
                  </a:defRPr>
                </a:pPr>
                <a14:m>
                  <m:oMathPara xmlns:m="http://schemas.openxmlformats.org/officeDocument/2006/math">
                    <m:oMath>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𝑇</m:t>
                          </m:r>
                        </m:e>
                        <m:sub>
                          <m:r>
                            <a:rPr lang="en-US" sz="1600" b="0" i="1" smtClean="0">
                              <a:latin typeface="Cambria Math" panose="02040503050406030204" pitchFamily="18" charset="0"/>
                            </a:rPr>
                            <m:t>𝑠</m:t>
                          </m:r>
                        </m:sub>
                      </m:sSub>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𝑡</m:t>
                          </m:r>
                          <m:r>
                            <a:rPr lang="en-US" sz="1600" b="0" i="1" smtClean="0">
                              <a:latin typeface="Cambria Math" panose="02040503050406030204" pitchFamily="18" charset="0"/>
                            </a:rPr>
                            <m:t>,0</m:t>
                          </m:r>
                        </m:e>
                      </m:d>
                      <m:r>
                        <a:rPr lang="en-US" sz="1600" b="0" i="1" smtClean="0">
                          <a:latin typeface="Cambria Math" panose="02040503050406030204" pitchFamily="18" charset="0"/>
                        </a:rPr>
                        <m:t>=</m:t>
                      </m:r>
                      <m:sSub>
                        <m:sSubPr>
                          <m:ctrlPr>
                            <a:rPr lang="en-US" sz="1600" b="0" i="1" smtClean="0">
                              <a:solidFill>
                                <a:srgbClr val="FF0000"/>
                              </a:solidFill>
                              <a:latin typeface="Cambria Math" panose="02040503050406030204" pitchFamily="18" charset="0"/>
                            </a:rPr>
                          </m:ctrlPr>
                        </m:sSubPr>
                        <m:e>
                          <m:r>
                            <a:rPr lang="en-US" sz="1600" b="0" i="1" smtClean="0">
                              <a:solidFill>
                                <a:srgbClr val="FF0000"/>
                              </a:solidFill>
                              <a:latin typeface="Cambria Math" panose="02040503050406030204" pitchFamily="18" charset="0"/>
                            </a:rPr>
                            <m:t>𝑤</m:t>
                          </m:r>
                        </m:e>
                        <m:sub>
                          <m:r>
                            <a:rPr lang="en-US" sz="1600" b="0" i="1" smtClean="0">
                              <a:solidFill>
                                <a:srgbClr val="FF0000"/>
                              </a:solidFill>
                              <a:latin typeface="Cambria Math" panose="02040503050406030204" pitchFamily="18" charset="0"/>
                            </a:rPr>
                            <m:t>2</m:t>
                          </m:r>
                        </m:sub>
                      </m:sSub>
                      <m:r>
                        <a:rPr lang="en-US" sz="1600" b="0" i="1" smtClean="0">
                          <a:latin typeface="Cambria Math" panose="02040503050406030204" pitchFamily="18" charset="0"/>
                        </a:rPr>
                        <m:t>(</m:t>
                      </m:r>
                      <m:r>
                        <a:rPr lang="en-US" sz="1600" b="0" i="1" smtClean="0">
                          <a:latin typeface="Cambria Math" panose="02040503050406030204" pitchFamily="18" charset="0"/>
                        </a:rPr>
                        <m:t>𝑡</m:t>
                      </m:r>
                      <m:r>
                        <a:rPr lang="en-US" sz="1600" b="0" i="1" smtClean="0">
                          <a:latin typeface="Cambria Math" panose="02040503050406030204" pitchFamily="18" charset="0"/>
                        </a:rPr>
                        <m:t>) </m:t>
                      </m:r>
                    </m:oMath>
                  </m:oMathPara>
                </a14:m>
                <a:endParaRPr lang="en-NL" sz="1600" dirty="0"/>
              </a:p>
            </p:txBody>
          </p:sp>
        </mc:Choice>
        <mc:Fallback xmlns="">
          <p:sp>
            <p:nvSpPr>
              <p:cNvPr id="17" name="TextBox 16">
                <a:extLst>
                  <a:ext uri="{FF2B5EF4-FFF2-40B4-BE49-F238E27FC236}">
                    <a16:creationId xmlns:a16="http://schemas.microsoft.com/office/drawing/2014/main" id="{546A1DA8-3169-D41D-49F1-F28B39BF7C9E}"/>
                  </a:ext>
                </a:extLst>
              </p:cNvPr>
              <p:cNvSpPr txBox="1">
                <a:spLocks noRot="1" noChangeAspect="1" noMove="1" noResize="1" noEditPoints="1" noAdjustHandles="1" noChangeArrowheads="1" noChangeShapeType="1" noTextEdit="1"/>
              </p:cNvSpPr>
              <p:nvPr/>
            </p:nvSpPr>
            <p:spPr>
              <a:xfrm>
                <a:off x="2025650" y="2260600"/>
                <a:ext cx="5080000" cy="1333500"/>
              </a:xfrm>
              <a:prstGeom prst="rect">
                <a:avLst/>
              </a:prstGeom>
              <a:blipFill>
                <a:blip r:embed="rId3"/>
                <a:stretch>
                  <a:fillRect t="-228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421560D5-3827-94F1-89E3-71A5FECACCB6}"/>
                  </a:ext>
                </a:extLst>
              </p:cNvPr>
              <p:cNvSpPr txBox="1"/>
              <p:nvPr/>
            </p:nvSpPr>
            <p:spPr>
              <a:xfrm>
                <a:off x="5511800" y="2190750"/>
                <a:ext cx="5080000" cy="762000"/>
              </a:xfrm>
              <a:prstGeom prst="rect">
                <a:avLst/>
              </a:prstGeom>
              <a:noFill/>
              <a:ln>
                <a:noFill/>
              </a:ln>
            </p:spPr>
            <p:txBody>
              <a:bodyPr wrap="none" lIns="0" tIns="0" rIns="0" bIns="0" rtlCol="0" anchor="t">
                <a:noAutofit/>
              </a:bodyPr>
              <a:lstStyle/>
              <a:p>
                <a:pPr algn="ctr">
                  <a:spcAft>
                    <a:spcPts val="0"/>
                  </a:spcAft>
                  <a:defRPr sz="1500" b="0" u="none" cap="none">
                    <a:solidFill>
                      <a:srgbClr val="252529"/>
                    </a:solidFill>
                    <a:latin typeface="Cambria Math"/>
                    <a:ea typeface="Cambria Math"/>
                    <a:cs typeface="Cambria Math"/>
                  </a:defRPr>
                </a:pPr>
                <a14:m>
                  <m:oMathPara xmlns:m="http://schemas.openxmlformats.org/officeDocument/2006/math">
                    <m:oMath>
                      <m:eqArr>
                        <m:eqArrPr>
                          <m:ctrlPr>
                            <a:rPr lang="en-US" sz="1500" b="0" i="1" smtClean="0">
                              <a:latin typeface="Cambria Math" panose="02040503050406030204" pitchFamily="18" charset="0"/>
                            </a:rPr>
                          </m:ctrlPr>
                        </m:eqArrPr>
                        <m:e>
                          <m:acc>
                            <m:accPr>
                              <m:chr m:val="̇"/>
                              <m:ctrlPr>
                                <a:rPr lang="en-US" sz="1500" b="0" i="1" smtClean="0">
                                  <a:latin typeface="Cambria Math" panose="02040503050406030204" pitchFamily="18" charset="0"/>
                                </a:rPr>
                              </m:ctrlPr>
                            </m:accPr>
                            <m:e>
                              <m:r>
                                <a:rPr lang="en-US" sz="1500" b="0" i="1" smtClean="0">
                                  <a:latin typeface="Cambria Math" panose="02040503050406030204" pitchFamily="18" charset="0"/>
                                </a:rPr>
                                <m:t>𝑢</m:t>
                              </m:r>
                            </m:e>
                          </m:acc>
                          <m:d>
                            <m:dPr>
                              <m:ctrlPr>
                                <a:rPr lang="en-US" sz="1500" b="0" i="1" smtClean="0">
                                  <a:latin typeface="Cambria Math" panose="02040503050406030204" pitchFamily="18" charset="0"/>
                                </a:rPr>
                              </m:ctrlPr>
                            </m:dPr>
                            <m:e>
                              <m:r>
                                <a:rPr lang="en-US" sz="1500" b="0" i="1" smtClean="0">
                                  <a:latin typeface="Cambria Math" panose="02040503050406030204" pitchFamily="18" charset="0"/>
                                </a:rPr>
                                <m:t>𝑡</m:t>
                              </m:r>
                              <m:r>
                                <a:rPr lang="en-US" sz="1500" b="0" i="1" smtClean="0">
                                  <a:latin typeface="Cambria Math" panose="02040503050406030204" pitchFamily="18" charset="0"/>
                                </a:rPr>
                                <m:t>,</m:t>
                              </m:r>
                              <m:r>
                                <a:rPr lang="en-US" sz="1500" b="0" i="1" smtClean="0">
                                  <a:latin typeface="Cambria Math" panose="02040503050406030204" pitchFamily="18" charset="0"/>
                                </a:rPr>
                                <m:t>𝑠</m:t>
                              </m:r>
                            </m:e>
                          </m:d>
                          <m:r>
                            <a:rPr lang="en-US" sz="1500" b="0" i="1" smtClean="0">
                              <a:latin typeface="Cambria Math" panose="02040503050406030204" pitchFamily="18" charset="0"/>
                            </a:rPr>
                            <m:t>=</m:t>
                          </m:r>
                          <m:sSub>
                            <m:sSubPr>
                              <m:ctrlPr>
                                <a:rPr lang="en-US" sz="1500" b="0" i="1" smtClean="0">
                                  <a:solidFill>
                                    <a:srgbClr val="00B050"/>
                                  </a:solidFill>
                                  <a:latin typeface="Cambria Math" panose="02040503050406030204" pitchFamily="18" charset="0"/>
                                </a:rPr>
                              </m:ctrlPr>
                            </m:sSubPr>
                            <m:e>
                              <m:r>
                                <a:rPr lang="en-US" sz="1500" b="0" i="1" smtClean="0">
                                  <a:solidFill>
                                    <a:srgbClr val="00B050"/>
                                  </a:solidFill>
                                  <a:latin typeface="Cambria Math" panose="02040503050406030204" pitchFamily="18" charset="0"/>
                                </a:rPr>
                                <m:t>𝑤</m:t>
                              </m:r>
                            </m:e>
                            <m:sub>
                              <m:r>
                                <a:rPr lang="en-US" sz="1500" b="0" i="1" smtClean="0">
                                  <a:solidFill>
                                    <a:srgbClr val="00B050"/>
                                  </a:solidFill>
                                  <a:latin typeface="Cambria Math" panose="02040503050406030204" pitchFamily="18" charset="0"/>
                                </a:rPr>
                                <m:t>1</m:t>
                              </m:r>
                            </m:sub>
                          </m:sSub>
                          <m:d>
                            <m:dPr>
                              <m:ctrlPr>
                                <a:rPr lang="en-US" sz="1500" b="0" i="1" smtClean="0">
                                  <a:latin typeface="Cambria Math" panose="02040503050406030204" pitchFamily="18" charset="0"/>
                                </a:rPr>
                              </m:ctrlPr>
                            </m:dPr>
                            <m:e>
                              <m:r>
                                <a:rPr lang="en-US" sz="1500" b="0" i="1" smtClean="0">
                                  <a:latin typeface="Cambria Math" panose="02040503050406030204" pitchFamily="18" charset="0"/>
                                </a:rPr>
                                <m:t>𝑡</m:t>
                              </m:r>
                            </m:e>
                          </m:d>
                        </m:e>
                        <m:e>
                          <m:r>
                            <a:rPr lang="en-US" sz="1500" b="0" i="1" smtClean="0">
                              <a:latin typeface="Cambria Math" panose="02040503050406030204" pitchFamily="18" charset="0"/>
                            </a:rPr>
                            <m:t>+</m:t>
                          </m:r>
                          <m:r>
                            <a:rPr lang="en-US" sz="1500" b="0" i="1" smtClean="0">
                              <a:latin typeface="Cambria Math" panose="02040503050406030204" pitchFamily="18" charset="0"/>
                            </a:rPr>
                            <m:t>𝑠</m:t>
                          </m:r>
                          <m:sSub>
                            <m:sSubPr>
                              <m:ctrlPr>
                                <a:rPr lang="en-US" sz="1500" b="0" i="1" smtClean="0">
                                  <a:solidFill>
                                    <a:srgbClr val="00B050"/>
                                  </a:solidFill>
                                  <a:latin typeface="Cambria Math" panose="02040503050406030204" pitchFamily="18" charset="0"/>
                                </a:rPr>
                              </m:ctrlPr>
                            </m:sSubPr>
                            <m:e>
                              <m:r>
                                <a:rPr lang="en-US" sz="1500" b="0" i="1" smtClean="0">
                                  <a:solidFill>
                                    <a:srgbClr val="00B050"/>
                                  </a:solidFill>
                                  <a:latin typeface="Cambria Math" panose="02040503050406030204" pitchFamily="18" charset="0"/>
                                </a:rPr>
                                <m:t>𝑤</m:t>
                              </m:r>
                            </m:e>
                            <m:sub>
                              <m:r>
                                <a:rPr lang="en-US" sz="1500" b="0" i="1" smtClean="0">
                                  <a:solidFill>
                                    <a:srgbClr val="00B050"/>
                                  </a:solidFill>
                                  <a:latin typeface="Cambria Math" panose="02040503050406030204" pitchFamily="18" charset="0"/>
                                </a:rPr>
                                <m:t>2</m:t>
                              </m:r>
                            </m:sub>
                          </m:sSub>
                          <m:d>
                            <m:dPr>
                              <m:ctrlPr>
                                <a:rPr lang="en-US" sz="1500" b="0" i="1" smtClean="0">
                                  <a:latin typeface="Cambria Math" panose="02040503050406030204" pitchFamily="18" charset="0"/>
                                </a:rPr>
                              </m:ctrlPr>
                            </m:dPr>
                            <m:e>
                              <m:r>
                                <a:rPr lang="en-US" sz="1500" b="0" i="1" smtClean="0">
                                  <a:latin typeface="Cambria Math" panose="02040503050406030204" pitchFamily="18" charset="0"/>
                                </a:rPr>
                                <m:t>𝑡</m:t>
                              </m:r>
                            </m:e>
                          </m:d>
                        </m:e>
                        <m:e>
                          <m:r>
                            <a:rPr lang="en-US" sz="1500" b="0" i="1" smtClean="0">
                              <a:latin typeface="Cambria Math" panose="02040503050406030204" pitchFamily="18" charset="0"/>
                            </a:rPr>
                            <m:t>+</m:t>
                          </m:r>
                          <m:nary>
                            <m:naryPr>
                              <m:limLoc m:val="subSup"/>
                              <m:ctrlPr>
                                <a:rPr lang="en-US" sz="1500" b="0" i="1" smtClean="0">
                                  <a:latin typeface="Cambria Math" panose="02040503050406030204" pitchFamily="18" charset="0"/>
                                </a:rPr>
                              </m:ctrlPr>
                            </m:naryPr>
                            <m:sub>
                              <m:r>
                                <a:rPr lang="en-US" sz="1500" b="0" i="1" smtClean="0">
                                  <a:latin typeface="Cambria Math" panose="02040503050406030204" pitchFamily="18" charset="0"/>
                                </a:rPr>
                                <m:t>0</m:t>
                              </m:r>
                            </m:sub>
                            <m:sup>
                              <m:r>
                                <a:rPr lang="en-US" sz="1500" b="0" i="1" smtClean="0">
                                  <a:latin typeface="Cambria Math" panose="02040503050406030204" pitchFamily="18" charset="0"/>
                                </a:rPr>
                                <m:t>𝑠</m:t>
                              </m:r>
                            </m:sup>
                            <m:e>
                              <m:d>
                                <m:dPr>
                                  <m:ctrlPr>
                                    <a:rPr lang="en-US" sz="1500" b="0" i="1" smtClean="0">
                                      <a:latin typeface="Cambria Math" panose="02040503050406030204" pitchFamily="18" charset="0"/>
                                    </a:rPr>
                                  </m:ctrlPr>
                                </m:dPr>
                                <m:e>
                                  <m:r>
                                    <a:rPr lang="en-US" sz="1500" b="0" i="1" smtClean="0">
                                      <a:latin typeface="Cambria Math" panose="02040503050406030204" pitchFamily="18" charset="0"/>
                                    </a:rPr>
                                    <m:t>𝑠</m:t>
                                  </m:r>
                                  <m:r>
                                    <a:rPr lang="en-US" sz="1500" b="0" i="1" smtClean="0">
                                      <a:latin typeface="Cambria Math" panose="02040503050406030204" pitchFamily="18" charset="0"/>
                                    </a:rPr>
                                    <m:t>−</m:t>
                                  </m:r>
                                  <m:r>
                                    <a:rPr lang="en-US" sz="1500" b="0" i="1" smtClean="0">
                                      <a:latin typeface="Cambria Math" panose="02040503050406030204" pitchFamily="18" charset="0"/>
                                    </a:rPr>
                                    <m:t>𝜉</m:t>
                                  </m:r>
                                </m:e>
                              </m:d>
                            </m:e>
                          </m:nary>
                          <m:sSub>
                            <m:sSubPr>
                              <m:ctrlPr>
                                <a:rPr lang="en-US" sz="1500" b="0" i="1" smtClean="0">
                                  <a:latin typeface="Cambria Math" panose="02040503050406030204" pitchFamily="18" charset="0"/>
                                </a:rPr>
                              </m:ctrlPr>
                            </m:sSubPr>
                            <m:e>
                              <m:r>
                                <a:rPr lang="en-US" sz="1500" b="0" i="1" smtClean="0">
                                  <a:latin typeface="Cambria Math" panose="02040503050406030204" pitchFamily="18" charset="0"/>
                                </a:rPr>
                                <m:t>𝑢</m:t>
                              </m:r>
                            </m:e>
                            <m:sub>
                              <m:r>
                                <a:rPr lang="en-US" sz="1500" b="0" i="1" smtClean="0">
                                  <a:latin typeface="Cambria Math" panose="02040503050406030204" pitchFamily="18" charset="0"/>
                                </a:rPr>
                                <m:t>𝜉𝜉</m:t>
                              </m:r>
                            </m:sub>
                          </m:sSub>
                          <m:d>
                            <m:dPr>
                              <m:ctrlPr>
                                <a:rPr lang="en-US" sz="1500" b="0" i="1" smtClean="0">
                                  <a:latin typeface="Cambria Math" panose="02040503050406030204" pitchFamily="18" charset="0"/>
                                </a:rPr>
                              </m:ctrlPr>
                            </m:dPr>
                            <m:e>
                              <m:r>
                                <a:rPr lang="en-US" sz="1500" b="0" i="1" smtClean="0">
                                  <a:latin typeface="Cambria Math" panose="02040503050406030204" pitchFamily="18" charset="0"/>
                                </a:rPr>
                                <m:t>𝑡</m:t>
                              </m:r>
                              <m:r>
                                <a:rPr lang="en-US" sz="1500" b="0" i="1" smtClean="0">
                                  <a:latin typeface="Cambria Math" panose="02040503050406030204" pitchFamily="18" charset="0"/>
                                </a:rPr>
                                <m:t>,</m:t>
                              </m:r>
                              <m:r>
                                <a:rPr lang="en-US" sz="1500" b="0" i="1" smtClean="0">
                                  <a:latin typeface="Cambria Math" panose="02040503050406030204" pitchFamily="18" charset="0"/>
                                </a:rPr>
                                <m:t>𝜉</m:t>
                              </m:r>
                            </m:e>
                          </m:d>
                          <m:r>
                            <a:rPr lang="en-US" sz="1500" b="0" i="1" smtClean="0">
                              <a:latin typeface="Cambria Math" panose="02040503050406030204" pitchFamily="18" charset="0"/>
                            </a:rPr>
                            <m:t>𝑑</m:t>
                          </m:r>
                          <m:r>
                            <a:rPr lang="en-US" sz="1500" b="0" i="1" smtClean="0">
                              <a:latin typeface="Cambria Math" panose="02040503050406030204" pitchFamily="18" charset="0"/>
                            </a:rPr>
                            <m:t>𝜉</m:t>
                          </m:r>
                        </m:e>
                      </m:eqArr>
                    </m:oMath>
                  </m:oMathPara>
                </a14:m>
                <a:endParaRPr lang="en-NL" sz="1500" dirty="0"/>
              </a:p>
            </p:txBody>
          </p:sp>
        </mc:Choice>
        <mc:Fallback xmlns="">
          <p:sp>
            <p:nvSpPr>
              <p:cNvPr id="18" name="TextBox 17">
                <a:extLst>
                  <a:ext uri="{FF2B5EF4-FFF2-40B4-BE49-F238E27FC236}">
                    <a16:creationId xmlns:a16="http://schemas.microsoft.com/office/drawing/2014/main" id="{421560D5-3827-94F1-89E3-71A5FECACCB6}"/>
                  </a:ext>
                </a:extLst>
              </p:cNvPr>
              <p:cNvSpPr txBox="1">
                <a:spLocks noRot="1" noChangeAspect="1" noMove="1" noResize="1" noEditPoints="1" noAdjustHandles="1" noChangeArrowheads="1" noChangeShapeType="1" noTextEdit="1"/>
              </p:cNvSpPr>
              <p:nvPr/>
            </p:nvSpPr>
            <p:spPr>
              <a:xfrm>
                <a:off x="5511800" y="2190750"/>
                <a:ext cx="5080000" cy="762000"/>
              </a:xfrm>
              <a:prstGeom prst="rect">
                <a:avLst/>
              </a:prstGeom>
              <a:blipFill>
                <a:blip r:embed="rId4"/>
                <a:stretch>
                  <a:fillRect b="-29600"/>
                </a:stretch>
              </a:blipFill>
              <a:ln>
                <a:noFill/>
              </a:ln>
            </p:spPr>
            <p:txBody>
              <a:bodyPr/>
              <a:lstStyle/>
              <a:p>
                <a:r>
                  <a:rPr lang="en-NL">
                    <a:noFill/>
                  </a:rPr>
                  <a:t> </a:t>
                </a:r>
              </a:p>
            </p:txBody>
          </p:sp>
        </mc:Fallback>
      </mc:AlternateContent>
      <p:pic>
        <p:nvPicPr>
          <p:cNvPr id="24" name="Original TUe logo"/>
          <p:cNvPicPr>
            <a:picLocks noChangeAspect="1"/>
          </p:cNvPicPr>
          <p:nvPr/>
        </p:nvPicPr>
        <p:blipFill>
          <a:blip r:embed="rId5"/>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5917342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Built in boundary conditions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21</a:t>
            </a:fld>
            <a:endParaRPr lang="en-GB" sz="800" b="0" u="none" cap="none" dirty="0">
              <a:solidFill>
                <a:srgbClr val="747B82"/>
              </a:solidFill>
              <a:latin typeface="Aptos"/>
              <a:ea typeface="Aptos"/>
              <a:cs typeface="Aptos"/>
            </a:endParaRPr>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37973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ODE-PDE</a:t>
            </a:r>
            <a:endParaRPr lang="en-NL" sz="2000" b="1" u="none" cap="none" dirty="0">
              <a:solidFill>
                <a:srgbClr val="252529"/>
              </a:solidFill>
              <a:latin typeface="Aptos"/>
              <a:ea typeface="Aptos"/>
              <a:cs typeface="Aptos"/>
            </a:endParaRPr>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1501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PIE</a:t>
            </a:r>
            <a:endParaRPr lang="en-NL" sz="2000" b="1" u="none" cap="none" dirty="0">
              <a:solidFill>
                <a:srgbClr val="252529"/>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8415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6BDBA0B0-2CCF-F6A7-EE9C-B855856178BB}"/>
                  </a:ext>
                </a:extLst>
              </p:cNvPr>
              <p:cNvSpPr txBox="1"/>
              <p:nvPr/>
            </p:nvSpPr>
            <p:spPr>
              <a:xfrm>
                <a:off x="3606800" y="2514600"/>
                <a:ext cx="5080000" cy="1917700"/>
              </a:xfrm>
              <a:prstGeom prst="rect">
                <a:avLst/>
              </a:prstGeom>
              <a:noFill/>
              <a:ln>
                <a:noFill/>
              </a:ln>
            </p:spPr>
            <p:txBody>
              <a:bodyPr wrap="none" lIns="0" tIns="0" rIns="0" bIns="0" rtlCol="0" anchor="t">
                <a:noAutofit/>
              </a:bodyPr>
              <a:lstStyle/>
              <a:p>
                <a:pPr algn="ctr">
                  <a:spcAft>
                    <a:spcPts val="0"/>
                  </a:spcAft>
                  <a:defRPr sz="2100" b="0" u="none" cap="none">
                    <a:solidFill>
                      <a:srgbClr val="252529"/>
                    </a:solidFill>
                    <a:latin typeface="Cambria Math"/>
                    <a:ea typeface="Cambria Math"/>
                    <a:cs typeface="Cambria Math"/>
                  </a:defRPr>
                </a:pPr>
                <a14:m>
                  <m:oMathPara xmlns:m="http://schemas.openxmlformats.org/officeDocument/2006/math">
                    <m:oMath>
                      <m:r>
                        <a:rPr lang="en-US" sz="2100" b="0" i="1" smtClean="0">
                          <a:solidFill>
                            <a:srgbClr val="00B050"/>
                          </a:solidFill>
                          <a:latin typeface="Cambria Math" panose="02040503050406030204" pitchFamily="18" charset="0"/>
                        </a:rPr>
                        <m:t>𝒯</m:t>
                      </m:r>
                      <m:sSub>
                        <m:sSubPr>
                          <m:ctrlPr>
                            <a:rPr lang="en-US" sz="2100" b="0" i="1" smtClean="0">
                              <a:latin typeface="Cambria Math" panose="02040503050406030204" pitchFamily="18" charset="0"/>
                            </a:rPr>
                          </m:ctrlPr>
                        </m:sSubPr>
                        <m:e>
                          <m:acc>
                            <m:accPr>
                              <m:chr m:val="̇"/>
                              <m:ctrlPr>
                                <a:rPr lang="en-US" sz="2100" b="0" i="1" smtClean="0">
                                  <a:latin typeface="Cambria Math" panose="02040503050406030204" pitchFamily="18" charset="0"/>
                                </a:rPr>
                              </m:ctrlPr>
                            </m:accPr>
                            <m:e>
                              <m:r>
                                <a:rPr lang="en-US" sz="2100" b="0" i="1" smtClean="0">
                                  <a:latin typeface="Cambria Math" panose="02040503050406030204" pitchFamily="18" charset="0"/>
                                </a:rPr>
                                <m:t>𝐱</m:t>
                              </m:r>
                            </m:e>
                          </m:acc>
                        </m:e>
                        <m:sub>
                          <m:r>
                            <a:rPr lang="en-US" sz="2100" b="0" i="1" smtClean="0">
                              <a:latin typeface="Cambria Math" panose="02040503050406030204" pitchFamily="18" charset="0"/>
                            </a:rPr>
                            <m:t>𝑓</m:t>
                          </m:r>
                        </m:sub>
                      </m:sSub>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𝑡</m:t>
                          </m:r>
                        </m:e>
                      </m:d>
                      <m:r>
                        <a:rPr lang="en-US" sz="2100" b="0" i="1" smtClean="0">
                          <a:latin typeface="Cambria Math" panose="02040503050406030204" pitchFamily="18" charset="0"/>
                        </a:rPr>
                        <m:t>=</m:t>
                      </m:r>
                      <m:r>
                        <a:rPr lang="en-US" sz="2100" b="0" i="1" smtClean="0">
                          <a:solidFill>
                            <a:srgbClr val="00B050"/>
                          </a:solidFill>
                          <a:latin typeface="Cambria Math" panose="02040503050406030204" pitchFamily="18" charset="0"/>
                        </a:rPr>
                        <m:t>𝒜</m:t>
                      </m:r>
                      <m:sSub>
                        <m:sSubPr>
                          <m:ctrlPr>
                            <a:rPr lang="en-US" sz="2100" b="0" i="1" smtClean="0">
                              <a:latin typeface="Cambria Math" panose="02040503050406030204" pitchFamily="18" charset="0"/>
                            </a:rPr>
                          </m:ctrlPr>
                        </m:sSubPr>
                        <m:e>
                          <m:r>
                            <a:rPr lang="en-US" sz="2100" b="0" i="1" smtClean="0">
                              <a:latin typeface="Cambria Math" panose="02040503050406030204" pitchFamily="18" charset="0"/>
                            </a:rPr>
                            <m:t>𝐱</m:t>
                          </m:r>
                        </m:e>
                        <m:sub>
                          <m:r>
                            <a:rPr lang="en-US" sz="2100" b="0" i="1" smtClean="0">
                              <a:latin typeface="Cambria Math" panose="02040503050406030204" pitchFamily="18" charset="0"/>
                            </a:rPr>
                            <m:t>𝑓</m:t>
                          </m:r>
                        </m:sub>
                      </m:sSub>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𝑡</m:t>
                          </m:r>
                        </m:e>
                      </m:d>
                      <m:r>
                        <a:rPr lang="en-US" sz="2100" b="0" i="1" smtClean="0">
                          <a:latin typeface="Cambria Math" panose="02040503050406030204" pitchFamily="18" charset="0"/>
                        </a:rPr>
                        <m:t>+</m:t>
                      </m:r>
                      <m:r>
                        <a:rPr lang="en-US" sz="2100" b="0" i="1" smtClean="0">
                          <a:solidFill>
                            <a:srgbClr val="00B050"/>
                          </a:solidFill>
                          <a:latin typeface="Cambria Math" panose="02040503050406030204" pitchFamily="18" charset="0"/>
                        </a:rPr>
                        <m:t>ℬ</m:t>
                      </m:r>
                      <m:r>
                        <a:rPr lang="en-US" sz="2100" b="0" i="1" smtClean="0">
                          <a:latin typeface="Cambria Math" panose="02040503050406030204" pitchFamily="18" charset="0"/>
                        </a:rPr>
                        <m:t>𝑤</m:t>
                      </m:r>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𝑡</m:t>
                          </m:r>
                        </m:e>
                      </m:d>
                    </m:oMath>
                  </m:oMathPara>
                </a14:m>
                <a:endParaRPr lang="en-US" sz="2100" b="0" i="1" dirty="0">
                  <a:latin typeface="Cambria Math" panose="02040503050406030204" pitchFamily="18" charset="0"/>
                </a:endParaRPr>
              </a:p>
              <a:p>
                <a:pPr algn="ctr">
                  <a:spcAft>
                    <a:spcPts val="0"/>
                  </a:spcAft>
                  <a:defRPr sz="2100" b="0" u="none" cap="none">
                    <a:solidFill>
                      <a:srgbClr val="252529"/>
                    </a:solidFill>
                    <a:latin typeface="Cambria Math"/>
                    <a:ea typeface="Cambria Math"/>
                    <a:cs typeface="Cambria Math"/>
                  </a:defRPr>
                </a:pPr>
                <a14:m>
                  <m:oMathPara xmlns:m="http://schemas.openxmlformats.org/officeDocument/2006/math">
                    <m:oMath>
                      <m:r>
                        <a:rPr lang="en-US" sz="2100" b="0" i="1" smtClean="0">
                          <a:latin typeface="Cambria Math" panose="02040503050406030204" pitchFamily="18" charset="0"/>
                        </a:rPr>
                        <m:t>𝑧</m:t>
                      </m:r>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𝑡</m:t>
                          </m:r>
                        </m:e>
                      </m:d>
                      <m:r>
                        <a:rPr lang="en-US" sz="2100" b="0" i="1" smtClean="0">
                          <a:latin typeface="Cambria Math" panose="02040503050406030204" pitchFamily="18" charset="0"/>
                        </a:rPr>
                        <m:t>=</m:t>
                      </m:r>
                      <m:r>
                        <a:rPr lang="en-US" sz="2100" b="0" i="1" smtClean="0">
                          <a:solidFill>
                            <a:srgbClr val="00B050"/>
                          </a:solidFill>
                          <a:latin typeface="Cambria Math" panose="02040503050406030204" pitchFamily="18" charset="0"/>
                        </a:rPr>
                        <m:t>𝒞</m:t>
                      </m:r>
                      <m:sSub>
                        <m:sSubPr>
                          <m:ctrlPr>
                            <a:rPr lang="en-US" sz="2100" b="0" i="1" smtClean="0">
                              <a:latin typeface="Cambria Math" panose="02040503050406030204" pitchFamily="18" charset="0"/>
                            </a:rPr>
                          </m:ctrlPr>
                        </m:sSubPr>
                        <m:e>
                          <m:r>
                            <a:rPr lang="en-US" sz="2100" b="0" i="1" smtClean="0">
                              <a:latin typeface="Cambria Math" panose="02040503050406030204" pitchFamily="18" charset="0"/>
                            </a:rPr>
                            <m:t>𝐱</m:t>
                          </m:r>
                        </m:e>
                        <m:sub>
                          <m:r>
                            <a:rPr lang="en-US" sz="2100" b="0" i="1" smtClean="0">
                              <a:latin typeface="Cambria Math" panose="02040503050406030204" pitchFamily="18" charset="0"/>
                            </a:rPr>
                            <m:t>𝑓</m:t>
                          </m:r>
                        </m:sub>
                      </m:sSub>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𝑡</m:t>
                          </m:r>
                        </m:e>
                      </m:d>
                      <m:r>
                        <a:rPr lang="en-US" sz="2100" b="0" i="1" smtClean="0">
                          <a:latin typeface="Cambria Math" panose="02040503050406030204" pitchFamily="18" charset="0"/>
                        </a:rPr>
                        <m:t>+</m:t>
                      </m:r>
                      <m:r>
                        <a:rPr lang="en-US" sz="2100" b="0" i="1" smtClean="0">
                          <a:solidFill>
                            <a:srgbClr val="00B050"/>
                          </a:solidFill>
                          <a:latin typeface="Cambria Math" panose="02040503050406030204" pitchFamily="18" charset="0"/>
                        </a:rPr>
                        <m:t>𝒟</m:t>
                      </m:r>
                      <m:r>
                        <a:rPr lang="en-US" sz="2100" b="0" i="1" smtClean="0">
                          <a:latin typeface="Cambria Math" panose="02040503050406030204" pitchFamily="18" charset="0"/>
                        </a:rPr>
                        <m:t>𝑤</m:t>
                      </m:r>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𝑡</m:t>
                          </m:r>
                        </m:e>
                      </m:d>
                    </m:oMath>
                  </m:oMathPara>
                </a14:m>
                <a:endParaRPr lang="en-US" sz="2100" b="0" dirty="0"/>
              </a:p>
              <a:p>
                <a:pPr algn="ctr">
                  <a:spcAft>
                    <a:spcPts val="0"/>
                  </a:spcAft>
                  <a:defRPr sz="2100" b="0" u="none" cap="none">
                    <a:solidFill>
                      <a:srgbClr val="252529"/>
                    </a:solidFill>
                    <a:latin typeface="Cambria Math"/>
                    <a:ea typeface="Cambria Math"/>
                    <a:cs typeface="Cambria Math"/>
                  </a:defRPr>
                </a:pPr>
                <a14:m>
                  <m:oMathPara xmlns:m="http://schemas.openxmlformats.org/officeDocument/2006/math">
                    <m:oMath>
                      <m:r>
                        <a:rPr lang="en-US" sz="2100" b="0" i="1" smtClean="0">
                          <a:solidFill>
                            <a:srgbClr val="00B050"/>
                          </a:solidFill>
                          <a:latin typeface="Cambria Math" panose="02040503050406030204" pitchFamily="18" charset="0"/>
                        </a:rPr>
                        <m:t>𝒯</m:t>
                      </m:r>
                      <m:r>
                        <a:rPr lang="en-US" sz="2100" b="0" i="1" smtClean="0">
                          <a:latin typeface="Cambria Math" panose="02040503050406030204" pitchFamily="18" charset="0"/>
                        </a:rPr>
                        <m:t>,</m:t>
                      </m:r>
                      <m:r>
                        <a:rPr lang="en-US" sz="2100" b="0" i="1" smtClean="0">
                          <a:solidFill>
                            <a:srgbClr val="00B050"/>
                          </a:solidFill>
                          <a:latin typeface="Cambria Math" panose="02040503050406030204" pitchFamily="18" charset="0"/>
                        </a:rPr>
                        <m:t>𝒜</m:t>
                      </m:r>
                      <m:r>
                        <a:rPr lang="en-US" sz="2100" b="0" i="1" smtClean="0">
                          <a:latin typeface="Cambria Math" panose="02040503050406030204" pitchFamily="18" charset="0"/>
                        </a:rPr>
                        <m:t>,....∈</m:t>
                      </m:r>
                      <m:sSub>
                        <m:sSubPr>
                          <m:ctrlPr>
                            <a:rPr lang="en-US" sz="2100" b="0" i="1" smtClean="0">
                              <a:latin typeface="Cambria Math" panose="02040503050406030204" pitchFamily="18" charset="0"/>
                            </a:rPr>
                          </m:ctrlPr>
                        </m:sSubPr>
                        <m:e>
                          <m:r>
                            <m:rPr>
                              <m:sty m:val="p"/>
                            </m:rPr>
                            <a:rPr lang="en-US" sz="2100" b="0" i="1" smtClean="0">
                              <a:latin typeface="Cambria Math" panose="02040503050406030204" pitchFamily="18" charset="0"/>
                            </a:rPr>
                            <m:t>Π</m:t>
                          </m:r>
                        </m:e>
                        <m:sub>
                          <m:r>
                            <a:rPr lang="en-US" sz="2100" b="0" i="1" smtClean="0">
                              <a:latin typeface="Cambria Math" panose="02040503050406030204" pitchFamily="18" charset="0"/>
                            </a:rPr>
                            <m:t>4</m:t>
                          </m:r>
                        </m:sub>
                      </m:sSub>
                    </m:oMath>
                  </m:oMathPara>
                </a14:m>
                <a:endParaRPr lang="en-US" sz="2100" b="0" dirty="0"/>
              </a:p>
              <a:p>
                <a:pPr algn="ctr">
                  <a:spcAft>
                    <a:spcPts val="0"/>
                  </a:spcAft>
                  <a:defRPr sz="2100" b="0" u="none" cap="none">
                    <a:solidFill>
                      <a:srgbClr val="252529"/>
                    </a:solidFill>
                    <a:latin typeface="Cambria Math"/>
                    <a:ea typeface="Cambria Math"/>
                    <a:cs typeface="Cambria Math"/>
                  </a:defRPr>
                </a:pPr>
                <a:endParaRPr lang="en-NL" sz="2100" dirty="0"/>
              </a:p>
            </p:txBody>
          </p:sp>
        </mc:Choice>
        <mc:Fallback xmlns="">
          <p:sp>
            <p:nvSpPr>
              <p:cNvPr id="21" name="TextBox 20">
                <a:extLst>
                  <a:ext uri="{FF2B5EF4-FFF2-40B4-BE49-F238E27FC236}">
                    <a16:creationId xmlns:a16="http://schemas.microsoft.com/office/drawing/2014/main" id="{6BDBA0B0-2CCF-F6A7-EE9C-B855856178BB}"/>
                  </a:ext>
                </a:extLst>
              </p:cNvPr>
              <p:cNvSpPr txBox="1">
                <a:spLocks noRot="1" noChangeAspect="1" noMove="1" noResize="1" noEditPoints="1" noAdjustHandles="1" noChangeArrowheads="1" noChangeShapeType="1" noTextEdit="1"/>
              </p:cNvSpPr>
              <p:nvPr/>
            </p:nvSpPr>
            <p:spPr>
              <a:xfrm>
                <a:off x="3606800" y="2514600"/>
                <a:ext cx="5080000" cy="1917700"/>
              </a:xfrm>
              <a:prstGeom prst="rect">
                <a:avLst/>
              </a:prstGeom>
              <a:noFill/>
              <a:ln>
                <a:noFill/>
              </a:ln>
            </p:spPr>
            <p:txBody>
              <a:bodyPr lIns="0" rIns="0" tIns="0" bIns="0" anchor="t" wrap="none">
                <a:noAutofit/>
              </a:bodyPr>
              <a:lstStyle/>
              <a:p>
                <a:pPr algn="ctr">
                  <a:spcAft>
                    <a:spcPts val="0"/>
                  </a:spcAft>
                  <a:defRPr sz="2100" b="0" u="none" cap="none">
                    <a:solidFill>
                      <a:srgbClr val="252529"/>
                    </a:solidFill>
                    <a:latin typeface="Cambria Math"/>
                    <a:ea typeface="Cambria Math"/>
                    <a:cs typeface="Cambria Math"/>
                  </a:defRPr>
                </a:pPr>
                <a:r>
                  <a:rPr lang="en-NL" sz="2100">
                    <a:noFill/>
                  </a:rPr>
                  <a:t> </a:t>
                </a:r>
              </a:p>
            </p:txBody>
          </p:sp>
        </mc:Fallback>
      </mc:AlternateContent>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5917342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Built in boundary conditions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22</a:t>
            </a:fld>
            <a:endParaRPr lang="en-GB" sz="800" b="0" u="none" cap="none" dirty="0">
              <a:solidFill>
                <a:srgbClr val="747B82"/>
              </a:solidFill>
              <a:latin typeface="Aptos"/>
              <a:ea typeface="Aptos"/>
              <a:cs typeface="Aptos"/>
            </a:endParaRPr>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37973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ODE-PDE</a:t>
            </a:r>
            <a:endParaRPr lang="en-NL" sz="2000" b="1" u="none" cap="none" dirty="0">
              <a:solidFill>
                <a:srgbClr val="252529"/>
              </a:solidFill>
              <a:latin typeface="Aptos"/>
              <a:ea typeface="Aptos"/>
              <a:cs typeface="Aptos"/>
            </a:endParaRPr>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1501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PIE</a:t>
            </a:r>
            <a:endParaRPr lang="en-NL" sz="2000" b="1" u="none" cap="none" dirty="0">
              <a:solidFill>
                <a:srgbClr val="252529"/>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8415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34C8FEF0-3513-3273-4C7C-0A2C5EB2DD6A}"/>
                  </a:ext>
                </a:extLst>
              </p:cNvPr>
              <p:cNvSpPr txBox="1"/>
              <p:nvPr/>
            </p:nvSpPr>
            <p:spPr>
              <a:xfrm>
                <a:off x="3606800" y="2971800"/>
                <a:ext cx="5080000" cy="1143000"/>
              </a:xfrm>
              <a:prstGeom prst="rect">
                <a:avLst/>
              </a:prstGeom>
              <a:noFill/>
              <a:ln>
                <a:noFill/>
              </a:ln>
            </p:spPr>
            <p:txBody>
              <a:bodyPr wrap="none" lIns="0" tIns="0" rIns="0" bIns="0" rtlCol="0" anchor="t">
                <a:noAutofit/>
              </a:bodyPr>
              <a:lstStyle/>
              <a:p>
                <a:pPr algn="ctr">
                  <a:spcAft>
                    <a:spcPts val="0"/>
                  </a:spcAft>
                  <a:defRPr sz="1300" b="0" u="none" cap="none">
                    <a:solidFill>
                      <a:srgbClr val="252529"/>
                    </a:solidFill>
                    <a:latin typeface="Cambria Math"/>
                    <a:ea typeface="Cambria Math"/>
                    <a:cs typeface="Cambria Math"/>
                  </a:defRPr>
                </a:pPr>
                <a14:m>
                  <m:oMathPara xmlns:m="http://schemas.openxmlformats.org/officeDocument/2006/math">
                    <m:oMath>
                      <m:r>
                        <a:rPr lang="en-US" sz="1300" b="0" i="1" smtClean="0">
                          <a:latin typeface="Cambria Math" panose="02040503050406030204" pitchFamily="18" charset="0"/>
                        </a:rPr>
                        <m:t>𝒜</m:t>
                      </m:r>
                      <m:r>
                        <a:rPr lang="en-US" sz="1300" b="0" i="1" smtClean="0">
                          <a:latin typeface="Cambria Math" panose="02040503050406030204" pitchFamily="18" charset="0"/>
                        </a:rPr>
                        <m:t>+</m:t>
                      </m:r>
                      <m:r>
                        <a:rPr lang="en-US" sz="1300" b="0" i="1" smtClean="0">
                          <a:latin typeface="Cambria Math" panose="02040503050406030204" pitchFamily="18" charset="0"/>
                        </a:rPr>
                        <m:t>ℬ</m:t>
                      </m:r>
                      <m:r>
                        <a:rPr lang="en-US" sz="1300" b="0" i="1" smtClean="0">
                          <a:latin typeface="Cambria Math" panose="02040503050406030204" pitchFamily="18" charset="0"/>
                        </a:rPr>
                        <m:t>∈</m:t>
                      </m:r>
                      <m:sSub>
                        <m:sSubPr>
                          <m:ctrlPr>
                            <a:rPr lang="en-US" sz="1300" b="0" i="1" smtClean="0">
                              <a:latin typeface="Cambria Math" panose="02040503050406030204" pitchFamily="18" charset="0"/>
                            </a:rPr>
                          </m:ctrlPr>
                        </m:sSubPr>
                        <m:e>
                          <m:r>
                            <m:rPr>
                              <m:sty m:val="p"/>
                            </m:rPr>
                            <a:rPr lang="en-US" sz="1300" b="0" i="1" smtClean="0">
                              <a:latin typeface="Cambria Math" panose="02040503050406030204" pitchFamily="18" charset="0"/>
                            </a:rPr>
                            <m:t>Π</m:t>
                          </m:r>
                        </m:e>
                        <m:sub>
                          <m:r>
                            <a:rPr lang="en-US" sz="1300" b="0" i="1" smtClean="0">
                              <a:latin typeface="Cambria Math" panose="02040503050406030204" pitchFamily="18" charset="0"/>
                            </a:rPr>
                            <m:t>4</m:t>
                          </m:r>
                        </m:sub>
                      </m:sSub>
                      <m:r>
                        <a:rPr lang="en-US" sz="1300" b="0" i="1" smtClean="0">
                          <a:latin typeface="Cambria Math" panose="02040503050406030204" pitchFamily="18" charset="0"/>
                        </a:rPr>
                        <m:t>, </m:t>
                      </m:r>
                      <m:r>
                        <a:rPr lang="en-US" sz="1300" b="0" i="1" smtClean="0">
                          <a:latin typeface="Cambria Math" panose="02040503050406030204" pitchFamily="18" charset="0"/>
                        </a:rPr>
                        <m:t>𝒜ℬ</m:t>
                      </m:r>
                      <m:r>
                        <a:rPr lang="en-US" sz="1300" b="0" i="1" smtClean="0">
                          <a:latin typeface="Cambria Math" panose="02040503050406030204" pitchFamily="18" charset="0"/>
                        </a:rPr>
                        <m:t>∈</m:t>
                      </m:r>
                      <m:sSub>
                        <m:sSubPr>
                          <m:ctrlPr>
                            <a:rPr lang="en-US" sz="1300" b="0" i="1" smtClean="0">
                              <a:latin typeface="Cambria Math" panose="02040503050406030204" pitchFamily="18" charset="0"/>
                            </a:rPr>
                          </m:ctrlPr>
                        </m:sSubPr>
                        <m:e>
                          <m:r>
                            <m:rPr>
                              <m:sty m:val="p"/>
                            </m:rPr>
                            <a:rPr lang="en-US" sz="1300" b="0" i="1" smtClean="0">
                              <a:latin typeface="Cambria Math" panose="02040503050406030204" pitchFamily="18" charset="0"/>
                            </a:rPr>
                            <m:t>Π</m:t>
                          </m:r>
                        </m:e>
                        <m:sub>
                          <m:r>
                            <a:rPr lang="en-US" sz="1300" b="0" i="1" smtClean="0">
                              <a:latin typeface="Cambria Math" panose="02040503050406030204" pitchFamily="18" charset="0"/>
                            </a:rPr>
                            <m:t>4</m:t>
                          </m:r>
                        </m:sub>
                      </m:sSub>
                      <m:r>
                        <a:rPr lang="en-US" sz="1300" b="0" i="1" smtClean="0">
                          <a:latin typeface="Cambria Math" panose="02040503050406030204" pitchFamily="18" charset="0"/>
                        </a:rPr>
                        <m:t>, </m:t>
                      </m:r>
                      <m:sSup>
                        <m:sSupPr>
                          <m:ctrlPr>
                            <a:rPr lang="en-US" sz="1300" b="0" i="1" smtClean="0">
                              <a:latin typeface="Cambria Math" panose="02040503050406030204" pitchFamily="18" charset="0"/>
                            </a:rPr>
                          </m:ctrlPr>
                        </m:sSupPr>
                        <m:e>
                          <m:r>
                            <a:rPr lang="en-US" sz="1300" b="0" i="1" smtClean="0">
                              <a:latin typeface="Cambria Math" panose="02040503050406030204" pitchFamily="18" charset="0"/>
                            </a:rPr>
                            <m:t>𝒜</m:t>
                          </m:r>
                        </m:e>
                        <m:sup>
                          <m:r>
                            <a:rPr lang="en-US" sz="1300" b="0" i="1" smtClean="0">
                              <a:latin typeface="Cambria Math" panose="02040503050406030204" pitchFamily="18" charset="0"/>
                            </a:rPr>
                            <m:t>∗</m:t>
                          </m:r>
                        </m:sup>
                      </m:sSup>
                      <m:r>
                        <a:rPr lang="en-US" sz="1300" b="0" i="1" smtClean="0">
                          <a:latin typeface="Cambria Math" panose="02040503050406030204" pitchFamily="18" charset="0"/>
                        </a:rPr>
                        <m:t>∈</m:t>
                      </m:r>
                      <m:sSub>
                        <m:sSubPr>
                          <m:ctrlPr>
                            <a:rPr lang="en-US" sz="1300" b="0" i="1" smtClean="0">
                              <a:latin typeface="Cambria Math" panose="02040503050406030204" pitchFamily="18" charset="0"/>
                            </a:rPr>
                          </m:ctrlPr>
                        </m:sSubPr>
                        <m:e>
                          <m:r>
                            <m:rPr>
                              <m:sty m:val="p"/>
                            </m:rPr>
                            <a:rPr lang="en-US" sz="1300" b="0" i="1" smtClean="0">
                              <a:latin typeface="Cambria Math" panose="02040503050406030204" pitchFamily="18" charset="0"/>
                            </a:rPr>
                            <m:t>Π</m:t>
                          </m:r>
                        </m:e>
                        <m:sub>
                          <m:r>
                            <a:rPr lang="en-US" sz="1300" b="0" i="1" smtClean="0">
                              <a:latin typeface="Cambria Math" panose="02040503050406030204" pitchFamily="18" charset="0"/>
                            </a:rPr>
                            <m:t>4</m:t>
                          </m:r>
                        </m:sub>
                      </m:sSub>
                      <m:r>
                        <a:rPr lang="en-US" sz="1300" b="0" i="1" smtClean="0">
                          <a:latin typeface="Cambria Math" panose="02040503050406030204" pitchFamily="18" charset="0"/>
                        </a:rPr>
                        <m:t>, </m:t>
                      </m:r>
                      <m:d>
                        <m:dPr>
                          <m:begChr m:val="["/>
                          <m:endChr m:val="]"/>
                          <m:ctrlPr>
                            <a:rPr lang="en-US" sz="1300" b="0" i="1" smtClean="0">
                              <a:latin typeface="Cambria Math" panose="02040503050406030204" pitchFamily="18" charset="0"/>
                            </a:rPr>
                          </m:ctrlPr>
                        </m:dPr>
                        <m:e>
                          <m:m>
                            <m:mPr>
                              <m:mcs>
                                <m:mc>
                                  <m:mcPr>
                                    <m:count m:val="2"/>
                                    <m:mcJc m:val="center"/>
                                  </m:mcPr>
                                </m:mc>
                              </m:mcs>
                              <m:ctrlPr>
                                <a:rPr lang="en-US" sz="1300" b="0" i="1" smtClean="0">
                                  <a:latin typeface="Cambria Math" panose="02040503050406030204" pitchFamily="18" charset="0"/>
                                </a:rPr>
                              </m:ctrlPr>
                            </m:mPr>
                            <m:mr>
                              <m:e>
                                <m:r>
                                  <a:rPr lang="en-US" sz="1300" b="0" i="1" smtClean="0">
                                    <a:latin typeface="Cambria Math" panose="02040503050406030204" pitchFamily="18" charset="0"/>
                                  </a:rPr>
                                  <m:t>𝒜</m:t>
                                </m:r>
                              </m:e>
                              <m:e>
                                <m:r>
                                  <a:rPr lang="en-US" sz="1300" b="0" i="1" smtClean="0">
                                    <a:latin typeface="Cambria Math" panose="02040503050406030204" pitchFamily="18" charset="0"/>
                                  </a:rPr>
                                  <m:t>ℬ</m:t>
                                </m:r>
                              </m:e>
                            </m:mr>
                          </m:m>
                        </m:e>
                      </m:d>
                      <m:r>
                        <a:rPr lang="en-US" sz="1300" b="0" i="1" smtClean="0">
                          <a:latin typeface="Cambria Math" panose="02040503050406030204" pitchFamily="18" charset="0"/>
                        </a:rPr>
                        <m:t>∈</m:t>
                      </m:r>
                      <m:sSub>
                        <m:sSubPr>
                          <m:ctrlPr>
                            <a:rPr lang="en-US" sz="1300" b="0" i="1" smtClean="0">
                              <a:latin typeface="Cambria Math" panose="02040503050406030204" pitchFamily="18" charset="0"/>
                            </a:rPr>
                          </m:ctrlPr>
                        </m:sSubPr>
                        <m:e>
                          <m:r>
                            <m:rPr>
                              <m:sty m:val="p"/>
                            </m:rPr>
                            <a:rPr lang="en-US" sz="1300" b="0" i="1" smtClean="0">
                              <a:latin typeface="Cambria Math" panose="02040503050406030204" pitchFamily="18" charset="0"/>
                            </a:rPr>
                            <m:t>Π</m:t>
                          </m:r>
                        </m:e>
                        <m:sub>
                          <m:r>
                            <a:rPr lang="en-US" sz="1300" b="0" i="1" smtClean="0">
                              <a:latin typeface="Cambria Math" panose="02040503050406030204" pitchFamily="18" charset="0"/>
                            </a:rPr>
                            <m:t>4</m:t>
                          </m:r>
                        </m:sub>
                      </m:sSub>
                    </m:oMath>
                  </m:oMathPara>
                </a14:m>
                <a:endParaRPr lang="en-US" sz="1300" b="0" dirty="0"/>
              </a:p>
              <a:p>
                <a:pPr algn="ctr">
                  <a:spcAft>
                    <a:spcPts val="0"/>
                  </a:spcAft>
                  <a:defRPr sz="1300" b="0" u="none" cap="none">
                    <a:solidFill>
                      <a:srgbClr val="252529"/>
                    </a:solidFill>
                    <a:latin typeface="Cambria Math"/>
                    <a:ea typeface="Cambria Math"/>
                    <a:cs typeface="Cambria Math"/>
                  </a:defRPr>
                </a:pPr>
                <a:endParaRPr lang="en-NL" sz="1300" dirty="0"/>
              </a:p>
            </p:txBody>
          </p:sp>
        </mc:Choice>
        <mc:Fallback xmlns="">
          <p:sp>
            <p:nvSpPr>
              <p:cNvPr id="22" name="TextBox 21">
                <a:extLst>
                  <a:ext uri="{FF2B5EF4-FFF2-40B4-BE49-F238E27FC236}">
                    <a16:creationId xmlns:a16="http://schemas.microsoft.com/office/drawing/2014/main" id="{34C8FEF0-3513-3273-4C7C-0A2C5EB2DD6A}"/>
                  </a:ext>
                </a:extLst>
              </p:cNvPr>
              <p:cNvSpPr txBox="1">
                <a:spLocks noRot="1" noChangeAspect="1" noMove="1" noResize="1" noEditPoints="1" noAdjustHandles="1" noChangeArrowheads="1" noChangeShapeType="1" noTextEdit="1"/>
              </p:cNvSpPr>
              <p:nvPr/>
            </p:nvSpPr>
            <p:spPr>
              <a:xfrm>
                <a:off x="3606800" y="2971800"/>
                <a:ext cx="5080000" cy="1143000"/>
              </a:xfrm>
              <a:prstGeom prst="rect">
                <a:avLst/>
              </a:prstGeom>
              <a:noFill/>
              <a:ln>
                <a:noFill/>
              </a:ln>
            </p:spPr>
            <p:txBody>
              <a:bodyPr lIns="0" rIns="0" tIns="0" bIns="0" anchor="t" wrap="none">
                <a:noAutofit/>
              </a:bodyPr>
              <a:lstStyle/>
              <a:p>
                <a:pPr algn="ctr">
                  <a:spcAft>
                    <a:spcPts val="0"/>
                  </a:spcAft>
                  <a:defRPr sz="1300" b="0" u="none" cap="none">
                    <a:solidFill>
                      <a:srgbClr val="252529"/>
                    </a:solidFill>
                    <a:latin typeface="Cambria Math"/>
                    <a:ea typeface="Cambria Math"/>
                    <a:cs typeface="Cambria Math"/>
                  </a:defRPr>
                </a:pPr>
                <a:r>
                  <a:rPr lang="en-NL" sz="1300">
                    <a:noFill/>
                  </a:rPr>
                  <a:t> </a:t>
                </a:r>
              </a:p>
            </p:txBody>
          </p:sp>
        </mc:Fallback>
      </mc:AlternateContent>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5917342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Built in boundary conditions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23</a:t>
            </a:fld>
            <a:endParaRPr lang="en-GB" sz="800" b="0" u="none" cap="none" dirty="0">
              <a:solidFill>
                <a:srgbClr val="747B82"/>
              </a:solidFill>
              <a:latin typeface="Aptos"/>
              <a:ea typeface="Aptos"/>
              <a:cs typeface="Aptos"/>
            </a:endParaRPr>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37973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ODE-PDE</a:t>
            </a:r>
            <a:endParaRPr lang="en-NL" sz="2000" b="1" u="none" cap="none" dirty="0">
              <a:solidFill>
                <a:srgbClr val="252529"/>
              </a:solidFill>
              <a:latin typeface="Aptos"/>
              <a:ea typeface="Aptos"/>
              <a:cs typeface="Aptos"/>
            </a:endParaRPr>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1501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PIE</a:t>
            </a:r>
            <a:endParaRPr lang="en-NL" sz="2000" b="1" u="none" cap="none" dirty="0">
              <a:solidFill>
                <a:srgbClr val="252529"/>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8415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31CC601C-00A2-097D-0D27-A19317961092}"/>
                  </a:ext>
                </a:extLst>
              </p:cNvPr>
              <p:cNvSpPr txBox="1"/>
              <p:nvPr/>
            </p:nvSpPr>
            <p:spPr>
              <a:xfrm>
                <a:off x="3606800" y="2667000"/>
                <a:ext cx="5080000" cy="1422400"/>
              </a:xfrm>
              <a:prstGeom prst="rect">
                <a:avLst/>
              </a:prstGeom>
              <a:noFill/>
              <a:ln>
                <a:noFill/>
              </a:ln>
            </p:spPr>
            <p:txBody>
              <a:bodyPr wrap="none" lIns="0" tIns="0" rIns="0" bIns="0" rtlCol="0" anchor="t">
                <a:noAutofit/>
              </a:bodyPr>
              <a:lstStyle/>
              <a:p>
                <a:pPr algn="ctr">
                  <a:spcAft>
                    <a:spcPts val="0"/>
                  </a:spcAft>
                  <a:defRPr sz="1600" b="0" u="none" cap="none">
                    <a:solidFill>
                      <a:srgbClr val="252529"/>
                    </a:solidFill>
                    <a:latin typeface="Cambria Math"/>
                    <a:ea typeface="Cambria Math"/>
                    <a:cs typeface="Cambria Math"/>
                  </a:defRPr>
                </a:pPr>
                <a:r>
                  <a:rPr lang="en-US" sz="1600" b="0" i="1" dirty="0"/>
                  <a:t>Exponential stability  of PDE</a:t>
                </a:r>
              </a:p>
              <a:p>
                <a:pPr algn="ctr">
                  <a:spcAft>
                    <a:spcPts val="0"/>
                  </a:spcAft>
                  <a:defRPr sz="1600" b="0" u="none" cap="none">
                    <a:solidFill>
                      <a:srgbClr val="252529"/>
                    </a:solidFill>
                    <a:latin typeface="Cambria Math"/>
                    <a:ea typeface="Cambria Math"/>
                    <a:cs typeface="Cambria Math"/>
                  </a:defRPr>
                </a:pPr>
                <a14:m>
                  <m:oMathPara xmlns:m="http://schemas.openxmlformats.org/officeDocument/2006/math">
                    <m:oMath>
                      <m:r>
                        <a:rPr lang="en-US" sz="1600" b="0" i="1" smtClean="0">
                          <a:latin typeface="Cambria Math" panose="02040503050406030204" pitchFamily="18" charset="0"/>
                        </a:rPr>
                        <m:t>∃</m:t>
                      </m:r>
                      <m:r>
                        <a:rPr lang="en-US" sz="1600" b="0" i="1" smtClean="0">
                          <a:latin typeface="Cambria Math" panose="02040503050406030204" pitchFamily="18" charset="0"/>
                        </a:rPr>
                        <m:t>𝒫</m:t>
                      </m:r>
                      <m:r>
                        <a:rPr lang="en-US" sz="1600" b="0" i="1" smtClean="0">
                          <a:latin typeface="Cambria Math" panose="02040503050406030204" pitchFamily="18" charset="0"/>
                        </a:rPr>
                        <m:t>≻0, </m:t>
                      </m:r>
                      <m:sSup>
                        <m:sSupPr>
                          <m:ctrlPr>
                            <a:rPr lang="en-US" sz="1600" b="0" i="1" smtClean="0">
                              <a:latin typeface="Cambria Math" panose="02040503050406030204" pitchFamily="18" charset="0"/>
                            </a:rPr>
                          </m:ctrlPr>
                        </m:sSupPr>
                        <m:e>
                          <m:r>
                            <a:rPr lang="en-US" sz="1600" b="0" i="1" smtClean="0">
                              <a:latin typeface="Cambria Math" panose="02040503050406030204" pitchFamily="18" charset="0"/>
                            </a:rPr>
                            <m:t>𝒯</m:t>
                          </m:r>
                        </m:e>
                        <m:sup>
                          <m:r>
                            <a:rPr lang="en-US" sz="1600" b="0" i="1" smtClean="0">
                              <a:latin typeface="Cambria Math" panose="02040503050406030204" pitchFamily="18" charset="0"/>
                            </a:rPr>
                            <m:t>∗</m:t>
                          </m:r>
                        </m:sup>
                      </m:sSup>
                      <m:r>
                        <a:rPr lang="en-US" sz="1600" b="0" i="1" smtClean="0">
                          <a:latin typeface="Cambria Math" panose="02040503050406030204" pitchFamily="18" charset="0"/>
                        </a:rPr>
                        <m:t>𝒫𝒜</m:t>
                      </m:r>
                      <m:r>
                        <a:rPr lang="en-US" sz="1600" b="0" i="1" smtClean="0">
                          <a:latin typeface="Cambria Math" panose="02040503050406030204" pitchFamily="18" charset="0"/>
                        </a:rPr>
                        <m:t>+</m:t>
                      </m:r>
                      <m:sSup>
                        <m:sSupPr>
                          <m:ctrlPr>
                            <a:rPr lang="en-US" sz="1600" b="0" i="1" smtClean="0">
                              <a:latin typeface="Cambria Math" panose="02040503050406030204" pitchFamily="18" charset="0"/>
                            </a:rPr>
                          </m:ctrlPr>
                        </m:sSupPr>
                        <m:e>
                          <m:r>
                            <a:rPr lang="en-US" sz="1600" b="0" i="1" smtClean="0">
                              <a:latin typeface="Cambria Math" panose="02040503050406030204" pitchFamily="18" charset="0"/>
                            </a:rPr>
                            <m:t>𝒜</m:t>
                          </m:r>
                        </m:e>
                        <m:sup>
                          <m:r>
                            <a:rPr lang="en-US" sz="1600" b="0" i="1" smtClean="0">
                              <a:latin typeface="Cambria Math" panose="02040503050406030204" pitchFamily="18" charset="0"/>
                            </a:rPr>
                            <m:t>∗</m:t>
                          </m:r>
                        </m:sup>
                      </m:sSup>
                      <m:r>
                        <a:rPr lang="en-US" sz="1600" b="0" i="1" smtClean="0">
                          <a:latin typeface="Cambria Math" panose="02040503050406030204" pitchFamily="18" charset="0"/>
                        </a:rPr>
                        <m:t>𝒫𝒯</m:t>
                      </m:r>
                      <m:r>
                        <a:rPr lang="en-US" sz="1600" b="0" i="1" smtClean="0">
                          <a:latin typeface="Cambria Math" panose="02040503050406030204" pitchFamily="18" charset="0"/>
                        </a:rPr>
                        <m:t>⪯−</m:t>
                      </m:r>
                      <m:r>
                        <a:rPr lang="en-US" sz="1600" b="0" i="1" smtClean="0">
                          <a:latin typeface="Cambria Math" panose="02040503050406030204" pitchFamily="18" charset="0"/>
                        </a:rPr>
                        <m:t>𝛼</m:t>
                      </m:r>
                      <m:sSup>
                        <m:sSupPr>
                          <m:ctrlPr>
                            <a:rPr lang="en-US" sz="1600" b="0" i="1" smtClean="0">
                              <a:latin typeface="Cambria Math" panose="02040503050406030204" pitchFamily="18" charset="0"/>
                            </a:rPr>
                          </m:ctrlPr>
                        </m:sSupPr>
                        <m:e>
                          <m:r>
                            <a:rPr lang="en-US" sz="1600" b="0" i="1" smtClean="0">
                              <a:latin typeface="Cambria Math" panose="02040503050406030204" pitchFamily="18" charset="0"/>
                            </a:rPr>
                            <m:t>𝒯</m:t>
                          </m:r>
                        </m:e>
                        <m:sup>
                          <m:r>
                            <a:rPr lang="en-US" sz="1600" b="0" i="1" smtClean="0">
                              <a:latin typeface="Cambria Math" panose="02040503050406030204" pitchFamily="18" charset="0"/>
                            </a:rPr>
                            <m:t>∗</m:t>
                          </m:r>
                        </m:sup>
                      </m:sSup>
                      <m:r>
                        <a:rPr lang="en-US" sz="1600" b="0" i="1" smtClean="0">
                          <a:latin typeface="Cambria Math" panose="02040503050406030204" pitchFamily="18" charset="0"/>
                        </a:rPr>
                        <m:t>𝒫𝒯</m:t>
                      </m:r>
                    </m:oMath>
                  </m:oMathPara>
                </a14:m>
                <a:endParaRPr lang="en-US" sz="1600" b="0" i="1" dirty="0">
                  <a:latin typeface="Cambria Math" panose="02040503050406030204" pitchFamily="18" charset="0"/>
                </a:endParaRPr>
              </a:p>
              <a:p>
                <a:pPr algn="ctr">
                  <a:spcAft>
                    <a:spcPts val="0"/>
                  </a:spcAft>
                  <a:defRPr sz="1600" b="0" u="none" cap="none">
                    <a:solidFill>
                      <a:srgbClr val="252529"/>
                    </a:solidFill>
                    <a:latin typeface="Cambria Math"/>
                    <a:ea typeface="Cambria Math"/>
                    <a:cs typeface="Cambria Math"/>
                  </a:defRPr>
                </a:pPr>
                <a14:m>
                  <m:oMathPara xmlns:m="http://schemas.openxmlformats.org/officeDocument/2006/math">
                    <m:oMath>
                      <m:r>
                        <a:rPr lang="en-US" sz="1600" b="0" i="1" smtClean="0">
                          <a:latin typeface="Cambria Math" panose="02040503050406030204" pitchFamily="18" charset="0"/>
                        </a:rPr>
                        <m:t>  </m:t>
                      </m:r>
                    </m:oMath>
                  </m:oMathPara>
                </a14:m>
                <a:endParaRPr lang="en-NL" sz="1600" dirty="0"/>
              </a:p>
            </p:txBody>
          </p:sp>
        </mc:Choice>
        <mc:Fallback xmlns="">
          <p:sp>
            <p:nvSpPr>
              <p:cNvPr id="23" name="TextBox 22">
                <a:extLst>
                  <a:ext uri="{FF2B5EF4-FFF2-40B4-BE49-F238E27FC236}">
                    <a16:creationId xmlns:a16="http://schemas.microsoft.com/office/drawing/2014/main" id="{31CC601C-00A2-097D-0D27-A19317961092}"/>
                  </a:ext>
                </a:extLst>
              </p:cNvPr>
              <p:cNvSpPr txBox="1">
                <a:spLocks noRot="1" noChangeAspect="1" noMove="1" noResize="1" noEditPoints="1" noAdjustHandles="1" noChangeArrowheads="1" noChangeShapeType="1" noTextEdit="1"/>
              </p:cNvSpPr>
              <p:nvPr/>
            </p:nvSpPr>
            <p:spPr>
              <a:xfrm>
                <a:off x="3606800" y="2667000"/>
                <a:ext cx="5080000" cy="1422400"/>
              </a:xfrm>
              <a:prstGeom prst="rect">
                <a:avLst/>
              </a:prstGeom>
              <a:noFill/>
              <a:ln>
                <a:noFill/>
              </a:ln>
            </p:spPr>
            <p:txBody>
              <a:bodyPr lIns="0" rIns="0" tIns="0" bIns="0" anchor="t" wrap="none">
                <a:noAutofit/>
              </a:bodyPr>
              <a:lstStyle/>
              <a:p>
                <a:pPr algn="ctr">
                  <a:spcAft>
                    <a:spcPts val="0"/>
                  </a:spcAft>
                  <a:defRPr sz="1600" b="0" u="none" cap="none">
                    <a:solidFill>
                      <a:srgbClr val="252529"/>
                    </a:solidFill>
                    <a:latin typeface="Cambria Math"/>
                    <a:ea typeface="Cambria Math"/>
                    <a:cs typeface="Cambria Math"/>
                  </a:defRPr>
                </a:pPr>
                <a:r>
                  <a:rPr lang="en-NL" sz="1600">
                    <a:noFill/>
                  </a:rPr>
                  <a:t> </a:t>
                </a:r>
              </a:p>
            </p:txBody>
          </p:sp>
        </mc:Fallback>
      </mc:AlternateContent>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5917342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Built in boundary conditions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Controller synthesis for linear systems…..</a:t>
            </a:r>
            <a:endParaRPr lang="en-NL" sz="1600" b="1" u="none" cap="none" dirty="0">
              <a:solidFill>
                <a:srgbClr val="C81919">
                  <a:alpha val="10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24</a:t>
            </a:fld>
            <a:endParaRPr lang="en-GB" sz="800" b="0" u="none" cap="none" dirty="0">
              <a:solidFill>
                <a:srgbClr val="747B82"/>
              </a:solidFill>
              <a:latin typeface="Aptos"/>
              <a:ea typeface="Aptos"/>
              <a:cs typeface="Aptos"/>
            </a:endParaRPr>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37973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ODE-PDE</a:t>
            </a:r>
            <a:endParaRPr lang="en-NL" sz="2000" b="1" u="none" cap="none" dirty="0">
              <a:solidFill>
                <a:srgbClr val="252529"/>
              </a:solidFill>
              <a:latin typeface="Aptos"/>
              <a:ea typeface="Aptos"/>
              <a:cs typeface="Aptos"/>
            </a:endParaRPr>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1501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PIE</a:t>
            </a:r>
            <a:endParaRPr lang="en-NL" sz="2000" b="1" u="none" cap="none" dirty="0">
              <a:solidFill>
                <a:srgbClr val="252529"/>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8415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
        <p:nvSpPr>
          <p:cNvPr id="6" name="TextBox 5">
            <a:extLst>
              <a:ext uri="{FF2B5EF4-FFF2-40B4-BE49-F238E27FC236}">
                <a16:creationId xmlns:a16="http://schemas.microsoft.com/office/drawing/2014/main" id="{B97EE0E7-879C-FD55-BE25-E673438E10EB}"/>
              </a:ext>
            </a:extLst>
          </p:cNvPr>
          <p:cNvSpPr txBox="1"/>
          <p:nvPr/>
        </p:nvSpPr>
        <p:spPr>
          <a:xfrm>
            <a:off x="5924550" y="3771900"/>
            <a:ext cx="1777859" cy="300082"/>
          </a:xfrm>
          <a:prstGeom prst="rect">
            <a:avLst/>
          </a:prstGeom>
          <a:noFill/>
        </p:spPr>
        <p:txBody>
          <a:bodyPr wrap="none" rtlCol="0">
            <a:spAutoFit/>
          </a:bodyPr>
          <a:lstStyle/>
          <a:p>
            <a:r>
              <a:rPr lang="en-US" dirty="0"/>
              <a:t>Cite </a:t>
            </a:r>
            <a:r>
              <a:rPr lang="en-US" dirty="0" err="1"/>
              <a:t>gpde</a:t>
            </a:r>
            <a:r>
              <a:rPr lang="en-US" dirty="0"/>
              <a:t> application</a:t>
            </a:r>
            <a:endParaRPr lang="en-NL" dirty="0"/>
          </a:p>
        </p:txBody>
      </p:sp>
    </p:spTree>
    <p:extLst>
      <p:ext uri="{BB962C8B-B14F-4D97-AF65-F5344CB8AC3E}">
        <p14:creationId xmlns:p14="http://schemas.microsoft.com/office/powerpoint/2010/main" val="35917342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C95817-C042-A17D-1C34-BE36E34B465E}"/>
              </a:ext>
            </a:extLst>
          </p:cNvPr>
          <p:cNvSpPr>
            <a:spLocks noGrp="1"/>
          </p:cNvSpPr>
          <p:nvPr>
            <p:ph type="title"/>
          </p:nvPr>
        </p:nvSpPr>
        <p:spPr/>
        <p:txBody>
          <a:bodyPr/>
          <a:lstStyle/>
          <a:p>
            <a:r>
              <a:rPr lang="en-US" dirty="0"/>
              <a:t>Robust Stability and Performance</a:t>
            </a:r>
            <a:endParaRPr lang="en-NL" dirty="0"/>
          </a:p>
        </p:txBody>
      </p:sp>
      <p:sp>
        <p:nvSpPr>
          <p:cNvPr id="3" name="Footer Placeholder 2">
            <a:extLst>
              <a:ext uri="{FF2B5EF4-FFF2-40B4-BE49-F238E27FC236}">
                <a16:creationId xmlns:a16="http://schemas.microsoft.com/office/drawing/2014/main" id="{7EFF1BEA-6649-8375-EEE5-9935B7405C4B}"/>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0C45A81B-FED1-F277-D144-172F69BA8D56}"/>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25</a:t>
            </a:fld>
            <a:endParaRPr lang="en-GB"/>
          </a:p>
        </p:txBody>
      </p:sp>
    </p:spTree>
    <p:extLst>
      <p:ext uri="{BB962C8B-B14F-4D97-AF65-F5344CB8AC3E}">
        <p14:creationId xmlns:p14="http://schemas.microsoft.com/office/powerpoint/2010/main" val="255232759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Sector simulation — clean 4K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Zames-Falb integral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Zames-Falb rate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574737-65B2-D0C1-0F73-A7C115D3C2D9}"/>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AED90BED-AACA-2CD0-24EB-B4CC36493971}"/>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Analysis</a:t>
            </a:r>
            <a:endParaRPr sz="2500" dirty="0"/>
          </a:p>
        </p:txBody>
      </p:sp>
      <p:pic xmlns:p="http://schemas.openxmlformats.org/presentationml/2006/main" xmlns:a="http://schemas.openxmlformats.org/drawingml/2006/main" xmlns:r="http://schemas.openxmlformats.org/officeDocument/2006/relationships" xmlns:m="http://schemas.openxmlformats.org/officeDocument/2006/math" xmlns:a14="http://schemas.microsoft.com/office/drawing/2010/main" xmlns:mc="http://schemas.openxmlformats.org/markup-compatibility/2006">
        <p:nvPicPr>
          <p:cNvPr id="2" name="Baked figure with larger labels"/>
          <p:cNvPicPr>
            <a:picLocks noChangeAspect="1"/>
          </p:cNvPicPr>
          <p:nvPr/>
        </p:nvPicPr>
        <p:blipFill>
          <a:blip r:embed="rIdBakedFigure2"/>
          <a:stretch>
            <a:fillRect/>
          </a:stretch>
        </p:blipFill>
        <p:spPr>
          <a:xfrm>
            <a:off x="7243762" y="338138"/>
            <a:ext cx="1757362" cy="557212"/>
          </a:xfrm>
          <a:prstGeom prst="rect">
            <a:avLst/>
          </a:prstGeom>
        </p:spPr>
      </p:pic>
      <p:sp>
        <p:nvSpPr>
          <p:cNvPr id="123" name="Footer">
            <a:extLst>
              <a:ext uri="{FF2B5EF4-FFF2-40B4-BE49-F238E27FC236}">
                <a16:creationId xmlns:a16="http://schemas.microsoft.com/office/drawing/2014/main" id="{DB80C30F-E305-D5EF-C067-256425A8B7DD}"/>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08E24ED1-6FAA-D06B-E4C9-9B9BF7FBAA0B}"/>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29</a:t>
            </a:r>
            <a:endParaRPr sz="800"/>
          </a:p>
        </p:txBody>
      </p:sp>
      <p:pic xmlns:p="http://schemas.openxmlformats.org/presentationml/2006/main" xmlns:a="http://schemas.openxmlformats.org/drawingml/2006/main" xmlns:r="http://schemas.openxmlformats.org/officeDocument/2006/relationships" xmlns:m="http://schemas.openxmlformats.org/officeDocument/2006/math" xmlns:a14="http://schemas.microsoft.com/office/drawing/2010/main" xmlns:mc="http://schemas.openxmlformats.org/markup-compatibility/2006">
        <p:nvPicPr>
          <p:cNvPr id="82" name="Baked figure with larger labels"/>
          <p:cNvPicPr>
            <a:picLocks noChangeAspect="1"/>
          </p:cNvPicPr>
          <p:nvPr/>
        </p:nvPicPr>
        <p:blipFill>
          <a:blip r:embed="rIdBakedFigure82"/>
          <a:stretch>
            <a:fillRect/>
          </a:stretch>
        </p:blipFill>
        <p:spPr>
          <a:xfrm>
            <a:off x="981075" y="1476375"/>
            <a:ext cx="4367212" cy="2733675"/>
          </a:xfrm>
          <a:prstGeom prst="rect">
            <a:avLst/>
          </a:prstGeom>
        </p:spPr>
      </p:pic>
      <mc:AlternateContent xmlns:mc="http://schemas.openxmlformats.org/markup-compatibility/2006" xmlns:a14="http://schemas.microsoft.com/office/drawing/2010/main">
        <mc:Choice Requires="a14">
          <p:sp>
            <p:nvSpPr>
              <p:cNvPr id="84" name="Content Placeholder 2">
                <a:extLst>
                  <a:ext uri="{FF2B5EF4-FFF2-40B4-BE49-F238E27FC236}">
                    <a16:creationId xmlns:a16="http://schemas.microsoft.com/office/drawing/2014/main" id="{384E03A9-D7D1-A2D3-B803-8270DD6E9733}"/>
                  </a:ext>
                </a:extLst>
              </p:cNvPr>
              <p:cNvSpPr txBox="1">
                <a:spLocks/>
              </p:cNvSpPr>
              <p:nvPr/>
            </p:nvSpPr>
            <p:spPr>
              <a:xfrm>
                <a:off x="6033244" y="1228278"/>
                <a:ext cx="2844800" cy="3327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defTabSz="1">
                  <a:lnSpc>
                    <a:spcPct val="113000"/>
                  </a:lnSpc>
                  <a:spcAft>
                    <a:spcPts val="1300"/>
                  </a:spcAft>
                  <a:defRPr sz="1600" b="1" u="none" cap="none">
                    <a:solidFill>
                      <a:srgbClr val="C81919">
                        <a:alpha val="100000"/>
                      </a:srgbClr>
                    </a:solidFill>
                    <a:latin typeface="Aptos"/>
                    <a:ea typeface="Aptos"/>
                    <a:cs typeface="Aptos"/>
                  </a:defRPr>
                </a:pPr>
                <a:r>
                  <a:rPr lang="en-US" sz="1600" b="1" kern="0" dirty="0">
                    <a:solidFill>
                      <a:srgbClr val="C81919">
                        <a:alpha val="100000"/>
                      </a:srgbClr>
                    </a:solidFill>
                  </a:rPr>
                  <a:t>Replace </a:t>
                </a:r>
                <a14:m>
                  <m:oMath xmlns:m="http://schemas.openxmlformats.org/officeDocument/2006/math">
                    <m:r>
                      <a:rPr lang="en-US" sz="1600" b="1" kern="0">
                        <a:solidFill>
                          <a:srgbClr val="C81919">
                            <a:alpha val="100000"/>
                          </a:srgbClr>
                        </a:solidFill>
                        <a:latin typeface="Cambria Math" panose="02040503050406030204" pitchFamily="18" charset="0"/>
                      </a:rPr>
                      <m:t>∆</m:t>
                    </m:r>
                  </m:oMath>
                </a14:m>
                <a:r>
                  <a:rPr lang="en-US" sz="1600" b="1" kern="0" dirty="0">
                    <a:solidFill>
                      <a:srgbClr val="C81919">
                        <a:alpha val="100000"/>
                      </a:srgbClr>
                    </a:solidFill>
                  </a:rPr>
                  <a:t> with some scaling</a:t>
                </a:r>
              </a:p>
              <a:p>
                <a:pPr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kern="0" dirty="0">
                    <a:solidFill>
                      <a:srgbClr val="252529">
                        <a:alpha val="30000"/>
                      </a:srgbClr>
                    </a:solidFill>
                  </a:rPr>
                  <a:t>Cost function </a:t>
                </a:r>
              </a:p>
            </p:txBody>
          </p:sp>
        </mc:Choice>
        <mc:Fallback xmlns="">
          <p:sp>
            <p:nvSpPr>
              <p:cNvPr id="84" name="Content Placeholder 2">
                <a:extLst>
                  <a:ext uri="{FF2B5EF4-FFF2-40B4-BE49-F238E27FC236}">
                    <a16:creationId xmlns:a16="http://schemas.microsoft.com/office/drawing/2014/main" id="{384E03A9-D7D1-A2D3-B803-8270DD6E9733}"/>
                  </a:ext>
                </a:extLst>
              </p:cNvPr>
              <p:cNvSpPr txBox="1">
                <a:spLocks noRot="1" noChangeAspect="1" noMove="1" noResize="1" noEditPoints="1" noAdjustHandles="1" noChangeArrowheads="1" noChangeShapeType="1" noTextEdit="1"/>
              </p:cNvSpPr>
              <p:nvPr/>
            </p:nvSpPr>
            <p:spPr>
              <a:xfrm>
                <a:off x="6033244" y="1228278"/>
                <a:ext cx="2844800" cy="3327400"/>
              </a:xfrm>
              <a:prstGeom prst="rect">
                <a:avLst/>
              </a:prstGeom>
              <a:blipFill>
                <a:blip r:embed="rId12"/>
                <a:stretch>
                  <a:fillRect l="-4506" t="-1282"/>
                </a:stretch>
              </a:blipFill>
              <a:ln>
                <a:noFill/>
              </a:ln>
            </p:spPr>
            <p:txBody>
              <a:bodyPr/>
              <a:lstStyle/>
              <a:p>
                <a:r>
                  <a:rPr lang="en-NL">
                    <a:noFill/>
                  </a:rPr>
                  <a:t> </a:t>
                </a:r>
              </a:p>
            </p:txBody>
          </p:sp>
        </mc:Fallback>
      </mc:AlternateContent>
    </p:spTree>
    <p:extLst>
      <p:ext uri="{BB962C8B-B14F-4D97-AF65-F5344CB8AC3E}">
        <p14:creationId xmlns:p14="http://schemas.microsoft.com/office/powerpoint/2010/main" val="304796292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55EFCC-216A-F551-914D-EEB01FE07E22}"/>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A8C604FF-D295-EC05-092E-DFF425D9F46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Analysis</a:t>
            </a:r>
            <a:endParaRPr sz="2500" dirty="0"/>
          </a:p>
        </p:txBody>
      </p:sp>
      <p:pic xmlns:p="http://schemas.openxmlformats.org/presentationml/2006/main" xmlns:a="http://schemas.openxmlformats.org/drawingml/2006/main" xmlns:r="http://schemas.openxmlformats.org/officeDocument/2006/relationships" xmlns:m="http://schemas.openxmlformats.org/officeDocument/2006/math" xmlns:a14="http://schemas.microsoft.com/office/drawing/2010/main" xmlns:mc="http://schemas.openxmlformats.org/markup-compatibility/2006">
        <p:nvPicPr>
          <p:cNvPr id="2" name="Baked figure with larger labels"/>
          <p:cNvPicPr>
            <a:picLocks noChangeAspect="1"/>
          </p:cNvPicPr>
          <p:nvPr/>
        </p:nvPicPr>
        <p:blipFill>
          <a:blip r:embed="rIdBakedFigure2"/>
          <a:stretch>
            <a:fillRect/>
          </a:stretch>
        </p:blipFill>
        <p:spPr>
          <a:xfrm>
            <a:off x="7243762" y="338138"/>
            <a:ext cx="1757362" cy="557212"/>
          </a:xfrm>
          <a:prstGeom prst="rect">
            <a:avLst/>
          </a:prstGeom>
        </p:spPr>
      </p:pic>
      <p:sp>
        <p:nvSpPr>
          <p:cNvPr id="123" name="Footer">
            <a:extLst>
              <a:ext uri="{FF2B5EF4-FFF2-40B4-BE49-F238E27FC236}">
                <a16:creationId xmlns:a16="http://schemas.microsoft.com/office/drawing/2014/main" id="{46C8623E-005A-5976-D6BC-767945934EC7}"/>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7D735713-A32D-F219-C38E-8046F1F41C2A}"/>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29</a:t>
            </a:r>
            <a:endParaRPr sz="800"/>
          </a:p>
        </p:txBody>
      </p:sp>
      <p:pic xmlns:p="http://schemas.openxmlformats.org/presentationml/2006/main" xmlns:a="http://schemas.openxmlformats.org/drawingml/2006/main" xmlns:r="http://schemas.openxmlformats.org/officeDocument/2006/relationships" xmlns:m="http://schemas.openxmlformats.org/officeDocument/2006/math" xmlns:a14="http://schemas.microsoft.com/office/drawing/2010/main" xmlns:mc="http://schemas.openxmlformats.org/markup-compatibility/2006">
        <p:nvPicPr>
          <p:cNvPr id="82" name="Baked figure with larger labels"/>
          <p:cNvPicPr>
            <a:picLocks noChangeAspect="1"/>
          </p:cNvPicPr>
          <p:nvPr/>
        </p:nvPicPr>
        <p:blipFill>
          <a:blip r:embed="rIdBakedFigure82"/>
          <a:stretch>
            <a:fillRect/>
          </a:stretch>
        </p:blipFill>
        <p:spPr>
          <a:xfrm>
            <a:off x="981075" y="1476375"/>
            <a:ext cx="4367212" cy="2671762"/>
          </a:xfrm>
          <a:prstGeom prst="rect">
            <a:avLst/>
          </a:prstGeom>
        </p:spPr>
      </p:pic>
      <mc:AlternateContent xmlns:mc="http://schemas.openxmlformats.org/markup-compatibility/2006" xmlns:a14="http://schemas.microsoft.com/office/drawing/2010/main">
        <mc:Choice Requires="a14">
          <p:sp>
            <p:nvSpPr>
              <p:cNvPr id="84" name="Content Placeholder 2">
                <a:extLst>
                  <a:ext uri="{FF2B5EF4-FFF2-40B4-BE49-F238E27FC236}">
                    <a16:creationId xmlns:a16="http://schemas.microsoft.com/office/drawing/2014/main" id="{0C5C6FF1-057B-10E0-A370-B8AEF0188366}"/>
                  </a:ext>
                </a:extLst>
              </p:cNvPr>
              <p:cNvSpPr txBox="1">
                <a:spLocks/>
              </p:cNvSpPr>
              <p:nvPr/>
            </p:nvSpPr>
            <p:spPr>
              <a:xfrm>
                <a:off x="6033244" y="1234628"/>
                <a:ext cx="2844800" cy="3327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defTabSz="1">
                  <a:lnSpc>
                    <a:spcPct val="113000"/>
                  </a:lnSpc>
                  <a:spcAft>
                    <a:spcPts val="1300"/>
                  </a:spcAft>
                  <a:defRPr sz="1600" b="1" u="none" cap="none">
                    <a:solidFill>
                      <a:srgbClr val="C81919">
                        <a:alpha val="100000"/>
                      </a:srgbClr>
                    </a:solidFill>
                    <a:latin typeface="Aptos"/>
                    <a:ea typeface="Aptos"/>
                    <a:cs typeface="Aptos"/>
                  </a:defRPr>
                </a:pPr>
                <a:r>
                  <a:rPr lang="en-US" sz="1600" kern="0" dirty="0">
                    <a:solidFill>
                      <a:srgbClr val="252529">
                        <a:alpha val="30000"/>
                      </a:srgbClr>
                    </a:solidFill>
                  </a:rPr>
                  <a:t>Replace </a:t>
                </a:r>
                <a14:m>
                  <m:oMath xmlns:m="http://schemas.openxmlformats.org/officeDocument/2006/math">
                    <m:r>
                      <a:rPr lang="en-US" sz="1600" kern="0">
                        <a:solidFill>
                          <a:srgbClr val="252529">
                            <a:alpha val="30000"/>
                          </a:srgbClr>
                        </a:solidFill>
                        <a:latin typeface="Cambria Math" panose="02040503050406030204" pitchFamily="18" charset="0"/>
                      </a:rPr>
                      <m:t>∆</m:t>
                    </m:r>
                  </m:oMath>
                </a14:m>
                <a:r>
                  <a:rPr lang="en-US" sz="1600" kern="0" dirty="0">
                    <a:solidFill>
                      <a:srgbClr val="252529">
                        <a:alpha val="30000"/>
                      </a:srgbClr>
                    </a:solidFill>
                  </a:rPr>
                  <a:t> with some scaling</a:t>
                </a:r>
              </a:p>
              <a:p>
                <a:pPr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1" kern="0" dirty="0">
                    <a:solidFill>
                      <a:srgbClr val="C81919">
                        <a:alpha val="100000"/>
                      </a:srgbClr>
                    </a:solidFill>
                  </a:rPr>
                  <a:t>Cost</a:t>
                </a:r>
                <a:r>
                  <a:rPr lang="en-US" sz="1600" kern="0" dirty="0">
                    <a:solidFill>
                      <a:srgbClr val="252529">
                        <a:alpha val="30000"/>
                      </a:srgbClr>
                    </a:solidFill>
                  </a:rPr>
                  <a:t> </a:t>
                </a:r>
                <a:r>
                  <a:rPr lang="en-US" sz="1600" b="1" kern="0" dirty="0">
                    <a:solidFill>
                      <a:srgbClr val="C81919">
                        <a:alpha val="100000"/>
                      </a:srgbClr>
                    </a:solidFill>
                  </a:rPr>
                  <a:t>function </a:t>
                </a:r>
              </a:p>
            </p:txBody>
          </p:sp>
        </mc:Choice>
        <mc:Fallback xmlns="">
          <p:sp>
            <p:nvSpPr>
              <p:cNvPr id="84" name="Content Placeholder 2">
                <a:extLst>
                  <a:ext uri="{FF2B5EF4-FFF2-40B4-BE49-F238E27FC236}">
                    <a16:creationId xmlns:a16="http://schemas.microsoft.com/office/drawing/2014/main" id="{0C5C6FF1-057B-10E0-A370-B8AEF0188366}"/>
                  </a:ext>
                </a:extLst>
              </p:cNvPr>
              <p:cNvSpPr txBox="1">
                <a:spLocks noRot="1" noChangeAspect="1" noMove="1" noResize="1" noEditPoints="1" noAdjustHandles="1" noChangeArrowheads="1" noChangeShapeType="1" noTextEdit="1"/>
              </p:cNvSpPr>
              <p:nvPr/>
            </p:nvSpPr>
            <p:spPr>
              <a:xfrm>
                <a:off x="6033244" y="1234628"/>
                <a:ext cx="2844800" cy="3327400"/>
              </a:xfrm>
              <a:prstGeom prst="rect">
                <a:avLst/>
              </a:prstGeom>
              <a:blipFill>
                <a:blip r:embed="rId12"/>
                <a:stretch>
                  <a:fillRect l="-4506" t="-1468"/>
                </a:stretch>
              </a:blipFill>
              <a:ln>
                <a:noFill/>
              </a:ln>
            </p:spPr>
            <p:txBody>
              <a:bodyPr/>
              <a:lstStyle/>
              <a:p>
                <a:r>
                  <a:rPr lang="en-NL">
                    <a:noFill/>
                  </a:rPr>
                  <a:t> </a:t>
                </a:r>
              </a:p>
            </p:txBody>
          </p:sp>
        </mc:Fallback>
      </mc:AlternateContent>
      <p:sp>
        <p:nvSpPr>
          <p:cNvPr id="3" name="TextBox 2">
            <a:extLst>
              <a:ext uri="{FF2B5EF4-FFF2-40B4-BE49-F238E27FC236}">
                <a16:creationId xmlns:a16="http://schemas.microsoft.com/office/drawing/2014/main" id="{9A8C96EE-6183-5F37-6592-76CD290D604D}"/>
              </a:ext>
            </a:extLst>
          </p:cNvPr>
          <p:cNvSpPr txBox="1"/>
          <p:nvPr/>
        </p:nvSpPr>
        <p:spPr>
          <a:xfrm>
            <a:off x="5485375" y="3767866"/>
            <a:ext cx="2986972" cy="461665"/>
          </a:xfrm>
          <a:prstGeom prst="rect">
            <a:avLst/>
          </a:prstGeom>
          <a:noFill/>
        </p:spPr>
        <p:txBody>
          <a:bodyPr wrap="none" rtlCol="0">
            <a:spAutoFit/>
          </a:bodyPr>
          <a:lstStyle/>
          <a:p>
            <a:r>
              <a:rPr lang="en-US" sz="2400" b="1" dirty="0">
                <a:solidFill>
                  <a:srgbClr val="C81919"/>
                </a:solidFill>
              </a:rPr>
              <a:t>Convex for analysis!</a:t>
            </a:r>
            <a:endParaRPr lang="en-NL" sz="2400" b="1" dirty="0">
              <a:solidFill>
                <a:srgbClr val="C81919"/>
              </a:solidFill>
            </a:endParaRPr>
          </a:p>
        </p:txBody>
      </p:sp>
    </p:spTree>
    <p:extLst>
      <p:ext uri="{BB962C8B-B14F-4D97-AF65-F5344CB8AC3E}">
        <p14:creationId xmlns:p14="http://schemas.microsoft.com/office/powerpoint/2010/main" val="20521524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C4AEBE-45A9-2C48-5D25-D16230E72E92}"/>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049FCCAC-ACA8-E27C-5FD0-667DA1D29E77}"/>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Analysis</a:t>
            </a:r>
            <a:endParaRPr sz="2500" dirty="0"/>
          </a:p>
        </p:txBody>
      </p:sp>
      <p:pic xmlns:p="http://schemas.openxmlformats.org/presentationml/2006/main" xmlns:a="http://schemas.openxmlformats.org/drawingml/2006/main" xmlns:r="http://schemas.openxmlformats.org/officeDocument/2006/relationships" xmlns:m="http://schemas.openxmlformats.org/officeDocument/2006/math" xmlns:a14="http://schemas.microsoft.com/office/drawing/2010/main" xmlns:mc="http://schemas.openxmlformats.org/markup-compatibility/2006">
        <p:nvPicPr>
          <p:cNvPr id="2" name="Baked figure with larger labels"/>
          <p:cNvPicPr>
            <a:picLocks noChangeAspect="1"/>
          </p:cNvPicPr>
          <p:nvPr/>
        </p:nvPicPr>
        <p:blipFill>
          <a:blip r:embed="rIdBakedFigure2"/>
          <a:stretch>
            <a:fillRect/>
          </a:stretch>
        </p:blipFill>
        <p:spPr>
          <a:xfrm>
            <a:off x="7243762" y="338138"/>
            <a:ext cx="1757362" cy="557212"/>
          </a:xfrm>
          <a:prstGeom prst="rect">
            <a:avLst/>
          </a:prstGeom>
        </p:spPr>
      </p:pic>
      <p:sp>
        <p:nvSpPr>
          <p:cNvPr id="123" name="Footer">
            <a:extLst>
              <a:ext uri="{FF2B5EF4-FFF2-40B4-BE49-F238E27FC236}">
                <a16:creationId xmlns:a16="http://schemas.microsoft.com/office/drawing/2014/main" id="{94B40FA2-2F9E-1B31-01FD-105C911E6C15}"/>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BF704601-CFFA-B1B3-F531-E62A648095E4}"/>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29</a:t>
            </a:r>
            <a:endParaRPr sz="800"/>
          </a:p>
        </p:txBody>
      </p:sp>
      <p:pic xmlns:p="http://schemas.openxmlformats.org/presentationml/2006/main" xmlns:a="http://schemas.openxmlformats.org/drawingml/2006/main" xmlns:r="http://schemas.openxmlformats.org/officeDocument/2006/relationships" xmlns:m="http://schemas.openxmlformats.org/officeDocument/2006/math" xmlns:a14="http://schemas.microsoft.com/office/drawing/2010/main" xmlns:mc="http://schemas.openxmlformats.org/markup-compatibility/2006">
        <p:nvPicPr>
          <p:cNvPr id="82" name="Baked figure with larger labels"/>
          <p:cNvPicPr>
            <a:picLocks noChangeAspect="1"/>
          </p:cNvPicPr>
          <p:nvPr/>
        </p:nvPicPr>
        <p:blipFill>
          <a:blip r:embed="rIdBakedFigure82"/>
          <a:stretch>
            <a:fillRect/>
          </a:stretch>
        </p:blipFill>
        <p:spPr>
          <a:xfrm>
            <a:off x="981075" y="1476375"/>
            <a:ext cx="4367212" cy="2686050"/>
          </a:xfrm>
          <a:prstGeom prst="rect">
            <a:avLst/>
          </a:prstGeom>
        </p:spPr>
      </p:pic>
      <mc:AlternateContent xmlns:mc="http://schemas.openxmlformats.org/markup-compatibility/2006" xmlns:a14="http://schemas.microsoft.com/office/drawing/2010/main">
        <mc:Choice Requires="a14">
          <p:sp>
            <p:nvSpPr>
              <p:cNvPr id="84" name="Content Placeholder 2">
                <a:extLst>
                  <a:ext uri="{FF2B5EF4-FFF2-40B4-BE49-F238E27FC236}">
                    <a16:creationId xmlns:a16="http://schemas.microsoft.com/office/drawing/2014/main" id="{F4AB1EAF-B92A-E7B7-F3B7-B4A1D4288153}"/>
                  </a:ext>
                </a:extLst>
              </p:cNvPr>
              <p:cNvSpPr txBox="1">
                <a:spLocks/>
              </p:cNvSpPr>
              <p:nvPr/>
            </p:nvSpPr>
            <p:spPr>
              <a:xfrm>
                <a:off x="6033244" y="1234628"/>
                <a:ext cx="2844800" cy="3327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defTabSz="1">
                  <a:lnSpc>
                    <a:spcPct val="113000"/>
                  </a:lnSpc>
                  <a:spcAft>
                    <a:spcPts val="1300"/>
                  </a:spcAft>
                  <a:defRPr sz="1600" b="1" u="none" cap="none">
                    <a:solidFill>
                      <a:srgbClr val="C81919">
                        <a:alpha val="100000"/>
                      </a:srgbClr>
                    </a:solidFill>
                    <a:latin typeface="Aptos"/>
                    <a:ea typeface="Aptos"/>
                    <a:cs typeface="Aptos"/>
                  </a:defRPr>
                </a:pPr>
                <a:r>
                  <a:rPr lang="en-US" sz="1600" kern="0" dirty="0">
                    <a:solidFill>
                      <a:srgbClr val="252529">
                        <a:alpha val="30000"/>
                      </a:srgbClr>
                    </a:solidFill>
                  </a:rPr>
                  <a:t>Replace </a:t>
                </a:r>
                <a14:m>
                  <m:oMath xmlns:m="http://schemas.openxmlformats.org/officeDocument/2006/math">
                    <m:r>
                      <a:rPr lang="en-US" sz="1600" kern="0">
                        <a:solidFill>
                          <a:srgbClr val="252529">
                            <a:alpha val="30000"/>
                          </a:srgbClr>
                        </a:solidFill>
                        <a:latin typeface="Cambria Math" panose="02040503050406030204" pitchFamily="18" charset="0"/>
                      </a:rPr>
                      <m:t>∆</m:t>
                    </m:r>
                  </m:oMath>
                </a14:m>
                <a:r>
                  <a:rPr lang="en-US" sz="1600" kern="0" dirty="0">
                    <a:solidFill>
                      <a:srgbClr val="252529">
                        <a:alpha val="30000"/>
                      </a:srgbClr>
                    </a:solidFill>
                  </a:rPr>
                  <a:t> with some scaling</a:t>
                </a:r>
              </a:p>
              <a:p>
                <a:pPr defTabSz="1">
                  <a:lnSpc>
                    <a:spcPct val="113000"/>
                  </a:lnSpc>
                  <a:spcAft>
                    <a:spcPts val="1300"/>
                  </a:spcAft>
                  <a:defRPr sz="1600" b="1" u="none" cap="none">
                    <a:solidFill>
                      <a:srgbClr val="C81919">
                        <a:alpha val="100000"/>
                      </a:srgbClr>
                    </a:solidFill>
                    <a:latin typeface="Aptos"/>
                    <a:ea typeface="Aptos"/>
                    <a:cs typeface="Aptos"/>
                  </a:defRPr>
                </a:pPr>
                <a:r>
                  <a:rPr lang="en-US" sz="1600" b="1" kern="0" dirty="0">
                    <a:solidFill>
                      <a:srgbClr val="252529">
                        <a:alpha val="30000"/>
                      </a:srgbClr>
                    </a:solidFill>
                  </a:rPr>
                  <a:t>Cost function </a:t>
                </a:r>
              </a:p>
            </p:txBody>
          </p:sp>
        </mc:Choice>
        <mc:Fallback xmlns="">
          <p:sp>
            <p:nvSpPr>
              <p:cNvPr id="84" name="Content Placeholder 2">
                <a:extLst>
                  <a:ext uri="{FF2B5EF4-FFF2-40B4-BE49-F238E27FC236}">
                    <a16:creationId xmlns:a16="http://schemas.microsoft.com/office/drawing/2014/main" id="{F4AB1EAF-B92A-E7B7-F3B7-B4A1D4288153}"/>
                  </a:ext>
                </a:extLst>
              </p:cNvPr>
              <p:cNvSpPr txBox="1">
                <a:spLocks noRot="1" noChangeAspect="1" noMove="1" noResize="1" noEditPoints="1" noAdjustHandles="1" noChangeArrowheads="1" noChangeShapeType="1" noTextEdit="1"/>
              </p:cNvSpPr>
              <p:nvPr/>
            </p:nvSpPr>
            <p:spPr>
              <a:xfrm>
                <a:off x="6033244" y="1234628"/>
                <a:ext cx="2844800" cy="3327400"/>
              </a:xfrm>
              <a:prstGeom prst="rect">
                <a:avLst/>
              </a:prstGeom>
              <a:blipFill>
                <a:blip r:embed="rId12"/>
                <a:stretch>
                  <a:fillRect l="-4506" t="-1468"/>
                </a:stretch>
              </a:blipFill>
              <a:ln>
                <a:noFill/>
              </a:ln>
            </p:spPr>
            <p:txBody>
              <a:bodyPr/>
              <a:lstStyle/>
              <a:p>
                <a:r>
                  <a:rPr lang="en-NL">
                    <a:noFill/>
                  </a:rPr>
                  <a:t> </a:t>
                </a:r>
              </a:p>
            </p:txBody>
          </p:sp>
        </mc:Fallback>
      </mc:AlternateContent>
      <p:sp>
        <p:nvSpPr>
          <p:cNvPr id="3" name="TextBox 2">
            <a:extLst>
              <a:ext uri="{FF2B5EF4-FFF2-40B4-BE49-F238E27FC236}">
                <a16:creationId xmlns:a16="http://schemas.microsoft.com/office/drawing/2014/main" id="{0EE621E9-F222-FC3C-6ED8-C5455D3C718E}"/>
              </a:ext>
            </a:extLst>
          </p:cNvPr>
          <p:cNvSpPr txBox="1"/>
          <p:nvPr/>
        </p:nvSpPr>
        <p:spPr>
          <a:xfrm>
            <a:off x="1613149" y="874339"/>
            <a:ext cx="2672591" cy="300082"/>
          </a:xfrm>
          <a:prstGeom prst="rect">
            <a:avLst/>
          </a:prstGeom>
          <a:noFill/>
        </p:spPr>
        <p:txBody>
          <a:bodyPr wrap="none" rtlCol="0">
            <a:spAutoFit/>
          </a:bodyPr>
          <a:lstStyle/>
          <a:p>
            <a:r>
              <a:rPr lang="en-US" b="1" dirty="0">
                <a:solidFill>
                  <a:srgbClr val="C81919"/>
                </a:solidFill>
              </a:rPr>
              <a:t>Final representation the system</a:t>
            </a:r>
            <a:endParaRPr lang="en-NL" b="1" dirty="0">
              <a:solidFill>
                <a:srgbClr val="C81919"/>
              </a:solidFill>
            </a:endParaRPr>
          </a:p>
        </p:txBody>
      </p:sp>
      <p:sp>
        <p:nvSpPr>
          <p:cNvPr id="4" name="Rectangle 3">
            <a:extLst>
              <a:ext uri="{FF2B5EF4-FFF2-40B4-BE49-F238E27FC236}">
                <a16:creationId xmlns:a16="http://schemas.microsoft.com/office/drawing/2014/main" id="{75D3E531-7E9E-4032-6584-C3A37ADC2513}"/>
              </a:ext>
            </a:extLst>
          </p:cNvPr>
          <p:cNvSpPr/>
          <p:nvPr/>
        </p:nvSpPr>
        <p:spPr>
          <a:xfrm>
            <a:off x="916604" y="1188335"/>
            <a:ext cx="4684867" cy="3244850"/>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6" name="Rectangle 5">
            <a:extLst>
              <a:ext uri="{FF2B5EF4-FFF2-40B4-BE49-F238E27FC236}">
                <a16:creationId xmlns:a16="http://schemas.microsoft.com/office/drawing/2014/main" id="{ADA20E65-E7BB-E762-5690-1750A74B8098}"/>
              </a:ext>
            </a:extLst>
          </p:cNvPr>
          <p:cNvSpPr/>
          <p:nvPr/>
        </p:nvSpPr>
        <p:spPr>
          <a:xfrm>
            <a:off x="7010400" y="28403"/>
            <a:ext cx="2107074" cy="1030143"/>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11" name="Freeform: Shape 10">
            <a:extLst>
              <a:ext uri="{FF2B5EF4-FFF2-40B4-BE49-F238E27FC236}">
                <a16:creationId xmlns:a16="http://schemas.microsoft.com/office/drawing/2014/main" id="{EE000B0E-2B02-BB63-CE4F-BDF1422844DD}"/>
              </a:ext>
            </a:extLst>
          </p:cNvPr>
          <p:cNvSpPr/>
          <p:nvPr/>
        </p:nvSpPr>
        <p:spPr>
          <a:xfrm>
            <a:off x="4705350" y="279723"/>
            <a:ext cx="1974850" cy="717227"/>
          </a:xfrm>
          <a:custGeom>
            <a:avLst/>
            <a:gdLst>
              <a:gd name="csX0" fmla="*/ 0 w 1974850"/>
              <a:gd name="csY0" fmla="*/ 717227 h 717227"/>
              <a:gd name="csX1" fmla="*/ 742950 w 1974850"/>
              <a:gd name="csY1" fmla="*/ 75877 h 717227"/>
              <a:gd name="csX2" fmla="*/ 1974850 w 1974850"/>
              <a:gd name="csY2" fmla="*/ 12377 h 717227"/>
              <a:gd name="csX3" fmla="*/ 1974850 w 1974850"/>
              <a:gd name="csY3" fmla="*/ 12377 h 717227"/>
            </a:gdLst>
            <a:ahLst/>
            <a:cxnLst>
              <a:cxn ang="0">
                <a:pos x="csX0" y="csY0"/>
              </a:cxn>
              <a:cxn ang="0">
                <a:pos x="csX1" y="csY1"/>
              </a:cxn>
              <a:cxn ang="0">
                <a:pos x="csX2" y="csY2"/>
              </a:cxn>
              <a:cxn ang="0">
                <a:pos x="csX3" y="csY3"/>
              </a:cxn>
            </a:cxnLst>
            <a:rect l="l" t="t" r="r" b="b"/>
            <a:pathLst>
              <a:path w="1974850" h="717227">
                <a:moveTo>
                  <a:pt x="0" y="717227"/>
                </a:moveTo>
                <a:cubicBezTo>
                  <a:pt x="206904" y="455289"/>
                  <a:pt x="413808" y="193352"/>
                  <a:pt x="742950" y="75877"/>
                </a:cubicBezTo>
                <a:cubicBezTo>
                  <a:pt x="1072092" y="-41598"/>
                  <a:pt x="1974850" y="12377"/>
                  <a:pt x="1974850" y="12377"/>
                </a:cubicBezTo>
                <a:lnTo>
                  <a:pt x="1974850" y="12377"/>
                </a:lnTo>
              </a:path>
            </a:pathLst>
          </a:custGeom>
          <a:ln w="38100" cap="flat" cmpd="sng" algn="ctr">
            <a:solidFill>
              <a:schemeClr val="dk1"/>
            </a:solidFill>
            <a:prstDash val="solid"/>
            <a:round/>
            <a:headEnd type="arrow"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en-NL">
              <a:ln w="38100">
                <a:solidFill>
                  <a:schemeClr val="tx1"/>
                </a:solidFill>
              </a:ln>
            </a:endParaRPr>
          </a:p>
        </p:txBody>
      </p:sp>
    </p:spTree>
    <p:extLst>
      <p:ext uri="{BB962C8B-B14F-4D97-AF65-F5344CB8AC3E}">
        <p14:creationId xmlns:p14="http://schemas.microsoft.com/office/powerpoint/2010/main" val="419182600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581DD7-87E1-6C86-25E8-6E632B53FE43}"/>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B23C3524-601B-B047-4384-C182393E7BB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Let’s analyse!</a:t>
            </a:r>
            <a:endParaRPr sz="2500" dirty="0"/>
          </a:p>
        </p:txBody>
      </p:sp>
      <p:pic xmlns:p="http://schemas.openxmlformats.org/presentationml/2006/main" xmlns:a="http://schemas.openxmlformats.org/drawingml/2006/main" xmlns:r="http://schemas.openxmlformats.org/officeDocument/2006/relationships" xmlns:m="http://schemas.openxmlformats.org/officeDocument/2006/math" xmlns:a14="http://schemas.microsoft.com/office/drawing/2010/main" xmlns:mc="http://schemas.openxmlformats.org/markup-compatibility/2006">
        <p:nvPicPr>
          <p:cNvPr id="2" name="Baked figure with larger labels"/>
          <p:cNvPicPr>
            <a:picLocks noChangeAspect="1"/>
          </p:cNvPicPr>
          <p:nvPr/>
        </p:nvPicPr>
        <p:blipFill>
          <a:blip r:embed="rIdBakedFigure2"/>
          <a:stretch>
            <a:fillRect/>
          </a:stretch>
        </p:blipFill>
        <p:spPr>
          <a:xfrm>
            <a:off x="7243762" y="338138"/>
            <a:ext cx="1757362" cy="557212"/>
          </a:xfrm>
          <a:prstGeom prst="rect">
            <a:avLst/>
          </a:prstGeom>
        </p:spPr>
      </p:pic>
      <p:sp>
        <p:nvSpPr>
          <p:cNvPr id="123" name="Footer">
            <a:extLst>
              <a:ext uri="{FF2B5EF4-FFF2-40B4-BE49-F238E27FC236}">
                <a16:creationId xmlns:a16="http://schemas.microsoft.com/office/drawing/2014/main" id="{FBC83CBB-31E6-23F3-3510-466978FE642B}"/>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A7689E06-9C0D-AE2D-4EB3-6F0658749818}"/>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29</a:t>
            </a:r>
            <a:endParaRPr sz="800"/>
          </a:p>
        </p:txBody>
      </p:sp>
      <p:pic xmlns:p="http://schemas.openxmlformats.org/presentationml/2006/main" xmlns:a="http://schemas.openxmlformats.org/drawingml/2006/main" xmlns:r="http://schemas.openxmlformats.org/officeDocument/2006/relationships" xmlns:m="http://schemas.openxmlformats.org/officeDocument/2006/math" xmlns:a14="http://schemas.microsoft.com/office/drawing/2010/main" xmlns:mc="http://schemas.openxmlformats.org/markup-compatibility/2006">
        <p:nvPicPr>
          <p:cNvPr id="82" name="Baked figure with larger labels"/>
          <p:cNvPicPr>
            <a:picLocks noChangeAspect="1"/>
          </p:cNvPicPr>
          <p:nvPr/>
        </p:nvPicPr>
        <p:blipFill>
          <a:blip r:embed="rIdBakedFigure82"/>
          <a:stretch>
            <a:fillRect/>
          </a:stretch>
        </p:blipFill>
        <p:spPr>
          <a:xfrm>
            <a:off x="7038975" y="1176338"/>
            <a:ext cx="1966912" cy="1233488"/>
          </a:xfrm>
          <a:prstGeom prst="rect">
            <a:avLst/>
          </a:prstGeom>
        </p:spPr>
      </p:pic>
    </p:spTree>
    <p:extLst>
      <p:ext uri="{BB962C8B-B14F-4D97-AF65-F5344CB8AC3E}">
        <p14:creationId xmlns:p14="http://schemas.microsoft.com/office/powerpoint/2010/main" val="214741512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9AD940-9DFA-66D7-F3ED-0C60B335485B}"/>
              </a:ext>
            </a:extLst>
          </p:cNvPr>
          <p:cNvSpPr>
            <a:spLocks noGrp="1"/>
          </p:cNvSpPr>
          <p:nvPr>
            <p:ph type="title"/>
          </p:nvPr>
        </p:nvSpPr>
        <p:spPr/>
        <p:txBody>
          <a:bodyPr/>
          <a:lstStyle/>
          <a:p>
            <a:r>
              <a:rPr lang="en-US" dirty="0"/>
              <a:t>Future work</a:t>
            </a:r>
            <a:endParaRPr lang="en-NL" dirty="0"/>
          </a:p>
        </p:txBody>
      </p:sp>
      <p:sp>
        <p:nvSpPr>
          <p:cNvPr id="3" name="Footer Placeholder 2">
            <a:extLst>
              <a:ext uri="{FF2B5EF4-FFF2-40B4-BE49-F238E27FC236}">
                <a16:creationId xmlns:a16="http://schemas.microsoft.com/office/drawing/2014/main" id="{B3AE4E0D-C490-8AC3-B4E9-CE19E9D9B5B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09F25EB0-0C68-3EFC-1A2B-B2B9BCEA535F}"/>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33</a:t>
            </a:fld>
            <a:endParaRPr lang="en-GB"/>
          </a:p>
        </p:txBody>
      </p:sp>
      <p:sp>
        <p:nvSpPr>
          <p:cNvPr id="7" name="TextBox 6">
            <a:extLst>
              <a:ext uri="{FF2B5EF4-FFF2-40B4-BE49-F238E27FC236}">
                <a16:creationId xmlns:a16="http://schemas.microsoft.com/office/drawing/2014/main" id="{1B1D395A-CC86-F7E1-79C1-17C082683EBB}"/>
              </a:ext>
            </a:extLst>
          </p:cNvPr>
          <p:cNvSpPr txBox="1"/>
          <p:nvPr/>
        </p:nvSpPr>
        <p:spPr>
          <a:xfrm>
            <a:off x="457200" y="889000"/>
            <a:ext cx="8312150" cy="715581"/>
          </a:xfrm>
          <a:prstGeom prst="rect">
            <a:avLst/>
          </a:prstGeom>
          <a:noFill/>
        </p:spPr>
        <p:txBody>
          <a:bodyPr wrap="square" rtlCol="0">
            <a:spAutoFit/>
          </a:bodyPr>
          <a:lstStyle/>
          <a:p>
            <a:pPr marL="285750" indent="-285750">
              <a:buFont typeface="Arial" panose="020B0604020202020204" pitchFamily="34" charset="0"/>
              <a:buChar char="•"/>
            </a:pPr>
            <a:r>
              <a:rPr lang="en-US" dirty="0"/>
              <a:t>Extending the multiplier and uncertainty class</a:t>
            </a:r>
          </a:p>
          <a:p>
            <a:pPr marL="628650" lvl="1" indent="-285750">
              <a:buFont typeface="Arial" panose="020B0604020202020204" pitchFamily="34" charset="0"/>
              <a:buChar char="•"/>
            </a:pPr>
            <a:r>
              <a:rPr lang="en-US" dirty="0"/>
              <a:t>Infinite dimensional multipliers: real parametric, and sector bounded uncertainty</a:t>
            </a:r>
          </a:p>
          <a:p>
            <a:pPr marL="628650" lvl="1" indent="-285750">
              <a:buFont typeface="Arial" panose="020B0604020202020204" pitchFamily="34" charset="0"/>
              <a:buChar char="•"/>
            </a:pPr>
            <a:r>
              <a:rPr lang="en-US" dirty="0"/>
              <a:t>Finite dimensional </a:t>
            </a:r>
            <a:r>
              <a:rPr lang="en-US" dirty="0" err="1"/>
              <a:t>mutlipliers</a:t>
            </a:r>
            <a:r>
              <a:rPr lang="en-US" dirty="0"/>
              <a:t>: Strict Positive negative multipliers</a:t>
            </a:r>
            <a:endParaRPr lang="en-NL" dirty="0"/>
          </a:p>
        </p:txBody>
      </p:sp>
    </p:spTree>
    <p:extLst>
      <p:ext uri="{BB962C8B-B14F-4D97-AF65-F5344CB8AC3E}">
        <p14:creationId xmlns:p14="http://schemas.microsoft.com/office/powerpoint/2010/main" val="305239432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03C03C-E0C2-AA71-B56E-C5F6E50F4F59}"/>
              </a:ext>
            </a:extLst>
          </p:cNvPr>
          <p:cNvSpPr>
            <a:spLocks noGrp="1"/>
          </p:cNvSpPr>
          <p:nvPr>
            <p:ph type="title"/>
          </p:nvPr>
        </p:nvSpPr>
        <p:spPr>
          <a:xfrm>
            <a:off x="457200" y="3810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References</a:t>
            </a:r>
            <a:endParaRPr lang="en-NL" sz="2500" b="1" u="none" cap="none" dirty="0">
              <a:solidFill>
                <a:srgbClr val="252529"/>
              </a:solidFill>
              <a:latin typeface="Aptos"/>
              <a:ea typeface="Aptos"/>
              <a:cs typeface="Aptos"/>
            </a:endParaRPr>
          </a:p>
        </p:txBody>
      </p:sp>
      <p:sp>
        <p:nvSpPr>
          <p:cNvPr id="3" name="Footer Placeholder 2">
            <a:extLst>
              <a:ext uri="{FF2B5EF4-FFF2-40B4-BE49-F238E27FC236}">
                <a16:creationId xmlns:a16="http://schemas.microsoft.com/office/drawing/2014/main" id="{A96216FE-1616-EAFF-5A25-B622EDF5F105}"/>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4" name="Slide Number Placeholder 3">
            <a:extLst>
              <a:ext uri="{FF2B5EF4-FFF2-40B4-BE49-F238E27FC236}">
                <a16:creationId xmlns:a16="http://schemas.microsoft.com/office/drawing/2014/main" id="{BFC1EC61-7051-8567-933E-6E1E8877C58D}"/>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34</a:t>
            </a:fld>
            <a:endParaRPr lang="en-GB" sz="800" b="0" u="none" cap="none" dirty="0">
              <a:solidFill>
                <a:srgbClr val="747B82"/>
              </a:solidFill>
              <a:latin typeface="Aptos"/>
              <a:ea typeface="Aptos"/>
              <a:cs typeface="Aptos"/>
            </a:endParaRPr>
          </a:p>
        </p:txBody>
      </p:sp>
      <p:sp>
        <p:nvSpPr>
          <p:cNvPr id="5" name="Chart Placeholder 4">
            <a:extLst>
              <a:ext uri="{FF2B5EF4-FFF2-40B4-BE49-F238E27FC236}">
                <a16:creationId xmlns:a16="http://schemas.microsoft.com/office/drawing/2014/main" id="{56FBEB17-FCF5-5E3C-717F-0FC5DA591BCD}"/>
              </a:ext>
            </a:extLst>
          </p:cNvPr>
          <p:cNvSpPr>
            <a:spLocks noGrp="1"/>
          </p:cNvSpPr>
          <p:nvPr>
            <p:ph type="chart" sz="quarter" idx="13"/>
          </p:nvPr>
        </p:nvSpPr>
        <p:spPr>
          <a:xfrm>
            <a:off x="457200" y="1333500"/>
            <a:ext cx="8001000" cy="3048000"/>
          </a:xfrm>
          <a:noFill/>
          <a:ln>
            <a:noFill/>
          </a:ln>
        </p:spPr>
        <p:txBody>
          <a:bodyPr wrap="square" lIns="0" tIns="0" rIns="0" bIns="0" anchor="t">
            <a:noAutofit/>
          </a:bodyPr>
          <a:lstStyle/>
          <a:p>
            <a:pPr marL="0" indent="0" algn="l">
              <a:spcAft>
                <a:spcPts val="2600"/>
              </a:spcAft>
              <a:buNone/>
              <a:defRPr sz="1700" b="0" u="none" cap="none">
                <a:solidFill>
                  <a:srgbClr val="252529"/>
                </a:solidFill>
                <a:latin typeface="Aptos"/>
                <a:ea typeface="Aptos"/>
                <a:cs typeface="Aptos"/>
              </a:defRPr>
            </a:pPr>
            <a:r>
              <a:rPr lang="en-US" sz="1700" b="0" u="none" cap="none" dirty="0">
                <a:solidFill>
                  <a:srgbClr val="252529"/>
                </a:solidFill>
                <a:latin typeface="Aptos"/>
                <a:ea typeface="Aptos"/>
                <a:cs typeface="Aptos"/>
              </a:rPr>
              <a:t>[1] </a:t>
            </a:r>
            <a:r>
              <a:rPr lang="en-US" sz="1700" b="0" u="none" cap="none" dirty="0" err="1">
                <a:solidFill>
                  <a:srgbClr val="252529"/>
                </a:solidFill>
                <a:latin typeface="Aptos"/>
                <a:ea typeface="Aptos"/>
                <a:cs typeface="Aptos"/>
              </a:rPr>
              <a:t>B.De</a:t>
            </a:r>
            <a:r>
              <a:rPr lang="en-US" sz="1700" b="0" u="none" cap="none" dirty="0">
                <a:solidFill>
                  <a:srgbClr val="252529"/>
                </a:solidFill>
                <a:latin typeface="Aptos"/>
                <a:ea typeface="Aptos"/>
                <a:cs typeface="Aptos"/>
              </a:rPr>
              <a:t> la </a:t>
            </a:r>
            <a:r>
              <a:rPr lang="en-US" sz="1700" b="0" u="none" cap="none" dirty="0" err="1">
                <a:solidFill>
                  <a:srgbClr val="252529"/>
                </a:solidFill>
                <a:latin typeface="Aptos"/>
                <a:ea typeface="Aptos"/>
                <a:cs typeface="Aptos"/>
              </a:rPr>
              <a:t>Crompe</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M.Deffains</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A.Leblois</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N.Mallet</a:t>
            </a:r>
            <a:r>
              <a:rPr lang="en-US" sz="1700" b="0" u="none" cap="none" dirty="0">
                <a:solidFill>
                  <a:srgbClr val="252529"/>
                </a:solidFill>
                <a:latin typeface="Aptos"/>
                <a:ea typeface="Aptos"/>
                <a:cs typeface="Aptos"/>
              </a:rPr>
              <a:t>, “Reevaluating the role of the STN-</a:t>
            </a:r>
            <a:r>
              <a:rPr lang="en-US" sz="1700" b="0" u="none" cap="none" dirty="0" err="1">
                <a:solidFill>
                  <a:srgbClr val="252529"/>
                </a:solidFill>
                <a:latin typeface="Aptos"/>
                <a:ea typeface="Aptos"/>
                <a:cs typeface="Aptos"/>
              </a:rPr>
              <a:t>Gpe</a:t>
            </a:r>
            <a:r>
              <a:rPr lang="en-US" sz="1700" b="0" u="none" cap="none" dirty="0">
                <a:solidFill>
                  <a:srgbClr val="252529"/>
                </a:solidFill>
                <a:latin typeface="Aptos"/>
                <a:ea typeface="Aptos"/>
                <a:cs typeface="Aptos"/>
              </a:rPr>
              <a:t> network in generating beta synchronized oscillatory activity in parkinsonism.”</a:t>
            </a:r>
          </a:p>
          <a:p>
            <a:pPr marL="0" indent="0" algn="l">
              <a:spcAft>
                <a:spcPts val="2600"/>
              </a:spcAft>
              <a:buNone/>
              <a:defRPr sz="1700" b="0" u="none" cap="none">
                <a:solidFill>
                  <a:srgbClr val="252529"/>
                </a:solidFill>
                <a:latin typeface="Aptos"/>
                <a:ea typeface="Aptos"/>
                <a:cs typeface="Aptos"/>
              </a:defRPr>
            </a:pPr>
            <a:r>
              <a:rPr lang="en-US" sz="1700" b="0" u="none" cap="none" dirty="0">
                <a:solidFill>
                  <a:srgbClr val="252529"/>
                </a:solidFill>
                <a:latin typeface="Aptos"/>
                <a:ea typeface="Aptos"/>
                <a:cs typeface="Aptos"/>
              </a:rPr>
              <a:t>[2]A.J. Nevado </a:t>
            </a:r>
            <a:r>
              <a:rPr lang="en-US" sz="1700" b="0" u="none" cap="none" dirty="0" err="1">
                <a:solidFill>
                  <a:srgbClr val="252529"/>
                </a:solidFill>
                <a:latin typeface="Aptos"/>
                <a:ea typeface="Aptos"/>
                <a:cs typeface="Aptos"/>
              </a:rPr>
              <a:t>Holgade</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J.R.Terry,R.Bogacz</a:t>
            </a:r>
            <a:r>
              <a:rPr lang="en-US" sz="1700" b="0" u="none" cap="none" dirty="0">
                <a:solidFill>
                  <a:srgbClr val="252529"/>
                </a:solidFill>
                <a:latin typeface="Aptos"/>
                <a:ea typeface="Aptos"/>
                <a:cs typeface="Aptos"/>
              </a:rPr>
              <a:t>, “Conditions for the Generation of Beta Oscillations in the Subthalamic Nucleus-Globus Pallidus Network”</a:t>
            </a:r>
          </a:p>
        </p:txBody>
      </p:sp>
      <p:pic>
        <p:nvPicPr>
          <p:cNvPr id="6" name="Original TUe logo"/>
          <p:cNvPicPr>
            <a:picLocks noChangeAspect="1"/>
          </p:cNvPicPr>
          <p:nvPr/>
        </p:nvPicPr>
        <p:blipFill>
          <a:blip r:embed="rId2"/>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92268333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dirty="0">
                <a:solidFill>
                  <a:srgbClr val="FFFFFF"/>
                </a:solidFill>
                <a:latin typeface="Calibri Light"/>
                <a:ea typeface="Calibri Light"/>
                <a:cs typeface="Calibri Light"/>
              </a:rPr>
              <a:t>Heat in paper</a:t>
            </a:r>
            <a:endParaRPr sz="2100" dirty="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dirty="0">
                <a:solidFill>
                  <a:srgbClr val="FFFFFF"/>
                </a:solidFill>
                <a:latin typeface="Calibri Light"/>
                <a:ea typeface="Calibri Light"/>
                <a:cs typeface="Calibri Light"/>
              </a:rPr>
              <a:t>Moisture in paper</a:t>
            </a:r>
            <a:endParaRPr sz="2100" dirty="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chemeClr val="tx1"/>
            </a:solidFill>
            <a:round/>
            <a:tailEnd type="triangle" w="sm" len="sm"/>
          </a:ln>
        </p:spPr>
        <p:txBody>
          <a:bodyPr/>
          <a:lstStyle/>
          <a:p>
            <a:endParaRPr lang="en-NL"/>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chemeClr val="tx1"/>
            </a:solidFill>
            <a:round/>
            <a:tailEnd type="triangle" w="sm" len="sm"/>
          </a:ln>
        </p:spPr>
        <p:txBody>
          <a:bodyPr/>
          <a:lstStyle/>
          <a:p>
            <a:endParaRPr lang="en-NL">
              <a:ln>
                <a:solidFill>
                  <a:sysClr val="windowText" lastClr="000000"/>
                </a:solidFill>
              </a:ln>
            </a:endParaRPr>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p:sp>
        <p:nvSpPr>
          <p:cNvPr id="119"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0"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26</a:t>
            </a:r>
            <a:endParaRPr sz="80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DE051A-4E1F-2FF0-BC7A-393875869DEC}"/>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D1A4BC10-23F4-0C1B-AA9E-4F6ED68E004B}"/>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a:extLst>
              <a:ext uri="{FF2B5EF4-FFF2-40B4-BE49-F238E27FC236}">
                <a16:creationId xmlns:a16="http://schemas.microsoft.com/office/drawing/2014/main" id="{EE488297-19B9-1E15-D086-78FA3622B3E7}"/>
              </a:ext>
            </a:extLst>
          </p:cNvP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a:extLst>
              <a:ext uri="{FF2B5EF4-FFF2-40B4-BE49-F238E27FC236}">
                <a16:creationId xmlns:a16="http://schemas.microsoft.com/office/drawing/2014/main" id="{79C17842-EFBD-623C-0B75-77CB42F6B987}"/>
              </a:ext>
            </a:extLst>
          </p:cNvPr>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a:extLst>
              <a:ext uri="{FF2B5EF4-FFF2-40B4-BE49-F238E27FC236}">
                <a16:creationId xmlns:a16="http://schemas.microsoft.com/office/drawing/2014/main" id="{9A70A83E-8037-23DD-ABA7-F26B14C16378}"/>
              </a:ext>
            </a:extLst>
          </p:cNvP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a:extLst>
              <a:ext uri="{FF2B5EF4-FFF2-40B4-BE49-F238E27FC236}">
                <a16:creationId xmlns:a16="http://schemas.microsoft.com/office/drawing/2014/main" id="{16E1AE26-69F6-0B22-8C01-F6872FC1A9D2}"/>
              </a:ext>
            </a:extLst>
          </p:cNvPr>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a:extLst>
              <a:ext uri="{FF2B5EF4-FFF2-40B4-BE49-F238E27FC236}">
                <a16:creationId xmlns:a16="http://schemas.microsoft.com/office/drawing/2014/main" id="{86E61732-95E4-0B25-D58C-C1AB469F97FB}"/>
              </a:ext>
            </a:extLst>
          </p:cNvPr>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chemeClr val="tx1"/>
            </a:solidFill>
            <a:round/>
            <a:tailEnd type="triangle" w="sm" len="sm"/>
          </a:ln>
        </p:spPr>
        <p:txBody>
          <a:bodyPr/>
          <a:lstStyle/>
          <a:p>
            <a:endParaRPr lang="en-NL"/>
          </a:p>
        </p:txBody>
      </p:sp>
      <p:sp>
        <p:nvSpPr>
          <p:cNvPr id="107" name="Moisture to heat coupling">
            <a:extLst>
              <a:ext uri="{FF2B5EF4-FFF2-40B4-BE49-F238E27FC236}">
                <a16:creationId xmlns:a16="http://schemas.microsoft.com/office/drawing/2014/main" id="{60355604-01EA-AE4B-F7B9-CD6D96B51A45}"/>
              </a:ext>
            </a:extLst>
          </p:cNvPr>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chemeClr val="tx1"/>
            </a:solidFill>
            <a:round/>
            <a:tailEnd type="triangle" w="sm" len="sm"/>
          </a:ln>
        </p:spPr>
        <p:txBody>
          <a:bodyPr/>
          <a:lstStyle/>
          <a:p>
            <a:endParaRPr lang="en-NL">
              <a:ln>
                <a:solidFill>
                  <a:sysClr val="windowText" lastClr="000000"/>
                </a:solidFill>
              </a:ln>
            </a:endParaRPr>
          </a:p>
        </p:txBody>
      </p:sp>
      <mc:AlternateContent xmlns:mc="http://schemas.openxmlformats.org/markup-compatibility/2006" xmlns:a14="http://schemas.microsoft.com/office/drawing/2010/main">
        <mc:Choice Requires="a14">
          <p:sp>
            <p:nvSpPr>
              <p:cNvPr id="108" name="Left boundary">
                <a:extLst>
                  <a:ext uri="{FF2B5EF4-FFF2-40B4-BE49-F238E27FC236}">
                    <a16:creationId xmlns:a16="http://schemas.microsoft.com/office/drawing/2014/main" id="{344EF122-6A82-56C8-AC9C-A66B28384A70}"/>
                  </a:ext>
                </a:extLst>
              </p:cNvPr>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xmlns:m="http://schemas.openxmlformats.org/officeDocument/2006/math">
          <p:sp>
            <p:nvSpPr>
              <p:cNvPr id="108" name="Left boundary">
                <a:extLst>
                  <a:ext uri="{FF2B5EF4-FFF2-40B4-BE49-F238E27FC236}">
                    <a16:creationId xmlns:a16="http://schemas.microsoft.com/office/drawing/2014/main" id="{344EF122-6A82-56C8-AC9C-A66B28384A70}"/>
                  </a:ext>
                </a:extLst>
              </p:cNvPr>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a:extLst>
                  <a:ext uri="{FF2B5EF4-FFF2-40B4-BE49-F238E27FC236}">
                    <a16:creationId xmlns:a16="http://schemas.microsoft.com/office/drawing/2014/main" id="{545A1720-29FF-0D20-A47C-4E210BD0D9DE}"/>
                  </a:ext>
                </a:extLst>
              </p:cNvPr>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xmlns:m="http://schemas.openxmlformats.org/officeDocument/2006/math">
          <p:sp>
            <p:nvSpPr>
              <p:cNvPr id="109" name="Right boundary">
                <a:extLst>
                  <a:ext uri="{FF2B5EF4-FFF2-40B4-BE49-F238E27FC236}">
                    <a16:creationId xmlns:a16="http://schemas.microsoft.com/office/drawing/2014/main" id="{545A1720-29FF-0D20-A47C-4E210BD0D9DE}"/>
                  </a:ext>
                </a:extLst>
              </p:cNvPr>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a:extLst>
              <a:ext uri="{FF2B5EF4-FFF2-40B4-BE49-F238E27FC236}">
                <a16:creationId xmlns:a16="http://schemas.microsoft.com/office/drawing/2014/main" id="{3D5D15C0-D0E1-F184-59A5-B1B6100DB03A}"/>
              </a:ext>
            </a:extLst>
          </p:cNvPr>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a:extLst>
              <a:ext uri="{FF2B5EF4-FFF2-40B4-BE49-F238E27FC236}">
                <a16:creationId xmlns:a16="http://schemas.microsoft.com/office/drawing/2014/main" id="{CF05856C-1818-C2D0-400F-B3BEA662F22F}"/>
              </a:ext>
            </a:extLst>
          </p:cNvPr>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a:extLst>
              <a:ext uri="{FF2B5EF4-FFF2-40B4-BE49-F238E27FC236}">
                <a16:creationId xmlns:a16="http://schemas.microsoft.com/office/drawing/2014/main" id="{A5AC6E25-82F6-BC00-7F81-AC6A38523126}"/>
              </a:ext>
            </a:extLst>
          </p:cNvPr>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a:extLst>
                  <a:ext uri="{FF2B5EF4-FFF2-40B4-BE49-F238E27FC236}">
                    <a16:creationId xmlns:a16="http://schemas.microsoft.com/office/drawing/2014/main" id="{DBE741BE-5945-E885-5D88-26B88ADCEE5F}"/>
                  </a:ext>
                </a:extLst>
              </p:cNvPr>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xmlns:m="http://schemas.openxmlformats.org/officeDocument/2006/math">
          <p:sp>
            <p:nvSpPr>
              <p:cNvPr id="113" name="Spatial coordinate">
                <a:extLst>
                  <a:ext uri="{FF2B5EF4-FFF2-40B4-BE49-F238E27FC236}">
                    <a16:creationId xmlns:a16="http://schemas.microsoft.com/office/drawing/2014/main" id="{DBE741BE-5945-E885-5D88-26B88ADCEE5F}"/>
                  </a:ext>
                </a:extLst>
              </p:cNvPr>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a:extLst>
                  <a:ext uri="{FF2B5EF4-FFF2-40B4-BE49-F238E27FC236}">
                    <a16:creationId xmlns:a16="http://schemas.microsoft.com/office/drawing/2014/main" id="{DB318B57-7061-19E6-2D8A-B4E65DA36A4E}"/>
                  </a:ext>
                </a:extLst>
              </p:cNvPr>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xmlns:m="http://schemas.openxmlformats.org/officeDocument/2006/math">
          <p:sp>
            <p:nvSpPr>
              <p:cNvPr id="114" name="Spatial coordinate">
                <a:extLst>
                  <a:ext uri="{FF2B5EF4-FFF2-40B4-BE49-F238E27FC236}">
                    <a16:creationId xmlns:a16="http://schemas.microsoft.com/office/drawing/2014/main" id="{DB318B57-7061-19E6-2D8A-B4E65DA36A4E}"/>
                  </a:ext>
                </a:extLst>
              </p:cNvPr>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a:extLst>
                  <a:ext uri="{FF2B5EF4-FFF2-40B4-BE49-F238E27FC236}">
                    <a16:creationId xmlns:a16="http://schemas.microsoft.com/office/drawing/2014/main" id="{B8525C42-C018-1DC9-0671-706483983DC9}"/>
                  </a:ext>
                </a:extLst>
              </p:cNvPr>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xmlns:m="http://schemas.openxmlformats.org/officeDocument/2006/math">
          <p:sp>
            <p:nvSpPr>
              <p:cNvPr id="115" name="Spatial coordinate">
                <a:extLst>
                  <a:ext uri="{FF2B5EF4-FFF2-40B4-BE49-F238E27FC236}">
                    <a16:creationId xmlns:a16="http://schemas.microsoft.com/office/drawing/2014/main" id="{B8525C42-C018-1DC9-0671-706483983DC9}"/>
                  </a:ext>
                </a:extLst>
              </p:cNvPr>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a:extLst>
                  <a:ext uri="{FF2B5EF4-FFF2-40B4-BE49-F238E27FC236}">
                    <a16:creationId xmlns:a16="http://schemas.microsoft.com/office/drawing/2014/main" id="{06394209-D93A-E2C7-69BA-64999C67DF1D}"/>
                  </a:ext>
                </a:extLst>
              </p:cNvPr>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xmlns:m="http://schemas.openxmlformats.org/officeDocument/2006/math">
          <p:sp>
            <p:nvSpPr>
              <p:cNvPr id="116" name="State label 1">
                <a:extLst>
                  <a:ext uri="{FF2B5EF4-FFF2-40B4-BE49-F238E27FC236}">
                    <a16:creationId xmlns:a16="http://schemas.microsoft.com/office/drawing/2014/main" id="{06394209-D93A-E2C7-69BA-64999C67DF1D}"/>
                  </a:ext>
                </a:extLst>
              </p:cNvPr>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a:extLst>
                  <a:ext uri="{FF2B5EF4-FFF2-40B4-BE49-F238E27FC236}">
                    <a16:creationId xmlns:a16="http://schemas.microsoft.com/office/drawing/2014/main" id="{D859784A-FCD1-6236-DD3A-19245AD72AB0}"/>
                  </a:ext>
                </a:extLst>
              </p:cNvPr>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xmlns:m="http://schemas.openxmlformats.org/officeDocument/2006/math">
          <p:sp>
            <p:nvSpPr>
              <p:cNvPr id="117" name="State label 2">
                <a:extLst>
                  <a:ext uri="{FF2B5EF4-FFF2-40B4-BE49-F238E27FC236}">
                    <a16:creationId xmlns:a16="http://schemas.microsoft.com/office/drawing/2014/main" id="{D859784A-FCD1-6236-DD3A-19245AD72AB0}"/>
                  </a:ext>
                </a:extLst>
              </p:cNvPr>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2"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𝑎</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𝑏</m:t>
                      </m:r>
                      <m:d>
                        <m:dPr>
                          <m:ctrlPr>
                            <a:rPr sz="1700">
                              <a:solidFill>
                                <a:srgbClr val="252529"/>
                              </a:solidFill>
                              <a:latin typeface="Cambria Math"/>
                            </a:rPr>
                          </m:ctrlPr>
                        </m:dPr>
                        <m:e>
                          <m:r>
                            <a:rPr sz="1700">
                              <a:solidFill>
                                <a:srgbClr val="252529"/>
                              </a:solidFill>
                              <a:latin typeface="Cambria Math"/>
                            </a:rPr>
                            <m:t>𝛿</m:t>
                          </m:r>
                        </m:e>
                      </m:d>
                      <m:r>
                        <a:rPr sz="1700">
                          <a:solidFill>
                            <a:srgbClr val="252529"/>
                          </a:solidFill>
                          <a:latin typeface="Cambria Math"/>
                        </a:rPr>
                        <m:t>𝑠</m:t>
                      </m:r>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2"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3"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3"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1"/>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𝑧</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252529"/>
                          </a:solidFill>
                          <a:latin typeface="Cambria Math"/>
                        </a:rPr>
                        <m:t>𝑐</m:t>
                      </m:r>
                      <m:d>
                        <m:dPr>
                          <m:ctrlPr>
                            <a:rPr sz="1700">
                              <a:solidFill>
                                <a:srgbClr val="252529"/>
                              </a:solidFill>
                              <a:latin typeface="Cambria Math"/>
                            </a:rPr>
                          </m:ctrlPr>
                        </m:dPr>
                        <m:e>
                          <m:r>
                            <a:rPr sz="1700">
                              <a:solidFill>
                                <a:srgbClr val="252529"/>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252529"/>
                          </a:solidFill>
                          <a:latin typeface="Cambria Math"/>
                        </a:rPr>
                        <m:t>𝑑</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4"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p:sp>
        <p:nvSpPr>
          <p:cNvPr id="119" name="Footer">
            <a:extLst>
              <a:ext uri="{FF2B5EF4-FFF2-40B4-BE49-F238E27FC236}">
                <a16:creationId xmlns:a16="http://schemas.microsoft.com/office/drawing/2014/main" id="{BA9AC1A4-7EAE-4CBB-B93E-F69D5E35EBB8}"/>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0" name="Slide number">
            <a:extLst>
              <a:ext uri="{FF2B5EF4-FFF2-40B4-BE49-F238E27FC236}">
                <a16:creationId xmlns:a16="http://schemas.microsoft.com/office/drawing/2014/main" id="{64B7ECCC-85CD-94C1-2C7B-22A595462181}"/>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26</a:t>
            </a:r>
            <a:endParaRPr sz="800"/>
          </a:p>
        </p:txBody>
      </p:sp>
    </p:spTree>
    <p:extLst>
      <p:ext uri="{BB962C8B-B14F-4D97-AF65-F5344CB8AC3E}">
        <p14:creationId xmlns:p14="http://schemas.microsoft.com/office/powerpoint/2010/main" val="196267245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rgbClr val="000000"/>
            </a:solidFill>
            <a:round/>
            <a:tailEnd type="triangle" w="sm" len="sm"/>
          </a:ln>
        </p:spPr>
        <p:txBody>
          <a:bodyPr/>
          <a:lstStyle/>
          <a:p>
            <a:endParaRPr lang="en-NL">
              <a:ln>
                <a:solidFill>
                  <a:sysClr val="windowText" lastClr="000000"/>
                </a:solidFill>
              </a:ln>
            </a:endParaRPr>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xmlns:m="http://schemas.openxmlformats.org/officeDocument/2006/math">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xmlns:m="http://schemas.openxmlformats.org/officeDocument/2006/math">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xmlns:m="http://schemas.openxmlformats.org/officeDocument/2006/math">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xmlns:m="http://schemas.openxmlformats.org/officeDocument/2006/math">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xmlns:m="http://schemas.openxmlformats.org/officeDocument/2006/math">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xmlns:m="http://schemas.openxmlformats.org/officeDocument/2006/math">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xmlns:m="http://schemas.openxmlformats.org/officeDocument/2006/math">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Admissible uncertainty"/>
              <p:cNvSpPr/>
              <p:nvPr/>
            </p:nvSpPr>
            <p:spPr>
              <a:xfrm>
                <a:off x="7747000" y="1163320"/>
                <a:ext cx="1270000" cy="3911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2400">
                              <a:solidFill>
                                <a:srgbClr val="D61016"/>
                              </a:solidFill>
                              <a:latin typeface="Cambria Math"/>
                            </a:rPr>
                          </m:ctrlPr>
                        </m:dPr>
                        <m:e>
                          <m:r>
                            <a:rPr sz="2400">
                              <a:solidFill>
                                <a:srgbClr val="D61016"/>
                              </a:solidFill>
                              <a:latin typeface="Cambria Math"/>
                            </a:rPr>
                            <m:t>𝛿</m:t>
                          </m:r>
                        </m:e>
                      </m:d>
                      <m:r>
                        <a:rPr sz="2400">
                          <a:solidFill>
                            <a:srgbClr val="252529"/>
                          </a:solidFill>
                          <a:latin typeface="Cambria Math"/>
                        </a:rPr>
                        <m:t>≤</m:t>
                      </m:r>
                      <m:r>
                        <a:rPr sz="2400">
                          <a:solidFill>
                            <a:srgbClr val="252529"/>
                          </a:solidFill>
                          <a:latin typeface="Cambria Math"/>
                        </a:rPr>
                        <m:t>𝛼</m:t>
                      </m:r>
                    </m:oMath>
                  </m:oMathPara>
                </a14:m>
                <a:endParaRPr sz="2400" dirty="0"/>
              </a:p>
            </p:txBody>
          </p:sp>
        </mc:Choice>
        <mc:Fallback xmlns="">
          <p:sp>
            <p:nvSpPr>
              <p:cNvPr id="118" name="Admissible uncertainty"/>
              <p:cNvSpPr>
                <a:spLocks noRot="1" noChangeAspect="1" noMove="1" noResize="1" noEditPoints="1" noAdjustHandles="1" noChangeArrowheads="1" noChangeShapeType="1" noTextEdit="1"/>
              </p:cNvSpPr>
              <p:nvPr/>
            </p:nvSpPr>
            <p:spPr>
              <a:xfrm>
                <a:off x="7747000" y="1163320"/>
                <a:ext cx="1270000" cy="391160"/>
              </a:xfrm>
              <a:prstGeom prst="rect">
                <a:avLst/>
              </a:prstGeom>
              <a:blipFill>
                <a:blip r:embed="rId10"/>
                <a:stretch>
                  <a:fillRect b="-625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3"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D61016"/>
                          </a:solidFill>
                          <a:latin typeface="Cambria Math"/>
                        </a:rPr>
                        <m:t>𝑎</m:t>
                      </m:r>
                      <m:d>
                        <m:dPr>
                          <m:ctrlPr>
                            <a:rPr sz="1700">
                              <a:solidFill>
                                <a:srgbClr val="D61016"/>
                              </a:solidFill>
                              <a:latin typeface="Cambria Math"/>
                            </a:rPr>
                          </m:ctrlPr>
                        </m:dPr>
                        <m:e>
                          <m:r>
                            <a:rPr sz="1700">
                              <a:solidFill>
                                <a:srgbClr val="D61016"/>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D61016"/>
                          </a:solidFill>
                          <a:latin typeface="Cambria Math"/>
                        </a:rPr>
                        <m:t>𝑏</m:t>
                      </m:r>
                      <m:d>
                        <m:dPr>
                          <m:ctrlPr>
                            <a:rPr sz="1700">
                              <a:solidFill>
                                <a:srgbClr val="D61016"/>
                              </a:solidFill>
                              <a:latin typeface="Cambria Math"/>
                            </a:rPr>
                          </m:ctrlPr>
                        </m:dPr>
                        <m:e>
                          <m:r>
                            <a:rPr sz="1700">
                              <a:solidFill>
                                <a:srgbClr val="D61016"/>
                              </a:solidFill>
                              <a:latin typeface="Cambria Math"/>
                            </a:rPr>
                            <m:t>𝛿</m:t>
                          </m:r>
                        </m:e>
                      </m:d>
                      <m:r>
                        <a:rPr sz="1700">
                          <a:solidFill>
                            <a:srgbClr val="252529"/>
                          </a:solidFill>
                          <a:latin typeface="Cambria Math"/>
                        </a:rPr>
                        <m:t>𝑠</m:t>
                      </m:r>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dirty="0"/>
              </a:p>
            </p:txBody>
          </p:sp>
        </mc:Choice>
        <mc:Fallback xmlns="">
          <p:sp>
            <p:nvSpPr>
              <p:cNvPr id="123"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4"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5"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𝑧</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D61016"/>
                          </a:solidFill>
                          <a:latin typeface="Cambria Math"/>
                        </a:rPr>
                        <m:t>𝑐</m:t>
                      </m:r>
                      <m:d>
                        <m:dPr>
                          <m:ctrlPr>
                            <a:rPr sz="1700">
                              <a:solidFill>
                                <a:srgbClr val="D61016"/>
                              </a:solidFill>
                              <a:latin typeface="Cambria Math"/>
                            </a:rPr>
                          </m:ctrlPr>
                        </m:dPr>
                        <m:e>
                          <m:r>
                            <a:rPr sz="1700">
                              <a:solidFill>
                                <a:srgbClr val="D61016"/>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D61016"/>
                          </a:solidFill>
                          <a:latin typeface="Cambria Math"/>
                        </a:rPr>
                        <m:t>𝑑</m:t>
                      </m:r>
                      <m:d>
                        <m:dPr>
                          <m:ctrlPr>
                            <a:rPr sz="1700">
                              <a:solidFill>
                                <a:srgbClr val="D61016"/>
                              </a:solidFill>
                              <a:latin typeface="Cambria Math"/>
                            </a:rPr>
                          </m:ctrlPr>
                        </m:dPr>
                        <m:e>
                          <m:r>
                            <a:rPr sz="1700">
                              <a:solidFill>
                                <a:srgbClr val="D61016"/>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5"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3"/>
                <a:stretch>
                  <a:fillRect t="-5128" b="-11538"/>
                </a:stretch>
              </a:blipFill>
              <a:ln>
                <a:noFill/>
              </a:ln>
            </p:spPr>
            <p:txBody>
              <a:bodyPr/>
              <a:lstStyle/>
              <a:p>
                <a:r>
                  <a:rPr lang="en-NL">
                    <a:noFill/>
                  </a:rPr>
                  <a:t> </a:t>
                </a:r>
              </a:p>
            </p:txBody>
          </p:sp>
        </mc:Fallback>
      </mc:AlternateContent>
      <p:sp>
        <p:nvSpPr>
          <p:cNvPr id="120"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1"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27</a:t>
            </a:r>
            <a:endParaRPr sz="800"/>
          </a:p>
        </p:txBody>
      </p:sp>
      <p:sp>
        <p:nvSpPr>
          <p:cNvPr id="2" name="Rectangle 1">
            <a:extLst>
              <a:ext uri="{FF2B5EF4-FFF2-40B4-BE49-F238E27FC236}">
                <a16:creationId xmlns:a16="http://schemas.microsoft.com/office/drawing/2014/main" id="{1C387829-4F83-FB16-B545-5CAE9EE14508}"/>
              </a:ext>
            </a:extLst>
          </p:cNvPr>
          <p:cNvSpPr/>
          <p:nvPr/>
        </p:nvSpPr>
        <p:spPr>
          <a:xfrm>
            <a:off x="7854950" y="1139518"/>
            <a:ext cx="1054100" cy="444172"/>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rgbClr val="000000"/>
            </a:solidFill>
            <a:round/>
            <a:tailEnd type="triangle" w="sm" len="sm"/>
          </a:ln>
        </p:spPr>
        <p:txBody>
          <a:bodyPr/>
          <a:lstStyle/>
          <a:p>
            <a:endParaRPr lang="en-NL"/>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xmlns:m="http://schemas.openxmlformats.org/officeDocument/2006/math">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xmlns:m="http://schemas.openxmlformats.org/officeDocument/2006/math">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xmlns:m="http://schemas.openxmlformats.org/officeDocument/2006/math">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xmlns:m="http://schemas.openxmlformats.org/officeDocument/2006/math">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xmlns:m="http://schemas.openxmlformats.org/officeDocument/2006/math">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xmlns:m="http://schemas.openxmlformats.org/officeDocument/2006/math">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xmlns:m="http://schemas.openxmlformats.org/officeDocument/2006/math">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Admissible uncertainty"/>
              <p:cNvSpPr/>
              <p:nvPr/>
            </p:nvSpPr>
            <p:spPr>
              <a:xfrm>
                <a:off x="7747000" y="1163320"/>
                <a:ext cx="1270000" cy="3911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1400">
                              <a:solidFill>
                                <a:srgbClr val="D61016"/>
                              </a:solidFill>
                              <a:latin typeface="Cambria Math"/>
                            </a:rPr>
                          </m:ctrlPr>
                        </m:dPr>
                        <m:e>
                          <m:r>
                            <a:rPr sz="1400">
                              <a:solidFill>
                                <a:srgbClr val="D61016"/>
                              </a:solidFill>
                              <a:latin typeface="Cambria Math"/>
                            </a:rPr>
                            <m:t>𝛿</m:t>
                          </m:r>
                        </m:e>
                      </m:d>
                      <m:r>
                        <a:rPr sz="1400">
                          <a:solidFill>
                            <a:srgbClr val="252529"/>
                          </a:solidFill>
                          <a:latin typeface="Cambria Math"/>
                        </a:rPr>
                        <m:t>≤</m:t>
                      </m:r>
                      <m:r>
                        <a:rPr sz="1400">
                          <a:solidFill>
                            <a:srgbClr val="252529"/>
                          </a:solidFill>
                          <a:latin typeface="Cambria Math"/>
                        </a:rPr>
                        <m:t>𝛼</m:t>
                      </m:r>
                    </m:oMath>
                  </m:oMathPara>
                </a14:m>
                <a:endParaRPr sz="1400"/>
              </a:p>
            </p:txBody>
          </p:sp>
        </mc:Choice>
        <mc:Fallback xmlns="" xmlns:m="http://schemas.openxmlformats.org/officeDocument/2006/math">
          <p:sp>
            <p:nvSpPr>
              <p:cNvPr id="118" name="Admissible uncertainty"/>
              <p:cNvSpPr>
                <a:spLocks noRot="1" noChangeAspect="1" noMove="1" noResize="1" noEditPoints="1" noAdjustHandles="1" noChangeArrowheads="1" noChangeShapeType="1" noTextEdit="1"/>
              </p:cNvSpPr>
              <p:nvPr/>
            </p:nvSpPr>
            <p:spPr>
              <a:xfrm>
                <a:off x="7747000" y="1163320"/>
                <a:ext cx="1270000" cy="3911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𝑎</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𝑏</m:t>
                      </m:r>
                      <m:d>
                        <m:dPr>
                          <m:ctrlPr>
                            <a:rPr sz="1700">
                              <a:solidFill>
                                <a:srgbClr val="252529"/>
                              </a:solidFill>
                              <a:latin typeface="Cambria Math"/>
                            </a:rPr>
                          </m:ctrlPr>
                        </m:dPr>
                        <m:e>
                          <m:r>
                            <a:rPr sz="1700">
                              <a:solidFill>
                                <a:srgbClr val="252529"/>
                              </a:solidFill>
                              <a:latin typeface="Cambria Math"/>
                            </a:rPr>
                            <m:t>𝛿</m:t>
                          </m:r>
                        </m:e>
                      </m:d>
                      <m:r>
                        <a:rPr sz="1700">
                          <a:solidFill>
                            <a:srgbClr val="252529"/>
                          </a:solidFill>
                          <a:latin typeface="Cambria Math"/>
                        </a:rPr>
                        <m:t>𝑠</m:t>
                      </m:r>
                      <m:sSub>
                        <m:sSubPr>
                          <m:ctrlPr>
                            <a:rPr sz="1700">
                              <a:solidFill>
                                <a:srgbClr val="147C60"/>
                              </a:solidFill>
                              <a:latin typeface="Cambria Math"/>
                            </a:rPr>
                          </m:ctrlPr>
                        </m:sSubPr>
                        <m:e>
                          <m:r>
                            <a:rPr sz="1700">
                              <a:solidFill>
                                <a:srgbClr val="147C60"/>
                              </a:solidFill>
                              <a:latin typeface="Cambria Math"/>
                            </a:rPr>
                            <m:t>𝑤</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4"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5"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5"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6"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147C60"/>
                              </a:solidFill>
                              <a:latin typeface="Cambria Math"/>
                            </a:rPr>
                          </m:ctrlPr>
                        </m:sSubPr>
                        <m:e>
                          <m:r>
                            <a:rPr sz="1700">
                              <a:solidFill>
                                <a:srgbClr val="147C60"/>
                              </a:solidFill>
                              <a:latin typeface="Cambria Math"/>
                            </a:rPr>
                            <m:t>𝑧</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252529"/>
                          </a:solidFill>
                          <a:latin typeface="Cambria Math"/>
                        </a:rPr>
                        <m:t>𝑐</m:t>
                      </m:r>
                      <m:d>
                        <m:dPr>
                          <m:ctrlPr>
                            <a:rPr sz="1700">
                              <a:solidFill>
                                <a:srgbClr val="252529"/>
                              </a:solidFill>
                              <a:latin typeface="Cambria Math"/>
                            </a:rPr>
                          </m:ctrlPr>
                        </m:dPr>
                        <m:e>
                          <m:r>
                            <a:rPr sz="1700">
                              <a:solidFill>
                                <a:srgbClr val="252529"/>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252529"/>
                          </a:solidFill>
                          <a:latin typeface="Cambria Math"/>
                        </a:rPr>
                        <m:t>𝑑</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147C60"/>
                              </a:solidFill>
                              <a:latin typeface="Cambria Math"/>
                            </a:rPr>
                          </m:ctrlPr>
                        </m:sSubPr>
                        <m:e>
                          <m:r>
                            <a:rPr sz="1700">
                              <a:solidFill>
                                <a:srgbClr val="147C60"/>
                              </a:solidFill>
                              <a:latin typeface="Cambria Math"/>
                            </a:rPr>
                            <m:t>𝑤</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dirty="0"/>
              </a:p>
            </p:txBody>
          </p:sp>
        </mc:Choice>
        <mc:Fallback xmlns="">
          <p:sp>
            <p:nvSpPr>
              <p:cNvPr id="126"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3"/>
                <a:stretch>
                  <a:fillRect t="-5128" b="-11538"/>
                </a:stretch>
              </a:blipFill>
              <a:ln>
                <a:noFill/>
              </a:ln>
            </p:spPr>
            <p:txBody>
              <a:bodyPr/>
              <a:lstStyle/>
              <a:p>
                <a:r>
                  <a:rPr lang="en-NL">
                    <a:noFill/>
                  </a:rPr>
                  <a:t> </a:t>
                </a:r>
              </a:p>
            </p:txBody>
          </p:sp>
        </mc:Fallback>
      </mc:AlternateContent>
      <p:sp>
        <p:nvSpPr>
          <p:cNvPr id="121"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2"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28</a:t>
            </a:r>
            <a:endParaRPr sz="800"/>
          </a:p>
        </p:txBody>
      </p:sp>
      <p:sp>
        <p:nvSpPr>
          <p:cNvPr id="2" name="Rectangle 1">
            <a:extLst>
              <a:ext uri="{FF2B5EF4-FFF2-40B4-BE49-F238E27FC236}">
                <a16:creationId xmlns:a16="http://schemas.microsoft.com/office/drawing/2014/main" id="{7C8A35B7-38A9-C491-3025-42FE8C2358F5}"/>
              </a:ext>
            </a:extLst>
          </p:cNvPr>
          <p:cNvSpPr/>
          <p:nvPr/>
        </p:nvSpPr>
        <p:spPr>
          <a:xfrm>
            <a:off x="6146800" y="2999740"/>
            <a:ext cx="1397000" cy="344170"/>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4" name="Rectangle 3">
            <a:extLst>
              <a:ext uri="{FF2B5EF4-FFF2-40B4-BE49-F238E27FC236}">
                <a16:creationId xmlns:a16="http://schemas.microsoft.com/office/drawing/2014/main" id="{5517A88E-E7FD-8FAD-9595-582EC0F31898}"/>
              </a:ext>
            </a:extLst>
          </p:cNvPr>
          <p:cNvSpPr/>
          <p:nvPr/>
        </p:nvSpPr>
        <p:spPr>
          <a:xfrm>
            <a:off x="2640012" y="3944302"/>
            <a:ext cx="3863975" cy="645795"/>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26BD19-2F6B-F186-F46A-DAB019418813}"/>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C78642D7-2399-A88C-82B1-8B48ACF0E58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pic xmlns:p="http://schemas.openxmlformats.org/presentationml/2006/main" xmlns:a="http://schemas.openxmlformats.org/drawingml/2006/main" xmlns:r="http://schemas.openxmlformats.org/officeDocument/2006/relationships" xmlns:m="http://schemas.openxmlformats.org/officeDocument/2006/math" xmlns:a14="http://schemas.microsoft.com/office/drawing/2010/main" xmlns:mc="http://schemas.openxmlformats.org/markup-compatibility/2006">
        <p:nvPicPr>
          <p:cNvPr id="2" name="Baked figure with larger labels"/>
          <p:cNvPicPr>
            <a:picLocks noChangeAspect="1"/>
          </p:cNvPicPr>
          <p:nvPr/>
        </p:nvPicPr>
        <p:blipFill>
          <a:blip r:embed="rIdBakedFigure2"/>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CBC513D1-BB8C-12F4-897B-426C1C53A461}"/>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7432A648-A470-2185-FF80-2EDB0168BE25}"/>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29</a:t>
            </a:r>
            <a:endParaRPr sz="800"/>
          </a:p>
        </p:txBody>
      </p:sp>
      <p:pic xmlns:p="http://schemas.openxmlformats.org/presentationml/2006/main" xmlns:a="http://schemas.openxmlformats.org/drawingml/2006/main" xmlns:r="http://schemas.openxmlformats.org/officeDocument/2006/relationships" xmlns:m="http://schemas.openxmlformats.org/officeDocument/2006/math" xmlns:a14="http://schemas.microsoft.com/office/drawing/2010/main" xmlns:mc="http://schemas.openxmlformats.org/markup-compatibility/2006">
        <p:nvPicPr>
          <p:cNvPr id="3" name="Baked figure with larger labels"/>
          <p:cNvPicPr>
            <a:picLocks noChangeAspect="1"/>
          </p:cNvPicPr>
          <p:nvPr/>
        </p:nvPicPr>
        <p:blipFill>
          <a:blip r:embed="rIdBakedFigure3"/>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20D5EE36-29B9-F3C5-509B-B45F60BDFD2A}"/>
                  </a:ext>
                </a:extLst>
              </p:cNvPr>
              <p:cNvSpPr txBox="1"/>
              <p:nvPr/>
            </p:nvSpPr>
            <p:spPr>
              <a:xfrm>
                <a:off x="3534603" y="2768635"/>
                <a:ext cx="998287" cy="784830"/>
              </a:xfrm>
              <a:prstGeom prst="rect">
                <a:avLst/>
              </a:prstGeom>
              <a:noFill/>
            </p:spPr>
            <p:txBody>
              <a:bodyPr wrap="none" rtlCol="0">
                <a:spAutoFit/>
              </a:bodyPr>
              <a:lstStyle/>
              <a:p>
                <a:pPr/>
                <a14:m>
                  <m:oMathPara xmlns:m="http://schemas.openxmlformats.org/officeDocument/2006/math">
                    <m:oMath>
                      <m:d>
                        <m:dPr>
                          <m:begChr m:val="|"/>
                          <m:endChr m:val="|"/>
                          <m:ctrlPr>
                            <a:rPr lang="en-US" sz="1800" b="0" i="1" smtClean="0">
                              <a:latin typeface="Cambria Math" panose="02040503050406030204" pitchFamily="18" charset="0"/>
                            </a:rPr>
                          </m:ctrlPr>
                        </m:dPr>
                        <m:e>
                          <m:r>
                            <a:rPr lang="en-US" sz="1800" b="0" i="1" smtClean="0">
                              <a:latin typeface="Cambria Math" panose="02040503050406030204" pitchFamily="18" charset="0"/>
                            </a:rPr>
                            <m:t>𝛿</m:t>
                          </m:r>
                        </m:e>
                      </m:d>
                      <m:r>
                        <a:rPr lang="en-US" sz="1800" b="0" i="1" smtClean="0">
                          <a:latin typeface="Cambria Math" panose="02040503050406030204" pitchFamily="18" charset="0"/>
                        </a:rPr>
                        <m:t>≤</m:t>
                      </m:r>
                      <m:r>
                        <a:rPr lang="en-US" sz="1800" b="0" i="1" smtClean="0">
                          <a:latin typeface="Cambria Math" panose="02040503050406030204" pitchFamily="18" charset="0"/>
                          <a:ea typeface="Cambria Math" panose="02040503050406030204" pitchFamily="18" charset="0"/>
                        </a:rPr>
                        <m:t>𝛼</m:t>
                      </m:r>
                    </m:oMath>
                  </m:oMathPara>
                </a14:m>
                <a:endParaRPr lang="en-US" sz="1800" b="0" dirty="0"/>
              </a:p>
              <a:p>
                <a:endParaRPr lang="en-US" b="0" dirty="0"/>
              </a:p>
              <a:p>
                <a:endParaRPr lang="en-NL" dirty="0"/>
              </a:p>
            </p:txBody>
          </p:sp>
        </mc:Choice>
        <mc:Fallback xmlns="">
          <p:sp>
            <p:nvSpPr>
              <p:cNvPr id="26" name="TextBox 25">
                <a:extLst>
                  <a:ext uri="{FF2B5EF4-FFF2-40B4-BE49-F238E27FC236}">
                    <a16:creationId xmlns:a16="http://schemas.microsoft.com/office/drawing/2014/main" id="{20D5EE36-29B9-F3C5-509B-B45F60BDFD2A}"/>
                  </a:ext>
                </a:extLst>
              </p:cNvPr>
              <p:cNvSpPr txBox="1">
                <a:spLocks noRot="1" noChangeAspect="1" noMove="1" noResize="1" noEditPoints="1" noAdjustHandles="1" noChangeArrowheads="1" noChangeShapeType="1" noTextEdit="1"/>
              </p:cNvSpPr>
              <p:nvPr/>
            </p:nvSpPr>
            <p:spPr>
              <a:xfrm>
                <a:off x="3534603" y="2768635"/>
                <a:ext cx="998287" cy="784830"/>
              </a:xfrm>
              <a:prstGeom prst="rect">
                <a:avLst/>
              </a:prstGeom>
              <a:blipFill>
                <a:blip r:embed="rId10"/>
                <a:stretch>
                  <a:fillRect/>
                </a:stretch>
              </a:blipFill>
            </p:spPr>
            <p:txBody>
              <a:bodyPr/>
              <a:lstStyle/>
              <a:p>
                <a:r>
                  <a:rPr lang="en-NL">
                    <a:noFill/>
                  </a:rPr>
                  <a:t> </a:t>
                </a:r>
              </a:p>
            </p:txBody>
          </p:sp>
        </mc:Fallback>
      </mc:AlternateContent>
      <p:sp>
        <p:nvSpPr>
          <p:cNvPr id="24" name="TextBox 23">
            <a:extLst>
              <a:ext uri="{FF2B5EF4-FFF2-40B4-BE49-F238E27FC236}">
                <a16:creationId xmlns:a16="http://schemas.microsoft.com/office/drawing/2014/main" id="{C9AE22EA-1490-C093-D7CF-610748DB3D5D}"/>
              </a:ext>
            </a:extLst>
          </p:cNvPr>
          <p:cNvSpPr txBox="1"/>
          <p:nvPr/>
        </p:nvSpPr>
        <p:spPr>
          <a:xfrm>
            <a:off x="5126191" y="3438197"/>
            <a:ext cx="2925609" cy="507831"/>
          </a:xfrm>
          <a:prstGeom prst="rect">
            <a:avLst/>
          </a:prstGeom>
          <a:noFill/>
        </p:spPr>
        <p:txBody>
          <a:bodyPr wrap="none" rtlCol="0">
            <a:spAutoFit/>
          </a:bodyPr>
          <a:lstStyle/>
          <a:p>
            <a:r>
              <a:rPr lang="en-US" dirty="0">
                <a:solidFill>
                  <a:srgbClr val="C81919"/>
                </a:solidFill>
              </a:rPr>
              <a:t>Delta</a:t>
            </a:r>
            <a:r>
              <a:rPr lang="en-US" dirty="0"/>
              <a:t>: captures uncertainty</a:t>
            </a:r>
          </a:p>
          <a:p>
            <a:r>
              <a:rPr lang="en-US" dirty="0">
                <a:solidFill>
                  <a:srgbClr val="C81919"/>
                </a:solidFill>
              </a:rPr>
              <a:t>P</a:t>
            </a:r>
            <a:r>
              <a:rPr lang="en-US" dirty="0"/>
              <a:t>: captures nominal/linear dynamics</a:t>
            </a:r>
            <a:endParaRPr lang="en-NL" dirty="0"/>
          </a:p>
        </p:txBody>
      </p:sp>
    </p:spTree>
    <p:extLst>
      <p:ext uri="{BB962C8B-B14F-4D97-AF65-F5344CB8AC3E}">
        <p14:creationId xmlns:p14="http://schemas.microsoft.com/office/powerpoint/2010/main" val="397238910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C81919"/>
                </a:solidFill>
                <a:latin typeface="Aptos"/>
                <a:ea typeface="Aptos"/>
                <a:cs typeface="Aptos"/>
              </a:rPr>
              <a:t>Robust Stability </a:t>
            </a:r>
            <a:r>
              <a:rPr lang="en-GB" sz="2500" b="1" i="0" u="none" baseline="0" dirty="0">
                <a:solidFill>
                  <a:srgbClr val="252529"/>
                </a:solidFill>
                <a:latin typeface="Aptos"/>
                <a:ea typeface="Aptos"/>
                <a:cs typeface="Aptos"/>
              </a:rPr>
              <a:t>and Performance</a:t>
            </a:r>
            <a:endParaRPr sz="2500" dirty="0"/>
          </a:p>
        </p:txBody>
      </p:sp>
      <p:pic xmlns:p="http://schemas.openxmlformats.org/presentationml/2006/main" xmlns:a="http://schemas.openxmlformats.org/drawingml/2006/main" xmlns:r="http://schemas.openxmlformats.org/officeDocument/2006/relationships" xmlns:m="http://schemas.openxmlformats.org/officeDocument/2006/math" xmlns:a14="http://schemas.microsoft.com/office/drawing/2010/main" xmlns:mc="http://schemas.openxmlformats.org/markup-compatibility/2006">
        <p:nvPicPr>
          <p:cNvPr id="2" name="Baked figure with larger labels"/>
          <p:cNvPicPr>
            <a:picLocks noChangeAspect="1"/>
          </p:cNvPicPr>
          <p:nvPr/>
        </p:nvPicPr>
        <p:blipFill>
          <a:blip r:embed="rIdBakedFigure2"/>
          <a:stretch>
            <a:fillRect/>
          </a:stretch>
        </p:blipFill>
        <p:spPr>
          <a:xfrm>
            <a:off x="1119188" y="1090612"/>
            <a:ext cx="4310062" cy="1128712"/>
          </a:xfrm>
          <a:prstGeom prst="rect">
            <a:avLst/>
          </a:prstGeom>
        </p:spPr>
      </p:pic>
      <p:sp>
        <p:nvSpPr>
          <p:cNvPr id="123"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29</a:t>
            </a:r>
            <a:endParaRPr sz="800"/>
          </a:p>
        </p:txBody>
      </p:sp>
      <p:pic xmlns:p="http://schemas.openxmlformats.org/presentationml/2006/main" xmlns:a="http://schemas.openxmlformats.org/drawingml/2006/main" xmlns:r="http://schemas.openxmlformats.org/officeDocument/2006/relationships" xmlns:m="http://schemas.openxmlformats.org/officeDocument/2006/math" xmlns:a14="http://schemas.microsoft.com/office/drawing/2010/main" xmlns:mc="http://schemas.openxmlformats.org/markup-compatibility/2006">
        <p:nvPicPr>
          <p:cNvPr id="3" name="Baked figure with larger labels"/>
          <p:cNvPicPr>
            <a:picLocks noChangeAspect="1"/>
          </p:cNvPicPr>
          <p:nvPr/>
        </p:nvPicPr>
        <p:blipFill>
          <a:blip r:embed="rIdBakedFigure3"/>
          <a:stretch>
            <a:fillRect/>
          </a:stretch>
        </p:blipFill>
        <p:spPr>
          <a:xfrm>
            <a:off x="1438275" y="2824162"/>
            <a:ext cx="1976438" cy="1438275"/>
          </a:xfrm>
          <a:prstGeom prst="rect">
            <a:avLst/>
          </a:prstGeom>
        </p:spPr>
      </p:pic>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1F3F843A-51BF-A573-35DF-74D1223308AB}"/>
                  </a:ext>
                </a:extLst>
              </p:cNvPr>
              <p:cNvSpPr txBox="1"/>
              <p:nvPr/>
            </p:nvSpPr>
            <p:spPr>
              <a:xfrm>
                <a:off x="4058029" y="2864115"/>
                <a:ext cx="3377720" cy="923330"/>
              </a:xfrm>
              <a:prstGeom prst="rect">
                <a:avLst/>
              </a:prstGeom>
              <a:noFill/>
            </p:spPr>
            <p:txBody>
              <a:bodyPr wrap="none" rtlCol="0">
                <a:spAutoFit/>
              </a:bodyPr>
              <a:lstStyle/>
              <a:p>
                <a:r>
                  <a:rPr lang="en-US" dirty="0">
                    <a:solidFill>
                      <a:srgbClr val="C81919"/>
                    </a:solidFill>
                  </a:rPr>
                  <a:t>Robust Stability: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endParaRPr lang="en-US" b="0" dirty="0"/>
              </a:p>
              <a:p>
                <a:endParaRPr lang="en-US" b="0" dirty="0"/>
              </a:p>
              <a:p>
                <a:r>
                  <a:rPr lang="en-US" b="0" dirty="0"/>
                  <a:t> </a:t>
                </a:r>
              </a:p>
              <a:p>
                <a:endParaRPr lang="en-NL" dirty="0"/>
              </a:p>
            </p:txBody>
          </p:sp>
        </mc:Choice>
        <mc:Fallback xmlns="">
          <p:sp>
            <p:nvSpPr>
              <p:cNvPr id="27" name="TextBox 26">
                <a:extLst>
                  <a:ext uri="{FF2B5EF4-FFF2-40B4-BE49-F238E27FC236}">
                    <a16:creationId xmlns:a16="http://schemas.microsoft.com/office/drawing/2014/main" id="{1F3F843A-51BF-A573-35DF-74D1223308AB}"/>
                  </a:ext>
                </a:extLst>
              </p:cNvPr>
              <p:cNvSpPr txBox="1">
                <a:spLocks noRot="1" noChangeAspect="1" noMove="1" noResize="1" noEditPoints="1" noAdjustHandles="1" noChangeArrowheads="1" noChangeShapeType="1" noTextEdit="1"/>
              </p:cNvSpPr>
              <p:nvPr/>
            </p:nvSpPr>
            <p:spPr>
              <a:xfrm>
                <a:off x="4058029" y="2864115"/>
                <a:ext cx="3377720" cy="923330"/>
              </a:xfrm>
              <a:prstGeom prst="rect">
                <a:avLst/>
              </a:prstGeom>
              <a:blipFill>
                <a:blip r:embed="rId8"/>
                <a:stretch>
                  <a:fillRect l="-542" t="-1325"/>
                </a:stretch>
              </a:blipFill>
            </p:spPr>
            <p:txBody>
              <a:bodyPr/>
              <a:lstStyle/>
              <a:p>
                <a:r>
                  <a:rPr lang="en-NL">
                    <a:noFill/>
                  </a:rPr>
                  <a:t> </a:t>
                </a:r>
              </a:p>
            </p:txBody>
          </p:sp>
        </mc:Fallback>
      </mc:AlternateContent>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CA9CC1-1597-C2D1-4C99-A47FC7E81CE8}"/>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B42D73EE-D26E-4635-A9E7-26AFAE1C7C5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C81919"/>
                </a:solidFill>
                <a:latin typeface="Aptos"/>
                <a:ea typeface="Aptos"/>
                <a:cs typeface="Aptos"/>
              </a:rPr>
              <a:t>Robust</a:t>
            </a:r>
            <a:r>
              <a:rPr lang="en-GB" sz="2500" b="1" i="0" u="none" baseline="0" dirty="0">
                <a:solidFill>
                  <a:srgbClr val="252529"/>
                </a:solidFill>
                <a:latin typeface="Aptos"/>
                <a:ea typeface="Aptos"/>
                <a:cs typeface="Aptos"/>
              </a:rPr>
              <a:t> Stability and </a:t>
            </a:r>
            <a:r>
              <a:rPr lang="en-GB" sz="2500" b="1" i="0" u="none" baseline="0" dirty="0">
                <a:solidFill>
                  <a:srgbClr val="C81919"/>
                </a:solidFill>
                <a:latin typeface="Aptos"/>
                <a:ea typeface="Aptos"/>
                <a:cs typeface="Aptos"/>
              </a:rPr>
              <a:t>Performance</a:t>
            </a:r>
            <a:endParaRPr sz="2500" dirty="0">
              <a:solidFill>
                <a:srgbClr val="C81919"/>
              </a:solidFill>
            </a:endParaRPr>
          </a:p>
        </p:txBody>
      </p:sp>
      <p:pic xmlns:p="http://schemas.openxmlformats.org/presentationml/2006/main" xmlns:a="http://schemas.openxmlformats.org/drawingml/2006/main" xmlns:r="http://schemas.openxmlformats.org/officeDocument/2006/relationships" xmlns:m="http://schemas.openxmlformats.org/officeDocument/2006/math" xmlns:a14="http://schemas.microsoft.com/office/drawing/2010/main" xmlns:mc="http://schemas.openxmlformats.org/markup-compatibility/2006">
        <p:nvPicPr>
          <p:cNvPr id="2" name="Baked figure with larger labels"/>
          <p:cNvPicPr>
            <a:picLocks noChangeAspect="1"/>
          </p:cNvPicPr>
          <p:nvPr/>
        </p:nvPicPr>
        <p:blipFill>
          <a:blip r:embed="rIdBakedFigure2"/>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FBA4E85C-D9AD-56CF-1589-D67272395582}"/>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55E41374-91B3-EBFF-EE06-B2D6EB3267D1}"/>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29</a:t>
            </a:r>
            <a:endParaRPr sz="800"/>
          </a:p>
        </p:txBody>
      </p:sp>
      <p:pic xmlns:p="http://schemas.openxmlformats.org/presentationml/2006/main" xmlns:a="http://schemas.openxmlformats.org/drawingml/2006/main" xmlns:r="http://schemas.openxmlformats.org/officeDocument/2006/relationships" xmlns:m="http://schemas.openxmlformats.org/officeDocument/2006/math" xmlns:a14="http://schemas.microsoft.com/office/drawing/2010/main" xmlns:mc="http://schemas.openxmlformats.org/markup-compatibility/2006">
        <p:nvPicPr>
          <p:cNvPr id="3" name="Baked figure with larger labels"/>
          <p:cNvPicPr>
            <a:picLocks noChangeAspect="1"/>
          </p:cNvPicPr>
          <p:nvPr/>
        </p:nvPicPr>
        <p:blipFill>
          <a:blip r:embed="rIdBakedFigure3"/>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3313F0C9-99A2-B096-C3E4-76905794F666}"/>
                  </a:ext>
                </a:extLst>
              </p:cNvPr>
              <p:cNvSpPr txBox="1"/>
              <p:nvPr/>
            </p:nvSpPr>
            <p:spPr>
              <a:xfrm>
                <a:off x="4058029" y="2864115"/>
                <a:ext cx="4061305" cy="1338828"/>
              </a:xfrm>
              <a:prstGeom prst="rect">
                <a:avLst/>
              </a:prstGeom>
              <a:noFill/>
            </p:spPr>
            <p:txBody>
              <a:bodyPr wrap="none" rtlCol="0">
                <a:spAutoFit/>
              </a:bodyPr>
              <a:lstStyle/>
              <a:p>
                <a:r>
                  <a:rPr lang="en-US" dirty="0">
                    <a:solidFill>
                      <a:srgbClr val="C81919"/>
                    </a:solidFill>
                  </a:rPr>
                  <a:t>Robust Performance: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a:t>
                </a:r>
                <a:r>
                  <a:rPr lang="en-US" dirty="0"/>
                  <a:t>and performance </a:t>
                </a:r>
              </a:p>
              <a:p>
                <a:r>
                  <a:rPr lang="en-US" dirty="0"/>
                  <a:t>requirements are met</a:t>
                </a:r>
                <a:r>
                  <a:rPr lang="en-US" b="0" dirty="0"/>
                  <a:t>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r>
                  <a:rPr lang="en-US" b="0" dirty="0"/>
                  <a:t> </a:t>
                </a:r>
              </a:p>
              <a:p>
                <a:endParaRPr lang="en-US" b="0" dirty="0"/>
              </a:p>
              <a:p>
                <a:endParaRPr lang="en-US" b="0" dirty="0"/>
              </a:p>
              <a:p>
                <a:r>
                  <a:rPr lang="en-US" b="0" dirty="0"/>
                  <a:t> </a:t>
                </a:r>
              </a:p>
              <a:p>
                <a:endParaRPr lang="en-NL" dirty="0"/>
              </a:p>
            </p:txBody>
          </p:sp>
        </mc:Choice>
        <mc:Fallback xmlns="">
          <p:sp>
            <p:nvSpPr>
              <p:cNvPr id="25" name="TextBox 24">
                <a:extLst>
                  <a:ext uri="{FF2B5EF4-FFF2-40B4-BE49-F238E27FC236}">
                    <a16:creationId xmlns:a16="http://schemas.microsoft.com/office/drawing/2014/main" id="{3313F0C9-99A2-B096-C3E4-76905794F666}"/>
                  </a:ext>
                </a:extLst>
              </p:cNvPr>
              <p:cNvSpPr txBox="1">
                <a:spLocks noRot="1" noChangeAspect="1" noMove="1" noResize="1" noEditPoints="1" noAdjustHandles="1" noChangeArrowheads="1" noChangeShapeType="1" noTextEdit="1"/>
              </p:cNvSpPr>
              <p:nvPr/>
            </p:nvSpPr>
            <p:spPr>
              <a:xfrm>
                <a:off x="4058029" y="2864115"/>
                <a:ext cx="4061305" cy="1338828"/>
              </a:xfrm>
              <a:prstGeom prst="rect">
                <a:avLst/>
              </a:prstGeom>
              <a:blipFill>
                <a:blip r:embed="rId10"/>
                <a:stretch>
                  <a:fillRect l="-450" t="-913"/>
                </a:stretch>
              </a:blipFill>
            </p:spPr>
            <p:txBody>
              <a:bodyPr/>
              <a:lstStyle/>
              <a:p>
                <a:r>
                  <a:rPr lang="en-NL">
                    <a:noFill/>
                  </a:rPr>
                  <a:t> </a:t>
                </a:r>
              </a:p>
            </p:txBody>
          </p:sp>
        </mc:Fallback>
      </mc:AlternateContent>
    </p:spTree>
    <p:extLst>
      <p:ext uri="{BB962C8B-B14F-4D97-AF65-F5344CB8AC3E}">
        <p14:creationId xmlns:p14="http://schemas.microsoft.com/office/powerpoint/2010/main" val="221843600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44DD95-AB8D-D668-BD00-DCAFCDD6F712}"/>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826A5CCF-11D1-CDBC-C891-5FD7FD1D60D9}"/>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Robust</a:t>
            </a:r>
            <a:r>
              <a:rPr lang="en-GB" sz="2500" b="1" i="0" u="none" baseline="0" dirty="0">
                <a:solidFill>
                  <a:srgbClr val="252529"/>
                </a:solidFill>
                <a:latin typeface="Aptos"/>
                <a:ea typeface="Aptos"/>
                <a:cs typeface="Aptos"/>
              </a:rPr>
              <a:t> Stability and </a:t>
            </a:r>
            <a:r>
              <a:rPr lang="en-GB" sz="2500" b="1" i="0" u="none" baseline="0" dirty="0">
                <a:latin typeface="Aptos"/>
                <a:ea typeface="Aptos"/>
                <a:cs typeface="Aptos"/>
              </a:rPr>
              <a:t>Performance</a:t>
            </a:r>
            <a:endParaRPr sz="2500" dirty="0"/>
          </a:p>
        </p:txBody>
      </p:sp>
      <p:pic xmlns:p="http://schemas.openxmlformats.org/presentationml/2006/main" xmlns:a="http://schemas.openxmlformats.org/drawingml/2006/main" xmlns:r="http://schemas.openxmlformats.org/officeDocument/2006/relationships" xmlns:m="http://schemas.openxmlformats.org/officeDocument/2006/math" xmlns:a14="http://schemas.microsoft.com/office/drawing/2010/main" xmlns:mc="http://schemas.openxmlformats.org/markup-compatibility/2006">
        <p:nvPicPr>
          <p:cNvPr id="2" name="Baked figure with larger labels"/>
          <p:cNvPicPr>
            <a:picLocks noChangeAspect="1"/>
          </p:cNvPicPr>
          <p:nvPr/>
        </p:nvPicPr>
        <p:blipFill>
          <a:blip r:embed="rIdBakedFigure2"/>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AF317442-0E0F-CB5A-3101-289D5CA90471}"/>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BE07825B-BF06-B545-E4C9-8732E489040C}"/>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29</a:t>
            </a:r>
            <a:endParaRPr sz="800"/>
          </a:p>
        </p:txBody>
      </p:sp>
      <p:pic xmlns:p="http://schemas.openxmlformats.org/presentationml/2006/main" xmlns:a="http://schemas.openxmlformats.org/drawingml/2006/main" xmlns:r="http://schemas.openxmlformats.org/officeDocument/2006/relationships" xmlns:m="http://schemas.openxmlformats.org/officeDocument/2006/math" xmlns:a14="http://schemas.microsoft.com/office/drawing/2010/main" xmlns:mc="http://schemas.openxmlformats.org/markup-compatibility/2006">
        <p:nvPicPr>
          <p:cNvPr id="3" name="Baked figure with larger labels"/>
          <p:cNvPicPr>
            <a:picLocks noChangeAspect="1"/>
          </p:cNvPicPr>
          <p:nvPr/>
        </p:nvPicPr>
        <p:blipFill>
          <a:blip r:embed="rIdBakedFigure3"/>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FE46ACF1-8E4A-C6CB-246F-D5AE6CDA6C2C}"/>
                  </a:ext>
                </a:extLst>
              </p:cNvPr>
              <p:cNvSpPr txBox="1"/>
              <p:nvPr/>
            </p:nvSpPr>
            <p:spPr>
              <a:xfrm>
                <a:off x="4058029" y="2864115"/>
                <a:ext cx="4061305" cy="1338828"/>
              </a:xfrm>
              <a:prstGeom prst="rect">
                <a:avLst/>
              </a:prstGeom>
              <a:noFill/>
            </p:spPr>
            <p:txBody>
              <a:bodyPr wrap="none" rtlCol="0">
                <a:spAutoFit/>
              </a:bodyPr>
              <a:lstStyle/>
              <a:p>
                <a:r>
                  <a:rPr lang="en-US" dirty="0"/>
                  <a:t>Robust Performance: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a:t>
                </a:r>
                <a:r>
                  <a:rPr lang="en-US" dirty="0"/>
                  <a:t>and performance </a:t>
                </a:r>
              </a:p>
              <a:p>
                <a:r>
                  <a:rPr lang="en-US" dirty="0"/>
                  <a:t>requirements are met</a:t>
                </a:r>
                <a:r>
                  <a:rPr lang="en-US" b="0" dirty="0"/>
                  <a:t>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r>
                  <a:rPr lang="en-US" b="0" dirty="0"/>
                  <a:t> </a:t>
                </a:r>
              </a:p>
              <a:p>
                <a:endParaRPr lang="en-US" b="0" dirty="0"/>
              </a:p>
              <a:p>
                <a:endParaRPr lang="en-US" b="0" dirty="0"/>
              </a:p>
              <a:p>
                <a:r>
                  <a:rPr lang="en-US" b="0" dirty="0"/>
                  <a:t> </a:t>
                </a:r>
              </a:p>
              <a:p>
                <a:endParaRPr lang="en-NL" dirty="0"/>
              </a:p>
            </p:txBody>
          </p:sp>
        </mc:Choice>
        <mc:Fallback xmlns="">
          <p:sp>
            <p:nvSpPr>
              <p:cNvPr id="25" name="TextBox 24">
                <a:extLst>
                  <a:ext uri="{FF2B5EF4-FFF2-40B4-BE49-F238E27FC236}">
                    <a16:creationId xmlns:a16="http://schemas.microsoft.com/office/drawing/2014/main" id="{FE46ACF1-8E4A-C6CB-246F-D5AE6CDA6C2C}"/>
                  </a:ext>
                </a:extLst>
              </p:cNvPr>
              <p:cNvSpPr txBox="1">
                <a:spLocks noRot="1" noChangeAspect="1" noMove="1" noResize="1" noEditPoints="1" noAdjustHandles="1" noChangeArrowheads="1" noChangeShapeType="1" noTextEdit="1"/>
              </p:cNvSpPr>
              <p:nvPr/>
            </p:nvSpPr>
            <p:spPr>
              <a:xfrm>
                <a:off x="4058029" y="2864115"/>
                <a:ext cx="4061305" cy="1338828"/>
              </a:xfrm>
              <a:prstGeom prst="rect">
                <a:avLst/>
              </a:prstGeom>
              <a:blipFill>
                <a:blip r:embed="rId10"/>
                <a:stretch>
                  <a:fillRect l="-450" t="-913"/>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1E312C2B-DA0B-C25D-902C-3AA5CCF6CDCA}"/>
                  </a:ext>
                </a:extLst>
              </p:cNvPr>
              <p:cNvSpPr txBox="1"/>
              <p:nvPr/>
            </p:nvSpPr>
            <p:spPr>
              <a:xfrm>
                <a:off x="4081541" y="3715169"/>
                <a:ext cx="3595151" cy="386324"/>
              </a:xfrm>
              <a:prstGeom prst="rect">
                <a:avLst/>
              </a:prstGeom>
              <a:noFill/>
            </p:spPr>
            <p:txBody>
              <a:bodyPr wrap="none" rtlCol="0">
                <a:spAutoFit/>
              </a:bodyPr>
              <a:lstStyle/>
              <a:p>
                <a:r>
                  <a:rPr lang="en-US" dirty="0">
                    <a:solidFill>
                      <a:srgbClr val="C00000"/>
                    </a:solidFill>
                  </a:rPr>
                  <a:t>Performance metric:  </a:t>
                </a:r>
                <a14:m>
                  <m:oMath xmlns:m="http://schemas.openxmlformats.org/officeDocument/2006/math">
                    <m:sSub>
                      <m:sSubPr>
                        <m:ctrlPr>
                          <a:rPr lang="en-NL" i="1">
                            <a:latin typeface="Cambria Math" panose="02040503050406030204" pitchFamily="18" charset="0"/>
                          </a:rPr>
                        </m:ctrlPr>
                      </m:sSubPr>
                      <m:e>
                        <m:d>
                          <m:dPr>
                            <m:begChr m:val="‖"/>
                            <m:endChr m:val="‖"/>
                            <m:ctrlPr>
                              <a:rPr lang="en-NL" i="1">
                                <a:latin typeface="Cambria Math" panose="02040503050406030204" pitchFamily="18" charset="0"/>
                              </a:rPr>
                            </m:ctrlPr>
                          </m:dPr>
                          <m:e>
                            <m:sSub>
                              <m:sSubPr>
                                <m:ctrlPr>
                                  <a:rPr lang="en-NL" i="1">
                                    <a:latin typeface="Cambria Math" panose="02040503050406030204" pitchFamily="18" charset="0"/>
                                  </a:rPr>
                                </m:ctrlPr>
                              </m:sSubPr>
                              <m:e>
                                <m:r>
                                  <m:rPr>
                                    <m:sty m:val="p"/>
                                  </m:rPr>
                                  <a:rPr lang="en-NL" i="1">
                                    <a:latin typeface="Cambria Math" panose="02040503050406030204" pitchFamily="18" charset="0"/>
                                  </a:rPr>
                                  <m:t>z</m:t>
                                </m:r>
                              </m:e>
                              <m:sub>
                                <m:r>
                                  <m:rPr>
                                    <m:sty m:val="p"/>
                                  </m:rPr>
                                  <a:rPr lang="en-NL" i="1">
                                    <a:latin typeface="Cambria Math" panose="02040503050406030204" pitchFamily="18" charset="0"/>
                                  </a:rPr>
                                  <m:t>p</m:t>
                                </m:r>
                              </m:sub>
                            </m:sSub>
                            <m:r>
                              <a:rPr lang="en-NL" i="1">
                                <a:latin typeface="Cambria Math" panose="02040503050406030204" pitchFamily="18" charset="0"/>
                              </a:rPr>
                              <m:t>(</m:t>
                            </m:r>
                            <m:r>
                              <m:rPr>
                                <m:sty m:val="p"/>
                              </m:rPr>
                              <a:rPr lang="en-NL" i="1">
                                <a:latin typeface="Cambria Math" panose="02040503050406030204" pitchFamily="18" charset="0"/>
                              </a:rPr>
                              <m:t>t</m:t>
                            </m:r>
                            <m:r>
                              <a:rPr lang="en-NL" i="1">
                                <a:latin typeface="Cambria Math" panose="02040503050406030204" pitchFamily="18" charset="0"/>
                              </a:rPr>
                              <m:t>)</m:t>
                            </m:r>
                          </m:e>
                        </m:d>
                      </m:e>
                      <m:sub>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L</m:t>
                            </m:r>
                          </m:e>
                          <m:sub>
                            <m:r>
                              <a:rPr lang="en-US" b="0" i="1" smtClean="0">
                                <a:latin typeface="Cambria Math" panose="02040503050406030204" pitchFamily="18" charset="0"/>
                              </a:rPr>
                              <m:t>2</m:t>
                            </m:r>
                          </m:sub>
                        </m:sSub>
                      </m:sub>
                    </m:sSub>
                    <m:r>
                      <a:rPr lang="en-NL" i="1" smtClean="0">
                        <a:latin typeface="Cambria Math" panose="02040503050406030204" pitchFamily="18" charset="0"/>
                        <a:ea typeface="Cambria Math" panose="02040503050406030204" pitchFamily="18" charset="0"/>
                      </a:rPr>
                      <m:t>≤</m:t>
                    </m:r>
                    <m:r>
                      <a:rPr lang="en-NL" i="1" smtClean="0">
                        <a:solidFill>
                          <a:srgbClr val="C00000"/>
                        </a:solidFill>
                        <a:latin typeface="Cambria Math" panose="02040503050406030204" pitchFamily="18" charset="0"/>
                        <a:ea typeface="Cambria Math" panose="02040503050406030204" pitchFamily="18" charset="0"/>
                      </a:rPr>
                      <m:t>𝛾</m:t>
                    </m:r>
                    <m:sSub>
                      <m:sSubPr>
                        <m:ctrlPr>
                          <a:rPr lang="en-US" b="0" i="1" smtClean="0">
                            <a:latin typeface="Cambria Math" panose="02040503050406030204" pitchFamily="18" charset="0"/>
                          </a:rPr>
                        </m:ctrlPr>
                      </m:sSubPr>
                      <m:e>
                        <m:d>
                          <m:dPr>
                            <m:begChr m:val="‖"/>
                            <m:endChr m:val="‖"/>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w</m:t>
                                </m:r>
                              </m:e>
                              <m:sub>
                                <m:r>
                                  <m:rPr>
                                    <m:sty m:val="p"/>
                                  </m:rPr>
                                  <a:rPr lang="en-NL" i="1">
                                    <a:latin typeface="Cambria Math" panose="02040503050406030204" pitchFamily="18" charset="0"/>
                                  </a:rPr>
                                  <m:t>p</m:t>
                                </m:r>
                              </m:sub>
                            </m:sSub>
                            <m:r>
                              <a:rPr lang="en-NL" i="1">
                                <a:latin typeface="Cambria Math" panose="02040503050406030204" pitchFamily="18" charset="0"/>
                              </a:rPr>
                              <m:t>(</m:t>
                            </m:r>
                            <m:r>
                              <m:rPr>
                                <m:sty m:val="p"/>
                              </m:rPr>
                              <a:rPr lang="en-NL" i="1">
                                <a:latin typeface="Cambria Math" panose="02040503050406030204" pitchFamily="18" charset="0"/>
                              </a:rPr>
                              <m:t>t</m:t>
                            </m:r>
                            <m:r>
                              <a:rPr lang="en-NL" i="1">
                                <a:latin typeface="Cambria Math" panose="02040503050406030204" pitchFamily="18" charset="0"/>
                              </a:rPr>
                              <m:t>)</m:t>
                            </m:r>
                          </m:e>
                        </m:d>
                      </m:e>
                      <m:sub>
                        <m:sSub>
                          <m:sSubPr>
                            <m:ctrlPr>
                              <a:rPr lang="en-US" i="1">
                                <a:latin typeface="Cambria Math" panose="02040503050406030204" pitchFamily="18" charset="0"/>
                              </a:rPr>
                            </m:ctrlPr>
                          </m:sSubPr>
                          <m:e>
                            <m:r>
                              <m:rPr>
                                <m:sty m:val="p"/>
                              </m:rPr>
                              <a:rPr lang="en-US" i="1">
                                <a:latin typeface="Cambria Math" panose="02040503050406030204" pitchFamily="18" charset="0"/>
                              </a:rPr>
                              <m:t>L</m:t>
                            </m:r>
                          </m:e>
                          <m:sub>
                            <m:r>
                              <a:rPr lang="en-US" i="1">
                                <a:latin typeface="Cambria Math" panose="02040503050406030204" pitchFamily="18" charset="0"/>
                              </a:rPr>
                              <m:t>2</m:t>
                            </m:r>
                          </m:sub>
                        </m:sSub>
                      </m:sub>
                    </m:sSub>
                  </m:oMath>
                </a14:m>
                <a:endParaRPr lang="en-NL" dirty="0"/>
              </a:p>
            </p:txBody>
          </p:sp>
        </mc:Choice>
        <mc:Fallback xmlns="">
          <p:sp>
            <p:nvSpPr>
              <p:cNvPr id="28" name="TextBox 27">
                <a:extLst>
                  <a:ext uri="{FF2B5EF4-FFF2-40B4-BE49-F238E27FC236}">
                    <a16:creationId xmlns:a16="http://schemas.microsoft.com/office/drawing/2014/main" id="{1E312C2B-DA0B-C25D-902C-3AA5CCF6CDCA}"/>
                  </a:ext>
                </a:extLst>
              </p:cNvPr>
              <p:cNvSpPr txBox="1">
                <a:spLocks noRot="1" noChangeAspect="1" noMove="1" noResize="1" noEditPoints="1" noAdjustHandles="1" noChangeArrowheads="1" noChangeShapeType="1" noTextEdit="1"/>
              </p:cNvSpPr>
              <p:nvPr/>
            </p:nvSpPr>
            <p:spPr>
              <a:xfrm>
                <a:off x="4081541" y="3715169"/>
                <a:ext cx="3595151" cy="386324"/>
              </a:xfrm>
              <a:prstGeom prst="rect">
                <a:avLst/>
              </a:prstGeom>
              <a:blipFill>
                <a:blip r:embed="rId11"/>
                <a:stretch>
                  <a:fillRect l="-509"/>
                </a:stretch>
              </a:blipFill>
            </p:spPr>
            <p:txBody>
              <a:bodyPr/>
              <a:lstStyle/>
              <a:p>
                <a:r>
                  <a:rPr lang="en-NL">
                    <a:noFill/>
                  </a:rPr>
                  <a:t> </a:t>
                </a:r>
              </a:p>
            </p:txBody>
          </p:sp>
        </mc:Fallback>
      </mc:AlternateContent>
      <p:sp>
        <p:nvSpPr>
          <p:cNvPr id="24" name="TextBox 23">
            <a:extLst>
              <a:ext uri="{FF2B5EF4-FFF2-40B4-BE49-F238E27FC236}">
                <a16:creationId xmlns:a16="http://schemas.microsoft.com/office/drawing/2014/main" id="{D2752B45-7126-1E75-1249-5F3CE812398B}"/>
              </a:ext>
            </a:extLst>
          </p:cNvPr>
          <p:cNvSpPr txBox="1"/>
          <p:nvPr/>
        </p:nvSpPr>
        <p:spPr>
          <a:xfrm>
            <a:off x="5171871" y="4101493"/>
            <a:ext cx="1414490" cy="300082"/>
          </a:xfrm>
          <a:prstGeom prst="rect">
            <a:avLst/>
          </a:prstGeom>
          <a:noFill/>
        </p:spPr>
        <p:txBody>
          <a:bodyPr wrap="none" rtlCol="0">
            <a:spAutoFit/>
          </a:bodyPr>
          <a:lstStyle/>
          <a:p>
            <a:r>
              <a:rPr lang="en-US" dirty="0">
                <a:solidFill>
                  <a:srgbClr val="C81919"/>
                </a:solidFill>
              </a:rPr>
              <a:t>Worst case gain!</a:t>
            </a:r>
            <a:endParaRPr lang="en-NL" dirty="0">
              <a:solidFill>
                <a:srgbClr val="C81919"/>
              </a:solidFill>
            </a:endParaRPr>
          </a:p>
        </p:txBody>
      </p:sp>
    </p:spTree>
    <p:extLst>
      <p:ext uri="{BB962C8B-B14F-4D97-AF65-F5344CB8AC3E}">
        <p14:creationId xmlns:p14="http://schemas.microsoft.com/office/powerpoint/2010/main" val="3764139087"/>
      </p:ext>
    </p:extLst>
  </p:cSld>
  <p:clrMapOvr>
    <a:masterClrMapping/>
  </p:clrMapOvr>
</p:sld>
</file>

<file path=ppt/theme/theme1.xml><?xml version="1.0" encoding="utf-8"?>
<a:theme xmlns:a="http://schemas.openxmlformats.org/drawingml/2006/main" name="TUe - Clean White">
  <a:themeElements>
    <a:clrScheme name="TUe_PPT_V2">
      <a:dk1>
        <a:sysClr val="windowText" lastClr="000000"/>
      </a:dk1>
      <a:lt1>
        <a:sysClr val="window" lastClr="FFFFFF"/>
      </a:lt1>
      <a:dk2>
        <a:srgbClr val="C81919"/>
      </a:dk2>
      <a:lt2>
        <a:srgbClr val="101073"/>
      </a:lt2>
      <a:accent1>
        <a:srgbClr val="C81919"/>
      </a:accent1>
      <a:accent2>
        <a:srgbClr val="9E9EB1"/>
      </a:accent2>
      <a:accent3>
        <a:srgbClr val="0092B5"/>
      </a:accent3>
      <a:accent4>
        <a:srgbClr val="FF9A00"/>
      </a:accent4>
      <a:accent5>
        <a:srgbClr val="101073"/>
      </a:accent5>
      <a:accent6>
        <a:srgbClr val="CEDF00"/>
      </a:accent6>
      <a:hlink>
        <a:srgbClr val="0563C1"/>
      </a:hlink>
      <a:folHlink>
        <a:srgbClr val="954F72"/>
      </a:folHlink>
    </a:clrScheme>
    <a:fontScheme name="Clean White - Aptos">
      <a:majorFont>
        <a:latin typeface="Aptos"/>
        <a:ea typeface=""/>
        <a:cs typeface=""/>
      </a:majorFont>
      <a:minorFont>
        <a:latin typeface="Aptos"/>
        <a:ea typeface=""/>
        <a:cs typeface=""/>
      </a:minorFont>
    </a:fontScheme>
    <a:fmtScheme name="Kantoorthema">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Ue - Clean White" id="{9370F84E-7576-4FDA-B736-A09996DF8429}" vid="{ED81D3C9-A1FB-4E5B-AF38-E92F700A58FD}"/>
    </a:ext>
  </a:extLst>
</a:theme>
</file>

<file path=ppt/theme/theme2.xml><?xml version="1.0" encoding="utf-8"?>
<a:theme xmlns:a="http://schemas.openxmlformats.org/drawingml/2006/main" name="Kantoorthema">
  <a:themeElements>
    <a:clrScheme name="Kantoor">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Kantoor">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Kantoor">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TUe_16x9 (2)</Template>
  <TotalTime>2665</TotalTime>
  <Words>5235</Words>
  <Application>Microsoft Office PowerPoint</Application>
  <PresentationFormat>On-screen Show (16:9)</PresentationFormat>
  <Paragraphs>958</Paragraphs>
  <Slides>42</Slides>
  <Notes>37</Notes>
  <HiddenSlides>0</HiddenSlides>
  <MMClips>5</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42</vt:i4>
      </vt:variant>
    </vt:vector>
  </HeadingPairs>
  <TitlesOfParts>
    <vt:vector size="48" baseType="lpstr">
      <vt:lpstr>Aptos</vt:lpstr>
      <vt:lpstr>Arial</vt:lpstr>
      <vt:lpstr>Calibri</vt:lpstr>
      <vt:lpstr>Calibri Light</vt:lpstr>
      <vt:lpstr>Cambria Math</vt:lpstr>
      <vt:lpstr>TUe - Clean White</vt:lpstr>
      <vt:lpstr>Dual Integral Quadratic Constraints for Robust Control of Partial Integral Equations </vt:lpstr>
      <vt:lpstr>Rigid body representation Ordinary Differential Equation (ODE)</vt:lpstr>
      <vt:lpstr>PowerPoint Presentation</vt:lpstr>
      <vt:lpstr>PowerPoint Presentation</vt:lpstr>
      <vt:lpstr>PowerPoint Presentation</vt:lpstr>
      <vt:lpstr>PowerPoint Presentation</vt:lpstr>
      <vt:lpstr>Neural Mass Model</vt:lpstr>
      <vt:lpstr>Neural Mass Model</vt:lpstr>
      <vt:lpstr>Neural Mass Model</vt:lpstr>
      <vt:lpstr>Neural Mass Model</vt:lpstr>
      <vt:lpstr>Neural Mass Model</vt:lpstr>
      <vt:lpstr>Neural Mass Model</vt:lpstr>
      <vt:lpstr>Brain Stimulation</vt:lpstr>
      <vt:lpstr>Beta-oscilations</vt:lpstr>
      <vt:lpstr>PowerPoint Presentation</vt:lpstr>
      <vt:lpstr>PowerPoint Presentation</vt:lpstr>
      <vt:lpstr>PowerPoint Presentation</vt:lpstr>
      <vt:lpstr>PowerPoint Presentation</vt:lpstr>
      <vt:lpstr>Partial Integral Equations</vt:lpstr>
      <vt:lpstr>Partial Integral Equations</vt:lpstr>
      <vt:lpstr>Partial Integral Equations</vt:lpstr>
      <vt:lpstr>Partial Integral Equations</vt:lpstr>
      <vt:lpstr>Partial Integral Equations</vt:lpstr>
      <vt:lpstr>Partial Integral Equations</vt:lpstr>
      <vt:lpstr>Robust Stability and Performance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Future work</vt:lpstr>
      <vt:lpstr>References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TU/e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Example of a title at the top</dc:title>
  <dc:creator>Ven, I.M.J. van de</dc:creator>
  <cp:lastModifiedBy>Lenssen, Thijs</cp:lastModifiedBy>
  <cp:revision>20</cp:revision>
  <dcterms:created xsi:type="dcterms:W3CDTF">2019-11-27T15:26:32Z</dcterms:created>
  <dcterms:modified xsi:type="dcterms:W3CDTF">2026-09-25T10:59:05Z</dcterms:modified>
</cp:coreProperties>
</file>