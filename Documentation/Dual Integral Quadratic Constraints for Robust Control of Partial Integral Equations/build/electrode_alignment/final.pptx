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6"/>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76" r:id="rId39"/>
    <p:sldId id="474" r:id="rId40"/>
    <p:sldId id="475" r:id="rId41"/>
    <p:sldId id="450" r:id="rId42"/>
    <p:sldId id="478" r:id="rId43"/>
    <p:sldId id="477" r:id="rId44"/>
    <p:sldId id="479" r:id="rId45"/>
    <p:sldId id="480" r:id="rId46"/>
    <p:sldId id="481" r:id="rId47"/>
    <p:sldId id="482" r:id="rId48"/>
    <p:sldId id="483" r:id="rId49"/>
    <p:sldId id="453" r:id="rId50"/>
    <p:sldId id="441" r:id="rId51"/>
    <p:sldId id="471" r:id="rId52"/>
    <p:sldId id="442" r:id="rId53"/>
    <p:sldId id="443" r:id="rId54"/>
    <p:sldId id="439" r:id="rId55"/>
    <p:sldId id="458" r:id="rId56"/>
    <p:sldId id="421" r:id="rId57"/>
    <p:sldId id="427" r:id="rId58"/>
    <p:sldId id="431" r:id="rId59"/>
    <p:sldId id="428" r:id="rId60"/>
    <p:sldId id="429" r:id="rId61"/>
    <p:sldId id="432" r:id="rId62"/>
    <p:sldId id="430" r:id="rId63"/>
    <p:sldId id="433" r:id="rId64"/>
    <p:sldId id="434" r:id="rId65"/>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216F9C"/>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58" autoAdjust="0"/>
    <p:restoredTop sz="85122" autoAdjust="0"/>
  </p:normalViewPr>
  <p:slideViewPr>
    <p:cSldViewPr snapToGrid="0" showGuides="1">
      <p:cViewPr varScale="1">
        <p:scale>
          <a:sx n="124" d="100"/>
          <a:sy n="124" d="100"/>
        </p:scale>
        <p:origin x="2820" y="102"/>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28/09/2026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20BF-45F0-8C73-3D6F-0D00D27B56A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5654815-039C-F0AD-F78B-444162B97BF9}"/>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465537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2F17-4A6A-8967-7AC8-D0F5D95500A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3536BC0-1217-6EA8-D644-8BD64EC14E15}"/>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556209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25949514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8FA96-FF47-0D13-B3DB-51F4882818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47E712-E17B-081D-6D16-7C37AFA0AB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887EA6-B2A8-BE99-C34A-719BFD02FB58}"/>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541307E4-E14D-526F-DEFB-6798B543BDE3}"/>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23551174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F2DF2-EEFE-0697-B312-DA35EA5FFF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0AAC57-0093-5626-15CF-16F41DC846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ED6186-E79B-F794-14C8-37BF8E0187B0}"/>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217D4BB9-AFA5-92B4-8F06-5C1F0979DEE4}"/>
              </a:ext>
            </a:extLst>
          </p:cNvPr>
          <p:cNvSpPr>
            <a:spLocks noGrp="1"/>
          </p:cNvSpPr>
          <p:nvPr>
            <p:ph type="sldNum" sz="quarter" idx="5"/>
          </p:nvPr>
        </p:nvSpPr>
        <p:spPr/>
        <p:txBody>
          <a:bodyPr/>
          <a:lstStyle/>
          <a:p>
            <a:fld id="{AA799BBE-B871-48D7-983C-C0B1D7156DCD}" type="slidenum">
              <a:rPr lang="en-GB" smtClean="0"/>
              <a:t>43</a:t>
            </a:fld>
            <a:endParaRPr lang="en-GB"/>
          </a:p>
        </p:txBody>
      </p:sp>
    </p:spTree>
    <p:extLst>
      <p:ext uri="{BB962C8B-B14F-4D97-AF65-F5344CB8AC3E}">
        <p14:creationId xmlns:p14="http://schemas.microsoft.com/office/powerpoint/2010/main" val="35019664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87EB3-072C-DEC1-1942-C20620E8F9F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74F3A02F-BCD3-AA7C-A45E-B59366B32902}"/>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92514328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69771-A782-CB52-EB72-80B0537742C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C04AB3A-FFFB-F74A-CDAD-C4FCE468F30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264392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426B1-5B98-1A20-31E7-CFF1EAF1D4F5}"/>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6289D27-5C97-1FD4-590D-5CFB94E241B2}"/>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40992429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B29F3-74DB-4879-B54D-A3F0CA811172}"/>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853C085B-5731-C271-6ACE-59759666F0ED}"/>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06283744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CE1ED-2F09-D530-DFF9-704FDCEA1D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4F2D6F-D1F6-03B3-2D09-CC46FCEC69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44353E-BD62-6AF6-31AF-C42D428D4D7D}"/>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9697D77C-96A1-8861-688E-4936A0DD6414}"/>
              </a:ext>
            </a:extLst>
          </p:cNvPr>
          <p:cNvSpPr>
            <a:spLocks noGrp="1"/>
          </p:cNvSpPr>
          <p:nvPr>
            <p:ph type="sldNum" sz="quarter" idx="5"/>
          </p:nvPr>
        </p:nvSpPr>
        <p:spPr/>
        <p:txBody>
          <a:bodyPr/>
          <a:lstStyle/>
          <a:p>
            <a:fld id="{AA799BBE-B871-48D7-983C-C0B1D7156DCD}" type="slidenum">
              <a:rPr lang="en-GB" smtClean="0"/>
              <a:t>48</a:t>
            </a:fld>
            <a:endParaRPr lang="en-GB"/>
          </a:p>
        </p:txBody>
      </p:sp>
    </p:spTree>
    <p:extLst>
      <p:ext uri="{BB962C8B-B14F-4D97-AF65-F5344CB8AC3E}">
        <p14:creationId xmlns:p14="http://schemas.microsoft.com/office/powerpoint/2010/main" val="79294212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59</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60</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61</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62</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63</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64</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slide2springs_editable_370_image34.png"/><Relationship Id="rIdEditable109" Type="http://schemas.openxmlformats.org/officeDocument/2006/relationships/image" Target="../media/slide2springs_editable_375_image39.png"/><Relationship Id="rId13" Type="http://schemas.openxmlformats.org/officeDocument/2006/relationships/image" Target="../media/image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slide2springs_editable_369_image33.png"/><Relationship Id="rIdEditable108" Type="http://schemas.openxmlformats.org/officeDocument/2006/relationships/image" Target="../media/slide2springs_editable_374_image38.png"/><Relationship Id="rIdEditable111" Type="http://schemas.openxmlformats.org/officeDocument/2006/relationships/image" Target="../media/slide2springs_editable_377_image41.png"/><Relationship Id="rId12" Type="http://schemas.openxmlformats.org/officeDocument/2006/relationships/image" Target="../media/image8.png"/><Relationship Id="rId2" Type="http://schemas.openxmlformats.org/officeDocument/2006/relationships/video" Target="../media/media1.mp4"/><Relationship Id="rIdEditable107" Type="http://schemas.openxmlformats.org/officeDocument/2006/relationships/image" Target="../media/slide2springs_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slide2springs_editable_368_image32.png"/><Relationship Id="rIdEditable110" Type="http://schemas.openxmlformats.org/officeDocument/2006/relationships/image" Target="../media/slide2springs_editable_376_image40.png"/><Relationship Id="rId11" Type="http://schemas.openxmlformats.org/officeDocument/2006/relationships/image" Target="../media/image7.png"/><Relationship Id="rId5" Type="http://schemas.openxmlformats.org/officeDocument/2006/relationships/slideLayout" Target="../slideLayouts/slideLayout5.xml"/><Relationship Id="rIdEditable101" Type="http://schemas.openxmlformats.org/officeDocument/2006/relationships/image" Target="../media/slide2springs_editable_367_image31.png"/><Relationship Id="rIdEditable106" Type="http://schemas.openxmlformats.org/officeDocument/2006/relationships/image" Target="../media/slide2springs_editable_372_image36.png"/><Relationship Id="rId10" Type="http://schemas.openxmlformats.org/officeDocument/2006/relationships/image" Target="../media/image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slide2springs_editable_366_image30.png"/><Relationship Id="rIdEditable105" Type="http://schemas.openxmlformats.org/officeDocument/2006/relationships/image" Target="../media/slide2springs_editable_371_image3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0.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image12.png"/><Relationship Id="rId15" Type="http://schemas.openxmlformats.org/officeDocument/2006/relationships/image" Target="../media/image18.png"/><Relationship Id="rId10" Type="http://schemas.openxmlformats.org/officeDocument/2006/relationships/image" Target="../media/image130.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5.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17.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4.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32.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6.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4.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56.png"/><Relationship Id="rId11" Type="http://schemas.openxmlformats.org/officeDocument/2006/relationships/image" Target="../media/image65.png"/><Relationship Id="rId5" Type="http://schemas.openxmlformats.org/officeDocument/2006/relationships/image" Target="../media/image1.png"/><Relationship Id="rId15" Type="http://schemas.openxmlformats.org/officeDocument/2006/relationships/image" Target="../media/image64.gif"/><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46.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15" Type="http://schemas.openxmlformats.org/officeDocument/2006/relationships/image" Target="../media/image78.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4" Type="http://schemas.openxmlformats.org/officeDocument/2006/relationships/image" Target="../media/image65.jpeg"/><Relationship Id="rId9" Type="http://schemas.openxmlformats.org/officeDocument/2006/relationships/image" Target="../media/image72.png"/><Relationship Id="rId14" Type="http://schemas.openxmlformats.org/officeDocument/2006/relationships/image" Target="../media/image77.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transpose_slide23_image731.png"/><Relationship Id="rId7" Type="http://schemas.openxmlformats.org/officeDocument/2006/relationships/image" Target="../media/transpose_slide23_image771.png"/><Relationship Id="rIdBlock107" Type="http://schemas.openxmlformats.org/officeDocument/2006/relationships/image" Target="../media/transpose_slide23_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transpose_slide23_image760.png"/><Relationship Id="rId5" Type="http://schemas.openxmlformats.org/officeDocument/2006/relationships/image" Target="../media/transpose_slide23_image752.png"/><Relationship Id="rId4" Type="http://schemas.openxmlformats.org/officeDocument/2006/relationships/image" Target="../media/transpose_slide23_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transpose_slide24_image731.png"/><Relationship Id="rId5" Type="http://schemas.openxmlformats.org/officeDocument/2006/relationships/image" Target="../media/transpose_slide24_image79.png"/><Relationship Id="rIdBlock105" Type="http://schemas.openxmlformats.org/officeDocument/2006/relationships/image" Target="../media/transpose_slide24_extraction20_image70.png"/><Relationship Id="rId4" Type="http://schemas.openxmlformats.org/officeDocument/2006/relationships/image" Target="../media/transpose_slide24_image781.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9" Type="http://schemas.openxmlformats.org/officeDocument/2006/relationships/image" Target="../media/image770.png"/><Relationship Id="rId14" Type="http://schemas.openxmlformats.org/officeDocument/2006/relationships/image" Target="../media/image68.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3.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79.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79.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transpose_slide31_image770.png"/><Relationship Id="rId13" Type="http://schemas.openxmlformats.org/officeDocument/2006/relationships/image" Target="../media/transpose_slide31_image90.png"/><Relationship Id="rId18" Type="http://schemas.openxmlformats.org/officeDocument/2006/relationships/image" Target="../media/transpose_slide31_image95.png"/><Relationship Id="rIdRevisedLFR129" Type="http://schemas.openxmlformats.org/officeDocument/2006/relationships/image" Target="../media/transpose_slide31_revised_lfr19_image96.png"/><Relationship Id="rIdPillarBlock19" Type="http://schemas.openxmlformats.org/officeDocument/2006/relationships/image" Target="../media/transpose_slide31_image731.png"/><Relationship Id="rId12" Type="http://schemas.openxmlformats.org/officeDocument/2006/relationships/image" Target="../media/transpose_slide31_image89.png"/><Relationship Id="rId17" Type="http://schemas.openxmlformats.org/officeDocument/2006/relationships/image" Target="../media/transpose_slide31_image94.png"/><Relationship Id="rId2" Type="http://schemas.openxmlformats.org/officeDocument/2006/relationships/notesSlide" Target="../notesSlides/notesSlide25.xml"/><Relationship Id="rId16" Type="http://schemas.openxmlformats.org/officeDocument/2006/relationships/image" Target="../media/transpose_slide31_image93.png"/><Relationship Id="rId1" Type="http://schemas.openxmlformats.org/officeDocument/2006/relationships/slideLayout" Target="../slideLayouts/slideLayout6.xml"/><Relationship Id="rId11" Type="http://schemas.openxmlformats.org/officeDocument/2006/relationships/image" Target="../media/transpose_slide31_image88.png"/><Relationship Id="rId15" Type="http://schemas.openxmlformats.org/officeDocument/2006/relationships/image" Target="../media/transpose_slide31_image92.png"/><Relationship Id="rId10" Type="http://schemas.openxmlformats.org/officeDocument/2006/relationships/image" Target="../media/transpose_slide31_image87.png"/><Relationship Id="rId19" Type="http://schemas.openxmlformats.org/officeDocument/2006/relationships/image" Target="../media/transpose_slide31_image96.png"/><Relationship Id="rId9" Type="http://schemas.openxmlformats.org/officeDocument/2006/relationships/image" Target="../media/transpose_slide31_image861.png"/><Relationship Id="rId14" Type="http://schemas.openxmlformats.org/officeDocument/2006/relationships/image" Target="../media/transpose_slide31_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4" Type="http://schemas.openxmlformats.org/officeDocument/2006/relationships/image" Target="../media/image84.png"/><Relationship Id="rId9" Type="http://schemas.openxmlformats.org/officeDocument/2006/relationships/image" Target="../media/image86.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32.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85.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derivation_image107.png"/><Relationship Id="rId3" Type="http://schemas.openxmlformats.org/officeDocument/2006/relationships/image" Target="../media/image106.png"/><Relationship Id="rId7" Type="http://schemas.openxmlformats.org/officeDocument/2006/relationships/image" Target="../media/slide37derivation_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image1070.png"/><Relationship Id="rId5" Type="http://schemas.openxmlformats.org/officeDocument/2006/relationships/image" Target="../media/slide37derivation_slide37norm_slide37narrative_image108.png"/><Relationship Id="rId10" Type="http://schemas.openxmlformats.org/officeDocument/2006/relationships/image" Target="../media/image109.png"/><Relationship Id="rId4" Type="http://schemas.openxmlformats.org/officeDocument/2006/relationships/image" Target="../media/image107.png"/><Relationship Id="rId9" Type="http://schemas.openxmlformats.org/officeDocument/2006/relationships/image" Target="../media/image108.png"/></Relationships>
</file>

<file path=ppt/slides/_rels/slide38.xml.rels><?xml version="1.0" encoding="UTF-8" standalone="yes"?>
<Relationships xmlns="http://schemas.openxmlformats.org/package/2006/relationships"><Relationship Id="rId8" Type="http://schemas.openxmlformats.org/officeDocument/2006/relationships/image" Target="../media/image113.png"/><Relationship Id="rId3" Type="http://schemas.openxmlformats.org/officeDocument/2006/relationships/image" Target="../media/image88.png"/><Relationship Id="rId7" Type="http://schemas.openxmlformats.org/officeDocument/2006/relationships/image" Target="../media/image112.png"/><Relationship Id="rId2" Type="http://schemas.openxmlformats.org/officeDocument/2006/relationships/image" Target="../media/image87.png"/><Relationship Id="rId1" Type="http://schemas.openxmlformats.org/officeDocument/2006/relationships/slideLayout" Target="../slideLayouts/slideLayout12.xml"/><Relationship Id="rId6" Type="http://schemas.openxmlformats.org/officeDocument/2006/relationships/image" Target="../media/image111.png"/><Relationship Id="rId5" Type="http://schemas.openxmlformats.org/officeDocument/2006/relationships/image" Target="../media/slide38theta_image112.png"/><Relationship Id="rId4" Type="http://schemas.openxmlformats.org/officeDocument/2006/relationships/image" Target="../media/slide38theta_image111.png"/></Relationships>
</file>

<file path=ppt/slides/_rels/slide39.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2" Type="http://schemas.openxmlformats.org/officeDocument/2006/relationships/notesSlide" Target="../notesSlides/notesSlide3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9" Type="http://schemas.openxmlformats.org/officeDocument/2006/relationships/image" Target="../media/image780.png"/></Relationships>
</file>

<file path=ppt/slides/_rels/slide40.xml.rels><?xml version="1.0" encoding="UTF-8" standalone="yes"?>
<Relationships xmlns="http://schemas.openxmlformats.org/package/2006/relationships"><Relationship Id="rId8" Type="http://schemas.openxmlformats.org/officeDocument/2006/relationships/image" Target="../media/image971.png"/><Relationship Id="rId13" Type="http://schemas.openxmlformats.org/officeDocument/2006/relationships/image" Target="../media/image1020.png"/><Relationship Id="rId18" Type="http://schemas.openxmlformats.org/officeDocument/2006/relationships/image" Target="../media/image1140.png"/><Relationship Id="rId3" Type="http://schemas.openxmlformats.org/officeDocument/2006/relationships/image" Target="../media/image84.png"/><Relationship Id="rId7" Type="http://schemas.openxmlformats.org/officeDocument/2006/relationships/image" Target="../media/image961.png"/><Relationship Id="rId12" Type="http://schemas.openxmlformats.org/officeDocument/2006/relationships/image" Target="../media/image1011.png"/><Relationship Id="rId17" Type="http://schemas.openxmlformats.org/officeDocument/2006/relationships/image" Target="../media/image1130.png"/><Relationship Id="rId2" Type="http://schemas.openxmlformats.org/officeDocument/2006/relationships/notesSlide" Target="../notesSlides/notesSlide33.xml"/><Relationship Id="rId16" Type="http://schemas.openxmlformats.org/officeDocument/2006/relationships/image" Target="../media/image1120.png"/><Relationship Id="rId1" Type="http://schemas.openxmlformats.org/officeDocument/2006/relationships/slideLayout" Target="../slideLayouts/slideLayout6.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5" Type="http://schemas.openxmlformats.org/officeDocument/2006/relationships/image" Target="../media/image1110.png"/><Relationship Id="rId10" Type="http://schemas.openxmlformats.org/officeDocument/2006/relationships/image" Target="../media/image1090.png"/><Relationship Id="rId4" Type="http://schemas.openxmlformats.org/officeDocument/2006/relationships/image" Target="../media/image89.png"/><Relationship Id="rId9" Type="http://schemas.openxmlformats.org/officeDocument/2006/relationships/image" Target="../media/image981.png"/><Relationship Id="rId14" Type="http://schemas.openxmlformats.org/officeDocument/2006/relationships/image" Target="../media/image1100.png"/></Relationships>
</file>

<file path=ppt/slides/_rels/slide41.xml.rels><?xml version="1.0" encoding="UTF-8" standalone="yes"?>
<Relationships xmlns="http://schemas.openxmlformats.org/package/2006/relationships"><Relationship Id="rId8" Type="http://schemas.openxmlformats.org/officeDocument/2006/relationships/image" Target="../media/transpose_slide41_image119.png"/><Relationship Id="rId13" Type="http://schemas.openxmlformats.org/officeDocument/2006/relationships/image" Target="../media/transpose_slide41_slide41original_restore41_image124.png"/><Relationship Id="rId26" Type="http://schemas.openxmlformats.org/officeDocument/2006/relationships/image" Target="../media/transpose_slide41_image1290.png"/><Relationship Id="rId3" Type="http://schemas.openxmlformats.org/officeDocument/2006/relationships/image" Target="../media/transpose_slide41_image115.png"/><Relationship Id="rId21" Type="http://schemas.openxmlformats.org/officeDocument/2006/relationships/image" Target="../media/transpose_slide41_image127.png"/><Relationship Id="rId34" Type="http://schemas.openxmlformats.org/officeDocument/2006/relationships/image" Target="../media/transpose_slide41_image1350.png"/><Relationship Id="rId7" Type="http://schemas.openxmlformats.org/officeDocument/2006/relationships/image" Target="../media/transpose_slide41_slide41original_restore41_image118.png"/><Relationship Id="rId25" Type="http://schemas.openxmlformats.org/officeDocument/2006/relationships/image" Target="../media/transpose_slide41_image131.png"/><Relationship Id="rId33" Type="http://schemas.openxmlformats.org/officeDocument/2006/relationships/image" Target="../media/transpose_slide41_image136.png"/><Relationship Id="rId2" Type="http://schemas.openxmlformats.org/officeDocument/2006/relationships/notesSlide" Target="../notesSlides/notesSlide34.xml"/><Relationship Id="rId16" Type="http://schemas.openxmlformats.org/officeDocument/2006/relationships/image" Target="../media/transpose_slide41_image124.png"/><Relationship Id="rId20" Type="http://schemas.openxmlformats.org/officeDocument/2006/relationships/image" Target="../media/transpose_slide41_image126.png"/><Relationship Id="rId29" Type="http://schemas.openxmlformats.org/officeDocument/2006/relationships/image" Target="../media/transpose_slide41_image133.png"/><Relationship Id="rId1" Type="http://schemas.openxmlformats.org/officeDocument/2006/relationships/slideLayout" Target="../slideLayouts/slideLayout12.xml"/><Relationship Id="rId6" Type="http://schemas.openxmlformats.org/officeDocument/2006/relationships/image" Target="../media/transpose_slide41_image118.png"/><Relationship Id="rId24" Type="http://schemas.openxmlformats.org/officeDocument/2006/relationships/image" Target="../media/transpose_slide41_image129.png"/><Relationship Id="rId32" Type="http://schemas.openxmlformats.org/officeDocument/2006/relationships/image" Target="../media/transpose_slide41_image1330.png"/><Relationship Id="rId5" Type="http://schemas.openxmlformats.org/officeDocument/2006/relationships/image" Target="../media/transpose_slide41_image117.png"/><Relationship Id="rId15" Type="http://schemas.openxmlformats.org/officeDocument/2006/relationships/image" Target="../media/transpose_slide41_image123.png"/><Relationship Id="rId23" Type="http://schemas.openxmlformats.org/officeDocument/2006/relationships/image" Target="../media/transpose_slide41_slide41original_image116.png"/><Relationship Id="rId28" Type="http://schemas.openxmlformats.org/officeDocument/2006/relationships/image" Target="../media/transpose_slide41_image132.png"/><Relationship Id="rId10" Type="http://schemas.openxmlformats.org/officeDocument/2006/relationships/image" Target="../media/transpose_slide41_image121.png"/><Relationship Id="rId19" Type="http://schemas.openxmlformats.org/officeDocument/2006/relationships/image" Target="../media/transpose_slide41_slide41original_restore41_image132.png"/><Relationship Id="rId31" Type="http://schemas.openxmlformats.org/officeDocument/2006/relationships/image" Target="../media/transpose_slide41_image135.png"/><Relationship Id="rId4" Type="http://schemas.openxmlformats.org/officeDocument/2006/relationships/image" Target="../media/transpose_slide41_image116.png"/><Relationship Id="rId9" Type="http://schemas.openxmlformats.org/officeDocument/2006/relationships/image" Target="../media/transpose_slide41_image120.png"/><Relationship Id="rId14" Type="http://schemas.openxmlformats.org/officeDocument/2006/relationships/image" Target="../media/transpose_slide41_image122.png"/><Relationship Id="rId22" Type="http://schemas.openxmlformats.org/officeDocument/2006/relationships/image" Target="../media/transpose_slide41_image128.png"/><Relationship Id="rId27" Type="http://schemas.openxmlformats.org/officeDocument/2006/relationships/image" Target="../media/transpose_slide41_image1310.png"/><Relationship Id="rId30" Type="http://schemas.openxmlformats.org/officeDocument/2006/relationships/image" Target="../media/transpose_slide41_image134.png"/></Relationships>
</file>

<file path=ppt/slides/_rels/slide42.xml.rels><?xml version="1.0" encoding="UTF-8" standalone="yes"?>
<Relationships xmlns="http://schemas.openxmlformats.org/package/2006/relationships"><Relationship Id="rId3" Type="http://schemas.openxmlformats.org/officeDocument/2006/relationships/image" Target="../media/transpose_slide42_image137.png"/><Relationship Id="rId2" Type="http://schemas.openxmlformats.org/officeDocument/2006/relationships/notesSlide" Target="../notesSlides/notesSlide35.xml"/><Relationship Id="rId1" Type="http://schemas.openxmlformats.org/officeDocument/2006/relationships/slideLayout" Target="../slideLayouts/slideLayout12.xml"/><Relationship Id="rId6" Type="http://schemas.openxmlformats.org/officeDocument/2006/relationships/image" Target="../media/transpose_slide42_image135.png"/><Relationship Id="rId5" Type="http://schemas.openxmlformats.org/officeDocument/2006/relationships/image" Target="../media/transpose_slide42_image139.png"/><Relationship Id="rId4" Type="http://schemas.openxmlformats.org/officeDocument/2006/relationships/image" Target="../media/transpose_slide42_image138.png"/></Relationships>
</file>

<file path=ppt/slides/_rels/slide43.xml.rels><?xml version="1.0" encoding="UTF-8" standalone="yes"?>
<Relationships xmlns="http://schemas.openxmlformats.org/package/2006/relationships"><Relationship Id="rId8" Type="http://schemas.openxmlformats.org/officeDocument/2006/relationships/image" Target="../media/transpose_slide43_slide43full_image144.png"/><Relationship Id="rId13" Type="http://schemas.openxmlformats.org/officeDocument/2006/relationships/image" Target="../media/transpose_slide43_image140.png"/><Relationship Id="rId18" Type="http://schemas.openxmlformats.org/officeDocument/2006/relationships/image" Target="../media/transpose_slide43_slide43full_image155.png"/><Relationship Id="rId26" Type="http://schemas.openxmlformats.org/officeDocument/2006/relationships/image" Target="../media/transpose_slide43_slide43full_image163.png"/><Relationship Id="rId3" Type="http://schemas.openxmlformats.org/officeDocument/2006/relationships/image" Target="../media/transpose_slide43_slide43full_image140.png"/><Relationship Id="rId21" Type="http://schemas.openxmlformats.org/officeDocument/2006/relationships/image" Target="../media/transpose_slide43_slide43full_image158.png"/><Relationship Id="rId7" Type="http://schemas.openxmlformats.org/officeDocument/2006/relationships/image" Target="../media/transpose_slide43_slide43full_image143.png"/><Relationship Id="rId12" Type="http://schemas.openxmlformats.org/officeDocument/2006/relationships/image" Target="../media/transpose_slide43_slide43full_image148.png"/><Relationship Id="rId17" Type="http://schemas.openxmlformats.org/officeDocument/2006/relationships/image" Target="../media/transpose_slide43_slide43full_image154.png"/><Relationship Id="rId25" Type="http://schemas.openxmlformats.org/officeDocument/2006/relationships/image" Target="../media/transpose_slide43_slide43full_image162.png"/><Relationship Id="rId2" Type="http://schemas.openxmlformats.org/officeDocument/2006/relationships/notesSlide" Target="../notesSlides/notesSlide36.xml"/><Relationship Id="rId16" Type="http://schemas.openxmlformats.org/officeDocument/2006/relationships/image" Target="../media/transpose_slide43_slide43full_image153.png"/><Relationship Id="rId20" Type="http://schemas.openxmlformats.org/officeDocument/2006/relationships/image" Target="../media/transpose_slide43_slide43full_image157.png"/><Relationship Id="rId29" Type="http://schemas.openxmlformats.org/officeDocument/2006/relationships/image" Target="../media/transpose_slide43_slide43full_image166.png"/><Relationship Id="rId1" Type="http://schemas.openxmlformats.org/officeDocument/2006/relationships/slideLayout" Target="../slideLayouts/slideLayout12.xml"/><Relationship Id="rId6" Type="http://schemas.openxmlformats.org/officeDocument/2006/relationships/image" Target="../media/transpose_slide43_slide43full_slide43animated_slide43theta_image143.png"/><Relationship Id="rId11" Type="http://schemas.openxmlformats.org/officeDocument/2006/relationships/image" Target="../media/transpose_slide43_slide43full_image147.png"/><Relationship Id="rId24" Type="http://schemas.openxmlformats.org/officeDocument/2006/relationships/image" Target="../media/transpose_slide43_slide43full_image161.png"/><Relationship Id="rId5" Type="http://schemas.openxmlformats.org/officeDocument/2006/relationships/image" Target="../media/transpose_slide43_slide43full_image142.png"/><Relationship Id="rId15" Type="http://schemas.openxmlformats.org/officeDocument/2006/relationships/image" Target="../media/transpose_slide43_slide43full_image152.png"/><Relationship Id="rId23" Type="http://schemas.openxmlformats.org/officeDocument/2006/relationships/image" Target="../media/transpose_slide43_slide43full_image160.png"/><Relationship Id="rId28" Type="http://schemas.openxmlformats.org/officeDocument/2006/relationships/image" Target="../media/transpose_slide43_slide43full_image165.png"/><Relationship Id="rId10" Type="http://schemas.openxmlformats.org/officeDocument/2006/relationships/image" Target="../media/transpose_slide43_slide43full_image146.png"/><Relationship Id="rId19" Type="http://schemas.openxmlformats.org/officeDocument/2006/relationships/image" Target="../media/transpose_slide43_slide43full_image156.png"/><Relationship Id="rId31" Type="http://schemas.openxmlformats.org/officeDocument/2006/relationships/image" Target="../media/transpose_slide43_slide43full_image168.png"/><Relationship Id="rId4" Type="http://schemas.openxmlformats.org/officeDocument/2006/relationships/image" Target="../media/transpose_slide43_slide43full_image141.png"/><Relationship Id="rId9" Type="http://schemas.openxmlformats.org/officeDocument/2006/relationships/image" Target="../media/transpose_slide43_slide43full_image145.png"/><Relationship Id="rId14" Type="http://schemas.openxmlformats.org/officeDocument/2006/relationships/image" Target="../media/transpose_slide43_slide43full_image151.png"/><Relationship Id="rId22" Type="http://schemas.openxmlformats.org/officeDocument/2006/relationships/image" Target="../media/transpose_slide43_slide43full_image159.png"/><Relationship Id="rId27" Type="http://schemas.openxmlformats.org/officeDocument/2006/relationships/image" Target="../media/transpose_slide43_slide43full_image164.png"/><Relationship Id="rId30" Type="http://schemas.openxmlformats.org/officeDocument/2006/relationships/image" Target="../media/transpose_slide43_slide43full_image167.png"/></Relationships>
</file>

<file path=ppt/slides/_rels/slide44.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37.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6" Type="http://schemas.openxmlformats.org/officeDocument/2006/relationships/image" Target="../media/image9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SlideFlow119" Type="http://schemas.openxmlformats.org/officeDocument/2006/relationships/image" Target="../media/image92.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SlideFlow118" Type="http://schemas.openxmlformats.org/officeDocument/2006/relationships/image" Target="../media/image91.png"/><Relationship Id="rId9" Type="http://schemas.openxmlformats.org/officeDocument/2006/relationships/image" Target="../media/image770.png"/><Relationship Id="rId14" Type="http://schemas.openxmlformats.org/officeDocument/2006/relationships/image" Target="../media/image68.jpeg"/><Relationship Id="rIdSlideFlow121" Type="http://schemas.openxmlformats.org/officeDocument/2006/relationships/image" Target="../media/image93.png"/></Relationships>
</file>

<file path=ppt/slides/_rels/slide45.xml.rels><?xml version="1.0" encoding="UTF-8" standalone="yes"?>
<Relationships xmlns="http://schemas.openxmlformats.org/package/2006/relationships"><Relationship Id="rId13" Type="http://schemas.openxmlformats.org/officeDocument/2006/relationships/image" Target="../media/image91.png"/><Relationship Id="rIdSlideFlow117" Type="http://schemas.openxmlformats.org/officeDocument/2006/relationships/image" Target="../media/image740.png"/><Relationship Id="rId18" Type="http://schemas.openxmlformats.org/officeDocument/2006/relationships/image" Target="../media/image68.jpeg"/><Relationship Id="rId3" Type="http://schemas.openxmlformats.org/officeDocument/2006/relationships/image" Target="../media/image90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SlideFlow116" Type="http://schemas.openxmlformats.org/officeDocument/2006/relationships/image" Target="../media/image81.png"/><Relationship Id="rIdSlideFlow120" Type="http://schemas.openxmlformats.org/officeDocument/2006/relationships/image" Target="../media/extraction20_image70.png"/><Relationship Id="rId12" Type="http://schemas.openxmlformats.org/officeDocument/2006/relationships/image" Target="../media/image800.png"/><Relationship Id="rId17" Type="http://schemas.openxmlformats.org/officeDocument/2006/relationships/image" Target="../media/image67.png"/><Relationship Id="rIdSlideFlow124" Type="http://schemas.openxmlformats.org/officeDocument/2006/relationships/image" Target="../media/image114.png"/><Relationship Id="rId2" Type="http://schemas.openxmlformats.org/officeDocument/2006/relationships/notesSlide" Target="../notesSlides/notesSlide38.xml"/><Relationship Id="rIdRevisedLFR128" Type="http://schemas.openxmlformats.org/officeDocument/2006/relationships/image" Target="../media/revised_lfr19_image102.png"/><Relationship Id="rId16" Type="http://schemas.openxmlformats.org/officeDocument/2006/relationships/image" Target="../media/image90.png"/><Relationship Id="rIdSlideFlow115" Type="http://schemas.openxmlformats.org/officeDocument/2006/relationships/image" Target="../media/image722.png"/><Relationship Id="rId20" Type="http://schemas.openxmlformats.org/officeDocument/2006/relationships/image" Target="../media/image94.png"/><Relationship Id="rId1" Type="http://schemas.openxmlformats.org/officeDocument/2006/relationships/slideLayout" Target="../slideLayouts/slideLayout6.xml"/><Relationship Id="rId11" Type="http://schemas.openxmlformats.org/officeDocument/2006/relationships/image" Target="../media/image790.png"/><Relationship Id="rIdSlideFlow119" Type="http://schemas.openxmlformats.org/officeDocument/2006/relationships/image" Target="../media/revised_lfr19_image102.png"/><Relationship Id="rId15" Type="http://schemas.openxmlformats.org/officeDocument/2006/relationships/image" Target="../media/image93.png"/><Relationship Id="rIdSlideFlow114" Type="http://schemas.openxmlformats.org/officeDocument/2006/relationships/image" Target="../media/revised_lfr19_image96.png"/><Relationship Id="rId10" Type="http://schemas.openxmlformats.org/officeDocument/2006/relationships/image" Target="../media/image82.png"/><Relationship Id="rIdSlideFlow118" Type="http://schemas.openxmlformats.org/officeDocument/2006/relationships/image" Target="../media/image751.png"/><Relationship Id="rId19" Type="http://schemas.openxmlformats.org/officeDocument/2006/relationships/image" Target="../media/image7.jpg"/><Relationship Id="rIdSlideFlow126" Type="http://schemas.openxmlformats.org/officeDocument/2006/relationships/image" Target="../media/image97.png"/><Relationship Id="rId9" Type="http://schemas.openxmlformats.org/officeDocument/2006/relationships/image" Target="../media/image770.png"/><Relationship Id="rId14" Type="http://schemas.openxmlformats.org/officeDocument/2006/relationships/image" Target="../media/image92.png"/></Relationships>
</file>

<file path=ppt/slides/_rels/slide46.xml.rels><?xml version="1.0" encoding="UTF-8" standalone="yes"?>
<Relationships xmlns="http://schemas.openxmlformats.org/package/2006/relationships"><Relationship Id="rId8" Type="http://schemas.openxmlformats.org/officeDocument/2006/relationships/image" Target="../media/image94.png"/><Relationship Id="rIdSlideFlow112" Type="http://schemas.openxmlformats.org/officeDocument/2006/relationships/image" Target="../media/image790.png"/><Relationship Id="rId3" Type="http://schemas.openxmlformats.org/officeDocument/2006/relationships/image" Target="../media/image95.png"/><Relationship Id="rIdSlideFlow108" Type="http://schemas.openxmlformats.org/officeDocument/2006/relationships/image" Target="../media/image900.png"/><Relationship Id="rIdSlideFlow116" Type="http://schemas.openxmlformats.org/officeDocument/2006/relationships/image" Target="../media/image93.png"/><Relationship Id="rId7" Type="http://schemas.openxmlformats.org/officeDocument/2006/relationships/image" Target="../media/image114.png"/><Relationship Id="rIdSlideFlow111" Type="http://schemas.openxmlformats.org/officeDocument/2006/relationships/image" Target="../media/image82.png"/><Relationship Id="rId2" Type="http://schemas.openxmlformats.org/officeDocument/2006/relationships/notesSlide" Target="../notesSlides/notesSlide39.xml"/><Relationship Id="rIdSlideFlow115" Type="http://schemas.openxmlformats.org/officeDocument/2006/relationships/image" Target="../media/image731.png"/><Relationship Id="rId1" Type="http://schemas.openxmlformats.org/officeDocument/2006/relationships/slideLayout" Target="../slideLayouts/slideLayout6.xml"/><Relationship Id="rId6" Type="http://schemas.openxmlformats.org/officeDocument/2006/relationships/image" Target="../media/image90.png"/><Relationship Id="rIdSlideFlow110" Type="http://schemas.openxmlformats.org/officeDocument/2006/relationships/image" Target="../media/image770.png"/><Relationship Id="rId5" Type="http://schemas.openxmlformats.org/officeDocument/2006/relationships/image" Target="../media/image97.png"/><Relationship Id="rIdSlideFlow114" Type="http://schemas.openxmlformats.org/officeDocument/2006/relationships/image" Target="../media/revised_lfr19_image102.png"/><Relationship Id="rId4" Type="http://schemas.openxmlformats.org/officeDocument/2006/relationships/image" Target="../media/image96.png"/><Relationship Id="rIdSlideFlow109" Type="http://schemas.openxmlformats.org/officeDocument/2006/relationships/image" Target="../media/revised_lfr19_image96.png"/><Relationship Id="rIdSlideFlow113" Type="http://schemas.openxmlformats.org/officeDocument/2006/relationships/image" Target="../media/image800.png"/></Relationships>
</file>

<file path=ppt/slides/_rels/slide47.xml.rels><?xml version="1.0" encoding="UTF-8" standalone="yes"?>
<Relationships xmlns="http://schemas.openxmlformats.org/package/2006/relationships"><Relationship Id="rIdSlideFlow104" Type="http://schemas.openxmlformats.org/officeDocument/2006/relationships/image" Target="../media/image95.png"/><Relationship Id="rId3" Type="http://schemas.openxmlformats.org/officeDocument/2006/relationships/image" Target="../media/image116.png"/><Relationship Id="rId2" Type="http://schemas.openxmlformats.org/officeDocument/2006/relationships/notesSlide" Target="../notesSlides/notesSlide40.xml"/><Relationship Id="rIdSlideFlow107" Type="http://schemas.openxmlformats.org/officeDocument/2006/relationships/image" Target="../media/image97.png"/><Relationship Id="rId1" Type="http://schemas.openxmlformats.org/officeDocument/2006/relationships/slideLayout" Target="../slideLayouts/slideLayout6.xml"/><Relationship Id="rId5" Type="http://schemas.openxmlformats.org/officeDocument/2006/relationships/image" Target="../media/image90.png"/><Relationship Id="rIdSlideFlow105" Type="http://schemas.openxmlformats.org/officeDocument/2006/relationships/image" Target="../media/image96.png"/><Relationship Id="rId4" Type="http://schemas.openxmlformats.org/officeDocument/2006/relationships/image" Target="../media/image94.png"/></Relationships>
</file>

<file path=ppt/slides/_rels/slide48.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56.png"/><Relationship Id="rId11" Type="http://schemas.openxmlformats.org/officeDocument/2006/relationships/image" Target="../media/image65.png"/><Relationship Id="rId5" Type="http://schemas.openxmlformats.org/officeDocument/2006/relationships/image" Target="../media/image1.png"/><Relationship Id="rId15" Type="http://schemas.openxmlformats.org/officeDocument/2006/relationships/image" Target="../media/image64.gif"/><Relationship Id="rId10" Type="http://schemas.openxmlformats.org/officeDocument/2006/relationships/image" Target="../media/image64.png"/><Relationship Id="rId4" Type="http://schemas.openxmlformats.org/officeDocument/2006/relationships/notesSlide" Target="../notesSlides/notesSlide41.xml"/><Relationship Id="rId9" Type="http://schemas.openxmlformats.org/officeDocument/2006/relationships/image" Target="../media/image58.png"/><Relationship Id="rId14" Type="http://schemas.openxmlformats.org/officeDocument/2006/relationships/image" Target="../media/image63.png"/></Relationships>
</file>

<file path=ppt/slides/_rels/slide49.xml.rels><?xml version="1.0" encoding="UTF-8" standalone="yes"?>
<Relationships xmlns="http://schemas.openxmlformats.org/package/2006/relationships"><Relationship Id="rId8" Type="http://schemas.openxmlformats.org/officeDocument/2006/relationships/image" Target="../media/slide48top_image57.png"/><Relationship Id="rId13" Type="http://schemas.openxmlformats.org/officeDocument/2006/relationships/image" Target="../media/slide48top_image66.png"/><Relationship Id="rId18" Type="http://schemas.openxmlformats.org/officeDocument/2006/relationships/image" Target="../media/slide48top_image118.png"/><Relationship Id="rId3" Type="http://schemas.openxmlformats.org/officeDocument/2006/relationships/slideLayout" Target="../slideLayouts/slideLayout5.xml"/><Relationship Id="rId7" Type="http://schemas.openxmlformats.org/officeDocument/2006/relationships/image" Target="../media/slide48top_image560.png"/><Relationship Id="rId12" Type="http://schemas.openxmlformats.org/officeDocument/2006/relationships/image" Target="../media/slide48top_image61.png"/><Relationship Id="rId17" Type="http://schemas.openxmlformats.org/officeDocument/2006/relationships/image" Target="../media/slide48top_image117.png"/><Relationship Id="rId2" Type="http://schemas.openxmlformats.org/officeDocument/2006/relationships/video" Target="../media/media7.mp4"/><Relationship Id="rId16" Type="http://schemas.openxmlformats.org/officeDocument/2006/relationships/image" Target="../media/slide48top_image701.png"/><Relationship Id="rId20" Type="http://schemas.openxmlformats.org/officeDocument/2006/relationships/image" Target="../media/image115.png"/><Relationship Id="rId1" Type="http://schemas.microsoft.com/office/2007/relationships/media" Target="../media/media7.mp4"/><Relationship Id="rId6" Type="http://schemas.openxmlformats.org/officeDocument/2006/relationships/image" Target="../media/slide48top_image220.png"/><Relationship Id="rId11" Type="http://schemas.openxmlformats.org/officeDocument/2006/relationships/image" Target="../media/slide48top_image65.png"/><Relationship Id="rId5" Type="http://schemas.openxmlformats.org/officeDocument/2006/relationships/image" Target="../media/image110.png"/><Relationship Id="rId15" Type="http://schemas.openxmlformats.org/officeDocument/2006/relationships/image" Target="../media/slide48top_image691.png"/><Relationship Id="rId10" Type="http://schemas.openxmlformats.org/officeDocument/2006/relationships/image" Target="../media/slide48top_image64.png"/><Relationship Id="rId19" Type="http://schemas.openxmlformats.org/officeDocument/2006/relationships/image" Target="../media/slide48top_image119.png"/><Relationship Id="rId4" Type="http://schemas.openxmlformats.org/officeDocument/2006/relationships/image" Target="../media/image1.png"/><Relationship Id="rId9" Type="http://schemas.openxmlformats.org/officeDocument/2006/relationships/image" Target="../media/slide48top_image58.png"/><Relationship Id="rId14" Type="http://schemas.openxmlformats.org/officeDocument/2006/relationships/image" Target="../media/slide48top_image681.png"/></Relationships>
</file>

<file path=ppt/slides/_rels/slide50.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17.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42.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51.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43.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52.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18.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44.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53.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19.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45.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46.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20.png"/><Relationship Id="rIdClosing4" Type="http://schemas.openxmlformats.org/officeDocument/2006/relationships/image" Target="../media/image33.png"/><Relationship Id="rId4" Type="http://schemas.openxmlformats.org/officeDocument/2006/relationships/image" Target="../media/image7.jpg"/></Relationships>
</file>

<file path=ppt/slides/_rels/slide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57.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47.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8.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48.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9.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9.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60.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5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61.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51.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22.png"/></Relationships>
</file>

<file path=ppt/slides/_rels/slide62.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21.png"/><Relationship Id="rId2" Type="http://schemas.openxmlformats.org/officeDocument/2006/relationships/notesSlide" Target="../notesSlides/notesSlide52.xml"/><Relationship Id="rId1" Type="http://schemas.openxmlformats.org/officeDocument/2006/relationships/slideLayout" Target="../slideLayouts/slideLayout12.xml"/><Relationship Id="rId4" Type="http://schemas.openxmlformats.org/officeDocument/2006/relationships/image" Target="../media/image123.png"/></Relationships>
</file>

<file path=ppt/slides/_rels/slide63.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53.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24.png"/></Relationships>
</file>

<file path=ppt/slides/_rels/slide64.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54.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26.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4" name="Red 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𝑠</m:t>
                      </m:r>
                    </m:oMath>
                  </m:oMathPara>
                </a14:m>
                <a:endParaRPr sz="1200"/>
              </a:p>
            </p:txBody>
          </p:sp>
        </mc:Choice>
        <mc:Fallback xmlns="">
          <p:sp>
            <p:nvSpPr>
              <p:cNvPr id="10134" name="Red 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10"/>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5" name="Red 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m:t>
                          </m:r>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=0,   0&lt;</m:t>
                      </m:r>
                      <m:r>
                        <a:rPr sz="1200">
                          <a:solidFill>
                            <a:srgbClr val="C8102E"/>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p:sp>
            <p:nvSpPr>
              <p:cNvPr id="10135" name="Red 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11"/>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6" name="Red 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𝑤</m:t>
                      </m:r>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=0,    </m:t>
                      </m:r>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6" name="Red 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12"/>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7" name="Red 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7" name="Red 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13"/>
                <a:stretch>
                  <a:fillRect b="-14706"/>
                </a:stretch>
              </a:blipFill>
              <a:ln>
                <a:noFill/>
              </a:ln>
            </p:spPr>
            <p:txBody>
              <a:bodyPr/>
              <a:lstStyle/>
              <a:p>
                <a:r>
                  <a:rPr lang="en-NL">
                    <a:noFill/>
                  </a:rPr>
                  <a:t> </a:t>
                </a:r>
              </a:p>
            </p:txBody>
          </p:sp>
        </mc:Fallback>
      </mc:AlternateContent>
      <p:grpSp>
        <p:nvGrpSpPr>
          <p:cNvPr id="10260" name="Additional flexible modes - body springs"/>
          <p:cNvGrpSpPr/>
          <p:nvPr/>
        </p:nvGrpSpPr>
        <p:grpSpPr>
          <a:xfrm>
            <a:off x="0" y="0"/>
            <a:ext cx="9144000" cy="5143500"/>
            <a:chOff x="0" y="0"/>
            <a:chExt cx="9144000" cy="5143500"/>
          </a:xfrm>
        </p:grpSpPr>
        <p:sp>
          <p:nvSpPr>
            <p:cNvPr id="10238" name="Upright spring openings"/>
            <p:cNvSpPr/>
            <p:nvPr/>
          </p:nvSpPr>
          <p:spPr>
            <a:xfrm>
              <a:off x="2107260" y="2477414"/>
              <a:ext cx="123190" cy="779087"/>
            </a:xfrm>
            <a:custGeom>
              <a:avLst/>
              <a:gdLst/>
              <a:ahLst/>
              <a:cxnLst/>
              <a:rect l="0" t="0" r="r" b="b"/>
              <a:pathLst>
                <a:path w="123190" h="779087">
                  <a:moveTo>
                    <a:pt x="12700" y="12700"/>
                  </a:moveTo>
                  <a:lnTo>
                    <a:pt x="110490" y="12700"/>
                  </a:lnTo>
                  <a:lnTo>
                    <a:pt x="110490" y="766387"/>
                  </a:lnTo>
                  <a:lnTo>
                    <a:pt x="12700" y="766387"/>
                  </a:lnTo>
                  <a:close/>
                </a:path>
              </a:pathLst>
            </a:custGeom>
            <a:solidFill>
              <a:srgbClr val="FFFFFF"/>
            </a:solidFill>
            <a:ln w="0">
              <a:noFill/>
            </a:ln>
          </p:spPr>
        </p:sp>
        <p:sp>
          <p:nvSpPr>
            <p:cNvPr id="10239" name="Upright spring 1"/>
            <p:cNvSpPr/>
            <p:nvPr/>
          </p:nvSpPr>
          <p:spPr>
            <a:xfrm>
              <a:off x="2119484" y="2477414"/>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0" name="Upright spring 2"/>
            <p:cNvSpPr/>
            <p:nvPr/>
          </p:nvSpPr>
          <p:spPr>
            <a:xfrm>
              <a:off x="2119484" y="255278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1" name="Upright spring 3"/>
            <p:cNvSpPr/>
            <p:nvPr/>
          </p:nvSpPr>
          <p:spPr>
            <a:xfrm>
              <a:off x="2119484" y="2628151"/>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2" name="Upright spring 4"/>
            <p:cNvSpPr/>
            <p:nvPr/>
          </p:nvSpPr>
          <p:spPr>
            <a:xfrm>
              <a:off x="2119484" y="2703520"/>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3" name="Upright spring 5"/>
            <p:cNvSpPr/>
            <p:nvPr/>
          </p:nvSpPr>
          <p:spPr>
            <a:xfrm>
              <a:off x="2119484" y="2778889"/>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4" name="Upright spring 6"/>
            <p:cNvSpPr/>
            <p:nvPr/>
          </p:nvSpPr>
          <p:spPr>
            <a:xfrm>
              <a:off x="2119484" y="2854257"/>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5" name="Upright spring 7"/>
            <p:cNvSpPr/>
            <p:nvPr/>
          </p:nvSpPr>
          <p:spPr>
            <a:xfrm>
              <a:off x="2119484" y="2929626"/>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6" name="Upright spring 8"/>
            <p:cNvSpPr/>
            <p:nvPr/>
          </p:nvSpPr>
          <p:spPr>
            <a:xfrm>
              <a:off x="2119484" y="3004995"/>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7" name="Upright spring 9"/>
            <p:cNvSpPr/>
            <p:nvPr/>
          </p:nvSpPr>
          <p:spPr>
            <a:xfrm>
              <a:off x="2119484" y="3080363"/>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8" name="Upright spring 10"/>
            <p:cNvSpPr/>
            <p:nvPr/>
          </p:nvSpPr>
          <p:spPr>
            <a:xfrm>
              <a:off x="2119484" y="315573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9" name="Cart body spring openings"/>
            <p:cNvSpPr/>
            <p:nvPr/>
          </p:nvSpPr>
          <p:spPr>
            <a:xfrm>
              <a:off x="1724250" y="3247397"/>
              <a:ext cx="889212" cy="131324"/>
            </a:xfrm>
            <a:custGeom>
              <a:avLst/>
              <a:gdLst/>
              <a:ahLst/>
              <a:cxnLst/>
              <a:rect l="0" t="0" r="r" b="b"/>
              <a:pathLst>
                <a:path w="889212" h="131324">
                  <a:moveTo>
                    <a:pt x="12700" y="12700"/>
                  </a:moveTo>
                  <a:lnTo>
                    <a:pt x="876512" y="12700"/>
                  </a:lnTo>
                  <a:lnTo>
                    <a:pt x="876512" y="118624"/>
                  </a:lnTo>
                  <a:lnTo>
                    <a:pt x="12700" y="118624"/>
                  </a:lnTo>
                  <a:close/>
                </a:path>
              </a:pathLst>
            </a:custGeom>
            <a:solidFill>
              <a:srgbClr val="FFFFFF"/>
            </a:solidFill>
            <a:ln w="0">
              <a:noFill/>
            </a:ln>
          </p:spPr>
        </p:sp>
        <p:sp>
          <p:nvSpPr>
            <p:cNvPr id="10250" name="Cart body spring 1"/>
            <p:cNvSpPr/>
            <p:nvPr/>
          </p:nvSpPr>
          <p:spPr>
            <a:xfrm>
              <a:off x="172425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1" name="Cart body spring 2"/>
            <p:cNvSpPr/>
            <p:nvPr/>
          </p:nvSpPr>
          <p:spPr>
            <a:xfrm>
              <a:off x="1810631"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2" name="Cart body spring 3"/>
            <p:cNvSpPr/>
            <p:nvPr/>
          </p:nvSpPr>
          <p:spPr>
            <a:xfrm>
              <a:off x="1897012"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3" name="Cart body spring 4"/>
            <p:cNvSpPr/>
            <p:nvPr/>
          </p:nvSpPr>
          <p:spPr>
            <a:xfrm>
              <a:off x="1983393"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4" name="Cart body spring 5"/>
            <p:cNvSpPr/>
            <p:nvPr/>
          </p:nvSpPr>
          <p:spPr>
            <a:xfrm>
              <a:off x="2069774"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5" name="Cart body spring 6"/>
            <p:cNvSpPr/>
            <p:nvPr/>
          </p:nvSpPr>
          <p:spPr>
            <a:xfrm>
              <a:off x="2156155"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6" name="Cart body spring 7"/>
            <p:cNvSpPr/>
            <p:nvPr/>
          </p:nvSpPr>
          <p:spPr>
            <a:xfrm>
              <a:off x="2242537"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7" name="Cart body spring 8"/>
            <p:cNvSpPr/>
            <p:nvPr/>
          </p:nvSpPr>
          <p:spPr>
            <a:xfrm>
              <a:off x="2328918"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8" name="Cart body spring 9"/>
            <p:cNvSpPr/>
            <p:nvPr/>
          </p:nvSpPr>
          <p:spPr>
            <a:xfrm>
              <a:off x="2415299"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9" name="Cart body spring 10"/>
            <p:cNvSpPr/>
            <p:nvPr/>
          </p:nvSpPr>
          <p:spPr>
            <a:xfrm>
              <a:off x="250168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grpSp>
      <p:sp>
        <p:nvSpPr>
          <p:cNvPr id="10271" name="Flexible modes caption"/>
          <p:cNvSpPr/>
          <p:nvPr/>
        </p:nvSpPr>
        <p:spPr>
          <a:xfrm>
            <a:off x="457200" y="1584325"/>
            <a:ext cx="3911600" cy="209550"/>
          </a:xfrm>
          <a:prstGeom prst="rect">
            <a:avLst/>
          </a:prstGeom>
          <a:noFill/>
          <a:ln>
            <a:noFill/>
          </a:ln>
        </p:spPr>
        <p:txBody>
          <a:bodyPr wrap="none" lIns="0" tIns="0" rIns="0" bIns="0" anchor="ctr">
            <a:noAutofit/>
          </a:bodyPr>
          <a:lstStyle/>
          <a:p>
            <a:pPr algn="ctr">
              <a:buNone/>
            </a:pPr>
            <a:r>
              <a:rPr lang="en-GB" sz="1100" b="0" i="0" u="none" baseline="0">
                <a:solidFill>
                  <a:srgbClr val="C8102E"/>
                </a:solidFill>
                <a:latin typeface="Aptos"/>
                <a:ea typeface="Aptos"/>
                <a:cs typeface="Aptos"/>
              </a:rPr>
              <a:t>Approximate with more flexible modes</a:t>
            </a:r>
            <a:endParaRPr sz="1100"/>
          </a:p>
        </p:txBody>
      </p:sp>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260"/>
                                        </p:tgtEl>
                                        <p:attrNameLst>
                                          <p:attrName>style.visibility</p:attrName>
                                        </p:attrNameLst>
                                      </p:cBhvr>
                                      <p:to>
                                        <p:strVal val="visible"/>
                                      </p:to>
                                    </p:set>
                                    <p:animEffect transition="in" filter="fade">
                                      <p:cBhvr>
                                        <p:cTn id="14" dur="900"/>
                                        <p:tgtEl>
                                          <p:spTgt spid="1026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271"/>
                                        </p:tgtEl>
                                        <p:attrNameLst>
                                          <p:attrName>style.visibility</p:attrName>
                                        </p:attrNameLst>
                                      </p:cBhvr>
                                      <p:to>
                                        <p:strVal val="visible"/>
                                      </p:to>
                                    </p:set>
                                    <p:animEffect transition="in" filter="fade">
                                      <p:cBhvr>
                                        <p:cTn id="17" dur="900"/>
                                        <p:tgtEl>
                                          <p:spTgt spid="1027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10000" fill="hold"/>
                                        <p:tgtEl>
                                          <p:spTgt spid="21"/>
                                        </p:tgtEl>
                                      </p:cBhvr>
                                    </p:cmd>
                                    <p:anim calcmode="lin" valueType="num">
                                      <p:cBhvr additive="base">
                                        <p:cTn id="22"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23"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24"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25"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anim calcmode="lin" valueType="num">
                                      <p:cBhvr additive="base">
                                        <p:cTn id="26" dur="10000" fill="hold">
                                          <p:stCondLst>
                                            <p:cond delay="0"/>
                                          </p:stCondLst>
                                        </p:cTn>
                                        <p:tgtEl>
                                          <p:spTgt spid="10134"/>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par>
                                <p:cTn id="27" presetID="1" presetClass="exit" presetSubtype="0" fill="hold" grpId="0" nodeType="withEffect">
                                  <p:stCondLst>
                                    <p:cond delay="0"/>
                                  </p:stCondLst>
                                  <p:childTnLst>
                                    <p:set>
                                      <p:cBhvr>
                                        <p:cTn id="28" dur="1" fill="hold">
                                          <p:stCondLst>
                                            <p:cond delay="9"/>
                                          </p:stCondLst>
                                        </p:cTn>
                                        <p:tgtEl>
                                          <p:spTgt spid="10029"/>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10134"/>
                                        </p:tgtEl>
                                        <p:attrNameLst>
                                          <p:attrName>style.visibility</p:attrName>
                                        </p:attrNameLst>
                                      </p:cBhvr>
                                      <p:to>
                                        <p:strVal val="visible"/>
                                      </p:to>
                                    </p:set>
                                    <p:animEffect transition="in" filter="fade">
                                      <p:cBhvr>
                                        <p:cTn id="31" dur="350"/>
                                        <p:tgtEl>
                                          <p:spTgt spid="10134"/>
                                        </p:tgtEl>
                                      </p:cBhvr>
                                    </p:animEffect>
                                  </p:childTnLst>
                                </p:cTn>
                              </p:par>
                              <p:par>
                                <p:cTn id="32" presetID="1" presetClass="exit" presetSubtype="0" fill="hold" grpId="0" nodeType="withEffect">
                                  <p:stCondLst>
                                    <p:cond delay="0"/>
                                  </p:stCondLst>
                                  <p:childTnLst>
                                    <p:set>
                                      <p:cBhvr>
                                        <p:cTn id="33" dur="1" fill="hold">
                                          <p:stCondLst>
                                            <p:cond delay="9"/>
                                          </p:stCondLst>
                                        </p:cTn>
                                        <p:tgtEl>
                                          <p:spTgt spid="10030"/>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10135"/>
                                        </p:tgtEl>
                                        <p:attrNameLst>
                                          <p:attrName>style.visibility</p:attrName>
                                        </p:attrNameLst>
                                      </p:cBhvr>
                                      <p:to>
                                        <p:strVal val="visible"/>
                                      </p:to>
                                    </p:set>
                                    <p:animEffect transition="in" filter="fade">
                                      <p:cBhvr>
                                        <p:cTn id="36" dur="350"/>
                                        <p:tgtEl>
                                          <p:spTgt spid="10135"/>
                                        </p:tgtEl>
                                      </p:cBhvr>
                                    </p:animEffect>
                                  </p:childTnLst>
                                </p:cTn>
                              </p:par>
                              <p:par>
                                <p:cTn id="37" presetID="1" presetClass="exit" presetSubtype="0" fill="hold" grpId="0" nodeType="withEffect">
                                  <p:stCondLst>
                                    <p:cond delay="0"/>
                                  </p:stCondLst>
                                  <p:childTnLst>
                                    <p:set>
                                      <p:cBhvr>
                                        <p:cTn id="38" dur="1" fill="hold">
                                          <p:stCondLst>
                                            <p:cond delay="9"/>
                                          </p:stCondLst>
                                        </p:cTn>
                                        <p:tgtEl>
                                          <p:spTgt spid="10031"/>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10136"/>
                                        </p:tgtEl>
                                        <p:attrNameLst>
                                          <p:attrName>style.visibility</p:attrName>
                                        </p:attrNameLst>
                                      </p:cBhvr>
                                      <p:to>
                                        <p:strVal val="visible"/>
                                      </p:to>
                                    </p:set>
                                    <p:animEffect transition="in" filter="fade">
                                      <p:cBhvr>
                                        <p:cTn id="41" dur="350"/>
                                        <p:tgtEl>
                                          <p:spTgt spid="10136"/>
                                        </p:tgtEl>
                                      </p:cBhvr>
                                    </p:animEffect>
                                  </p:childTnLst>
                                </p:cTn>
                              </p:par>
                              <p:par>
                                <p:cTn id="42" presetID="1" presetClass="exit" presetSubtype="0" fill="hold" grpId="0" nodeType="withEffect">
                                  <p:stCondLst>
                                    <p:cond delay="0"/>
                                  </p:stCondLst>
                                  <p:childTnLst>
                                    <p:set>
                                      <p:cBhvr>
                                        <p:cTn id="43" dur="1" fill="hold">
                                          <p:stCondLst>
                                            <p:cond delay="9"/>
                                          </p:stCondLst>
                                        </p:cTn>
                                        <p:tgtEl>
                                          <p:spTgt spid="10032"/>
                                        </p:tgtEl>
                                        <p:attrNameLst>
                                          <p:attrName>style.visibility</p:attrName>
                                        </p:attrNameLst>
                                      </p:cBhvr>
                                      <p:to>
                                        <p:strVal val="hidden"/>
                                      </p:to>
                                    </p:set>
                                  </p:childTnLst>
                                </p:cTn>
                              </p:par>
                              <p:par>
                                <p:cTn id="44" presetID="10" presetClass="entr" presetSubtype="0" fill="hold" grpId="0" nodeType="withEffect">
                                  <p:stCondLst>
                                    <p:cond delay="0"/>
                                  </p:stCondLst>
                                  <p:childTnLst>
                                    <p:set>
                                      <p:cBhvr>
                                        <p:cTn id="45" dur="1" fill="hold">
                                          <p:stCondLst>
                                            <p:cond delay="0"/>
                                          </p:stCondLst>
                                        </p:cTn>
                                        <p:tgtEl>
                                          <p:spTgt spid="10137"/>
                                        </p:tgtEl>
                                        <p:attrNameLst>
                                          <p:attrName>style.visibility</p:attrName>
                                        </p:attrNameLst>
                                      </p:cBhvr>
                                      <p:to>
                                        <p:strVal val="visible"/>
                                      </p:to>
                                    </p:set>
                                    <p:animEffect transition="in" filter="fade">
                                      <p:cBhvr>
                                        <p:cTn id="46" dur="350"/>
                                        <p:tgtEl>
                                          <p:spTgt spid="1013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47" fill="hold" display="0">
                  <p:stCondLst>
                    <p:cond delay="indefinite"/>
                  </p:stCondLst>
                </p:cTn>
                <p:tgtEl>
                  <p:spTgt spid="20"/>
                </p:tgtEl>
              </p:cMediaNode>
            </p:video>
            <p:seq concurrent="1" nextAc="seek">
              <p:cTn id="48" restart="whenNotActive" fill="hold" evtFilter="cancelBubble" nodeType="interactiveSeq">
                <p:stCondLst>
                  <p:cond evt="onClick" delay="0">
                    <p:tgtEl>
                      <p:spTgt spid="20"/>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20"/>
                                        </p:tgtEl>
                                      </p:cBhvr>
                                    </p:cmd>
                                  </p:childTnLst>
                                </p:cTn>
                              </p:par>
                            </p:childTnLst>
                          </p:cTn>
                        </p:par>
                      </p:childTnLst>
                    </p:cTn>
                  </p:par>
                </p:childTnLst>
              </p:cTn>
              <p:nextCondLst>
                <p:cond evt="onClick" delay="0">
                  <p:tgtEl>
                    <p:spTgt spid="20"/>
                  </p:tgtEl>
                </p:cond>
              </p:nextCondLst>
            </p:seq>
            <p:video>
              <p:cMediaNode vol="80000">
                <p:cTn id="53" fill="hold" display="0">
                  <p:stCondLst>
                    <p:cond delay="indefinite"/>
                  </p:stCondLst>
                </p:cTn>
                <p:tgtEl>
                  <p:spTgt spid="21"/>
                </p:tgtEl>
              </p:cMediaNode>
            </p:video>
            <p:seq concurrent="1" nextAc="seek">
              <p:cTn id="54" restart="whenNotActive" fill="hold" evtFilter="cancelBubble" nodeType="interactiveSeq">
                <p:stCondLst>
                  <p:cond evt="onClick" delay="0">
                    <p:tgtEl>
                      <p:spTgt spid="21"/>
                    </p:tgtEl>
                  </p:cond>
                </p:stCondLst>
                <p:endSync evt="end" delay="0">
                  <p:rtn val="all"/>
                </p:endSync>
                <p:childTnLst>
                  <p:par>
                    <p:cTn id="55" fill="hold">
                      <p:stCondLst>
                        <p:cond delay="0"/>
                      </p:stCondLst>
                      <p:childTnLst>
                        <p:par>
                          <p:cTn id="56" fill="hold">
                            <p:stCondLst>
                              <p:cond delay="0"/>
                            </p:stCondLst>
                            <p:childTnLst>
                              <p:par>
                                <p:cTn id="57" presetID="2" presetClass="mediacall" presetSubtype="0" fill="hold" nodeType="clickEffect">
                                  <p:stCondLst>
                                    <p:cond delay="0"/>
                                  </p:stCondLst>
                                  <p:childTnLst>
                                    <p:cmd type="call" cmd="togglePause">
                                      <p:cBhvr>
                                        <p:cTn id="58" dur="1" fill="hold"/>
                                        <p:tgtEl>
                                          <p:spTgt spid="21"/>
                                        </p:tgtEl>
                                      </p:cBhvr>
                                    </p:cmd>
                                  </p:childTnLst>
                                </p:cTn>
                              </p:par>
                            </p:childTnLst>
                          </p:cTn>
                        </p:par>
                      </p:childTnLst>
                    </p:cTn>
                  </p:par>
                </p:childTnLst>
              </p:cTn>
              <p:nextCondLst>
                <p:cond evt="onClick" delay="0">
                  <p:tgtEl>
                    <p:spTgt spid="21"/>
                  </p:tgtEl>
                </p:cond>
              </p:nextCondLst>
            </p:seq>
          </p:childTnLst>
        </p:cTn>
      </p:par>
    </p:tnLst>
    <p:bldLst>
      <p:bldP spid="10029" grpId="0"/>
      <p:bldP spid="10030" grpId="0"/>
      <p:bldP spid="10031" grpId="0"/>
      <p:bldP spid="10032" grpId="0"/>
      <p:bldP spid="10134" grpId="0"/>
      <p:bldP spid="10135" grpId="0"/>
      <p:bldP spid="10136" grpId="0"/>
      <p:bldP spid="10137" grpId="0"/>
      <p:bldP spid="10271"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657505" cy="784830"/>
              </a:xfrm>
              <a:prstGeom prst="rect">
                <a:avLst/>
              </a:prstGeom>
              <a:noFill/>
            </p:spPr>
            <p:txBody>
              <a:bodyPr wrap="none" rtlCol="0">
                <a:spAutoFit/>
              </a:bodyPr>
              <a:lstStyle/>
              <a:p>
                <a:pPr/>
                <a14:m>
                  <m:oMathPara xmlns:m="http://schemas.openxmlformats.org/officeDocument/2006/math">
                    <m:oMath>
                      <m:r>
                        <a:rPr lang="en-US" sz="1800" b="0" i="1" smtClean="0">
                          <a:solidFill>
                            <a:srgbClr val="00B050"/>
                          </a:solidFill>
                          <a:latin typeface="Cambria Math" panose="02040503050406030204" pitchFamily="18" charset="0"/>
                        </a:rPr>
                        <m:t>𝛿</m:t>
                      </m:r>
                      <m:r>
                        <a:rPr lang="en-US" sz="1800" b="0" i="1" smtClean="0">
                          <a:solidFill>
                            <a:srgbClr val="00B050"/>
                          </a:solidFill>
                          <a:latin typeface="Cambria Math" panose="02040503050406030204" pitchFamily="18" charset="0"/>
                        </a:rPr>
                        <m:t>∈[−0.5,0.5]</m:t>
                      </m:r>
                    </m:oMath>
                  </m:oMathPara>
                </a14:m>
                <a:endParaRPr lang="en-US" b="0" dirty="0">
                  <a:solidFill>
                    <a:srgbClr val="00B050"/>
                  </a:solidFill>
                </a:endParaRPr>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657505" cy="784830"/>
              </a:xfrm>
              <a:prstGeom prst="rect">
                <a:avLst/>
              </a:prstGeom>
              <a:blipFill>
                <a:blip r:embed="rId5"/>
                <a:stretch>
                  <a:fillRect/>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mediacall" presetSubtype="0" fill="hold" nodeType="withEffect">
                                  <p:stCondLst>
                                    <p:cond delay="0"/>
                                  </p:stCondLst>
                                  <p:childTnLst>
                                    <p:cmd type="call" cmd="playFrom(0.0)">
                                      <p:cBhvr>
                                        <p:cTn id="14" dur="18000" fill="hold"/>
                                        <p:tgtEl>
                                          <p:spTgt spid="4"/>
                                        </p:tgtEl>
                                      </p:cBhvr>
                                    </p:cmd>
                                  </p:childTnLst>
                                </p:cTn>
                              </p:par>
                              <p:par>
                                <p:cTn id="15" presetID="1" presetClass="entr" presetSubtype="0" fill="hold"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0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0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0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0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0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0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0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0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0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1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1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1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1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1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1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1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1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18"/>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01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020"/>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02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22"/>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63" repeatCount="indefinite" fill="remove" display="0">
                  <p:stCondLst>
                    <p:cond delay="indefinite"/>
                  </p:stCondLst>
                </p:cTn>
                <p:tgtEl>
                  <p:spTgt spid="4"/>
                </p:tgtEl>
              </p:cMediaNode>
            </p:video>
          </p:childTnLst>
        </p:cTn>
      </p:par>
    </p:tnLst>
    <p:bldLst>
      <p:bldP spid="2" grpId="0"/>
      <p:bldP spid="14" grpId="0"/>
      <p:bldP spid="5001" grpId="0"/>
      <p:bldP spid="5002" grpId="0"/>
      <p:bldP spid="5003" grpId="0"/>
      <p:bldP spid="5004" grpId="0"/>
      <p:bldP spid="5005" grpId="0"/>
      <p:bldP spid="5006" grpId="0"/>
      <p:bldP spid="5007" grpId="0"/>
      <p:bldP spid="5008" grpId="0"/>
      <p:bldP spid="5009" grpId="0"/>
      <p:bldP spid="5010" grpId="0"/>
      <p:bldP spid="5011" grpId="0"/>
      <p:bldP spid="5012" grpId="0"/>
      <p:bldP spid="5013" grpId="0"/>
      <p:bldP spid="5014" grpId="0"/>
      <p:bldP spid="5015" grpId="0"/>
      <p:bldP spid="5016" grpId="0"/>
      <p:bldP spid="5017" grpId="0"/>
      <p:bldP spid="5018" grpId="0"/>
      <p:bldP spid="5019" grpId="0"/>
      <p:bldP spid="5020" grpId="0"/>
      <p:bldP spid="5021" grpId="0"/>
      <p:bldP spid="5022" grpId="0"/>
      <p:bldP spid="5023"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sp>
        <p:nvSpPr>
          <p:cNvPr id="63001" name="Aligned electrode lead"/>
          <p:cNvSpPr/>
          <p:nvPr/>
        </p:nvSpPr>
        <p:spPr>
          <a:xfrm>
            <a:off x="3861594" y="1589485"/>
            <a:ext cx="554038" cy="532011"/>
          </a:xfrm>
          <a:custGeom>
            <a:avLst/>
            <a:gdLst/>
            <a:ahLst/>
            <a:cxnLst/>
            <a:rect l="0" t="0" r="r" b="b"/>
            <a:pathLst>
              <a:path w="554038" h="532011" fill="none">
                <a:moveTo>
                  <a:pt x="541338" y="12700"/>
                </a:moveTo>
                <a:lnTo>
                  <a:pt x="202128" y="12700"/>
                </a:lnTo>
                <a:lnTo>
                  <a:pt x="96401" y="188912"/>
                </a:lnTo>
                <a:lnTo>
                  <a:pt x="12700" y="519311"/>
                </a:lnTo>
              </a:path>
            </a:pathLst>
          </a:custGeom>
          <a:noFill/>
          <a:ln w="13216">
            <a:solidFill>
              <a:srgbClr val="737D85"/>
            </a:solidFill>
          </a:ln>
        </p:spPr>
      </p:sp>
      <p:sp>
        <p:nvSpPr>
          <p:cNvPr id="63002" name="Aligned electrode shaft"/>
          <p:cNvSpPr/>
          <p:nvPr/>
        </p:nvSpPr>
        <p:spPr>
          <a:xfrm>
            <a:off x="3861594" y="1911073"/>
            <a:ext cx="69453" cy="183991"/>
          </a:xfrm>
          <a:custGeom>
            <a:avLst/>
            <a:gdLst/>
            <a:ahLst/>
            <a:cxnLst/>
            <a:rect l="0" t="0" r="r" b="b"/>
            <a:pathLst>
              <a:path w="69453" h="183991" fill="none">
                <a:moveTo>
                  <a:pt x="56753" y="12700"/>
                </a:moveTo>
                <a:lnTo>
                  <a:pt x="12700" y="171291"/>
                </a:lnTo>
              </a:path>
            </a:pathLst>
          </a:custGeom>
          <a:noFill/>
          <a:ln w="52864">
            <a:solidFill>
              <a:srgbClr val="B8B8B8"/>
            </a:solidFill>
          </a:ln>
        </p:spPr>
      </p:sp>
      <p:sp>
        <p:nvSpPr>
          <p:cNvPr id="63003" name="Aligned electrode contact"/>
          <p:cNvSpPr/>
          <p:nvPr/>
        </p:nvSpPr>
        <p:spPr>
          <a:xfrm>
            <a:off x="3861594" y="2016801"/>
            <a:ext cx="38616" cy="78264"/>
          </a:xfrm>
          <a:custGeom>
            <a:avLst/>
            <a:gdLst/>
            <a:ahLst/>
            <a:cxnLst/>
            <a:rect l="0" t="0" r="r" b="b"/>
            <a:pathLst>
              <a:path w="38616" h="78264" fill="none">
                <a:moveTo>
                  <a:pt x="25916" y="12700"/>
                </a:moveTo>
                <a:lnTo>
                  <a:pt x="12700" y="65564"/>
                </a:lnTo>
              </a:path>
            </a:pathLst>
          </a:custGeom>
          <a:noFill/>
          <a:ln w="52864">
            <a:solidFill>
              <a:srgbClr val="E3BF24"/>
            </a:solidFill>
          </a:ln>
        </p:spPr>
      </p:sp>
      <p:sp>
        <p:nvSpPr>
          <p:cNvPr id="9" name="Controller K block">
            <a:extLst>
              <a:ext uri="{FF2B5EF4-FFF2-40B4-BE49-F238E27FC236}">
                <a16:creationId xmlns:a16="http://schemas.microsoft.com/office/drawing/2014/main" id="{D2B0F3B8-932B-1688-3C45-731CB1647514}"/>
              </a:ext>
            </a:extLst>
          </p:cNvPr>
          <p:cNvSpPr/>
          <p:nvPr/>
        </p:nvSpPr>
        <p:spPr>
          <a:xfrm>
            <a:off x="4402931" y="142597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pic>
        <p:nvPicPr>
          <p:cNvPr id="4" name="Picture 3">
            <a:extLst>
              <a:ext uri="{FF2B5EF4-FFF2-40B4-BE49-F238E27FC236}">
                <a16:creationId xmlns:a16="http://schemas.microsoft.com/office/drawing/2014/main" id="{EDE727F2-4DB9-475F-E8AA-CEB72263AE0A}"/>
              </a:ext>
            </a:extLst>
          </p:cNvPr>
          <p:cNvPicPr>
            <a:picLocks noChangeAspect="1"/>
          </p:cNvPicPr>
          <p:nvPr/>
        </p:nvPicPr>
        <p:blipFill>
          <a:blip r:embed="rId15" cstate="print">
            <a:extLst>
              <a:ext uri="{28A0092B-C50C-407E-A947-70E740481C1C}">
                <a14:useLocalDpi xmlns:a14="http://schemas.microsoft.com/office/drawing/2010/main" val="0"/>
              </a:ext>
            </a:extLst>
          </a:blip>
          <a:srcRect l="15942" r="17681"/>
          <a:stretch>
            <a:fillRect/>
          </a:stretch>
        </p:blipFill>
        <p:spPr>
          <a:xfrm>
            <a:off x="7991175" y="0"/>
            <a:ext cx="1152825" cy="967898"/>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3001"/>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5009"/>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m="http://schemas.openxmlformats.org/officeDocument/2006/math" xmlns="">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1730319" y="1994356"/>
            <a:ext cx="1064671" cy="1064671"/>
            <a:chOff x="3086100" y="2514599"/>
            <a:chExt cx="939800" cy="939800"/>
          </a:xfrm>
        </p:grpSpPr>
        <p:sp>
          <p:nvSpPr>
            <p:cNvPr id="20028" name="Plant">
              <a:extLst>
                <a:ext uri="{FF2B5EF4-FFF2-40B4-BE49-F238E27FC236}">
                  <a16:creationId xmlns:a16="http://schemas.microsoft.com/office/drawing/2014/main" id="{EE52FAAF-F0AA-9AC4-5AE7-4C32123B36A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PDE</m:t>
                        </m:r>
                      </m:oMath>
                    </m:oMathPara>
                  </a14:m>
                  <a:endParaRPr sz="2590" dirty="0"/>
                </a:p>
              </p:txBody>
            </p:sp>
          </mc:Choice>
          <mc:Fallback xmlns="">
            <p:sp>
              <p:nvSpPr>
                <p:cNvPr id="20029"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9402" y="2516016"/>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4945" y="2736229"/>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4945" y="2736229"/>
                  <a:ext cx="939800" cy="493395"/>
                </a:xfrm>
                <a:prstGeom prst="rect">
                  <a:avLst/>
                </a:prstGeom>
                <a:blipFill>
                  <a:blip r:embed="rId1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m="http://schemas.openxmlformats.org/officeDocument/2006/math" xmlns="">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xmlns:m="http://schemas.openxmlformats.org/officeDocument/2006/math">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 xmlns:m="http://schemas.openxmlformats.org/officeDocument/2006/math">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 xmlns:m="http://schemas.openxmlformats.org/officeDocument/2006/math">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EBB2E0C7-B846-0C43-2F4F-A63CD7FBA13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091914"/>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091914"/>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172022" y="-1235081"/>
            <a:ext cx="3604988"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190276" y="2570632"/>
            <a:ext cx="1808057"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7" name="Plant measured channel">
                  <a:extLst>
                    <a:ext uri="{FF2B5EF4-FFF2-40B4-BE49-F238E27FC236}">
                      <a16:creationId xmlns:a16="http://schemas.microsoft.com/office/drawing/2014/main" id="{B1F0B6BC-B6C4-B039-E797-4EF4C0C8FCEA}"/>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m="http://schemas.openxmlformats.org/officeDocument/2006/math" xmlns="">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m="http://schemas.openxmlformats.org/officeDocument/2006/math" xmlns="">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m="http://schemas.openxmlformats.org/officeDocument/2006/math" xmlns="">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3069686" cy="559640"/>
              </a:xfrm>
              <a:prstGeom prst="rect">
                <a:avLst/>
              </a:prstGeom>
              <a:noFill/>
            </p:spPr>
            <p:txBody>
              <a:bodyPr wrap="none" rtlCol="0">
                <a:spAutoFit/>
              </a:bodyPr>
              <a:lstStyle/>
              <a:p>
                <a:pPr/>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 ∀ </m:t>
                      </m:r>
                      <m:r>
                        <a:rPr lang="en-US" b="0" i="1" smtClean="0">
                          <a:latin typeface="Cambria Math" panose="02040503050406030204" pitchFamily="18" charset="0"/>
                        </a:rPr>
                        <m:t>𝑇</m:t>
                      </m:r>
                      <m:r>
                        <a:rPr lang="en-US" b="0" i="1" smtClean="0">
                          <a:latin typeface="Cambria Math" panose="02040503050406030204" pitchFamily="18" charset="0"/>
                        </a:rPr>
                        <m:t>&gt;0</m:t>
                      </m:r>
                    </m:oMath>
                  </m:oMathPara>
                </a14:m>
                <a:endParaRPr lang="en-NL" dirty="0"/>
              </a:p>
            </p:txBody>
          </p:sp>
        </mc:Choice>
        <mc:Fallback xmlns="">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3069686" cy="559640"/>
              </a:xfrm>
              <a:prstGeom prst="rect">
                <a:avLst/>
              </a:prstGeom>
              <a:blipFill>
                <a:blip r:embed="rId19"/>
                <a:stretch>
                  <a:fillRect l="-20080" t="-14505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968556"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m="http://schemas.openxmlformats.org/officeDocument/2006/math" xmlns="">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m="http://schemas.openxmlformats.org/officeDocument/2006/math" xmlns="">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m="http://schemas.openxmlformats.org/officeDocument/2006/math" xmlns="">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C81919"/>
                          </a:solidFill>
                          <a:latin typeface="Cambria Math"/>
                        </a:rPr>
                        <m:t>𝑎𝑏</m:t>
                      </m:r>
                      <m:r>
                        <a:rPr lang="en-NL" sz="1800" smtClean="0">
                          <a:solidFill>
                            <a:srgbClr val="C00000"/>
                          </a:solidFill>
                          <a:latin typeface="Cambria Math"/>
                        </a:rPr>
                        <m:t>≥0</m:t>
                      </m:r>
                    </m:oMath>
                  </m:oMathPara>
                </a14:m>
                <a:endParaRPr sz="1800" dirty="0"/>
              </a:p>
            </p:txBody>
          </p:sp>
        </mc:Choice>
        <mc:Fallback xmlns="">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216F9C"/>
                          </a:solidFill>
                          <a:latin typeface="Cambria Math"/>
                        </a:rPr>
                        <m:t>𝑣</m:t>
                      </m:r>
                      <m:r>
                        <a:rPr lang="en-NL" sz="2200" smtClean="0">
                          <a:solidFill>
                            <a:srgbClr val="000000"/>
                          </a:solidFill>
                          <a:latin typeface="Cambria Math"/>
                        </a:rPr>
                        <m:t>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m="http://schemas.openxmlformats.org/officeDocument/2006/math" xmlns="">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m="http://schemas.openxmlformats.org/officeDocument/2006/math" xmlns="">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xmlns:a14="http://schemas.microsoft.com/office/drawing/2010/main">
        <mc:Choice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dirty="0"/>
              </a:p>
            </p:txBody>
          </p:sp>
        </mc:Choice>
        <mc:Fallback xmlns="">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dirty="0"/>
              </a:p>
            </p:txBody>
          </p:sp>
        </mc:Choice>
        <mc:Fallback xmlns="">
          <p:sp>
            <p:nvSpPr>
              <p:cNvPr id="8036" name="Expand squares"/>
              <p:cNvSpPr>
                <a:spLocks noRot="1" noChangeAspect="1" noMove="1" noResize="1" noEditPoints="1" noAdjustHandles="1" noChangeArrowheads="1" noChangeShapeType="1" noTextEdit="1"/>
              </p:cNvSpPr>
              <p:nvPr/>
            </p:nvSpPr>
            <p:spPr>
              <a:xfrm>
                <a:off x="317500" y="2621280"/>
                <a:ext cx="8509000" cy="675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000000"/>
                          </a:solidFill>
                          <a:latin typeface="Cambria Math"/>
                        </a:rPr>
                        <m:t>=4</m:t>
                      </m:r>
                      <m:r>
                        <a:rPr lang="en-NL" sz="2200" smtClean="0">
                          <a:solidFill>
                            <a:srgbClr val="216F9C"/>
                          </a:solidFill>
                          <a:latin typeface="Cambria Math"/>
                        </a:rPr>
                        <m:t>𝑣</m:t>
                      </m:r>
                      <m:r>
                        <a:rPr sz="2200">
                          <a:solidFill>
                            <a:srgbClr val="C81919"/>
                          </a:solidFill>
                          <a:latin typeface="Cambria Math"/>
                        </a:rPr>
                        <m:t>𝑎𝑏</m:t>
                      </m:r>
                      <m:r>
                        <a:rPr lang="en-NL" sz="2200" smtClean="0">
                          <a:solidFill>
                            <a:srgbClr val="C81919"/>
                          </a:solidFill>
                          <a:latin typeface="Cambria Math"/>
                        </a:rPr>
                        <m:t>≥0</m:t>
                      </m:r>
                    </m:oMath>
                  </m:oMathPara>
                </a14:m>
                <a:endParaRPr sz="2200" dirty="0"/>
              </a:p>
            </p:txBody>
          </p:sp>
        </mc:Choice>
        <mc:Fallback xmlns="">
          <p:sp>
            <p:nvSpPr>
              <p:cNvPr id="8037" name="Cancel matching terms"/>
              <p:cNvSpPr>
                <a:spLocks noRot="1" noChangeAspect="1" noMove="1" noResize="1" noEditPoints="1" noAdjustHandles="1" noChangeArrowheads="1" noChangeShapeType="1" noTextEdit="1"/>
              </p:cNvSpPr>
              <p:nvPr/>
            </p:nvSpPr>
            <p:spPr>
              <a:xfrm>
                <a:off x="444500" y="2910840"/>
                <a:ext cx="82550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m:t>
                      </m:r>
                    </m:oMath>
                  </m:oMathPara>
                </a14:m>
                <a:endParaRPr sz="2100" dirty="0"/>
              </a:p>
            </p:txBody>
          </p:sp>
        </mc:Choice>
        <mc:Fallback xmlns="">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cxnSp>
        <p:nvCxnSpPr>
          <p:cNvPr id="3" name="Straight Connector 2">
            <a:extLst>
              <a:ext uri="{FF2B5EF4-FFF2-40B4-BE49-F238E27FC236}">
                <a16:creationId xmlns:a16="http://schemas.microsoft.com/office/drawing/2014/main" id="{4B946411-B4B0-963C-A4CC-503799D58626}"/>
              </a:ext>
            </a:extLst>
          </p:cNvPr>
          <p:cNvCxnSpPr/>
          <p:nvPr/>
        </p:nvCxnSpPr>
        <p:spPr>
          <a:xfrm flipV="1">
            <a:off x="2558783" y="2812356"/>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922C065-CA68-07AE-AFA7-086A366DA5A2}"/>
              </a:ext>
            </a:extLst>
          </p:cNvPr>
          <p:cNvCxnSpPr/>
          <p:nvPr/>
        </p:nvCxnSpPr>
        <p:spPr>
          <a:xfrm flipV="1">
            <a:off x="3962288" y="2772132"/>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D0B255A-6B55-DD1F-63C0-BF8C36906F6F}"/>
              </a:ext>
            </a:extLst>
          </p:cNvPr>
          <p:cNvCxnSpPr/>
          <p:nvPr/>
        </p:nvCxnSpPr>
        <p:spPr>
          <a:xfrm flipV="1">
            <a:off x="4850963" y="2787650"/>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D1D1A8-1891-3555-7348-935980BE09F1}"/>
              </a:ext>
            </a:extLst>
          </p:cNvPr>
          <p:cNvCxnSpPr/>
          <p:nvPr/>
        </p:nvCxnSpPr>
        <p:spPr>
          <a:xfrm flipV="1">
            <a:off x="6323901" y="2811945"/>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0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0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0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0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0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0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639A1-BB0D-D9F3-82EC-C8B6E7E3F099}"/>
              </a:ext>
            </a:extLst>
          </p:cNvPr>
          <p:cNvSpPr>
            <a:spLocks noGrp="1"/>
          </p:cNvSpPr>
          <p:nvPr>
            <p:ph type="title"/>
          </p:nvPr>
        </p:nvSpPr>
        <p:spPr/>
        <p:txBody>
          <a:bodyPr/>
          <a:lstStyle/>
          <a:p>
            <a:endParaRPr lang="en-NL" dirty="0"/>
          </a:p>
        </p:txBody>
      </p:sp>
      <p:sp>
        <p:nvSpPr>
          <p:cNvPr id="3" name="Footer Placeholder 2">
            <a:extLst>
              <a:ext uri="{FF2B5EF4-FFF2-40B4-BE49-F238E27FC236}">
                <a16:creationId xmlns:a16="http://schemas.microsoft.com/office/drawing/2014/main" id="{E4E197F6-7BCB-9F91-3A53-E3EA1F27D4E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en-US"/>
              <a:t>Msc Defence T.M. Lenssen</a:t>
            </a:r>
          </a:p>
        </p:txBody>
      </p:sp>
      <p:sp>
        <p:nvSpPr>
          <p:cNvPr id="4" name="Slide Number Placeholder 3">
            <a:extLst>
              <a:ext uri="{FF2B5EF4-FFF2-40B4-BE49-F238E27FC236}">
                <a16:creationId xmlns:a16="http://schemas.microsoft.com/office/drawing/2014/main" id="{9352A203-D4AC-63FE-8CE8-C2F0C98D0C9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pic>
        <p:nvPicPr>
          <p:cNvPr id="6" name="Picture 5">
            <a:extLst>
              <a:ext uri="{FF2B5EF4-FFF2-40B4-BE49-F238E27FC236}">
                <a16:creationId xmlns:a16="http://schemas.microsoft.com/office/drawing/2014/main" id="{21C80356-5C34-A16F-FE0F-F516A800C1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3607759" cy="5142857"/>
          </a:xfrm>
          <a:prstGeom prst="rect">
            <a:avLst/>
          </a:prstGeom>
        </p:spPr>
      </p:pic>
      <mc:AlternateContent xmlns:mc="http://schemas.openxmlformats.org/markup-compatibility/2006" xmlns:a14="http://schemas.microsoft.com/office/drawing/2010/main">
        <mc:Choice Requires="a14">
          <p:sp>
            <p:nvSpPr>
              <p:cNvPr id="107" name="Theta summary title"/>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dirty="0">
                    <a:solidFill>
                      <a:srgbClr val="252529"/>
                    </a:solidFill>
                    <a:latin typeface="Aptos"/>
                    <a:ea typeface="Aptos"/>
                    <a:cs typeface="Aptos"/>
                  </a:rPr>
                  <a:t>A suitable </a:t>
                </a:r>
                <a14:m>
                  <m:oMath xmlns:m="http://schemas.openxmlformats.org/officeDocument/2006/math">
                    <m:r>
                      <a:rPr lang="en-GB" sz="2200" b="1" i="1" u="none" baseline="0" smtClean="0">
                        <a:solidFill>
                          <a:srgbClr val="252529"/>
                        </a:solidFill>
                        <a:latin typeface="Cambria Math" panose="02040503050406030204" pitchFamily="18" charset="0"/>
                        <a:ea typeface="Cambria Math" panose="02040503050406030204" pitchFamily="18" charset="0"/>
                        <a:cs typeface="Aptos"/>
                      </a:rPr>
                      <m:t>𝚯</m:t>
                    </m:r>
                  </m:oMath>
                </a14:m>
                <a:r>
                  <a:rPr lang="en-GB" sz="2200" b="1" i="0" u="none" baseline="0" dirty="0">
                    <a:solidFill>
                      <a:srgbClr val="252529"/>
                    </a:solidFill>
                    <a:latin typeface="Aptos"/>
                    <a:ea typeface="Aptos"/>
                    <a:cs typeface="Aptos"/>
                  </a:rPr>
                  <a:t> depends on </a:t>
                </a:r>
                <a14:m>
                  <m:oMath xmlns:m="http://schemas.openxmlformats.org/officeDocument/2006/math">
                    <m:r>
                      <a:rPr lang="en-GB" sz="2200" b="1" i="1" u="none" baseline="0" smtClean="0">
                        <a:solidFill>
                          <a:srgbClr val="252529"/>
                        </a:solidFill>
                        <a:latin typeface="Cambria Math" panose="02040503050406030204" pitchFamily="18" charset="0"/>
                        <a:ea typeface="Cambria Math" panose="02040503050406030204" pitchFamily="18" charset="0"/>
                        <a:cs typeface="Aptos"/>
                      </a:rPr>
                      <m:t>𝚫</m:t>
                    </m:r>
                  </m:oMath>
                </a14:m>
                <a:endParaRPr sz="2200" dirty="0"/>
              </a:p>
            </p:txBody>
          </p:sp>
        </mc:Choice>
        <mc:Fallback xmlns="">
          <p:sp>
            <p:nvSpPr>
              <p:cNvPr id="107" name="Theta summary title"/>
              <p:cNvSpPr>
                <a:spLocks noRot="1" noChangeAspect="1" noMove="1" noResize="1" noEditPoints="1" noAdjustHandles="1" noChangeArrowheads="1" noChangeShapeType="1" noTextEdit="1"/>
              </p:cNvSpPr>
              <p:nvPr/>
            </p:nvSpPr>
            <p:spPr>
              <a:xfrm>
                <a:off x="3911600" y="374650"/>
                <a:ext cx="4775200" cy="419100"/>
              </a:xfrm>
              <a:prstGeom prst="rect">
                <a:avLst/>
              </a:prstGeom>
              <a:blipFill>
                <a:blip r:embed="rId3"/>
                <a:stretch>
                  <a:fillRect l="-3576" t="-8696" b="-31884"/>
                </a:stretch>
              </a:blipFill>
              <a:ln>
                <a:noFill/>
              </a:ln>
            </p:spPr>
            <p:txBody>
              <a:bodyPr/>
              <a:lstStyle/>
              <a:p>
                <a:r>
                  <a:rPr lang="en-NL">
                    <a:noFill/>
                  </a:rPr>
                  <a:t> </a:t>
                </a:r>
              </a:p>
            </p:txBody>
          </p:sp>
        </mc:Fallback>
      </mc:AlternateContent>
      <p:sp>
        <p:nvSpPr>
          <p:cNvPr id="108" name="Theta example caption"/>
          <p:cNvSpPr/>
          <p:nvPr/>
        </p:nvSpPr>
        <p:spPr>
          <a:xfrm>
            <a:off x="3911600" y="9652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747B82"/>
                </a:solidFill>
                <a:latin typeface="Aptos"/>
                <a:ea typeface="Aptos"/>
                <a:cs typeface="Aptos"/>
              </a:rPr>
              <a:t>For the sector we just analysed:</a:t>
            </a:r>
            <a:endParaRPr sz="1600"/>
          </a:p>
        </p:txBody>
      </p:sp>
      <mc:AlternateContent xmlns:mc="http://schemas.openxmlformats.org/markup-compatibility/2006" xmlns:a14="http://schemas.microsoft.com/office/drawing/2010/main">
        <mc:Choice Requires="a14">
          <p:sp>
            <p:nvSpPr>
              <p:cNvPr id="109" name="Derived static Theta"/>
              <p:cNvSpPr/>
              <p:nvPr/>
            </p:nvSpPr>
            <p:spPr>
              <a:xfrm>
                <a:off x="3886200" y="12776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100">
                          <a:solidFill>
                            <a:srgbClr val="252529"/>
                          </a:solidFill>
                          <a:latin typeface="Cambria Math"/>
                        </a:rPr>
                        <m:t>Θ</m:t>
                      </m:r>
                      <m:d>
                        <m:dPr>
                          <m:ctrlPr>
                            <a:rPr sz="2100">
                              <a:solidFill>
                                <a:srgbClr val="252529"/>
                              </a:solidFill>
                              <a:latin typeface="Cambria Math"/>
                            </a:rPr>
                          </m:ctrlPr>
                        </m:dPr>
                        <m:e>
                          <m:r>
                            <a:rPr sz="2100">
                              <a:solidFill>
                                <a:srgbClr val="252529"/>
                              </a:solidFill>
                              <a:latin typeface="Cambria Math"/>
                            </a:rPr>
                            <m:t>𝑣</m:t>
                          </m:r>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𝑣</m:t>
                                </m:r>
                              </m:e>
                              <m:e>
                                <m:r>
                                  <a:rPr sz="2100">
                                    <a:solidFill>
                                      <a:srgbClr val="252529"/>
                                    </a:solidFill>
                                    <a:latin typeface="Cambria Math"/>
                                  </a:rPr>
                                  <m:t>1</m:t>
                                </m:r>
                              </m:e>
                            </m:mr>
                            <m:mr>
                              <m:e>
                                <m:r>
                                  <a:rPr sz="2100">
                                    <a:solidFill>
                                      <a:srgbClr val="252529"/>
                                    </a:solidFill>
                                    <a:latin typeface="Cambria Math"/>
                                  </a:rPr>
                                  <m:t>𝑣</m:t>
                                </m:r>
                              </m:e>
                              <m:e>
                                <m:r>
                                  <a:rPr sz="2100">
                                    <a:solidFill>
                                      <a:srgbClr val="252529"/>
                                    </a:solidFill>
                                    <a:latin typeface="Cambria Math"/>
                                  </a:rPr>
                                  <m:t>−1</m:t>
                                </m:r>
                              </m:e>
                            </m:mr>
                          </m:m>
                        </m:e>
                      </m:d>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0.735</m:t>
                                </m:r>
                              </m:e>
                              <m:e>
                                <m:r>
                                  <a:rPr sz="2100">
                                    <a:solidFill>
                                      <a:srgbClr val="252529"/>
                                    </a:solidFill>
                                    <a:latin typeface="Cambria Math"/>
                                  </a:rPr>
                                  <m:t>−1</m:t>
                                </m:r>
                              </m:e>
                            </m:mr>
                            <m:mr>
                              <m:e>
                                <m:r>
                                  <a:rPr sz="2100">
                                    <a:solidFill>
                                      <a:srgbClr val="252529"/>
                                    </a:solidFill>
                                    <a:latin typeface="Cambria Math"/>
                                  </a:rPr>
                                  <m:t>0</m:t>
                                </m:r>
                              </m:e>
                              <m:e>
                                <m:r>
                                  <a:rPr sz="2100">
                                    <a:solidFill>
                                      <a:srgbClr val="252529"/>
                                    </a:solidFill>
                                    <a:latin typeface="Cambria Math"/>
                                  </a:rPr>
                                  <m:t>1</m:t>
                                </m:r>
                              </m:e>
                            </m:mr>
                          </m:m>
                        </m:e>
                      </m:d>
                    </m:oMath>
                  </m:oMathPara>
                </a14:m>
                <a:endParaRPr sz="2100"/>
              </a:p>
            </p:txBody>
          </p:sp>
        </mc:Choice>
        <mc:Fallback xmlns="">
          <p:sp>
            <p:nvSpPr>
              <p:cNvPr id="109" name="Derived static Theta"/>
              <p:cNvSpPr>
                <a:spLocks noRot="1" noChangeAspect="1" noMove="1" noResize="1" noEditPoints="1" noAdjustHandles="1" noChangeArrowheads="1" noChangeShapeType="1" noTextEdit="1"/>
              </p:cNvSpPr>
              <p:nvPr/>
            </p:nvSpPr>
            <p:spPr>
              <a:xfrm>
                <a:off x="3886200" y="1277620"/>
                <a:ext cx="4826000" cy="7467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 name="Positive Theta parameter"/>
              <p:cNvSpPr/>
              <p:nvPr/>
            </p:nvSpPr>
            <p:spPr>
              <a:xfrm>
                <a:off x="3981450" y="1927860"/>
                <a:ext cx="46355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𝑣</m:t>
                      </m:r>
                      <m:r>
                        <a:rPr sz="1800">
                          <a:solidFill>
                            <a:srgbClr val="252529"/>
                          </a:solidFill>
                          <a:latin typeface="Cambria Math"/>
                        </a:rPr>
                        <m:t>&gt;0</m:t>
                      </m:r>
                    </m:oMath>
                  </m:oMathPara>
                </a14:m>
                <a:endParaRPr sz="1800"/>
              </a:p>
            </p:txBody>
          </p:sp>
        </mc:Choice>
        <mc:Fallback xmlns="">
          <p:sp>
            <p:nvSpPr>
              <p:cNvPr id="110" name="Positive Theta parameter"/>
              <p:cNvSpPr>
                <a:spLocks noRot="1" noChangeAspect="1" noMove="1" noResize="1" noEditPoints="1" noAdjustHandles="1" noChangeArrowheads="1" noChangeShapeType="1" noTextEdit="1"/>
              </p:cNvSpPr>
              <p:nvPr/>
            </p:nvSpPr>
            <p:spPr>
              <a:xfrm>
                <a:off x="3981450" y="1927860"/>
                <a:ext cx="4635500" cy="640080"/>
              </a:xfrm>
              <a:prstGeom prst="rect">
                <a:avLst/>
              </a:prstGeom>
              <a:blipFill>
                <a:blip r:embed="rId5"/>
                <a:stretch>
                  <a:fillRect/>
                </a:stretch>
              </a:blipFill>
              <a:ln>
                <a:noFill/>
              </a:ln>
            </p:spPr>
            <p:txBody>
              <a:bodyPr/>
              <a:lstStyle/>
              <a:p>
                <a:r>
                  <a:rPr lang="en-NL">
                    <a:noFill/>
                  </a:rPr>
                  <a:t> </a:t>
                </a:r>
              </a:p>
            </p:txBody>
          </p:sp>
        </mc:Fallback>
      </mc:AlternateContent>
      <p:sp>
        <p:nvSpPr>
          <p:cNvPr id="111" name="Specific uncertainty bullet"/>
          <p:cNvSpPr/>
          <p:nvPr/>
        </p:nvSpPr>
        <p:spPr>
          <a:xfrm>
            <a:off x="3937000" y="2622550"/>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2" name="Specific uncertainty"/>
              <p:cNvSpPr/>
              <p:nvPr/>
            </p:nvSpPr>
            <p:spPr>
              <a:xfrm>
                <a:off x="4178300" y="2632075"/>
                <a:ext cx="4572000" cy="323850"/>
              </a:xfrm>
              <a:prstGeom prst="rect">
                <a:avLst/>
              </a:prstGeom>
              <a:noFill/>
              <a:ln>
                <a:noFill/>
              </a:ln>
            </p:spPr>
            <p:txBody>
              <a:bodyPr wrap="none" lIns="0" tIns="0" rIns="0" bIns="0" anchor="ctr">
                <a:noAutofit/>
              </a:bodyPr>
              <a:lstStyle/>
              <a:p>
                <a:pPr algn="l">
                  <a:buNone/>
                </a:pPr>
                <a:r>
                  <a:rPr lang="en-GB" sz="1700" b="0" i="0" u="none" baseline="0" dirty="0">
                    <a:solidFill>
                      <a:srgbClr val="252529"/>
                    </a:solidFill>
                    <a:latin typeface="Aptos"/>
                    <a:ea typeface="Aptos"/>
                    <a:cs typeface="Aptos"/>
                  </a:rPr>
                  <a:t>This static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is specific for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Δ</m:t>
                    </m:r>
                  </m:oMath>
                </a14:m>
                <a:endParaRPr sz="1700" dirty="0"/>
              </a:p>
            </p:txBody>
          </p:sp>
        </mc:Choice>
        <mc:Fallback xmlns="">
          <p:sp>
            <p:nvSpPr>
              <p:cNvPr id="112" name="Specific uncertainty"/>
              <p:cNvSpPr>
                <a:spLocks noRot="1" noChangeAspect="1" noMove="1" noResize="1" noEditPoints="1" noAdjustHandles="1" noChangeArrowheads="1" noChangeShapeType="1" noTextEdit="1"/>
              </p:cNvSpPr>
              <p:nvPr/>
            </p:nvSpPr>
            <p:spPr>
              <a:xfrm>
                <a:off x="4178300" y="2632075"/>
                <a:ext cx="4572000" cy="323850"/>
              </a:xfrm>
              <a:prstGeom prst="rect">
                <a:avLst/>
              </a:prstGeom>
              <a:blipFill>
                <a:blip r:embed="rId6"/>
                <a:stretch>
                  <a:fillRect l="-2800" t="-9434" b="-32075"/>
                </a:stretch>
              </a:blipFill>
              <a:ln>
                <a:noFill/>
              </a:ln>
            </p:spPr>
            <p:txBody>
              <a:bodyPr/>
              <a:lstStyle/>
              <a:p>
                <a:r>
                  <a:rPr lang="en-NL">
                    <a:noFill/>
                  </a:rPr>
                  <a:t> </a:t>
                </a:r>
              </a:p>
            </p:txBody>
          </p:sp>
        </mc:Fallback>
      </mc:AlternateContent>
      <p:sp>
        <p:nvSpPr>
          <p:cNvPr id="114" name="Analyse uncertainty bullet"/>
          <p:cNvSpPr/>
          <p:nvPr/>
        </p:nvSpPr>
        <p:spPr>
          <a:xfrm>
            <a:off x="3937000" y="318071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5" name="Analyse uncertainty"/>
              <p:cNvSpPr/>
              <p:nvPr/>
            </p:nvSpPr>
            <p:spPr>
              <a:xfrm>
                <a:off x="4178300" y="3190240"/>
                <a:ext cx="4572000" cy="323850"/>
              </a:xfrm>
              <a:prstGeom prst="rect">
                <a:avLst/>
              </a:prstGeom>
              <a:noFill/>
              <a:ln>
                <a:noFill/>
              </a:ln>
            </p:spPr>
            <p:txBody>
              <a:bodyPr wrap="none" lIns="0" tIns="0" rIns="0" bIns="0" anchor="ctr">
                <a:noAutofit/>
              </a:bodyPr>
              <a:lstStyle/>
              <a:p>
                <a:pPr algn="l">
                  <a:buNone/>
                </a:pPr>
                <a:r>
                  <a:rPr lang="en-GB" sz="1700" dirty="0">
                    <a:solidFill>
                      <a:srgbClr val="252529"/>
                    </a:solidFill>
                    <a:latin typeface="Aptos"/>
                    <a:ea typeface="Aptos"/>
                    <a:cs typeface="Aptos"/>
                  </a:rPr>
                  <a:t>Parameterization of </a:t>
                </a:r>
                <a14:m>
                  <m:oMath xmlns:m="http://schemas.openxmlformats.org/officeDocument/2006/math">
                    <m:r>
                      <m:rPr>
                        <m:sty m:val="p"/>
                      </m:rPr>
                      <a:rPr lang="el-GR" sz="1700" i="1" smtClean="0">
                        <a:solidFill>
                          <a:srgbClr val="252529"/>
                        </a:solidFill>
                        <a:latin typeface="Cambria Math" panose="02040503050406030204" pitchFamily="18" charset="0"/>
                        <a:ea typeface="Cambria Math" panose="02040503050406030204" pitchFamily="18" charset="0"/>
                        <a:cs typeface="Aptos"/>
                      </a:rPr>
                      <m:t>Θ</m:t>
                    </m:r>
                  </m:oMath>
                </a14:m>
                <a:r>
                  <a:rPr lang="en-US" sz="1700" dirty="0"/>
                  <a:t> depends on properties of </a:t>
                </a:r>
                <a14:m>
                  <m:oMath xmlns:m="http://schemas.openxmlformats.org/officeDocument/2006/math">
                    <m:r>
                      <m:rPr>
                        <m:sty m:val="p"/>
                      </m:rPr>
                      <a:rPr lang="el-GR" sz="1700" i="1" smtClean="0">
                        <a:latin typeface="Cambria Math" panose="02040503050406030204" pitchFamily="18" charset="0"/>
                        <a:ea typeface="Cambria Math" panose="02040503050406030204" pitchFamily="18" charset="0"/>
                      </a:rPr>
                      <m:t>Δ</m:t>
                    </m:r>
                  </m:oMath>
                </a14:m>
                <a:endParaRPr sz="1700" dirty="0"/>
              </a:p>
            </p:txBody>
          </p:sp>
        </mc:Choice>
        <mc:Fallback xmlns="">
          <p:sp>
            <p:nvSpPr>
              <p:cNvPr id="115" name="Analyse uncertainty"/>
              <p:cNvSpPr>
                <a:spLocks noRot="1" noChangeAspect="1" noMove="1" noResize="1" noEditPoints="1" noAdjustHandles="1" noChangeArrowheads="1" noChangeShapeType="1" noTextEdit="1"/>
              </p:cNvSpPr>
              <p:nvPr/>
            </p:nvSpPr>
            <p:spPr>
              <a:xfrm>
                <a:off x="4178300" y="3190240"/>
                <a:ext cx="4572000" cy="323850"/>
              </a:xfrm>
              <a:prstGeom prst="rect">
                <a:avLst/>
              </a:prstGeom>
              <a:blipFill>
                <a:blip r:embed="rId7"/>
                <a:stretch>
                  <a:fillRect l="-2800" t="-7547" r="-933" b="-32075"/>
                </a:stretch>
              </a:blipFill>
              <a:ln>
                <a:noFill/>
              </a:ln>
            </p:spPr>
            <p:txBody>
              <a:bodyPr/>
              <a:lstStyle/>
              <a:p>
                <a:r>
                  <a:rPr lang="en-NL">
                    <a:noFill/>
                  </a:rPr>
                  <a:t> </a:t>
                </a:r>
              </a:p>
            </p:txBody>
          </p:sp>
        </mc:Fallback>
      </mc:AlternateContent>
      <p:sp>
        <p:nvSpPr>
          <p:cNvPr id="117" name="Dynamic Theta bullet"/>
          <p:cNvSpPr/>
          <p:nvPr/>
        </p:nvSpPr>
        <p:spPr>
          <a:xfrm>
            <a:off x="3937000" y="373062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8" name="Dynamic Theta"/>
              <p:cNvSpPr/>
              <p:nvPr/>
            </p:nvSpPr>
            <p:spPr>
              <a:xfrm>
                <a:off x="4178300" y="3740150"/>
                <a:ext cx="4572000" cy="323850"/>
              </a:xfrm>
              <a:prstGeom prst="rect">
                <a:avLst/>
              </a:prstGeom>
              <a:noFill/>
              <a:ln>
                <a:noFill/>
              </a:ln>
            </p:spPr>
            <p:txBody>
              <a:bodyPr wrap="none" lIns="0" tIns="0" rIns="0" bIns="0" anchor="ctr">
                <a:noAutofit/>
              </a:bodyPr>
              <a:lstStyle/>
              <a:p>
                <a:pPr algn="l">
                  <a:buNone/>
                </a:pP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can also be dynamic, with its own internal states</a:t>
                </a:r>
                <a:endParaRPr sz="1700" dirty="0"/>
              </a:p>
            </p:txBody>
          </p:sp>
        </mc:Choice>
        <mc:Fallback xmlns="">
          <p:sp>
            <p:nvSpPr>
              <p:cNvPr id="118" name="Dynamic Theta"/>
              <p:cNvSpPr>
                <a:spLocks noRot="1" noChangeAspect="1" noMove="1" noResize="1" noEditPoints="1" noAdjustHandles="1" noChangeArrowheads="1" noChangeShapeType="1" noTextEdit="1"/>
              </p:cNvSpPr>
              <p:nvPr/>
            </p:nvSpPr>
            <p:spPr>
              <a:xfrm>
                <a:off x="4178300" y="3740150"/>
                <a:ext cx="4572000" cy="323850"/>
              </a:xfrm>
              <a:prstGeom prst="rect">
                <a:avLst/>
              </a:prstGeom>
              <a:blipFill>
                <a:blip r:embed="rId8"/>
                <a:stretch>
                  <a:fillRect l="-1600" t="-9434" r="-4800" b="-30189"/>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1202265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112" grpId="0"/>
      <p:bldP spid="114" grpId="0"/>
      <p:bldP spid="115" grpId="0"/>
      <p:bldP spid="117" grpId="0"/>
      <p:bldP spid="11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3292-7C9C-BBE8-7D16-D4D7FFA95FD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8583AE7-980A-B274-BF8A-98AE416A28A6}"/>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8A40356-44DC-E002-D6E7-A363BA5162E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90276" y="2564134"/>
            <a:ext cx="1808057" cy="2579366"/>
          </a:xfrm>
          <a:prstGeom prst="rect">
            <a:avLst/>
          </a:prstGeom>
        </p:spPr>
      </p:pic>
      <p:sp>
        <p:nvSpPr>
          <p:cNvPr id="2" name="!!PIE pillar">
            <a:extLst>
              <a:ext uri="{FF2B5EF4-FFF2-40B4-BE49-F238E27FC236}">
                <a16:creationId xmlns:a16="http://schemas.microsoft.com/office/drawing/2014/main" id="{C9FDFCC6-581B-6F05-DBA2-958168BC74C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6699817-B641-8594-0757-87368D5A5ACD}"/>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9F6E168C-2A3F-3C81-24A0-9B3BABC2DEFE}"/>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7692B316-032F-5988-A21D-29098A68E96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9846B291-3F21-67B4-6E36-5118A2BF85F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250C7B19-6A14-68C1-20F3-C8F3F669021A}"/>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72939C1D-4F40-45C6-1406-ECE2DB489480}"/>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226BAE28-B4F4-A106-6781-98C7D2574989}"/>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43314A6A-420C-69FF-89F6-490B15F41A01}"/>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8100C3A0-B145-F48B-F347-2D1EB29E995F}"/>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21A458C1-1247-BA8B-B29F-E6A776113A8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ABEFFDC3-A3C9-3F09-D45A-E7BF57464A2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EAC7A4D-A0A7-A9E9-332F-49332FE4182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A5C5D313-B85E-B84F-5930-AFC728E27086}"/>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EA8844E4-35D8-F67B-9D90-EC59E3CD1508}"/>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70DA3884-EB37-A827-3455-761F6BC765A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F88D4A53-1944-4CFC-4024-8334D68690E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2007646B-D7D2-6903-6A36-5759227F04EE}"/>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24647194-C53A-8728-B07A-373EE7537C19}"/>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0533EA20-673B-A537-F68E-843367A311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11506F1-0942-2AE5-0C5F-D1CD64916629}"/>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E141B1F-1AE1-BCCC-C74E-A57B24DE0631}"/>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ED7F966F-DE78-F60E-1EDC-14693E31916A}"/>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pic>
        <p:nvPicPr>
          <p:cNvPr id="27" name="Picture 26">
            <a:extLst>
              <a:ext uri="{FF2B5EF4-FFF2-40B4-BE49-F238E27FC236}">
                <a16:creationId xmlns:a16="http://schemas.microsoft.com/office/drawing/2014/main" id="{691AC1AB-A104-93A6-F34F-3F313D93167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81" y="-15232"/>
            <a:ext cx="1809448" cy="2579366"/>
          </a:xfrm>
          <a:prstGeom prst="rect">
            <a:avLst/>
          </a:prstGeom>
        </p:spPr>
      </p:pic>
    </p:spTree>
    <p:extLst>
      <p:ext uri="{BB962C8B-B14F-4D97-AF65-F5344CB8AC3E}">
        <p14:creationId xmlns:p14="http://schemas.microsoft.com/office/powerpoint/2010/main" val="2043640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66DD-9777-B66E-31EE-9407E39C086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BFC054-2ADC-5E5C-339A-E9D1B5D65A39}"/>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ECC35B5-3AE2-CA4E-CA09-27259520D12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740145" y="2579366"/>
            <a:ext cx="1808057" cy="2579366"/>
          </a:xfrm>
          <a:prstGeom prst="rect">
            <a:avLst/>
          </a:prstGeom>
        </p:spPr>
      </p:pic>
      <p:sp>
        <p:nvSpPr>
          <p:cNvPr id="8" name="Footer Placeholder 4">
            <a:extLst>
              <a:ext uri="{FF2B5EF4-FFF2-40B4-BE49-F238E27FC236}">
                <a16:creationId xmlns:a16="http://schemas.microsoft.com/office/drawing/2014/main" id="{9029E7E1-ABAA-3362-E60A-DC1A3DB99018}"/>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pic>
        <p:nvPicPr>
          <p:cNvPr id="27" name="Picture 26">
            <a:extLst>
              <a:ext uri="{FF2B5EF4-FFF2-40B4-BE49-F238E27FC236}">
                <a16:creationId xmlns:a16="http://schemas.microsoft.com/office/drawing/2014/main" id="{534105F3-6516-466D-17B5-3A25729B59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8814" y="0"/>
            <a:ext cx="1809448" cy="2579366"/>
          </a:xfrm>
          <a:prstGeom prst="rect">
            <a:avLst/>
          </a:prstGeom>
        </p:spPr>
      </p:pic>
      <p:sp>
        <p:nvSpPr>
          <p:cNvPr id="20" name="TextBox 19">
            <a:extLst>
              <a:ext uri="{FF2B5EF4-FFF2-40B4-BE49-F238E27FC236}">
                <a16:creationId xmlns:a16="http://schemas.microsoft.com/office/drawing/2014/main" id="{40E1DE1C-3803-5654-29AF-434FA754F6CB}"/>
              </a:ext>
            </a:extLst>
          </p:cNvPr>
          <p:cNvSpPr txBox="1"/>
          <p:nvPr/>
        </p:nvSpPr>
        <p:spPr>
          <a:xfrm>
            <a:off x="3704434" y="111899"/>
            <a:ext cx="5439566" cy="300082"/>
          </a:xfrm>
          <a:prstGeom prst="rect">
            <a:avLst/>
          </a:prstGeom>
          <a:noFill/>
        </p:spPr>
        <p:txBody>
          <a:bodyPr wrap="none" rtlCol="0">
            <a:spAutoFit/>
          </a:bodyPr>
          <a:lstStyle/>
          <a:p>
            <a:r>
              <a:rPr lang="en-US" b="1" dirty="0"/>
              <a:t>How do we combine the controller and uncertainty representation?</a:t>
            </a:r>
            <a:endParaRPr lang="en-NL" b="1" dirty="0"/>
          </a:p>
        </p:txBody>
      </p:sp>
      <p:grpSp>
        <p:nvGrpSpPr>
          <p:cNvPr id="51" name="Group 50">
            <a:extLst>
              <a:ext uri="{FF2B5EF4-FFF2-40B4-BE49-F238E27FC236}">
                <a16:creationId xmlns:a16="http://schemas.microsoft.com/office/drawing/2014/main" id="{DD874342-70A1-0148-18AE-D70BEB90561F}"/>
              </a:ext>
            </a:extLst>
          </p:cNvPr>
          <p:cNvGrpSpPr/>
          <p:nvPr/>
        </p:nvGrpSpPr>
        <p:grpSpPr>
          <a:xfrm>
            <a:off x="4001882" y="1168904"/>
            <a:ext cx="4844669" cy="2950972"/>
            <a:chOff x="1995932" y="1274064"/>
            <a:chExt cx="4844669" cy="2950972"/>
          </a:xfrm>
        </p:grpSpPr>
        <p:grpSp>
          <p:nvGrpSpPr>
            <p:cNvPr id="21" name="Editable paper diagram">
              <a:extLst>
                <a:ext uri="{FF2B5EF4-FFF2-40B4-BE49-F238E27FC236}">
                  <a16:creationId xmlns:a16="http://schemas.microsoft.com/office/drawing/2014/main" id="{E0B58715-2347-DF41-6E45-F7C31F2878D4}"/>
                </a:ext>
              </a:extLst>
            </p:cNvPr>
            <p:cNvGrpSpPr/>
            <p:nvPr/>
          </p:nvGrpSpPr>
          <p:grpSpPr>
            <a:xfrm>
              <a:off x="1995932" y="1274064"/>
              <a:ext cx="4844669" cy="2950972"/>
              <a:chOff x="1995932" y="1274064"/>
              <a:chExt cx="4844669" cy="2950972"/>
            </a:xfrm>
          </p:grpSpPr>
          <p:sp>
            <p:nvSpPr>
              <p:cNvPr id="23" name="Plant to uncertainty">
                <a:extLst>
                  <a:ext uri="{FF2B5EF4-FFF2-40B4-BE49-F238E27FC236}">
                    <a16:creationId xmlns:a16="http://schemas.microsoft.com/office/drawing/2014/main" id="{E070B619-C840-121F-C0E9-7B552AE1CA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4" name="Uncertainty to plant">
                <a:extLst>
                  <a:ext uri="{FF2B5EF4-FFF2-40B4-BE49-F238E27FC236}">
                    <a16:creationId xmlns:a16="http://schemas.microsoft.com/office/drawing/2014/main" id="{AE6437F5-10BC-7548-F272-C88EFD36928B}"/>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5" name="z filter input">
                <a:extLst>
                  <a:ext uri="{FF2B5EF4-FFF2-40B4-BE49-F238E27FC236}">
                    <a16:creationId xmlns:a16="http://schemas.microsoft.com/office/drawing/2014/main" id="{3253F797-DEA6-F337-0911-F46FBC09730F}"/>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26" name="w filter input">
                <a:extLst>
                  <a:ext uri="{FF2B5EF4-FFF2-40B4-BE49-F238E27FC236}">
                    <a16:creationId xmlns:a16="http://schemas.microsoft.com/office/drawing/2014/main" id="{7A191E2E-6AAD-6191-A51A-16D35C6B41DB}"/>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28" name="z filtered output">
                <a:extLst>
                  <a:ext uri="{FF2B5EF4-FFF2-40B4-BE49-F238E27FC236}">
                    <a16:creationId xmlns:a16="http://schemas.microsoft.com/office/drawing/2014/main" id="{796A0B54-3C80-2BFD-6488-A253F71D266A}"/>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9" name="Filtered z">
                    <a:extLst>
                      <a:ext uri="{FF2B5EF4-FFF2-40B4-BE49-F238E27FC236}">
                        <a16:creationId xmlns:a16="http://schemas.microsoft.com/office/drawing/2014/main" id="{EF2053B9-6602-1742-73D9-05E836A0977D}"/>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106" name="Filtered z"/>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5"/>
                    <a:stretch>
                      <a:fillRect r="-52174"/>
                    </a:stretch>
                  </a:blipFill>
                  <a:ln>
                    <a:noFill/>
                  </a:ln>
                </p:spPr>
                <p:txBody>
                  <a:bodyPr/>
                  <a:lstStyle/>
                  <a:p>
                    <a:r>
                      <a:rPr lang="en-NL">
                        <a:noFill/>
                      </a:rPr>
                      <a:t> </a:t>
                    </a:r>
                  </a:p>
                </p:txBody>
              </p:sp>
            </mc:Fallback>
          </mc:AlternateContent>
          <p:sp>
            <p:nvSpPr>
              <p:cNvPr id="31" name="w filtered output">
                <a:extLst>
                  <a:ext uri="{FF2B5EF4-FFF2-40B4-BE49-F238E27FC236}">
                    <a16:creationId xmlns:a16="http://schemas.microsoft.com/office/drawing/2014/main" id="{CA7BE8B2-A5F4-9984-36FB-516A1B6C9B0B}"/>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2" name="Filtered w">
                    <a:extLst>
                      <a:ext uri="{FF2B5EF4-FFF2-40B4-BE49-F238E27FC236}">
                        <a16:creationId xmlns:a16="http://schemas.microsoft.com/office/drawing/2014/main" id="{A265A9EC-93CB-6D10-AF6F-349BBF03DEA2}"/>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108" name="Filtered w"/>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6"/>
                    <a:stretch>
                      <a:fillRect t="-4839" r="-47826"/>
                    </a:stretch>
                  </a:blipFill>
                  <a:ln>
                    <a:noFill/>
                  </a:ln>
                </p:spPr>
                <p:txBody>
                  <a:bodyPr/>
                  <a:lstStyle/>
                  <a:p>
                    <a:r>
                      <a:rPr lang="en-NL">
                        <a:noFill/>
                      </a:rPr>
                      <a:t> </a:t>
                    </a:r>
                  </a:p>
                </p:txBody>
              </p:sp>
            </mc:Fallback>
          </mc:AlternateContent>
          <p:sp>
            <p:nvSpPr>
              <p:cNvPr id="33" name="Controller plant channel">
                <a:extLst>
                  <a:ext uri="{FF2B5EF4-FFF2-40B4-BE49-F238E27FC236}">
                    <a16:creationId xmlns:a16="http://schemas.microsoft.com/office/drawing/2014/main" id="{0371A7F8-BE08-B763-0EBF-18F2B4A3A5F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5" name="Plant controller channel">
                <a:extLst>
                  <a:ext uri="{FF2B5EF4-FFF2-40B4-BE49-F238E27FC236}">
                    <a16:creationId xmlns:a16="http://schemas.microsoft.com/office/drawing/2014/main" id="{A3B30156-06F2-0962-C50E-5CC4267D36C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6" name="Filter controller channel">
                <a:extLst>
                  <a:ext uri="{FF2B5EF4-FFF2-40B4-BE49-F238E27FC236}">
                    <a16:creationId xmlns:a16="http://schemas.microsoft.com/office/drawing/2014/main" id="{D4241819-D673-6496-FA12-1F4559C2733F}"/>
                  </a:ext>
                </a:extLst>
              </p:cNvPr>
              <p:cNvSpPr/>
              <p:nvPr/>
            </p:nvSpPr>
            <p:spPr>
              <a:xfrm>
                <a:off x="3881628" y="2201164"/>
                <a:ext cx="1472692" cy="1820418"/>
              </a:xfrm>
              <a:custGeom>
                <a:avLst/>
                <a:gdLst/>
                <a:ahLst/>
                <a:cxnLst/>
                <a:rect l="0" t="0" r="r" b="b"/>
                <a:pathLst>
                  <a:path w="1472692" h="1820418" fill="none">
                    <a:moveTo>
                      <a:pt x="1459992" y="12700"/>
                    </a:moveTo>
                    <a:lnTo>
                      <a:pt x="1459992" y="1807718"/>
                    </a:lnTo>
                    <a:lnTo>
                      <a:pt x="12700" y="1807718"/>
                    </a:lnTo>
                  </a:path>
                </a:pathLst>
              </a:custGeom>
              <a:noFill/>
              <a:ln w="12531">
                <a:solidFill>
                  <a:srgbClr val="252529"/>
                </a:solidFill>
                <a:round/>
                <a:tailEnd type="triangle" w="sm" len="sm"/>
              </a:ln>
            </p:spPr>
            <p:txBody>
              <a:bodyPr/>
              <a:lstStyle/>
              <a:p>
                <a:endParaRPr lang="en-NL"/>
              </a:p>
            </p:txBody>
          </p:sp>
          <p:sp>
            <p:nvSpPr>
              <p:cNvPr id="37" name="Controller">
                <a:extLst>
                  <a:ext uri="{FF2B5EF4-FFF2-40B4-BE49-F238E27FC236}">
                    <a16:creationId xmlns:a16="http://schemas.microsoft.com/office/drawing/2014/main" id="{1A709AC1-7280-5EF5-7C06-5BB15728E601}"/>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9" name="Controller label">
                    <a:extLst>
                      <a:ext uri="{FF2B5EF4-FFF2-40B4-BE49-F238E27FC236}">
                        <a16:creationId xmlns:a16="http://schemas.microsoft.com/office/drawing/2014/main" id="{0940FA43-6AF8-5989-7F4F-02DA950E81C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 name="Controller external channel">
                    <a:extLst>
                      <a:ext uri="{FF2B5EF4-FFF2-40B4-BE49-F238E27FC236}">
                        <a16:creationId xmlns:a16="http://schemas.microsoft.com/office/drawing/2014/main" id="{71000EC0-D3C8-883F-7ED6-06E253CC762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Plant measured channel">
                    <a:extLst>
                      <a:ext uri="{FF2B5EF4-FFF2-40B4-BE49-F238E27FC236}">
                        <a16:creationId xmlns:a16="http://schemas.microsoft.com/office/drawing/2014/main" id="{AAB5D9A6-07F8-0C91-3B1C-FC9D46F8586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r>
                                <m:rPr>
                                  <m:sty m:val="p"/>
                                </m:rPr>
                                <a:rPr sz="1998">
                                  <a:solidFill>
                                    <a:srgbClr val="252529"/>
                                  </a:solidFill>
                                  <a:latin typeface="Cambria Math"/>
                                </a:rPr>
                                <m:t>G</m:t>
                              </m:r>
                            </m:sub>
                          </m:sSub>
                        </m:oMath>
                      </m:oMathPara>
                    </a14:m>
                    <a:endParaRPr sz="1998"/>
                  </a:p>
                </p:txBody>
              </p:sp>
            </mc:Choice>
            <mc:Fallback xmlns="">
              <p:sp>
                <p:nvSpPr>
                  <p:cNvPr id="115" name="Plant measured channel"/>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Filter measured channel">
                    <a:extLst>
                      <a:ext uri="{FF2B5EF4-FFF2-40B4-BE49-F238E27FC236}">
                        <a16:creationId xmlns:a16="http://schemas.microsoft.com/office/drawing/2014/main" id="{94E6682C-D297-0AFB-BF49-66D4D9A56385}"/>
                      </a:ext>
                    </a:extLst>
                  </p:cNvPr>
                  <p:cNvSpPr/>
                  <p:nvPr/>
                </p:nvSpPr>
                <p:spPr>
                  <a:xfrm>
                    <a:off x="6005576" y="302857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𝑦</m:t>
                              </m:r>
                            </m:e>
                            <m:sub>
                              <m:r>
                                <a:rPr lang="en-US" sz="1998" i="1" smtClean="0">
                                  <a:solidFill>
                                    <a:srgbClr val="252529"/>
                                  </a:solidFill>
                                  <a:latin typeface="Cambria Math" panose="02040503050406030204" pitchFamily="18" charset="0"/>
                                </a:rPr>
                                <m:t>𝛹</m:t>
                              </m:r>
                            </m:sub>
                          </m:sSub>
                          <m:d>
                            <m:dPr>
                              <m:ctrlPr>
                                <a:rPr lang="en-US" sz="1998" i="1" smtClean="0">
                                  <a:solidFill>
                                    <a:srgbClr val="252529"/>
                                  </a:solidFill>
                                  <a:latin typeface="Cambria Math" panose="02040503050406030204" pitchFamily="18" charset="0"/>
                                </a:rPr>
                              </m:ctrlPr>
                            </m:dPr>
                            <m:e>
                              <m:r>
                                <m:rPr>
                                  <m:sty m:val="p"/>
                                </m:rPr>
                                <a:rPr lang="en-US" sz="1998" i="1" smtClean="0">
                                  <a:solidFill>
                                    <a:srgbClr val="252529"/>
                                  </a:solidFill>
                                  <a:latin typeface="Cambria Math" panose="02040503050406030204" pitchFamily="18" charset="0"/>
                                </a:rPr>
                                <m:t>t</m:t>
                              </m:r>
                            </m:e>
                          </m:d>
                          <m:r>
                            <a:rPr lang="en-US" sz="1998" i="1" smtClean="0">
                              <a:solidFill>
                                <a:srgbClr val="252529"/>
                              </a:solidFill>
                              <a:latin typeface="Cambria Math" panose="02040503050406030204" pitchFamily="18" charset="0"/>
                            </a:rPr>
                            <m:t>=</m:t>
                          </m:r>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𝑥</m:t>
                              </m:r>
                            </m:e>
                            <m:sub>
                              <m:r>
                                <m:rPr>
                                  <m:sty m:val="p"/>
                                </m:rPr>
                                <a:rPr lang="en-US" sz="1998" i="1" smtClean="0">
                                  <a:solidFill>
                                    <a:srgbClr val="252529"/>
                                  </a:solidFill>
                                  <a:latin typeface="Cambria Math" panose="02040503050406030204" pitchFamily="18" charset="0"/>
                                </a:rPr>
                                <m:t>Ψ</m:t>
                              </m:r>
                            </m:sub>
                          </m:sSub>
                          <m:d>
                            <m:dPr>
                              <m:ctrlPr>
                                <a:rPr lang="en-US" sz="1998" i="1" smtClean="0">
                                  <a:solidFill>
                                    <a:srgbClr val="252529"/>
                                  </a:solidFill>
                                  <a:latin typeface="Cambria Math" panose="02040503050406030204" pitchFamily="18" charset="0"/>
                                </a:rPr>
                              </m:ctrlPr>
                            </m:dPr>
                            <m:e>
                              <m:r>
                                <a:rPr lang="en-US" sz="1998" i="1" smtClean="0">
                                  <a:solidFill>
                                    <a:srgbClr val="252529"/>
                                  </a:solidFill>
                                  <a:latin typeface="Cambria Math" panose="02040503050406030204" pitchFamily="18" charset="0"/>
                                </a:rPr>
                                <m:t>𝑡</m:t>
                              </m:r>
                            </m:e>
                          </m:d>
                        </m:oMath>
                      </m:oMathPara>
                    </a14:m>
                    <a:endParaRPr sz="1998" dirty="0"/>
                  </a:p>
                </p:txBody>
              </p:sp>
            </mc:Choice>
            <mc:Fallback xmlns="">
              <p:sp>
                <p:nvSpPr>
                  <p:cNvPr id="42" name="Filter measured channel">
                    <a:extLst>
                      <a:ext uri="{FF2B5EF4-FFF2-40B4-BE49-F238E27FC236}">
                        <a16:creationId xmlns:a16="http://schemas.microsoft.com/office/drawing/2014/main" id="{94E6682C-D297-0AFB-BF49-66D4D9A56385}"/>
                      </a:ext>
                    </a:extLst>
                  </p:cNvPr>
                  <p:cNvSpPr>
                    <a:spLocks noRot="1" noChangeAspect="1" noMove="1" noResize="1" noEditPoints="1" noAdjustHandles="1" noChangeArrowheads="1" noChangeShapeType="1" noTextEdit="1"/>
                  </p:cNvSpPr>
                  <p:nvPr/>
                </p:nvSpPr>
                <p:spPr>
                  <a:xfrm>
                    <a:off x="6005576" y="3028578"/>
                    <a:ext cx="563880" cy="380619"/>
                  </a:xfrm>
                  <a:prstGeom prst="rect">
                    <a:avLst/>
                  </a:prstGeom>
                  <a:blipFill>
                    <a:blip r:embed="rId10"/>
                    <a:stretch>
                      <a:fillRect l="-107527" r="-7957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3" name="Uncertainty output channel">
                    <a:extLst>
                      <a:ext uri="{FF2B5EF4-FFF2-40B4-BE49-F238E27FC236}">
                        <a16:creationId xmlns:a16="http://schemas.microsoft.com/office/drawing/2014/main" id="{4F9CE56C-EF1B-68B7-BC60-58CC8C111C6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4" name="Uncertainty input channel">
                    <a:extLst>
                      <a:ext uri="{FF2B5EF4-FFF2-40B4-BE49-F238E27FC236}">
                        <a16:creationId xmlns:a16="http://schemas.microsoft.com/office/drawing/2014/main" id="{8E6D0592-21CF-212C-18C9-0D0919070D1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45" name="Uncertainty">
                <a:extLst>
                  <a:ext uri="{FF2B5EF4-FFF2-40B4-BE49-F238E27FC236}">
                    <a16:creationId xmlns:a16="http://schemas.microsoft.com/office/drawing/2014/main" id="{384EB0BA-0F81-03ED-96F2-882EEE57F6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46" name="Uncertainty label">
                    <a:extLst>
                      <a:ext uri="{FF2B5EF4-FFF2-40B4-BE49-F238E27FC236}">
                        <a16:creationId xmlns:a16="http://schemas.microsoft.com/office/drawing/2014/main" id="{B879E973-C3DA-89CA-3C87-52C5D0E88F0B}"/>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3"/>
                    <a:stretch>
                      <a:fillRect/>
                    </a:stretch>
                  </a:blipFill>
                  <a:ln>
                    <a:noFill/>
                  </a:ln>
                </p:spPr>
                <p:txBody>
                  <a:bodyPr/>
                  <a:lstStyle/>
                  <a:p>
                    <a:r>
                      <a:rPr lang="en-NL">
                        <a:noFill/>
                      </a:rPr>
                      <a:t> </a:t>
                    </a:r>
                  </a:p>
                </p:txBody>
              </p:sp>
            </mc:Fallback>
          </mc:AlternateContent>
          <p:sp>
            <p:nvSpPr>
              <p:cNvPr id="47" name="Plant">
                <a:extLst>
                  <a:ext uri="{FF2B5EF4-FFF2-40B4-BE49-F238E27FC236}">
                    <a16:creationId xmlns:a16="http://schemas.microsoft.com/office/drawing/2014/main" id="{244987C8-7DC7-1A26-D97F-10721AFF46E9}"/>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48" name="Plant label">
                    <a:extLst>
                      <a:ext uri="{FF2B5EF4-FFF2-40B4-BE49-F238E27FC236}">
                        <a16:creationId xmlns:a16="http://schemas.microsoft.com/office/drawing/2014/main" id="{E002ADCE-6C1C-CA2E-87B5-0AB79AE54D5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PIE</m:t>
                          </m:r>
                        </m:oMath>
                      </m:oMathPara>
                    </a14:m>
                    <a:endParaRPr sz="2590" dirty="0"/>
                  </a:p>
                </p:txBody>
              </p:sp>
            </mc:Choice>
            <mc:Fallback xmlns="">
              <p:sp>
                <p:nvSpPr>
                  <p:cNvPr id="48" name="Plant label">
                    <a:extLst>
                      <a:ext uri="{FF2B5EF4-FFF2-40B4-BE49-F238E27FC236}">
                        <a16:creationId xmlns:a16="http://schemas.microsoft.com/office/drawing/2014/main" id="{E002ADCE-6C1C-CA2E-87B5-0AB79AE54D5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sp>
            <p:nvSpPr>
              <p:cNvPr id="49" name="Dynamic filter">
                <a:extLst>
                  <a:ext uri="{FF2B5EF4-FFF2-40B4-BE49-F238E27FC236}">
                    <a16:creationId xmlns:a16="http://schemas.microsoft.com/office/drawing/2014/main" id="{C596A1DE-86A7-96F1-040F-E650DE0661D3}"/>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D853334-71C6-A9E5-CE78-8161005827D2}"/>
                    </a:ext>
                  </a:extLst>
                </p:cNvPr>
                <p:cNvSpPr txBox="1"/>
                <p:nvPr/>
              </p:nvSpPr>
              <p:spPr>
                <a:xfrm>
                  <a:off x="5206104" y="152826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0" name="TextBox 49">
                  <a:extLst>
                    <a:ext uri="{FF2B5EF4-FFF2-40B4-BE49-F238E27FC236}">
                      <a16:creationId xmlns:a16="http://schemas.microsoft.com/office/drawing/2014/main" id="{ED853334-71C6-A9E5-CE78-8161005827D2}"/>
                    </a:ext>
                  </a:extLst>
                </p:cNvPr>
                <p:cNvSpPr txBox="1">
                  <a:spLocks noRot="1" noChangeAspect="1" noMove="1" noResize="1" noEditPoints="1" noAdjustHandles="1" noChangeArrowheads="1" noChangeShapeType="1" noTextEdit="1"/>
                </p:cNvSpPr>
                <p:nvPr/>
              </p:nvSpPr>
              <p:spPr>
                <a:xfrm>
                  <a:off x="5206104" y="1528260"/>
                  <a:ext cx="283732" cy="398571"/>
                </a:xfrm>
                <a:prstGeom prst="rect">
                  <a:avLst/>
                </a:prstGeom>
                <a:blipFill>
                  <a:blip r:embed="rId15"/>
                  <a:stretch>
                    <a:fillRect l="-25532" r="-27660" b="-4545"/>
                  </a:stretch>
                </a:blipFill>
              </p:spPr>
              <p:txBody>
                <a:bodyPr/>
                <a:lstStyle/>
                <a:p>
                  <a:r>
                    <a:rPr lang="en-NL">
                      <a:noFill/>
                    </a:rPr>
                    <a:t> </a:t>
                  </a:r>
                </a:p>
              </p:txBody>
            </p:sp>
          </mc:Fallback>
        </mc:AlternateContent>
      </p:grpSp>
      <p:sp>
        <p:nvSpPr>
          <p:cNvPr id="52" name="Rectangle 51">
            <a:extLst>
              <a:ext uri="{FF2B5EF4-FFF2-40B4-BE49-F238E27FC236}">
                <a16:creationId xmlns:a16="http://schemas.microsoft.com/office/drawing/2014/main" id="{B25B199D-AB38-D132-01FF-EAE6C3401CE4}"/>
              </a:ext>
            </a:extLst>
          </p:cNvPr>
          <p:cNvSpPr/>
          <p:nvPr/>
        </p:nvSpPr>
        <p:spPr>
          <a:xfrm>
            <a:off x="5037542" y="2369497"/>
            <a:ext cx="1050696" cy="1035821"/>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Rectangle 52">
            <a:extLst>
              <a:ext uri="{FF2B5EF4-FFF2-40B4-BE49-F238E27FC236}">
                <a16:creationId xmlns:a16="http://schemas.microsoft.com/office/drawing/2014/main" id="{E01F2840-62A1-B237-6EBA-DEAAC011B8BA}"/>
              </a:ext>
            </a:extLst>
          </p:cNvPr>
          <p:cNvSpPr/>
          <p:nvPr/>
        </p:nvSpPr>
        <p:spPr>
          <a:xfrm>
            <a:off x="5154534" y="3405317"/>
            <a:ext cx="800592" cy="784597"/>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55" name="Straight Connector 54">
            <a:extLst>
              <a:ext uri="{FF2B5EF4-FFF2-40B4-BE49-F238E27FC236}">
                <a16:creationId xmlns:a16="http://schemas.microsoft.com/office/drawing/2014/main" id="{5C94046B-3E23-7BC3-6483-4B9CB43110BC}"/>
              </a:ext>
            </a:extLst>
          </p:cNvPr>
          <p:cNvCxnSpPr>
            <a:stCxn id="52" idx="1"/>
            <a:endCxn id="38" idx="3"/>
          </p:cNvCxnSpPr>
          <p:nvPr/>
        </p:nvCxnSpPr>
        <p:spPr>
          <a:xfrm flipH="1">
            <a:off x="3548898" y="2887408"/>
            <a:ext cx="1488644" cy="981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5C5FF9-6836-6AB7-DC15-450886E834E4}"/>
              </a:ext>
            </a:extLst>
          </p:cNvPr>
          <p:cNvCxnSpPr>
            <a:stCxn id="53" idx="1"/>
            <a:endCxn id="38" idx="3"/>
          </p:cNvCxnSpPr>
          <p:nvPr/>
        </p:nvCxnSpPr>
        <p:spPr>
          <a:xfrm flipH="1">
            <a:off x="3548898" y="3797616"/>
            <a:ext cx="1605636" cy="71433"/>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7D8784B-F491-619E-C482-825E36DA0D3A}"/>
                  </a:ext>
                </a:extLst>
              </p:cNvPr>
              <p:cNvSpPr txBox="1"/>
              <p:nvPr/>
            </p:nvSpPr>
            <p:spPr>
              <a:xfrm>
                <a:off x="4424074" y="4404374"/>
                <a:ext cx="2275751" cy="300082"/>
              </a:xfrm>
              <a:prstGeom prst="rect">
                <a:avLst/>
              </a:prstGeom>
              <a:noFill/>
            </p:spPr>
            <p:txBody>
              <a:bodyPr wrap="none" rtlCol="0">
                <a:spAutoFit/>
              </a:bodyPr>
              <a:lstStyle/>
              <a:p>
                <a:r>
                  <a:rPr lang="en-US" dirty="0">
                    <a:solidFill>
                      <a:srgbClr val="C81919"/>
                    </a:solidFill>
                  </a:rPr>
                  <a:t>We can transpose </a:t>
                </a:r>
                <a14:m>
                  <m:oMath xmlns:m="http://schemas.openxmlformats.org/officeDocument/2006/math">
                    <m:r>
                      <m:rPr>
                        <m:sty m:val="p"/>
                      </m:rPr>
                      <a:rPr lang="en-US" b="0" i="1" smtClean="0">
                        <a:solidFill>
                          <a:srgbClr val="C81919"/>
                        </a:solidFill>
                        <a:latin typeface="Cambria Math" panose="02040503050406030204" pitchFamily="18" charset="0"/>
                      </a:rPr>
                      <m:t>PIE</m:t>
                    </m:r>
                  </m:oMath>
                </a14:m>
                <a:r>
                  <a:rPr lang="en-US" dirty="0">
                    <a:solidFill>
                      <a:srgbClr val="C81919"/>
                    </a:solidFill>
                  </a:rPr>
                  <a:t> and </a:t>
                </a:r>
                <a14:m>
                  <m:oMath xmlns:m="http://schemas.openxmlformats.org/officeDocument/2006/math">
                    <m:r>
                      <m:rPr>
                        <m:sty m:val="p"/>
                      </m:rPr>
                      <a:rPr lang="en-US" b="0" i="1" smtClean="0">
                        <a:solidFill>
                          <a:srgbClr val="C81919"/>
                        </a:solidFill>
                        <a:latin typeface="Cambria Math" panose="02040503050406030204" pitchFamily="18" charset="0"/>
                      </a:rPr>
                      <m:t>K</m:t>
                    </m:r>
                  </m:oMath>
                </a14:m>
                <a:endParaRPr lang="en-NL" dirty="0">
                  <a:solidFill>
                    <a:srgbClr val="C81919"/>
                  </a:solidFill>
                </a:endParaRPr>
              </a:p>
            </p:txBody>
          </p:sp>
        </mc:Choice>
        <mc:Fallback xmlns="">
          <p:sp>
            <p:nvSpPr>
              <p:cNvPr id="58" name="TextBox 57">
                <a:extLst>
                  <a:ext uri="{FF2B5EF4-FFF2-40B4-BE49-F238E27FC236}">
                    <a16:creationId xmlns:a16="http://schemas.microsoft.com/office/drawing/2014/main" id="{37D8784B-F491-619E-C482-825E36DA0D3A}"/>
                  </a:ext>
                </a:extLst>
              </p:cNvPr>
              <p:cNvSpPr txBox="1">
                <a:spLocks noRot="1" noChangeAspect="1" noMove="1" noResize="1" noEditPoints="1" noAdjustHandles="1" noChangeArrowheads="1" noChangeShapeType="1" noTextEdit="1"/>
              </p:cNvSpPr>
              <p:nvPr/>
            </p:nvSpPr>
            <p:spPr>
              <a:xfrm>
                <a:off x="4424074" y="4404374"/>
                <a:ext cx="2275751" cy="300082"/>
              </a:xfrm>
              <a:prstGeom prst="rect">
                <a:avLst/>
              </a:prstGeom>
              <a:blipFill>
                <a:blip r:embed="rId16"/>
                <a:stretch>
                  <a:fillRect l="-804" t="-4082" b="-20408"/>
                </a:stretch>
              </a:blipFill>
            </p:spPr>
            <p:txBody>
              <a:bodyPr/>
              <a:lstStyle/>
              <a:p>
                <a:r>
                  <a:rPr lang="en-NL">
                    <a:noFill/>
                  </a:rPr>
                  <a:t> </a:t>
                </a:r>
              </a:p>
            </p:txBody>
          </p:sp>
        </mc:Fallback>
      </mc:AlternateContent>
      <p:sp>
        <p:nvSpPr>
          <p:cNvPr id="59" name="Rectangle 58">
            <a:extLst>
              <a:ext uri="{FF2B5EF4-FFF2-40B4-BE49-F238E27FC236}">
                <a16:creationId xmlns:a16="http://schemas.microsoft.com/office/drawing/2014/main" id="{65D5C11C-74EB-1DF2-28D9-2AC12041BA92}"/>
              </a:ext>
            </a:extLst>
          </p:cNvPr>
          <p:cNvSpPr/>
          <p:nvPr/>
        </p:nvSpPr>
        <p:spPr>
          <a:xfrm>
            <a:off x="6831106" y="1121869"/>
            <a:ext cx="1012844" cy="1030715"/>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50A038AA-40EE-3354-D570-D2C573A99F19}"/>
                  </a:ext>
                </a:extLst>
              </p:cNvPr>
              <p:cNvSpPr txBox="1"/>
              <p:nvPr/>
            </p:nvSpPr>
            <p:spPr>
              <a:xfrm>
                <a:off x="6494946" y="745371"/>
                <a:ext cx="1761636" cy="300082"/>
              </a:xfrm>
              <a:prstGeom prst="rect">
                <a:avLst/>
              </a:prstGeom>
              <a:noFill/>
            </p:spPr>
            <p:txBody>
              <a:bodyPr wrap="none" rtlCol="0">
                <a:spAutoFit/>
              </a:bodyPr>
              <a:lstStyle/>
              <a:p>
                <a:r>
                  <a:rPr lang="en-US" dirty="0">
                    <a:solidFill>
                      <a:srgbClr val="C81919"/>
                    </a:solidFill>
                  </a:rPr>
                  <a:t>Can we transpose </a:t>
                </a:r>
                <a14:m>
                  <m:oMath xmlns:m="http://schemas.openxmlformats.org/officeDocument/2006/math">
                    <m:r>
                      <m:rPr>
                        <m:sty m:val="p"/>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a:t>
                </a:r>
                <a:endParaRPr lang="en-NL" dirty="0">
                  <a:solidFill>
                    <a:srgbClr val="C81919"/>
                  </a:solidFill>
                </a:endParaRPr>
              </a:p>
            </p:txBody>
          </p:sp>
        </mc:Choice>
        <mc:Fallback xmlns="">
          <p:sp>
            <p:nvSpPr>
              <p:cNvPr id="60" name="TextBox 59">
                <a:extLst>
                  <a:ext uri="{FF2B5EF4-FFF2-40B4-BE49-F238E27FC236}">
                    <a16:creationId xmlns:a16="http://schemas.microsoft.com/office/drawing/2014/main" id="{50A038AA-40EE-3354-D570-D2C573A99F19}"/>
                  </a:ext>
                </a:extLst>
              </p:cNvPr>
              <p:cNvSpPr txBox="1">
                <a:spLocks noRot="1" noChangeAspect="1" noMove="1" noResize="1" noEditPoints="1" noAdjustHandles="1" noChangeArrowheads="1" noChangeShapeType="1" noTextEdit="1"/>
              </p:cNvSpPr>
              <p:nvPr/>
            </p:nvSpPr>
            <p:spPr>
              <a:xfrm>
                <a:off x="6494946" y="745371"/>
                <a:ext cx="1761636" cy="300082"/>
              </a:xfrm>
              <a:prstGeom prst="rect">
                <a:avLst/>
              </a:prstGeom>
              <a:blipFill>
                <a:blip r:embed="rId17"/>
                <a:stretch>
                  <a:fillRect l="-692" t="-2041" b="-20408"/>
                </a:stretch>
              </a:blipFill>
            </p:spPr>
            <p:txBody>
              <a:bodyPr/>
              <a:lstStyle/>
              <a:p>
                <a:r>
                  <a:rPr lang="en-NL">
                    <a:noFill/>
                  </a:rPr>
                  <a:t> </a:t>
                </a:r>
              </a:p>
            </p:txBody>
          </p:sp>
        </mc:Fallback>
      </mc:AlternateContent>
      <p:sp>
        <p:nvSpPr>
          <p:cNvPr id="61" name="Rectangle 60">
            <a:extLst>
              <a:ext uri="{FF2B5EF4-FFF2-40B4-BE49-F238E27FC236}">
                <a16:creationId xmlns:a16="http://schemas.microsoft.com/office/drawing/2014/main" id="{60E2E4C1-3F6A-AE62-792C-1D3F71B05A4B}"/>
              </a:ext>
            </a:extLst>
          </p:cNvPr>
          <p:cNvSpPr/>
          <p:nvPr/>
        </p:nvSpPr>
        <p:spPr>
          <a:xfrm>
            <a:off x="7416658" y="2856961"/>
            <a:ext cx="1665870" cy="555812"/>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26AFA70-FA89-061B-694B-D6C86610FC59}"/>
                  </a:ext>
                </a:extLst>
              </p:cNvPr>
              <p:cNvSpPr txBox="1"/>
              <p:nvPr/>
            </p:nvSpPr>
            <p:spPr>
              <a:xfrm>
                <a:off x="7416658" y="3460323"/>
                <a:ext cx="1545680" cy="715581"/>
              </a:xfrm>
              <a:prstGeom prst="rect">
                <a:avLst/>
              </a:prstGeom>
              <a:noFill/>
            </p:spPr>
            <p:txBody>
              <a:bodyPr wrap="none" rtlCol="0">
                <a:spAutoFit/>
              </a:bodyPr>
              <a:lstStyle/>
              <a:p>
                <a:r>
                  <a:rPr lang="en-US" dirty="0">
                    <a:solidFill>
                      <a:srgbClr val="C81919"/>
                    </a:solidFill>
                  </a:rPr>
                  <a:t>If </a:t>
                </a:r>
                <a14:m>
                  <m:oMath xmlns:m="http://schemas.openxmlformats.org/officeDocument/2006/math">
                    <m:r>
                      <m:rPr>
                        <m:lit/>
                      </m:rPr>
                      <a:rPr lang="el-GR" i="1" smtClean="0">
                        <a:solidFill>
                          <a:srgbClr val="C81919"/>
                        </a:solidFill>
                        <a:latin typeface="Cambria Math" panose="02040503050406030204" pitchFamily="18" charset="0"/>
                        <a:ea typeface="Cambria Math" panose="02040503050406030204" pitchFamily="18" charset="0"/>
                      </a:rPr>
                      <m:t>𝛩</m:t>
                    </m:r>
                  </m:oMath>
                </a14:m>
                <a:r>
                  <a:rPr lang="en-US" dirty="0">
                    <a:solidFill>
                      <a:srgbClr val="C81919"/>
                    </a:solidFill>
                  </a:rPr>
                  <a:t> is dynamic,</a:t>
                </a:r>
              </a:p>
              <a:p>
                <a:r>
                  <a:rPr lang="en-US" dirty="0">
                    <a:solidFill>
                      <a:srgbClr val="C81919"/>
                    </a:solidFill>
                  </a:rPr>
                  <a:t>assume that </a:t>
                </a:r>
                <a14:m>
                  <m:oMath xmlns:m="http://schemas.openxmlformats.org/officeDocument/2006/math">
                    <m:r>
                      <m:rPr>
                        <m:sty m:val="p"/>
                      </m:rPr>
                      <a:rPr lang="en-US" b="0" i="1" smtClean="0">
                        <a:solidFill>
                          <a:srgbClr val="C81919"/>
                        </a:solidFill>
                        <a:latin typeface="Cambria Math" panose="02040503050406030204" pitchFamily="18" charset="0"/>
                      </a:rPr>
                      <m:t>z</m:t>
                    </m:r>
                  </m:oMath>
                </a14:m>
                <a:r>
                  <a:rPr lang="en-US" dirty="0">
                    <a:solidFill>
                      <a:srgbClr val="C81919"/>
                    </a:solidFill>
                  </a:rPr>
                  <a:t> and</a:t>
                </a:r>
              </a:p>
              <a:p>
                <a14:m>
                  <m:oMath xmlns:m="http://schemas.openxmlformats.org/officeDocument/2006/math">
                    <m:r>
                      <m:rPr>
                        <m:sty m:val="p"/>
                      </m:rPr>
                      <a:rPr lang="en-US" b="0" i="1" smtClean="0">
                        <a:solidFill>
                          <a:srgbClr val="C81919"/>
                        </a:solidFill>
                        <a:latin typeface="Cambria Math" panose="02040503050406030204" pitchFamily="18" charset="0"/>
                      </a:rPr>
                      <m:t>w</m:t>
                    </m:r>
                  </m:oMath>
                </a14:m>
                <a:r>
                  <a:rPr lang="en-US" dirty="0">
                    <a:solidFill>
                      <a:srgbClr val="C81919"/>
                    </a:solidFill>
                  </a:rPr>
                  <a:t> are known.</a:t>
                </a:r>
                <a:endParaRPr lang="en-NL" dirty="0">
                  <a:solidFill>
                    <a:srgbClr val="C81919"/>
                  </a:solidFill>
                </a:endParaRPr>
              </a:p>
            </p:txBody>
          </p:sp>
        </mc:Choice>
        <mc:Fallback xmlns="">
          <p:sp>
            <p:nvSpPr>
              <p:cNvPr id="62" name="TextBox 61">
                <a:extLst>
                  <a:ext uri="{FF2B5EF4-FFF2-40B4-BE49-F238E27FC236}">
                    <a16:creationId xmlns:a16="http://schemas.microsoft.com/office/drawing/2014/main" id="{626AFA70-FA89-061B-694B-D6C86610FC59}"/>
                  </a:ext>
                </a:extLst>
              </p:cNvPr>
              <p:cNvSpPr txBox="1">
                <a:spLocks noRot="1" noChangeAspect="1" noMove="1" noResize="1" noEditPoints="1" noAdjustHandles="1" noChangeArrowheads="1" noChangeShapeType="1" noTextEdit="1"/>
              </p:cNvSpPr>
              <p:nvPr/>
            </p:nvSpPr>
            <p:spPr>
              <a:xfrm>
                <a:off x="7416658" y="3460323"/>
                <a:ext cx="1545680" cy="715581"/>
              </a:xfrm>
              <a:prstGeom prst="rect">
                <a:avLst/>
              </a:prstGeom>
              <a:blipFill>
                <a:blip r:embed="rId18"/>
                <a:stretch>
                  <a:fillRect l="-1186" t="-1709" b="-8547"/>
                </a:stretch>
              </a:blipFill>
            </p:spPr>
            <p:txBody>
              <a:bodyPr/>
              <a:lstStyle/>
              <a:p>
                <a:r>
                  <a:rPr lang="en-NL">
                    <a:noFill/>
                  </a:rPr>
                  <a:t> </a:t>
                </a:r>
              </a:p>
            </p:txBody>
          </p:sp>
        </mc:Fallback>
      </mc:AlternateContent>
    </p:spTree>
    <p:extLst>
      <p:ext uri="{BB962C8B-B14F-4D97-AF65-F5344CB8AC3E}">
        <p14:creationId xmlns:p14="http://schemas.microsoft.com/office/powerpoint/2010/main" val="2896731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100" fill="hold"/>
                                        <p:tgtEl>
                                          <p:spTgt spid="61"/>
                                        </p:tgtEl>
                                        <p:attrNameLst>
                                          <p:attrName>stroke.color</p:attrName>
                                        </p:attrNameLst>
                                      </p:cBhvr>
                                      <p:to>
                                        <a:schemeClr val="tx1"/>
                                      </p:to>
                                    </p:animClr>
                                    <p:set>
                                      <p:cBhvr>
                                        <p:cTn id="15" dur="100" fill="hold"/>
                                        <p:tgtEl>
                                          <p:spTgt spid="61"/>
                                        </p:tgtEl>
                                        <p:attrNameLst>
                                          <p:attrName>stroke.on</p:attrName>
                                        </p:attrNameLst>
                                      </p:cBhvr>
                                      <p:to>
                                        <p:strVal val="true"/>
                                      </p:to>
                                    </p:set>
                                  </p:childTnLst>
                                </p:cTn>
                              </p:par>
                              <p:par>
                                <p:cTn id="16" presetID="3" presetClass="emph" presetSubtype="2" fill="hold" grpId="2" nodeType="withEffect">
                                  <p:stCondLst>
                                    <p:cond delay="0"/>
                                  </p:stCondLst>
                                  <p:childTnLst>
                                    <p:animClr clrSpc="rgb" dir="cw">
                                      <p:cBhvr override="childStyle">
                                        <p:cTn id="17" dur="100" fill="hold"/>
                                        <p:tgtEl>
                                          <p:spTgt spid="62"/>
                                        </p:tgtEl>
                                        <p:attrNameLst>
                                          <p:attrName>style.color</p:attrName>
                                        </p:attrNameLst>
                                      </p:cBhvr>
                                      <p:to>
                                        <a:schemeClr val="tx1"/>
                                      </p:to>
                                    </p:animClr>
                                  </p:childTnLst>
                                </p:cTn>
                              </p:par>
                              <p:par>
                                <p:cTn id="18" presetID="1" presetClass="entr" presetSubtype="0" fill="hold" grpId="0" nodeType="withEffect">
                                  <p:stCondLst>
                                    <p:cond delay="0"/>
                                  </p:stCondLst>
                                  <p:childTnLst>
                                    <p:set>
                                      <p:cBhvr>
                                        <p:cTn id="19" dur="1" fill="hold">
                                          <p:stCondLst>
                                            <p:cond delay="0"/>
                                          </p:stCondLst>
                                        </p:cTn>
                                        <p:tgtEl>
                                          <p:spTgt spid="52"/>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childTnLst>
                                </p:cTn>
                              </p:par>
                              <p:par>
                                <p:cTn id="34" presetID="7" presetClass="emph" presetSubtype="2" fill="hold" nodeType="withEffect">
                                  <p:stCondLst>
                                    <p:cond delay="0"/>
                                  </p:stCondLst>
                                  <p:childTnLst>
                                    <p:animClr clrSpc="rgb" dir="cw">
                                      <p:cBhvr>
                                        <p:cTn id="35" dur="100" fill="hold"/>
                                        <p:tgtEl>
                                          <p:spTgt spid="52"/>
                                        </p:tgtEl>
                                        <p:attrNameLst>
                                          <p:attrName>stroke.color</p:attrName>
                                        </p:attrNameLst>
                                      </p:cBhvr>
                                      <p:to>
                                        <a:schemeClr val="tx1"/>
                                      </p:to>
                                    </p:animClr>
                                    <p:set>
                                      <p:cBhvr>
                                        <p:cTn id="36" dur="100" fill="hold"/>
                                        <p:tgtEl>
                                          <p:spTgt spid="52"/>
                                        </p:tgtEl>
                                        <p:attrNameLst>
                                          <p:attrName>stroke.on</p:attrName>
                                        </p:attrNameLst>
                                      </p:cBhvr>
                                      <p:to>
                                        <p:strVal val="true"/>
                                      </p:to>
                                    </p:set>
                                  </p:childTnLst>
                                </p:cTn>
                              </p:par>
                              <p:par>
                                <p:cTn id="37" presetID="7" presetClass="emph" presetSubtype="2" fill="hold" nodeType="withEffect">
                                  <p:stCondLst>
                                    <p:cond delay="0"/>
                                  </p:stCondLst>
                                  <p:childTnLst>
                                    <p:animClr clrSpc="rgb" dir="cw">
                                      <p:cBhvr>
                                        <p:cTn id="38" dur="100" fill="hold"/>
                                        <p:tgtEl>
                                          <p:spTgt spid="55"/>
                                        </p:tgtEl>
                                        <p:attrNameLst>
                                          <p:attrName>stroke.color</p:attrName>
                                        </p:attrNameLst>
                                      </p:cBhvr>
                                      <p:to>
                                        <a:schemeClr val="tx1"/>
                                      </p:to>
                                    </p:animClr>
                                    <p:set>
                                      <p:cBhvr>
                                        <p:cTn id="39" dur="100" fill="hold"/>
                                        <p:tgtEl>
                                          <p:spTgt spid="55"/>
                                        </p:tgtEl>
                                        <p:attrNameLst>
                                          <p:attrName>stroke.on</p:attrName>
                                        </p:attrNameLst>
                                      </p:cBhvr>
                                      <p:to>
                                        <p:strVal val="true"/>
                                      </p:to>
                                    </p:set>
                                  </p:childTnLst>
                                </p:cTn>
                              </p:par>
                              <p:par>
                                <p:cTn id="40" presetID="7" presetClass="emph" presetSubtype="2" fill="hold" nodeType="withEffect">
                                  <p:stCondLst>
                                    <p:cond delay="0"/>
                                  </p:stCondLst>
                                  <p:childTnLst>
                                    <p:animClr clrSpc="rgb" dir="cw">
                                      <p:cBhvr>
                                        <p:cTn id="41" dur="100" fill="hold"/>
                                        <p:tgtEl>
                                          <p:spTgt spid="57"/>
                                        </p:tgtEl>
                                        <p:attrNameLst>
                                          <p:attrName>stroke.color</p:attrName>
                                        </p:attrNameLst>
                                      </p:cBhvr>
                                      <p:to>
                                        <a:schemeClr val="tx1"/>
                                      </p:to>
                                    </p:animClr>
                                    <p:set>
                                      <p:cBhvr>
                                        <p:cTn id="42" dur="100" fill="hold"/>
                                        <p:tgtEl>
                                          <p:spTgt spid="57"/>
                                        </p:tgtEl>
                                        <p:attrNameLst>
                                          <p:attrName>stroke.on</p:attrName>
                                        </p:attrNameLst>
                                      </p:cBhvr>
                                      <p:to>
                                        <p:strVal val="true"/>
                                      </p:to>
                                    </p:set>
                                  </p:childTnLst>
                                </p:cTn>
                              </p:par>
                              <p:par>
                                <p:cTn id="43" presetID="7" presetClass="emph" presetSubtype="2" fill="hold" nodeType="withEffect">
                                  <p:stCondLst>
                                    <p:cond delay="0"/>
                                  </p:stCondLst>
                                  <p:childTnLst>
                                    <p:animClr clrSpc="rgb" dir="cw">
                                      <p:cBhvr>
                                        <p:cTn id="44" dur="100" fill="hold"/>
                                        <p:tgtEl>
                                          <p:spTgt spid="53"/>
                                        </p:tgtEl>
                                        <p:attrNameLst>
                                          <p:attrName>stroke.color</p:attrName>
                                        </p:attrNameLst>
                                      </p:cBhvr>
                                      <p:to>
                                        <a:schemeClr val="tx1"/>
                                      </p:to>
                                    </p:animClr>
                                    <p:set>
                                      <p:cBhvr>
                                        <p:cTn id="45" dur="100" fill="hold"/>
                                        <p:tgtEl>
                                          <p:spTgt spid="53"/>
                                        </p:tgtEl>
                                        <p:attrNameLst>
                                          <p:attrName>stroke.on</p:attrName>
                                        </p:attrNameLst>
                                      </p:cBhvr>
                                      <p:to>
                                        <p:strVal val="true"/>
                                      </p:to>
                                    </p:set>
                                  </p:childTnLst>
                                </p:cTn>
                              </p:par>
                              <p:par>
                                <p:cTn id="46" presetID="3" presetClass="emph" presetSubtype="2" fill="hold" grpId="1" nodeType="withEffect">
                                  <p:stCondLst>
                                    <p:cond delay="0"/>
                                  </p:stCondLst>
                                  <p:childTnLst>
                                    <p:animClr clrSpc="rgb" dir="cw">
                                      <p:cBhvr override="childStyle">
                                        <p:cTn id="47" dur="100" fill="hold"/>
                                        <p:tgtEl>
                                          <p:spTgt spid="58"/>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8" grpId="0"/>
      <p:bldP spid="58" grpId="1"/>
      <p:bldP spid="59" grpId="0" animBg="1"/>
      <p:bldP spid="60" grpId="0"/>
      <p:bldP spid="61" grpId="0" animBg="1"/>
      <p:bldP spid="62" grpId="0"/>
      <p:bldP spid="62" grpId="2"/>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p:sp>
        <p:nvSpPr>
          <p:cNvPr id="20" name="Controller">
            <a:extLst>
              <a:ext uri="{FF2B5EF4-FFF2-40B4-BE49-F238E27FC236}">
                <a16:creationId xmlns:a16="http://schemas.microsoft.com/office/drawing/2014/main" id="{78DBC8F3-D54E-F2A5-F4D4-7C717C039440}"/>
              </a:ext>
            </a:extLst>
          </p:cNvPr>
          <p:cNvSpPr/>
          <p:nvPr/>
        </p:nvSpPr>
        <p:spPr>
          <a:xfrm>
            <a:off x="5889282" y="891858"/>
            <a:ext cx="676656" cy="676656"/>
          </a:xfrm>
          <a:prstGeom prst="roundRect">
            <a:avLst>
              <a:gd name="adj" fmla="val 5000"/>
            </a:avLst>
          </a:prstGeom>
          <a:solidFill>
            <a:srgbClr val="FFFFFF"/>
          </a:solidFill>
          <a:ln w="10795">
            <a:solidFill>
              <a:schemeClr val="tx1"/>
            </a:solidFill>
            <a:prstDash val="solid"/>
          </a:ln>
        </p:spPr>
        <p:txBody>
          <a:bodyPr/>
          <a:lstStyle/>
          <a:p>
            <a:endParaRPr lang="en-NL"/>
          </a:p>
        </p:txBody>
      </p:sp>
      <p:sp>
        <p:nvSpPr>
          <p:cNvPr id="17" name="Controller">
            <a:extLst>
              <a:ext uri="{FF2B5EF4-FFF2-40B4-BE49-F238E27FC236}">
                <a16:creationId xmlns:a16="http://schemas.microsoft.com/office/drawing/2014/main" id="{554F8653-08F0-5301-C1AC-BC92E886C4A6}"/>
              </a:ext>
            </a:extLst>
          </p:cNvPr>
          <p:cNvSpPr/>
          <p:nvPr/>
        </p:nvSpPr>
        <p:spPr>
          <a:xfrm>
            <a:off x="1766233" y="888492"/>
            <a:ext cx="676656" cy="676656"/>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constrain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m="http://schemas.openxmlformats.org/officeDocument/2006/math"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sp>
        <p:nvSpPr>
          <p:cNvPr id="56" name="Controller">
            <a:extLst>
              <a:ext uri="{FF2B5EF4-FFF2-40B4-BE49-F238E27FC236}">
                <a16:creationId xmlns:a16="http://schemas.microsoft.com/office/drawing/2014/main" id="{99686D86-246C-0882-FD3F-B24207115938}"/>
              </a:ext>
            </a:extLst>
          </p:cNvPr>
          <p:cNvSpPr/>
          <p:nvPr/>
        </p:nvSpPr>
        <p:spPr>
          <a:xfrm>
            <a:off x="17705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17705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57" name="Controller label">
                <a:extLst>
                  <a:ext uri="{FF2B5EF4-FFF2-40B4-BE49-F238E27FC236}">
                    <a16:creationId xmlns:a16="http://schemas.microsoft.com/office/drawing/2014/main" id="{3C181149-C897-40DA-8B8D-E085C428D3BF}"/>
                  </a:ext>
                </a:extLst>
              </p:cNvPr>
              <p:cNvSpPr>
                <a:spLocks noRot="1" noChangeAspect="1" noMove="1" noResize="1" noEditPoints="1" noAdjustHandles="1" noChangeArrowheads="1" noChangeShapeType="1" noTextEdit="1"/>
              </p:cNvSpPr>
              <p:nvPr/>
            </p:nvSpPr>
            <p:spPr>
              <a:xfrm>
                <a:off x="1770552" y="980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4572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dirty="0"/>
              </a:p>
            </p:txBody>
          </p:sp>
        </mc:Choice>
        <mc:Fallback xmlns:m="http://schemas.openxmlformats.org/officeDocument/2006/math" xmlns="">
          <p:sp>
            <p:nvSpPr>
              <p:cNvPr id="58" name="Controller external channel">
                <a:extLst>
                  <a:ext uri="{FF2B5EF4-FFF2-40B4-BE49-F238E27FC236}">
                    <a16:creationId xmlns:a16="http://schemas.microsoft.com/office/drawing/2014/main" id="{231A8B5C-B8B8-35BC-C458-9D3D60CC2DB3}"/>
                  </a:ext>
                </a:extLst>
              </p:cNvPr>
              <p:cNvSpPr>
                <a:spLocks noRot="1" noChangeAspect="1" noMove="1" noResize="1" noEditPoints="1" noAdjustHandles="1" noChangeArrowheads="1" noChangeShapeType="1" noTextEdit="1"/>
              </p:cNvSpPr>
              <p:nvPr/>
            </p:nvSpPr>
            <p:spPr>
              <a:xfrm>
                <a:off x="457200" y="1037017"/>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33463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998" b="0" i="1" smtClean="0">
                          <a:latin typeface="Cambria Math" panose="02040503050406030204" pitchFamily="18" charset="0"/>
                        </a:rPr>
                        <m:t>𝑦</m:t>
                      </m:r>
                    </m:oMath>
                  </m:oMathPara>
                </a14:m>
                <a:endParaRPr sz="1998" dirty="0"/>
              </a:p>
            </p:txBody>
          </p:sp>
        </mc:Choice>
        <mc:Fallback xmlns:m="http://schemas.openxmlformats.org/officeDocument/2006/math" xmlns="">
          <p:sp>
            <p:nvSpPr>
              <p:cNvPr id="59" name="Plant measured channel">
                <a:extLst>
                  <a:ext uri="{FF2B5EF4-FFF2-40B4-BE49-F238E27FC236}">
                    <a16:creationId xmlns:a16="http://schemas.microsoft.com/office/drawing/2014/main" id="{CBA17F91-32C2-778C-AEA3-B7706867AA79}"/>
                  </a:ext>
                </a:extLst>
              </p:cNvPr>
              <p:cNvSpPr>
                <a:spLocks noRot="1" noChangeAspect="1" noMove="1" noResize="1" noEditPoints="1" noAdjustHandles="1" noChangeArrowheads="1" noChangeShapeType="1" noTextEdit="1"/>
              </p:cNvSpPr>
              <p:nvPr/>
            </p:nvSpPr>
            <p:spPr>
              <a:xfrm>
                <a:off x="3346308" y="1019238"/>
                <a:ext cx="563880" cy="380619"/>
              </a:xfrm>
              <a:prstGeom prst="rect">
                <a:avLst/>
              </a:prstGeom>
              <a:blipFill>
                <a:blip r:embed="rId6"/>
                <a:stretch>
                  <a:fillRect b="-9524"/>
                </a:stretch>
              </a:blipFill>
              <a:ln>
                <a:noFill/>
              </a:ln>
            </p:spPr>
            <p:txBody>
              <a:bodyPr/>
              <a:lstStyle/>
              <a:p>
                <a:r>
                  <a:rPr lang="en-NL">
                    <a:noFill/>
                  </a:rPr>
                  <a:t> </a:t>
                </a:r>
              </a:p>
            </p:txBody>
          </p:sp>
        </mc:Fallback>
      </mc:AlternateContent>
      <p:sp>
        <p:nvSpPr>
          <p:cNvPr id="63" name="z filtered output">
            <a:extLst>
              <a:ext uri="{FF2B5EF4-FFF2-40B4-BE49-F238E27FC236}">
                <a16:creationId xmlns:a16="http://schemas.microsoft.com/office/drawing/2014/main" id="{5EC63039-3FC5-FD7D-FC90-CD440308431F}"/>
              </a:ext>
            </a:extLst>
          </p:cNvPr>
          <p:cNvSpPr/>
          <p:nvPr/>
        </p:nvSpPr>
        <p:spPr>
          <a:xfrm>
            <a:off x="37636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7636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8365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170966" y="1838076"/>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170966" y="1838076"/>
                <a:ext cx="283732" cy="398571"/>
              </a:xfrm>
              <a:prstGeom prst="rect">
                <a:avLst/>
              </a:prstGeom>
              <a:blipFill>
                <a:blip r:embed="rId7"/>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5660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3328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561000" y="1209548"/>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327778" y="1209548"/>
            <a:ext cx="35560" cy="35560"/>
          </a:xfrm>
          <a:prstGeom prst="ellipse">
            <a:avLst/>
          </a:prstGeom>
          <a:solidFill>
            <a:srgbClr val="252529"/>
          </a:solidFill>
          <a:ln>
            <a:noFill/>
          </a:ln>
        </p:spPr>
        <p:txBody>
          <a:bodyPr/>
          <a:lstStyle/>
          <a:p>
            <a:endParaRPr lang="en-NL"/>
          </a:p>
        </p:txBody>
      </p:sp>
      <p:cxnSp>
        <p:nvCxnSpPr>
          <p:cNvPr id="8" name="Straight Arrow Connector 7">
            <a:extLst>
              <a:ext uri="{FF2B5EF4-FFF2-40B4-BE49-F238E27FC236}">
                <a16:creationId xmlns:a16="http://schemas.microsoft.com/office/drawing/2014/main" id="{BB8CB9A5-6A3C-2B00-163B-576475BA2E68}"/>
              </a:ext>
            </a:extLst>
          </p:cNvPr>
          <p:cNvCxnSpPr>
            <a:cxnSpLocks/>
            <a:stCxn id="56" idx="1"/>
          </p:cNvCxnSpPr>
          <p:nvPr/>
        </p:nvCxnSpPr>
        <p:spPr>
          <a:xfrm flipH="1">
            <a:off x="8393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FD1243E-BBA3-77C6-2E40-75856DFAD155}"/>
              </a:ext>
            </a:extLst>
          </p:cNvPr>
          <p:cNvCxnSpPr>
            <a:cxnSpLocks/>
          </p:cNvCxnSpPr>
          <p:nvPr/>
        </p:nvCxnSpPr>
        <p:spPr>
          <a:xfrm flipH="1">
            <a:off x="24472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DAEEBEB-DA2F-8DFE-A5FF-D83A48BAC5D1}"/>
                  </a:ext>
                </a:extLst>
              </p:cNvPr>
              <p:cNvSpPr txBox="1"/>
              <p:nvPr/>
            </p:nvSpPr>
            <p:spPr>
              <a:xfrm>
                <a:off x="4364128" y="1709643"/>
                <a:ext cx="201529"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oMath>
                  </m:oMathPara>
                </a14:m>
                <a:endParaRPr lang="en-NL" dirty="0"/>
              </a:p>
            </p:txBody>
          </p:sp>
        </mc:Choice>
        <mc:Fallback xmlns:m="http://schemas.openxmlformats.org/officeDocument/2006/math" xmlns="">
          <p:sp>
            <p:nvSpPr>
              <p:cNvPr id="11" name="TextBox 10">
                <a:extLst>
                  <a:ext uri="{FF2B5EF4-FFF2-40B4-BE49-F238E27FC236}">
                    <a16:creationId xmlns:a16="http://schemas.microsoft.com/office/drawing/2014/main" id="{EDAEEBEB-DA2F-8DFE-A5FF-D83A48BAC5D1}"/>
                  </a:ext>
                </a:extLst>
              </p:cNvPr>
              <p:cNvSpPr txBox="1">
                <a:spLocks noRot="1" noChangeAspect="1" noMove="1" noResize="1" noEditPoints="1" noAdjustHandles="1" noChangeArrowheads="1" noChangeShapeType="1" noTextEdit="1"/>
              </p:cNvSpPr>
              <p:nvPr/>
            </p:nvSpPr>
            <p:spPr>
              <a:xfrm>
                <a:off x="4364128" y="1709643"/>
                <a:ext cx="201529" cy="307777"/>
              </a:xfrm>
              <a:prstGeom prst="rect">
                <a:avLst/>
              </a:prstGeom>
              <a:blipFill>
                <a:blip r:embed="rId8"/>
                <a:stretch>
                  <a:fillRect l="-33333" t="-1961" r="-66667" b="-23529"/>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41B8DDD-CCFF-1734-60D3-D97F229BAC32}"/>
                  </a:ext>
                </a:extLst>
              </p:cNvPr>
              <p:cNvSpPr txBox="1"/>
              <p:nvPr/>
            </p:nvSpPr>
            <p:spPr>
              <a:xfrm>
                <a:off x="4364128" y="2095123"/>
                <a:ext cx="206916"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oMath>
                  </m:oMathPara>
                </a14:m>
                <a:endParaRPr lang="en-NL" sz="2000" dirty="0"/>
              </a:p>
            </p:txBody>
          </p:sp>
        </mc:Choice>
        <mc:Fallback xmlns:m="http://schemas.openxmlformats.org/officeDocument/2006/math" xmlns="">
          <p:sp>
            <p:nvSpPr>
              <p:cNvPr id="12" name="TextBox 11">
                <a:extLst>
                  <a:ext uri="{FF2B5EF4-FFF2-40B4-BE49-F238E27FC236}">
                    <a16:creationId xmlns:a16="http://schemas.microsoft.com/office/drawing/2014/main" id="{341B8DDD-CCFF-1734-60D3-D97F229BAC32}"/>
                  </a:ext>
                </a:extLst>
              </p:cNvPr>
              <p:cNvSpPr txBox="1">
                <a:spLocks noRot="1" noChangeAspect="1" noMove="1" noResize="1" noEditPoints="1" noAdjustHandles="1" noChangeArrowheads="1" noChangeShapeType="1" noTextEdit="1"/>
              </p:cNvSpPr>
              <p:nvPr/>
            </p:nvSpPr>
            <p:spPr>
              <a:xfrm>
                <a:off x="4364128" y="2095123"/>
                <a:ext cx="206916" cy="307777"/>
              </a:xfrm>
              <a:prstGeom prst="rect">
                <a:avLst/>
              </a:prstGeom>
              <a:blipFill>
                <a:blip r:embed="rId9"/>
                <a:stretch>
                  <a:fillRect l="-20588" t="-4000" r="-61765"/>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6540D05-BDE6-9510-6D69-CD9B96334BAA}"/>
                  </a:ext>
                </a:extLst>
              </p:cNvPr>
              <p:cNvSpPr txBox="1"/>
              <p:nvPr/>
            </p:nvSpPr>
            <p:spPr>
              <a:xfrm>
                <a:off x="457200" y="2523680"/>
                <a:ext cx="686406" cy="300082"/>
              </a:xfrm>
              <a:prstGeom prst="rect">
                <a:avLst/>
              </a:prstGeom>
              <a:noFill/>
            </p:spPr>
            <p:txBody>
              <a:bodyPr wrap="none" rtlCol="0">
                <a:spAutoFit/>
              </a:bodyPr>
              <a:lstStyle/>
              <a:p>
                <a:r>
                  <a:rPr lang="en-US" b="1" dirty="0">
                    <a:solidFill>
                      <a:srgbClr val="C81919"/>
                    </a:solidFill>
                  </a:rPr>
                  <a:t>Pick </a:t>
                </a:r>
                <a14:m>
                  <m:oMath xmlns:m="http://schemas.openxmlformats.org/officeDocument/2006/math">
                    <m:r>
                      <a:rPr lang="el-GR" b="1" i="0"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m="http://schemas.openxmlformats.org/officeDocument/2006/math" xmlns="">
          <p:sp>
            <p:nvSpPr>
              <p:cNvPr id="14" name="TextBox 13">
                <a:extLst>
                  <a:ext uri="{FF2B5EF4-FFF2-40B4-BE49-F238E27FC236}">
                    <a16:creationId xmlns:a16="http://schemas.microsoft.com/office/drawing/2014/main" id="{E6540D05-BDE6-9510-6D69-CD9B96334BAA}"/>
                  </a:ext>
                </a:extLst>
              </p:cNvPr>
              <p:cNvSpPr txBox="1">
                <a:spLocks noRot="1" noChangeAspect="1" noMove="1" noResize="1" noEditPoints="1" noAdjustHandles="1" noChangeArrowheads="1" noChangeShapeType="1" noTextEdit="1"/>
              </p:cNvSpPr>
              <p:nvPr/>
            </p:nvSpPr>
            <p:spPr>
              <a:xfrm>
                <a:off x="457200" y="2523680"/>
                <a:ext cx="686406" cy="300082"/>
              </a:xfrm>
              <a:prstGeom prst="rect">
                <a:avLst/>
              </a:prstGeom>
              <a:blipFill>
                <a:blip r:embed="rId10"/>
                <a:stretch>
                  <a:fillRect l="-1770"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509C2DE-2A8D-43D3-8C53-ECCA9DBE6CE1}"/>
                  </a:ext>
                </a:extLst>
              </p:cNvPr>
              <p:cNvSpPr txBox="1"/>
              <p:nvPr/>
            </p:nvSpPr>
            <p:spPr>
              <a:xfrm>
                <a:off x="457200" y="3268063"/>
                <a:ext cx="1892634" cy="300082"/>
              </a:xfrm>
              <a:prstGeom prst="rect">
                <a:avLst/>
              </a:prstGeom>
              <a:noFill/>
            </p:spPr>
            <p:txBody>
              <a:bodyPr wrap="none" rtlCol="0">
                <a:spAutoFit/>
              </a:bodyPr>
              <a:lstStyle/>
              <a:p>
                <a:r>
                  <a:rPr lang="en-US" b="1" dirty="0">
                    <a:solidFill>
                      <a:srgbClr val="C81919"/>
                    </a:solidFill>
                  </a:rPr>
                  <a:t>Energy loss through </a:t>
                </a:r>
                <a14:m>
                  <m:oMath xmlns:m="http://schemas.openxmlformats.org/officeDocument/2006/math">
                    <m:r>
                      <a:rPr lang="en-US" b="1" i="1"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m="http://schemas.openxmlformats.org/officeDocument/2006/math" xmlns="">
          <p:sp>
            <p:nvSpPr>
              <p:cNvPr id="18" name="TextBox 17">
                <a:extLst>
                  <a:ext uri="{FF2B5EF4-FFF2-40B4-BE49-F238E27FC236}">
                    <a16:creationId xmlns:a16="http://schemas.microsoft.com/office/drawing/2014/main" id="{9509C2DE-2A8D-43D3-8C53-ECCA9DBE6CE1}"/>
                  </a:ext>
                </a:extLst>
              </p:cNvPr>
              <p:cNvSpPr txBox="1">
                <a:spLocks noRot="1" noChangeAspect="1" noMove="1" noResize="1" noEditPoints="1" noAdjustHandles="1" noChangeArrowheads="1" noChangeShapeType="1" noTextEdit="1"/>
              </p:cNvSpPr>
              <p:nvPr/>
            </p:nvSpPr>
            <p:spPr>
              <a:xfrm>
                <a:off x="457200" y="3268063"/>
                <a:ext cx="1892634" cy="300082"/>
              </a:xfrm>
              <a:prstGeom prst="rect">
                <a:avLst/>
              </a:prstGeom>
              <a:blipFill>
                <a:blip r:embed="rId13"/>
                <a:stretch>
                  <a:fillRect l="-645" t="-2041" b="-20408"/>
                </a:stretch>
              </a:blipFill>
            </p:spPr>
            <p:txBody>
              <a:bodyPr/>
              <a:lstStyle/>
              <a:p>
                <a:r>
                  <a:rPr lang="en-NL">
                    <a:noFill/>
                  </a:rPr>
                  <a:t> </a:t>
                </a:r>
              </a:p>
            </p:txBody>
          </p:sp>
        </mc:Fallback>
      </mc:AlternateContent>
      <p:sp>
        <p:nvSpPr>
          <p:cNvPr id="23" name="Controller">
            <a:extLst>
              <a:ext uri="{FF2B5EF4-FFF2-40B4-BE49-F238E27FC236}">
                <a16:creationId xmlns:a16="http://schemas.microsoft.com/office/drawing/2014/main" id="{1D411108-A9EF-EA44-DABF-FA5387A75CDA}"/>
              </a:ext>
            </a:extLst>
          </p:cNvPr>
          <p:cNvSpPr/>
          <p:nvPr/>
        </p:nvSpPr>
        <p:spPr>
          <a:xfrm>
            <a:off x="58853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4" name="Controller label">
                <a:extLst>
                  <a:ext uri="{FF2B5EF4-FFF2-40B4-BE49-F238E27FC236}">
                    <a16:creationId xmlns:a16="http://schemas.microsoft.com/office/drawing/2014/main" id="{4B4EFE33-C7F1-06DB-C3AC-0CF2BE1ED2F0}"/>
                  </a:ext>
                </a:extLst>
              </p:cNvPr>
              <p:cNvSpPr/>
              <p:nvPr/>
            </p:nvSpPr>
            <p:spPr>
              <a:xfrm>
                <a:off x="58853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i="1" smtClean="0">
                              <a:solidFill>
                                <a:srgbClr val="252529"/>
                              </a:solidFill>
                              <a:latin typeface="Cambria Math" panose="02040503050406030204" pitchFamily="18" charset="0"/>
                            </a:rPr>
                          </m:ctrlPr>
                        </m:sSupPr>
                        <m:e>
                          <m:r>
                            <a:rPr lang="en-US" sz="2590" i="1" smtClean="0">
                              <a:solidFill>
                                <a:srgbClr val="252529"/>
                              </a:solidFill>
                              <a:latin typeface="Cambria Math" panose="02040503050406030204" pitchFamily="18" charset="0"/>
                            </a:rPr>
                            <m:t>𝐾</m:t>
                          </m:r>
                        </m:e>
                        <m:sup>
                          <m:r>
                            <a:rPr lang="en-US"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4" name="Controller label">
                <a:extLst>
                  <a:ext uri="{FF2B5EF4-FFF2-40B4-BE49-F238E27FC236}">
                    <a16:creationId xmlns:a16="http://schemas.microsoft.com/office/drawing/2014/main" id="{4B4EFE33-C7F1-06DB-C3AC-0CF2BE1ED2F0}"/>
                  </a:ext>
                </a:extLst>
              </p:cNvPr>
              <p:cNvSpPr>
                <a:spLocks noRot="1" noChangeAspect="1" noMove="1" noResize="1" noEditPoints="1" noAdjustHandles="1" noChangeArrowheads="1" noChangeShapeType="1" noTextEdit="1"/>
              </p:cNvSpPr>
              <p:nvPr/>
            </p:nvSpPr>
            <p:spPr>
              <a:xfrm>
                <a:off x="5885352" y="980630"/>
                <a:ext cx="676656" cy="493395"/>
              </a:xfrm>
              <a:prstGeom prst="rect">
                <a:avLst/>
              </a:prstGeom>
              <a:blipFill>
                <a:blip r:embed="rId14"/>
                <a:stretch>
                  <a:fillRect l="-27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Controller external channel">
                <a:extLst>
                  <a:ext uri="{FF2B5EF4-FFF2-40B4-BE49-F238E27FC236}">
                    <a16:creationId xmlns:a16="http://schemas.microsoft.com/office/drawing/2014/main" id="{8A1F6989-8159-6241-7977-130F9613C2AE}"/>
                  </a:ext>
                </a:extLst>
              </p:cNvPr>
              <p:cNvSpPr/>
              <p:nvPr/>
            </p:nvSpPr>
            <p:spPr>
              <a:xfrm>
                <a:off x="45720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25" name="Controller external channel">
                <a:extLst>
                  <a:ext uri="{FF2B5EF4-FFF2-40B4-BE49-F238E27FC236}">
                    <a16:creationId xmlns:a16="http://schemas.microsoft.com/office/drawing/2014/main" id="{8A1F6989-8159-6241-7977-130F9613C2AE}"/>
                  </a:ext>
                </a:extLst>
              </p:cNvPr>
              <p:cNvSpPr>
                <a:spLocks noRot="1" noChangeAspect="1" noMove="1" noResize="1" noEditPoints="1" noAdjustHandles="1" noChangeArrowheads="1" noChangeShapeType="1" noTextEdit="1"/>
              </p:cNvSpPr>
              <p:nvPr/>
            </p:nvSpPr>
            <p:spPr>
              <a:xfrm>
                <a:off x="4572000" y="1037017"/>
                <a:ext cx="563880" cy="380619"/>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Plant measured channel">
                <a:extLst>
                  <a:ext uri="{FF2B5EF4-FFF2-40B4-BE49-F238E27FC236}">
                    <a16:creationId xmlns:a16="http://schemas.microsoft.com/office/drawing/2014/main" id="{E2B745A6-0C1E-FCCA-8CE2-8CBA087AF257}"/>
                  </a:ext>
                </a:extLst>
              </p:cNvPr>
              <p:cNvSpPr/>
              <p:nvPr/>
            </p:nvSpPr>
            <p:spPr>
              <a:xfrm>
                <a:off x="74611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6" name="Plant measured channel">
                <a:extLst>
                  <a:ext uri="{FF2B5EF4-FFF2-40B4-BE49-F238E27FC236}">
                    <a16:creationId xmlns:a16="http://schemas.microsoft.com/office/drawing/2014/main" id="{E2B745A6-0C1E-FCCA-8CE2-8CBA087AF257}"/>
                  </a:ext>
                </a:extLst>
              </p:cNvPr>
              <p:cNvSpPr>
                <a:spLocks noRot="1" noChangeAspect="1" noMove="1" noResize="1" noEditPoints="1" noAdjustHandles="1" noChangeArrowheads="1" noChangeShapeType="1" noTextEdit="1"/>
              </p:cNvSpPr>
              <p:nvPr/>
            </p:nvSpPr>
            <p:spPr>
              <a:xfrm>
                <a:off x="7461108" y="1019238"/>
                <a:ext cx="563880" cy="380619"/>
              </a:xfrm>
              <a:prstGeom prst="rect">
                <a:avLst/>
              </a:prstGeom>
              <a:blipFill>
                <a:blip r:embed="rId16"/>
                <a:stretch>
                  <a:fillRect b="-3175"/>
                </a:stretch>
              </a:blipFill>
              <a:ln>
                <a:noFill/>
              </a:ln>
            </p:spPr>
            <p:txBody>
              <a:bodyPr/>
              <a:lstStyle/>
              <a:p>
                <a:r>
                  <a:rPr lang="en-NL">
                    <a:noFill/>
                  </a:rPr>
                  <a:t> </a:t>
                </a:r>
              </a:p>
            </p:txBody>
          </p:sp>
        </mc:Fallback>
      </mc:AlternateContent>
      <p:sp>
        <p:nvSpPr>
          <p:cNvPr id="27" name="z filtered output">
            <a:extLst>
              <a:ext uri="{FF2B5EF4-FFF2-40B4-BE49-F238E27FC236}">
                <a16:creationId xmlns:a16="http://schemas.microsoft.com/office/drawing/2014/main" id="{65223254-AC0E-1EB4-FC5C-C6856D9A81B6}"/>
              </a:ext>
            </a:extLst>
          </p:cNvPr>
          <p:cNvSpPr/>
          <p:nvPr/>
        </p:nvSpPr>
        <p:spPr>
          <a:xfrm>
            <a:off x="78784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8" name="w filtered output">
            <a:extLst>
              <a:ext uri="{FF2B5EF4-FFF2-40B4-BE49-F238E27FC236}">
                <a16:creationId xmlns:a16="http://schemas.microsoft.com/office/drawing/2014/main" id="{63177449-4BD1-5096-9B6C-B04501C6A0CB}"/>
              </a:ext>
            </a:extLst>
          </p:cNvPr>
          <p:cNvSpPr/>
          <p:nvPr/>
        </p:nvSpPr>
        <p:spPr>
          <a:xfrm>
            <a:off x="78784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9" name="Dynamic filter">
            <a:extLst>
              <a:ext uri="{FF2B5EF4-FFF2-40B4-BE49-F238E27FC236}">
                <a16:creationId xmlns:a16="http://schemas.microsoft.com/office/drawing/2014/main" id="{F6115F4C-5896-3C24-F831-9754ED688742}"/>
              </a:ext>
            </a:extLst>
          </p:cNvPr>
          <p:cNvSpPr/>
          <p:nvPr/>
        </p:nvSpPr>
        <p:spPr>
          <a:xfrm>
            <a:off x="69513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108AA70-A0EA-C76A-1BF4-060117329C32}"/>
                  </a:ext>
                </a:extLst>
              </p:cNvPr>
              <p:cNvSpPr txBox="1"/>
              <p:nvPr/>
            </p:nvSpPr>
            <p:spPr>
              <a:xfrm>
                <a:off x="7285766" y="1838076"/>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30" name="TextBox 29">
                <a:extLst>
                  <a:ext uri="{FF2B5EF4-FFF2-40B4-BE49-F238E27FC236}">
                    <a16:creationId xmlns:a16="http://schemas.microsoft.com/office/drawing/2014/main" id="{F108AA70-A0EA-C76A-1BF4-060117329C32}"/>
                  </a:ext>
                </a:extLst>
              </p:cNvPr>
              <p:cNvSpPr txBox="1">
                <a:spLocks noRot="1" noChangeAspect="1" noMove="1" noResize="1" noEditPoints="1" noAdjustHandles="1" noChangeArrowheads="1" noChangeShapeType="1" noTextEdit="1"/>
              </p:cNvSpPr>
              <p:nvPr/>
            </p:nvSpPr>
            <p:spPr>
              <a:xfrm>
                <a:off x="7285766" y="1838076"/>
                <a:ext cx="283731" cy="417230"/>
              </a:xfrm>
              <a:prstGeom prst="rect">
                <a:avLst/>
              </a:prstGeom>
              <a:blipFill>
                <a:blip r:embed="rId19"/>
                <a:stretch>
                  <a:fillRect/>
                </a:stretch>
              </a:blipFill>
            </p:spPr>
            <p:txBody>
              <a:bodyPr/>
              <a:lstStyle/>
              <a:p>
                <a:r>
                  <a:rPr lang="en-NL">
                    <a:noFill/>
                  </a:rPr>
                  <a:t> </a:t>
                </a:r>
              </a:p>
            </p:txBody>
          </p:sp>
        </mc:Fallback>
      </mc:AlternateContent>
      <p:sp>
        <p:nvSpPr>
          <p:cNvPr id="31" name="Connector: Elbow 54">
            <a:extLst>
              <a:ext uri="{FF2B5EF4-FFF2-40B4-BE49-F238E27FC236}">
                <a16:creationId xmlns:a16="http://schemas.microsoft.com/office/drawing/2014/main" id="{7ADE9865-AC8D-5980-8A65-3729AD3FF51E}"/>
              </a:ext>
            </a:extLst>
          </p:cNvPr>
          <p:cNvSpPr/>
          <p:nvPr/>
        </p:nvSpPr>
        <p:spPr>
          <a:xfrm>
            <a:off x="66808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2" name="Connector: Elbow 60">
            <a:extLst>
              <a:ext uri="{FF2B5EF4-FFF2-40B4-BE49-F238E27FC236}">
                <a16:creationId xmlns:a16="http://schemas.microsoft.com/office/drawing/2014/main" id="{EFD902E2-A253-C457-7883-1C4ABDA34C54}"/>
              </a:ext>
            </a:extLst>
          </p:cNvPr>
          <p:cNvSpPr/>
          <p:nvPr/>
        </p:nvSpPr>
        <p:spPr>
          <a:xfrm>
            <a:off x="54476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3" name="Signal tap 200">
            <a:extLst>
              <a:ext uri="{FF2B5EF4-FFF2-40B4-BE49-F238E27FC236}">
                <a16:creationId xmlns:a16="http://schemas.microsoft.com/office/drawing/2014/main" id="{2FC5FA92-5590-1ECB-3A98-A0315F53E55A}"/>
              </a:ext>
            </a:extLst>
          </p:cNvPr>
          <p:cNvSpPr/>
          <p:nvPr/>
        </p:nvSpPr>
        <p:spPr>
          <a:xfrm>
            <a:off x="6675800" y="1209548"/>
            <a:ext cx="35560" cy="35560"/>
          </a:xfrm>
          <a:prstGeom prst="ellipse">
            <a:avLst/>
          </a:prstGeom>
          <a:solidFill>
            <a:srgbClr val="252529"/>
          </a:solidFill>
          <a:ln>
            <a:noFill/>
          </a:ln>
        </p:spPr>
        <p:txBody>
          <a:bodyPr/>
          <a:lstStyle/>
          <a:p>
            <a:endParaRPr lang="en-NL"/>
          </a:p>
        </p:txBody>
      </p:sp>
      <p:sp>
        <p:nvSpPr>
          <p:cNvPr id="34" name="Signal tap 201">
            <a:extLst>
              <a:ext uri="{FF2B5EF4-FFF2-40B4-BE49-F238E27FC236}">
                <a16:creationId xmlns:a16="http://schemas.microsoft.com/office/drawing/2014/main" id="{761B22BD-5220-BB0D-6132-CB069A5F1AF5}"/>
              </a:ext>
            </a:extLst>
          </p:cNvPr>
          <p:cNvSpPr/>
          <p:nvPr/>
        </p:nvSpPr>
        <p:spPr>
          <a:xfrm>
            <a:off x="5442578" y="1209548"/>
            <a:ext cx="35560" cy="35560"/>
          </a:xfrm>
          <a:prstGeom prst="ellipse">
            <a:avLst/>
          </a:prstGeom>
          <a:solidFill>
            <a:srgbClr val="252529"/>
          </a:solidFill>
          <a:ln>
            <a:noFill/>
          </a:ln>
        </p:spPr>
        <p:txBody>
          <a:bodyPr/>
          <a:lstStyle/>
          <a:p>
            <a:endParaRPr lang="en-NL"/>
          </a:p>
        </p:txBody>
      </p:sp>
      <p:cxnSp>
        <p:nvCxnSpPr>
          <p:cNvPr id="35" name="Straight Arrow Connector 34">
            <a:extLst>
              <a:ext uri="{FF2B5EF4-FFF2-40B4-BE49-F238E27FC236}">
                <a16:creationId xmlns:a16="http://schemas.microsoft.com/office/drawing/2014/main" id="{8E91A51D-F51A-5EBD-B1E5-F9DD4EB47EDE}"/>
              </a:ext>
            </a:extLst>
          </p:cNvPr>
          <p:cNvCxnSpPr>
            <a:cxnSpLocks/>
            <a:stCxn id="23" idx="1"/>
          </p:cNvCxnSpPr>
          <p:nvPr/>
        </p:nvCxnSpPr>
        <p:spPr>
          <a:xfrm flipH="1">
            <a:off x="49541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D990349-7D4F-0867-7271-F46B18E56B75}"/>
              </a:ext>
            </a:extLst>
          </p:cNvPr>
          <p:cNvCxnSpPr>
            <a:cxnSpLocks/>
          </p:cNvCxnSpPr>
          <p:nvPr/>
        </p:nvCxnSpPr>
        <p:spPr>
          <a:xfrm flipH="1">
            <a:off x="65620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E1024AEE-4C3D-6A70-AD99-BA0483497809}"/>
                  </a:ext>
                </a:extLst>
              </p:cNvPr>
              <p:cNvSpPr txBox="1"/>
              <p:nvPr/>
            </p:nvSpPr>
            <p:spPr>
              <a:xfrm>
                <a:off x="8478928" y="1685284"/>
                <a:ext cx="201529" cy="374846"/>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bar>
                    </m:oMath>
                  </m:oMathPara>
                </a14:m>
                <a:endParaRPr lang="en-NL" dirty="0"/>
              </a:p>
            </p:txBody>
          </p:sp>
        </mc:Choice>
        <mc:Fallback xmlns:m="http://schemas.openxmlformats.org/officeDocument/2006/math" xmlns="">
          <p:sp>
            <p:nvSpPr>
              <p:cNvPr id="37" name="TextBox 36">
                <a:extLst>
                  <a:ext uri="{FF2B5EF4-FFF2-40B4-BE49-F238E27FC236}">
                    <a16:creationId xmlns:a16="http://schemas.microsoft.com/office/drawing/2014/main" id="{E1024AEE-4C3D-6A70-AD99-BA0483497809}"/>
                  </a:ext>
                </a:extLst>
              </p:cNvPr>
              <p:cNvSpPr txBox="1">
                <a:spLocks noRot="1" noChangeAspect="1" noMove="1" noResize="1" noEditPoints="1" noAdjustHandles="1" noChangeArrowheads="1" noChangeShapeType="1" noTextEdit="1"/>
              </p:cNvSpPr>
              <p:nvPr/>
            </p:nvSpPr>
            <p:spPr>
              <a:xfrm>
                <a:off x="8478928" y="1685284"/>
                <a:ext cx="201529" cy="374846"/>
              </a:xfrm>
              <a:prstGeom prst="rect">
                <a:avLst/>
              </a:prstGeom>
              <a:blipFill>
                <a:blip r:embed="rId20"/>
                <a:stretch>
                  <a:fillRect l="-33333" r="-66667" b="-322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730C26E-DFE9-CA8B-CB78-6CD3DA2D0100}"/>
                  </a:ext>
                </a:extLst>
              </p:cNvPr>
              <p:cNvSpPr txBox="1"/>
              <p:nvPr/>
            </p:nvSpPr>
            <p:spPr>
              <a:xfrm>
                <a:off x="8486242" y="2075513"/>
                <a:ext cx="206915" cy="322268"/>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e>
                      </m:bar>
                    </m:oMath>
                  </m:oMathPara>
                </a14:m>
                <a:endParaRPr lang="en-NL" sz="2000" dirty="0"/>
              </a:p>
            </p:txBody>
          </p:sp>
        </mc:Choice>
        <mc:Fallback xmlns:m="http://schemas.openxmlformats.org/officeDocument/2006/math" xmlns="">
          <p:sp>
            <p:nvSpPr>
              <p:cNvPr id="38" name="TextBox 37">
                <a:extLst>
                  <a:ext uri="{FF2B5EF4-FFF2-40B4-BE49-F238E27FC236}">
                    <a16:creationId xmlns:a16="http://schemas.microsoft.com/office/drawing/2014/main" id="{E730C26E-DFE9-CA8B-CB78-6CD3DA2D0100}"/>
                  </a:ext>
                </a:extLst>
              </p:cNvPr>
              <p:cNvSpPr txBox="1">
                <a:spLocks noRot="1" noChangeAspect="1" noMove="1" noResize="1" noEditPoints="1" noAdjustHandles="1" noChangeArrowheads="1" noChangeShapeType="1" noTextEdit="1"/>
              </p:cNvSpPr>
              <p:nvPr/>
            </p:nvSpPr>
            <p:spPr>
              <a:xfrm>
                <a:off x="8486242" y="2075513"/>
                <a:ext cx="206915" cy="322268"/>
              </a:xfrm>
              <a:prstGeom prst="rect">
                <a:avLst/>
              </a:prstGeom>
              <a:blipFill>
                <a:blip r:embed="rId21"/>
                <a:stretch>
                  <a:fillRect l="-17647" r="-6470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1" name="Primal filter matrix"/>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acc>
                                  <m:accPr>
                                    <m:chr m:val="̃"/>
                                    <m:ctrlPr>
                                      <a:rPr sz="1600">
                                        <a:solidFill>
                                          <a:srgbClr val="252529"/>
                                        </a:solidFill>
                                        <a:latin typeface="Cambria Math"/>
                                      </a:rPr>
                                    </m:ctrlPr>
                                  </m:accPr>
                                  <m:e>
                                    <m:r>
                                      <a:rPr sz="1600">
                                        <a:solidFill>
                                          <a:srgbClr val="252529"/>
                                        </a:solidFill>
                                        <a:latin typeface="Cambria Math"/>
                                      </a:rPr>
                                      <m:t>𝑦</m:t>
                                    </m:r>
                                  </m:e>
                                </m:acc>
                              </m:e>
                            </m:mr>
                            <m:mr>
                              <m:e>
                                <m:acc>
                                  <m:accPr>
                                    <m:chr m:val="̃"/>
                                    <m:ctrlPr>
                                      <a:rPr sz="1600">
                                        <a:solidFill>
                                          <a:srgbClr val="252529"/>
                                        </a:solidFill>
                                        <a:latin typeface="Cambria Math"/>
                                      </a:rPr>
                                    </m:ctrlPr>
                                  </m:accPr>
                                  <m:e>
                                    <m:r>
                                      <a:rPr sz="1600">
                                        <a:solidFill>
                                          <a:srgbClr val="252529"/>
                                        </a:solidFill>
                                        <a:latin typeface="Cambria Math"/>
                                      </a:rPr>
                                      <m:t>𝑢</m:t>
                                    </m:r>
                                  </m:e>
                                </m:acc>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r>
                                  <a:rPr sz="1600">
                                    <a:solidFill>
                                      <a:srgbClr val="252529"/>
                                    </a:solidFill>
                                    <a:latin typeface="Cambria Math"/>
                                  </a:rPr>
                                  <m:t>𝐾</m:t>
                                </m:r>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𝑦</m:t>
                                </m:r>
                              </m:e>
                            </m:mr>
                            <m:mr>
                              <m:e>
                                <m:r>
                                  <a:rPr sz="1600">
                                    <a:solidFill>
                                      <a:srgbClr val="252529"/>
                                    </a:solidFill>
                                    <a:latin typeface="Cambria Math"/>
                                  </a:rPr>
                                  <m:t>𝑢</m:t>
                                </m:r>
                              </m:e>
                            </m:mr>
                          </m:m>
                        </m:e>
                      </m:d>
                    </m:oMath>
                  </m:oMathPara>
                </a14:m>
                <a:endParaRPr sz="1600" dirty="0"/>
              </a:p>
            </p:txBody>
          </p:sp>
        </mc:Choice>
        <mc:Fallback xmlns="">
          <p:sp>
            <p:nvSpPr>
              <p:cNvPr id="10001" name="Primal filter matrix"/>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Primal energy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xmlns:m="http://schemas.openxmlformats.org/officeDocument/2006/math">
          <p:sp>
            <p:nvSpPr>
              <p:cNvPr id="10002" name="Primal energy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Primal controller relation"/>
              <p:cNvSpPr/>
              <p:nvPr/>
            </p:nvSpPr>
            <p:spPr>
              <a:xfrm>
                <a:off x="444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3" name="Primal controller relation"/>
              <p:cNvSpPr>
                <a:spLocks noRot="1" noChangeAspect="1" noMove="1" noResize="1" noEditPoints="1" noAdjustHandles="1" noChangeArrowheads="1" noChangeShapeType="1" noTextEdit="1"/>
              </p:cNvSpPr>
              <p:nvPr/>
            </p:nvSpPr>
            <p:spPr>
              <a:xfrm>
                <a:off x="444500" y="3812540"/>
                <a:ext cx="3937000" cy="60452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p:cNvSpPr/>
              <p:nvPr/>
            </p:nvSpPr>
            <p:spPr>
              <a:xfrm>
                <a:off x="444500" y="4231705"/>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p:cNvSpPr>
                <a:spLocks noRot="1" noChangeAspect="1" noMove="1" noResize="1" noEditPoints="1" noAdjustHandles="1" noChangeArrowheads="1" noChangeShapeType="1" noTextEdit="1"/>
              </p:cNvSpPr>
              <p:nvPr/>
            </p:nvSpPr>
            <p:spPr>
              <a:xfrm>
                <a:off x="444500" y="4231705"/>
                <a:ext cx="3937000" cy="6400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5" name="Dual Pick Theta"/>
              <p:cNvSpPr/>
              <p:nvPr/>
            </p:nvSpPr>
            <p:spPr>
              <a:xfrm>
                <a:off x="4775200" y="2555875"/>
                <a:ext cx="3911600" cy="247650"/>
              </a:xfrm>
              <a:prstGeom prst="rect">
                <a:avLst/>
              </a:prstGeom>
              <a:noFill/>
              <a:ln>
                <a:noFill/>
              </a:ln>
            </p:spPr>
            <p:txBody>
              <a:bodyPr wrap="none" lIns="0" tIns="0" rIns="0" bIns="0" anchor="ctr">
                <a:noAutofit/>
              </a:bodyPr>
              <a:lstStyle/>
              <a:p>
                <a:pPr algn="l">
                  <a:buNone/>
                </a:pPr>
                <a:r>
                  <a:rPr lang="en-GB" sz="1300" b="1" i="0" u="none" baseline="0" dirty="0">
                    <a:solidFill>
                      <a:srgbClr val="C81919"/>
                    </a:solidFill>
                    <a:latin typeface="Aptos"/>
                    <a:ea typeface="Aptos"/>
                    <a:cs typeface="Aptos"/>
                  </a:rPr>
                  <a:t>Pick </a:t>
                </a:r>
                <a14:m>
                  <m:oMath xmlns:m="http://schemas.openxmlformats.org/officeDocument/2006/math">
                    <m:bar>
                      <m:barPr>
                        <m:pos m:val="bot"/>
                        <m:ctrlPr>
                          <a:rPr lang="en-US" sz="1300" b="1" i="0" u="none" baseline="0" smtClean="0">
                            <a:solidFill>
                              <a:srgbClr val="C81919"/>
                            </a:solidFill>
                            <a:latin typeface="Cambria Math" panose="02040503050406030204" pitchFamily="18" charset="0"/>
                          </a:rPr>
                        </m:ctrlPr>
                      </m:barPr>
                      <m:e>
                        <m:r>
                          <a:rPr lang="en-US" sz="1300" b="1" i="0" u="none" baseline="0" smtClean="0">
                            <a:solidFill>
                              <a:srgbClr val="C81919"/>
                            </a:solidFill>
                            <a:latin typeface="Cambria Math" panose="02040503050406030204" pitchFamily="18" charset="0"/>
                          </a:rPr>
                          <m:t>𝚯</m:t>
                        </m:r>
                      </m:e>
                    </m:bar>
                  </m:oMath>
                </a14:m>
                <a:endParaRPr sz="1300" b="1" dirty="0"/>
              </a:p>
            </p:txBody>
          </p:sp>
        </mc:Choice>
        <mc:Fallback xmlns:m="http://schemas.openxmlformats.org/officeDocument/2006/math" xmlns="">
          <p:sp>
            <p:nvSpPr>
              <p:cNvPr id="10005" name="Dual Pick Theta"/>
              <p:cNvSpPr>
                <a:spLocks noRot="1" noChangeAspect="1" noMove="1" noResize="1" noEditPoints="1" noAdjustHandles="1" noChangeArrowheads="1" noChangeShapeType="1" noTextEdit="1"/>
              </p:cNvSpPr>
              <p:nvPr/>
            </p:nvSpPr>
            <p:spPr>
              <a:xfrm>
                <a:off x="4775200" y="2555875"/>
                <a:ext cx="3911600" cy="247650"/>
              </a:xfrm>
              <a:prstGeom prst="rect">
                <a:avLst/>
              </a:prstGeom>
              <a:blipFill>
                <a:blip r:embed="rId26"/>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6" name="Dual Energy heading"/>
              <p:cNvSpPr/>
              <p:nvPr/>
            </p:nvSpPr>
            <p:spPr>
              <a:xfrm>
                <a:off x="4775200" y="3305175"/>
                <a:ext cx="3911600" cy="247650"/>
              </a:xfrm>
              <a:prstGeom prst="rect">
                <a:avLst/>
              </a:prstGeom>
              <a:noFill/>
              <a:ln>
                <a:noFill/>
              </a:ln>
            </p:spPr>
            <p:txBody>
              <a:bodyPr wrap="none" lIns="0" tIns="0" rIns="0" bIns="0" anchor="ctr">
                <a:noAutofit/>
              </a:bodyPr>
              <a:lstStyle/>
              <a:p>
                <a:r>
                  <a:rPr lang="en-GB" sz="1300" b="1" i="0" u="none" baseline="0" dirty="0">
                    <a:solidFill>
                      <a:srgbClr val="C81919"/>
                    </a:solidFill>
                    <a:latin typeface="Aptos"/>
                    <a:ea typeface="Aptos"/>
                    <a:cs typeface="Aptos"/>
                  </a:rPr>
                  <a:t>Energy loss through </a:t>
                </a:r>
                <a14:m>
                  <m:oMath xmlns:m="http://schemas.openxmlformats.org/officeDocument/2006/math">
                    <m:bar>
                      <m:barPr>
                        <m:pos m:val="bot"/>
                        <m:ctrlPr>
                          <a:rPr lang="en-US" sz="1300" b="1" i="0" smtClean="0">
                            <a:solidFill>
                              <a:srgbClr val="C81919"/>
                            </a:solidFill>
                            <a:latin typeface="Cambria Math" panose="02040503050406030204" pitchFamily="18" charset="0"/>
                          </a:rPr>
                        </m:ctrlPr>
                      </m:barPr>
                      <m:e>
                        <m:r>
                          <a:rPr lang="en-US" sz="1300" b="1" i="0" smtClean="0">
                            <a:solidFill>
                              <a:srgbClr val="C81919"/>
                            </a:solidFill>
                            <a:latin typeface="Cambria Math" panose="02040503050406030204" pitchFamily="18" charset="0"/>
                          </a:rPr>
                          <m:t>𝚯</m:t>
                        </m:r>
                      </m:e>
                    </m:bar>
                  </m:oMath>
                </a14:m>
                <a:endParaRPr sz="1300" dirty="0"/>
              </a:p>
            </p:txBody>
          </p:sp>
        </mc:Choice>
        <mc:Fallback xmlns:m="http://schemas.openxmlformats.org/officeDocument/2006/math" xmlns="">
          <p:sp>
            <p:nvSpPr>
              <p:cNvPr id="10006" name="Dual Energy heading"/>
              <p:cNvSpPr>
                <a:spLocks noRot="1" noChangeAspect="1" noMove="1" noResize="1" noEditPoints="1" noAdjustHandles="1" noChangeArrowheads="1" noChangeShapeType="1" noTextEdit="1"/>
              </p:cNvSpPr>
              <p:nvPr/>
            </p:nvSpPr>
            <p:spPr>
              <a:xfrm>
                <a:off x="4775200" y="3305175"/>
                <a:ext cx="3911600" cy="247650"/>
              </a:xfrm>
              <a:prstGeom prst="rect">
                <a:avLst/>
              </a:prstGeom>
              <a:blipFill>
                <a:blip r:embed="rId27"/>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e>
                            </m:m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1" smtClean="0">
                                        <a:solidFill>
                                          <a:srgbClr val="252529"/>
                                        </a:solidFill>
                                        <a:latin typeface="Cambria Math" panose="02040503050406030204" pitchFamily="18" charset="0"/>
                                      </a:rPr>
                                      <m:t>⊤</m:t>
                                    </m:r>
                                  </m:sup>
                                </m:sSup>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a:solidFill>
                                          <a:srgbClr val="252529"/>
                                        </a:solidFill>
                                        <a:latin typeface="Cambria Math"/>
                                      </a:rPr>
                                    </m:ctrlPr>
                                  </m:barPr>
                                  <m:e>
                                    <m:r>
                                      <a:rPr sz="1600">
                                        <a:solidFill>
                                          <a:srgbClr val="252529"/>
                                        </a:solidFill>
                                        <a:latin typeface="Cambria Math"/>
                                      </a:rPr>
                                      <m:t>𝑦</m:t>
                                    </m:r>
                                  </m:e>
                                </m:bar>
                              </m:e>
                            </m:mr>
                            <m:mr>
                              <m:e>
                                <m:bar>
                                  <m:barPr>
                                    <m:pos m:val="bot"/>
                                    <m:ctrlPr>
                                      <a:rPr sz="1600">
                                        <a:solidFill>
                                          <a:srgbClr val="252529"/>
                                        </a:solidFill>
                                        <a:latin typeface="Cambria Math"/>
                                      </a:rPr>
                                    </m:ctrlPr>
                                  </m:barPr>
                                  <m:e>
                                    <m:r>
                                      <a:rPr sz="1600">
                                        <a:solidFill>
                                          <a:srgbClr val="252529"/>
                                        </a:solidFill>
                                        <a:latin typeface="Cambria Math"/>
                                      </a:rPr>
                                      <m:t>𝑢</m:t>
                                    </m:r>
                                  </m:e>
                                </m:bar>
                              </m:e>
                            </m:mr>
                          </m:m>
                        </m:e>
                      </m:d>
                    </m:oMath>
                  </m:oMathPara>
                </a14:m>
                <a:endParaRPr sz="1600" dirty="0"/>
              </a:p>
            </p:txBody>
          </p:sp>
        </mc:Choice>
        <mc:Fallback xmlns="">
          <p:sp>
            <p:nvSpPr>
              <p:cNvPr id="10007" name="Dual filter matrix"/>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2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8" name="Dual energy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1" smtClean="0">
                                      <a:solidFill>
                                        <a:srgbClr val="252529"/>
                                      </a:solidFill>
                                      <a:latin typeface="Cambria Math" panose="02040503050406030204" pitchFamily="18" charset="0"/>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08" name="Dual energy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9" name="Dual controller relation"/>
              <p:cNvSpPr/>
              <p:nvPr/>
            </p:nvSpPr>
            <p:spPr>
              <a:xfrm>
                <a:off x="4762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0" smtClean="0">
                              <a:solidFill>
                                <a:srgbClr val="252529"/>
                              </a:solidFill>
                              <a:latin typeface="Cambria Math" panose="02040503050406030204" pitchFamily="18" charset="0"/>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9" name="Dual controller relation"/>
              <p:cNvSpPr>
                <a:spLocks noRot="1" noChangeAspect="1" noMove="1" noResize="1" noEditPoints="1" noAdjustHandles="1" noChangeArrowheads="1" noChangeShapeType="1" noTextEdit="1"/>
              </p:cNvSpPr>
              <p:nvPr/>
            </p:nvSpPr>
            <p:spPr>
              <a:xfrm>
                <a:off x="4762500" y="3812540"/>
                <a:ext cx="3937000" cy="60452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p:cNvSpPr/>
              <p:nvPr/>
            </p:nvSpPr>
            <p:spPr>
              <a:xfrm>
                <a:off x="4762500" y="416287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p:cNvSpPr>
                <a:spLocks noRot="1" noChangeAspect="1" noMove="1" noResize="1" noEditPoints="1" noAdjustHandles="1" noChangeArrowheads="1" noChangeShapeType="1" noTextEdit="1"/>
              </p:cNvSpPr>
              <p:nvPr/>
            </p:nvSpPr>
            <p:spPr>
              <a:xfrm>
                <a:off x="4762500" y="4162870"/>
                <a:ext cx="3937000" cy="640080"/>
              </a:xfrm>
              <a:prstGeom prst="rect">
                <a:avLst/>
              </a:prstGeom>
              <a:blipFill>
                <a:blip r:embed="rId3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BC64A6E-AE17-5108-FB6D-93C8EDD0FC25}"/>
                  </a:ext>
                </a:extLst>
              </p:cNvPr>
              <p:cNvSpPr txBox="1"/>
              <p:nvPr/>
            </p:nvSpPr>
            <p:spPr>
              <a:xfrm>
                <a:off x="4081595" y="1055658"/>
                <a:ext cx="318998" cy="307777"/>
              </a:xfrm>
              <a:prstGeom prst="rect">
                <a:avLst/>
              </a:prstGeom>
              <a:noFill/>
            </p:spPr>
            <p:txBody>
              <a:bodyPr wrap="none" lIns="0" tIns="0" rIns="0" bIns="0" rtlCol="0">
                <a:spAutoFit/>
              </a:bodyPr>
              <a:lstStyle/>
              <a:p>
                <a:pPr/>
                <a14:m>
                  <m:oMathPara xmlns:m="http://schemas.openxmlformats.org/officeDocument/2006/math">
                    <m:oMath>
                      <m:r>
                        <a:rPr lang="en-NL" sz="2000" i="1" smtClean="0">
                          <a:latin typeface="Cambria Math" panose="02040503050406030204" pitchFamily="18" charset="0"/>
                          <a:ea typeface="Cambria Math" panose="02040503050406030204" pitchFamily="18" charset="0"/>
                        </a:rPr>
                        <m:t>⇔</m:t>
                      </m:r>
                    </m:oMath>
                  </m:oMathPara>
                </a14:m>
                <a:endParaRPr lang="en-NL" dirty="0"/>
              </a:p>
            </p:txBody>
          </p:sp>
        </mc:Choice>
        <mc:Fallback xmlns:m="http://schemas.openxmlformats.org/officeDocument/2006/math" xmlns="">
          <p:sp>
            <p:nvSpPr>
              <p:cNvPr id="21" name="TextBox 20">
                <a:extLst>
                  <a:ext uri="{FF2B5EF4-FFF2-40B4-BE49-F238E27FC236}">
                    <a16:creationId xmlns:a16="http://schemas.microsoft.com/office/drawing/2014/main" id="{7BC64A6E-AE17-5108-FB6D-93C8EDD0FC25}"/>
                  </a:ext>
                </a:extLst>
              </p:cNvPr>
              <p:cNvSpPr txBox="1">
                <a:spLocks noRot="1" noChangeAspect="1" noMove="1" noResize="1" noEditPoints="1" noAdjustHandles="1" noChangeArrowheads="1" noChangeShapeType="1" noTextEdit="1"/>
              </p:cNvSpPr>
              <p:nvPr/>
            </p:nvSpPr>
            <p:spPr>
              <a:xfrm>
                <a:off x="4081595" y="1055658"/>
                <a:ext cx="318998" cy="307777"/>
              </a:xfrm>
              <a:prstGeom prst="rect">
                <a:avLst/>
              </a:prstGeom>
              <a:blipFill>
                <a:blip r:embed="rId32"/>
                <a:stretch>
                  <a:fillRect l="-15385" r="-1346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1" name="Primal filtered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𝑢</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𝑦</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21" name="Primal filtered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3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Dual filtered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32" name="Dual filtered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34"/>
                <a:stretch>
                  <a:fillRect/>
                </a:stretch>
              </a:blipFill>
              <a:ln>
                <a:noFill/>
              </a:ln>
            </p:spPr>
            <p:txBody>
              <a:bodyPr/>
              <a:lstStyle/>
              <a:p>
                <a:r>
                  <a:rPr lang="en-NL">
                    <a:noFill/>
                  </a:rPr>
                  <a:t> </a:t>
                </a:r>
              </a:p>
            </p:txBody>
          </p:sp>
        </mc:Fallback>
      </mc:AlternateContent>
      <p:sp>
        <p:nvSpPr>
          <p:cNvPr id="10033" name="Primal final inequality red box"/>
          <p:cNvSpPr/>
          <p:nvPr/>
        </p:nvSpPr>
        <p:spPr>
          <a:xfrm>
            <a:off x="1397010" y="3541134"/>
            <a:ext cx="2032000" cy="703580"/>
          </a:xfrm>
          <a:prstGeom prst="rect">
            <a:avLst/>
          </a:prstGeom>
          <a:noFill/>
          <a:ln w="25400">
            <a:solidFill>
              <a:srgbClr val="C81919"/>
            </a:solidFill>
          </a:ln>
        </p:spPr>
      </p:sp>
      <p:sp>
        <p:nvSpPr>
          <p:cNvPr id="10034" name="Dual final inequality red box"/>
          <p:cNvSpPr/>
          <p:nvPr/>
        </p:nvSpPr>
        <p:spPr>
          <a:xfrm>
            <a:off x="5714990" y="3554852"/>
            <a:ext cx="2032000" cy="703580"/>
          </a:xfrm>
          <a:prstGeom prst="rect">
            <a:avLst/>
          </a:prstGeom>
          <a:noFill/>
          <a:ln w="25400">
            <a:solidFill>
              <a:srgbClr val="C81919"/>
            </a:solidFill>
          </a:ln>
        </p:spPr>
      </p:sp>
      <p:sp>
        <p:nvSpPr>
          <p:cNvPr id="5" name="TextBox 4">
            <a:extLst>
              <a:ext uri="{FF2B5EF4-FFF2-40B4-BE49-F238E27FC236}">
                <a16:creationId xmlns:a16="http://schemas.microsoft.com/office/drawing/2014/main" id="{C4D7C24D-8A8A-964B-7EF1-3CE111706C19}"/>
              </a:ext>
            </a:extLst>
          </p:cNvPr>
          <p:cNvSpPr txBox="1"/>
          <p:nvPr/>
        </p:nvSpPr>
        <p:spPr>
          <a:xfrm>
            <a:off x="2821782" y="4355335"/>
            <a:ext cx="3487750" cy="300082"/>
          </a:xfrm>
          <a:prstGeom prst="rect">
            <a:avLst/>
          </a:prstGeom>
          <a:noFill/>
        </p:spPr>
        <p:txBody>
          <a:bodyPr wrap="none" rtlCol="0">
            <a:spAutoFit/>
          </a:bodyPr>
          <a:lstStyle/>
          <a:p>
            <a:r>
              <a:rPr lang="en-US" b="1" dirty="0">
                <a:solidFill>
                  <a:srgbClr val="C00000"/>
                </a:solidFill>
              </a:rPr>
              <a:t>Identical inequality </a:t>
            </a:r>
            <a:r>
              <a:rPr lang="en-US" b="1" dirty="0" err="1">
                <a:solidFill>
                  <a:srgbClr val="C00000"/>
                </a:solidFill>
              </a:rPr>
              <a:t>w.r.t.</a:t>
            </a:r>
            <a:r>
              <a:rPr lang="en-US" b="1" dirty="0">
                <a:solidFill>
                  <a:srgbClr val="C00000"/>
                </a:solidFill>
              </a:rPr>
              <a:t> system channels</a:t>
            </a:r>
            <a:endParaRPr lang="en-NL" b="1" dirty="0">
              <a:solidFill>
                <a:srgbClr val="C00000"/>
              </a:solidFill>
            </a:endParaRPr>
          </a:p>
        </p:txBody>
      </p:sp>
    </p:spTree>
    <p:extLst>
      <p:ext uri="{BB962C8B-B14F-4D97-AF65-F5344CB8AC3E}">
        <p14:creationId xmlns:p14="http://schemas.microsoft.com/office/powerpoint/2010/main" val="1900818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6"/>
                                        </p:tgtEl>
                                        <p:attrNameLst>
                                          <p:attrName>style.visibility</p:attrName>
                                        </p:attrNameLst>
                                      </p:cBhvr>
                                      <p:to>
                                        <p:strVal val="visible"/>
                                      </p:to>
                                    </p:set>
                                  </p:childTnLst>
                                </p:cTn>
                              </p:par>
                              <p:par>
                                <p:cTn id="27" presetID="1" presetClass="exit"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xit"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hidden"/>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000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00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00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00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0021"/>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003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animEffect transition="in" filter="fade">
                                      <p:cBhvr>
                                        <p:cTn id="78" dur="600"/>
                                        <p:tgtEl>
                                          <p:spTgt spid="10008"/>
                                        </p:tgtEl>
                                      </p:cBhvr>
                                    </p:animEffect>
                                    <p:set>
                                      <p:cBhvr>
                                        <p:cTn id="79" dur="1" fill="hold">
                                          <p:stCondLst>
                                            <p:cond delay="0"/>
                                          </p:stCondLst>
                                        </p:cTn>
                                        <p:tgtEl>
                                          <p:spTgt spid="10008"/>
                                        </p:tgtEl>
                                        <p:attrNameLst>
                                          <p:attrName>style.visibility</p:attrName>
                                        </p:attrNameLst>
                                      </p:cBhvr>
                                      <p:to>
                                        <p:strVal val="visible"/>
                                      </p:to>
                                    </p:set>
                                  </p:childTnLst>
                                </p:cTn>
                              </p:par>
                              <p:par>
                                <p:cTn id="80" presetID="10" presetClass="exit" presetSubtype="0" fill="hold" nodeType="withEffect">
                                  <p:stCondLst>
                                    <p:cond delay="0"/>
                                  </p:stCondLst>
                                  <p:childTnLst>
                                    <p:animEffect transition="out" filter="fade">
                                      <p:cBhvr>
                                        <p:cTn id="81" dur="600"/>
                                        <p:tgtEl>
                                          <p:spTgt spid="10032"/>
                                        </p:tgtEl>
                                      </p:cBhvr>
                                    </p:animEffect>
                                    <p:set>
                                      <p:cBhvr>
                                        <p:cTn id="82" dur="1" fill="hold">
                                          <p:stCondLst>
                                            <p:cond delay="599"/>
                                          </p:stCondLst>
                                        </p:cTn>
                                        <p:tgtEl>
                                          <p:spTgt spid="10032"/>
                                        </p:tgtEl>
                                        <p:attrNameLst>
                                          <p:attrName>style.visibility</p:attrName>
                                        </p:attrNameLst>
                                      </p:cBhvr>
                                      <p:to>
                                        <p:strVal val="hidden"/>
                                      </p:to>
                                    </p:set>
                                  </p:childTnLst>
                                </p:cTn>
                              </p:par>
                              <p:par>
                                <p:cTn id="83" presetID="10" presetClass="entr" presetSubtype="0" fill="hold" nodeType="withEffect">
                                  <p:stCondLst>
                                    <p:cond delay="0"/>
                                  </p:stCondLst>
                                  <p:childTnLst>
                                    <p:animEffect transition="in" filter="fade">
                                      <p:cBhvr>
                                        <p:cTn id="84" dur="600"/>
                                        <p:tgtEl>
                                          <p:spTgt spid="10002"/>
                                        </p:tgtEl>
                                      </p:cBhvr>
                                    </p:animEffect>
                                    <p:set>
                                      <p:cBhvr>
                                        <p:cTn id="85" dur="1" fill="hold">
                                          <p:stCondLst>
                                            <p:cond delay="0"/>
                                          </p:stCondLst>
                                        </p:cTn>
                                        <p:tgtEl>
                                          <p:spTgt spid="10002"/>
                                        </p:tgtEl>
                                        <p:attrNameLst>
                                          <p:attrName>style.visibility</p:attrName>
                                        </p:attrNameLst>
                                      </p:cBhvr>
                                      <p:to>
                                        <p:strVal val="visible"/>
                                      </p:to>
                                    </p:set>
                                  </p:childTnLst>
                                </p:cTn>
                              </p:par>
                              <p:par>
                                <p:cTn id="86" presetID="10" presetClass="exit" presetSubtype="0" fill="hold" nodeType="withEffect">
                                  <p:stCondLst>
                                    <p:cond delay="0"/>
                                  </p:stCondLst>
                                  <p:childTnLst>
                                    <p:animEffect transition="out" filter="fade">
                                      <p:cBhvr>
                                        <p:cTn id="87" dur="600"/>
                                        <p:tgtEl>
                                          <p:spTgt spid="10021"/>
                                        </p:tgtEl>
                                      </p:cBhvr>
                                    </p:animEffect>
                                    <p:set>
                                      <p:cBhvr>
                                        <p:cTn id="88" dur="1" fill="hold">
                                          <p:stCondLst>
                                            <p:cond delay="599"/>
                                          </p:stCondLst>
                                        </p:cTn>
                                        <p:tgtEl>
                                          <p:spTgt spid="10021"/>
                                        </p:tgtEl>
                                        <p:attrNameLst>
                                          <p:attrName>style.visibility</p:attrName>
                                        </p:attrNameLst>
                                      </p:cBhvr>
                                      <p:to>
                                        <p:strVal val="hidden"/>
                                      </p:to>
                                    </p:set>
                                  </p:childTnLst>
                                </p:cTn>
                              </p:par>
                            </p:childTnLst>
                          </p:cTn>
                        </p:par>
                        <p:par>
                          <p:cTn id="89" fill="hold">
                            <p:stCondLst>
                              <p:cond delay="600"/>
                            </p:stCondLst>
                            <p:childTnLst>
                              <p:par>
                                <p:cTn id="90" presetID="1" presetClass="entr" presetSubtype="0" fill="hold" grpId="1" nodeType="afterEffect">
                                  <p:stCondLst>
                                    <p:cond delay="0"/>
                                  </p:stCondLst>
                                  <p:childTnLst>
                                    <p:set>
                                      <p:cBhvr>
                                        <p:cTn id="91" dur="1" fill="hold">
                                          <p:stCondLst>
                                            <p:cond delay="0"/>
                                          </p:stCondLst>
                                        </p:cTn>
                                        <p:tgtEl>
                                          <p:spTgt spid="10003"/>
                                        </p:tgtEl>
                                        <p:attrNameLst>
                                          <p:attrName>style.visibility</p:attrName>
                                        </p:attrNameLst>
                                      </p:cBhvr>
                                      <p:to>
                                        <p:strVal val="visible"/>
                                      </p:to>
                                    </p:set>
                                  </p:childTnLst>
                                </p:cTn>
                              </p:par>
                            </p:childTnLst>
                          </p:cTn>
                        </p:par>
                        <p:par>
                          <p:cTn id="92" fill="hold">
                            <p:stCondLst>
                              <p:cond delay="600"/>
                            </p:stCondLst>
                            <p:childTnLst>
                              <p:par>
                                <p:cTn id="93" presetID="1" presetClass="entr" presetSubtype="0" fill="hold" grpId="1" nodeType="afterEffect">
                                  <p:stCondLst>
                                    <p:cond delay="0"/>
                                  </p:stCondLst>
                                  <p:childTnLst>
                                    <p:set>
                                      <p:cBhvr>
                                        <p:cTn id="94" dur="1" fill="hold">
                                          <p:stCondLst>
                                            <p:cond delay="0"/>
                                          </p:stCondLst>
                                        </p:cTn>
                                        <p:tgtEl>
                                          <p:spTgt spid="1000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1" nodeType="clickEffect">
                                  <p:stCondLst>
                                    <p:cond delay="0"/>
                                  </p:stCondLst>
                                  <p:childTnLst>
                                    <p:set>
                                      <p:cBhvr>
                                        <p:cTn id="98" dur="1" fill="hold">
                                          <p:stCondLst>
                                            <p:cond delay="0"/>
                                          </p:stCondLst>
                                        </p:cTn>
                                        <p:tgtEl>
                                          <p:spTgt spid="10004"/>
                                        </p:tgtEl>
                                        <p:attrNameLst>
                                          <p:attrName>style.visibility</p:attrName>
                                        </p:attrNameLst>
                                      </p:cBhvr>
                                      <p:to>
                                        <p:strVal val="visible"/>
                                      </p:to>
                                    </p:set>
                                  </p:childTnLst>
                                </p:cTn>
                              </p:par>
                              <p:par>
                                <p:cTn id="99" presetID="1" presetClass="entr" presetSubtype="0" fill="hold" grpId="1" nodeType="withEffect">
                                  <p:stCondLst>
                                    <p:cond delay="0"/>
                                  </p:stCondLst>
                                  <p:childTnLst>
                                    <p:set>
                                      <p:cBhvr>
                                        <p:cTn id="100" dur="1" fill="hold">
                                          <p:stCondLst>
                                            <p:cond delay="0"/>
                                          </p:stCondLst>
                                        </p:cTn>
                                        <p:tgtEl>
                                          <p:spTgt spid="10010"/>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42" presetClass="path" presetSubtype="0" accel="50000" decel="50000" fill="hold" grpId="0" nodeType="clickEffect">
                                  <p:stCondLst>
                                    <p:cond delay="0"/>
                                  </p:stCondLst>
                                  <p:childTnLst>
                                    <p:animMotion origin="layout" path="M 1.11111E-6 3.45679E-6 L 1.11111E-6 -0.13673 " pathEditMode="relative" rAng="0" ptsTypes="AA">
                                      <p:cBhvr>
                                        <p:cTn id="104" dur="500" fill="hold"/>
                                        <p:tgtEl>
                                          <p:spTgt spid="10004"/>
                                        </p:tgtEl>
                                        <p:attrNameLst>
                                          <p:attrName>ppt_x</p:attrName>
                                          <p:attrName>ppt_y</p:attrName>
                                        </p:attrNameLst>
                                      </p:cBhvr>
                                      <p:rCtr x="0" y="-6852"/>
                                    </p:animMotion>
                                  </p:childTnLst>
                                </p:cTn>
                              </p:par>
                              <p:par>
                                <p:cTn id="105" presetID="42" presetClass="path" presetSubtype="0" accel="50000" decel="50000" fill="hold" grpId="0" nodeType="withEffect">
                                  <p:stCondLst>
                                    <p:cond delay="0"/>
                                  </p:stCondLst>
                                  <p:childTnLst>
                                    <p:animMotion origin="layout" path="M -1.11111E-6 3.7037E-6 L -1.11111E-6 -0.12068 " pathEditMode="relative" rAng="0" ptsTypes="AA">
                                      <p:cBhvr>
                                        <p:cTn id="106" dur="500" fill="hold"/>
                                        <p:tgtEl>
                                          <p:spTgt spid="10010"/>
                                        </p:tgtEl>
                                        <p:attrNameLst>
                                          <p:attrName>ppt_x</p:attrName>
                                          <p:attrName>ppt_y</p:attrName>
                                        </p:attrNameLst>
                                      </p:cBhvr>
                                      <p:rCtr x="0" y="-6049"/>
                                    </p:animMotion>
                                  </p:childTnLst>
                                </p:cTn>
                              </p:par>
                              <p:par>
                                <p:cTn id="107" presetID="1" presetClass="exit" presetSubtype="0" fill="hold" grpId="0" nodeType="withEffect">
                                  <p:stCondLst>
                                    <p:cond delay="0"/>
                                  </p:stCondLst>
                                  <p:childTnLst>
                                    <p:set>
                                      <p:cBhvr>
                                        <p:cTn id="108" dur="1" fill="hold">
                                          <p:stCondLst>
                                            <p:cond delay="0"/>
                                          </p:stCondLst>
                                        </p:cTn>
                                        <p:tgtEl>
                                          <p:spTgt spid="10002"/>
                                        </p:tgtEl>
                                        <p:attrNameLst>
                                          <p:attrName>style.visibility</p:attrName>
                                        </p:attrNameLst>
                                      </p:cBhvr>
                                      <p:to>
                                        <p:strVal val="hidden"/>
                                      </p:to>
                                    </p:set>
                                  </p:childTnLst>
                                </p:cTn>
                              </p:par>
                              <p:par>
                                <p:cTn id="109" presetID="1" presetClass="exit" presetSubtype="0" fill="hold" grpId="0" nodeType="withEffect">
                                  <p:stCondLst>
                                    <p:cond delay="0"/>
                                  </p:stCondLst>
                                  <p:childTnLst>
                                    <p:set>
                                      <p:cBhvr>
                                        <p:cTn id="110" dur="1" fill="hold">
                                          <p:stCondLst>
                                            <p:cond delay="0"/>
                                          </p:stCondLst>
                                        </p:cTn>
                                        <p:tgtEl>
                                          <p:spTgt spid="10008"/>
                                        </p:tgtEl>
                                        <p:attrNameLst>
                                          <p:attrName>style.visibility</p:attrName>
                                        </p:attrNameLst>
                                      </p:cBhvr>
                                      <p:to>
                                        <p:strVal val="hidden"/>
                                      </p:to>
                                    </p:set>
                                  </p:childTnLst>
                                </p:cTn>
                              </p:par>
                              <p:par>
                                <p:cTn id="111" presetID="1" presetClass="exit" presetSubtype="0" fill="hold" grpId="0" nodeType="withEffect">
                                  <p:stCondLst>
                                    <p:cond delay="0"/>
                                  </p:stCondLst>
                                  <p:childTnLst>
                                    <p:set>
                                      <p:cBhvr>
                                        <p:cTn id="112" dur="1" fill="hold">
                                          <p:stCondLst>
                                            <p:cond delay="0"/>
                                          </p:stCondLst>
                                        </p:cTn>
                                        <p:tgtEl>
                                          <p:spTgt spid="10003"/>
                                        </p:tgtEl>
                                        <p:attrNameLst>
                                          <p:attrName>style.visibility</p:attrName>
                                        </p:attrNameLst>
                                      </p:cBhvr>
                                      <p:to>
                                        <p:strVal val="hidden"/>
                                      </p:to>
                                    </p:set>
                                  </p:childTnLst>
                                </p:cTn>
                              </p:par>
                              <p:par>
                                <p:cTn id="113" presetID="1" presetClass="exit" presetSubtype="0" fill="hold" grpId="0" nodeType="withEffect">
                                  <p:stCondLst>
                                    <p:cond delay="0"/>
                                  </p:stCondLst>
                                  <p:childTnLst>
                                    <p:set>
                                      <p:cBhvr>
                                        <p:cTn id="114" dur="1" fill="hold">
                                          <p:stCondLst>
                                            <p:cond delay="0"/>
                                          </p:stCondLst>
                                        </p:cTn>
                                        <p:tgtEl>
                                          <p:spTgt spid="10009"/>
                                        </p:tgtEl>
                                        <p:attrNameLst>
                                          <p:attrName>style.visibility</p:attrName>
                                        </p:attrNameLst>
                                      </p:cBhvr>
                                      <p:to>
                                        <p:strVal val="hidden"/>
                                      </p:to>
                                    </p:set>
                                  </p:childTnLst>
                                </p:cTn>
                              </p:par>
                              <p:par>
                                <p:cTn id="115" presetID="10" presetClass="entr" presetSubtype="0" fill="hold" nodeType="withEffect">
                                  <p:stCondLst>
                                    <p:cond delay="550"/>
                                  </p:stCondLst>
                                  <p:childTnLst>
                                    <p:set>
                                      <p:cBhvr>
                                        <p:cTn id="116" dur="1" fill="hold">
                                          <p:stCondLst>
                                            <p:cond delay="0"/>
                                          </p:stCondLst>
                                        </p:cTn>
                                        <p:tgtEl>
                                          <p:spTgt spid="10033"/>
                                        </p:tgtEl>
                                        <p:attrNameLst>
                                          <p:attrName>style.visibility</p:attrName>
                                        </p:attrNameLst>
                                      </p:cBhvr>
                                      <p:to>
                                        <p:strVal val="visible"/>
                                      </p:to>
                                    </p:set>
                                    <p:animEffect transition="in" filter="fade">
                                      <p:cBhvr>
                                        <p:cTn id="117" dur="350"/>
                                        <p:tgtEl>
                                          <p:spTgt spid="10033"/>
                                        </p:tgtEl>
                                      </p:cBhvr>
                                    </p:animEffect>
                                  </p:childTnLst>
                                </p:cTn>
                              </p:par>
                              <p:par>
                                <p:cTn id="118" presetID="10" presetClass="entr" presetSubtype="0" fill="hold" nodeType="withEffect">
                                  <p:stCondLst>
                                    <p:cond delay="550"/>
                                  </p:stCondLst>
                                  <p:childTnLst>
                                    <p:set>
                                      <p:cBhvr>
                                        <p:cTn id="119" dur="1" fill="hold">
                                          <p:stCondLst>
                                            <p:cond delay="0"/>
                                          </p:stCondLst>
                                        </p:cTn>
                                        <p:tgtEl>
                                          <p:spTgt spid="10034"/>
                                        </p:tgtEl>
                                        <p:attrNameLst>
                                          <p:attrName>style.visibility</p:attrName>
                                        </p:attrNameLst>
                                      </p:cBhvr>
                                      <p:to>
                                        <p:strVal val="visible"/>
                                      </p:to>
                                    </p:set>
                                    <p:animEffect transition="in" filter="fade">
                                      <p:cBhvr>
                                        <p:cTn id="120" dur="350"/>
                                        <p:tgtEl>
                                          <p:spTgt spid="10034"/>
                                        </p:tgtEl>
                                      </p:cBhvr>
                                    </p:animEffect>
                                  </p:childTnLst>
                                </p:cTn>
                              </p:par>
                              <p:par>
                                <p:cTn id="121" presetID="1" presetClass="entr" presetSubtype="0" fill="hold" grpId="0" nodeType="withEffect">
                                  <p:stCondLst>
                                    <p:cond delay="550"/>
                                  </p:stCondLst>
                                  <p:childTnLst>
                                    <p:set>
                                      <p:cBhvr>
                                        <p:cTn id="1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7" grpId="0" animBg="1"/>
      <p:bldP spid="56" grpId="0" animBg="1"/>
      <p:bldP spid="63" grpId="0" animBg="1"/>
      <p:bldP spid="192" grpId="0" animBg="1"/>
      <p:bldP spid="193" grpId="0" animBg="1"/>
      <p:bldP spid="194" grpId="0"/>
      <p:bldP spid="195" grpId="0" animBg="1"/>
      <p:bldP spid="196" grpId="0" animBg="1"/>
      <p:bldP spid="197" grpId="0" animBg="1"/>
      <p:bldP spid="198" grpId="0" animBg="1"/>
      <p:bldP spid="11" grpId="0"/>
      <p:bldP spid="12" grpId="0"/>
      <p:bldP spid="14" grpId="0"/>
      <p:bldP spid="18" grpId="0"/>
      <p:bldP spid="23" grpId="0" animBg="1"/>
      <p:bldP spid="27" grpId="0" animBg="1"/>
      <p:bldP spid="28" grpId="0" animBg="1"/>
      <p:bldP spid="29" grpId="0" animBg="1"/>
      <p:bldP spid="30" grpId="0"/>
      <p:bldP spid="31" grpId="0" animBg="1"/>
      <p:bldP spid="32" grpId="0" animBg="1"/>
      <p:bldP spid="33" grpId="0" animBg="1"/>
      <p:bldP spid="34" grpId="0" animBg="1"/>
      <p:bldP spid="37" grpId="0"/>
      <p:bldP spid="38" grpId="0"/>
      <p:bldP spid="10001" grpId="0"/>
      <p:bldP spid="10002" grpId="0"/>
      <p:bldP spid="10002" grpId="1"/>
      <p:bldP spid="10003" grpId="0"/>
      <p:bldP spid="10003" grpId="1"/>
      <p:bldP spid="10004" grpId="0"/>
      <p:bldP spid="10004" grpId="1"/>
      <p:bldP spid="10005" grpId="0"/>
      <p:bldP spid="10006" grpId="0"/>
      <p:bldP spid="10007" grpId="0"/>
      <p:bldP spid="10008" grpId="0"/>
      <p:bldP spid="10008" grpId="1"/>
      <p:bldP spid="10009" grpId="0"/>
      <p:bldP spid="10009" grpId="1"/>
      <p:bldP spid="10010" grpId="0"/>
      <p:bldP spid="10010" grpId="1"/>
      <p:bldP spid="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CB5AF-977E-FD18-4BF0-238F4A3C54D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32728EC-375A-02AA-6ACB-8B562A5DDA85}"/>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450EC25E-87BB-2EDD-DD26-9411991B889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mc:AlternateContent xmlns:mc="http://schemas.openxmlformats.org/markup-compatibility/2006" xmlns:a14="http://schemas.microsoft.com/office/drawing/2010/main">
        <mc:Choice Requires="a14">
          <p:sp>
            <p:nvSpPr>
              <p:cNvPr id="10001" name="!!Primal filter matrix">
                <a:extLst>
                  <a:ext uri="{FF2B5EF4-FFF2-40B4-BE49-F238E27FC236}">
                    <a16:creationId xmlns:a16="http://schemas.microsoft.com/office/drawing/2014/main" id="{F8BE90C6-38B9-5BE0-A2C7-779672B605A9}"/>
                  </a:ext>
                </a:extLst>
              </p:cNvPr>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600" b="0" i="1" smtClean="0">
                          <a:solidFill>
                            <a:srgbClr val="252529"/>
                          </a:solidFill>
                          <a:latin typeface="Cambria Math" panose="02040503050406030204" pitchFamily="18" charset="0"/>
                        </a:rPr>
                        <m:t>Θ</m:t>
                      </m: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r>
                                  <a:rPr lang="en-US" sz="1600" b="0" i="1" smtClean="0">
                                    <a:solidFill>
                                      <a:srgbClr val="252529"/>
                                    </a:solidFill>
                                    <a:latin typeface="Cambria Math" panose="02040503050406030204" pitchFamily="18" charset="0"/>
                                  </a:rPr>
                                  <m:t>𝐾</m:t>
                                </m:r>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1" name="!!Primal filter matrix">
                <a:extLst>
                  <a:ext uri="{FF2B5EF4-FFF2-40B4-BE49-F238E27FC236}">
                    <a16:creationId xmlns:a16="http://schemas.microsoft.com/office/drawing/2014/main" id="{F8BE90C6-38B9-5BE0-A2C7-779672B605A9}"/>
                  </a:ext>
                </a:extLst>
              </p:cNvPr>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a:extLst>
                  <a:ext uri="{FF2B5EF4-FFF2-40B4-BE49-F238E27FC236}">
                    <a16:creationId xmlns:a16="http://schemas.microsoft.com/office/drawing/2014/main" id="{F8CA6A30-5EF2-E93D-C77D-B370C9FFD794}"/>
                  </a:ext>
                </a:extLst>
              </p:cNvPr>
              <p:cNvSpPr/>
              <p:nvPr/>
            </p:nvSpPr>
            <p:spPr>
              <a:xfrm>
                <a:off x="444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a:extLst>
                  <a:ext uri="{FF2B5EF4-FFF2-40B4-BE49-F238E27FC236}">
                    <a16:creationId xmlns:a16="http://schemas.microsoft.com/office/drawing/2014/main" id="{F8CA6A30-5EF2-E93D-C77D-B370C9FFD794}"/>
                  </a:ext>
                </a:extLst>
              </p:cNvPr>
              <p:cNvSpPr>
                <a:spLocks noRot="1" noChangeAspect="1" noMove="1" noResize="1" noEditPoints="1" noAdjustHandles="1" noChangeArrowheads="1" noChangeShapeType="1" noTextEdit="1"/>
              </p:cNvSpPr>
              <p:nvPr/>
            </p:nvSpPr>
            <p:spPr>
              <a:xfrm>
                <a:off x="444500" y="3522790"/>
                <a:ext cx="3937000" cy="6400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a:extLst>
                  <a:ext uri="{FF2B5EF4-FFF2-40B4-BE49-F238E27FC236}">
                    <a16:creationId xmlns:a16="http://schemas.microsoft.com/office/drawing/2014/main" id="{A7C94E3B-7145-BB9E-73C9-FB0B02A93982}"/>
                  </a:ext>
                </a:extLst>
              </p:cNvPr>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600" b="0" i="1" smtClean="0">
                              <a:solidFill>
                                <a:srgbClr val="252529"/>
                              </a:solidFill>
                              <a:latin typeface="Cambria Math" panose="02040503050406030204" pitchFamily="18" charset="0"/>
                            </a:rPr>
                          </m:ctrlPr>
                        </m:barPr>
                        <m:e>
                          <m:r>
                            <m:rPr>
                              <m:sty m:val="p"/>
                            </m:rPr>
                            <a:rPr lang="en-US" sz="1600" b="0" i="1" smtClean="0">
                              <a:solidFill>
                                <a:srgbClr val="252529"/>
                              </a:solidFill>
                              <a:latin typeface="Cambria Math" panose="02040503050406030204" pitchFamily="18" charset="0"/>
                            </a:rPr>
                            <m:t>Θ</m:t>
                          </m:r>
                        </m:e>
                      </m:ba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sSup>
                                  <m:sSupPr>
                                    <m:ctrlPr>
                                      <a:rPr lang="en-US" sz="1600" b="0" i="1" smtClean="0">
                                        <a:solidFill>
                                          <a:srgbClr val="252529"/>
                                        </a:solidFill>
                                        <a:latin typeface="Cambria Math" panose="02040503050406030204" pitchFamily="18" charset="0"/>
                                      </a:rPr>
                                    </m:ctrlPr>
                                  </m:sSupPr>
                                  <m:e>
                                    <m:r>
                                      <a:rPr lang="en-US" sz="1600" b="0" i="1" smtClean="0">
                                        <a:solidFill>
                                          <a:srgbClr val="252529"/>
                                        </a:solidFill>
                                        <a:latin typeface="Cambria Math" panose="02040503050406030204" pitchFamily="18" charset="0"/>
                                      </a:rPr>
                                      <m:t>𝐾</m:t>
                                    </m:r>
                                  </m:e>
                                  <m:sup>
                                    <m:r>
                                      <a:rPr lang="en-US" sz="1600" b="0" i="1" smtClean="0">
                                        <a:solidFill>
                                          <a:srgbClr val="252529"/>
                                        </a:solidFill>
                                        <a:latin typeface="Cambria Math" panose="02040503050406030204" pitchFamily="18" charset="0"/>
                                      </a:rPr>
                                      <m:t>⊤</m:t>
                                    </m:r>
                                  </m:sup>
                                </m:sSup>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7" name="!!Dual filter matrix">
                <a:extLst>
                  <a:ext uri="{FF2B5EF4-FFF2-40B4-BE49-F238E27FC236}">
                    <a16:creationId xmlns:a16="http://schemas.microsoft.com/office/drawing/2014/main" id="{A7C94E3B-7145-BB9E-73C9-FB0B02A93982}"/>
                  </a:ext>
                </a:extLst>
              </p:cNvPr>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a:extLst>
                  <a:ext uri="{FF2B5EF4-FFF2-40B4-BE49-F238E27FC236}">
                    <a16:creationId xmlns:a16="http://schemas.microsoft.com/office/drawing/2014/main" id="{A14BACD2-F1BF-E183-1EBF-57EA7CC0AA54}"/>
                  </a:ext>
                </a:extLst>
              </p:cNvPr>
              <p:cNvSpPr/>
              <p:nvPr/>
            </p:nvSpPr>
            <p:spPr>
              <a:xfrm>
                <a:off x="4762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a:extLst>
                  <a:ext uri="{FF2B5EF4-FFF2-40B4-BE49-F238E27FC236}">
                    <a16:creationId xmlns:a16="http://schemas.microsoft.com/office/drawing/2014/main" id="{A14BACD2-F1BF-E183-1EBF-57EA7CC0AA54}"/>
                  </a:ext>
                </a:extLst>
              </p:cNvPr>
              <p:cNvSpPr>
                <a:spLocks noRot="1" noChangeAspect="1" noMove="1" noResize="1" noEditPoints="1" noAdjustHandles="1" noChangeArrowheads="1" noChangeShapeType="1" noTextEdit="1"/>
              </p:cNvSpPr>
              <p:nvPr/>
            </p:nvSpPr>
            <p:spPr>
              <a:xfrm>
                <a:off x="4762500" y="3522790"/>
                <a:ext cx="3937000" cy="640080"/>
              </a:xfrm>
              <a:prstGeom prst="rect">
                <a:avLst/>
              </a:prstGeom>
              <a:blipFill>
                <a:blip r:embed="rId6"/>
                <a:stretch>
                  <a:fillRect/>
                </a:stretch>
              </a:blipFill>
              <a:ln>
                <a:noFill/>
              </a:ln>
            </p:spPr>
            <p:txBody>
              <a:bodyPr/>
              <a:lstStyle/>
              <a:p>
                <a:r>
                  <a:rPr lang="en-NL">
                    <a:noFill/>
                  </a:rPr>
                  <a:t> </a:t>
                </a:r>
              </a:p>
            </p:txBody>
          </p:sp>
        </mc:Fallback>
      </mc:AlternateContent>
      <p:sp>
        <p:nvSpPr>
          <p:cNvPr id="7" name="Title 6">
            <a:extLst>
              <a:ext uri="{FF2B5EF4-FFF2-40B4-BE49-F238E27FC236}">
                <a16:creationId xmlns:a16="http://schemas.microsoft.com/office/drawing/2014/main" id="{F53BE328-8567-15FC-D747-E2459C6D0AF0}"/>
              </a:ext>
            </a:extLst>
          </p:cNvPr>
          <p:cNvSpPr>
            <a:spLocks noGrp="1"/>
          </p:cNvSpPr>
          <p:nvPr>
            <p:ph type="title"/>
          </p:nvPr>
        </p:nvSpPr>
        <p:spPr/>
        <p:txBody>
          <a:bodyPr/>
          <a:lstStyle/>
          <a:p>
            <a:endParaRPr lang="en-NL"/>
          </a:p>
        </p:txBody>
      </p:sp>
    </p:spTree>
    <p:extLst>
      <p:ext uri="{BB962C8B-B14F-4D97-AF65-F5344CB8AC3E}">
        <p14:creationId xmlns:p14="http://schemas.microsoft.com/office/powerpoint/2010/main" val="268934735"/>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217DA-D721-362D-28B5-D2DB7978A41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83D6E3C-93A0-24B5-6F3C-44792FCDF473}"/>
                  </a:ext>
                </a:extLst>
              </p:cNvPr>
              <p:cNvSpPr>
                <a:spLocks noGrp="1"/>
              </p:cNvSpPr>
              <p:nvPr>
                <p:ph type="title"/>
              </p:nvPr>
            </p:nvSpPr>
            <p:spPr/>
            <p:txBody>
              <a:bodyPr/>
              <a:lstStyle/>
              <a:p>
                <a:r>
                  <a:rPr lang="en-US" dirty="0"/>
                  <a:t>Can we transpose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r>
                  <a:rPr lang="en-US" dirty="0"/>
                  <a:t>?</a:t>
                </a:r>
                <a:endParaRPr lang="en-NL" dirty="0"/>
              </a:p>
            </p:txBody>
          </p:sp>
        </mc:Choice>
        <mc:Fallback xmlns="" xmlns:m="http://schemas.openxmlformats.org/officeDocument/2006/math">
          <p:sp>
            <p:nvSpPr>
              <p:cNvPr id="2" name="Title 1">
                <a:extLst>
                  <a:ext uri="{FF2B5EF4-FFF2-40B4-BE49-F238E27FC236}">
                    <a16:creationId xmlns:a16="http://schemas.microsoft.com/office/drawing/2014/main" id="{483D6E3C-93A0-24B5-6F3C-44792FCDF473}"/>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46AC66BC-99AA-E67F-18F4-29D3D83159C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AD8DE038-EC54-3C73-24CC-0C09218CEF97}"/>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p:sp>
        <p:nvSpPr>
          <p:cNvPr id="11001" name="Original filter heading"/>
          <p:cNvSpPr/>
          <p:nvPr/>
        </p:nvSpPr>
        <p:spPr>
          <a:xfrm>
            <a:off x="7620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Original filter</a:t>
            </a:r>
            <a:endParaRPr sz="1400"/>
          </a:p>
        </p:txBody>
      </p:sp>
      <p:sp>
        <p:nvSpPr>
          <p:cNvPr id="11002" name="Dual filter heading"/>
          <p:cNvSpPr/>
          <p:nvPr/>
        </p:nvSpPr>
        <p:spPr>
          <a:xfrm>
            <a:off x="50800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Required dual filter</a:t>
            </a:r>
            <a:endParaRPr sz="1400"/>
          </a:p>
        </p:txBody>
      </p:sp>
      <mc:AlternateContent xmlns:mc="http://schemas.openxmlformats.org/markup-compatibility/2006" xmlns:a14="http://schemas.microsoft.com/office/drawing/2010/main">
        <mc:Choice Requires="a14">
          <p:sp>
            <p:nvSpPr>
              <p:cNvPr id="11003" name="!!Primal filter matrix">
                <a:extLst>
                  <a:ext uri="{FF2B5EF4-FFF2-40B4-BE49-F238E27FC236}">
                    <a16:creationId xmlns:a16="http://schemas.microsoft.com/office/drawing/2014/main" id="{F8BE90C6-38B9-5BE0-A2C7-779672B605A9}"/>
                  </a:ext>
                </a:extLst>
              </p:cNvPr>
              <p:cNvSpPr/>
              <p:nvPr/>
            </p:nvSpPr>
            <p:spPr>
              <a:xfrm>
                <a:off x="444500" y="12852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600" b="0" i="1" smtClean="0">
                          <a:solidFill>
                            <a:srgbClr val="252529"/>
                          </a:solidFill>
                          <a:latin typeface="Cambria Math" panose="02040503050406030204" pitchFamily="18" charset="0"/>
                        </a:rPr>
                        <m:t>Θ</m:t>
                      </m: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r>
                                  <a:rPr lang="en-US" sz="1600" b="0" i="1" smtClean="0">
                                    <a:solidFill>
                                      <a:srgbClr val="252529"/>
                                    </a:solidFill>
                                    <a:latin typeface="Cambria Math" panose="02040503050406030204" pitchFamily="18" charset="0"/>
                                  </a:rPr>
                                  <m:t>𝐾</m:t>
                                </m:r>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xmlns:m="http://schemas.openxmlformats.org/officeDocument/2006/math">
          <p:sp>
            <p:nvSpPr>
              <p:cNvPr id="11003" name="!!Primal filter matrix">
                <a:extLst>
                  <a:ext uri="{FF2B5EF4-FFF2-40B4-BE49-F238E27FC236}">
                    <a16:creationId xmlns:a16="http://schemas.microsoft.com/office/drawing/2014/main" id="{F8BE90C6-38B9-5BE0-A2C7-779672B605A9}"/>
                  </a:ext>
                </a:extLst>
              </p:cNvPr>
              <p:cNvSpPr>
                <a:spLocks noRot="1" noChangeAspect="1" noMove="1" noResize="1" noEditPoints="1" noAdjustHandles="1" noChangeArrowheads="1" noChangeShapeType="1" noTextEdit="1"/>
              </p:cNvSpPr>
              <p:nvPr/>
            </p:nvSpPr>
            <p:spPr>
              <a:xfrm>
                <a:off x="444500" y="1285240"/>
                <a:ext cx="3937000" cy="6045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04" name="!!Dual filter matrix">
                <a:extLst>
                  <a:ext uri="{FF2B5EF4-FFF2-40B4-BE49-F238E27FC236}">
                    <a16:creationId xmlns:a16="http://schemas.microsoft.com/office/drawing/2014/main" id="{A7C94E3B-7145-BB9E-73C9-FB0B02A93982}"/>
                  </a:ext>
                </a:extLst>
              </p:cNvPr>
              <p:cNvSpPr/>
              <p:nvPr/>
            </p:nvSpPr>
            <p:spPr>
              <a:xfrm>
                <a:off x="4762500" y="12852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600" b="0" i="1" smtClean="0">
                              <a:solidFill>
                                <a:srgbClr val="252529"/>
                              </a:solidFill>
                              <a:latin typeface="Cambria Math" panose="02040503050406030204" pitchFamily="18" charset="0"/>
                            </a:rPr>
                          </m:ctrlPr>
                        </m:barPr>
                        <m:e>
                          <m:r>
                            <m:rPr>
                              <m:sty m:val="p"/>
                            </m:rPr>
                            <a:rPr lang="en-US" sz="1600" b="0" i="1" smtClean="0">
                              <a:solidFill>
                                <a:srgbClr val="252529"/>
                              </a:solidFill>
                              <a:latin typeface="Cambria Math" panose="02040503050406030204" pitchFamily="18" charset="0"/>
                            </a:rPr>
                            <m:t>Θ</m:t>
                          </m:r>
                        </m:e>
                      </m:ba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sSup>
                                  <m:sSupPr>
                                    <m:ctrlPr>
                                      <a:rPr lang="en-US" sz="1600" b="0" i="1" smtClean="0">
                                        <a:solidFill>
                                          <a:srgbClr val="252529"/>
                                        </a:solidFill>
                                        <a:latin typeface="Cambria Math" panose="02040503050406030204" pitchFamily="18" charset="0"/>
                                      </a:rPr>
                                    </m:ctrlPr>
                                  </m:sSupPr>
                                  <m:e>
                                    <m:r>
                                      <a:rPr lang="en-US" sz="1600" b="0" i="1" smtClean="0">
                                        <a:solidFill>
                                          <a:srgbClr val="252529"/>
                                        </a:solidFill>
                                        <a:latin typeface="Cambria Math" panose="02040503050406030204" pitchFamily="18" charset="0"/>
                                      </a:rPr>
                                      <m:t>𝐾</m:t>
                                    </m:r>
                                  </m:e>
                                  <m:sup>
                                    <m:r>
                                      <a:rPr lang="en-US" sz="1600" b="0" i="1" smtClean="0">
                                        <a:solidFill>
                                          <a:srgbClr val="252529"/>
                                        </a:solidFill>
                                        <a:latin typeface="Cambria Math" panose="02040503050406030204" pitchFamily="18" charset="0"/>
                                      </a:rPr>
                                      <m:t>⊤</m:t>
                                    </m:r>
                                  </m:sup>
                                </m:sSup>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xmlns:m="http://schemas.openxmlformats.org/officeDocument/2006/math">
          <p:sp>
            <p:nvSpPr>
              <p:cNvPr id="11004" name="!!Dual filter matrix">
                <a:extLst>
                  <a:ext uri="{FF2B5EF4-FFF2-40B4-BE49-F238E27FC236}">
                    <a16:creationId xmlns:a16="http://schemas.microsoft.com/office/drawing/2014/main" id="{A7C94E3B-7145-BB9E-73C9-FB0B02A93982}"/>
                  </a:ext>
                </a:extLst>
              </p:cNvPr>
              <p:cNvSpPr>
                <a:spLocks noRot="1" noChangeAspect="1" noMove="1" noResize="1" noEditPoints="1" noAdjustHandles="1" noChangeArrowheads="1" noChangeShapeType="1" noTextEdit="1"/>
              </p:cNvSpPr>
              <p:nvPr/>
            </p:nvSpPr>
            <p:spPr>
              <a:xfrm>
                <a:off x="4762500" y="1285240"/>
                <a:ext cx="3937000" cy="6045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05" name="Transpose comparison"/>
              <p:cNvSpPr/>
              <p:nvPr/>
            </p:nvSpPr>
            <p:spPr>
              <a:xfrm>
                <a:off x="508000" y="2430780"/>
                <a:ext cx="8128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400">
                              <a:solidFill>
                                <a:srgbClr val="252529"/>
                              </a:solidFill>
                              <a:latin typeface="Cambria Math"/>
                            </a:rPr>
                          </m:ctrlPr>
                        </m:sSupPr>
                        <m:e>
                          <m:r>
                            <m:rPr>
                              <m:sty m:val="p"/>
                            </m:rPr>
                            <a:rPr sz="2400">
                              <a:solidFill>
                                <a:srgbClr val="252529"/>
                              </a:solidFill>
                              <a:latin typeface="Cambria Math"/>
                            </a:rPr>
                            <m:t>Θ</m:t>
                          </m:r>
                        </m:e>
                        <m:sup>
                          <m:r>
                            <a:rPr sz="2400">
                              <a:solidFill>
                                <a:srgbClr val="252529"/>
                              </a:solidFill>
                              <a:latin typeface="Cambria Math"/>
                            </a:rPr>
                            <m:t>⊤</m:t>
                          </m:r>
                        </m:sup>
                      </m:sSup>
                      <m:r>
                        <a:rPr sz="2400">
                          <a:solidFill>
                            <a:srgbClr val="252529"/>
                          </a:solidFill>
                          <a:latin typeface="Cambria Math"/>
                        </a:rPr>
                        <m:t>=</m:t>
                      </m:r>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a:rPr sz="2400">
                                    <a:solidFill>
                                      <a:srgbClr val="252529"/>
                                    </a:solidFill>
                                    <a:latin typeface="Cambria Math"/>
                                  </a:rPr>
                                  <m:t>𝐼</m:t>
                                </m:r>
                              </m:e>
                              <m:e>
                                <m:r>
                                  <a:rPr sz="2400">
                                    <a:solidFill>
                                      <a:srgbClr val="C81919"/>
                                    </a:solidFill>
                                    <a:latin typeface="Cambria Math"/>
                                  </a:rPr>
                                  <m:t>−</m:t>
                                </m:r>
                                <m:sSup>
                                  <m:sSupPr>
                                    <m:ctrlPr>
                                      <a:rPr sz="2400">
                                        <a:solidFill>
                                          <a:srgbClr val="C81919"/>
                                        </a:solidFill>
                                        <a:latin typeface="Cambria Math"/>
                                      </a:rPr>
                                    </m:ctrlPr>
                                  </m:sSupPr>
                                  <m:e>
                                    <m:r>
                                      <a:rPr sz="2400">
                                        <a:solidFill>
                                          <a:srgbClr val="C81919"/>
                                        </a:solidFill>
                                        <a:latin typeface="Cambria Math"/>
                                      </a:rPr>
                                      <m:t>𝐾</m:t>
                                    </m:r>
                                  </m:e>
                                  <m:sup>
                                    <m:r>
                                      <a:rPr sz="2400">
                                        <a:solidFill>
                                          <a:srgbClr val="C81919"/>
                                        </a:solidFill>
                                        <a:latin typeface="Cambria Math"/>
                                      </a:rPr>
                                      <m:t>⊤</m:t>
                                    </m:r>
                                  </m:sup>
                                </m:sSup>
                              </m:e>
                            </m:mr>
                            <m:mr>
                              <m:e>
                                <m:r>
                                  <a:rPr sz="2400">
                                    <a:solidFill>
                                      <a:srgbClr val="252529"/>
                                    </a:solidFill>
                                    <a:latin typeface="Cambria Math"/>
                                  </a:rPr>
                                  <m:t>0</m:t>
                                </m:r>
                              </m:e>
                              <m:e>
                                <m:r>
                                  <a:rPr sz="2400">
                                    <a:solidFill>
                                      <a:srgbClr val="252529"/>
                                    </a:solidFill>
                                    <a:latin typeface="Cambria Math"/>
                                  </a:rPr>
                                  <m:t>𝐼</m:t>
                                </m:r>
                              </m:e>
                            </m:mr>
                          </m:m>
                        </m:e>
                      </m:d>
                      <m:r>
                        <a:rPr sz="2400">
                          <a:solidFill>
                            <a:srgbClr val="252529"/>
                          </a:solidFill>
                          <a:latin typeface="Cambria Math"/>
                        </a:rPr>
                        <m:t>≠</m:t>
                      </m:r>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a:rPr sz="2400">
                                    <a:solidFill>
                                      <a:srgbClr val="252529"/>
                                    </a:solidFill>
                                    <a:latin typeface="Cambria Math"/>
                                  </a:rPr>
                                  <m:t>𝐼</m:t>
                                </m:r>
                              </m:e>
                              <m:e>
                                <m:r>
                                  <a:rPr sz="2400">
                                    <a:solidFill>
                                      <a:srgbClr val="252529"/>
                                    </a:solidFill>
                                    <a:latin typeface="Cambria Math"/>
                                  </a:rPr>
                                  <m:t>0</m:t>
                                </m:r>
                              </m:e>
                            </m:mr>
                            <m:mr>
                              <m:e>
                                <m:r>
                                  <a:rPr sz="2400">
                                    <a:solidFill>
                                      <a:srgbClr val="C81919"/>
                                    </a:solidFill>
                                    <a:latin typeface="Cambria Math"/>
                                  </a:rPr>
                                  <m:t>−</m:t>
                                </m:r>
                                <m:sSup>
                                  <m:sSupPr>
                                    <m:ctrlPr>
                                      <a:rPr sz="2400">
                                        <a:solidFill>
                                          <a:srgbClr val="C81919"/>
                                        </a:solidFill>
                                        <a:latin typeface="Cambria Math"/>
                                      </a:rPr>
                                    </m:ctrlPr>
                                  </m:sSupPr>
                                  <m:e>
                                    <m:r>
                                      <a:rPr sz="2400">
                                        <a:solidFill>
                                          <a:srgbClr val="C81919"/>
                                        </a:solidFill>
                                        <a:latin typeface="Cambria Math"/>
                                      </a:rPr>
                                      <m:t>𝐾</m:t>
                                    </m:r>
                                  </m:e>
                                  <m:sup>
                                    <m:r>
                                      <a:rPr sz="2400">
                                        <a:solidFill>
                                          <a:srgbClr val="C81919"/>
                                        </a:solidFill>
                                        <a:latin typeface="Cambria Math"/>
                                      </a:rPr>
                                      <m:t>⊤</m:t>
                                    </m:r>
                                  </m:sup>
                                </m:sSup>
                              </m:e>
                              <m:e>
                                <m:r>
                                  <a:rPr sz="2400">
                                    <a:solidFill>
                                      <a:srgbClr val="252529"/>
                                    </a:solidFill>
                                    <a:latin typeface="Cambria Math"/>
                                  </a:rPr>
                                  <m:t>𝐼</m:t>
                                </m:r>
                              </m:e>
                            </m:mr>
                          </m:m>
                        </m:e>
                      </m:d>
                      <m:r>
                        <a:rPr sz="2400">
                          <a:solidFill>
                            <a:srgbClr val="252529"/>
                          </a:solidFill>
                          <a:latin typeface="Cambria Math"/>
                        </a:rPr>
                        <m:t>=</m:t>
                      </m:r>
                      <m:bar>
                        <m:barPr>
                          <m:pos m:val="bot"/>
                          <m:ctrlPr>
                            <a:rPr sz="2400">
                              <a:solidFill>
                                <a:srgbClr val="252529"/>
                              </a:solidFill>
                              <a:latin typeface="Cambria Math"/>
                            </a:rPr>
                          </m:ctrlPr>
                        </m:barPr>
                        <m:e>
                          <m:r>
                            <m:rPr>
                              <m:sty m:val="p"/>
                            </m:rPr>
                            <a:rPr sz="2400">
                              <a:solidFill>
                                <a:srgbClr val="252529"/>
                              </a:solidFill>
                              <a:latin typeface="Cambria Math"/>
                            </a:rPr>
                            <m:t>Θ</m:t>
                          </m:r>
                        </m:e>
                      </m:bar>
                    </m:oMath>
                  </m:oMathPara>
                </a14:m>
                <a:endParaRPr sz="2400"/>
              </a:p>
            </p:txBody>
          </p:sp>
        </mc:Choice>
        <mc:Fallback xmlns="" xmlns:m="http://schemas.openxmlformats.org/officeDocument/2006/math">
          <p:sp>
            <p:nvSpPr>
              <p:cNvPr id="11005" name="Transpose comparison"/>
              <p:cNvSpPr>
                <a:spLocks noRot="1" noChangeAspect="1" noMove="1" noResize="1" noEditPoints="1" noAdjustHandles="1" noChangeArrowheads="1" noChangeShapeType="1" noTextEdit="1"/>
              </p:cNvSpPr>
              <p:nvPr/>
            </p:nvSpPr>
            <p:spPr>
              <a:xfrm>
                <a:off x="508000" y="2430780"/>
                <a:ext cx="8128000" cy="853440"/>
              </a:xfrm>
              <a:prstGeom prst="rect">
                <a:avLst/>
              </a:prstGeom>
              <a:blipFill>
                <a:blip r:embed="rId6"/>
                <a:stretch>
                  <a:fillRect/>
                </a:stretch>
              </a:blipFill>
              <a:ln>
                <a:noFill/>
              </a:ln>
            </p:spPr>
            <p:txBody>
              <a:bodyPr/>
              <a:lstStyle/>
              <a:p>
                <a:r>
                  <a:rPr lang="en-NL">
                    <a:noFill/>
                  </a:rPr>
                  <a:t> </a:t>
                </a:r>
              </a:p>
            </p:txBody>
          </p:sp>
        </mc:Fallback>
      </mc:AlternateContent>
      <p:sp>
        <p:nvSpPr>
          <p:cNvPr id="11006" name="Transpose explanation"/>
          <p:cNvSpPr/>
          <p:nvPr/>
        </p:nvSpPr>
        <p:spPr>
          <a:xfrm>
            <a:off x="444500" y="3457575"/>
            <a:ext cx="8255000" cy="323850"/>
          </a:xfrm>
          <a:prstGeom prst="rect">
            <a:avLst/>
          </a:prstGeom>
          <a:noFill/>
          <a:ln>
            <a:noFill/>
          </a:ln>
        </p:spPr>
        <p:txBody>
          <a:bodyPr wrap="none" lIns="0" tIns="0" rIns="0" bIns="0" anchor="ctr">
            <a:noAutofit/>
          </a:bodyPr>
          <a:lstStyle/>
          <a:p>
            <a:pPr algn="ctr">
              <a:buNone/>
            </a:pPr>
            <a:r>
              <a:rPr lang="en-GB" sz="1700" b="0" i="0" u="none" baseline="0" dirty="0">
                <a:solidFill>
                  <a:srgbClr val="252529"/>
                </a:solidFill>
                <a:latin typeface="Aptos"/>
                <a:ea typeface="Aptos"/>
                <a:cs typeface="Aptos"/>
              </a:rPr>
              <a:t>Transposing moves the controller block to the wrong position.</a:t>
            </a:r>
            <a:endParaRPr sz="1700" dirty="0"/>
          </a:p>
        </p:txBody>
      </p:sp>
      <p:sp>
        <p:nvSpPr>
          <p:cNvPr id="11009" name="Dual operation steps"/>
          <p:cNvSpPr/>
          <p:nvPr/>
        </p:nvSpPr>
        <p:spPr>
          <a:xfrm>
            <a:off x="508000" y="2092325"/>
            <a:ext cx="8128000" cy="2857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Transpose · exchange the blocks · invert</a:t>
            </a:r>
            <a:endParaRPr sz="1500" dirty="0"/>
          </a:p>
        </p:txBody>
      </p:sp>
      <mc:AlternateContent xmlns:mc="http://schemas.openxmlformats.org/markup-compatibility/2006" xmlns:a14="http://schemas.microsoft.com/office/drawing/2010/main">
        <mc:Choice Requires="a14">
          <p:sp>
            <p:nvSpPr>
              <p:cNvPr id="14001" name="Full D 0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01" name="Full D 0 prefix"/>
              <p:cNvSpPr>
                <a:spLocks noRot="1" noChangeAspect="1" noMove="1" noResize="1" noEditPoints="1" noAdjustHandles="1" noChangeArrowheads="1" noChangeShapeType="1" noTextEdit="1"/>
              </p:cNvSpPr>
              <p:nvPr/>
            </p:nvSpPr>
            <p:spPr>
              <a:xfrm>
                <a:off x="793750" y="2791460"/>
                <a:ext cx="1841500" cy="8178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2" name="Full D 0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02" name="Full D 0 open"/>
              <p:cNvSpPr>
                <a:spLocks noRot="1" noChangeAspect="1" noMove="1" noResize="1" noEditPoints="1" noAdjustHandles="1" noChangeArrowheads="1" noChangeShapeType="1" noTextEdit="1"/>
              </p:cNvSpPr>
              <p:nvPr/>
            </p:nvSpPr>
            <p:spPr>
              <a:xfrm>
                <a:off x="2540000" y="2021840"/>
                <a:ext cx="381000" cy="22047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3" name="Full D 0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03" name="Full D 0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4" name="Full D 0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04" name="Full D 0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5" name="Full D 0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m:t>
                                </m:r>
                                <m:r>
                                  <a:rPr sz="2300">
                                    <a:solidFill>
                                      <a:srgbClr val="252529"/>
                                    </a:solidFill>
                                    <a:latin typeface="Cambria Math"/>
                                  </a:rPr>
                                  <m:t>𝐼</m:t>
                                </m:r>
                              </m:e>
                            </m:mr>
                            <m:mr>
                              <m:e>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05" name="Full D 0 left factor"/>
              <p:cNvSpPr>
                <a:spLocks noRot="1" noChangeAspect="1" noMove="1" noResize="1" noEditPoints="1" noAdjustHandles="1" noChangeArrowheads="1" noChangeShapeType="1" noTextEdit="1"/>
              </p:cNvSpPr>
              <p:nvPr/>
            </p:nvSpPr>
            <p:spPr>
              <a:xfrm>
                <a:off x="2800350" y="2791460"/>
                <a:ext cx="11811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6" name="Full D 0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𝐼</m:t>
                                </m:r>
                              </m:e>
                            </m:mr>
                            <m:mr>
                              <m:e>
                                <m:r>
                                  <a:rPr sz="2300">
                                    <a:solidFill>
                                      <a:srgbClr val="252529"/>
                                    </a:solidFill>
                                    <a:latin typeface="Cambria Math"/>
                                  </a:rPr>
                                  <m:t>−</m:t>
                                </m:r>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06" name="Full D 0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7" name="Full D 0 symbol"/>
              <p:cNvSpPr/>
              <p:nvPr/>
            </p:nvSpPr>
            <p:spPr>
              <a:xfrm>
                <a:off x="4102100" y="2738120"/>
                <a:ext cx="1397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600">
                              <a:solidFill>
                                <a:srgbClr val="252529"/>
                              </a:solidFill>
                              <a:latin typeface="Cambria Math"/>
                            </a:rPr>
                          </m:ctrlPr>
                        </m:sSupPr>
                        <m:e>
                          <m:r>
                            <m:rPr>
                              <m:sty m:val="p"/>
                            </m:rPr>
                            <a:rPr sz="2600">
                              <a:solidFill>
                                <a:srgbClr val="252529"/>
                              </a:solidFill>
                              <a:latin typeface="Cambria Math"/>
                            </a:rPr>
                            <m:t>Θ</m:t>
                          </m:r>
                        </m:e>
                        <m:sup>
                          <m:r>
                            <a:rPr lang="en-US" sz="2600" b="0" i="1" smtClean="0">
                              <a:solidFill>
                                <a:srgbClr val="252529"/>
                              </a:solidFill>
                              <a:latin typeface="Cambria Math" panose="02040503050406030204" pitchFamily="18" charset="0"/>
                            </a:rPr>
                            <m:t>⊤</m:t>
                          </m:r>
                        </m:sup>
                      </m:sSup>
                    </m:oMath>
                  </m:oMathPara>
                </a14:m>
                <a:endParaRPr sz="2600" dirty="0"/>
              </a:p>
            </p:txBody>
          </p:sp>
        </mc:Choice>
        <mc:Fallback xmlns="">
          <p:sp>
            <p:nvSpPr>
              <p:cNvPr id="14007" name="Full D 0 symbol"/>
              <p:cNvSpPr>
                <a:spLocks noRot="1" noChangeAspect="1" noMove="1" noResize="1" noEditPoints="1" noAdjustHandles="1" noChangeArrowheads="1" noChangeShapeType="1" noTextEdit="1"/>
              </p:cNvSpPr>
              <p:nvPr/>
            </p:nvSpPr>
            <p:spPr>
              <a:xfrm>
                <a:off x="4102100" y="2738120"/>
                <a:ext cx="1397000" cy="92456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Full D 1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09" name="Full D 1 prefix"/>
              <p:cNvSpPr>
                <a:spLocks noRot="1" noChangeAspect="1" noMove="1" noResize="1" noEditPoints="1" noAdjustHandles="1" noChangeArrowheads="1" noChangeShapeType="1" noTextEdit="1"/>
              </p:cNvSpPr>
              <p:nvPr/>
            </p:nvSpPr>
            <p:spPr>
              <a:xfrm>
                <a:off x="793750" y="2791460"/>
                <a:ext cx="1841500" cy="8178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0" name="Full D 1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10" name="Full D 1 open"/>
              <p:cNvSpPr>
                <a:spLocks noRot="1" noChangeAspect="1" noMove="1" noResize="1" noEditPoints="1" noAdjustHandles="1" noChangeArrowheads="1" noChangeShapeType="1" noTextEdit="1"/>
              </p:cNvSpPr>
              <p:nvPr/>
            </p:nvSpPr>
            <p:spPr>
              <a:xfrm>
                <a:off x="2540000" y="2021840"/>
                <a:ext cx="381000" cy="22047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Full D 1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11" name="Full D 1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2" name="Full D 1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12" name="Full D 1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Full D 1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m:t>
                                </m:r>
                                <m:r>
                                  <a:rPr sz="2300">
                                    <a:solidFill>
                                      <a:srgbClr val="252529"/>
                                    </a:solidFill>
                                    <a:latin typeface="Cambria Math"/>
                                  </a:rPr>
                                  <m:t>𝐼</m:t>
                                </m:r>
                              </m:e>
                            </m:mr>
                            <m:mr>
                              <m:e>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13" name="Full D 1 left factor"/>
              <p:cNvSpPr>
                <a:spLocks noRot="1" noChangeAspect="1" noMove="1" noResize="1" noEditPoints="1" noAdjustHandles="1" noChangeArrowheads="1" noChangeShapeType="1" noTextEdit="1"/>
              </p:cNvSpPr>
              <p:nvPr/>
            </p:nvSpPr>
            <p:spPr>
              <a:xfrm>
                <a:off x="2800350" y="2791460"/>
                <a:ext cx="11811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4" name="Full D 1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𝐼</m:t>
                                </m:r>
                              </m:e>
                            </m:mr>
                            <m:mr>
                              <m:e>
                                <m:r>
                                  <a:rPr sz="2300">
                                    <a:solidFill>
                                      <a:srgbClr val="252529"/>
                                    </a:solidFill>
                                    <a:latin typeface="Cambria Math"/>
                                  </a:rPr>
                                  <m:t>−</m:t>
                                </m:r>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14" name="Full D 1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5" name="Full D 1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15" name="Full D 1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6" name="Full D 1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16" name="Full D 1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7" name="Full D 1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r>
                        <a:rPr sz="2300">
                          <a:solidFill>
                            <a:srgbClr val="C81919"/>
                          </a:solidFill>
                          <a:latin typeface="Cambria Math"/>
                        </a:rPr>
                        <m:t>𝐾</m:t>
                      </m:r>
                    </m:oMath>
                  </m:oMathPara>
                </a14:m>
                <a:endParaRPr sz="2300"/>
              </a:p>
            </p:txBody>
          </p:sp>
        </mc:Choice>
        <mc:Fallback xmlns="">
          <p:sp>
            <p:nvSpPr>
              <p:cNvPr id="14017" name="Full D 1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8" name="Full D 1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18" name="Full D 1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19" name="Full D 1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20" name="Full D 1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21" name="Full D 1 transpose"/>
              <p:cNvSpPr/>
              <p:nvPr/>
            </p:nvSpPr>
            <p:spPr>
              <a:xfrm>
                <a:off x="5448300" y="2496820"/>
                <a:ext cx="279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m:t>
                      </m:r>
                    </m:oMath>
                  </m:oMathPara>
                </a14:m>
                <a:endParaRPr sz="1600"/>
              </a:p>
            </p:txBody>
          </p:sp>
        </mc:Choice>
        <mc:Fallback xmlns="">
          <p:sp>
            <p:nvSpPr>
              <p:cNvPr id="14021" name="Full D 1 transpose"/>
              <p:cNvSpPr>
                <a:spLocks noRot="1" noChangeAspect="1" noMove="1" noResize="1" noEditPoints="1" noAdjustHandles="1" noChangeArrowheads="1" noChangeShapeType="1" noTextEdit="1"/>
              </p:cNvSpPr>
              <p:nvPr/>
            </p:nvSpPr>
            <p:spPr>
              <a:xfrm>
                <a:off x="5448300" y="2496820"/>
                <a:ext cx="279400" cy="56896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3" name="Full D 2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23" name="Full D 2 prefix"/>
              <p:cNvSpPr>
                <a:spLocks noRot="1" noChangeAspect="1" noMove="1" noResize="1" noEditPoints="1" noAdjustHandles="1" noChangeArrowheads="1" noChangeShapeType="1" noTextEdit="1"/>
              </p:cNvSpPr>
              <p:nvPr/>
            </p:nvSpPr>
            <p:spPr>
              <a:xfrm>
                <a:off x="793750" y="2791460"/>
                <a:ext cx="1841500" cy="8178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4" name="Full D 2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24" name="Full D 2 open"/>
              <p:cNvSpPr>
                <a:spLocks noRot="1" noChangeAspect="1" noMove="1" noResize="1" noEditPoints="1" noAdjustHandles="1" noChangeArrowheads="1" noChangeShapeType="1" noTextEdit="1"/>
              </p:cNvSpPr>
              <p:nvPr/>
            </p:nvSpPr>
            <p:spPr>
              <a:xfrm>
                <a:off x="2540000" y="2021840"/>
                <a:ext cx="381000" cy="22047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5" name="Full D 2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25" name="Full D 2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6" name="Full D 2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26" name="Full D 2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7" name="Full D 2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m:t>
                                </m:r>
                                <m:r>
                                  <a:rPr sz="2300">
                                    <a:solidFill>
                                      <a:srgbClr val="252529"/>
                                    </a:solidFill>
                                    <a:latin typeface="Cambria Math"/>
                                  </a:rPr>
                                  <m:t>𝐼</m:t>
                                </m:r>
                              </m:e>
                            </m:mr>
                            <m:mr>
                              <m:e>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27" name="Full D 2 left factor"/>
              <p:cNvSpPr>
                <a:spLocks noRot="1" noChangeAspect="1" noMove="1" noResize="1" noEditPoints="1" noAdjustHandles="1" noChangeArrowheads="1" noChangeShapeType="1" noTextEdit="1"/>
              </p:cNvSpPr>
              <p:nvPr/>
            </p:nvSpPr>
            <p:spPr>
              <a:xfrm>
                <a:off x="2800350" y="2791460"/>
                <a:ext cx="11811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8" name="Full D 2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𝐼</m:t>
                                </m:r>
                              </m:e>
                            </m:mr>
                            <m:mr>
                              <m:e>
                                <m:r>
                                  <a:rPr sz="2300">
                                    <a:solidFill>
                                      <a:srgbClr val="252529"/>
                                    </a:solidFill>
                                    <a:latin typeface="Cambria Math"/>
                                  </a:rPr>
                                  <m:t>−</m:t>
                                </m:r>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28" name="Full D 2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9" name="Full D 2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29" name="Full D 2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0" name="Full D 2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dirty="0"/>
              </a:p>
            </p:txBody>
          </p:sp>
        </mc:Choice>
        <mc:Fallback xmlns="">
          <p:sp>
            <p:nvSpPr>
              <p:cNvPr id="14030" name="Full D 2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1" name="Full D 2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31" name="Full D 2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2" name="Full D 2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32" name="Full D 2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33" name="Full D 2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34" name="Full D 2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36" name="Full D 3 prefix"/>
              <p:cNvSpPr/>
              <p:nvPr/>
            </p:nvSpPr>
            <p:spPr>
              <a:xfrm>
                <a:off x="18732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36" name="Full D 3 prefix"/>
              <p:cNvSpPr>
                <a:spLocks noRot="1" noChangeAspect="1" noMove="1" noResize="1" noEditPoints="1" noAdjustHandles="1" noChangeArrowheads="1" noChangeShapeType="1" noTextEdit="1"/>
              </p:cNvSpPr>
              <p:nvPr/>
            </p:nvSpPr>
            <p:spPr>
              <a:xfrm>
                <a:off x="1873250" y="2791460"/>
                <a:ext cx="1841500" cy="817880"/>
              </a:xfrm>
              <a:prstGeom prst="rect">
                <a:avLst/>
              </a:prstGeom>
              <a:blipFill>
                <a:blip r:embed="rId2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7" name="Full D 3 open"/>
              <p:cNvSpPr/>
              <p:nvPr/>
            </p:nvSpPr>
            <p:spPr>
              <a:xfrm>
                <a:off x="37973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37" name="Full D 3 open"/>
              <p:cNvSpPr>
                <a:spLocks noRot="1" noChangeAspect="1" noMove="1" noResize="1" noEditPoints="1" noAdjustHandles="1" noChangeArrowheads="1" noChangeShapeType="1" noTextEdit="1"/>
              </p:cNvSpPr>
              <p:nvPr/>
            </p:nvSpPr>
            <p:spPr>
              <a:xfrm>
                <a:off x="3797300" y="2021840"/>
                <a:ext cx="381000" cy="22047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8" name="Full D 3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dirty="0"/>
              </a:p>
            </p:txBody>
          </p:sp>
        </mc:Choice>
        <mc:Fallback xmlns="">
          <p:sp>
            <p:nvSpPr>
              <p:cNvPr id="14038" name="Full D 3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9" name="Full D 3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39" name="Full D 3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0" name="Full D 3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𝐼</m:t>
                                </m:r>
                              </m:e>
                            </m:mr>
                            <m:mr>
                              <m:e>
                                <m:r>
                                  <a:rPr sz="2300">
                                    <a:solidFill>
                                      <a:srgbClr val="252529"/>
                                    </a:solidFill>
                                    <a:latin typeface="Cambria Math"/>
                                  </a:rPr>
                                  <m:t>−</m:t>
                                </m:r>
                                <m:r>
                                  <a:rPr sz="2300">
                                    <a:solidFill>
                                      <a:srgbClr val="252529"/>
                                    </a:solidFill>
                                    <a:latin typeface="Cambria Math"/>
                                  </a:rPr>
                                  <m:t>𝐼</m:t>
                                </m:r>
                              </m:e>
                              <m:e>
                                <m:r>
                                  <a:rPr sz="2300">
                                    <a:solidFill>
                                      <a:srgbClr val="252529"/>
                                    </a:solidFill>
                                    <a:latin typeface="Cambria Math"/>
                                  </a:rPr>
                                  <m:t>0</m:t>
                                </m:r>
                              </m:e>
                            </m:mr>
                          </m:m>
                        </m:e>
                      </m:d>
                    </m:oMath>
                  </m:oMathPara>
                </a14:m>
                <a:endParaRPr sz="2300" dirty="0"/>
              </a:p>
            </p:txBody>
          </p:sp>
        </mc:Choice>
        <mc:Fallback xmlns="">
          <p:sp>
            <p:nvSpPr>
              <p:cNvPr id="14040" name="Full D 3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1" name="Full D 3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dirty="0"/>
              </a:p>
            </p:txBody>
          </p:sp>
        </mc:Choice>
        <mc:Fallback xmlns="">
          <p:sp>
            <p:nvSpPr>
              <p:cNvPr id="14041" name="Full D 3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2" name="Full D 3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r>
                        <a:rPr sz="2300">
                          <a:solidFill>
                            <a:srgbClr val="C81919"/>
                          </a:solidFill>
                          <a:latin typeface="Cambria Math"/>
                        </a:rPr>
                        <m:t>𝐼</m:t>
                      </m:r>
                    </m:oMath>
                  </m:oMathPara>
                </a14:m>
                <a:endParaRPr sz="2300"/>
              </a:p>
            </p:txBody>
          </p:sp>
        </mc:Choice>
        <mc:Fallback xmlns="">
          <p:sp>
            <p:nvSpPr>
              <p:cNvPr id="14042" name="Full D 3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3" name="Full D 3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43" name="Full D 3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4" name="Full D 3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xmlns="">
          <p:sp>
            <p:nvSpPr>
              <p:cNvPr id="14044" name="Full D 3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26"/>
                <a:stretch>
                  <a:fillRect/>
                </a:stretch>
              </a:blipFill>
              <a:ln>
                <a:noFill/>
              </a:ln>
            </p:spPr>
            <p:txBody>
              <a:bodyPr/>
              <a:lstStyle/>
              <a:p>
                <a:r>
                  <a:rPr lang="en-NL">
                    <a:noFill/>
                  </a:rPr>
                  <a:t> </a:t>
                </a:r>
              </a:p>
            </p:txBody>
          </p:sp>
        </mc:Fallback>
      </mc:AlternateContent>
      <p:sp>
        <p:nvSpPr>
          <p:cNvPr id="14045" name="Full D 3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46" name="Full D 3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48" name="Full D 4 prefix"/>
              <p:cNvSpPr/>
              <p:nvPr/>
            </p:nvSpPr>
            <p:spPr>
              <a:xfrm>
                <a:off x="24066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48" name="Full D 4 prefix"/>
              <p:cNvSpPr>
                <a:spLocks noRot="1" noChangeAspect="1" noMove="1" noResize="1" noEditPoints="1" noAdjustHandles="1" noChangeArrowheads="1" noChangeShapeType="1" noTextEdit="1"/>
              </p:cNvSpPr>
              <p:nvPr/>
            </p:nvSpPr>
            <p:spPr>
              <a:xfrm>
                <a:off x="2406650" y="2791460"/>
                <a:ext cx="1841500" cy="817880"/>
              </a:xfrm>
              <a:prstGeom prst="rect">
                <a:avLst/>
              </a:prstGeom>
              <a:blipFill>
                <a:blip r:embed="rId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9" name="Full D 4 open"/>
              <p:cNvSpPr/>
              <p:nvPr/>
            </p:nvSpPr>
            <p:spPr>
              <a:xfrm>
                <a:off x="37973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49" name="Full D 4 open"/>
              <p:cNvSpPr>
                <a:spLocks noRot="1" noChangeAspect="1" noMove="1" noResize="1" noEditPoints="1" noAdjustHandles="1" noChangeArrowheads="1" noChangeShapeType="1" noTextEdit="1"/>
              </p:cNvSpPr>
              <p:nvPr/>
            </p:nvSpPr>
            <p:spPr>
              <a:xfrm>
                <a:off x="3797300" y="2021840"/>
                <a:ext cx="381000" cy="22047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0" name="Full D 4 close"/>
              <p:cNvSpPr/>
              <p:nvPr/>
            </p:nvSpPr>
            <p:spPr>
              <a:xfrm>
                <a:off x="54229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dirty="0"/>
              </a:p>
            </p:txBody>
          </p:sp>
        </mc:Choice>
        <mc:Fallback xmlns="">
          <p:sp>
            <p:nvSpPr>
              <p:cNvPr id="14050" name="Full D 4 close"/>
              <p:cNvSpPr>
                <a:spLocks noRot="1" noChangeAspect="1" noMove="1" noResize="1" noEditPoints="1" noAdjustHandles="1" noChangeArrowheads="1" noChangeShapeType="1" noTextEdit="1"/>
              </p:cNvSpPr>
              <p:nvPr/>
            </p:nvSpPr>
            <p:spPr>
              <a:xfrm>
                <a:off x="5422900" y="2021840"/>
                <a:ext cx="381000" cy="2204720"/>
              </a:xfrm>
              <a:prstGeom prst="rect">
                <a:avLst/>
              </a:prstGeom>
              <a:blipFill>
                <a:blip r:embed="rId28"/>
                <a:stretch>
                  <a:fillRect l="-129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1" name="Full D 4 inverse"/>
              <p:cNvSpPr/>
              <p:nvPr/>
            </p:nvSpPr>
            <p:spPr>
              <a:xfrm>
                <a:off x="55753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51" name="Full D 4 inverse"/>
              <p:cNvSpPr>
                <a:spLocks noRot="1" noChangeAspect="1" noMove="1" noResize="1" noEditPoints="1" noAdjustHandles="1" noChangeArrowheads="1" noChangeShapeType="1" noTextEdit="1"/>
              </p:cNvSpPr>
              <p:nvPr/>
            </p:nvSpPr>
            <p:spPr>
              <a:xfrm>
                <a:off x="55753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2" name="Full D 4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52" name="Full D 4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3" name="Full D 4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53" name="Full D 4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4" name="Full D 4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xmlns="">
          <p:sp>
            <p:nvSpPr>
              <p:cNvPr id="14054" name="Full D 4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5" name="Full D 4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55" name="Full D 4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56" name="Full D 4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57" name="Full D 4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59" name="Full D 5 prefix"/>
              <p:cNvSpPr/>
              <p:nvPr/>
            </p:nvSpPr>
            <p:spPr>
              <a:xfrm>
                <a:off x="24066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59" name="Full D 5 prefix"/>
              <p:cNvSpPr>
                <a:spLocks noRot="1" noChangeAspect="1" noMove="1" noResize="1" noEditPoints="1" noAdjustHandles="1" noChangeArrowheads="1" noChangeShapeType="1" noTextEdit="1"/>
              </p:cNvSpPr>
              <p:nvPr/>
            </p:nvSpPr>
            <p:spPr>
              <a:xfrm>
                <a:off x="2406650" y="2791460"/>
                <a:ext cx="1841500" cy="817880"/>
              </a:xfrm>
              <a:prstGeom prst="rect">
                <a:avLst/>
              </a:prstGeom>
              <a:blipFill>
                <a:blip r:embed="rId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0" name="Full D 5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60" name="Full D 5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1" name="Full D 5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61" name="Full D 5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2" name="Full D 5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xmlns="">
          <p:sp>
            <p:nvSpPr>
              <p:cNvPr id="14062" name="Full D 5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3" name="Full D 5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dirty="0"/>
              </a:p>
            </p:txBody>
          </p:sp>
        </mc:Choice>
        <mc:Fallback xmlns="">
          <p:sp>
            <p:nvSpPr>
              <p:cNvPr id="14063" name="Full D 5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64" name="Full D 5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65" name="Full D 5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66" name="Full D 5 answer"/>
              <p:cNvSpPr/>
              <p:nvPr/>
            </p:nvSpPr>
            <p:spPr>
              <a:xfrm>
                <a:off x="5626100" y="2755900"/>
                <a:ext cx="1270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m:t>
                      </m:r>
                      <m:bar>
                        <m:barPr>
                          <m:pos m:val="bot"/>
                          <m:ctrlPr>
                            <a:rPr sz="2500">
                              <a:solidFill>
                                <a:srgbClr val="252529"/>
                              </a:solidFill>
                              <a:latin typeface="Cambria Math"/>
                            </a:rPr>
                          </m:ctrlPr>
                        </m:barPr>
                        <m:e>
                          <m:r>
                            <m:rPr>
                              <m:sty m:val="p"/>
                            </m:rPr>
                            <a:rPr sz="2500">
                              <a:solidFill>
                                <a:srgbClr val="252529"/>
                              </a:solidFill>
                              <a:latin typeface="Cambria Math"/>
                            </a:rPr>
                            <m:t>Θ</m:t>
                          </m:r>
                        </m:e>
                      </m:bar>
                    </m:oMath>
                  </m:oMathPara>
                </a14:m>
                <a:endParaRPr sz="2500" dirty="0"/>
              </a:p>
            </p:txBody>
          </p:sp>
        </mc:Choice>
        <mc:Fallback xmlns="">
          <p:sp>
            <p:nvSpPr>
              <p:cNvPr id="14066" name="Full D 5 answer"/>
              <p:cNvSpPr>
                <a:spLocks noRot="1" noChangeAspect="1" noMove="1" noResize="1" noEditPoints="1" noAdjustHandles="1" noChangeArrowheads="1" noChangeShapeType="1" noTextEdit="1"/>
              </p:cNvSpPr>
              <p:nvPr/>
            </p:nvSpPr>
            <p:spPr>
              <a:xfrm>
                <a:off x="5626100" y="2755900"/>
                <a:ext cx="1270000" cy="889000"/>
              </a:xfrm>
              <a:prstGeom prst="rect">
                <a:avLst/>
              </a:prstGeom>
              <a:blipFill>
                <a:blip r:embed="rId31"/>
                <a:stretch>
                  <a:fillRect/>
                </a:stretch>
              </a:blipFill>
              <a:ln>
                <a:noFill/>
              </a:ln>
            </p:spPr>
            <p:txBody>
              <a:bodyPr/>
              <a:lstStyle/>
              <a:p>
                <a:r>
                  <a:rPr lang="en-NL">
                    <a:noFill/>
                  </a:rPr>
                  <a:t> </a:t>
                </a:r>
              </a:p>
            </p:txBody>
          </p:sp>
        </mc:Fallback>
      </mc:AlternateContent>
      <p:sp>
        <p:nvSpPr>
          <p:cNvPr id="14068" name="Full dual operation box"/>
          <p:cNvSpPr/>
          <p:nvPr/>
        </p:nvSpPr>
        <p:spPr>
          <a:xfrm>
            <a:off x="762000" y="2451100"/>
            <a:ext cx="7620000" cy="1549400"/>
          </a:xfrm>
          <a:prstGeom prst="rect">
            <a:avLst/>
          </a:prstGeom>
          <a:noFill/>
          <a:ln w="22860">
            <a:solidFill>
              <a:srgbClr val="C81919"/>
            </a:solidFill>
          </a:ln>
        </p:spPr>
      </p:sp>
    </p:spTree>
    <p:extLst>
      <p:ext uri="{BB962C8B-B14F-4D97-AF65-F5344CB8AC3E}">
        <p14:creationId xmlns:p14="http://schemas.microsoft.com/office/powerpoint/2010/main" val="6828105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xmlns:a14="http://schemas.microsoft.com/office/drawing/2010/main" xmlns:m="http://schemas.openxmlformats.org/officeDocument/2006/math">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005"/>
                                        </p:tgtEl>
                                        <p:attrNameLst>
                                          <p:attrName>style.visibility</p:attrName>
                                        </p:attrNameLst>
                                      </p:cBhvr>
                                      <p:to>
                                        <p:strVal val="visible"/>
                                      </p:to>
                                    </p:set>
                                    <p:animEffect transition="in" filter="fade">
                                      <p:cBhvr>
                                        <p:cTn id="7" dur="400"/>
                                        <p:tgtEl>
                                          <p:spTgt spid="1100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006"/>
                                        </p:tgtEl>
                                        <p:attrNameLst>
                                          <p:attrName>style.visibility</p:attrName>
                                        </p:attrNameLst>
                                      </p:cBhvr>
                                      <p:to>
                                        <p:strVal val="visible"/>
                                      </p:to>
                                    </p:set>
                                    <p:animEffect transition="in" filter="fade">
                                      <p:cBhvr>
                                        <p:cTn id="10" dur="400"/>
                                        <p:tgtEl>
                                          <p:spTgt spid="1100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1" nodeType="clickEffect">
                                  <p:stCondLst>
                                    <p:cond delay="0"/>
                                  </p:stCondLst>
                                  <p:childTnLst>
                                    <p:animEffect transition="out" filter="fade">
                                      <p:cBhvr>
                                        <p:cTn id="14" dur="124"/>
                                        <p:tgtEl>
                                          <p:spTgt spid="11005"/>
                                        </p:tgtEl>
                                      </p:cBhvr>
                                    </p:animEffect>
                                    <p:set>
                                      <p:cBhvr>
                                        <p:cTn id="15" dur="1" fill="hold">
                                          <p:stCondLst>
                                            <p:cond delay="124"/>
                                          </p:stCondLst>
                                        </p:cTn>
                                        <p:tgtEl>
                                          <p:spTgt spid="11005"/>
                                        </p:tgtEl>
                                        <p:attrNameLst>
                                          <p:attrName>style.visibility</p:attrName>
                                        </p:attrNameLst>
                                      </p:cBhvr>
                                      <p:to>
                                        <p:strVal val="hidden"/>
                                      </p:to>
                                    </p:set>
                                  </p:childTnLst>
                                </p:cTn>
                              </p:par>
                              <p:par>
                                <p:cTn id="16" presetID="10" presetClass="exit" presetSubtype="0" fill="hold" grpId="1" nodeType="withEffect">
                                  <p:stCondLst>
                                    <p:cond delay="0"/>
                                  </p:stCondLst>
                                  <p:childTnLst>
                                    <p:animEffect transition="out" filter="fade">
                                      <p:cBhvr>
                                        <p:cTn id="17" dur="124"/>
                                        <p:tgtEl>
                                          <p:spTgt spid="11006"/>
                                        </p:tgtEl>
                                      </p:cBhvr>
                                    </p:animEffect>
                                    <p:set>
                                      <p:cBhvr>
                                        <p:cTn id="18" dur="1" fill="hold">
                                          <p:stCondLst>
                                            <p:cond delay="124"/>
                                          </p:stCondLst>
                                        </p:cTn>
                                        <p:tgtEl>
                                          <p:spTgt spid="11006"/>
                                        </p:tgtEl>
                                        <p:attrNameLst>
                                          <p:attrName>style.visibility</p:attrName>
                                        </p:attrNameLst>
                                      </p:cBhvr>
                                      <p:to>
                                        <p:strVal val="hidden"/>
                                      </p:to>
                                    </p:set>
                                  </p:childTnLst>
                                </p:cTn>
                              </p:par>
                              <p:par>
                                <p:cTn id="19" presetID="10" presetClass="entr" presetSubtype="0" fill="hold" grpId="0" nodeType="withEffect">
                                  <p:stCondLst>
                                    <p:cond delay="124"/>
                                  </p:stCondLst>
                                  <p:childTnLst>
                                    <p:set>
                                      <p:cBhvr>
                                        <p:cTn id="20" dur="1" fill="hold">
                                          <p:stCondLst>
                                            <p:cond delay="0"/>
                                          </p:stCondLst>
                                        </p:cTn>
                                        <p:tgtEl>
                                          <p:spTgt spid="11009"/>
                                        </p:tgtEl>
                                        <p:attrNameLst>
                                          <p:attrName>style.visibility</p:attrName>
                                        </p:attrNameLst>
                                      </p:cBhvr>
                                      <p:to>
                                        <p:strVal val="visible"/>
                                      </p:to>
                                    </p:set>
                                    <p:animEffect transition="in" filter="fade">
                                      <p:cBhvr>
                                        <p:cTn id="21" dur="166"/>
                                        <p:tgtEl>
                                          <p:spTgt spid="11009"/>
                                        </p:tgtEl>
                                      </p:cBhvr>
                                    </p:animEffect>
                                  </p:childTnLst>
                                </p:cTn>
                              </p:par>
                              <p:par>
                                <p:cTn id="22" presetID="10" presetClass="entr" presetSubtype="0" fill="hold" nodeType="withEffect">
                                  <p:stCondLst>
                                    <p:cond delay="124"/>
                                  </p:stCondLst>
                                  <p:childTnLst>
                                    <p:animEffect transition="in" filter="fade">
                                      <p:cBhvr>
                                        <p:cTn id="23" dur="166"/>
                                        <p:tgtEl>
                                          <p:spTgt spid="14001"/>
                                        </p:tgtEl>
                                      </p:cBhvr>
                                    </p:animEffect>
                                    <p:set>
                                      <p:cBhvr>
                                        <p:cTn id="24" dur="1" fill="hold">
                                          <p:stCondLst>
                                            <p:cond delay="0"/>
                                          </p:stCondLst>
                                        </p:cTn>
                                        <p:tgtEl>
                                          <p:spTgt spid="14001"/>
                                        </p:tgtEl>
                                        <p:attrNameLst>
                                          <p:attrName>style.visibility</p:attrName>
                                        </p:attrNameLst>
                                      </p:cBhvr>
                                      <p:to>
                                        <p:strVal val="visible"/>
                                      </p:to>
                                    </p:set>
                                  </p:childTnLst>
                                </p:cTn>
                              </p:par>
                              <p:par>
                                <p:cTn id="25" presetID="10" presetClass="entr" presetSubtype="0" fill="hold" nodeType="withEffect">
                                  <p:stCondLst>
                                    <p:cond delay="124"/>
                                  </p:stCondLst>
                                  <p:childTnLst>
                                    <p:animEffect transition="in" filter="fade">
                                      <p:cBhvr>
                                        <p:cTn id="26" dur="166"/>
                                        <p:tgtEl>
                                          <p:spTgt spid="14002"/>
                                        </p:tgtEl>
                                      </p:cBhvr>
                                    </p:animEffect>
                                    <p:set>
                                      <p:cBhvr>
                                        <p:cTn id="27" dur="1" fill="hold">
                                          <p:stCondLst>
                                            <p:cond delay="0"/>
                                          </p:stCondLst>
                                        </p:cTn>
                                        <p:tgtEl>
                                          <p:spTgt spid="14002"/>
                                        </p:tgtEl>
                                        <p:attrNameLst>
                                          <p:attrName>style.visibility</p:attrName>
                                        </p:attrNameLst>
                                      </p:cBhvr>
                                      <p:to>
                                        <p:strVal val="visible"/>
                                      </p:to>
                                    </p:set>
                                  </p:childTnLst>
                                </p:cTn>
                              </p:par>
                              <p:par>
                                <p:cTn id="28" presetID="10" presetClass="entr" presetSubtype="0" fill="hold" nodeType="withEffect">
                                  <p:stCondLst>
                                    <p:cond delay="124"/>
                                  </p:stCondLst>
                                  <p:childTnLst>
                                    <p:animEffect transition="in" filter="fade">
                                      <p:cBhvr>
                                        <p:cTn id="29" dur="166"/>
                                        <p:tgtEl>
                                          <p:spTgt spid="14003"/>
                                        </p:tgtEl>
                                      </p:cBhvr>
                                    </p:animEffect>
                                    <p:set>
                                      <p:cBhvr>
                                        <p:cTn id="30" dur="1" fill="hold">
                                          <p:stCondLst>
                                            <p:cond delay="0"/>
                                          </p:stCondLst>
                                        </p:cTn>
                                        <p:tgtEl>
                                          <p:spTgt spid="14003"/>
                                        </p:tgtEl>
                                        <p:attrNameLst>
                                          <p:attrName>style.visibility</p:attrName>
                                        </p:attrNameLst>
                                      </p:cBhvr>
                                      <p:to>
                                        <p:strVal val="visible"/>
                                      </p:to>
                                    </p:set>
                                  </p:childTnLst>
                                </p:cTn>
                              </p:par>
                              <p:par>
                                <p:cTn id="31" presetID="10" presetClass="entr" presetSubtype="0" fill="hold" nodeType="withEffect">
                                  <p:stCondLst>
                                    <p:cond delay="124"/>
                                  </p:stCondLst>
                                  <p:childTnLst>
                                    <p:animEffect transition="in" filter="fade">
                                      <p:cBhvr>
                                        <p:cTn id="32" dur="166"/>
                                        <p:tgtEl>
                                          <p:spTgt spid="14004"/>
                                        </p:tgtEl>
                                      </p:cBhvr>
                                    </p:animEffect>
                                    <p:set>
                                      <p:cBhvr>
                                        <p:cTn id="33" dur="1" fill="hold">
                                          <p:stCondLst>
                                            <p:cond delay="0"/>
                                          </p:stCondLst>
                                        </p:cTn>
                                        <p:tgtEl>
                                          <p:spTgt spid="14004"/>
                                        </p:tgtEl>
                                        <p:attrNameLst>
                                          <p:attrName>style.visibility</p:attrName>
                                        </p:attrNameLst>
                                      </p:cBhvr>
                                      <p:to>
                                        <p:strVal val="visible"/>
                                      </p:to>
                                    </p:set>
                                  </p:childTnLst>
                                </p:cTn>
                              </p:par>
                              <p:par>
                                <p:cTn id="34" presetID="10" presetClass="entr" presetSubtype="0" fill="hold" nodeType="withEffect">
                                  <p:stCondLst>
                                    <p:cond delay="124"/>
                                  </p:stCondLst>
                                  <p:childTnLst>
                                    <p:animEffect transition="in" filter="fade">
                                      <p:cBhvr>
                                        <p:cTn id="35" dur="166"/>
                                        <p:tgtEl>
                                          <p:spTgt spid="14005"/>
                                        </p:tgtEl>
                                      </p:cBhvr>
                                    </p:animEffect>
                                    <p:set>
                                      <p:cBhvr>
                                        <p:cTn id="36" dur="1" fill="hold">
                                          <p:stCondLst>
                                            <p:cond delay="0"/>
                                          </p:stCondLst>
                                        </p:cTn>
                                        <p:tgtEl>
                                          <p:spTgt spid="14005"/>
                                        </p:tgtEl>
                                        <p:attrNameLst>
                                          <p:attrName>style.visibility</p:attrName>
                                        </p:attrNameLst>
                                      </p:cBhvr>
                                      <p:to>
                                        <p:strVal val="visible"/>
                                      </p:to>
                                    </p:set>
                                  </p:childTnLst>
                                </p:cTn>
                              </p:par>
                              <p:par>
                                <p:cTn id="37" presetID="10" presetClass="entr" presetSubtype="0" fill="hold" nodeType="withEffect">
                                  <p:stCondLst>
                                    <p:cond delay="124"/>
                                  </p:stCondLst>
                                  <p:childTnLst>
                                    <p:animEffect transition="in" filter="fade">
                                      <p:cBhvr>
                                        <p:cTn id="38" dur="166"/>
                                        <p:tgtEl>
                                          <p:spTgt spid="14006"/>
                                        </p:tgtEl>
                                      </p:cBhvr>
                                    </p:animEffect>
                                    <p:set>
                                      <p:cBhvr>
                                        <p:cTn id="39" dur="1" fill="hold">
                                          <p:stCondLst>
                                            <p:cond delay="0"/>
                                          </p:stCondLst>
                                        </p:cTn>
                                        <p:tgtEl>
                                          <p:spTgt spid="14006"/>
                                        </p:tgtEl>
                                        <p:attrNameLst>
                                          <p:attrName>style.visibility</p:attrName>
                                        </p:attrNameLst>
                                      </p:cBhvr>
                                      <p:to>
                                        <p:strVal val="visible"/>
                                      </p:to>
                                    </p:set>
                                  </p:childTnLst>
                                </p:cTn>
                              </p:par>
                              <p:par>
                                <p:cTn id="40" presetID="10" presetClass="entr" presetSubtype="0" fill="hold" nodeType="withEffect">
                                  <p:stCondLst>
                                    <p:cond delay="124"/>
                                  </p:stCondLst>
                                  <p:childTnLst>
                                    <p:animEffect transition="in" filter="fade">
                                      <p:cBhvr>
                                        <p:cTn id="41" dur="166"/>
                                        <p:tgtEl>
                                          <p:spTgt spid="14007"/>
                                        </p:tgtEl>
                                      </p:cBhvr>
                                    </p:animEffect>
                                    <p:set>
                                      <p:cBhvr>
                                        <p:cTn id="42" dur="1" fill="hold">
                                          <p:stCondLst>
                                            <p:cond delay="0"/>
                                          </p:stCondLst>
                                        </p:cTn>
                                        <p:tgtEl>
                                          <p:spTgt spid="14007"/>
                                        </p:tgtEl>
                                        <p:attrNameLst>
                                          <p:attrName>style.visibility</p:attrName>
                                        </p:attrNameLst>
                                      </p:cBhvr>
                                      <p:to>
                                        <p:strVal val="visible"/>
                                      </p:to>
                                    </p:set>
                                  </p:childTnLst>
                                </p:cTn>
                              </p:par>
                              <p:par>
                                <p:cTn id="43" presetID="10" presetClass="entr" presetSubtype="0" fill="hold" nodeType="withEffect">
                                  <p:stCondLst>
                                    <p:cond delay="124"/>
                                  </p:stCondLst>
                                  <p:childTnLst>
                                    <p:animEffect transition="in" filter="fade">
                                      <p:cBhvr>
                                        <p:cTn id="44" dur="166"/>
                                        <p:tgtEl>
                                          <p:spTgt spid="14068"/>
                                        </p:tgtEl>
                                      </p:cBhvr>
                                    </p:animEffect>
                                    <p:set>
                                      <p:cBhvr>
                                        <p:cTn id="45" dur="1" fill="hold">
                                          <p:stCondLst>
                                            <p:cond delay="0"/>
                                          </p:stCondLst>
                                        </p:cTn>
                                        <p:tgtEl>
                                          <p:spTgt spid="14068"/>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0" presetClass="exit" presetSubtype="0" fill="hold" nodeType="clickEffect">
                                  <p:stCondLst>
                                    <p:cond delay="0"/>
                                  </p:stCondLst>
                                  <p:childTnLst>
                                    <p:animEffect transition="out" filter="fade">
                                      <p:cBhvr>
                                        <p:cTn id="49" dur="104"/>
                                        <p:tgtEl>
                                          <p:spTgt spid="14001"/>
                                        </p:tgtEl>
                                      </p:cBhvr>
                                    </p:animEffect>
                                    <p:set>
                                      <p:cBhvr>
                                        <p:cTn id="50" dur="1" fill="hold">
                                          <p:stCondLst>
                                            <p:cond delay="103"/>
                                          </p:stCondLst>
                                        </p:cTn>
                                        <p:tgtEl>
                                          <p:spTgt spid="14001"/>
                                        </p:tgtEl>
                                        <p:attrNameLst>
                                          <p:attrName>style.visibility</p:attrName>
                                        </p:attrNameLst>
                                      </p:cBhvr>
                                      <p:to>
                                        <p:strVal val="hidden"/>
                                      </p:to>
                                    </p:set>
                                  </p:childTnLst>
                                </p:cTn>
                              </p:par>
                              <p:par>
                                <p:cTn id="51" presetID="10" presetClass="exit" presetSubtype="0" fill="hold" nodeType="withEffect">
                                  <p:stCondLst>
                                    <p:cond delay="850"/>
                                  </p:stCondLst>
                                  <p:childTnLst>
                                    <p:animEffect transition="out" filter="fade">
                                      <p:cBhvr>
                                        <p:cTn id="52" dur="104"/>
                                        <p:tgtEl>
                                          <p:spTgt spid="14002"/>
                                        </p:tgtEl>
                                      </p:cBhvr>
                                    </p:animEffect>
                                    <p:set>
                                      <p:cBhvr>
                                        <p:cTn id="53" dur="1" fill="hold">
                                          <p:stCondLst>
                                            <p:cond delay="103"/>
                                          </p:stCondLst>
                                        </p:cTn>
                                        <p:tgtEl>
                                          <p:spTgt spid="14002"/>
                                        </p:tgtEl>
                                        <p:attrNameLst>
                                          <p:attrName>style.visibility</p:attrName>
                                        </p:attrNameLst>
                                      </p:cBhvr>
                                      <p:to>
                                        <p:strVal val="hidden"/>
                                      </p:to>
                                    </p:set>
                                  </p:childTnLst>
                                </p:cTn>
                              </p:par>
                              <p:par>
                                <p:cTn id="54" presetID="10" presetClass="exit" presetSubtype="0" fill="hold" nodeType="withEffect">
                                  <p:stCondLst>
                                    <p:cond delay="850"/>
                                  </p:stCondLst>
                                  <p:childTnLst>
                                    <p:animEffect transition="out" filter="fade">
                                      <p:cBhvr>
                                        <p:cTn id="55" dur="104"/>
                                        <p:tgtEl>
                                          <p:spTgt spid="14003"/>
                                        </p:tgtEl>
                                      </p:cBhvr>
                                    </p:animEffect>
                                    <p:set>
                                      <p:cBhvr>
                                        <p:cTn id="56" dur="1" fill="hold">
                                          <p:stCondLst>
                                            <p:cond delay="103"/>
                                          </p:stCondLst>
                                        </p:cTn>
                                        <p:tgtEl>
                                          <p:spTgt spid="14003"/>
                                        </p:tgtEl>
                                        <p:attrNameLst>
                                          <p:attrName>style.visibility</p:attrName>
                                        </p:attrNameLst>
                                      </p:cBhvr>
                                      <p:to>
                                        <p:strVal val="hidden"/>
                                      </p:to>
                                    </p:set>
                                  </p:childTnLst>
                                </p:cTn>
                              </p:par>
                              <p:par>
                                <p:cTn id="57" presetID="10" presetClass="exit" presetSubtype="0" fill="hold" nodeType="withEffect">
                                  <p:stCondLst>
                                    <p:cond delay="850"/>
                                  </p:stCondLst>
                                  <p:childTnLst>
                                    <p:animEffect transition="out" filter="fade">
                                      <p:cBhvr>
                                        <p:cTn id="58" dur="104"/>
                                        <p:tgtEl>
                                          <p:spTgt spid="14004"/>
                                        </p:tgtEl>
                                      </p:cBhvr>
                                    </p:animEffect>
                                    <p:set>
                                      <p:cBhvr>
                                        <p:cTn id="59" dur="1" fill="hold">
                                          <p:stCondLst>
                                            <p:cond delay="103"/>
                                          </p:stCondLst>
                                        </p:cTn>
                                        <p:tgtEl>
                                          <p:spTgt spid="14004"/>
                                        </p:tgtEl>
                                        <p:attrNameLst>
                                          <p:attrName>style.visibility</p:attrName>
                                        </p:attrNameLst>
                                      </p:cBhvr>
                                      <p:to>
                                        <p:strVal val="hidden"/>
                                      </p:to>
                                    </p:set>
                                  </p:childTnLst>
                                </p:cTn>
                              </p:par>
                              <p:par>
                                <p:cTn id="60" presetID="10" presetClass="exit" presetSubtype="0" fill="hold" nodeType="withEffect">
                                  <p:stCondLst>
                                    <p:cond delay="850"/>
                                  </p:stCondLst>
                                  <p:childTnLst>
                                    <p:animEffect transition="out" filter="fade">
                                      <p:cBhvr>
                                        <p:cTn id="61" dur="104"/>
                                        <p:tgtEl>
                                          <p:spTgt spid="14005"/>
                                        </p:tgtEl>
                                      </p:cBhvr>
                                    </p:animEffect>
                                    <p:set>
                                      <p:cBhvr>
                                        <p:cTn id="62" dur="1" fill="hold">
                                          <p:stCondLst>
                                            <p:cond delay="103"/>
                                          </p:stCondLst>
                                        </p:cTn>
                                        <p:tgtEl>
                                          <p:spTgt spid="14005"/>
                                        </p:tgtEl>
                                        <p:attrNameLst>
                                          <p:attrName>style.visibility</p:attrName>
                                        </p:attrNameLst>
                                      </p:cBhvr>
                                      <p:to>
                                        <p:strVal val="hidden"/>
                                      </p:to>
                                    </p:set>
                                  </p:childTnLst>
                                </p:cTn>
                              </p:par>
                              <p:par>
                                <p:cTn id="63" presetID="10" presetClass="exit" presetSubtype="0" fill="hold" nodeType="withEffect">
                                  <p:stCondLst>
                                    <p:cond delay="850"/>
                                  </p:stCondLst>
                                  <p:childTnLst>
                                    <p:animEffect transition="out" filter="fade">
                                      <p:cBhvr>
                                        <p:cTn id="64" dur="104"/>
                                        <p:tgtEl>
                                          <p:spTgt spid="14006"/>
                                        </p:tgtEl>
                                      </p:cBhvr>
                                    </p:animEffect>
                                    <p:set>
                                      <p:cBhvr>
                                        <p:cTn id="65" dur="1" fill="hold">
                                          <p:stCondLst>
                                            <p:cond delay="103"/>
                                          </p:stCondLst>
                                        </p:cTn>
                                        <p:tgtEl>
                                          <p:spTgt spid="14006"/>
                                        </p:tgtEl>
                                        <p:attrNameLst>
                                          <p:attrName>style.visibility</p:attrName>
                                        </p:attrNameLst>
                                      </p:cBhvr>
                                      <p:to>
                                        <p:strVal val="hidden"/>
                                      </p:to>
                                    </p:set>
                                  </p:childTnLst>
                                </p:cTn>
                              </p:par>
                              <p:par>
                                <p:cTn id="66" presetID="10" presetClass="exit" presetSubtype="0" fill="hold" nodeType="withEffect">
                                  <p:stCondLst>
                                    <p:cond delay="663"/>
                                  </p:stCondLst>
                                  <p:childTnLst>
                                    <p:animEffect transition="out" filter="fade">
                                      <p:cBhvr>
                                        <p:cTn id="67" dur="104"/>
                                        <p:tgtEl>
                                          <p:spTgt spid="14007"/>
                                        </p:tgtEl>
                                      </p:cBhvr>
                                    </p:animEffect>
                                    <p:set>
                                      <p:cBhvr>
                                        <p:cTn id="68" dur="1" fill="hold">
                                          <p:stCondLst>
                                            <p:cond delay="103"/>
                                          </p:stCondLst>
                                        </p:cTn>
                                        <p:tgtEl>
                                          <p:spTgt spid="14007"/>
                                        </p:tgtEl>
                                        <p:attrNameLst>
                                          <p:attrName>style.visibility</p:attrName>
                                        </p:attrNameLst>
                                      </p:cBhvr>
                                      <p:to>
                                        <p:strVal val="hidden"/>
                                      </p:to>
                                    </p:set>
                                  </p:childTnLst>
                                </p:cTn>
                              </p:par>
                              <p:par>
                                <p:cTn id="69" presetID="10" presetClass="entr" presetSubtype="0" fill="hold" nodeType="withEffect">
                                  <p:stCondLst>
                                    <p:cond delay="850"/>
                                  </p:stCondLst>
                                  <p:childTnLst>
                                    <p:animEffect transition="in" filter="fade">
                                      <p:cBhvr>
                                        <p:cTn id="70" dur="124"/>
                                        <p:tgtEl>
                                          <p:spTgt spid="14009"/>
                                        </p:tgtEl>
                                      </p:cBhvr>
                                    </p:animEffect>
                                    <p:set>
                                      <p:cBhvr>
                                        <p:cTn id="71" dur="1" fill="hold">
                                          <p:stCondLst>
                                            <p:cond delay="0"/>
                                          </p:stCondLst>
                                        </p:cTn>
                                        <p:tgtEl>
                                          <p:spTgt spid="14009"/>
                                        </p:tgtEl>
                                        <p:attrNameLst>
                                          <p:attrName>style.visibility</p:attrName>
                                        </p:attrNameLst>
                                      </p:cBhvr>
                                      <p:to>
                                        <p:strVal val="visible"/>
                                      </p:to>
                                    </p:set>
                                  </p:childTnLst>
                                </p:cTn>
                              </p:par>
                              <p:par>
                                <p:cTn id="72" presetID="10" presetClass="entr" presetSubtype="0" fill="hold" nodeType="withEffect">
                                  <p:stCondLst>
                                    <p:cond delay="850"/>
                                  </p:stCondLst>
                                  <p:childTnLst>
                                    <p:animEffect transition="in" filter="fade">
                                      <p:cBhvr>
                                        <p:cTn id="73" dur="124"/>
                                        <p:tgtEl>
                                          <p:spTgt spid="14010"/>
                                        </p:tgtEl>
                                      </p:cBhvr>
                                    </p:animEffect>
                                    <p:set>
                                      <p:cBhvr>
                                        <p:cTn id="74" dur="1" fill="hold">
                                          <p:stCondLst>
                                            <p:cond delay="0"/>
                                          </p:stCondLst>
                                        </p:cTn>
                                        <p:tgtEl>
                                          <p:spTgt spid="14010"/>
                                        </p:tgtEl>
                                        <p:attrNameLst>
                                          <p:attrName>style.visibility</p:attrName>
                                        </p:attrNameLst>
                                      </p:cBhvr>
                                      <p:to>
                                        <p:strVal val="visible"/>
                                      </p:to>
                                    </p:set>
                                  </p:childTnLst>
                                </p:cTn>
                              </p:par>
                              <p:par>
                                <p:cTn id="75" presetID="10" presetClass="entr" presetSubtype="0" fill="hold" nodeType="withEffect">
                                  <p:stCondLst>
                                    <p:cond delay="850"/>
                                  </p:stCondLst>
                                  <p:childTnLst>
                                    <p:animEffect transition="in" filter="fade">
                                      <p:cBhvr>
                                        <p:cTn id="76" dur="124"/>
                                        <p:tgtEl>
                                          <p:spTgt spid="14011"/>
                                        </p:tgtEl>
                                      </p:cBhvr>
                                    </p:animEffect>
                                    <p:set>
                                      <p:cBhvr>
                                        <p:cTn id="77" dur="1" fill="hold">
                                          <p:stCondLst>
                                            <p:cond delay="0"/>
                                          </p:stCondLst>
                                        </p:cTn>
                                        <p:tgtEl>
                                          <p:spTgt spid="14011"/>
                                        </p:tgtEl>
                                        <p:attrNameLst>
                                          <p:attrName>style.visibility</p:attrName>
                                        </p:attrNameLst>
                                      </p:cBhvr>
                                      <p:to>
                                        <p:strVal val="visible"/>
                                      </p:to>
                                    </p:set>
                                  </p:childTnLst>
                                </p:cTn>
                              </p:par>
                              <p:par>
                                <p:cTn id="78" presetID="10" presetClass="entr" presetSubtype="0" fill="hold" nodeType="withEffect">
                                  <p:stCondLst>
                                    <p:cond delay="850"/>
                                  </p:stCondLst>
                                  <p:childTnLst>
                                    <p:animEffect transition="in" filter="fade">
                                      <p:cBhvr>
                                        <p:cTn id="79" dur="124"/>
                                        <p:tgtEl>
                                          <p:spTgt spid="14012"/>
                                        </p:tgtEl>
                                      </p:cBhvr>
                                    </p:animEffect>
                                    <p:set>
                                      <p:cBhvr>
                                        <p:cTn id="80" dur="1" fill="hold">
                                          <p:stCondLst>
                                            <p:cond delay="0"/>
                                          </p:stCondLst>
                                        </p:cTn>
                                        <p:tgtEl>
                                          <p:spTgt spid="14012"/>
                                        </p:tgtEl>
                                        <p:attrNameLst>
                                          <p:attrName>style.visibility</p:attrName>
                                        </p:attrNameLst>
                                      </p:cBhvr>
                                      <p:to>
                                        <p:strVal val="visible"/>
                                      </p:to>
                                    </p:set>
                                  </p:childTnLst>
                                </p:cTn>
                              </p:par>
                              <p:par>
                                <p:cTn id="81" presetID="10" presetClass="entr" presetSubtype="0" fill="hold" nodeType="withEffect">
                                  <p:stCondLst>
                                    <p:cond delay="850"/>
                                  </p:stCondLst>
                                  <p:childTnLst>
                                    <p:animEffect transition="in" filter="fade">
                                      <p:cBhvr>
                                        <p:cTn id="82" dur="124"/>
                                        <p:tgtEl>
                                          <p:spTgt spid="14013"/>
                                        </p:tgtEl>
                                      </p:cBhvr>
                                    </p:animEffect>
                                    <p:set>
                                      <p:cBhvr>
                                        <p:cTn id="83" dur="1" fill="hold">
                                          <p:stCondLst>
                                            <p:cond delay="0"/>
                                          </p:stCondLst>
                                        </p:cTn>
                                        <p:tgtEl>
                                          <p:spTgt spid="14013"/>
                                        </p:tgtEl>
                                        <p:attrNameLst>
                                          <p:attrName>style.visibility</p:attrName>
                                        </p:attrNameLst>
                                      </p:cBhvr>
                                      <p:to>
                                        <p:strVal val="visible"/>
                                      </p:to>
                                    </p:set>
                                  </p:childTnLst>
                                </p:cTn>
                              </p:par>
                              <p:par>
                                <p:cTn id="84" presetID="10" presetClass="entr" presetSubtype="0" fill="hold" nodeType="withEffect">
                                  <p:stCondLst>
                                    <p:cond delay="850"/>
                                  </p:stCondLst>
                                  <p:childTnLst>
                                    <p:animEffect transition="in" filter="fade">
                                      <p:cBhvr>
                                        <p:cTn id="85" dur="124"/>
                                        <p:tgtEl>
                                          <p:spTgt spid="14014"/>
                                        </p:tgtEl>
                                      </p:cBhvr>
                                    </p:animEffect>
                                    <p:set>
                                      <p:cBhvr>
                                        <p:cTn id="86" dur="1" fill="hold">
                                          <p:stCondLst>
                                            <p:cond delay="0"/>
                                          </p:stCondLst>
                                        </p:cTn>
                                        <p:tgtEl>
                                          <p:spTgt spid="14014"/>
                                        </p:tgtEl>
                                        <p:attrNameLst>
                                          <p:attrName>style.visibility</p:attrName>
                                        </p:attrNameLst>
                                      </p:cBhvr>
                                      <p:to>
                                        <p:strVal val="visible"/>
                                      </p:to>
                                    </p:set>
                                  </p:childTnLst>
                                </p:cTn>
                              </p:par>
                              <p:par>
                                <p:cTn id="87" presetID="10" presetClass="entr" presetSubtype="0" fill="hold" nodeType="withEffect">
                                  <p:stCondLst>
                                    <p:cond delay="850"/>
                                  </p:stCondLst>
                                  <p:childTnLst>
                                    <p:animEffect transition="in" filter="fade">
                                      <p:cBhvr>
                                        <p:cTn id="88" dur="124"/>
                                        <p:tgtEl>
                                          <p:spTgt spid="14015"/>
                                        </p:tgtEl>
                                      </p:cBhvr>
                                    </p:animEffect>
                                    <p:set>
                                      <p:cBhvr>
                                        <p:cTn id="89" dur="1" fill="hold">
                                          <p:stCondLst>
                                            <p:cond delay="0"/>
                                          </p:stCondLst>
                                        </p:cTn>
                                        <p:tgtEl>
                                          <p:spTgt spid="14015"/>
                                        </p:tgtEl>
                                        <p:attrNameLst>
                                          <p:attrName>style.visibility</p:attrName>
                                        </p:attrNameLst>
                                      </p:cBhvr>
                                      <p:to>
                                        <p:strVal val="visible"/>
                                      </p:to>
                                    </p:set>
                                  </p:childTnLst>
                                </p:cTn>
                              </p:par>
                              <p:par>
                                <p:cTn id="90" presetID="10" presetClass="entr" presetSubtype="0" fill="hold" nodeType="withEffect">
                                  <p:stCondLst>
                                    <p:cond delay="850"/>
                                  </p:stCondLst>
                                  <p:childTnLst>
                                    <p:animEffect transition="in" filter="fade">
                                      <p:cBhvr>
                                        <p:cTn id="91" dur="124"/>
                                        <p:tgtEl>
                                          <p:spTgt spid="14016"/>
                                        </p:tgtEl>
                                      </p:cBhvr>
                                    </p:animEffect>
                                    <p:set>
                                      <p:cBhvr>
                                        <p:cTn id="92" dur="1" fill="hold">
                                          <p:stCondLst>
                                            <p:cond delay="0"/>
                                          </p:stCondLst>
                                        </p:cTn>
                                        <p:tgtEl>
                                          <p:spTgt spid="14016"/>
                                        </p:tgtEl>
                                        <p:attrNameLst>
                                          <p:attrName>style.visibility</p:attrName>
                                        </p:attrNameLst>
                                      </p:cBhvr>
                                      <p:to>
                                        <p:strVal val="visible"/>
                                      </p:to>
                                    </p:set>
                                  </p:childTnLst>
                                </p:cTn>
                              </p:par>
                              <p:par>
                                <p:cTn id="93" presetID="10" presetClass="entr" presetSubtype="0" fill="hold" nodeType="withEffect">
                                  <p:stCondLst>
                                    <p:cond delay="850"/>
                                  </p:stCondLst>
                                  <p:childTnLst>
                                    <p:animEffect transition="in" filter="fade">
                                      <p:cBhvr>
                                        <p:cTn id="94" dur="124"/>
                                        <p:tgtEl>
                                          <p:spTgt spid="14017"/>
                                        </p:tgtEl>
                                      </p:cBhvr>
                                    </p:animEffect>
                                    <p:set>
                                      <p:cBhvr>
                                        <p:cTn id="95" dur="1" fill="hold">
                                          <p:stCondLst>
                                            <p:cond delay="0"/>
                                          </p:stCondLst>
                                        </p:cTn>
                                        <p:tgtEl>
                                          <p:spTgt spid="14017"/>
                                        </p:tgtEl>
                                        <p:attrNameLst>
                                          <p:attrName>style.visibility</p:attrName>
                                        </p:attrNameLst>
                                      </p:cBhvr>
                                      <p:to>
                                        <p:strVal val="visible"/>
                                      </p:to>
                                    </p:set>
                                  </p:childTnLst>
                                </p:cTn>
                              </p:par>
                              <p:par>
                                <p:cTn id="96" presetID="10" presetClass="entr" presetSubtype="0" fill="hold" nodeType="withEffect">
                                  <p:stCondLst>
                                    <p:cond delay="850"/>
                                  </p:stCondLst>
                                  <p:childTnLst>
                                    <p:animEffect transition="in" filter="fade">
                                      <p:cBhvr>
                                        <p:cTn id="97" dur="124"/>
                                        <p:tgtEl>
                                          <p:spTgt spid="14018"/>
                                        </p:tgtEl>
                                      </p:cBhvr>
                                    </p:animEffect>
                                    <p:set>
                                      <p:cBhvr>
                                        <p:cTn id="98" dur="1" fill="hold">
                                          <p:stCondLst>
                                            <p:cond delay="0"/>
                                          </p:stCondLst>
                                        </p:cTn>
                                        <p:tgtEl>
                                          <p:spTgt spid="14018"/>
                                        </p:tgtEl>
                                        <p:attrNameLst>
                                          <p:attrName>style.visibility</p:attrName>
                                        </p:attrNameLst>
                                      </p:cBhvr>
                                      <p:to>
                                        <p:strVal val="visible"/>
                                      </p:to>
                                    </p:set>
                                  </p:childTnLst>
                                </p:cTn>
                              </p:par>
                              <p:par>
                                <p:cTn id="99" presetID="10" presetClass="entr" presetSubtype="0" fill="hold" nodeType="withEffect">
                                  <p:stCondLst>
                                    <p:cond delay="850"/>
                                  </p:stCondLst>
                                  <p:childTnLst>
                                    <p:animEffect transition="in" filter="fade">
                                      <p:cBhvr>
                                        <p:cTn id="100" dur="124"/>
                                        <p:tgtEl>
                                          <p:spTgt spid="14019"/>
                                        </p:tgtEl>
                                      </p:cBhvr>
                                    </p:animEffect>
                                    <p:set>
                                      <p:cBhvr>
                                        <p:cTn id="101" dur="1" fill="hold">
                                          <p:stCondLst>
                                            <p:cond delay="0"/>
                                          </p:stCondLst>
                                        </p:cTn>
                                        <p:tgtEl>
                                          <p:spTgt spid="14019"/>
                                        </p:tgtEl>
                                        <p:attrNameLst>
                                          <p:attrName>style.visibility</p:attrName>
                                        </p:attrNameLst>
                                      </p:cBhvr>
                                      <p:to>
                                        <p:strVal val="visible"/>
                                      </p:to>
                                    </p:set>
                                  </p:childTnLst>
                                </p:cTn>
                              </p:par>
                              <p:par>
                                <p:cTn id="102" presetID="10" presetClass="entr" presetSubtype="0" fill="hold" nodeType="withEffect">
                                  <p:stCondLst>
                                    <p:cond delay="850"/>
                                  </p:stCondLst>
                                  <p:childTnLst>
                                    <p:animEffect transition="in" filter="fade">
                                      <p:cBhvr>
                                        <p:cTn id="103" dur="124"/>
                                        <p:tgtEl>
                                          <p:spTgt spid="14020"/>
                                        </p:tgtEl>
                                      </p:cBhvr>
                                    </p:animEffect>
                                    <p:set>
                                      <p:cBhvr>
                                        <p:cTn id="104" dur="1" fill="hold">
                                          <p:stCondLst>
                                            <p:cond delay="0"/>
                                          </p:stCondLst>
                                        </p:cTn>
                                        <p:tgtEl>
                                          <p:spTgt spid="14020"/>
                                        </p:tgtEl>
                                        <p:attrNameLst>
                                          <p:attrName>style.visibility</p:attrName>
                                        </p:attrNameLst>
                                      </p:cBhvr>
                                      <p:to>
                                        <p:strVal val="visible"/>
                                      </p:to>
                                    </p:set>
                                  </p:childTnLst>
                                </p:cTn>
                              </p:par>
                              <p:par>
                                <p:cTn id="105" presetID="10" presetClass="entr" presetSubtype="0" fill="hold" nodeType="withEffect">
                                  <p:stCondLst>
                                    <p:cond delay="850"/>
                                  </p:stCondLst>
                                  <p:childTnLst>
                                    <p:animEffect transition="in" filter="fade">
                                      <p:cBhvr>
                                        <p:cTn id="106" dur="124"/>
                                        <p:tgtEl>
                                          <p:spTgt spid="14021"/>
                                        </p:tgtEl>
                                      </p:cBhvr>
                                    </p:animEffect>
                                    <p:set>
                                      <p:cBhvr>
                                        <p:cTn id="107" dur="1" fill="hold">
                                          <p:stCondLst>
                                            <p:cond delay="0"/>
                                          </p:stCondLst>
                                        </p:cTn>
                                        <p:tgtEl>
                                          <p:spTgt spid="14021"/>
                                        </p:tgtEl>
                                        <p:attrNameLst>
                                          <p:attrName>style.visibility</p:attrName>
                                        </p:attrNameLst>
                                      </p:cBhvr>
                                      <p:to>
                                        <p:strVal val="visible"/>
                                      </p:to>
                                    </p:set>
                                  </p:childTnLst>
                                </p:cTn>
                              </p:par>
                              <p:par>
                                <p:cTn id="108" presetID="10" presetClass="exit" presetSubtype="0" fill="hold" nodeType="withEffect">
                                  <p:stCondLst>
                                    <p:cond delay="1720"/>
                                  </p:stCondLst>
                                  <p:childTnLst>
                                    <p:animEffect transition="out" filter="fade">
                                      <p:cBhvr>
                                        <p:cTn id="109" dur="104"/>
                                        <p:tgtEl>
                                          <p:spTgt spid="14009"/>
                                        </p:tgtEl>
                                      </p:cBhvr>
                                    </p:animEffect>
                                    <p:set>
                                      <p:cBhvr>
                                        <p:cTn id="110" dur="1" fill="hold">
                                          <p:stCondLst>
                                            <p:cond delay="103"/>
                                          </p:stCondLst>
                                        </p:cTn>
                                        <p:tgtEl>
                                          <p:spTgt spid="14009"/>
                                        </p:tgtEl>
                                        <p:attrNameLst>
                                          <p:attrName>style.visibility</p:attrName>
                                        </p:attrNameLst>
                                      </p:cBhvr>
                                      <p:to>
                                        <p:strVal val="hidden"/>
                                      </p:to>
                                    </p:set>
                                  </p:childTnLst>
                                </p:cTn>
                              </p:par>
                              <p:par>
                                <p:cTn id="111" presetID="10" presetClass="exit" presetSubtype="0" fill="hold" nodeType="withEffect">
                                  <p:stCondLst>
                                    <p:cond delay="1720"/>
                                  </p:stCondLst>
                                  <p:childTnLst>
                                    <p:animEffect transition="out" filter="fade">
                                      <p:cBhvr>
                                        <p:cTn id="112" dur="104"/>
                                        <p:tgtEl>
                                          <p:spTgt spid="14010"/>
                                        </p:tgtEl>
                                      </p:cBhvr>
                                    </p:animEffect>
                                    <p:set>
                                      <p:cBhvr>
                                        <p:cTn id="113" dur="1" fill="hold">
                                          <p:stCondLst>
                                            <p:cond delay="103"/>
                                          </p:stCondLst>
                                        </p:cTn>
                                        <p:tgtEl>
                                          <p:spTgt spid="14010"/>
                                        </p:tgtEl>
                                        <p:attrNameLst>
                                          <p:attrName>style.visibility</p:attrName>
                                        </p:attrNameLst>
                                      </p:cBhvr>
                                      <p:to>
                                        <p:strVal val="hidden"/>
                                      </p:to>
                                    </p:set>
                                  </p:childTnLst>
                                </p:cTn>
                              </p:par>
                              <p:par>
                                <p:cTn id="114" presetID="10" presetClass="exit" presetSubtype="0" fill="hold" nodeType="withEffect">
                                  <p:stCondLst>
                                    <p:cond delay="1720"/>
                                  </p:stCondLst>
                                  <p:childTnLst>
                                    <p:animEffect transition="out" filter="fade">
                                      <p:cBhvr>
                                        <p:cTn id="115" dur="104"/>
                                        <p:tgtEl>
                                          <p:spTgt spid="14011"/>
                                        </p:tgtEl>
                                      </p:cBhvr>
                                    </p:animEffect>
                                    <p:set>
                                      <p:cBhvr>
                                        <p:cTn id="116" dur="1" fill="hold">
                                          <p:stCondLst>
                                            <p:cond delay="103"/>
                                          </p:stCondLst>
                                        </p:cTn>
                                        <p:tgtEl>
                                          <p:spTgt spid="14011"/>
                                        </p:tgtEl>
                                        <p:attrNameLst>
                                          <p:attrName>style.visibility</p:attrName>
                                        </p:attrNameLst>
                                      </p:cBhvr>
                                      <p:to>
                                        <p:strVal val="hidden"/>
                                      </p:to>
                                    </p:set>
                                  </p:childTnLst>
                                </p:cTn>
                              </p:par>
                              <p:par>
                                <p:cTn id="117" presetID="10" presetClass="exit" presetSubtype="0" fill="hold" nodeType="withEffect">
                                  <p:stCondLst>
                                    <p:cond delay="1720"/>
                                  </p:stCondLst>
                                  <p:childTnLst>
                                    <p:animEffect transition="out" filter="fade">
                                      <p:cBhvr>
                                        <p:cTn id="118" dur="104"/>
                                        <p:tgtEl>
                                          <p:spTgt spid="14012"/>
                                        </p:tgtEl>
                                      </p:cBhvr>
                                    </p:animEffect>
                                    <p:set>
                                      <p:cBhvr>
                                        <p:cTn id="119" dur="1" fill="hold">
                                          <p:stCondLst>
                                            <p:cond delay="103"/>
                                          </p:stCondLst>
                                        </p:cTn>
                                        <p:tgtEl>
                                          <p:spTgt spid="14012"/>
                                        </p:tgtEl>
                                        <p:attrNameLst>
                                          <p:attrName>style.visibility</p:attrName>
                                        </p:attrNameLst>
                                      </p:cBhvr>
                                      <p:to>
                                        <p:strVal val="hidden"/>
                                      </p:to>
                                    </p:set>
                                  </p:childTnLst>
                                </p:cTn>
                              </p:par>
                              <p:par>
                                <p:cTn id="120" presetID="10" presetClass="exit" presetSubtype="0" fill="hold" nodeType="withEffect">
                                  <p:stCondLst>
                                    <p:cond delay="1720"/>
                                  </p:stCondLst>
                                  <p:childTnLst>
                                    <p:animEffect transition="out" filter="fade">
                                      <p:cBhvr>
                                        <p:cTn id="121" dur="104"/>
                                        <p:tgtEl>
                                          <p:spTgt spid="14013"/>
                                        </p:tgtEl>
                                      </p:cBhvr>
                                    </p:animEffect>
                                    <p:set>
                                      <p:cBhvr>
                                        <p:cTn id="122" dur="1" fill="hold">
                                          <p:stCondLst>
                                            <p:cond delay="103"/>
                                          </p:stCondLst>
                                        </p:cTn>
                                        <p:tgtEl>
                                          <p:spTgt spid="14013"/>
                                        </p:tgtEl>
                                        <p:attrNameLst>
                                          <p:attrName>style.visibility</p:attrName>
                                        </p:attrNameLst>
                                      </p:cBhvr>
                                      <p:to>
                                        <p:strVal val="hidden"/>
                                      </p:to>
                                    </p:set>
                                  </p:childTnLst>
                                </p:cTn>
                              </p:par>
                              <p:par>
                                <p:cTn id="123" presetID="10" presetClass="exit" presetSubtype="0" fill="hold" nodeType="withEffect">
                                  <p:stCondLst>
                                    <p:cond delay="1720"/>
                                  </p:stCondLst>
                                  <p:childTnLst>
                                    <p:animEffect transition="out" filter="fade">
                                      <p:cBhvr>
                                        <p:cTn id="124" dur="104"/>
                                        <p:tgtEl>
                                          <p:spTgt spid="14014"/>
                                        </p:tgtEl>
                                      </p:cBhvr>
                                    </p:animEffect>
                                    <p:set>
                                      <p:cBhvr>
                                        <p:cTn id="125" dur="1" fill="hold">
                                          <p:stCondLst>
                                            <p:cond delay="103"/>
                                          </p:stCondLst>
                                        </p:cTn>
                                        <p:tgtEl>
                                          <p:spTgt spid="14014"/>
                                        </p:tgtEl>
                                        <p:attrNameLst>
                                          <p:attrName>style.visibility</p:attrName>
                                        </p:attrNameLst>
                                      </p:cBhvr>
                                      <p:to>
                                        <p:strVal val="hidden"/>
                                      </p:to>
                                    </p:set>
                                  </p:childTnLst>
                                </p:cTn>
                              </p:par>
                              <p:par>
                                <p:cTn id="126" presetID="10" presetClass="exit" presetSubtype="0" fill="hold" nodeType="withEffect">
                                  <p:stCondLst>
                                    <p:cond delay="1720"/>
                                  </p:stCondLst>
                                  <p:childTnLst>
                                    <p:animEffect transition="out" filter="fade">
                                      <p:cBhvr>
                                        <p:cTn id="127" dur="104"/>
                                        <p:tgtEl>
                                          <p:spTgt spid="14015"/>
                                        </p:tgtEl>
                                      </p:cBhvr>
                                    </p:animEffect>
                                    <p:set>
                                      <p:cBhvr>
                                        <p:cTn id="128" dur="1" fill="hold">
                                          <p:stCondLst>
                                            <p:cond delay="103"/>
                                          </p:stCondLst>
                                        </p:cTn>
                                        <p:tgtEl>
                                          <p:spTgt spid="14015"/>
                                        </p:tgtEl>
                                        <p:attrNameLst>
                                          <p:attrName>style.visibility</p:attrName>
                                        </p:attrNameLst>
                                      </p:cBhvr>
                                      <p:to>
                                        <p:strVal val="hidden"/>
                                      </p:to>
                                    </p:set>
                                  </p:childTnLst>
                                </p:cTn>
                              </p:par>
                              <p:par>
                                <p:cTn id="129" presetID="0" presetClass="path" presetSubtype="0" fill="hold" nodeType="withEffect">
                                  <p:stCondLst>
                                    <p:cond delay="1326"/>
                                  </p:stCondLst>
                                  <p:childTnLst>
                                    <p:animMotion origin="layout" path="M 0 0 L -0.072222222 0.064197531 E" pathEditMode="relative" rAng="0">
                                      <p:cBhvr>
                                        <p:cTn id="130" dur="497" accel="20000" decel="20000" fill="hold"/>
                                        <p:tgtEl>
                                          <p:spTgt spid="14016"/>
                                        </p:tgtEl>
                                        <p:attrNameLst>
                                          <p:attrName>ppt_x</p:attrName>
                                          <p:attrName>ppt_y</p:attrName>
                                        </p:attrNameLst>
                                      </p:cBhvr>
                                      <p:rCtr x="0" y="0"/>
                                    </p:animMotion>
                                  </p:childTnLst>
                                </p:cTn>
                              </p:par>
                              <p:par>
                                <p:cTn id="131" presetID="10" presetClass="exit" presetSubtype="0" fill="hold" nodeType="withEffect">
                                  <p:stCondLst>
                                    <p:cond delay="1720"/>
                                  </p:stCondLst>
                                  <p:childTnLst>
                                    <p:animEffect transition="out" filter="fade">
                                      <p:cBhvr>
                                        <p:cTn id="132" dur="104"/>
                                        <p:tgtEl>
                                          <p:spTgt spid="14016"/>
                                        </p:tgtEl>
                                      </p:cBhvr>
                                    </p:animEffect>
                                    <p:set>
                                      <p:cBhvr>
                                        <p:cTn id="133" dur="1" fill="hold">
                                          <p:stCondLst>
                                            <p:cond delay="103"/>
                                          </p:stCondLst>
                                        </p:cTn>
                                        <p:tgtEl>
                                          <p:spTgt spid="14016"/>
                                        </p:tgtEl>
                                        <p:attrNameLst>
                                          <p:attrName>style.visibility</p:attrName>
                                        </p:attrNameLst>
                                      </p:cBhvr>
                                      <p:to>
                                        <p:strVal val="hidden"/>
                                      </p:to>
                                    </p:set>
                                  </p:childTnLst>
                                </p:cTn>
                              </p:par>
                              <p:par>
                                <p:cTn id="134" presetID="0" presetClass="path" presetSubtype="0" fill="hold" nodeType="withEffect">
                                  <p:stCondLst>
                                    <p:cond delay="1326"/>
                                  </p:stCondLst>
                                  <p:childTnLst>
                                    <p:animMotion origin="layout" path="M 0 0 L 0.072222222 -0.064197531 E" pathEditMode="relative" rAng="0">
                                      <p:cBhvr>
                                        <p:cTn id="135" dur="497" accel="20000" decel="20000" fill="hold"/>
                                        <p:tgtEl>
                                          <p:spTgt spid="14017"/>
                                        </p:tgtEl>
                                        <p:attrNameLst>
                                          <p:attrName>ppt_x</p:attrName>
                                          <p:attrName>ppt_y</p:attrName>
                                        </p:attrNameLst>
                                      </p:cBhvr>
                                      <p:rCtr x="0" y="0"/>
                                    </p:animMotion>
                                  </p:childTnLst>
                                </p:cTn>
                              </p:par>
                              <p:par>
                                <p:cTn id="136" presetID="10" presetClass="exit" presetSubtype="0" fill="hold" nodeType="withEffect">
                                  <p:stCondLst>
                                    <p:cond delay="1720"/>
                                  </p:stCondLst>
                                  <p:childTnLst>
                                    <p:animEffect transition="out" filter="fade">
                                      <p:cBhvr>
                                        <p:cTn id="137" dur="104"/>
                                        <p:tgtEl>
                                          <p:spTgt spid="14017"/>
                                        </p:tgtEl>
                                      </p:cBhvr>
                                    </p:animEffect>
                                    <p:set>
                                      <p:cBhvr>
                                        <p:cTn id="138" dur="1" fill="hold">
                                          <p:stCondLst>
                                            <p:cond delay="103"/>
                                          </p:stCondLst>
                                        </p:cTn>
                                        <p:tgtEl>
                                          <p:spTgt spid="14017"/>
                                        </p:tgtEl>
                                        <p:attrNameLst>
                                          <p:attrName>style.visibility</p:attrName>
                                        </p:attrNameLst>
                                      </p:cBhvr>
                                      <p:to>
                                        <p:strVal val="hidden"/>
                                      </p:to>
                                    </p:set>
                                  </p:childTnLst>
                                </p:cTn>
                              </p:par>
                              <p:par>
                                <p:cTn id="139" presetID="10" presetClass="exit" presetSubtype="0" fill="hold" nodeType="withEffect">
                                  <p:stCondLst>
                                    <p:cond delay="1720"/>
                                  </p:stCondLst>
                                  <p:childTnLst>
                                    <p:animEffect transition="out" filter="fade">
                                      <p:cBhvr>
                                        <p:cTn id="140" dur="104"/>
                                        <p:tgtEl>
                                          <p:spTgt spid="14018"/>
                                        </p:tgtEl>
                                      </p:cBhvr>
                                    </p:animEffect>
                                    <p:set>
                                      <p:cBhvr>
                                        <p:cTn id="141" dur="1" fill="hold">
                                          <p:stCondLst>
                                            <p:cond delay="103"/>
                                          </p:stCondLst>
                                        </p:cTn>
                                        <p:tgtEl>
                                          <p:spTgt spid="14018"/>
                                        </p:tgtEl>
                                        <p:attrNameLst>
                                          <p:attrName>style.visibility</p:attrName>
                                        </p:attrNameLst>
                                      </p:cBhvr>
                                      <p:to>
                                        <p:strVal val="hidden"/>
                                      </p:to>
                                    </p:set>
                                  </p:childTnLst>
                                </p:cTn>
                              </p:par>
                              <p:par>
                                <p:cTn id="142" presetID="10" presetClass="exit" presetSubtype="0" fill="hold" nodeType="withEffect">
                                  <p:stCondLst>
                                    <p:cond delay="1720"/>
                                  </p:stCondLst>
                                  <p:childTnLst>
                                    <p:animEffect transition="out" filter="fade">
                                      <p:cBhvr>
                                        <p:cTn id="143" dur="104"/>
                                        <p:tgtEl>
                                          <p:spTgt spid="14019"/>
                                        </p:tgtEl>
                                      </p:cBhvr>
                                    </p:animEffect>
                                    <p:set>
                                      <p:cBhvr>
                                        <p:cTn id="144" dur="1" fill="hold">
                                          <p:stCondLst>
                                            <p:cond delay="103"/>
                                          </p:stCondLst>
                                        </p:cTn>
                                        <p:tgtEl>
                                          <p:spTgt spid="14019"/>
                                        </p:tgtEl>
                                        <p:attrNameLst>
                                          <p:attrName>style.visibility</p:attrName>
                                        </p:attrNameLst>
                                      </p:cBhvr>
                                      <p:to>
                                        <p:strVal val="hidden"/>
                                      </p:to>
                                    </p:set>
                                  </p:childTnLst>
                                </p:cTn>
                              </p:par>
                              <p:par>
                                <p:cTn id="145" presetID="10" presetClass="exit" presetSubtype="0" fill="hold" nodeType="withEffect">
                                  <p:stCondLst>
                                    <p:cond delay="1720"/>
                                  </p:stCondLst>
                                  <p:childTnLst>
                                    <p:animEffect transition="out" filter="fade">
                                      <p:cBhvr>
                                        <p:cTn id="146" dur="104"/>
                                        <p:tgtEl>
                                          <p:spTgt spid="14020"/>
                                        </p:tgtEl>
                                      </p:cBhvr>
                                    </p:animEffect>
                                    <p:set>
                                      <p:cBhvr>
                                        <p:cTn id="147" dur="1" fill="hold">
                                          <p:stCondLst>
                                            <p:cond delay="103"/>
                                          </p:stCondLst>
                                        </p:cTn>
                                        <p:tgtEl>
                                          <p:spTgt spid="14020"/>
                                        </p:tgtEl>
                                        <p:attrNameLst>
                                          <p:attrName>style.visibility</p:attrName>
                                        </p:attrNameLst>
                                      </p:cBhvr>
                                      <p:to>
                                        <p:strVal val="hidden"/>
                                      </p:to>
                                    </p:set>
                                  </p:childTnLst>
                                </p:cTn>
                              </p:par>
                              <p:par>
                                <p:cTn id="148" presetID="10" presetClass="exit" presetSubtype="0" fill="hold" nodeType="withEffect">
                                  <p:stCondLst>
                                    <p:cond delay="1326"/>
                                  </p:stCondLst>
                                  <p:childTnLst>
                                    <p:animEffect transition="out" filter="fade">
                                      <p:cBhvr>
                                        <p:cTn id="149" dur="104"/>
                                        <p:tgtEl>
                                          <p:spTgt spid="14021"/>
                                        </p:tgtEl>
                                      </p:cBhvr>
                                    </p:animEffect>
                                    <p:set>
                                      <p:cBhvr>
                                        <p:cTn id="150" dur="1" fill="hold">
                                          <p:stCondLst>
                                            <p:cond delay="103"/>
                                          </p:stCondLst>
                                        </p:cTn>
                                        <p:tgtEl>
                                          <p:spTgt spid="14021"/>
                                        </p:tgtEl>
                                        <p:attrNameLst>
                                          <p:attrName>style.visibility</p:attrName>
                                        </p:attrNameLst>
                                      </p:cBhvr>
                                      <p:to>
                                        <p:strVal val="hidden"/>
                                      </p:to>
                                    </p:set>
                                  </p:childTnLst>
                                </p:cTn>
                              </p:par>
                              <p:par>
                                <p:cTn id="151" presetID="10" presetClass="entr" presetSubtype="0" fill="hold" nodeType="withEffect">
                                  <p:stCondLst>
                                    <p:cond delay="1720"/>
                                  </p:stCondLst>
                                  <p:childTnLst>
                                    <p:animEffect transition="in" filter="fade">
                                      <p:cBhvr>
                                        <p:cTn id="152" dur="124"/>
                                        <p:tgtEl>
                                          <p:spTgt spid="14023"/>
                                        </p:tgtEl>
                                      </p:cBhvr>
                                    </p:animEffect>
                                    <p:set>
                                      <p:cBhvr>
                                        <p:cTn id="153" dur="1" fill="hold">
                                          <p:stCondLst>
                                            <p:cond delay="0"/>
                                          </p:stCondLst>
                                        </p:cTn>
                                        <p:tgtEl>
                                          <p:spTgt spid="14023"/>
                                        </p:tgtEl>
                                        <p:attrNameLst>
                                          <p:attrName>style.visibility</p:attrName>
                                        </p:attrNameLst>
                                      </p:cBhvr>
                                      <p:to>
                                        <p:strVal val="visible"/>
                                      </p:to>
                                    </p:set>
                                  </p:childTnLst>
                                </p:cTn>
                              </p:par>
                              <p:par>
                                <p:cTn id="154" presetID="10" presetClass="entr" presetSubtype="0" fill="hold" nodeType="withEffect">
                                  <p:stCondLst>
                                    <p:cond delay="1720"/>
                                  </p:stCondLst>
                                  <p:childTnLst>
                                    <p:animEffect transition="in" filter="fade">
                                      <p:cBhvr>
                                        <p:cTn id="155" dur="124"/>
                                        <p:tgtEl>
                                          <p:spTgt spid="14024"/>
                                        </p:tgtEl>
                                      </p:cBhvr>
                                    </p:animEffect>
                                    <p:set>
                                      <p:cBhvr>
                                        <p:cTn id="156" dur="1" fill="hold">
                                          <p:stCondLst>
                                            <p:cond delay="0"/>
                                          </p:stCondLst>
                                        </p:cTn>
                                        <p:tgtEl>
                                          <p:spTgt spid="14024"/>
                                        </p:tgtEl>
                                        <p:attrNameLst>
                                          <p:attrName>style.visibility</p:attrName>
                                        </p:attrNameLst>
                                      </p:cBhvr>
                                      <p:to>
                                        <p:strVal val="visible"/>
                                      </p:to>
                                    </p:set>
                                  </p:childTnLst>
                                </p:cTn>
                              </p:par>
                              <p:par>
                                <p:cTn id="157" presetID="10" presetClass="entr" presetSubtype="0" fill="hold" nodeType="withEffect">
                                  <p:stCondLst>
                                    <p:cond delay="1720"/>
                                  </p:stCondLst>
                                  <p:childTnLst>
                                    <p:animEffect transition="in" filter="fade">
                                      <p:cBhvr>
                                        <p:cTn id="158" dur="124"/>
                                        <p:tgtEl>
                                          <p:spTgt spid="14025"/>
                                        </p:tgtEl>
                                      </p:cBhvr>
                                    </p:animEffect>
                                    <p:set>
                                      <p:cBhvr>
                                        <p:cTn id="159" dur="1" fill="hold">
                                          <p:stCondLst>
                                            <p:cond delay="0"/>
                                          </p:stCondLst>
                                        </p:cTn>
                                        <p:tgtEl>
                                          <p:spTgt spid="14025"/>
                                        </p:tgtEl>
                                        <p:attrNameLst>
                                          <p:attrName>style.visibility</p:attrName>
                                        </p:attrNameLst>
                                      </p:cBhvr>
                                      <p:to>
                                        <p:strVal val="visible"/>
                                      </p:to>
                                    </p:set>
                                  </p:childTnLst>
                                </p:cTn>
                              </p:par>
                              <p:par>
                                <p:cTn id="160" presetID="10" presetClass="entr" presetSubtype="0" fill="hold" nodeType="withEffect">
                                  <p:stCondLst>
                                    <p:cond delay="1720"/>
                                  </p:stCondLst>
                                  <p:childTnLst>
                                    <p:animEffect transition="in" filter="fade">
                                      <p:cBhvr>
                                        <p:cTn id="161" dur="124"/>
                                        <p:tgtEl>
                                          <p:spTgt spid="14026"/>
                                        </p:tgtEl>
                                      </p:cBhvr>
                                    </p:animEffect>
                                    <p:set>
                                      <p:cBhvr>
                                        <p:cTn id="162" dur="1" fill="hold">
                                          <p:stCondLst>
                                            <p:cond delay="0"/>
                                          </p:stCondLst>
                                        </p:cTn>
                                        <p:tgtEl>
                                          <p:spTgt spid="14026"/>
                                        </p:tgtEl>
                                        <p:attrNameLst>
                                          <p:attrName>style.visibility</p:attrName>
                                        </p:attrNameLst>
                                      </p:cBhvr>
                                      <p:to>
                                        <p:strVal val="visible"/>
                                      </p:to>
                                    </p:set>
                                  </p:childTnLst>
                                </p:cTn>
                              </p:par>
                              <p:par>
                                <p:cTn id="163" presetID="10" presetClass="entr" presetSubtype="0" fill="hold" nodeType="withEffect">
                                  <p:stCondLst>
                                    <p:cond delay="1720"/>
                                  </p:stCondLst>
                                  <p:childTnLst>
                                    <p:animEffect transition="in" filter="fade">
                                      <p:cBhvr>
                                        <p:cTn id="164" dur="124"/>
                                        <p:tgtEl>
                                          <p:spTgt spid="14027"/>
                                        </p:tgtEl>
                                      </p:cBhvr>
                                    </p:animEffect>
                                    <p:set>
                                      <p:cBhvr>
                                        <p:cTn id="165" dur="1" fill="hold">
                                          <p:stCondLst>
                                            <p:cond delay="0"/>
                                          </p:stCondLst>
                                        </p:cTn>
                                        <p:tgtEl>
                                          <p:spTgt spid="14027"/>
                                        </p:tgtEl>
                                        <p:attrNameLst>
                                          <p:attrName>style.visibility</p:attrName>
                                        </p:attrNameLst>
                                      </p:cBhvr>
                                      <p:to>
                                        <p:strVal val="visible"/>
                                      </p:to>
                                    </p:set>
                                  </p:childTnLst>
                                </p:cTn>
                              </p:par>
                              <p:par>
                                <p:cTn id="166" presetID="10" presetClass="entr" presetSubtype="0" fill="hold" nodeType="withEffect">
                                  <p:stCondLst>
                                    <p:cond delay="1720"/>
                                  </p:stCondLst>
                                  <p:childTnLst>
                                    <p:animEffect transition="in" filter="fade">
                                      <p:cBhvr>
                                        <p:cTn id="167" dur="124"/>
                                        <p:tgtEl>
                                          <p:spTgt spid="14028"/>
                                        </p:tgtEl>
                                      </p:cBhvr>
                                    </p:animEffect>
                                    <p:set>
                                      <p:cBhvr>
                                        <p:cTn id="168" dur="1" fill="hold">
                                          <p:stCondLst>
                                            <p:cond delay="0"/>
                                          </p:stCondLst>
                                        </p:cTn>
                                        <p:tgtEl>
                                          <p:spTgt spid="14028"/>
                                        </p:tgtEl>
                                        <p:attrNameLst>
                                          <p:attrName>style.visibility</p:attrName>
                                        </p:attrNameLst>
                                      </p:cBhvr>
                                      <p:to>
                                        <p:strVal val="visible"/>
                                      </p:to>
                                    </p:set>
                                  </p:childTnLst>
                                </p:cTn>
                              </p:par>
                              <p:par>
                                <p:cTn id="169" presetID="10" presetClass="entr" presetSubtype="0" fill="hold" nodeType="withEffect">
                                  <p:stCondLst>
                                    <p:cond delay="1720"/>
                                  </p:stCondLst>
                                  <p:childTnLst>
                                    <p:animEffect transition="in" filter="fade">
                                      <p:cBhvr>
                                        <p:cTn id="170" dur="124"/>
                                        <p:tgtEl>
                                          <p:spTgt spid="14029"/>
                                        </p:tgtEl>
                                      </p:cBhvr>
                                    </p:animEffect>
                                    <p:set>
                                      <p:cBhvr>
                                        <p:cTn id="171" dur="1" fill="hold">
                                          <p:stCondLst>
                                            <p:cond delay="0"/>
                                          </p:stCondLst>
                                        </p:cTn>
                                        <p:tgtEl>
                                          <p:spTgt spid="14029"/>
                                        </p:tgtEl>
                                        <p:attrNameLst>
                                          <p:attrName>style.visibility</p:attrName>
                                        </p:attrNameLst>
                                      </p:cBhvr>
                                      <p:to>
                                        <p:strVal val="visible"/>
                                      </p:to>
                                    </p:set>
                                  </p:childTnLst>
                                </p:cTn>
                              </p:par>
                              <p:par>
                                <p:cTn id="172" presetID="10" presetClass="entr" presetSubtype="0" fill="hold" nodeType="withEffect">
                                  <p:stCondLst>
                                    <p:cond delay="1720"/>
                                  </p:stCondLst>
                                  <p:childTnLst>
                                    <p:animEffect transition="in" filter="fade">
                                      <p:cBhvr>
                                        <p:cTn id="173" dur="124"/>
                                        <p:tgtEl>
                                          <p:spTgt spid="14030"/>
                                        </p:tgtEl>
                                      </p:cBhvr>
                                    </p:animEffect>
                                    <p:set>
                                      <p:cBhvr>
                                        <p:cTn id="174" dur="1" fill="hold">
                                          <p:stCondLst>
                                            <p:cond delay="0"/>
                                          </p:stCondLst>
                                        </p:cTn>
                                        <p:tgtEl>
                                          <p:spTgt spid="14030"/>
                                        </p:tgtEl>
                                        <p:attrNameLst>
                                          <p:attrName>style.visibility</p:attrName>
                                        </p:attrNameLst>
                                      </p:cBhvr>
                                      <p:to>
                                        <p:strVal val="visible"/>
                                      </p:to>
                                    </p:set>
                                  </p:childTnLst>
                                </p:cTn>
                              </p:par>
                              <p:par>
                                <p:cTn id="175" presetID="10" presetClass="entr" presetSubtype="0" fill="hold" nodeType="withEffect">
                                  <p:stCondLst>
                                    <p:cond delay="1720"/>
                                  </p:stCondLst>
                                  <p:childTnLst>
                                    <p:animEffect transition="in" filter="fade">
                                      <p:cBhvr>
                                        <p:cTn id="176" dur="124"/>
                                        <p:tgtEl>
                                          <p:spTgt spid="14031"/>
                                        </p:tgtEl>
                                      </p:cBhvr>
                                    </p:animEffect>
                                    <p:set>
                                      <p:cBhvr>
                                        <p:cTn id="177" dur="1" fill="hold">
                                          <p:stCondLst>
                                            <p:cond delay="0"/>
                                          </p:stCondLst>
                                        </p:cTn>
                                        <p:tgtEl>
                                          <p:spTgt spid="14031"/>
                                        </p:tgtEl>
                                        <p:attrNameLst>
                                          <p:attrName>style.visibility</p:attrName>
                                        </p:attrNameLst>
                                      </p:cBhvr>
                                      <p:to>
                                        <p:strVal val="visible"/>
                                      </p:to>
                                    </p:set>
                                  </p:childTnLst>
                                </p:cTn>
                              </p:par>
                              <p:par>
                                <p:cTn id="178" presetID="10" presetClass="entr" presetSubtype="0" fill="hold" nodeType="withEffect">
                                  <p:stCondLst>
                                    <p:cond delay="1720"/>
                                  </p:stCondLst>
                                  <p:childTnLst>
                                    <p:animEffect transition="in" filter="fade">
                                      <p:cBhvr>
                                        <p:cTn id="179" dur="124"/>
                                        <p:tgtEl>
                                          <p:spTgt spid="14032"/>
                                        </p:tgtEl>
                                      </p:cBhvr>
                                    </p:animEffect>
                                    <p:set>
                                      <p:cBhvr>
                                        <p:cTn id="180" dur="1" fill="hold">
                                          <p:stCondLst>
                                            <p:cond delay="0"/>
                                          </p:stCondLst>
                                        </p:cTn>
                                        <p:tgtEl>
                                          <p:spTgt spid="14032"/>
                                        </p:tgtEl>
                                        <p:attrNameLst>
                                          <p:attrName>style.visibility</p:attrName>
                                        </p:attrNameLst>
                                      </p:cBhvr>
                                      <p:to>
                                        <p:strVal val="visible"/>
                                      </p:to>
                                    </p:set>
                                  </p:childTnLst>
                                </p:cTn>
                              </p:par>
                              <p:par>
                                <p:cTn id="181" presetID="10" presetClass="entr" presetSubtype="0" fill="hold" nodeType="withEffect">
                                  <p:stCondLst>
                                    <p:cond delay="1720"/>
                                  </p:stCondLst>
                                  <p:childTnLst>
                                    <p:animEffect transition="in" filter="fade">
                                      <p:cBhvr>
                                        <p:cTn id="182" dur="124"/>
                                        <p:tgtEl>
                                          <p:spTgt spid="14033"/>
                                        </p:tgtEl>
                                      </p:cBhvr>
                                    </p:animEffect>
                                    <p:set>
                                      <p:cBhvr>
                                        <p:cTn id="183" dur="1" fill="hold">
                                          <p:stCondLst>
                                            <p:cond delay="0"/>
                                          </p:stCondLst>
                                        </p:cTn>
                                        <p:tgtEl>
                                          <p:spTgt spid="14033"/>
                                        </p:tgtEl>
                                        <p:attrNameLst>
                                          <p:attrName>style.visibility</p:attrName>
                                        </p:attrNameLst>
                                      </p:cBhvr>
                                      <p:to>
                                        <p:strVal val="visible"/>
                                      </p:to>
                                    </p:set>
                                  </p:childTnLst>
                                </p:cTn>
                              </p:par>
                              <p:par>
                                <p:cTn id="184" presetID="10" presetClass="entr" presetSubtype="0" fill="hold" nodeType="withEffect">
                                  <p:stCondLst>
                                    <p:cond delay="1720"/>
                                  </p:stCondLst>
                                  <p:childTnLst>
                                    <p:animEffect transition="in" filter="fade">
                                      <p:cBhvr>
                                        <p:cTn id="185" dur="124"/>
                                        <p:tgtEl>
                                          <p:spTgt spid="14034"/>
                                        </p:tgtEl>
                                      </p:cBhvr>
                                    </p:animEffect>
                                    <p:set>
                                      <p:cBhvr>
                                        <p:cTn id="186" dur="1" fill="hold">
                                          <p:stCondLst>
                                            <p:cond delay="0"/>
                                          </p:stCondLst>
                                        </p:cTn>
                                        <p:tgtEl>
                                          <p:spTgt spid="14034"/>
                                        </p:tgtEl>
                                        <p:attrNameLst>
                                          <p:attrName>style.visibility</p:attrName>
                                        </p:attrNameLst>
                                      </p:cBhvr>
                                      <p:to>
                                        <p:strVal val="visible"/>
                                      </p:to>
                                    </p:set>
                                  </p:childTnLst>
                                </p:cTn>
                              </p:par>
                              <p:par>
                                <p:cTn id="187" presetID="0" presetClass="path" presetSubtype="0" fill="hold" nodeType="withEffect">
                                  <p:stCondLst>
                                    <p:cond delay="2114"/>
                                  </p:stCondLst>
                                  <p:childTnLst>
                                    <p:animMotion origin="layout" path="M 0 0 L 0.118055556 0.000000000 E" pathEditMode="relative" rAng="0">
                                      <p:cBhvr>
                                        <p:cTn id="188" dur="497" accel="20000" decel="20000" fill="hold"/>
                                        <p:tgtEl>
                                          <p:spTgt spid="14023"/>
                                        </p:tgtEl>
                                        <p:attrNameLst>
                                          <p:attrName>ppt_x</p:attrName>
                                          <p:attrName>ppt_y</p:attrName>
                                        </p:attrNameLst>
                                      </p:cBhvr>
                                      <p:rCtr x="0" y="0"/>
                                    </p:animMotion>
                                  </p:childTnLst>
                                </p:cTn>
                              </p:par>
                              <p:par>
                                <p:cTn id="189" presetID="10" presetClass="exit" presetSubtype="0" fill="hold" nodeType="withEffect">
                                  <p:stCondLst>
                                    <p:cond delay="2508"/>
                                  </p:stCondLst>
                                  <p:childTnLst>
                                    <p:animEffect transition="out" filter="fade">
                                      <p:cBhvr>
                                        <p:cTn id="190" dur="104"/>
                                        <p:tgtEl>
                                          <p:spTgt spid="14023"/>
                                        </p:tgtEl>
                                      </p:cBhvr>
                                    </p:animEffect>
                                    <p:set>
                                      <p:cBhvr>
                                        <p:cTn id="191" dur="1" fill="hold">
                                          <p:stCondLst>
                                            <p:cond delay="103"/>
                                          </p:stCondLst>
                                        </p:cTn>
                                        <p:tgtEl>
                                          <p:spTgt spid="14023"/>
                                        </p:tgtEl>
                                        <p:attrNameLst>
                                          <p:attrName>style.visibility</p:attrName>
                                        </p:attrNameLst>
                                      </p:cBhvr>
                                      <p:to>
                                        <p:strVal val="hidden"/>
                                      </p:to>
                                    </p:set>
                                  </p:childTnLst>
                                </p:cTn>
                              </p:par>
                              <p:par>
                                <p:cTn id="192" presetID="0" presetClass="path" presetSubtype="0" fill="hold" nodeType="withEffect">
                                  <p:stCondLst>
                                    <p:cond delay="2114"/>
                                  </p:stCondLst>
                                  <p:childTnLst>
                                    <p:animMotion origin="layout" path="M 0 0 L 0.137500000 0.000000000 E" pathEditMode="relative" rAng="0">
                                      <p:cBhvr>
                                        <p:cTn id="193" dur="497" accel="20000" decel="20000" fill="hold"/>
                                        <p:tgtEl>
                                          <p:spTgt spid="14024"/>
                                        </p:tgtEl>
                                        <p:attrNameLst>
                                          <p:attrName>ppt_x</p:attrName>
                                          <p:attrName>ppt_y</p:attrName>
                                        </p:attrNameLst>
                                      </p:cBhvr>
                                      <p:rCtr x="0" y="0"/>
                                    </p:animMotion>
                                  </p:childTnLst>
                                </p:cTn>
                              </p:par>
                              <p:par>
                                <p:cTn id="194" presetID="10" presetClass="exit" presetSubtype="0" fill="hold" nodeType="withEffect">
                                  <p:stCondLst>
                                    <p:cond delay="2508"/>
                                  </p:stCondLst>
                                  <p:childTnLst>
                                    <p:animEffect transition="out" filter="fade">
                                      <p:cBhvr>
                                        <p:cTn id="195" dur="104"/>
                                        <p:tgtEl>
                                          <p:spTgt spid="14024"/>
                                        </p:tgtEl>
                                      </p:cBhvr>
                                    </p:animEffect>
                                    <p:set>
                                      <p:cBhvr>
                                        <p:cTn id="196" dur="1" fill="hold">
                                          <p:stCondLst>
                                            <p:cond delay="103"/>
                                          </p:stCondLst>
                                        </p:cTn>
                                        <p:tgtEl>
                                          <p:spTgt spid="14024"/>
                                        </p:tgtEl>
                                        <p:attrNameLst>
                                          <p:attrName>style.visibility</p:attrName>
                                        </p:attrNameLst>
                                      </p:cBhvr>
                                      <p:to>
                                        <p:strVal val="hidden"/>
                                      </p:to>
                                    </p:set>
                                  </p:childTnLst>
                                </p:cTn>
                              </p:par>
                              <p:par>
                                <p:cTn id="197" presetID="10" presetClass="exit" presetSubtype="0" fill="hold" nodeType="withEffect">
                                  <p:stCondLst>
                                    <p:cond delay="2508"/>
                                  </p:stCondLst>
                                  <p:childTnLst>
                                    <p:animEffect transition="out" filter="fade">
                                      <p:cBhvr>
                                        <p:cTn id="198" dur="104"/>
                                        <p:tgtEl>
                                          <p:spTgt spid="14025"/>
                                        </p:tgtEl>
                                      </p:cBhvr>
                                    </p:animEffect>
                                    <p:set>
                                      <p:cBhvr>
                                        <p:cTn id="199" dur="1" fill="hold">
                                          <p:stCondLst>
                                            <p:cond delay="103"/>
                                          </p:stCondLst>
                                        </p:cTn>
                                        <p:tgtEl>
                                          <p:spTgt spid="14025"/>
                                        </p:tgtEl>
                                        <p:attrNameLst>
                                          <p:attrName>style.visibility</p:attrName>
                                        </p:attrNameLst>
                                      </p:cBhvr>
                                      <p:to>
                                        <p:strVal val="hidden"/>
                                      </p:to>
                                    </p:set>
                                  </p:childTnLst>
                                </p:cTn>
                              </p:par>
                              <p:par>
                                <p:cTn id="200" presetID="10" presetClass="exit" presetSubtype="0" fill="hold" nodeType="withEffect">
                                  <p:stCondLst>
                                    <p:cond delay="2508"/>
                                  </p:stCondLst>
                                  <p:childTnLst>
                                    <p:animEffect transition="out" filter="fade">
                                      <p:cBhvr>
                                        <p:cTn id="201" dur="104"/>
                                        <p:tgtEl>
                                          <p:spTgt spid="14026"/>
                                        </p:tgtEl>
                                      </p:cBhvr>
                                    </p:animEffect>
                                    <p:set>
                                      <p:cBhvr>
                                        <p:cTn id="202" dur="1" fill="hold">
                                          <p:stCondLst>
                                            <p:cond delay="103"/>
                                          </p:stCondLst>
                                        </p:cTn>
                                        <p:tgtEl>
                                          <p:spTgt spid="14026"/>
                                        </p:tgtEl>
                                        <p:attrNameLst>
                                          <p:attrName>style.visibility</p:attrName>
                                        </p:attrNameLst>
                                      </p:cBhvr>
                                      <p:to>
                                        <p:strVal val="hidden"/>
                                      </p:to>
                                    </p:set>
                                  </p:childTnLst>
                                </p:cTn>
                              </p:par>
                              <p:par>
                                <p:cTn id="203" presetID="10" presetClass="exit" presetSubtype="0" fill="hold" nodeType="withEffect">
                                  <p:stCondLst>
                                    <p:cond delay="2114"/>
                                  </p:stCondLst>
                                  <p:childTnLst>
                                    <p:animEffect transition="out" filter="fade">
                                      <p:cBhvr>
                                        <p:cTn id="204" dur="104"/>
                                        <p:tgtEl>
                                          <p:spTgt spid="14027"/>
                                        </p:tgtEl>
                                      </p:cBhvr>
                                    </p:animEffect>
                                    <p:set>
                                      <p:cBhvr>
                                        <p:cTn id="205" dur="1" fill="hold">
                                          <p:stCondLst>
                                            <p:cond delay="103"/>
                                          </p:stCondLst>
                                        </p:cTn>
                                        <p:tgtEl>
                                          <p:spTgt spid="14027"/>
                                        </p:tgtEl>
                                        <p:attrNameLst>
                                          <p:attrName>style.visibility</p:attrName>
                                        </p:attrNameLst>
                                      </p:cBhvr>
                                      <p:to>
                                        <p:strVal val="hidden"/>
                                      </p:to>
                                    </p:set>
                                  </p:childTnLst>
                                </p:cTn>
                              </p:par>
                              <p:par>
                                <p:cTn id="206" presetID="10" presetClass="exit" presetSubtype="0" fill="hold" nodeType="withEffect">
                                  <p:stCondLst>
                                    <p:cond delay="2508"/>
                                  </p:stCondLst>
                                  <p:childTnLst>
                                    <p:animEffect transition="out" filter="fade">
                                      <p:cBhvr>
                                        <p:cTn id="207" dur="104"/>
                                        <p:tgtEl>
                                          <p:spTgt spid="14028"/>
                                        </p:tgtEl>
                                      </p:cBhvr>
                                    </p:animEffect>
                                    <p:set>
                                      <p:cBhvr>
                                        <p:cTn id="208" dur="1" fill="hold">
                                          <p:stCondLst>
                                            <p:cond delay="103"/>
                                          </p:stCondLst>
                                        </p:cTn>
                                        <p:tgtEl>
                                          <p:spTgt spid="14028"/>
                                        </p:tgtEl>
                                        <p:attrNameLst>
                                          <p:attrName>style.visibility</p:attrName>
                                        </p:attrNameLst>
                                      </p:cBhvr>
                                      <p:to>
                                        <p:strVal val="hidden"/>
                                      </p:to>
                                    </p:set>
                                  </p:childTnLst>
                                </p:cTn>
                              </p:par>
                              <p:par>
                                <p:cTn id="209"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10" dur="497" accel="20000" decel="20000" fill="hold"/>
                                        <p:tgtEl>
                                          <p:spTgt spid="14029"/>
                                        </p:tgtEl>
                                        <p:attrNameLst>
                                          <p:attrName>ppt_x</p:attrName>
                                          <p:attrName>ppt_y</p:attrName>
                                        </p:attrNameLst>
                                      </p:cBhvr>
                                      <p:rCtr x="0" y="0"/>
                                    </p:animMotion>
                                  </p:childTnLst>
                                </p:cTn>
                              </p:par>
                              <p:par>
                                <p:cTn id="211" presetID="10" presetClass="exit" presetSubtype="0" fill="hold" nodeType="withEffect">
                                  <p:stCondLst>
                                    <p:cond delay="2508"/>
                                  </p:stCondLst>
                                  <p:childTnLst>
                                    <p:animEffect transition="out" filter="fade">
                                      <p:cBhvr>
                                        <p:cTn id="212" dur="104"/>
                                        <p:tgtEl>
                                          <p:spTgt spid="14029"/>
                                        </p:tgtEl>
                                      </p:cBhvr>
                                    </p:animEffect>
                                    <p:set>
                                      <p:cBhvr>
                                        <p:cTn id="213" dur="1" fill="hold">
                                          <p:stCondLst>
                                            <p:cond delay="103"/>
                                          </p:stCondLst>
                                        </p:cTn>
                                        <p:tgtEl>
                                          <p:spTgt spid="14029"/>
                                        </p:tgtEl>
                                        <p:attrNameLst>
                                          <p:attrName>style.visibility</p:attrName>
                                        </p:attrNameLst>
                                      </p:cBhvr>
                                      <p:to>
                                        <p:strVal val="hidden"/>
                                      </p:to>
                                    </p:set>
                                  </p:childTnLst>
                                </p:cTn>
                              </p:par>
                              <p:par>
                                <p:cTn id="214"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15" dur="497" accel="20000" decel="20000" fill="hold"/>
                                        <p:tgtEl>
                                          <p:spTgt spid="14030"/>
                                        </p:tgtEl>
                                        <p:attrNameLst>
                                          <p:attrName>ppt_x</p:attrName>
                                          <p:attrName>ppt_y</p:attrName>
                                        </p:attrNameLst>
                                      </p:cBhvr>
                                      <p:rCtr x="0" y="0"/>
                                    </p:animMotion>
                                  </p:childTnLst>
                                </p:cTn>
                              </p:par>
                              <p:par>
                                <p:cTn id="216" presetID="10" presetClass="exit" presetSubtype="0" fill="hold" nodeType="withEffect">
                                  <p:stCondLst>
                                    <p:cond delay="2508"/>
                                  </p:stCondLst>
                                  <p:childTnLst>
                                    <p:animEffect transition="out" filter="fade">
                                      <p:cBhvr>
                                        <p:cTn id="217" dur="104"/>
                                        <p:tgtEl>
                                          <p:spTgt spid="14030"/>
                                        </p:tgtEl>
                                      </p:cBhvr>
                                    </p:animEffect>
                                    <p:set>
                                      <p:cBhvr>
                                        <p:cTn id="218" dur="1" fill="hold">
                                          <p:stCondLst>
                                            <p:cond delay="103"/>
                                          </p:stCondLst>
                                        </p:cTn>
                                        <p:tgtEl>
                                          <p:spTgt spid="14030"/>
                                        </p:tgtEl>
                                        <p:attrNameLst>
                                          <p:attrName>style.visibility</p:attrName>
                                        </p:attrNameLst>
                                      </p:cBhvr>
                                      <p:to>
                                        <p:strVal val="hidden"/>
                                      </p:to>
                                    </p:set>
                                  </p:childTnLst>
                                </p:cTn>
                              </p:par>
                              <p:par>
                                <p:cTn id="219"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20" dur="497" accel="20000" decel="20000" fill="hold"/>
                                        <p:tgtEl>
                                          <p:spTgt spid="14031"/>
                                        </p:tgtEl>
                                        <p:attrNameLst>
                                          <p:attrName>ppt_x</p:attrName>
                                          <p:attrName>ppt_y</p:attrName>
                                        </p:attrNameLst>
                                      </p:cBhvr>
                                      <p:rCtr x="0" y="0"/>
                                    </p:animMotion>
                                  </p:childTnLst>
                                </p:cTn>
                              </p:par>
                              <p:par>
                                <p:cTn id="221" presetID="10" presetClass="exit" presetSubtype="0" fill="hold" nodeType="withEffect">
                                  <p:stCondLst>
                                    <p:cond delay="2508"/>
                                  </p:stCondLst>
                                  <p:childTnLst>
                                    <p:animEffect transition="out" filter="fade">
                                      <p:cBhvr>
                                        <p:cTn id="222" dur="104"/>
                                        <p:tgtEl>
                                          <p:spTgt spid="14031"/>
                                        </p:tgtEl>
                                      </p:cBhvr>
                                    </p:animEffect>
                                    <p:set>
                                      <p:cBhvr>
                                        <p:cTn id="223" dur="1" fill="hold">
                                          <p:stCondLst>
                                            <p:cond delay="103"/>
                                          </p:stCondLst>
                                        </p:cTn>
                                        <p:tgtEl>
                                          <p:spTgt spid="14031"/>
                                        </p:tgtEl>
                                        <p:attrNameLst>
                                          <p:attrName>style.visibility</p:attrName>
                                        </p:attrNameLst>
                                      </p:cBhvr>
                                      <p:to>
                                        <p:strVal val="hidden"/>
                                      </p:to>
                                    </p:set>
                                  </p:childTnLst>
                                </p:cTn>
                              </p:par>
                              <p:par>
                                <p:cTn id="224"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25" dur="497" accel="20000" decel="20000" fill="hold"/>
                                        <p:tgtEl>
                                          <p:spTgt spid="14032"/>
                                        </p:tgtEl>
                                        <p:attrNameLst>
                                          <p:attrName>ppt_x</p:attrName>
                                          <p:attrName>ppt_y</p:attrName>
                                        </p:attrNameLst>
                                      </p:cBhvr>
                                      <p:rCtr x="0" y="0"/>
                                    </p:animMotion>
                                  </p:childTnLst>
                                </p:cTn>
                              </p:par>
                              <p:par>
                                <p:cTn id="226" presetID="10" presetClass="exit" presetSubtype="0" fill="hold" nodeType="withEffect">
                                  <p:stCondLst>
                                    <p:cond delay="2508"/>
                                  </p:stCondLst>
                                  <p:childTnLst>
                                    <p:animEffect transition="out" filter="fade">
                                      <p:cBhvr>
                                        <p:cTn id="227" dur="104"/>
                                        <p:tgtEl>
                                          <p:spTgt spid="14032"/>
                                        </p:tgtEl>
                                      </p:cBhvr>
                                    </p:animEffect>
                                    <p:set>
                                      <p:cBhvr>
                                        <p:cTn id="228" dur="1" fill="hold">
                                          <p:stCondLst>
                                            <p:cond delay="103"/>
                                          </p:stCondLst>
                                        </p:cTn>
                                        <p:tgtEl>
                                          <p:spTgt spid="14032"/>
                                        </p:tgtEl>
                                        <p:attrNameLst>
                                          <p:attrName>style.visibility</p:attrName>
                                        </p:attrNameLst>
                                      </p:cBhvr>
                                      <p:to>
                                        <p:strVal val="hidden"/>
                                      </p:to>
                                    </p:set>
                                  </p:childTnLst>
                                </p:cTn>
                              </p:par>
                              <p:par>
                                <p:cTn id="229" presetID="10" presetClass="exit" presetSubtype="0" fill="hold" nodeType="withEffect">
                                  <p:stCondLst>
                                    <p:cond delay="2508"/>
                                  </p:stCondLst>
                                  <p:childTnLst>
                                    <p:animEffect transition="out" filter="fade">
                                      <p:cBhvr>
                                        <p:cTn id="230" dur="104"/>
                                        <p:tgtEl>
                                          <p:spTgt spid="14033"/>
                                        </p:tgtEl>
                                      </p:cBhvr>
                                    </p:animEffect>
                                    <p:set>
                                      <p:cBhvr>
                                        <p:cTn id="231" dur="1" fill="hold">
                                          <p:stCondLst>
                                            <p:cond delay="103"/>
                                          </p:stCondLst>
                                        </p:cTn>
                                        <p:tgtEl>
                                          <p:spTgt spid="14033"/>
                                        </p:tgtEl>
                                        <p:attrNameLst>
                                          <p:attrName>style.visibility</p:attrName>
                                        </p:attrNameLst>
                                      </p:cBhvr>
                                      <p:to>
                                        <p:strVal val="hidden"/>
                                      </p:to>
                                    </p:set>
                                  </p:childTnLst>
                                </p:cTn>
                              </p:par>
                              <p:par>
                                <p:cTn id="232" presetID="10" presetClass="exit" presetSubtype="0" fill="hold" nodeType="withEffect">
                                  <p:stCondLst>
                                    <p:cond delay="2508"/>
                                  </p:stCondLst>
                                  <p:childTnLst>
                                    <p:animEffect transition="out" filter="fade">
                                      <p:cBhvr>
                                        <p:cTn id="233" dur="104"/>
                                        <p:tgtEl>
                                          <p:spTgt spid="14034"/>
                                        </p:tgtEl>
                                      </p:cBhvr>
                                    </p:animEffect>
                                    <p:set>
                                      <p:cBhvr>
                                        <p:cTn id="234" dur="1" fill="hold">
                                          <p:stCondLst>
                                            <p:cond delay="103"/>
                                          </p:stCondLst>
                                        </p:cTn>
                                        <p:tgtEl>
                                          <p:spTgt spid="14034"/>
                                        </p:tgtEl>
                                        <p:attrNameLst>
                                          <p:attrName>style.visibility</p:attrName>
                                        </p:attrNameLst>
                                      </p:cBhvr>
                                      <p:to>
                                        <p:strVal val="hidden"/>
                                      </p:to>
                                    </p:set>
                                  </p:childTnLst>
                                </p:cTn>
                              </p:par>
                              <p:par>
                                <p:cTn id="235" presetID="10" presetClass="entr" presetSubtype="0" fill="hold" nodeType="withEffect">
                                  <p:stCondLst>
                                    <p:cond delay="2508"/>
                                  </p:stCondLst>
                                  <p:childTnLst>
                                    <p:animEffect transition="in" filter="fade">
                                      <p:cBhvr>
                                        <p:cTn id="236" dur="124"/>
                                        <p:tgtEl>
                                          <p:spTgt spid="14036"/>
                                        </p:tgtEl>
                                      </p:cBhvr>
                                    </p:animEffect>
                                    <p:set>
                                      <p:cBhvr>
                                        <p:cTn id="237" dur="1" fill="hold">
                                          <p:stCondLst>
                                            <p:cond delay="0"/>
                                          </p:stCondLst>
                                        </p:cTn>
                                        <p:tgtEl>
                                          <p:spTgt spid="14036"/>
                                        </p:tgtEl>
                                        <p:attrNameLst>
                                          <p:attrName>style.visibility</p:attrName>
                                        </p:attrNameLst>
                                      </p:cBhvr>
                                      <p:to>
                                        <p:strVal val="visible"/>
                                      </p:to>
                                    </p:set>
                                  </p:childTnLst>
                                </p:cTn>
                              </p:par>
                              <p:par>
                                <p:cTn id="238" presetID="10" presetClass="entr" presetSubtype="0" fill="hold" nodeType="withEffect">
                                  <p:stCondLst>
                                    <p:cond delay="2508"/>
                                  </p:stCondLst>
                                  <p:childTnLst>
                                    <p:animEffect transition="in" filter="fade">
                                      <p:cBhvr>
                                        <p:cTn id="239" dur="124"/>
                                        <p:tgtEl>
                                          <p:spTgt spid="14037"/>
                                        </p:tgtEl>
                                      </p:cBhvr>
                                    </p:animEffect>
                                    <p:set>
                                      <p:cBhvr>
                                        <p:cTn id="240" dur="1" fill="hold">
                                          <p:stCondLst>
                                            <p:cond delay="0"/>
                                          </p:stCondLst>
                                        </p:cTn>
                                        <p:tgtEl>
                                          <p:spTgt spid="14037"/>
                                        </p:tgtEl>
                                        <p:attrNameLst>
                                          <p:attrName>style.visibility</p:attrName>
                                        </p:attrNameLst>
                                      </p:cBhvr>
                                      <p:to>
                                        <p:strVal val="visible"/>
                                      </p:to>
                                    </p:set>
                                  </p:childTnLst>
                                </p:cTn>
                              </p:par>
                              <p:par>
                                <p:cTn id="241" presetID="10" presetClass="entr" presetSubtype="0" fill="hold" nodeType="withEffect">
                                  <p:stCondLst>
                                    <p:cond delay="2508"/>
                                  </p:stCondLst>
                                  <p:childTnLst>
                                    <p:animEffect transition="in" filter="fade">
                                      <p:cBhvr>
                                        <p:cTn id="242" dur="124"/>
                                        <p:tgtEl>
                                          <p:spTgt spid="14038"/>
                                        </p:tgtEl>
                                      </p:cBhvr>
                                    </p:animEffect>
                                    <p:set>
                                      <p:cBhvr>
                                        <p:cTn id="243" dur="1" fill="hold">
                                          <p:stCondLst>
                                            <p:cond delay="0"/>
                                          </p:stCondLst>
                                        </p:cTn>
                                        <p:tgtEl>
                                          <p:spTgt spid="14038"/>
                                        </p:tgtEl>
                                        <p:attrNameLst>
                                          <p:attrName>style.visibility</p:attrName>
                                        </p:attrNameLst>
                                      </p:cBhvr>
                                      <p:to>
                                        <p:strVal val="visible"/>
                                      </p:to>
                                    </p:set>
                                  </p:childTnLst>
                                </p:cTn>
                              </p:par>
                              <p:par>
                                <p:cTn id="244" presetID="10" presetClass="entr" presetSubtype="0" fill="hold" nodeType="withEffect">
                                  <p:stCondLst>
                                    <p:cond delay="2508"/>
                                  </p:stCondLst>
                                  <p:childTnLst>
                                    <p:animEffect transition="in" filter="fade">
                                      <p:cBhvr>
                                        <p:cTn id="245" dur="124"/>
                                        <p:tgtEl>
                                          <p:spTgt spid="14039"/>
                                        </p:tgtEl>
                                      </p:cBhvr>
                                    </p:animEffect>
                                    <p:set>
                                      <p:cBhvr>
                                        <p:cTn id="246" dur="1" fill="hold">
                                          <p:stCondLst>
                                            <p:cond delay="0"/>
                                          </p:stCondLst>
                                        </p:cTn>
                                        <p:tgtEl>
                                          <p:spTgt spid="14039"/>
                                        </p:tgtEl>
                                        <p:attrNameLst>
                                          <p:attrName>style.visibility</p:attrName>
                                        </p:attrNameLst>
                                      </p:cBhvr>
                                      <p:to>
                                        <p:strVal val="visible"/>
                                      </p:to>
                                    </p:set>
                                  </p:childTnLst>
                                </p:cTn>
                              </p:par>
                              <p:par>
                                <p:cTn id="247" presetID="10" presetClass="entr" presetSubtype="0" fill="hold" nodeType="withEffect">
                                  <p:stCondLst>
                                    <p:cond delay="2508"/>
                                  </p:stCondLst>
                                  <p:childTnLst>
                                    <p:animEffect transition="in" filter="fade">
                                      <p:cBhvr>
                                        <p:cTn id="248" dur="124"/>
                                        <p:tgtEl>
                                          <p:spTgt spid="14040"/>
                                        </p:tgtEl>
                                      </p:cBhvr>
                                    </p:animEffect>
                                    <p:set>
                                      <p:cBhvr>
                                        <p:cTn id="249" dur="1" fill="hold">
                                          <p:stCondLst>
                                            <p:cond delay="0"/>
                                          </p:stCondLst>
                                        </p:cTn>
                                        <p:tgtEl>
                                          <p:spTgt spid="14040"/>
                                        </p:tgtEl>
                                        <p:attrNameLst>
                                          <p:attrName>style.visibility</p:attrName>
                                        </p:attrNameLst>
                                      </p:cBhvr>
                                      <p:to>
                                        <p:strVal val="visible"/>
                                      </p:to>
                                    </p:set>
                                  </p:childTnLst>
                                </p:cTn>
                              </p:par>
                              <p:par>
                                <p:cTn id="250" presetID="10" presetClass="entr" presetSubtype="0" fill="hold" nodeType="withEffect">
                                  <p:stCondLst>
                                    <p:cond delay="2508"/>
                                  </p:stCondLst>
                                  <p:childTnLst>
                                    <p:animEffect transition="in" filter="fade">
                                      <p:cBhvr>
                                        <p:cTn id="251" dur="124"/>
                                        <p:tgtEl>
                                          <p:spTgt spid="14041"/>
                                        </p:tgtEl>
                                      </p:cBhvr>
                                    </p:animEffect>
                                    <p:set>
                                      <p:cBhvr>
                                        <p:cTn id="252" dur="1" fill="hold">
                                          <p:stCondLst>
                                            <p:cond delay="0"/>
                                          </p:stCondLst>
                                        </p:cTn>
                                        <p:tgtEl>
                                          <p:spTgt spid="14041"/>
                                        </p:tgtEl>
                                        <p:attrNameLst>
                                          <p:attrName>style.visibility</p:attrName>
                                        </p:attrNameLst>
                                      </p:cBhvr>
                                      <p:to>
                                        <p:strVal val="visible"/>
                                      </p:to>
                                    </p:set>
                                  </p:childTnLst>
                                </p:cTn>
                              </p:par>
                              <p:par>
                                <p:cTn id="253" presetID="10" presetClass="entr" presetSubtype="0" fill="hold" nodeType="withEffect">
                                  <p:stCondLst>
                                    <p:cond delay="2508"/>
                                  </p:stCondLst>
                                  <p:childTnLst>
                                    <p:animEffect transition="in" filter="fade">
                                      <p:cBhvr>
                                        <p:cTn id="254" dur="124"/>
                                        <p:tgtEl>
                                          <p:spTgt spid="14042"/>
                                        </p:tgtEl>
                                      </p:cBhvr>
                                    </p:animEffect>
                                    <p:set>
                                      <p:cBhvr>
                                        <p:cTn id="255" dur="1" fill="hold">
                                          <p:stCondLst>
                                            <p:cond delay="0"/>
                                          </p:stCondLst>
                                        </p:cTn>
                                        <p:tgtEl>
                                          <p:spTgt spid="14042"/>
                                        </p:tgtEl>
                                        <p:attrNameLst>
                                          <p:attrName>style.visibility</p:attrName>
                                        </p:attrNameLst>
                                      </p:cBhvr>
                                      <p:to>
                                        <p:strVal val="visible"/>
                                      </p:to>
                                    </p:set>
                                  </p:childTnLst>
                                </p:cTn>
                              </p:par>
                              <p:par>
                                <p:cTn id="256" presetID="10" presetClass="entr" presetSubtype="0" fill="hold" nodeType="withEffect">
                                  <p:stCondLst>
                                    <p:cond delay="2508"/>
                                  </p:stCondLst>
                                  <p:childTnLst>
                                    <p:animEffect transition="in" filter="fade">
                                      <p:cBhvr>
                                        <p:cTn id="257" dur="124"/>
                                        <p:tgtEl>
                                          <p:spTgt spid="14043"/>
                                        </p:tgtEl>
                                      </p:cBhvr>
                                    </p:animEffect>
                                    <p:set>
                                      <p:cBhvr>
                                        <p:cTn id="258" dur="1" fill="hold">
                                          <p:stCondLst>
                                            <p:cond delay="0"/>
                                          </p:stCondLst>
                                        </p:cTn>
                                        <p:tgtEl>
                                          <p:spTgt spid="14043"/>
                                        </p:tgtEl>
                                        <p:attrNameLst>
                                          <p:attrName>style.visibility</p:attrName>
                                        </p:attrNameLst>
                                      </p:cBhvr>
                                      <p:to>
                                        <p:strVal val="visible"/>
                                      </p:to>
                                    </p:set>
                                  </p:childTnLst>
                                </p:cTn>
                              </p:par>
                              <p:par>
                                <p:cTn id="259" presetID="10" presetClass="entr" presetSubtype="0" fill="hold" nodeType="withEffect">
                                  <p:stCondLst>
                                    <p:cond delay="2508"/>
                                  </p:stCondLst>
                                  <p:childTnLst>
                                    <p:animEffect transition="in" filter="fade">
                                      <p:cBhvr>
                                        <p:cTn id="260" dur="124"/>
                                        <p:tgtEl>
                                          <p:spTgt spid="14044"/>
                                        </p:tgtEl>
                                      </p:cBhvr>
                                    </p:animEffect>
                                    <p:set>
                                      <p:cBhvr>
                                        <p:cTn id="261" dur="1" fill="hold">
                                          <p:stCondLst>
                                            <p:cond delay="0"/>
                                          </p:stCondLst>
                                        </p:cTn>
                                        <p:tgtEl>
                                          <p:spTgt spid="14044"/>
                                        </p:tgtEl>
                                        <p:attrNameLst>
                                          <p:attrName>style.visibility</p:attrName>
                                        </p:attrNameLst>
                                      </p:cBhvr>
                                      <p:to>
                                        <p:strVal val="visible"/>
                                      </p:to>
                                    </p:set>
                                  </p:childTnLst>
                                </p:cTn>
                              </p:par>
                              <p:par>
                                <p:cTn id="262" presetID="10" presetClass="entr" presetSubtype="0" fill="hold" nodeType="withEffect">
                                  <p:stCondLst>
                                    <p:cond delay="2508"/>
                                  </p:stCondLst>
                                  <p:childTnLst>
                                    <p:animEffect transition="in" filter="fade">
                                      <p:cBhvr>
                                        <p:cTn id="263" dur="124"/>
                                        <p:tgtEl>
                                          <p:spTgt spid="14045"/>
                                        </p:tgtEl>
                                      </p:cBhvr>
                                    </p:animEffect>
                                    <p:set>
                                      <p:cBhvr>
                                        <p:cTn id="264" dur="1" fill="hold">
                                          <p:stCondLst>
                                            <p:cond delay="0"/>
                                          </p:stCondLst>
                                        </p:cTn>
                                        <p:tgtEl>
                                          <p:spTgt spid="14045"/>
                                        </p:tgtEl>
                                        <p:attrNameLst>
                                          <p:attrName>style.visibility</p:attrName>
                                        </p:attrNameLst>
                                      </p:cBhvr>
                                      <p:to>
                                        <p:strVal val="visible"/>
                                      </p:to>
                                    </p:set>
                                  </p:childTnLst>
                                </p:cTn>
                              </p:par>
                              <p:par>
                                <p:cTn id="265" presetID="10" presetClass="entr" presetSubtype="0" fill="hold" nodeType="withEffect">
                                  <p:stCondLst>
                                    <p:cond delay="2508"/>
                                  </p:stCondLst>
                                  <p:childTnLst>
                                    <p:animEffect transition="in" filter="fade">
                                      <p:cBhvr>
                                        <p:cTn id="266" dur="124"/>
                                        <p:tgtEl>
                                          <p:spTgt spid="14046"/>
                                        </p:tgtEl>
                                      </p:cBhvr>
                                    </p:animEffect>
                                    <p:set>
                                      <p:cBhvr>
                                        <p:cTn id="267" dur="1" fill="hold">
                                          <p:stCondLst>
                                            <p:cond delay="0"/>
                                          </p:stCondLst>
                                        </p:cTn>
                                        <p:tgtEl>
                                          <p:spTgt spid="14046"/>
                                        </p:tgtEl>
                                        <p:attrNameLst>
                                          <p:attrName>style.visibility</p:attrName>
                                        </p:attrNameLst>
                                      </p:cBhvr>
                                      <p:to>
                                        <p:strVal val="visible"/>
                                      </p:to>
                                    </p:set>
                                  </p:childTnLst>
                                </p:cTn>
                              </p:par>
                              <p:par>
                                <p:cTn id="268" presetID="0" presetClass="path" presetSubtype="0" fill="hold" nodeType="withEffect">
                                  <p:stCondLst>
                                    <p:cond delay="2902"/>
                                  </p:stCondLst>
                                  <p:childTnLst>
                                    <p:animMotion origin="layout" path="M 0 0 L 0.058333333 0.000000000 E" pathEditMode="relative" rAng="0">
                                      <p:cBhvr>
                                        <p:cTn id="269" dur="497" accel="20000" decel="20000" fill="hold"/>
                                        <p:tgtEl>
                                          <p:spTgt spid="14036"/>
                                        </p:tgtEl>
                                        <p:attrNameLst>
                                          <p:attrName>ppt_x</p:attrName>
                                          <p:attrName>ppt_y</p:attrName>
                                        </p:attrNameLst>
                                      </p:cBhvr>
                                      <p:rCtr x="0" y="0"/>
                                    </p:animMotion>
                                  </p:childTnLst>
                                </p:cTn>
                              </p:par>
                              <p:par>
                                <p:cTn id="270" presetID="10" presetClass="exit" presetSubtype="0" fill="hold" nodeType="withEffect">
                                  <p:stCondLst>
                                    <p:cond delay="3295"/>
                                  </p:stCondLst>
                                  <p:childTnLst>
                                    <p:animEffect transition="out" filter="fade">
                                      <p:cBhvr>
                                        <p:cTn id="271" dur="104"/>
                                        <p:tgtEl>
                                          <p:spTgt spid="14036"/>
                                        </p:tgtEl>
                                      </p:cBhvr>
                                    </p:animEffect>
                                    <p:set>
                                      <p:cBhvr>
                                        <p:cTn id="272" dur="1" fill="hold">
                                          <p:stCondLst>
                                            <p:cond delay="103"/>
                                          </p:stCondLst>
                                        </p:cTn>
                                        <p:tgtEl>
                                          <p:spTgt spid="14036"/>
                                        </p:tgtEl>
                                        <p:attrNameLst>
                                          <p:attrName>style.visibility</p:attrName>
                                        </p:attrNameLst>
                                      </p:cBhvr>
                                      <p:to>
                                        <p:strVal val="hidden"/>
                                      </p:to>
                                    </p:set>
                                  </p:childTnLst>
                                </p:cTn>
                              </p:par>
                              <p:par>
                                <p:cTn id="273" presetID="10" presetClass="exit" presetSubtype="0" fill="hold" nodeType="withEffect">
                                  <p:stCondLst>
                                    <p:cond delay="3295"/>
                                  </p:stCondLst>
                                  <p:childTnLst>
                                    <p:animEffect transition="out" filter="fade">
                                      <p:cBhvr>
                                        <p:cTn id="274" dur="104"/>
                                        <p:tgtEl>
                                          <p:spTgt spid="14037"/>
                                        </p:tgtEl>
                                      </p:cBhvr>
                                    </p:animEffect>
                                    <p:set>
                                      <p:cBhvr>
                                        <p:cTn id="275" dur="1" fill="hold">
                                          <p:stCondLst>
                                            <p:cond delay="103"/>
                                          </p:stCondLst>
                                        </p:cTn>
                                        <p:tgtEl>
                                          <p:spTgt spid="14037"/>
                                        </p:tgtEl>
                                        <p:attrNameLst>
                                          <p:attrName>style.visibility</p:attrName>
                                        </p:attrNameLst>
                                      </p:cBhvr>
                                      <p:to>
                                        <p:strVal val="hidden"/>
                                      </p:to>
                                    </p:set>
                                  </p:childTnLst>
                                </p:cTn>
                              </p:par>
                              <p:par>
                                <p:cTn id="276" presetID="0" presetClass="path" presetSubtype="0" fill="hold" nodeType="withEffect">
                                  <p:stCondLst>
                                    <p:cond delay="2902"/>
                                  </p:stCondLst>
                                  <p:childTnLst>
                                    <p:animMotion origin="layout" path="M 0 0 L -0.147222222 0.000000000 E" pathEditMode="relative" rAng="0">
                                      <p:cBhvr>
                                        <p:cTn id="277" dur="497" accel="20000" decel="20000" fill="hold"/>
                                        <p:tgtEl>
                                          <p:spTgt spid="14038"/>
                                        </p:tgtEl>
                                        <p:attrNameLst>
                                          <p:attrName>ppt_x</p:attrName>
                                          <p:attrName>ppt_y</p:attrName>
                                        </p:attrNameLst>
                                      </p:cBhvr>
                                      <p:rCtr x="0" y="0"/>
                                    </p:animMotion>
                                  </p:childTnLst>
                                </p:cTn>
                              </p:par>
                              <p:par>
                                <p:cTn id="278" presetID="10" presetClass="exit" presetSubtype="0" fill="hold" nodeType="withEffect">
                                  <p:stCondLst>
                                    <p:cond delay="3295"/>
                                  </p:stCondLst>
                                  <p:childTnLst>
                                    <p:animEffect transition="out" filter="fade">
                                      <p:cBhvr>
                                        <p:cTn id="279" dur="104"/>
                                        <p:tgtEl>
                                          <p:spTgt spid="14038"/>
                                        </p:tgtEl>
                                      </p:cBhvr>
                                    </p:animEffect>
                                    <p:set>
                                      <p:cBhvr>
                                        <p:cTn id="280" dur="1" fill="hold">
                                          <p:stCondLst>
                                            <p:cond delay="103"/>
                                          </p:stCondLst>
                                        </p:cTn>
                                        <p:tgtEl>
                                          <p:spTgt spid="14038"/>
                                        </p:tgtEl>
                                        <p:attrNameLst>
                                          <p:attrName>style.visibility</p:attrName>
                                        </p:attrNameLst>
                                      </p:cBhvr>
                                      <p:to>
                                        <p:strVal val="hidden"/>
                                      </p:to>
                                    </p:set>
                                  </p:childTnLst>
                                </p:cTn>
                              </p:par>
                              <p:par>
                                <p:cTn id="281" presetID="0" presetClass="path" presetSubtype="0" fill="hold" nodeType="withEffect">
                                  <p:stCondLst>
                                    <p:cond delay="2902"/>
                                  </p:stCondLst>
                                  <p:childTnLst>
                                    <p:animMotion origin="layout" path="M 0 0 L -0.150000000 0.000000000 E" pathEditMode="relative" rAng="0">
                                      <p:cBhvr>
                                        <p:cTn id="282" dur="497" accel="20000" decel="20000" fill="hold"/>
                                        <p:tgtEl>
                                          <p:spTgt spid="14039"/>
                                        </p:tgtEl>
                                        <p:attrNameLst>
                                          <p:attrName>ppt_x</p:attrName>
                                          <p:attrName>ppt_y</p:attrName>
                                        </p:attrNameLst>
                                      </p:cBhvr>
                                      <p:rCtr x="0" y="0"/>
                                    </p:animMotion>
                                  </p:childTnLst>
                                </p:cTn>
                              </p:par>
                              <p:par>
                                <p:cTn id="283" presetID="10" presetClass="exit" presetSubtype="0" fill="hold" nodeType="withEffect">
                                  <p:stCondLst>
                                    <p:cond delay="3295"/>
                                  </p:stCondLst>
                                  <p:childTnLst>
                                    <p:animEffect transition="out" filter="fade">
                                      <p:cBhvr>
                                        <p:cTn id="284" dur="104"/>
                                        <p:tgtEl>
                                          <p:spTgt spid="14039"/>
                                        </p:tgtEl>
                                      </p:cBhvr>
                                    </p:animEffect>
                                    <p:set>
                                      <p:cBhvr>
                                        <p:cTn id="285" dur="1" fill="hold">
                                          <p:stCondLst>
                                            <p:cond delay="103"/>
                                          </p:stCondLst>
                                        </p:cTn>
                                        <p:tgtEl>
                                          <p:spTgt spid="14039"/>
                                        </p:tgtEl>
                                        <p:attrNameLst>
                                          <p:attrName>style.visibility</p:attrName>
                                        </p:attrNameLst>
                                      </p:cBhvr>
                                      <p:to>
                                        <p:strVal val="hidden"/>
                                      </p:to>
                                    </p:set>
                                  </p:childTnLst>
                                </p:cTn>
                              </p:par>
                              <p:par>
                                <p:cTn id="286" presetID="10" presetClass="exit" presetSubtype="0" fill="hold" nodeType="withEffect">
                                  <p:stCondLst>
                                    <p:cond delay="2902"/>
                                  </p:stCondLst>
                                  <p:childTnLst>
                                    <p:animEffect transition="out" filter="fade">
                                      <p:cBhvr>
                                        <p:cTn id="287" dur="104"/>
                                        <p:tgtEl>
                                          <p:spTgt spid="14040"/>
                                        </p:tgtEl>
                                      </p:cBhvr>
                                    </p:animEffect>
                                    <p:set>
                                      <p:cBhvr>
                                        <p:cTn id="288" dur="1" fill="hold">
                                          <p:stCondLst>
                                            <p:cond delay="103"/>
                                          </p:stCondLst>
                                        </p:cTn>
                                        <p:tgtEl>
                                          <p:spTgt spid="14040"/>
                                        </p:tgtEl>
                                        <p:attrNameLst>
                                          <p:attrName>style.visibility</p:attrName>
                                        </p:attrNameLst>
                                      </p:cBhvr>
                                      <p:to>
                                        <p:strVal val="hidden"/>
                                      </p:to>
                                    </p:set>
                                  </p:childTnLst>
                                </p:cTn>
                              </p:par>
                              <p:par>
                                <p:cTn id="289"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290" dur="497" accel="20000" decel="20000" fill="hold"/>
                                        <p:tgtEl>
                                          <p:spTgt spid="14041"/>
                                        </p:tgtEl>
                                        <p:attrNameLst>
                                          <p:attrName>ppt_x</p:attrName>
                                          <p:attrName>ppt_y</p:attrName>
                                        </p:attrNameLst>
                                      </p:cBhvr>
                                      <p:rCtr x="0" y="0"/>
                                    </p:animMotion>
                                  </p:childTnLst>
                                </p:cTn>
                              </p:par>
                              <p:par>
                                <p:cTn id="291" presetID="10" presetClass="exit" presetSubtype="0" fill="hold" nodeType="withEffect">
                                  <p:stCondLst>
                                    <p:cond delay="3295"/>
                                  </p:stCondLst>
                                  <p:childTnLst>
                                    <p:animEffect transition="out" filter="fade">
                                      <p:cBhvr>
                                        <p:cTn id="292" dur="104"/>
                                        <p:tgtEl>
                                          <p:spTgt spid="14041"/>
                                        </p:tgtEl>
                                      </p:cBhvr>
                                    </p:animEffect>
                                    <p:set>
                                      <p:cBhvr>
                                        <p:cTn id="293" dur="1" fill="hold">
                                          <p:stCondLst>
                                            <p:cond delay="103"/>
                                          </p:stCondLst>
                                        </p:cTn>
                                        <p:tgtEl>
                                          <p:spTgt spid="14041"/>
                                        </p:tgtEl>
                                        <p:attrNameLst>
                                          <p:attrName>style.visibility</p:attrName>
                                        </p:attrNameLst>
                                      </p:cBhvr>
                                      <p:to>
                                        <p:strVal val="hidden"/>
                                      </p:to>
                                    </p:set>
                                  </p:childTnLst>
                                </p:cTn>
                              </p:par>
                              <p:par>
                                <p:cTn id="294"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295" dur="497" accel="20000" decel="20000" fill="hold"/>
                                        <p:tgtEl>
                                          <p:spTgt spid="14042"/>
                                        </p:tgtEl>
                                        <p:attrNameLst>
                                          <p:attrName>ppt_x</p:attrName>
                                          <p:attrName>ppt_y</p:attrName>
                                        </p:attrNameLst>
                                      </p:cBhvr>
                                      <p:rCtr x="0" y="0"/>
                                    </p:animMotion>
                                  </p:childTnLst>
                                </p:cTn>
                              </p:par>
                              <p:par>
                                <p:cTn id="296" presetID="10" presetClass="exit" presetSubtype="0" fill="hold" nodeType="withEffect">
                                  <p:stCondLst>
                                    <p:cond delay="3295"/>
                                  </p:stCondLst>
                                  <p:childTnLst>
                                    <p:animEffect transition="out" filter="fade">
                                      <p:cBhvr>
                                        <p:cTn id="297" dur="104"/>
                                        <p:tgtEl>
                                          <p:spTgt spid="14042"/>
                                        </p:tgtEl>
                                      </p:cBhvr>
                                    </p:animEffect>
                                    <p:set>
                                      <p:cBhvr>
                                        <p:cTn id="298" dur="1" fill="hold">
                                          <p:stCondLst>
                                            <p:cond delay="103"/>
                                          </p:stCondLst>
                                        </p:cTn>
                                        <p:tgtEl>
                                          <p:spTgt spid="14042"/>
                                        </p:tgtEl>
                                        <p:attrNameLst>
                                          <p:attrName>style.visibility</p:attrName>
                                        </p:attrNameLst>
                                      </p:cBhvr>
                                      <p:to>
                                        <p:strVal val="hidden"/>
                                      </p:to>
                                    </p:set>
                                  </p:childTnLst>
                                </p:cTn>
                              </p:par>
                              <p:par>
                                <p:cTn id="299"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300" dur="497" accel="20000" decel="20000" fill="hold"/>
                                        <p:tgtEl>
                                          <p:spTgt spid="14043"/>
                                        </p:tgtEl>
                                        <p:attrNameLst>
                                          <p:attrName>ppt_x</p:attrName>
                                          <p:attrName>ppt_y</p:attrName>
                                        </p:attrNameLst>
                                      </p:cBhvr>
                                      <p:rCtr x="0" y="0"/>
                                    </p:animMotion>
                                  </p:childTnLst>
                                </p:cTn>
                              </p:par>
                              <p:par>
                                <p:cTn id="301" presetID="10" presetClass="exit" presetSubtype="0" fill="hold" nodeType="withEffect">
                                  <p:stCondLst>
                                    <p:cond delay="3295"/>
                                  </p:stCondLst>
                                  <p:childTnLst>
                                    <p:animEffect transition="out" filter="fade">
                                      <p:cBhvr>
                                        <p:cTn id="302" dur="104"/>
                                        <p:tgtEl>
                                          <p:spTgt spid="14043"/>
                                        </p:tgtEl>
                                      </p:cBhvr>
                                    </p:animEffect>
                                    <p:set>
                                      <p:cBhvr>
                                        <p:cTn id="303" dur="1" fill="hold">
                                          <p:stCondLst>
                                            <p:cond delay="103"/>
                                          </p:stCondLst>
                                        </p:cTn>
                                        <p:tgtEl>
                                          <p:spTgt spid="14043"/>
                                        </p:tgtEl>
                                        <p:attrNameLst>
                                          <p:attrName>style.visibility</p:attrName>
                                        </p:attrNameLst>
                                      </p:cBhvr>
                                      <p:to>
                                        <p:strVal val="hidden"/>
                                      </p:to>
                                    </p:set>
                                  </p:childTnLst>
                                </p:cTn>
                              </p:par>
                              <p:par>
                                <p:cTn id="304"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305" dur="497" accel="20000" decel="20000" fill="hold"/>
                                        <p:tgtEl>
                                          <p:spTgt spid="14044"/>
                                        </p:tgtEl>
                                        <p:attrNameLst>
                                          <p:attrName>ppt_x</p:attrName>
                                          <p:attrName>ppt_y</p:attrName>
                                        </p:attrNameLst>
                                      </p:cBhvr>
                                      <p:rCtr x="0" y="0"/>
                                    </p:animMotion>
                                  </p:childTnLst>
                                </p:cTn>
                              </p:par>
                              <p:par>
                                <p:cTn id="306" presetID="10" presetClass="exit" presetSubtype="0" fill="hold" nodeType="withEffect">
                                  <p:stCondLst>
                                    <p:cond delay="3295"/>
                                  </p:stCondLst>
                                  <p:childTnLst>
                                    <p:animEffect transition="out" filter="fade">
                                      <p:cBhvr>
                                        <p:cTn id="307" dur="104"/>
                                        <p:tgtEl>
                                          <p:spTgt spid="14044"/>
                                        </p:tgtEl>
                                      </p:cBhvr>
                                    </p:animEffect>
                                    <p:set>
                                      <p:cBhvr>
                                        <p:cTn id="308" dur="1" fill="hold">
                                          <p:stCondLst>
                                            <p:cond delay="103"/>
                                          </p:stCondLst>
                                        </p:cTn>
                                        <p:tgtEl>
                                          <p:spTgt spid="14044"/>
                                        </p:tgtEl>
                                        <p:attrNameLst>
                                          <p:attrName>style.visibility</p:attrName>
                                        </p:attrNameLst>
                                      </p:cBhvr>
                                      <p:to>
                                        <p:strVal val="hidden"/>
                                      </p:to>
                                    </p:set>
                                  </p:childTnLst>
                                </p:cTn>
                              </p:par>
                              <p:par>
                                <p:cTn id="309" presetID="10" presetClass="exit" presetSubtype="0" fill="hold" nodeType="withEffect">
                                  <p:stCondLst>
                                    <p:cond delay="3295"/>
                                  </p:stCondLst>
                                  <p:childTnLst>
                                    <p:animEffect transition="out" filter="fade">
                                      <p:cBhvr>
                                        <p:cTn id="310" dur="104"/>
                                        <p:tgtEl>
                                          <p:spTgt spid="14045"/>
                                        </p:tgtEl>
                                      </p:cBhvr>
                                    </p:animEffect>
                                    <p:set>
                                      <p:cBhvr>
                                        <p:cTn id="311" dur="1" fill="hold">
                                          <p:stCondLst>
                                            <p:cond delay="103"/>
                                          </p:stCondLst>
                                        </p:cTn>
                                        <p:tgtEl>
                                          <p:spTgt spid="14045"/>
                                        </p:tgtEl>
                                        <p:attrNameLst>
                                          <p:attrName>style.visibility</p:attrName>
                                        </p:attrNameLst>
                                      </p:cBhvr>
                                      <p:to>
                                        <p:strVal val="hidden"/>
                                      </p:to>
                                    </p:set>
                                  </p:childTnLst>
                                </p:cTn>
                              </p:par>
                              <p:par>
                                <p:cTn id="312" presetID="10" presetClass="exit" presetSubtype="0" fill="hold" nodeType="withEffect">
                                  <p:stCondLst>
                                    <p:cond delay="3295"/>
                                  </p:stCondLst>
                                  <p:childTnLst>
                                    <p:animEffect transition="out" filter="fade">
                                      <p:cBhvr>
                                        <p:cTn id="313" dur="104"/>
                                        <p:tgtEl>
                                          <p:spTgt spid="14046"/>
                                        </p:tgtEl>
                                      </p:cBhvr>
                                    </p:animEffect>
                                    <p:set>
                                      <p:cBhvr>
                                        <p:cTn id="314" dur="1" fill="hold">
                                          <p:stCondLst>
                                            <p:cond delay="103"/>
                                          </p:stCondLst>
                                        </p:cTn>
                                        <p:tgtEl>
                                          <p:spTgt spid="14046"/>
                                        </p:tgtEl>
                                        <p:attrNameLst>
                                          <p:attrName>style.visibility</p:attrName>
                                        </p:attrNameLst>
                                      </p:cBhvr>
                                      <p:to>
                                        <p:strVal val="hidden"/>
                                      </p:to>
                                    </p:set>
                                  </p:childTnLst>
                                </p:cTn>
                              </p:par>
                              <p:par>
                                <p:cTn id="315" presetID="10" presetClass="entr" presetSubtype="0" fill="hold" nodeType="withEffect">
                                  <p:stCondLst>
                                    <p:cond delay="3295"/>
                                  </p:stCondLst>
                                  <p:childTnLst>
                                    <p:animEffect transition="in" filter="fade">
                                      <p:cBhvr>
                                        <p:cTn id="316" dur="124"/>
                                        <p:tgtEl>
                                          <p:spTgt spid="14048"/>
                                        </p:tgtEl>
                                      </p:cBhvr>
                                    </p:animEffect>
                                    <p:set>
                                      <p:cBhvr>
                                        <p:cTn id="317" dur="1" fill="hold">
                                          <p:stCondLst>
                                            <p:cond delay="0"/>
                                          </p:stCondLst>
                                        </p:cTn>
                                        <p:tgtEl>
                                          <p:spTgt spid="14048"/>
                                        </p:tgtEl>
                                        <p:attrNameLst>
                                          <p:attrName>style.visibility</p:attrName>
                                        </p:attrNameLst>
                                      </p:cBhvr>
                                      <p:to>
                                        <p:strVal val="visible"/>
                                      </p:to>
                                    </p:set>
                                  </p:childTnLst>
                                </p:cTn>
                              </p:par>
                              <p:par>
                                <p:cTn id="318" presetID="10" presetClass="entr" presetSubtype="0" fill="hold" nodeType="withEffect">
                                  <p:stCondLst>
                                    <p:cond delay="3295"/>
                                  </p:stCondLst>
                                  <p:childTnLst>
                                    <p:animEffect transition="in" filter="fade">
                                      <p:cBhvr>
                                        <p:cTn id="319" dur="124"/>
                                        <p:tgtEl>
                                          <p:spTgt spid="14049"/>
                                        </p:tgtEl>
                                      </p:cBhvr>
                                    </p:animEffect>
                                    <p:set>
                                      <p:cBhvr>
                                        <p:cTn id="320" dur="1" fill="hold">
                                          <p:stCondLst>
                                            <p:cond delay="0"/>
                                          </p:stCondLst>
                                        </p:cTn>
                                        <p:tgtEl>
                                          <p:spTgt spid="14049"/>
                                        </p:tgtEl>
                                        <p:attrNameLst>
                                          <p:attrName>style.visibility</p:attrName>
                                        </p:attrNameLst>
                                      </p:cBhvr>
                                      <p:to>
                                        <p:strVal val="visible"/>
                                      </p:to>
                                    </p:set>
                                  </p:childTnLst>
                                </p:cTn>
                              </p:par>
                              <p:par>
                                <p:cTn id="321" presetID="10" presetClass="entr" presetSubtype="0" fill="hold" nodeType="withEffect">
                                  <p:stCondLst>
                                    <p:cond delay="3295"/>
                                  </p:stCondLst>
                                  <p:childTnLst>
                                    <p:animEffect transition="in" filter="fade">
                                      <p:cBhvr>
                                        <p:cTn id="322" dur="124"/>
                                        <p:tgtEl>
                                          <p:spTgt spid="14050"/>
                                        </p:tgtEl>
                                      </p:cBhvr>
                                    </p:animEffect>
                                    <p:set>
                                      <p:cBhvr>
                                        <p:cTn id="323" dur="1" fill="hold">
                                          <p:stCondLst>
                                            <p:cond delay="0"/>
                                          </p:stCondLst>
                                        </p:cTn>
                                        <p:tgtEl>
                                          <p:spTgt spid="14050"/>
                                        </p:tgtEl>
                                        <p:attrNameLst>
                                          <p:attrName>style.visibility</p:attrName>
                                        </p:attrNameLst>
                                      </p:cBhvr>
                                      <p:to>
                                        <p:strVal val="visible"/>
                                      </p:to>
                                    </p:set>
                                  </p:childTnLst>
                                </p:cTn>
                              </p:par>
                              <p:par>
                                <p:cTn id="324" presetID="10" presetClass="entr" presetSubtype="0" fill="hold" nodeType="withEffect">
                                  <p:stCondLst>
                                    <p:cond delay="3295"/>
                                  </p:stCondLst>
                                  <p:childTnLst>
                                    <p:animEffect transition="in" filter="fade">
                                      <p:cBhvr>
                                        <p:cTn id="325" dur="124"/>
                                        <p:tgtEl>
                                          <p:spTgt spid="14051"/>
                                        </p:tgtEl>
                                      </p:cBhvr>
                                    </p:animEffect>
                                    <p:set>
                                      <p:cBhvr>
                                        <p:cTn id="326" dur="1" fill="hold">
                                          <p:stCondLst>
                                            <p:cond delay="0"/>
                                          </p:stCondLst>
                                        </p:cTn>
                                        <p:tgtEl>
                                          <p:spTgt spid="14051"/>
                                        </p:tgtEl>
                                        <p:attrNameLst>
                                          <p:attrName>style.visibility</p:attrName>
                                        </p:attrNameLst>
                                      </p:cBhvr>
                                      <p:to>
                                        <p:strVal val="visible"/>
                                      </p:to>
                                    </p:set>
                                  </p:childTnLst>
                                </p:cTn>
                              </p:par>
                              <p:par>
                                <p:cTn id="327" presetID="10" presetClass="entr" presetSubtype="0" fill="hold" nodeType="withEffect">
                                  <p:stCondLst>
                                    <p:cond delay="3295"/>
                                  </p:stCondLst>
                                  <p:childTnLst>
                                    <p:animEffect transition="in" filter="fade">
                                      <p:cBhvr>
                                        <p:cTn id="328" dur="124"/>
                                        <p:tgtEl>
                                          <p:spTgt spid="14052"/>
                                        </p:tgtEl>
                                      </p:cBhvr>
                                    </p:animEffect>
                                    <p:set>
                                      <p:cBhvr>
                                        <p:cTn id="329" dur="1" fill="hold">
                                          <p:stCondLst>
                                            <p:cond delay="0"/>
                                          </p:stCondLst>
                                        </p:cTn>
                                        <p:tgtEl>
                                          <p:spTgt spid="14052"/>
                                        </p:tgtEl>
                                        <p:attrNameLst>
                                          <p:attrName>style.visibility</p:attrName>
                                        </p:attrNameLst>
                                      </p:cBhvr>
                                      <p:to>
                                        <p:strVal val="visible"/>
                                      </p:to>
                                    </p:set>
                                  </p:childTnLst>
                                </p:cTn>
                              </p:par>
                              <p:par>
                                <p:cTn id="330" presetID="10" presetClass="entr" presetSubtype="0" fill="hold" nodeType="withEffect">
                                  <p:stCondLst>
                                    <p:cond delay="3295"/>
                                  </p:stCondLst>
                                  <p:childTnLst>
                                    <p:animEffect transition="in" filter="fade">
                                      <p:cBhvr>
                                        <p:cTn id="331" dur="124"/>
                                        <p:tgtEl>
                                          <p:spTgt spid="14053"/>
                                        </p:tgtEl>
                                      </p:cBhvr>
                                    </p:animEffect>
                                    <p:set>
                                      <p:cBhvr>
                                        <p:cTn id="332" dur="1" fill="hold">
                                          <p:stCondLst>
                                            <p:cond delay="0"/>
                                          </p:stCondLst>
                                        </p:cTn>
                                        <p:tgtEl>
                                          <p:spTgt spid="14053"/>
                                        </p:tgtEl>
                                        <p:attrNameLst>
                                          <p:attrName>style.visibility</p:attrName>
                                        </p:attrNameLst>
                                      </p:cBhvr>
                                      <p:to>
                                        <p:strVal val="visible"/>
                                      </p:to>
                                    </p:set>
                                  </p:childTnLst>
                                </p:cTn>
                              </p:par>
                              <p:par>
                                <p:cTn id="333" presetID="10" presetClass="entr" presetSubtype="0" fill="hold" nodeType="withEffect">
                                  <p:stCondLst>
                                    <p:cond delay="3295"/>
                                  </p:stCondLst>
                                  <p:childTnLst>
                                    <p:animEffect transition="in" filter="fade">
                                      <p:cBhvr>
                                        <p:cTn id="334" dur="124"/>
                                        <p:tgtEl>
                                          <p:spTgt spid="14054"/>
                                        </p:tgtEl>
                                      </p:cBhvr>
                                    </p:animEffect>
                                    <p:set>
                                      <p:cBhvr>
                                        <p:cTn id="335" dur="1" fill="hold">
                                          <p:stCondLst>
                                            <p:cond delay="0"/>
                                          </p:stCondLst>
                                        </p:cTn>
                                        <p:tgtEl>
                                          <p:spTgt spid="14054"/>
                                        </p:tgtEl>
                                        <p:attrNameLst>
                                          <p:attrName>style.visibility</p:attrName>
                                        </p:attrNameLst>
                                      </p:cBhvr>
                                      <p:to>
                                        <p:strVal val="visible"/>
                                      </p:to>
                                    </p:set>
                                  </p:childTnLst>
                                </p:cTn>
                              </p:par>
                              <p:par>
                                <p:cTn id="336" presetID="10" presetClass="entr" presetSubtype="0" fill="hold" nodeType="withEffect">
                                  <p:stCondLst>
                                    <p:cond delay="3295"/>
                                  </p:stCondLst>
                                  <p:childTnLst>
                                    <p:animEffect transition="in" filter="fade">
                                      <p:cBhvr>
                                        <p:cTn id="337" dur="124"/>
                                        <p:tgtEl>
                                          <p:spTgt spid="14055"/>
                                        </p:tgtEl>
                                      </p:cBhvr>
                                    </p:animEffect>
                                    <p:set>
                                      <p:cBhvr>
                                        <p:cTn id="338" dur="1" fill="hold">
                                          <p:stCondLst>
                                            <p:cond delay="0"/>
                                          </p:stCondLst>
                                        </p:cTn>
                                        <p:tgtEl>
                                          <p:spTgt spid="14055"/>
                                        </p:tgtEl>
                                        <p:attrNameLst>
                                          <p:attrName>style.visibility</p:attrName>
                                        </p:attrNameLst>
                                      </p:cBhvr>
                                      <p:to>
                                        <p:strVal val="visible"/>
                                      </p:to>
                                    </p:set>
                                  </p:childTnLst>
                                </p:cTn>
                              </p:par>
                              <p:par>
                                <p:cTn id="339" presetID="10" presetClass="entr" presetSubtype="0" fill="hold" nodeType="withEffect">
                                  <p:stCondLst>
                                    <p:cond delay="3295"/>
                                  </p:stCondLst>
                                  <p:childTnLst>
                                    <p:animEffect transition="in" filter="fade">
                                      <p:cBhvr>
                                        <p:cTn id="340" dur="124"/>
                                        <p:tgtEl>
                                          <p:spTgt spid="14056"/>
                                        </p:tgtEl>
                                      </p:cBhvr>
                                    </p:animEffect>
                                    <p:set>
                                      <p:cBhvr>
                                        <p:cTn id="341" dur="1" fill="hold">
                                          <p:stCondLst>
                                            <p:cond delay="0"/>
                                          </p:stCondLst>
                                        </p:cTn>
                                        <p:tgtEl>
                                          <p:spTgt spid="14056"/>
                                        </p:tgtEl>
                                        <p:attrNameLst>
                                          <p:attrName>style.visibility</p:attrName>
                                        </p:attrNameLst>
                                      </p:cBhvr>
                                      <p:to>
                                        <p:strVal val="visible"/>
                                      </p:to>
                                    </p:set>
                                  </p:childTnLst>
                                </p:cTn>
                              </p:par>
                              <p:par>
                                <p:cTn id="342" presetID="10" presetClass="entr" presetSubtype="0" fill="hold" nodeType="withEffect">
                                  <p:stCondLst>
                                    <p:cond delay="3295"/>
                                  </p:stCondLst>
                                  <p:childTnLst>
                                    <p:animEffect transition="in" filter="fade">
                                      <p:cBhvr>
                                        <p:cTn id="343" dur="124"/>
                                        <p:tgtEl>
                                          <p:spTgt spid="14057"/>
                                        </p:tgtEl>
                                      </p:cBhvr>
                                    </p:animEffect>
                                    <p:set>
                                      <p:cBhvr>
                                        <p:cTn id="344" dur="1" fill="hold">
                                          <p:stCondLst>
                                            <p:cond delay="0"/>
                                          </p:stCondLst>
                                        </p:cTn>
                                        <p:tgtEl>
                                          <p:spTgt spid="14057"/>
                                        </p:tgtEl>
                                        <p:attrNameLst>
                                          <p:attrName>style.visibility</p:attrName>
                                        </p:attrNameLst>
                                      </p:cBhvr>
                                      <p:to>
                                        <p:strVal val="visible"/>
                                      </p:to>
                                    </p:set>
                                  </p:childTnLst>
                                </p:cTn>
                              </p:par>
                              <p:par>
                                <p:cTn id="345" presetID="10" presetClass="exit" presetSubtype="0" fill="hold" nodeType="withEffect">
                                  <p:stCondLst>
                                    <p:cond delay="3876"/>
                                  </p:stCondLst>
                                  <p:childTnLst>
                                    <p:animEffect transition="out" filter="fade">
                                      <p:cBhvr>
                                        <p:cTn id="346" dur="104"/>
                                        <p:tgtEl>
                                          <p:spTgt spid="14048"/>
                                        </p:tgtEl>
                                      </p:cBhvr>
                                    </p:animEffect>
                                    <p:set>
                                      <p:cBhvr>
                                        <p:cTn id="347" dur="1" fill="hold">
                                          <p:stCondLst>
                                            <p:cond delay="103"/>
                                          </p:stCondLst>
                                        </p:cTn>
                                        <p:tgtEl>
                                          <p:spTgt spid="14048"/>
                                        </p:tgtEl>
                                        <p:attrNameLst>
                                          <p:attrName>style.visibility</p:attrName>
                                        </p:attrNameLst>
                                      </p:cBhvr>
                                      <p:to>
                                        <p:strVal val="hidden"/>
                                      </p:to>
                                    </p:set>
                                  </p:childTnLst>
                                </p:cTn>
                              </p:par>
                              <p:par>
                                <p:cTn id="348" presetID="10" presetClass="exit" presetSubtype="0" fill="hold" nodeType="withEffect">
                                  <p:stCondLst>
                                    <p:cond delay="3689"/>
                                  </p:stCondLst>
                                  <p:childTnLst>
                                    <p:animEffect transition="out" filter="fade">
                                      <p:cBhvr>
                                        <p:cTn id="349" dur="104"/>
                                        <p:tgtEl>
                                          <p:spTgt spid="14049"/>
                                        </p:tgtEl>
                                      </p:cBhvr>
                                    </p:animEffect>
                                    <p:set>
                                      <p:cBhvr>
                                        <p:cTn id="350" dur="1" fill="hold">
                                          <p:stCondLst>
                                            <p:cond delay="103"/>
                                          </p:stCondLst>
                                        </p:cTn>
                                        <p:tgtEl>
                                          <p:spTgt spid="14049"/>
                                        </p:tgtEl>
                                        <p:attrNameLst>
                                          <p:attrName>style.visibility</p:attrName>
                                        </p:attrNameLst>
                                      </p:cBhvr>
                                      <p:to>
                                        <p:strVal val="hidden"/>
                                      </p:to>
                                    </p:set>
                                  </p:childTnLst>
                                </p:cTn>
                              </p:par>
                              <p:par>
                                <p:cTn id="351" presetID="10" presetClass="exit" presetSubtype="0" fill="hold" nodeType="withEffect">
                                  <p:stCondLst>
                                    <p:cond delay="3689"/>
                                  </p:stCondLst>
                                  <p:childTnLst>
                                    <p:animEffect transition="out" filter="fade">
                                      <p:cBhvr>
                                        <p:cTn id="352" dur="104"/>
                                        <p:tgtEl>
                                          <p:spTgt spid="14050"/>
                                        </p:tgtEl>
                                      </p:cBhvr>
                                    </p:animEffect>
                                    <p:set>
                                      <p:cBhvr>
                                        <p:cTn id="353" dur="1" fill="hold">
                                          <p:stCondLst>
                                            <p:cond delay="103"/>
                                          </p:stCondLst>
                                        </p:cTn>
                                        <p:tgtEl>
                                          <p:spTgt spid="14050"/>
                                        </p:tgtEl>
                                        <p:attrNameLst>
                                          <p:attrName>style.visibility</p:attrName>
                                        </p:attrNameLst>
                                      </p:cBhvr>
                                      <p:to>
                                        <p:strVal val="hidden"/>
                                      </p:to>
                                    </p:set>
                                  </p:childTnLst>
                                </p:cTn>
                              </p:par>
                              <p:par>
                                <p:cTn id="354" presetID="10" presetClass="exit" presetSubtype="0" fill="hold" nodeType="withEffect">
                                  <p:stCondLst>
                                    <p:cond delay="3689"/>
                                  </p:stCondLst>
                                  <p:childTnLst>
                                    <p:animEffect transition="out" filter="fade">
                                      <p:cBhvr>
                                        <p:cTn id="355" dur="104"/>
                                        <p:tgtEl>
                                          <p:spTgt spid="14051"/>
                                        </p:tgtEl>
                                      </p:cBhvr>
                                    </p:animEffect>
                                    <p:set>
                                      <p:cBhvr>
                                        <p:cTn id="356" dur="1" fill="hold">
                                          <p:stCondLst>
                                            <p:cond delay="103"/>
                                          </p:stCondLst>
                                        </p:cTn>
                                        <p:tgtEl>
                                          <p:spTgt spid="14051"/>
                                        </p:tgtEl>
                                        <p:attrNameLst>
                                          <p:attrName>style.visibility</p:attrName>
                                        </p:attrNameLst>
                                      </p:cBhvr>
                                      <p:to>
                                        <p:strVal val="hidden"/>
                                      </p:to>
                                    </p:set>
                                  </p:childTnLst>
                                </p:cTn>
                              </p:par>
                              <p:par>
                                <p:cTn id="357" presetID="10" presetClass="exit" presetSubtype="0" fill="hold" nodeType="withEffect">
                                  <p:stCondLst>
                                    <p:cond delay="3876"/>
                                  </p:stCondLst>
                                  <p:childTnLst>
                                    <p:animEffect transition="out" filter="fade">
                                      <p:cBhvr>
                                        <p:cTn id="358" dur="104"/>
                                        <p:tgtEl>
                                          <p:spTgt spid="14052"/>
                                        </p:tgtEl>
                                      </p:cBhvr>
                                    </p:animEffect>
                                    <p:set>
                                      <p:cBhvr>
                                        <p:cTn id="359" dur="1" fill="hold">
                                          <p:stCondLst>
                                            <p:cond delay="103"/>
                                          </p:stCondLst>
                                        </p:cTn>
                                        <p:tgtEl>
                                          <p:spTgt spid="14052"/>
                                        </p:tgtEl>
                                        <p:attrNameLst>
                                          <p:attrName>style.visibility</p:attrName>
                                        </p:attrNameLst>
                                      </p:cBhvr>
                                      <p:to>
                                        <p:strVal val="hidden"/>
                                      </p:to>
                                    </p:set>
                                  </p:childTnLst>
                                </p:cTn>
                              </p:par>
                              <p:par>
                                <p:cTn id="360" presetID="10" presetClass="exit" presetSubtype="0" fill="hold" nodeType="withEffect">
                                  <p:stCondLst>
                                    <p:cond delay="3876"/>
                                  </p:stCondLst>
                                  <p:childTnLst>
                                    <p:animEffect transition="out" filter="fade">
                                      <p:cBhvr>
                                        <p:cTn id="361" dur="104"/>
                                        <p:tgtEl>
                                          <p:spTgt spid="14053"/>
                                        </p:tgtEl>
                                      </p:cBhvr>
                                    </p:animEffect>
                                    <p:set>
                                      <p:cBhvr>
                                        <p:cTn id="362" dur="1" fill="hold">
                                          <p:stCondLst>
                                            <p:cond delay="103"/>
                                          </p:stCondLst>
                                        </p:cTn>
                                        <p:tgtEl>
                                          <p:spTgt spid="14053"/>
                                        </p:tgtEl>
                                        <p:attrNameLst>
                                          <p:attrName>style.visibility</p:attrName>
                                        </p:attrNameLst>
                                      </p:cBhvr>
                                      <p:to>
                                        <p:strVal val="hidden"/>
                                      </p:to>
                                    </p:set>
                                  </p:childTnLst>
                                </p:cTn>
                              </p:par>
                              <p:par>
                                <p:cTn id="363" presetID="10" presetClass="exit" presetSubtype="0" fill="hold" nodeType="withEffect">
                                  <p:stCondLst>
                                    <p:cond delay="3876"/>
                                  </p:stCondLst>
                                  <p:childTnLst>
                                    <p:animEffect transition="out" filter="fade">
                                      <p:cBhvr>
                                        <p:cTn id="364" dur="104"/>
                                        <p:tgtEl>
                                          <p:spTgt spid="14054"/>
                                        </p:tgtEl>
                                      </p:cBhvr>
                                    </p:animEffect>
                                    <p:set>
                                      <p:cBhvr>
                                        <p:cTn id="365" dur="1" fill="hold">
                                          <p:stCondLst>
                                            <p:cond delay="103"/>
                                          </p:stCondLst>
                                        </p:cTn>
                                        <p:tgtEl>
                                          <p:spTgt spid="14054"/>
                                        </p:tgtEl>
                                        <p:attrNameLst>
                                          <p:attrName>style.visibility</p:attrName>
                                        </p:attrNameLst>
                                      </p:cBhvr>
                                      <p:to>
                                        <p:strVal val="hidden"/>
                                      </p:to>
                                    </p:set>
                                  </p:childTnLst>
                                </p:cTn>
                              </p:par>
                              <p:par>
                                <p:cTn id="366" presetID="10" presetClass="exit" presetSubtype="0" fill="hold" nodeType="withEffect">
                                  <p:stCondLst>
                                    <p:cond delay="3876"/>
                                  </p:stCondLst>
                                  <p:childTnLst>
                                    <p:animEffect transition="out" filter="fade">
                                      <p:cBhvr>
                                        <p:cTn id="367" dur="104"/>
                                        <p:tgtEl>
                                          <p:spTgt spid="14055"/>
                                        </p:tgtEl>
                                      </p:cBhvr>
                                    </p:animEffect>
                                    <p:set>
                                      <p:cBhvr>
                                        <p:cTn id="368" dur="1" fill="hold">
                                          <p:stCondLst>
                                            <p:cond delay="103"/>
                                          </p:stCondLst>
                                        </p:cTn>
                                        <p:tgtEl>
                                          <p:spTgt spid="14055"/>
                                        </p:tgtEl>
                                        <p:attrNameLst>
                                          <p:attrName>style.visibility</p:attrName>
                                        </p:attrNameLst>
                                      </p:cBhvr>
                                      <p:to>
                                        <p:strVal val="hidden"/>
                                      </p:to>
                                    </p:set>
                                  </p:childTnLst>
                                </p:cTn>
                              </p:par>
                              <p:par>
                                <p:cTn id="369" presetID="10" presetClass="exit" presetSubtype="0" fill="hold" nodeType="withEffect">
                                  <p:stCondLst>
                                    <p:cond delay="3876"/>
                                  </p:stCondLst>
                                  <p:childTnLst>
                                    <p:animEffect transition="out" filter="fade">
                                      <p:cBhvr>
                                        <p:cTn id="370" dur="104"/>
                                        <p:tgtEl>
                                          <p:spTgt spid="14056"/>
                                        </p:tgtEl>
                                      </p:cBhvr>
                                    </p:animEffect>
                                    <p:set>
                                      <p:cBhvr>
                                        <p:cTn id="371" dur="1" fill="hold">
                                          <p:stCondLst>
                                            <p:cond delay="103"/>
                                          </p:stCondLst>
                                        </p:cTn>
                                        <p:tgtEl>
                                          <p:spTgt spid="14056"/>
                                        </p:tgtEl>
                                        <p:attrNameLst>
                                          <p:attrName>style.visibility</p:attrName>
                                        </p:attrNameLst>
                                      </p:cBhvr>
                                      <p:to>
                                        <p:strVal val="hidden"/>
                                      </p:to>
                                    </p:set>
                                  </p:childTnLst>
                                </p:cTn>
                              </p:par>
                              <p:par>
                                <p:cTn id="372" presetID="10" presetClass="exit" presetSubtype="0" fill="hold" nodeType="withEffect">
                                  <p:stCondLst>
                                    <p:cond delay="3876"/>
                                  </p:stCondLst>
                                  <p:childTnLst>
                                    <p:animEffect transition="out" filter="fade">
                                      <p:cBhvr>
                                        <p:cTn id="373" dur="104"/>
                                        <p:tgtEl>
                                          <p:spTgt spid="14057"/>
                                        </p:tgtEl>
                                      </p:cBhvr>
                                    </p:animEffect>
                                    <p:set>
                                      <p:cBhvr>
                                        <p:cTn id="374" dur="1" fill="hold">
                                          <p:stCondLst>
                                            <p:cond delay="103"/>
                                          </p:stCondLst>
                                        </p:cTn>
                                        <p:tgtEl>
                                          <p:spTgt spid="14057"/>
                                        </p:tgtEl>
                                        <p:attrNameLst>
                                          <p:attrName>style.visibility</p:attrName>
                                        </p:attrNameLst>
                                      </p:cBhvr>
                                      <p:to>
                                        <p:strVal val="hidden"/>
                                      </p:to>
                                    </p:set>
                                  </p:childTnLst>
                                </p:cTn>
                              </p:par>
                              <p:par>
                                <p:cTn id="375" presetID="10" presetClass="entr" presetSubtype="0" fill="hold" nodeType="withEffect">
                                  <p:stCondLst>
                                    <p:cond delay="3876"/>
                                  </p:stCondLst>
                                  <p:childTnLst>
                                    <p:animEffect transition="in" filter="fade">
                                      <p:cBhvr>
                                        <p:cTn id="376" dur="124"/>
                                        <p:tgtEl>
                                          <p:spTgt spid="14059"/>
                                        </p:tgtEl>
                                      </p:cBhvr>
                                    </p:animEffect>
                                    <p:set>
                                      <p:cBhvr>
                                        <p:cTn id="377" dur="1" fill="hold">
                                          <p:stCondLst>
                                            <p:cond delay="0"/>
                                          </p:stCondLst>
                                        </p:cTn>
                                        <p:tgtEl>
                                          <p:spTgt spid="14059"/>
                                        </p:tgtEl>
                                        <p:attrNameLst>
                                          <p:attrName>style.visibility</p:attrName>
                                        </p:attrNameLst>
                                      </p:cBhvr>
                                      <p:to>
                                        <p:strVal val="visible"/>
                                      </p:to>
                                    </p:set>
                                  </p:childTnLst>
                                </p:cTn>
                              </p:par>
                              <p:par>
                                <p:cTn id="378" presetID="10" presetClass="entr" presetSubtype="0" fill="hold" nodeType="withEffect">
                                  <p:stCondLst>
                                    <p:cond delay="3876"/>
                                  </p:stCondLst>
                                  <p:childTnLst>
                                    <p:animEffect transition="in" filter="fade">
                                      <p:cBhvr>
                                        <p:cTn id="379" dur="124"/>
                                        <p:tgtEl>
                                          <p:spTgt spid="14060"/>
                                        </p:tgtEl>
                                      </p:cBhvr>
                                    </p:animEffect>
                                    <p:set>
                                      <p:cBhvr>
                                        <p:cTn id="380" dur="1" fill="hold">
                                          <p:stCondLst>
                                            <p:cond delay="0"/>
                                          </p:stCondLst>
                                        </p:cTn>
                                        <p:tgtEl>
                                          <p:spTgt spid="14060"/>
                                        </p:tgtEl>
                                        <p:attrNameLst>
                                          <p:attrName>style.visibility</p:attrName>
                                        </p:attrNameLst>
                                      </p:cBhvr>
                                      <p:to>
                                        <p:strVal val="visible"/>
                                      </p:to>
                                    </p:set>
                                  </p:childTnLst>
                                </p:cTn>
                              </p:par>
                              <p:par>
                                <p:cTn id="381" presetID="10" presetClass="entr" presetSubtype="0" fill="hold" nodeType="withEffect">
                                  <p:stCondLst>
                                    <p:cond delay="3876"/>
                                  </p:stCondLst>
                                  <p:childTnLst>
                                    <p:animEffect transition="in" filter="fade">
                                      <p:cBhvr>
                                        <p:cTn id="382" dur="124"/>
                                        <p:tgtEl>
                                          <p:spTgt spid="14061"/>
                                        </p:tgtEl>
                                      </p:cBhvr>
                                    </p:animEffect>
                                    <p:set>
                                      <p:cBhvr>
                                        <p:cTn id="383" dur="1" fill="hold">
                                          <p:stCondLst>
                                            <p:cond delay="0"/>
                                          </p:stCondLst>
                                        </p:cTn>
                                        <p:tgtEl>
                                          <p:spTgt spid="14061"/>
                                        </p:tgtEl>
                                        <p:attrNameLst>
                                          <p:attrName>style.visibility</p:attrName>
                                        </p:attrNameLst>
                                      </p:cBhvr>
                                      <p:to>
                                        <p:strVal val="visible"/>
                                      </p:to>
                                    </p:set>
                                  </p:childTnLst>
                                </p:cTn>
                              </p:par>
                              <p:par>
                                <p:cTn id="384" presetID="10" presetClass="entr" presetSubtype="0" fill="hold" nodeType="withEffect">
                                  <p:stCondLst>
                                    <p:cond delay="3876"/>
                                  </p:stCondLst>
                                  <p:childTnLst>
                                    <p:animEffect transition="in" filter="fade">
                                      <p:cBhvr>
                                        <p:cTn id="385" dur="124"/>
                                        <p:tgtEl>
                                          <p:spTgt spid="14062"/>
                                        </p:tgtEl>
                                      </p:cBhvr>
                                    </p:animEffect>
                                    <p:set>
                                      <p:cBhvr>
                                        <p:cTn id="386" dur="1" fill="hold">
                                          <p:stCondLst>
                                            <p:cond delay="0"/>
                                          </p:stCondLst>
                                        </p:cTn>
                                        <p:tgtEl>
                                          <p:spTgt spid="14062"/>
                                        </p:tgtEl>
                                        <p:attrNameLst>
                                          <p:attrName>style.visibility</p:attrName>
                                        </p:attrNameLst>
                                      </p:cBhvr>
                                      <p:to>
                                        <p:strVal val="visible"/>
                                      </p:to>
                                    </p:set>
                                  </p:childTnLst>
                                </p:cTn>
                              </p:par>
                              <p:par>
                                <p:cTn id="387" presetID="10" presetClass="entr" presetSubtype="0" fill="hold" nodeType="withEffect">
                                  <p:stCondLst>
                                    <p:cond delay="3876"/>
                                  </p:stCondLst>
                                  <p:childTnLst>
                                    <p:animEffect transition="in" filter="fade">
                                      <p:cBhvr>
                                        <p:cTn id="388" dur="124"/>
                                        <p:tgtEl>
                                          <p:spTgt spid="14063"/>
                                        </p:tgtEl>
                                      </p:cBhvr>
                                    </p:animEffect>
                                    <p:set>
                                      <p:cBhvr>
                                        <p:cTn id="389" dur="1" fill="hold">
                                          <p:stCondLst>
                                            <p:cond delay="0"/>
                                          </p:stCondLst>
                                        </p:cTn>
                                        <p:tgtEl>
                                          <p:spTgt spid="14063"/>
                                        </p:tgtEl>
                                        <p:attrNameLst>
                                          <p:attrName>style.visibility</p:attrName>
                                        </p:attrNameLst>
                                      </p:cBhvr>
                                      <p:to>
                                        <p:strVal val="visible"/>
                                      </p:to>
                                    </p:set>
                                  </p:childTnLst>
                                </p:cTn>
                              </p:par>
                              <p:par>
                                <p:cTn id="390" presetID="10" presetClass="entr" presetSubtype="0" fill="hold" nodeType="withEffect">
                                  <p:stCondLst>
                                    <p:cond delay="3876"/>
                                  </p:stCondLst>
                                  <p:childTnLst>
                                    <p:animEffect transition="in" filter="fade">
                                      <p:cBhvr>
                                        <p:cTn id="391" dur="124"/>
                                        <p:tgtEl>
                                          <p:spTgt spid="14064"/>
                                        </p:tgtEl>
                                      </p:cBhvr>
                                    </p:animEffect>
                                    <p:set>
                                      <p:cBhvr>
                                        <p:cTn id="392" dur="1" fill="hold">
                                          <p:stCondLst>
                                            <p:cond delay="0"/>
                                          </p:stCondLst>
                                        </p:cTn>
                                        <p:tgtEl>
                                          <p:spTgt spid="14064"/>
                                        </p:tgtEl>
                                        <p:attrNameLst>
                                          <p:attrName>style.visibility</p:attrName>
                                        </p:attrNameLst>
                                      </p:cBhvr>
                                      <p:to>
                                        <p:strVal val="visible"/>
                                      </p:to>
                                    </p:set>
                                  </p:childTnLst>
                                </p:cTn>
                              </p:par>
                              <p:par>
                                <p:cTn id="393" presetID="10" presetClass="entr" presetSubtype="0" fill="hold" nodeType="withEffect">
                                  <p:stCondLst>
                                    <p:cond delay="3876"/>
                                  </p:stCondLst>
                                  <p:childTnLst>
                                    <p:animEffect transition="in" filter="fade">
                                      <p:cBhvr>
                                        <p:cTn id="394" dur="124"/>
                                        <p:tgtEl>
                                          <p:spTgt spid="14065"/>
                                        </p:tgtEl>
                                      </p:cBhvr>
                                    </p:animEffect>
                                    <p:set>
                                      <p:cBhvr>
                                        <p:cTn id="395" dur="1" fill="hold">
                                          <p:stCondLst>
                                            <p:cond delay="0"/>
                                          </p:stCondLst>
                                        </p:cTn>
                                        <p:tgtEl>
                                          <p:spTgt spid="14065"/>
                                        </p:tgtEl>
                                        <p:attrNameLst>
                                          <p:attrName>style.visibility</p:attrName>
                                        </p:attrNameLst>
                                      </p:cBhvr>
                                      <p:to>
                                        <p:strVal val="visible"/>
                                      </p:to>
                                    </p:set>
                                  </p:childTnLst>
                                </p:cTn>
                              </p:par>
                              <p:par>
                                <p:cTn id="396" presetID="10" presetClass="entr" presetSubtype="0" fill="hold" nodeType="withEffect">
                                  <p:stCondLst>
                                    <p:cond delay="3876"/>
                                  </p:stCondLst>
                                  <p:childTnLst>
                                    <p:animEffect transition="in" filter="fade">
                                      <p:cBhvr>
                                        <p:cTn id="397" dur="124"/>
                                        <p:tgtEl>
                                          <p:spTgt spid="14066"/>
                                        </p:tgtEl>
                                      </p:cBhvr>
                                    </p:animEffect>
                                    <p:set>
                                      <p:cBhvr>
                                        <p:cTn id="398" dur="1" fill="hold">
                                          <p:stCondLst>
                                            <p:cond delay="0"/>
                                          </p:stCondLst>
                                        </p:cTn>
                                        <p:tgtEl>
                                          <p:spTgt spid="140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05" grpId="0"/>
      <p:bldP spid="11005" grpId="1"/>
      <p:bldP spid="11006" grpId="0"/>
      <p:bldP spid="11006" grpId="1"/>
      <p:bldP spid="11009"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EDCF42-4D3B-71D4-33BF-E4C901009C2A}"/>
            </a:ext>
          </a:extLst>
        </p:cNvPr>
        <p:cNvGrpSpPr/>
        <p:nvPr/>
      </p:nvGrpSpPr>
      <p:grpSpPr>
        <a:xfrm>
          <a:off x="0" y="0"/>
          <a:ext cx="0" cy="0"/>
          <a:chOff x="0" y="0"/>
          <a:chExt cx="0" cy="0"/>
        </a:xfrm>
      </p:grpSpPr>
      <p:sp>
        <p:nvSpPr>
          <p:cNvPr id="20001" name="!!Physical pillar">
            <a:extLst>
              <a:ext uri="{FF2B5EF4-FFF2-40B4-BE49-F238E27FC236}">
                <a16:creationId xmlns:a16="http://schemas.microsoft.com/office/drawing/2014/main" id="{2FAC969D-EEFE-5C2C-F663-3ACD17ED9C35}"/>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Flow PIE 20002">
            <a:extLst>
              <a:ext uri="{FF2B5EF4-FFF2-40B4-BE49-F238E27FC236}">
                <a16:creationId xmlns:a16="http://schemas.microsoft.com/office/drawing/2014/main" id="{FB60CB8E-870E-FF8A-CF9B-B243BA10C513}"/>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Sliding content 44 20003">
            <a:extLst>
              <a:ext uri="{FF2B5EF4-FFF2-40B4-BE49-F238E27FC236}">
                <a16:creationId xmlns:a16="http://schemas.microsoft.com/office/drawing/2014/main" id="{297051C0-3B68-3AF4-DCE3-8731BB10ECF7}"/>
              </a:ext>
            </a:extLst>
          </p:cNvPr>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Flow PIE 20005">
            <a:extLst>
              <a:ext uri="{FF2B5EF4-FFF2-40B4-BE49-F238E27FC236}">
                <a16:creationId xmlns:a16="http://schemas.microsoft.com/office/drawing/2014/main" id="{CFBD3BEB-8F57-782B-2E6F-529003EE1628}"/>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Sliding content 44 20006">
            <a:extLst>
              <a:ext uri="{FF2B5EF4-FFF2-40B4-BE49-F238E27FC236}">
                <a16:creationId xmlns:a16="http://schemas.microsoft.com/office/drawing/2014/main" id="{BEE6AF2E-5B3A-56C0-156A-D2044BD549DB}"/>
              </a:ext>
            </a:extLst>
          </p:cNvPr>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Flow PIE 20007">
            <a:extLst>
              <a:ext uri="{FF2B5EF4-FFF2-40B4-BE49-F238E27FC236}">
                <a16:creationId xmlns:a16="http://schemas.microsoft.com/office/drawing/2014/main" id="{4F164F88-24AC-3113-E54A-7C8B4A9ACCDC}"/>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Sliding center 44 20008">
            <a:extLst>
              <a:ext uri="{FF2B5EF4-FFF2-40B4-BE49-F238E27FC236}">
                <a16:creationId xmlns:a16="http://schemas.microsoft.com/office/drawing/2014/main" id="{499EBBFF-EBC2-B1C1-F47A-8BA3B969E389}"/>
              </a:ext>
            </a:extLst>
          </p:cNvPr>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Sliding center 44 20009">
            <a:extLst>
              <a:ext uri="{FF2B5EF4-FFF2-40B4-BE49-F238E27FC236}">
                <a16:creationId xmlns:a16="http://schemas.microsoft.com/office/drawing/2014/main" id="{5E1F9093-BC2D-48FE-4C31-AA6C45516AB3}"/>
              </a:ext>
            </a:extLst>
          </p:cNvPr>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liding center 44 20010">
            <a:extLst>
              <a:ext uri="{FF2B5EF4-FFF2-40B4-BE49-F238E27FC236}">
                <a16:creationId xmlns:a16="http://schemas.microsoft.com/office/drawing/2014/main" id="{0B4753F2-1DB8-E893-F59E-20E8D2AB9B1F}"/>
              </a:ext>
            </a:extLst>
          </p:cNvPr>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liding center 44 20011">
            <a:extLst>
              <a:ext uri="{FF2B5EF4-FFF2-40B4-BE49-F238E27FC236}">
                <a16:creationId xmlns:a16="http://schemas.microsoft.com/office/drawing/2014/main" id="{5E079199-8DEA-4AED-D5B5-C12455AF11CA}"/>
              </a:ext>
            </a:extLst>
          </p:cNvPr>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Flow PIE 20012">
            <a:extLst>
              <a:ext uri="{FF2B5EF4-FFF2-40B4-BE49-F238E27FC236}">
                <a16:creationId xmlns:a16="http://schemas.microsoft.com/office/drawing/2014/main" id="{68B46CE1-5B6E-302B-4CC3-F94B870D6D10}"/>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Flow PIE 20013">
                <a:extLst>
                  <a:ext uri="{FF2B5EF4-FFF2-40B4-BE49-F238E27FC236}">
                    <a16:creationId xmlns:a16="http://schemas.microsoft.com/office/drawing/2014/main" id="{B93808DC-3B04-7420-8404-71D9BF6520C5}"/>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Flow PIE 20013"/>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52F6D2E-E137-175C-BD1A-6E122C496E7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0CEC781-E320-2663-4747-D3A2F2C3AE7E}"/>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44</a:t>
            </a:fld>
            <a:endParaRPr lang="en-GB"/>
          </a:p>
        </p:txBody>
      </p:sp>
      <p:grpSp>
        <p:nvGrpSpPr>
          <p:cNvPr id="30001" name="!!Sliding content 44 30001">
            <a:extLst>
              <a:ext uri="{FF2B5EF4-FFF2-40B4-BE49-F238E27FC236}">
                <a16:creationId xmlns:a16="http://schemas.microsoft.com/office/drawing/2014/main" id="{61E9A479-307C-F296-A3CB-59F44C130B53}"/>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8E5D0341-E8B3-C75D-A579-C16A2EE57CB7}"/>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98BAB595-A1B8-6D08-FCCD-E29FF3915CAD}"/>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A93CC696-40AB-5ADC-E726-26800473358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0836FF5A-14ED-338F-5636-A5371B218C2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1EF01B99-8DDD-1495-1765-C19FDD0BCAE7}"/>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597966D5-20F3-D2C6-94DE-BD9F9562E2B5}"/>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AA9A3ECB-8600-4E6E-FAF1-83A4D46DEEE0}"/>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56C1F3E6-038F-3E13-09A2-53BF11050EDB}"/>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4F5C2C55-17D6-E4AE-07D1-33F3C710F15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ECBC14AD-B982-5B82-FF7D-D8E907C31458}"/>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5BCBCA84-FBF7-31E0-7DEF-F1E7ADF806CE}"/>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414256D2-891A-41C2-54A2-03D8F1A9D059}"/>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a:extLst>
              <a:ext uri="{FF2B5EF4-FFF2-40B4-BE49-F238E27FC236}">
                <a16:creationId xmlns:a16="http://schemas.microsoft.com/office/drawing/2014/main" id="{4C55836B-20A5-EC56-07E8-6A5602FDF6CE}"/>
              </a:ext>
            </a:extLst>
          </p:cNvPr>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9CA1AA01-05BB-2174-7914-DD1C674E14FF}"/>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8443D1AD-4C83-D46D-4351-2880889F0A2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Flow PIE 30019">
            <a:extLst>
              <a:ext uri="{FF2B5EF4-FFF2-40B4-BE49-F238E27FC236}">
                <a16:creationId xmlns:a16="http://schemas.microsoft.com/office/drawing/2014/main" id="{29BF0EB2-8008-4A83-EDE7-4F1539B42573}"/>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BD9BC991-DC2B-235D-94DA-AABDBBD7459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CCC1055C-E4F9-5E57-7076-C307C7FC7837}"/>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0610F10B-82D9-8873-5E8E-5F631764980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EC0FA7FC-9C77-E3B1-34EB-D415847F82D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CFB0BD17-FF36-957D-531B-78C6FAB58859}"/>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92FBC885-B8EC-A2DE-7B58-73C31153C47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331A1459-A58C-11EF-5F49-C170991267B1}"/>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C54578E6-2AE6-A80B-CF4E-B4A63BE7F484}"/>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90E69E8-FF6B-FF8D-9678-8A3FD3ECC8F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3CC6D73-E541-16D1-1C74-8D49B48CED64}"/>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E2FE86CF-1ED0-8EDC-25DD-D3040564A95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B7006D74-651C-122E-3D36-65849BF9C121}"/>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Flow PIE 30034">
            <a:extLst>
              <a:ext uri="{FF2B5EF4-FFF2-40B4-BE49-F238E27FC236}">
                <a16:creationId xmlns:a16="http://schemas.microsoft.com/office/drawing/2014/main" id="{9F37F187-D70C-D841-DD78-FDB64307D155}"/>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978F0213-6303-AAD4-647B-73E434D9B777}"/>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A65E771-7ABF-BEBD-6393-33521BA7202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Sliding content 44 39990">
            <a:extLst>
              <a:ext uri="{FF2B5EF4-FFF2-40B4-BE49-F238E27FC236}">
                <a16:creationId xmlns:a16="http://schemas.microsoft.com/office/drawing/2014/main" id="{DC66CA60-F31A-1833-7EB6-48C5C3FFBAAB}"/>
              </a:ext>
            </a:extLst>
          </p:cNvPr>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liding content 44 30037">
            <a:extLst>
              <a:ext uri="{FF2B5EF4-FFF2-40B4-BE49-F238E27FC236}">
                <a16:creationId xmlns:a16="http://schemas.microsoft.com/office/drawing/2014/main" id="{0283178A-7C19-0619-3968-F38A88D5F810}"/>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A684B643-ED2B-4A7F-DADF-F2041C4F82A7}"/>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Sliding content 44 30039">
            <a:extLst>
              <a:ext uri="{FF2B5EF4-FFF2-40B4-BE49-F238E27FC236}">
                <a16:creationId xmlns:a16="http://schemas.microsoft.com/office/drawing/2014/main" id="{9CFE4FAA-5D8A-3579-AA73-D730BBBCFD49}"/>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Sliding content 44 30040" descr="Products and Technologies - Canon Production Printing">
            <a:extLst>
              <a:ext uri="{FF2B5EF4-FFF2-40B4-BE49-F238E27FC236}">
                <a16:creationId xmlns:a16="http://schemas.microsoft.com/office/drawing/2014/main" id="{9F72744F-1C0B-7047-92F3-859EC38777E9}"/>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Sliding content 44 39991">
            <a:extLst>
              <a:ext uri="{FF2B5EF4-FFF2-40B4-BE49-F238E27FC236}">
                <a16:creationId xmlns:a16="http://schemas.microsoft.com/office/drawing/2014/main" id="{4EE35D63-FC84-C8FA-38DE-63E80E69C1D2}"/>
              </a:ext>
            </a:extLst>
          </p:cNvPr>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
        <p:nvSpPr>
          <p:cNvPr id="40091" name="!!Flow Analysis 2">
            <a:extLst>
              <a:ext uri="{FF2B5EF4-FFF2-40B4-BE49-F238E27FC236}">
                <a16:creationId xmlns:a16="http://schemas.microsoft.com/office/drawing/2014/main" id="{BC45C81A-258D-7172-B4EE-A52D585EAD47}"/>
              </a:ext>
            </a:extLst>
          </p:cNvPr>
          <p:cNvSpPr/>
          <p:nvPr/>
        </p:nvSpPr>
        <p:spPr>
          <a:xfrm>
            <a:off x="11074400" y="0"/>
            <a:ext cx="3606800" cy="5143500"/>
          </a:xfrm>
          <a:prstGeom prst="rect">
            <a:avLst/>
          </a:prstGeom>
          <a:solidFill>
            <a:srgbClr val="C81919">
              <a:alpha val="50196"/>
            </a:srgbClr>
          </a:solidFill>
          <a:ln>
            <a:noFill/>
          </a:ln>
        </p:spPr>
        <p:txBody>
          <a:bodyPr/>
          <a:lstStyle/>
          <a:p>
            <a:endParaRPr lang="en-NL"/>
          </a:p>
        </p:txBody>
      </p:sp>
      <p:sp>
        <p:nvSpPr>
          <p:cNvPr id="40092" name="!!Flow Analysis 3">
            <a:extLst>
              <a:ext uri="{FF2B5EF4-FFF2-40B4-BE49-F238E27FC236}">
                <a16:creationId xmlns:a16="http://schemas.microsoft.com/office/drawing/2014/main" id="{FAD5F3E4-F192-667D-E194-6CC3314B0878}"/>
              </a:ext>
            </a:extLst>
          </p:cNvPr>
          <p:cNvSpPr/>
          <p:nvPr/>
        </p:nvSpPr>
        <p:spPr>
          <a:xfrm>
            <a:off x="112444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Uncertainty Description</a:t>
            </a:r>
            <a:endParaRPr sz="2000" dirty="0"/>
          </a:p>
        </p:txBody>
      </p:sp>
      <mc:AlternateContent xmlns:mc="http://schemas.openxmlformats.org/markup-compatibility/2006" xmlns:a14="http://schemas.microsoft.com/office/drawing/2010/main">
        <mc:Choice Requires="a14">
          <p:sp>
            <p:nvSpPr>
              <p:cNvPr id="40093" name="!!Flow Analysis 7">
                <a:extLst>
                  <a:ext uri="{FF2B5EF4-FFF2-40B4-BE49-F238E27FC236}">
                    <a16:creationId xmlns:a16="http://schemas.microsoft.com/office/drawing/2014/main" id="{34AB0EB5-FEEE-8C2C-D63F-4B3DDD6C5AE4}"/>
                  </a:ext>
                </a:extLst>
              </p:cNvPr>
              <p:cNvSpPr/>
              <p:nvPr/>
            </p:nvSpPr>
            <p:spPr>
              <a:xfrm>
                <a:off x="112268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Linearization of </a:t>
                </a:r>
                <a14:m>
                  <m:oMath xmlns:m="http://schemas.openxmlformats.org/officeDocument/2006/math">
                    <m:r>
                      <a:rPr lang="en-GB" sz="1800" b="1" i="1" u="none" baseline="0" smtClean="0">
                        <a:solidFill>
                          <a:srgbClr val="252529"/>
                        </a:solidFill>
                        <a:latin typeface="Cambria Math" panose="02040503050406030204" pitchFamily="18" charset="0"/>
                        <a:ea typeface="Cambria Math" panose="02040503050406030204" pitchFamily="18" charset="0"/>
                        <a:cs typeface="Aptos"/>
                      </a:rPr>
                      <m:t>𝚫</m:t>
                    </m:r>
                  </m:oMath>
                </a14:m>
                <a:endParaRPr sz="1800" dirty="0"/>
              </a:p>
            </p:txBody>
          </p:sp>
        </mc:Choice>
        <mc:Fallback xmlns="">
          <p:sp>
            <p:nvSpPr>
              <p:cNvPr id="40093" name="!!Flow Analysis 7">
                <a:extLst>
                  <a:ext uri="{FF2B5EF4-FFF2-40B4-BE49-F238E27FC236}">
                    <a16:creationId xmlns:a16="http://schemas.microsoft.com/office/drawing/2014/main" id="{34AB0EB5-FEEE-8C2C-D63F-4B3DDD6C5AE4}"/>
                  </a:ext>
                </a:extLst>
              </p:cNvPr>
              <p:cNvSpPr>
                <a:spLocks noRot="1" noChangeAspect="1" noMove="1" noResize="1" noEditPoints="1" noAdjustHandles="1" noChangeArrowheads="1" noChangeShapeType="1" noTextEdit="1"/>
              </p:cNvSpPr>
              <p:nvPr/>
            </p:nvSpPr>
            <p:spPr>
              <a:xfrm>
                <a:off x="11226800" y="4108450"/>
                <a:ext cx="3302000" cy="342900"/>
              </a:xfrm>
              <a:prstGeom prst="rect">
                <a:avLst/>
              </a:prstGeom>
              <a:blipFill>
                <a:blip r:embed="rIdSlideFlow118"/>
                <a:stretch>
                  <a:fillRect t="-10714" b="-3392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94" name="!!Flow Analysis 8">
                <a:extLst>
                  <a:ext uri="{FF2B5EF4-FFF2-40B4-BE49-F238E27FC236}">
                    <a16:creationId xmlns:a16="http://schemas.microsoft.com/office/drawing/2014/main" id="{28280CA4-60AE-F571-618D-2E3E31C058C5}"/>
                  </a:ext>
                </a:extLst>
              </p:cNvPr>
              <p:cNvSpPr/>
              <p:nvPr/>
            </p:nvSpPr>
            <p:spPr>
              <a:xfrm>
                <a:off x="11333398" y="4572000"/>
                <a:ext cx="3175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𝑤</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m:t>
                      </m:r>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𝑧</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 ∀ </m:t>
                      </m:r>
                      <m:r>
                        <a:rPr lang="en-US" sz="1600" b="0" i="0" u="none" baseline="0" dirty="0" smtClean="0">
                          <a:solidFill>
                            <a:srgbClr val="633434"/>
                          </a:solidFill>
                          <a:latin typeface="Cambria Math" panose="02040503050406030204" pitchFamily="18" charset="0"/>
                        </a:rPr>
                        <m:t>𝑇</m:t>
                      </m:r>
                      <m:r>
                        <a:rPr lang="en-US" sz="1600" b="0" i="0" u="none" baseline="0" dirty="0" smtClean="0">
                          <a:solidFill>
                            <a:srgbClr val="633434"/>
                          </a:solidFill>
                          <a:latin typeface="Cambria Math" panose="02040503050406030204" pitchFamily="18" charset="0"/>
                        </a:rPr>
                        <m:t>&gt;0</m:t>
                      </m:r>
                    </m:oMath>
                  </m:oMathPara>
                </a14:m>
                <a:endParaRPr sz="1600" dirty="0">
                  <a:solidFill>
                    <a:srgbClr val="633434"/>
                  </a:solidFill>
                  <a:latin typeface="Aptos"/>
                  <a:ea typeface="Aptos"/>
                  <a:cs typeface="Aptos"/>
                </a:endParaRPr>
              </a:p>
            </p:txBody>
          </p:sp>
        </mc:Choice>
        <mc:Fallback xmlns="">
          <p:sp>
            <p:nvSpPr>
              <p:cNvPr id="40094" name="!!Flow Analysis 8">
                <a:extLst>
                  <a:ext uri="{FF2B5EF4-FFF2-40B4-BE49-F238E27FC236}">
                    <a16:creationId xmlns:a16="http://schemas.microsoft.com/office/drawing/2014/main" id="{28280CA4-60AE-F571-618D-2E3E31C058C5}"/>
                  </a:ext>
                </a:extLst>
              </p:cNvPr>
              <p:cNvSpPr>
                <a:spLocks noRot="1" noChangeAspect="1" noMove="1" noResize="1" noEditPoints="1" noAdjustHandles="1" noChangeArrowheads="1" noChangeShapeType="1" noTextEdit="1"/>
              </p:cNvSpPr>
              <p:nvPr/>
            </p:nvSpPr>
            <p:spPr>
              <a:xfrm>
                <a:off x="11333398" y="4572000"/>
                <a:ext cx="3175000" cy="304800"/>
              </a:xfrm>
              <a:prstGeom prst="rect">
                <a:avLst/>
              </a:prstGeom>
              <a:blipFill>
                <a:blip r:embed="rIdSlideFlow119"/>
                <a:stretch>
                  <a:fillRect l="-3071" t="-30000" r="-1536" b="-42000"/>
                </a:stretch>
              </a:blipFill>
              <a:ln>
                <a:noFill/>
              </a:ln>
            </p:spPr>
            <p:txBody>
              <a:bodyPr/>
              <a:lstStyle/>
              <a:p>
                <a:r>
                  <a:rPr lang="en-NL">
                    <a:noFill/>
                  </a:rPr>
                  <a:t> </a:t>
                </a:r>
              </a:p>
            </p:txBody>
          </p:sp>
        </mc:Fallback>
      </mc:AlternateContent>
      <p:pic>
        <p:nvPicPr>
          <p:cNvPr id="40095" name="!!Flow Analysis 30066">
            <a:extLst>
              <a:ext uri="{FF2B5EF4-FFF2-40B4-BE49-F238E27FC236}">
                <a16:creationId xmlns:a16="http://schemas.microsoft.com/office/drawing/2014/main" id="{02B90DBF-A222-F998-0063-AC5281CD2768}"/>
              </a:ext>
            </a:extLst>
          </p:cNvPr>
          <p:cNvPicPr>
            <a:picLocks noChangeAspect="1"/>
          </p:cNvPicPr>
          <p:nvPr/>
        </p:nvPicPr>
        <p:blipFill>
          <a:blip r:embed="rId16" cstate="print">
            <a:extLst>
              <a:ext uri="{28A0092B-C50C-407E-A947-70E740481C1C}">
                <a14:useLocalDpi xmlns:a14="http://schemas.microsoft.com/office/drawing/2010/main" val="0"/>
              </a:ext>
            </a:extLst>
          </a:blip>
          <a:srcRect/>
          <a:stretch/>
        </p:blipFill>
        <p:spPr>
          <a:xfrm>
            <a:off x="11461098" y="1777808"/>
            <a:ext cx="2919599" cy="1784478"/>
          </a:xfrm>
          <a:prstGeom prst="rect">
            <a:avLst/>
          </a:prstGeom>
        </p:spPr>
      </p:pic>
      <p:sp>
        <p:nvSpPr>
          <p:cNvPr id="40096" name="!!Sliding center 45 32">
            <a:extLst>
              <a:ext uri="{FF2B5EF4-FFF2-40B4-BE49-F238E27FC236}">
                <a16:creationId xmlns:a16="http://schemas.microsoft.com/office/drawing/2014/main" id="{CA62F6D7-172B-0E0F-BED9-264185957CD0}"/>
              </a:ext>
            </a:extLst>
          </p:cNvPr>
          <p:cNvSpPr/>
          <p:nvPr/>
        </p:nvSpPr>
        <p:spPr>
          <a:xfrm>
            <a:off x="93980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40097" name="!!Sliding center 45 34">
                <a:extLst>
                  <a:ext uri="{FF2B5EF4-FFF2-40B4-BE49-F238E27FC236}">
                    <a16:creationId xmlns:a16="http://schemas.microsoft.com/office/drawing/2014/main" id="{7B5329C6-C010-A83E-B34A-5E38BF3A766C}"/>
                  </a:ext>
                </a:extLst>
              </p:cNvPr>
              <p:cNvSpPr/>
              <p:nvPr/>
            </p:nvSpPr>
            <p:spPr>
              <a:xfrm>
                <a:off x="92202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Analyse </a:t>
                </a:r>
                <a14:m>
                  <m:oMath xmlns:m="http://schemas.openxmlformats.org/officeDocument/2006/math">
                    <m:r>
                      <m:rPr>
                        <m:sty m:val="p"/>
                      </m:rPr>
                      <a:rPr lang="el-GR" sz="1400" b="0" i="1" u="none" baseline="0" smtClean="0">
                        <a:latin typeface="Cambria Math" panose="02040503050406030204" pitchFamily="18" charset="0"/>
                        <a:ea typeface="Cambria Math" panose="02040503050406030204" pitchFamily="18" charset="0"/>
                        <a:cs typeface="Aptos"/>
                      </a:rPr>
                      <m:t>Δ</m:t>
                    </m:r>
                  </m:oMath>
                </a14:m>
                <a:endParaRPr sz="1400" dirty="0"/>
              </a:p>
            </p:txBody>
          </p:sp>
        </mc:Choice>
        <mc:Fallback xmlns="">
          <p:sp>
            <p:nvSpPr>
              <p:cNvPr id="40097" name="!!Sliding center 45 34">
                <a:extLst>
                  <a:ext uri="{FF2B5EF4-FFF2-40B4-BE49-F238E27FC236}">
                    <a16:creationId xmlns:a16="http://schemas.microsoft.com/office/drawing/2014/main" id="{7B5329C6-C010-A83E-B34A-5E38BF3A766C}"/>
                  </a:ext>
                </a:extLst>
              </p:cNvPr>
              <p:cNvSpPr>
                <a:spLocks noRot="1" noChangeAspect="1" noMove="1" noResize="1" noEditPoints="1" noAdjustHandles="1" noChangeArrowheads="1" noChangeShapeType="1" noTextEdit="1"/>
              </p:cNvSpPr>
              <p:nvPr/>
            </p:nvSpPr>
            <p:spPr>
              <a:xfrm>
                <a:off x="9220200" y="1949450"/>
                <a:ext cx="1778000" cy="266700"/>
              </a:xfrm>
              <a:prstGeom prst="rect">
                <a:avLst/>
              </a:prstGeom>
              <a:blipFill>
                <a:blip r:embed="rIdSlideFlow121"/>
                <a:stretch>
                  <a:fillRect t="-11364" b="-29545"/>
                </a:stretch>
              </a:blipFill>
              <a:ln>
                <a:noFill/>
              </a:ln>
            </p:spPr>
            <p:txBody>
              <a:bodyPr/>
              <a:lstStyle/>
              <a:p>
                <a:r>
                  <a:rPr lang="en-NL">
                    <a:noFill/>
                  </a:rPr>
                  <a:t> </a:t>
                </a:r>
              </a:p>
            </p:txBody>
          </p:sp>
        </mc:Fallback>
      </mc:AlternateContent>
      <p:sp>
        <p:nvSpPr>
          <p:cNvPr id="40098" name="!!Sliding center 45 36">
            <a:extLst>
              <a:ext uri="{FF2B5EF4-FFF2-40B4-BE49-F238E27FC236}">
                <a16:creationId xmlns:a16="http://schemas.microsoft.com/office/drawing/2014/main" id="{248A13C0-1320-6291-E95D-9A1A43F38431}"/>
              </a:ext>
            </a:extLst>
          </p:cNvPr>
          <p:cNvSpPr/>
          <p:nvPr/>
        </p:nvSpPr>
        <p:spPr>
          <a:xfrm>
            <a:off x="93980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40099" name="!!Sliding center 45 38">
            <a:extLst>
              <a:ext uri="{FF2B5EF4-FFF2-40B4-BE49-F238E27FC236}">
                <a16:creationId xmlns:a16="http://schemas.microsoft.com/office/drawing/2014/main" id="{29E20567-588E-10E4-42F3-8BDFD0744079}"/>
              </a:ext>
            </a:extLst>
          </p:cNvPr>
          <p:cNvSpPr/>
          <p:nvPr/>
        </p:nvSpPr>
        <p:spPr>
          <a:xfrm>
            <a:off x="92202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Tree>
    <p:extLst>
      <p:ext uri="{BB962C8B-B14F-4D97-AF65-F5344CB8AC3E}">
        <p14:creationId xmlns:p14="http://schemas.microsoft.com/office/powerpoint/2010/main" val="418756681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99EB4-3764-BD96-AE22-235CAF731BE4}"/>
            </a:ext>
          </a:extLst>
        </p:cNvPr>
        <p:cNvGrpSpPr/>
        <p:nvPr/>
      </p:nvGrpSpPr>
      <p:grpSpPr>
        <a:xfrm>
          <a:off x="0" y="0"/>
          <a:ext cx="0" cy="0"/>
          <a:chOff x="0" y="0"/>
          <a:chExt cx="0" cy="0"/>
        </a:xfrm>
      </p:grpSpPr>
      <p:sp>
        <p:nvSpPr>
          <p:cNvPr id="20002" name="!!Flow PIE 20002">
            <a:extLst>
              <a:ext uri="{FF2B5EF4-FFF2-40B4-BE49-F238E27FC236}">
                <a16:creationId xmlns:a16="http://schemas.microsoft.com/office/drawing/2014/main" id="{D44E39C9-13C2-3452-0EF8-1ED6ECFF230C}"/>
              </a:ext>
            </a:extLst>
          </p:cNvPr>
          <p:cNvSpPr/>
          <p:nvPr/>
        </p:nvSpPr>
        <p:spPr>
          <a:xfrm>
            <a:off x="-448" y="0"/>
            <a:ext cx="3606800" cy="5143500"/>
          </a:xfrm>
          <a:prstGeom prst="rect">
            <a:avLst/>
          </a:prstGeom>
          <a:solidFill>
            <a:srgbClr val="C81919">
              <a:alpha val="50196"/>
            </a:srgbClr>
          </a:solidFill>
          <a:ln>
            <a:noFill/>
          </a:ln>
        </p:spPr>
        <p:txBody>
          <a:bodyPr/>
          <a:lstStyle/>
          <a:p>
            <a:endParaRPr lang="en-NL"/>
          </a:p>
        </p:txBody>
      </p:sp>
      <p:sp>
        <p:nvSpPr>
          <p:cNvPr id="20005" name="!!Flow PIE 20005">
            <a:extLst>
              <a:ext uri="{FF2B5EF4-FFF2-40B4-BE49-F238E27FC236}">
                <a16:creationId xmlns:a16="http://schemas.microsoft.com/office/drawing/2014/main" id="{28E4D847-C090-BBB8-693C-BEA916C14EE0}"/>
              </a:ext>
            </a:extLst>
          </p:cNvPr>
          <p:cNvSpPr/>
          <p:nvPr/>
        </p:nvSpPr>
        <p:spPr>
          <a:xfrm>
            <a:off x="169650"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Flow PIE 20007">
            <a:extLst>
              <a:ext uri="{FF2B5EF4-FFF2-40B4-BE49-F238E27FC236}">
                <a16:creationId xmlns:a16="http://schemas.microsoft.com/office/drawing/2014/main" id="{31C25975-554D-879D-2CAC-1B9D512E76A6}"/>
              </a:ext>
            </a:extLst>
          </p:cNvPr>
          <p:cNvSpPr/>
          <p:nvPr/>
        </p:nvSpPr>
        <p:spPr>
          <a:xfrm>
            <a:off x="169650"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Flow PIE 20012">
            <a:extLst>
              <a:ext uri="{FF2B5EF4-FFF2-40B4-BE49-F238E27FC236}">
                <a16:creationId xmlns:a16="http://schemas.microsoft.com/office/drawing/2014/main" id="{0AD71456-660D-7315-EF48-E1E193DFA476}"/>
              </a:ext>
            </a:extLst>
          </p:cNvPr>
          <p:cNvSpPr/>
          <p:nvPr/>
        </p:nvSpPr>
        <p:spPr>
          <a:xfrm>
            <a:off x="151952"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Flow PIE 20013">
                <a:extLst>
                  <a:ext uri="{FF2B5EF4-FFF2-40B4-BE49-F238E27FC236}">
                    <a16:creationId xmlns:a16="http://schemas.microsoft.com/office/drawing/2014/main" id="{4B8B0394-3ECA-22AB-56A2-F02B81623325}"/>
                  </a:ext>
                </a:extLst>
              </p:cNvPr>
              <p:cNvSpPr/>
              <p:nvPr/>
            </p:nvSpPr>
            <p:spPr>
              <a:xfrm>
                <a:off x="215452"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Flow PIE 20013">
                <a:extLst>
                  <a:ext uri="{FF2B5EF4-FFF2-40B4-BE49-F238E27FC236}">
                    <a16:creationId xmlns:a16="http://schemas.microsoft.com/office/drawing/2014/main" id="{4B8B0394-3ECA-22AB-56A2-F02B81623325}"/>
                  </a:ext>
                </a:extLst>
              </p:cNvPr>
              <p:cNvSpPr>
                <a:spLocks noRot="1" noChangeAspect="1" noMove="1" noResize="1" noEditPoints="1" noAdjustHandles="1" noChangeArrowheads="1" noChangeShapeType="1" noTextEdit="1"/>
              </p:cNvSpPr>
              <p:nvPr/>
            </p:nvSpPr>
            <p:spPr>
              <a:xfrm>
                <a:off x="215452"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AB480C32-10B2-B7C0-22D8-9E0D84BF714A}"/>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Flow PIE 30019">
            <a:extLst>
              <a:ext uri="{FF2B5EF4-FFF2-40B4-BE49-F238E27FC236}">
                <a16:creationId xmlns:a16="http://schemas.microsoft.com/office/drawing/2014/main" id="{66CCDDB3-9732-9221-B6B5-130A7D91B7C5}"/>
              </a:ext>
            </a:extLst>
          </p:cNvPr>
          <p:cNvGrpSpPr/>
          <p:nvPr/>
        </p:nvGrpSpPr>
        <p:grpSpPr>
          <a:xfrm>
            <a:off x="393252" y="1574800"/>
            <a:ext cx="2921000" cy="2239010"/>
            <a:chOff x="1995932" y="1819148"/>
            <a:chExt cx="3138932" cy="2405888"/>
          </a:xfrm>
        </p:grpSpPr>
        <p:sp>
          <p:nvSpPr>
            <p:cNvPr id="30020" name="Plant to uncertainty">
              <a:extLst>
                <a:ext uri="{FF2B5EF4-FFF2-40B4-BE49-F238E27FC236}">
                  <a16:creationId xmlns:a16="http://schemas.microsoft.com/office/drawing/2014/main" id="{9970FE05-EEED-4E73-5F73-DA9D59B8AE1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936326B6-0A9C-2E1E-DB15-172E5D823A60}"/>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4AC970C-B701-8C32-F489-4C50F4704F5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05AA6917-15B5-FEB1-62A0-F89167064383}"/>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D68FCD6D-A458-6F0C-883E-E04094868149}"/>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5EDD2408-CBDD-9951-FE27-C7F60D618677}"/>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4B36FC3D-BF86-A3E9-29E6-8D07BE9D960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968A37F-F1C6-F7C2-BE38-788DA055731F}"/>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89F355AA-EBC9-73F2-F7F0-1AF4572B3088}"/>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85976CE7-46A8-4EEC-DDB0-543CD220833E}"/>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DCB8EF8C-4DD6-39F0-99C0-22A153461E2A}"/>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05EEDB90-173E-1DBD-7E74-54D3DCE83F2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Flow PIE 30034">
            <a:extLst>
              <a:ext uri="{FF2B5EF4-FFF2-40B4-BE49-F238E27FC236}">
                <a16:creationId xmlns:a16="http://schemas.microsoft.com/office/drawing/2014/main" id="{682EB208-F1CA-0DF6-2AB4-D125ACCD29FB}"/>
              </a:ext>
            </a:extLst>
          </p:cNvPr>
          <p:cNvGrpSpPr/>
          <p:nvPr/>
        </p:nvGrpSpPr>
        <p:grpSpPr>
          <a:xfrm>
            <a:off x="1407731" y="2222014"/>
            <a:ext cx="874551" cy="874613"/>
            <a:chOff x="3086100" y="2514599"/>
            <a:chExt cx="939800" cy="939800"/>
          </a:xfrm>
        </p:grpSpPr>
        <p:sp>
          <p:nvSpPr>
            <p:cNvPr id="30035" name="Plant">
              <a:extLst>
                <a:ext uri="{FF2B5EF4-FFF2-40B4-BE49-F238E27FC236}">
                  <a16:creationId xmlns:a16="http://schemas.microsoft.com/office/drawing/2014/main" id="{6B147216-A0F4-826A-7D5A-6052CB4536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AA4CA1FA-8D59-E705-920C-8E694852137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 name="!!Flow Analysis 2">
            <a:extLst>
              <a:ext uri="{FF2B5EF4-FFF2-40B4-BE49-F238E27FC236}">
                <a16:creationId xmlns:a16="http://schemas.microsoft.com/office/drawing/2014/main" id="{BC45C81A-258D-7172-B4EE-A52D585EAD47}"/>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3" name="!!Flow Analysis 3">
            <a:extLst>
              <a:ext uri="{FF2B5EF4-FFF2-40B4-BE49-F238E27FC236}">
                <a16:creationId xmlns:a16="http://schemas.microsoft.com/office/drawing/2014/main" id="{FAD5F3E4-F192-667D-E194-6CC3314B0878}"/>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Uncertainty Description</a:t>
            </a:r>
            <a:endParaRPr sz="2000" dirty="0"/>
          </a:p>
        </p:txBody>
      </p:sp>
      <mc:AlternateContent xmlns:mc="http://schemas.openxmlformats.org/markup-compatibility/2006" xmlns:a14="http://schemas.microsoft.com/office/drawing/2010/main">
        <mc:Choice Requires="a14">
          <p:sp>
            <p:nvSpPr>
              <p:cNvPr id="7" name="!!Flow Analysis 7">
                <a:extLst>
                  <a:ext uri="{FF2B5EF4-FFF2-40B4-BE49-F238E27FC236}">
                    <a16:creationId xmlns:a16="http://schemas.microsoft.com/office/drawing/2014/main" id="{34AB0EB5-FEEE-8C2C-D63F-4B3DDD6C5AE4}"/>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Linearization of </a:t>
                </a:r>
                <a14:m>
                  <m:oMath xmlns:m="http://schemas.openxmlformats.org/officeDocument/2006/math">
                    <m:r>
                      <a:rPr lang="en-GB" sz="1800" b="1" i="1" u="none" baseline="0" smtClean="0">
                        <a:solidFill>
                          <a:srgbClr val="252529"/>
                        </a:solidFill>
                        <a:latin typeface="Cambria Math" panose="02040503050406030204" pitchFamily="18" charset="0"/>
                        <a:ea typeface="Cambria Math" panose="02040503050406030204" pitchFamily="18" charset="0"/>
                        <a:cs typeface="Aptos"/>
                      </a:rPr>
                      <m:t>𝚫</m:t>
                    </m:r>
                  </m:oMath>
                </a14:m>
                <a:endParaRPr sz="1800" dirty="0"/>
              </a:p>
            </p:txBody>
          </p:sp>
        </mc:Choice>
        <mc:Fallback xmlns="">
          <p:sp>
            <p:nvSpPr>
              <p:cNvPr id="7" name="!!Flow Analysis 7">
                <a:extLst>
                  <a:ext uri="{FF2B5EF4-FFF2-40B4-BE49-F238E27FC236}">
                    <a16:creationId xmlns:a16="http://schemas.microsoft.com/office/drawing/2014/main" id="{34AB0EB5-FEEE-8C2C-D63F-4B3DDD6C5AE4}"/>
                  </a:ext>
                </a:extLst>
              </p:cNvPr>
              <p:cNvSpPr>
                <a:spLocks noRot="1" noChangeAspect="1" noMove="1" noResize="1" noEditPoints="1" noAdjustHandles="1" noChangeArrowheads="1" noChangeShapeType="1" noTextEdit="1"/>
              </p:cNvSpPr>
              <p:nvPr/>
            </p:nvSpPr>
            <p:spPr>
              <a:xfrm>
                <a:off x="5689600" y="4108450"/>
                <a:ext cx="3302000" cy="342900"/>
              </a:xfrm>
              <a:prstGeom prst="rect">
                <a:avLst/>
              </a:prstGeom>
              <a:blipFill>
                <a:blip r:embed="rId13"/>
                <a:stretch>
                  <a:fillRect t="-10714" b="-3392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 name="!!Flow Analysis 8">
                <a:extLst>
                  <a:ext uri="{FF2B5EF4-FFF2-40B4-BE49-F238E27FC236}">
                    <a16:creationId xmlns:a16="http://schemas.microsoft.com/office/drawing/2014/main" id="{28280CA4-60AE-F571-618D-2E3E31C058C5}"/>
                  </a:ext>
                </a:extLst>
              </p:cNvPr>
              <p:cNvSpPr/>
              <p:nvPr/>
            </p:nvSpPr>
            <p:spPr>
              <a:xfrm>
                <a:off x="5796198" y="4572000"/>
                <a:ext cx="3175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𝑤</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m:t>
                      </m:r>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𝑧</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 ∀ </m:t>
                      </m:r>
                      <m:r>
                        <a:rPr lang="en-US" sz="1600" b="0" i="0" u="none" baseline="0" dirty="0" smtClean="0">
                          <a:solidFill>
                            <a:srgbClr val="633434"/>
                          </a:solidFill>
                          <a:latin typeface="Cambria Math" panose="02040503050406030204" pitchFamily="18" charset="0"/>
                        </a:rPr>
                        <m:t>𝑇</m:t>
                      </m:r>
                      <m:r>
                        <a:rPr lang="en-US" sz="1600" b="0" i="0" u="none" baseline="0" dirty="0" smtClean="0">
                          <a:solidFill>
                            <a:srgbClr val="633434"/>
                          </a:solidFill>
                          <a:latin typeface="Cambria Math" panose="02040503050406030204" pitchFamily="18" charset="0"/>
                        </a:rPr>
                        <m:t>&gt;0</m:t>
                      </m:r>
                    </m:oMath>
                  </m:oMathPara>
                </a14:m>
                <a:endParaRPr sz="1600" dirty="0">
                  <a:solidFill>
                    <a:srgbClr val="633434"/>
                  </a:solidFill>
                  <a:latin typeface="Aptos"/>
                  <a:ea typeface="Aptos"/>
                  <a:cs typeface="Aptos"/>
                </a:endParaRPr>
              </a:p>
            </p:txBody>
          </p:sp>
        </mc:Choice>
        <mc:Fallback xmlns="">
          <p:sp>
            <p:nvSpPr>
              <p:cNvPr id="8" name="!!Flow Analysis 8">
                <a:extLst>
                  <a:ext uri="{FF2B5EF4-FFF2-40B4-BE49-F238E27FC236}">
                    <a16:creationId xmlns:a16="http://schemas.microsoft.com/office/drawing/2014/main" id="{28280CA4-60AE-F571-618D-2E3E31C058C5}"/>
                  </a:ext>
                </a:extLst>
              </p:cNvPr>
              <p:cNvSpPr>
                <a:spLocks noRot="1" noChangeAspect="1" noMove="1" noResize="1" noEditPoints="1" noAdjustHandles="1" noChangeArrowheads="1" noChangeShapeType="1" noTextEdit="1"/>
              </p:cNvSpPr>
              <p:nvPr/>
            </p:nvSpPr>
            <p:spPr>
              <a:xfrm>
                <a:off x="5796198" y="4572000"/>
                <a:ext cx="3175000" cy="304800"/>
              </a:xfrm>
              <a:prstGeom prst="rect">
                <a:avLst/>
              </a:prstGeom>
              <a:blipFill>
                <a:blip r:embed="rId14"/>
                <a:stretch>
                  <a:fillRect l="-3071" t="-30000" r="-1536" b="-42000"/>
                </a:stretch>
              </a:blipFill>
              <a:ln>
                <a:noFill/>
              </a:ln>
            </p:spPr>
            <p:txBody>
              <a:bodyPr/>
              <a:lstStyle/>
              <a:p>
                <a:r>
                  <a:rPr lang="en-NL">
                    <a:noFill/>
                  </a:rPr>
                  <a:t> </a:t>
                </a:r>
              </a:p>
            </p:txBody>
          </p:sp>
        </mc:Fallback>
      </mc:AlternateContent>
      <p:sp>
        <p:nvSpPr>
          <p:cNvPr id="9" name="Slide Number Placeholder 5">
            <a:extLst>
              <a:ext uri="{FF2B5EF4-FFF2-40B4-BE49-F238E27FC236}">
                <a16:creationId xmlns:a16="http://schemas.microsoft.com/office/drawing/2014/main" id="{C452F409-538A-2B95-1A39-0657A4B2625F}"/>
              </a:ext>
            </a:extLst>
          </p:cNvPr>
          <p:cNvSpPr txBox="1">
            <a:spLocks/>
          </p:cNvSpPr>
          <p:nvPr/>
        </p:nvSpPr>
        <p:spPr>
          <a:xfrm>
            <a:off x="7874000" y="4876800"/>
            <a:ext cx="355600" cy="152400"/>
          </a:xfrm>
          <a:prstGeom prst="rect">
            <a:avLst/>
          </a:prstGeom>
          <a:noFill/>
          <a:ln>
            <a:noFill/>
          </a:ln>
        </p:spPr>
        <p:txBody>
          <a:bodyPr wrap="square" lIns="0" tIns="0" rIns="0" bIns="0" anchor="t">
            <a:noAutofit/>
          </a:bodyPr>
          <a:lstStyle>
            <a:defPPr>
              <a:defRPr lang="nl-NL"/>
            </a:defPPr>
            <a:lvl1pPr marL="0" indent="0" algn="r"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r"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r"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r"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r"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r"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r"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r"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r"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fld id="{02D62CF7-B451-42A0-BFB3-67C7E3FB3001}" type="slidenum">
              <a:rPr lang="en-GB" sz="800" smtClean="0"/>
              <a:pPr>
                <a:defRPr sz="800" b="0">
                  <a:solidFill>
                    <a:srgbClr val="747B82"/>
                  </a:solidFill>
                  <a:latin typeface="Aptos"/>
                  <a:ea typeface="Aptos"/>
                  <a:cs typeface="Aptos"/>
                </a:defRPr>
              </a:pPr>
              <a:t>45</a:t>
            </a:fld>
            <a:endParaRPr lang="en-GB" sz="800"/>
          </a:p>
        </p:txBody>
      </p:sp>
      <p:sp>
        <p:nvSpPr>
          <p:cNvPr id="32" name="!!Sliding center 45 32">
            <a:extLst>
              <a:ext uri="{FF2B5EF4-FFF2-40B4-BE49-F238E27FC236}">
                <a16:creationId xmlns:a16="http://schemas.microsoft.com/office/drawing/2014/main" id="{CA62F6D7-172B-0E0F-BED9-264185957CD0}"/>
              </a:ext>
            </a:extLst>
          </p:cNvPr>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4" name="!!Sliding center 45 34">
                <a:extLst>
                  <a:ext uri="{FF2B5EF4-FFF2-40B4-BE49-F238E27FC236}">
                    <a16:creationId xmlns:a16="http://schemas.microsoft.com/office/drawing/2014/main" id="{7B5329C6-C010-A83E-B34A-5E38BF3A766C}"/>
                  </a:ext>
                </a:extLst>
              </p:cNvPr>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Analyse </a:t>
                </a:r>
                <a14:m>
                  <m:oMath xmlns:m="http://schemas.openxmlformats.org/officeDocument/2006/math">
                    <m:r>
                      <m:rPr>
                        <m:sty m:val="p"/>
                      </m:rPr>
                      <a:rPr lang="el-GR" sz="1400" b="0" i="1" u="none" baseline="0" smtClean="0">
                        <a:latin typeface="Cambria Math" panose="02040503050406030204" pitchFamily="18" charset="0"/>
                        <a:ea typeface="Cambria Math" panose="02040503050406030204" pitchFamily="18" charset="0"/>
                        <a:cs typeface="Aptos"/>
                      </a:rPr>
                      <m:t>Δ</m:t>
                    </m:r>
                  </m:oMath>
                </a14:m>
                <a:endParaRPr sz="1400" dirty="0"/>
              </a:p>
            </p:txBody>
          </p:sp>
        </mc:Choice>
        <mc:Fallback xmlns="">
          <p:sp>
            <p:nvSpPr>
              <p:cNvPr id="34" name="!!Sliding center 45 34">
                <a:extLst>
                  <a:ext uri="{FF2B5EF4-FFF2-40B4-BE49-F238E27FC236}">
                    <a16:creationId xmlns:a16="http://schemas.microsoft.com/office/drawing/2014/main" id="{7B5329C6-C010-A83E-B34A-5E38BF3A766C}"/>
                  </a:ext>
                </a:extLst>
              </p:cNvPr>
              <p:cNvSpPr>
                <a:spLocks noRot="1" noChangeAspect="1" noMove="1" noResize="1" noEditPoints="1" noAdjustHandles="1" noChangeArrowheads="1" noChangeShapeType="1" noTextEdit="1"/>
              </p:cNvSpPr>
              <p:nvPr/>
            </p:nvSpPr>
            <p:spPr>
              <a:xfrm>
                <a:off x="3683000" y="1949450"/>
                <a:ext cx="1778000" cy="266700"/>
              </a:xfrm>
              <a:prstGeom prst="rect">
                <a:avLst/>
              </a:prstGeom>
              <a:blipFill>
                <a:blip r:embed="rId15"/>
                <a:stretch>
                  <a:fillRect t="-11364" b="-29545"/>
                </a:stretch>
              </a:blipFill>
              <a:ln>
                <a:noFill/>
              </a:ln>
            </p:spPr>
            <p:txBody>
              <a:bodyPr/>
              <a:lstStyle/>
              <a:p>
                <a:r>
                  <a:rPr lang="en-NL">
                    <a:noFill/>
                  </a:rPr>
                  <a:t> </a:t>
                </a:r>
              </a:p>
            </p:txBody>
          </p:sp>
        </mc:Fallback>
      </mc:AlternateContent>
      <p:sp>
        <p:nvSpPr>
          <p:cNvPr id="36" name="!!Sliding center 45 36">
            <a:extLst>
              <a:ext uri="{FF2B5EF4-FFF2-40B4-BE49-F238E27FC236}">
                <a16:creationId xmlns:a16="http://schemas.microsoft.com/office/drawing/2014/main" id="{248A13C0-1320-6291-E95D-9A1A43F38431}"/>
              </a:ext>
            </a:extLst>
          </p:cNvPr>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38" name="!!Sliding center 45 38">
            <a:extLst>
              <a:ext uri="{FF2B5EF4-FFF2-40B4-BE49-F238E27FC236}">
                <a16:creationId xmlns:a16="http://schemas.microsoft.com/office/drawing/2014/main" id="{29E20567-588E-10E4-42F3-8BDFD0744079}"/>
              </a:ext>
            </a:extLst>
          </p:cNvPr>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pic>
        <p:nvPicPr>
          <p:cNvPr id="30066" name="!!Flow Analysis 30066">
            <a:extLst>
              <a:ext uri="{FF2B5EF4-FFF2-40B4-BE49-F238E27FC236}">
                <a16:creationId xmlns:a16="http://schemas.microsoft.com/office/drawing/2014/main" id="{02B90DBF-A222-F998-0063-AC5281CD2768}"/>
              </a:ext>
            </a:extLst>
          </p:cNvPr>
          <p:cNvPicPr>
            <a:picLocks noChangeAspect="1"/>
          </p:cNvPicPr>
          <p:nvPr/>
        </p:nvPicPr>
        <p:blipFill>
          <a:blip r:embed="rId16" cstate="print">
            <a:extLst>
              <a:ext uri="{28A0092B-C50C-407E-A947-70E740481C1C}">
                <a14:useLocalDpi xmlns:a14="http://schemas.microsoft.com/office/drawing/2010/main" val="0"/>
              </a:ext>
            </a:extLst>
          </a:blip>
          <a:srcRect/>
          <a:stretch/>
        </p:blipFill>
        <p:spPr>
          <a:xfrm>
            <a:off x="5923898" y="1777808"/>
            <a:ext cx="2919599" cy="1784477"/>
          </a:xfrm>
          <a:prstGeom prst="rect">
            <a:avLst/>
          </a:prstGeom>
        </p:spPr>
      </p:pic>
      <p:sp>
        <p:nvSpPr>
          <p:cNvPr id="30166" name="!!Physical pillar">
            <a:extLst>
              <a:ext uri="{FF2B5EF4-FFF2-40B4-BE49-F238E27FC236}">
                <a16:creationId xmlns:a16="http://schemas.microsoft.com/office/drawing/2014/main" id="{2FAC969D-EEFE-5C2C-F663-3ACD17ED9C35}"/>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30167" name="!!Sliding content 44 20003">
            <a:extLst>
              <a:ext uri="{FF2B5EF4-FFF2-40B4-BE49-F238E27FC236}">
                <a16:creationId xmlns:a16="http://schemas.microsoft.com/office/drawing/2014/main" id="{297051C0-3B68-3AF4-DCE3-8731BB10ECF7}"/>
              </a:ext>
            </a:extLst>
          </p:cNvPr>
          <p:cNvSpPr/>
          <p:nvPr/>
        </p:nvSpPr>
        <p:spPr>
          <a:xfrm>
            <a:off x="-54102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30168" name="!!Sliding content 44 20006">
            <a:extLst>
              <a:ext uri="{FF2B5EF4-FFF2-40B4-BE49-F238E27FC236}">
                <a16:creationId xmlns:a16="http://schemas.microsoft.com/office/drawing/2014/main" id="{BEE6AF2E-5B3A-56C0-156A-D2044BD549DB}"/>
              </a:ext>
            </a:extLst>
          </p:cNvPr>
          <p:cNvSpPr/>
          <p:nvPr/>
        </p:nvSpPr>
        <p:spPr>
          <a:xfrm>
            <a:off x="-53340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grpSp>
        <p:nvGrpSpPr>
          <p:cNvPr id="30169" name="!!Sliding content 44 30001">
            <a:extLst>
              <a:ext uri="{FF2B5EF4-FFF2-40B4-BE49-F238E27FC236}">
                <a16:creationId xmlns:a16="http://schemas.microsoft.com/office/drawing/2014/main" id="{61E9A479-307C-F296-A3CB-59F44C130B53}"/>
              </a:ext>
            </a:extLst>
          </p:cNvPr>
          <p:cNvGrpSpPr/>
          <p:nvPr/>
        </p:nvGrpSpPr>
        <p:grpSpPr>
          <a:xfrm>
            <a:off x="-5143500" y="1574800"/>
            <a:ext cx="2921000" cy="2239010"/>
            <a:chOff x="1995932" y="1819148"/>
            <a:chExt cx="3138932" cy="2405888"/>
          </a:xfrm>
        </p:grpSpPr>
        <p:sp>
          <p:nvSpPr>
            <p:cNvPr id="30170" name="Plant to uncertainty">
              <a:extLst>
                <a:ext uri="{FF2B5EF4-FFF2-40B4-BE49-F238E27FC236}">
                  <a16:creationId xmlns:a16="http://schemas.microsoft.com/office/drawing/2014/main" id="{8E5D0341-E8B3-C75D-A579-C16A2EE57CB7}"/>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171" name="Uncertainty to plant">
              <a:extLst>
                <a:ext uri="{FF2B5EF4-FFF2-40B4-BE49-F238E27FC236}">
                  <a16:creationId xmlns:a16="http://schemas.microsoft.com/office/drawing/2014/main" id="{98BAB595-A1B8-6D08-FCCD-E29FF3915CAD}"/>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172" name="Controller plant channel">
              <a:extLst>
                <a:ext uri="{FF2B5EF4-FFF2-40B4-BE49-F238E27FC236}">
                  <a16:creationId xmlns:a16="http://schemas.microsoft.com/office/drawing/2014/main" id="{A93CC696-40AB-5ADC-E726-26800473358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173" name="Plant controller channel">
              <a:extLst>
                <a:ext uri="{FF2B5EF4-FFF2-40B4-BE49-F238E27FC236}">
                  <a16:creationId xmlns:a16="http://schemas.microsoft.com/office/drawing/2014/main" id="{0836FF5A-14ED-338F-5636-A5371B218C2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174" name="Controller">
              <a:extLst>
                <a:ext uri="{FF2B5EF4-FFF2-40B4-BE49-F238E27FC236}">
                  <a16:creationId xmlns:a16="http://schemas.microsoft.com/office/drawing/2014/main" id="{1EF01B99-8DDD-1495-1765-C19FDD0BCAE7}"/>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175" name="Controller label">
                  <a:extLst>
                    <a:ext uri="{FF2B5EF4-FFF2-40B4-BE49-F238E27FC236}">
                      <a16:creationId xmlns:a16="http://schemas.microsoft.com/office/drawing/2014/main" id="{597966D5-20F3-D2C6-94DE-BD9F9562E2B5}"/>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17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SlideFlow1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177" name="Controller external channel">
                  <a:extLst>
                    <a:ext uri="{FF2B5EF4-FFF2-40B4-BE49-F238E27FC236}">
                      <a16:creationId xmlns:a16="http://schemas.microsoft.com/office/drawing/2014/main" id="{AA9A3ECB-8600-4E6E-FAF1-83A4D46DEEE0}"/>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177"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SlideFlow1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178" name="Plant measured channel">
                  <a:extLst>
                    <a:ext uri="{FF2B5EF4-FFF2-40B4-BE49-F238E27FC236}">
                      <a16:creationId xmlns:a16="http://schemas.microsoft.com/office/drawing/2014/main" id="{56C1F3E6-038F-3E13-09A2-53BF11050EDB}"/>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178"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SlideFlow11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179" name="Uncertainty output channel">
                  <a:extLst>
                    <a:ext uri="{FF2B5EF4-FFF2-40B4-BE49-F238E27FC236}">
                      <a16:creationId xmlns:a16="http://schemas.microsoft.com/office/drawing/2014/main" id="{4F5C2C55-17D6-E4AE-07D1-33F3C710F15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179"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lideFlow1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180" name="Uncertainty input channel">
                  <a:extLst>
                    <a:ext uri="{FF2B5EF4-FFF2-40B4-BE49-F238E27FC236}">
                      <a16:creationId xmlns:a16="http://schemas.microsoft.com/office/drawing/2014/main" id="{ECBC14AD-B982-5B82-FF7D-D8E907C31458}"/>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180"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lideFlow118"/>
                  <a:stretch>
                    <a:fillRect/>
                  </a:stretch>
                </a:blipFill>
                <a:ln>
                  <a:noFill/>
                </a:ln>
              </p:spPr>
              <p:txBody>
                <a:bodyPr/>
                <a:lstStyle/>
                <a:p>
                  <a:r>
                    <a:rPr lang="en-NL">
                      <a:noFill/>
                    </a:rPr>
                    <a:t> </a:t>
                  </a:r>
                </a:p>
              </p:txBody>
            </p:sp>
          </mc:Fallback>
        </mc:AlternateContent>
        <p:sp>
          <p:nvSpPr>
            <p:cNvPr id="30181" name="Uncertainty">
              <a:extLst>
                <a:ext uri="{FF2B5EF4-FFF2-40B4-BE49-F238E27FC236}">
                  <a16:creationId xmlns:a16="http://schemas.microsoft.com/office/drawing/2014/main" id="{5BCBCA84-FBF7-31E0-7DEF-F1E7ADF806CE}"/>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182" name="Uncertainty label">
                  <a:extLst>
                    <a:ext uri="{FF2B5EF4-FFF2-40B4-BE49-F238E27FC236}">
                      <a16:creationId xmlns:a16="http://schemas.microsoft.com/office/drawing/2014/main" id="{414256D2-891A-41C2-54A2-03D8F1A9D059}"/>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18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lideFlow119"/>
                  <a:stretch>
                    <a:fillRect/>
                  </a:stretch>
                </a:blipFill>
                <a:ln>
                  <a:noFill/>
                </a:ln>
              </p:spPr>
              <p:txBody>
                <a:bodyPr/>
                <a:lstStyle/>
                <a:p>
                  <a:r>
                    <a:rPr lang="en-NL">
                      <a:noFill/>
                    </a:rPr>
                    <a:t> </a:t>
                  </a:r>
                </a:p>
              </p:txBody>
            </p:sp>
          </mc:Fallback>
        </mc:AlternateContent>
      </p:grpSp>
      <p:grpSp>
        <p:nvGrpSpPr>
          <p:cNvPr id="30184" name="!!PDE block">
            <a:extLst>
              <a:ext uri="{FF2B5EF4-FFF2-40B4-BE49-F238E27FC236}">
                <a16:creationId xmlns:a16="http://schemas.microsoft.com/office/drawing/2014/main" id="{4C55836B-20A5-EC56-07E8-6A5602FDF6CE}"/>
              </a:ext>
            </a:extLst>
          </p:cNvPr>
          <p:cNvGrpSpPr/>
          <p:nvPr/>
        </p:nvGrpSpPr>
        <p:grpSpPr>
          <a:xfrm>
            <a:off x="-4129021" y="2222014"/>
            <a:ext cx="874551" cy="874613"/>
            <a:chOff x="3086100" y="2514600"/>
            <a:chExt cx="939800" cy="939800"/>
          </a:xfrm>
        </p:grpSpPr>
        <p:sp>
          <p:nvSpPr>
            <p:cNvPr id="30185" name="Plant">
              <a:extLst>
                <a:ext uri="{FF2B5EF4-FFF2-40B4-BE49-F238E27FC236}">
                  <a16:creationId xmlns:a16="http://schemas.microsoft.com/office/drawing/2014/main" id="{9CA1AA01-05BB-2174-7914-DD1C674E14FF}"/>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186" name="Plant label">
                  <a:extLst>
                    <a:ext uri="{FF2B5EF4-FFF2-40B4-BE49-F238E27FC236}">
                      <a16:creationId xmlns:a16="http://schemas.microsoft.com/office/drawing/2014/main" id="{8443D1AD-4C83-D46D-4351-2880889F0A2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18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lideFlow120"/>
                  <a:stretch>
                    <a:fillRect/>
                  </a:stretch>
                </a:blipFill>
                <a:ln>
                  <a:noFill/>
                </a:ln>
              </p:spPr>
              <p:txBody>
                <a:bodyPr/>
                <a:lstStyle/>
                <a:p>
                  <a:r>
                    <a:rPr lang="en-NL">
                      <a:noFill/>
                    </a:rPr>
                    <a:t> </a:t>
                  </a:r>
                </a:p>
              </p:txBody>
            </p:sp>
          </mc:Fallback>
        </mc:AlternateContent>
      </p:grpSp>
      <p:sp>
        <p:nvSpPr>
          <p:cNvPr id="30187" name="!!Sliding content 44 39990">
            <a:extLst>
              <a:ext uri="{FF2B5EF4-FFF2-40B4-BE49-F238E27FC236}">
                <a16:creationId xmlns:a16="http://schemas.microsoft.com/office/drawing/2014/main" id="{DC66CA60-F31A-1833-7EB6-48C5C3FFBAAB}"/>
              </a:ext>
            </a:extLst>
          </p:cNvPr>
          <p:cNvSpPr/>
          <p:nvPr/>
        </p:nvSpPr>
        <p:spPr>
          <a:xfrm>
            <a:off x="-5384800" y="4203700"/>
            <a:ext cx="1066800" cy="584200"/>
          </a:xfrm>
          <a:prstGeom prst="rect">
            <a:avLst/>
          </a:prstGeom>
          <a:solidFill>
            <a:srgbClr val="FFFFFF"/>
          </a:solidFill>
          <a:ln>
            <a:noFill/>
          </a:ln>
        </p:spPr>
        <p:txBody>
          <a:bodyPr/>
          <a:lstStyle/>
          <a:p>
            <a:endParaRPr lang="en-NL"/>
          </a:p>
        </p:txBody>
      </p:sp>
      <p:grpSp>
        <p:nvGrpSpPr>
          <p:cNvPr id="30188" name="!!Sliding content 44 30037">
            <a:extLst>
              <a:ext uri="{FF2B5EF4-FFF2-40B4-BE49-F238E27FC236}">
                <a16:creationId xmlns:a16="http://schemas.microsoft.com/office/drawing/2014/main" id="{0283178A-7C19-0619-3968-F38A88D5F810}"/>
              </a:ext>
            </a:extLst>
          </p:cNvPr>
          <p:cNvGrpSpPr/>
          <p:nvPr/>
        </p:nvGrpSpPr>
        <p:grpSpPr>
          <a:xfrm>
            <a:off x="-5346700" y="4254500"/>
            <a:ext cx="990600" cy="476250"/>
            <a:chOff x="1879600" y="241300"/>
            <a:chExt cx="5597595" cy="2692400"/>
          </a:xfrm>
        </p:grpSpPr>
        <p:pic>
          <p:nvPicPr>
            <p:cNvPr id="30189" name="Figure with corrected editable mathematics">
              <a:extLst>
                <a:ext uri="{FF2B5EF4-FFF2-40B4-BE49-F238E27FC236}">
                  <a16:creationId xmlns:a16="http://schemas.microsoft.com/office/drawing/2014/main" id="{A684B643-ED2B-4A7F-DADF-F2041C4F82A7}"/>
                </a:ext>
              </a:extLst>
            </p:cNvPr>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190" name="!!Sliding content 44 30039">
            <a:extLst>
              <a:ext uri="{FF2B5EF4-FFF2-40B4-BE49-F238E27FC236}">
                <a16:creationId xmlns:a16="http://schemas.microsoft.com/office/drawing/2014/main" id="{9CFE4FAA-5D8A-3579-AA73-D730BBBCFD49}"/>
              </a:ext>
            </a:extLst>
          </p:cNvPr>
          <p:cNvPicPr>
            <a:picLocks noChangeAspect="1"/>
          </p:cNvPicPr>
          <p:nvPr/>
        </p:nvPicPr>
        <p:blipFill>
          <a:blip r:embed="rId18" cstate="print">
            <a:extLst>
              <a:ext uri="{28A0092B-C50C-407E-A947-70E740481C1C}">
                <a14:useLocalDpi xmlns:a14="http://schemas.microsoft.com/office/drawing/2010/main" val="0"/>
              </a:ext>
            </a:extLst>
          </a:blip>
          <a:srcRect l="6208" r="6507" b="12822"/>
          <a:stretch>
            <a:fillRect/>
          </a:stretch>
        </p:blipFill>
        <p:spPr>
          <a:xfrm>
            <a:off x="-4216400" y="4241800"/>
            <a:ext cx="977900" cy="508000"/>
          </a:xfrm>
          <a:prstGeom prst="rect">
            <a:avLst/>
          </a:prstGeom>
        </p:spPr>
      </p:pic>
      <p:pic>
        <p:nvPicPr>
          <p:cNvPr id="30191" name="!!Sliding content 44 30040" descr="Products and Technologies - Canon Production Printing">
            <a:extLst>
              <a:ext uri="{FF2B5EF4-FFF2-40B4-BE49-F238E27FC236}">
                <a16:creationId xmlns:a16="http://schemas.microsoft.com/office/drawing/2014/main" id="{9F72744F-1C0B-7047-92F3-859EC38777E9}"/>
              </a:ext>
            </a:extLst>
          </p:cNvPr>
          <p:cNvPicPr>
            <a:picLocks noChangeAspect="1"/>
          </p:cNvPicPr>
          <p:nvPr/>
        </p:nvPicPr>
        <p:blipFill>
          <a:blip r:embed="rId19"/>
          <a:stretch>
            <a:fillRect/>
          </a:stretch>
        </p:blipFill>
        <p:spPr>
          <a:xfrm>
            <a:off x="-3098800" y="4254500"/>
            <a:ext cx="977900" cy="478790"/>
          </a:xfrm>
          <a:prstGeom prst="rect">
            <a:avLst/>
          </a:prstGeom>
        </p:spPr>
      </p:pic>
      <p:sp>
        <p:nvSpPr>
          <p:cNvPr id="30192" name="!!Sliding content 44 39991">
            <a:extLst>
              <a:ext uri="{FF2B5EF4-FFF2-40B4-BE49-F238E27FC236}">
                <a16:creationId xmlns:a16="http://schemas.microsoft.com/office/drawing/2014/main" id="{4EE35D63-FC84-C8FA-38DE-63E80E69C1D2}"/>
              </a:ext>
            </a:extLst>
          </p:cNvPr>
          <p:cNvSpPr/>
          <p:nvPr/>
        </p:nvSpPr>
        <p:spPr>
          <a:xfrm>
            <a:off x="-53848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
        <p:nvSpPr>
          <p:cNvPr id="30193" name="!!Sliding center 44 20008">
            <a:extLst>
              <a:ext uri="{FF2B5EF4-FFF2-40B4-BE49-F238E27FC236}">
                <a16:creationId xmlns:a16="http://schemas.microsoft.com/office/drawing/2014/main" id="{499EBBFF-EBC2-B1C1-F47A-8BA3B969E389}"/>
              </a:ext>
            </a:extLst>
          </p:cNvPr>
          <p:cNvSpPr/>
          <p:nvPr/>
        </p:nvSpPr>
        <p:spPr>
          <a:xfrm>
            <a:off x="-16764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30194" name="!!Sliding center 44 20009">
            <a:extLst>
              <a:ext uri="{FF2B5EF4-FFF2-40B4-BE49-F238E27FC236}">
                <a16:creationId xmlns:a16="http://schemas.microsoft.com/office/drawing/2014/main" id="{5E1F9093-BC2D-48FE-4C31-AA6C45516AB3}"/>
              </a:ext>
            </a:extLst>
          </p:cNvPr>
          <p:cNvSpPr/>
          <p:nvPr/>
        </p:nvSpPr>
        <p:spPr>
          <a:xfrm>
            <a:off x="-18542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30195" name="!!Sliding center 44 20010">
            <a:extLst>
              <a:ext uri="{FF2B5EF4-FFF2-40B4-BE49-F238E27FC236}">
                <a16:creationId xmlns:a16="http://schemas.microsoft.com/office/drawing/2014/main" id="{0B4753F2-1DB8-E893-F59E-20E8D2AB9B1F}"/>
              </a:ext>
            </a:extLst>
          </p:cNvPr>
          <p:cNvSpPr/>
          <p:nvPr/>
        </p:nvSpPr>
        <p:spPr>
          <a:xfrm>
            <a:off x="-16764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30196" name="!!Sliding center 44 20011">
            <a:extLst>
              <a:ext uri="{FF2B5EF4-FFF2-40B4-BE49-F238E27FC236}">
                <a16:creationId xmlns:a16="http://schemas.microsoft.com/office/drawing/2014/main" id="{5E079199-8DEA-4AED-D5B5-C12455AF11CA}"/>
              </a:ext>
            </a:extLst>
          </p:cNvPr>
          <p:cNvSpPr/>
          <p:nvPr/>
        </p:nvSpPr>
        <p:spPr>
          <a:xfrm>
            <a:off x="-18542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30197" name="!!Flow Synthesis 6">
            <a:extLst>
              <a:ext uri="{FF2B5EF4-FFF2-40B4-BE49-F238E27FC236}">
                <a16:creationId xmlns:a16="http://schemas.microsoft.com/office/drawing/2014/main" id="{D703C8B0-5DA5-5751-3376-5CA2CF2E17FF}"/>
              </a:ext>
            </a:extLst>
          </p:cNvPr>
          <p:cNvSpPr/>
          <p:nvPr/>
        </p:nvSpPr>
        <p:spPr>
          <a:xfrm>
            <a:off x="11074400" y="0"/>
            <a:ext cx="3606800" cy="5143500"/>
          </a:xfrm>
          <a:prstGeom prst="rect">
            <a:avLst/>
          </a:prstGeom>
          <a:solidFill>
            <a:srgbClr val="C81919">
              <a:alpha val="50196"/>
            </a:srgbClr>
          </a:solidFill>
          <a:ln>
            <a:noFill/>
          </a:ln>
        </p:spPr>
        <p:txBody>
          <a:bodyPr/>
          <a:lstStyle/>
          <a:p>
            <a:endParaRPr lang="en-NL" dirty="0"/>
          </a:p>
        </p:txBody>
      </p:sp>
      <p:sp>
        <p:nvSpPr>
          <p:cNvPr id="30198" name="!!Flow Synthesis 11">
            <a:extLst>
              <a:ext uri="{FF2B5EF4-FFF2-40B4-BE49-F238E27FC236}">
                <a16:creationId xmlns:a16="http://schemas.microsoft.com/office/drawing/2014/main" id="{ACA36901-9FAB-4D2E-0B1E-A8B9FF827A73}"/>
              </a:ext>
            </a:extLst>
          </p:cNvPr>
          <p:cNvSpPr/>
          <p:nvPr/>
        </p:nvSpPr>
        <p:spPr>
          <a:xfrm>
            <a:off x="112444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Robust Controller Synthesis</a:t>
            </a:r>
            <a:endParaRPr sz="2000" dirty="0"/>
          </a:p>
        </p:txBody>
      </p:sp>
      <p:sp>
        <p:nvSpPr>
          <p:cNvPr id="30199" name="!!Flow Synthesis 13">
            <a:extLst>
              <a:ext uri="{FF2B5EF4-FFF2-40B4-BE49-F238E27FC236}">
                <a16:creationId xmlns:a16="http://schemas.microsoft.com/office/drawing/2014/main" id="{A50C9CA7-26DB-BC1F-AFFB-01B2B253AC96}"/>
              </a:ext>
            </a:extLst>
          </p:cNvPr>
          <p:cNvSpPr/>
          <p:nvPr/>
        </p:nvSpPr>
        <p:spPr>
          <a:xfrm>
            <a:off x="112268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Equivalent Dissipation</a:t>
            </a:r>
            <a:endParaRPr sz="1800" dirty="0"/>
          </a:p>
        </p:txBody>
      </p:sp>
      <mc:AlternateContent xmlns:mc="http://schemas.openxmlformats.org/markup-compatibility/2006" xmlns:a14="http://schemas.microsoft.com/office/drawing/2010/main">
        <mc:Choice Requires="a14">
          <p:sp>
            <p:nvSpPr>
              <p:cNvPr id="30200" name="!!Flow Synthesis 15">
                <a:extLst>
                  <a:ext uri="{FF2B5EF4-FFF2-40B4-BE49-F238E27FC236}">
                    <a16:creationId xmlns:a16="http://schemas.microsoft.com/office/drawing/2014/main" id="{6C6F5EF8-4780-EA7D-B8B0-E761562F6759}"/>
                  </a:ext>
                </a:extLst>
              </p:cNvPr>
              <p:cNvSpPr/>
              <p:nvPr/>
            </p:nvSpPr>
            <p:spPr>
              <a:xfrm>
                <a:off x="11333398" y="4572000"/>
                <a:ext cx="3175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
                      <m:nary>
                        <m:naryPr>
                          <m:limLoc m:val="subSup"/>
                          <m:ctrlPr>
                            <a:rPr lang="en-US" sz="1600" b="0" i="1" u="none" baseline="0" dirty="0" smtClean="0">
                              <a:solidFill>
                                <a:srgbClr val="633434"/>
                              </a:solidFill>
                              <a:latin typeface="Cambria Math" panose="02040503050406030204" pitchFamily="18" charset="0"/>
                            </a:rPr>
                          </m:ctrlPr>
                        </m:naryPr>
                        <m:sub>
                          <m:r>
                            <a:rPr lang="en-US" sz="1600" b="0" i="1" u="none" baseline="0" dirty="0" smtClean="0">
                              <a:solidFill>
                                <a:srgbClr val="633434"/>
                              </a:solidFill>
                              <a:latin typeface="Cambria Math" panose="02040503050406030204" pitchFamily="18" charset="0"/>
                            </a:rPr>
                            <m:t>0</m:t>
                          </m:r>
                        </m:sub>
                        <m:sup>
                          <m:r>
                            <a:rPr lang="en-US" sz="1600" b="0" i="1"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bar>
                                    <m:barPr>
                                      <m:pos m:val="bot"/>
                                      <m:ctrlPr>
                                        <a:rPr lang="en-US" sz="1600" b="0" i="1" u="none" baseline="0" dirty="0" smtClean="0">
                                          <a:solidFill>
                                            <a:srgbClr val="633434"/>
                                          </a:solidFill>
                                          <a:latin typeface="Cambria Math" panose="02040503050406030204" pitchFamily="18" charset="0"/>
                                        </a:rPr>
                                      </m:ctrlPr>
                                    </m:barPr>
                                    <m:e>
                                      <m:acc>
                                        <m:accPr>
                                          <m:chr m:val="˜"/>
                                          <m:ctrlPr>
                                            <a:rPr lang="en-US" sz="1600" b="0" i="1" u="none" baseline="0" dirty="0" smtClean="0">
                                              <a:solidFill>
                                                <a:srgbClr val="633434"/>
                                              </a:solidFill>
                                              <a:latin typeface="Cambria Math" panose="02040503050406030204" pitchFamily="18" charset="0"/>
                                            </a:rPr>
                                          </m:ctrlPr>
                                        </m:accPr>
                                        <m:e>
                                          <m:r>
                                            <a:rPr lang="en-US" sz="1600" b="0" i="1" u="none" baseline="0" dirty="0" smtClean="0">
                                              <a:solidFill>
                                                <a:srgbClr val="633434"/>
                                              </a:solidFill>
                                              <a:latin typeface="Cambria Math" panose="02040503050406030204" pitchFamily="18" charset="0"/>
                                            </a:rPr>
                                            <m:t>𝑤</m:t>
                                          </m:r>
                                        </m:e>
                                      </m:acc>
                                    </m:e>
                                  </m:bar>
                                  <m:d>
                                    <m:dPr>
                                      <m:ctrlPr>
                                        <a:rPr lang="en-US" sz="1600" b="0" i="1" u="none" baseline="0" dirty="0" smtClean="0">
                                          <a:solidFill>
                                            <a:srgbClr val="633434"/>
                                          </a:solidFill>
                                          <a:latin typeface="Cambria Math" panose="02040503050406030204" pitchFamily="18" charset="0"/>
                                        </a:rPr>
                                      </m:ctrlPr>
                                    </m:dPr>
                                    <m:e>
                                      <m:r>
                                        <a:rPr lang="en-US" sz="1600" b="0" i="1" u="none" baseline="0" dirty="0" smtClean="0">
                                          <a:solidFill>
                                            <a:srgbClr val="633434"/>
                                          </a:solidFill>
                                          <a:latin typeface="Cambria Math" panose="02040503050406030204" pitchFamily="18" charset="0"/>
                                        </a:rPr>
                                        <m:t>𝑡</m:t>
                                      </m:r>
                                    </m:e>
                                  </m:d>
                                </m:e>
                              </m:d>
                            </m:e>
                            <m:sup>
                              <m:r>
                                <a:rPr lang="en-US" sz="1600" b="0" i="1" u="none" baseline="0" dirty="0" smtClean="0">
                                  <a:solidFill>
                                    <a:srgbClr val="633434"/>
                                  </a:solidFill>
                                  <a:latin typeface="Cambria Math" panose="02040503050406030204" pitchFamily="18" charset="0"/>
                                </a:rPr>
                                <m:t>2</m:t>
                              </m:r>
                            </m:sup>
                          </m:sSup>
                        </m:e>
                      </m:nary>
                      <m:r>
                        <a:rPr lang="en-US" sz="1600" b="0" i="1" u="none" baseline="0" dirty="0" smtClean="0">
                          <a:solidFill>
                            <a:srgbClr val="633434"/>
                          </a:solidFill>
                          <a:latin typeface="Cambria Math" panose="02040503050406030204" pitchFamily="18" charset="0"/>
                        </a:rPr>
                        <m:t>𝑑𝑡</m:t>
                      </m:r>
                      <m:r>
                        <a:rPr lang="en-US" sz="1600" b="0" i="1" u="none" baseline="0" dirty="0" smtClean="0">
                          <a:solidFill>
                            <a:srgbClr val="633434"/>
                          </a:solidFill>
                          <a:latin typeface="Cambria Math" panose="02040503050406030204" pitchFamily="18" charset="0"/>
                        </a:rPr>
                        <m:t>≤</m:t>
                      </m:r>
                      <m:nary>
                        <m:naryPr>
                          <m:limLoc m:val="subSup"/>
                          <m:ctrlPr>
                            <a:rPr lang="en-US" sz="1600" b="0" i="1" u="none" baseline="0" dirty="0" smtClean="0">
                              <a:solidFill>
                                <a:srgbClr val="633434"/>
                              </a:solidFill>
                              <a:latin typeface="Cambria Math" panose="02040503050406030204" pitchFamily="18" charset="0"/>
                            </a:rPr>
                          </m:ctrlPr>
                        </m:naryPr>
                        <m:sub>
                          <m:r>
                            <a:rPr lang="en-US" sz="1600" b="0" i="1" u="none" baseline="0" dirty="0" smtClean="0">
                              <a:solidFill>
                                <a:srgbClr val="633434"/>
                              </a:solidFill>
                              <a:latin typeface="Cambria Math" panose="02040503050406030204" pitchFamily="18" charset="0"/>
                            </a:rPr>
                            <m:t>0</m:t>
                          </m:r>
                        </m:sub>
                        <m:sup>
                          <m:r>
                            <a:rPr lang="en-US" sz="1600" b="0" i="1"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bar>
                                    <m:barPr>
                                      <m:pos m:val="bot"/>
                                      <m:ctrlPr>
                                        <a:rPr lang="en-US" sz="1600" b="0" i="1" u="none" baseline="0" dirty="0" smtClean="0">
                                          <a:solidFill>
                                            <a:srgbClr val="633434"/>
                                          </a:solidFill>
                                          <a:latin typeface="Cambria Math" panose="02040503050406030204" pitchFamily="18" charset="0"/>
                                        </a:rPr>
                                      </m:ctrlPr>
                                    </m:barPr>
                                    <m:e>
                                      <m:acc>
                                        <m:accPr>
                                          <m:chr m:val="˜"/>
                                          <m:ctrlPr>
                                            <a:rPr lang="en-US" sz="1600" b="0" i="1" u="none" baseline="0" dirty="0" smtClean="0">
                                              <a:solidFill>
                                                <a:srgbClr val="633434"/>
                                              </a:solidFill>
                                              <a:latin typeface="Cambria Math" panose="02040503050406030204" pitchFamily="18" charset="0"/>
                                            </a:rPr>
                                          </m:ctrlPr>
                                        </m:accPr>
                                        <m:e>
                                          <m:r>
                                            <a:rPr lang="en-US" sz="1600" b="0" i="1" u="none" baseline="0" dirty="0" smtClean="0">
                                              <a:solidFill>
                                                <a:srgbClr val="633434"/>
                                              </a:solidFill>
                                              <a:latin typeface="Cambria Math" panose="02040503050406030204" pitchFamily="18" charset="0"/>
                                            </a:rPr>
                                            <m:t>𝑧</m:t>
                                          </m:r>
                                        </m:e>
                                      </m:acc>
                                    </m:e>
                                  </m:bar>
                                  <m:d>
                                    <m:dPr>
                                      <m:ctrlPr>
                                        <a:rPr lang="en-US" sz="1600" b="0" i="1" u="none" baseline="0" dirty="0" smtClean="0">
                                          <a:solidFill>
                                            <a:srgbClr val="633434"/>
                                          </a:solidFill>
                                          <a:latin typeface="Cambria Math" panose="02040503050406030204" pitchFamily="18" charset="0"/>
                                        </a:rPr>
                                      </m:ctrlPr>
                                    </m:dPr>
                                    <m:e>
                                      <m:r>
                                        <a:rPr lang="en-US" sz="1600" b="0" i="1" u="none" baseline="0" dirty="0" smtClean="0">
                                          <a:solidFill>
                                            <a:srgbClr val="633434"/>
                                          </a:solidFill>
                                          <a:latin typeface="Cambria Math" panose="02040503050406030204" pitchFamily="18" charset="0"/>
                                        </a:rPr>
                                        <m:t>𝑡</m:t>
                                      </m:r>
                                    </m:e>
                                  </m:d>
                                </m:e>
                              </m:d>
                            </m:e>
                            <m:sup>
                              <m:r>
                                <a:rPr lang="en-US" sz="1600" b="0" i="1" u="none" baseline="0" dirty="0" smtClean="0">
                                  <a:solidFill>
                                    <a:srgbClr val="633434"/>
                                  </a:solidFill>
                                  <a:latin typeface="Cambria Math" panose="02040503050406030204" pitchFamily="18" charset="0"/>
                                </a:rPr>
                                <m:t>2</m:t>
                              </m:r>
                            </m:sup>
                          </m:sSup>
                        </m:e>
                      </m:nary>
                      <m:r>
                        <a:rPr lang="en-US" sz="1600" b="0" i="1" u="none" baseline="0" dirty="0" smtClean="0">
                          <a:solidFill>
                            <a:srgbClr val="633434"/>
                          </a:solidFill>
                          <a:latin typeface="Cambria Math" panose="02040503050406030204" pitchFamily="18" charset="0"/>
                        </a:rPr>
                        <m:t>𝑑𝑡</m:t>
                      </m:r>
                      <m:r>
                        <a:rPr lang="en-US" sz="1600" b="0" i="1" u="none" baseline="0" dirty="0" smtClean="0">
                          <a:solidFill>
                            <a:srgbClr val="633434"/>
                          </a:solidFill>
                          <a:latin typeface="Cambria Math" panose="02040503050406030204" pitchFamily="18" charset="0"/>
                        </a:rPr>
                        <m:t> ∀ </m:t>
                      </m:r>
                      <m:r>
                        <a:rPr lang="en-US" sz="1600" b="0" i="1" u="none" baseline="0" dirty="0" smtClean="0">
                          <a:solidFill>
                            <a:srgbClr val="633434"/>
                          </a:solidFill>
                          <a:latin typeface="Cambria Math" panose="02040503050406030204" pitchFamily="18" charset="0"/>
                        </a:rPr>
                        <m:t>𝑇</m:t>
                      </m:r>
                      <m:r>
                        <a:rPr lang="en-US" sz="1600" b="0" i="1" u="none" baseline="0" dirty="0" smtClean="0">
                          <a:solidFill>
                            <a:srgbClr val="633434"/>
                          </a:solidFill>
                          <a:latin typeface="Cambria Math" panose="02040503050406030204" pitchFamily="18" charset="0"/>
                        </a:rPr>
                        <m:t>&gt;0</m:t>
                      </m:r>
                    </m:oMath>
                  </m:oMathPara>
                </a14:m>
                <a:endParaRPr sz="1600" dirty="0">
                  <a:solidFill>
                    <a:srgbClr val="633434"/>
                  </a:solidFill>
                  <a:latin typeface="Aptos"/>
                  <a:ea typeface="Aptos"/>
                  <a:cs typeface="Aptos"/>
                </a:endParaRPr>
              </a:p>
            </p:txBody>
          </p:sp>
        </mc:Choice>
        <mc:Fallback xmlns="">
          <p:sp>
            <p:nvSpPr>
              <p:cNvPr id="30200" name="!!Flow Synthesis 15">
                <a:extLst>
                  <a:ext uri="{FF2B5EF4-FFF2-40B4-BE49-F238E27FC236}">
                    <a16:creationId xmlns:a16="http://schemas.microsoft.com/office/drawing/2014/main" id="{6C6F5EF8-4780-EA7D-B8B0-E761562F6759}"/>
                  </a:ext>
                </a:extLst>
              </p:cNvPr>
              <p:cNvSpPr>
                <a:spLocks noRot="1" noChangeAspect="1" noMove="1" noResize="1" noEditPoints="1" noAdjustHandles="1" noChangeArrowheads="1" noChangeShapeType="1" noTextEdit="1"/>
              </p:cNvSpPr>
              <p:nvPr/>
            </p:nvSpPr>
            <p:spPr>
              <a:xfrm>
                <a:off x="11333398" y="4572000"/>
                <a:ext cx="3175000" cy="304800"/>
              </a:xfrm>
              <a:prstGeom prst="rect">
                <a:avLst/>
              </a:prstGeom>
              <a:blipFill>
                <a:blip r:embed="rIdSlideFlow124"/>
                <a:stretch>
                  <a:fillRect l="-3071" t="-30000" r="-1536" b="-42000"/>
                </a:stretch>
              </a:blipFill>
              <a:ln>
                <a:noFill/>
              </a:ln>
            </p:spPr>
            <p:txBody>
              <a:bodyPr/>
              <a:lstStyle/>
              <a:p>
                <a:r>
                  <a:rPr lang="en-NL">
                    <a:noFill/>
                  </a:rPr>
                  <a:t> </a:t>
                </a:r>
              </a:p>
            </p:txBody>
          </p:sp>
        </mc:Fallback>
      </mc:AlternateContent>
      <p:pic>
        <p:nvPicPr>
          <p:cNvPr id="30201" name="!!Flow Synthesis 19">
            <a:extLst>
              <a:ext uri="{FF2B5EF4-FFF2-40B4-BE49-F238E27FC236}">
                <a16:creationId xmlns:a16="http://schemas.microsoft.com/office/drawing/2014/main" id="{3A19A885-5692-940B-24EF-16865348230B}"/>
              </a:ext>
            </a:extLst>
          </p:cNvPr>
          <p:cNvPicPr>
            <a:picLocks noChangeAspect="1"/>
          </p:cNvPicPr>
          <p:nvPr/>
        </p:nvPicPr>
        <p:blipFill>
          <a:blip r:embed="rId20" cstate="print">
            <a:extLst>
              <a:ext uri="{28A0092B-C50C-407E-A947-70E740481C1C}">
                <a14:useLocalDpi xmlns:a14="http://schemas.microsoft.com/office/drawing/2010/main" val="0"/>
              </a:ext>
            </a:extLst>
          </a:blip>
          <a:srcRect/>
          <a:stretch/>
        </p:blipFill>
        <p:spPr>
          <a:xfrm>
            <a:off x="11461098" y="1777808"/>
            <a:ext cx="2919599" cy="1784478"/>
          </a:xfrm>
          <a:prstGeom prst="rect">
            <a:avLst/>
          </a:prstGeom>
        </p:spPr>
      </p:pic>
      <p:sp>
        <p:nvSpPr>
          <p:cNvPr id="30202" name="!!Sliding center 46 32">
            <a:extLst>
              <a:ext uri="{FF2B5EF4-FFF2-40B4-BE49-F238E27FC236}">
                <a16:creationId xmlns:a16="http://schemas.microsoft.com/office/drawing/2014/main" id="{85D8F719-2267-0C64-D7C9-DC27544C20FB}"/>
              </a:ext>
            </a:extLst>
          </p:cNvPr>
          <p:cNvSpPr/>
          <p:nvPr/>
        </p:nvSpPr>
        <p:spPr>
          <a:xfrm>
            <a:off x="93980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0203" name="!!Sliding center 46 34">
                <a:extLst>
                  <a:ext uri="{FF2B5EF4-FFF2-40B4-BE49-F238E27FC236}">
                    <a16:creationId xmlns:a16="http://schemas.microsoft.com/office/drawing/2014/main" id="{7ABB1BDC-93CF-6E3C-F305-7490A15DBDA7}"/>
                  </a:ext>
                </a:extLst>
              </p:cNvPr>
              <p:cNvSpPr/>
              <p:nvPr/>
            </p:nvSpPr>
            <p:spPr>
              <a:xfrm>
                <a:off x="9220200" y="1949450"/>
                <a:ext cx="1778000" cy="266700"/>
              </a:xfrm>
              <a:prstGeom prst="rect">
                <a:avLst/>
              </a:prstGeom>
              <a:noFill/>
              <a:ln>
                <a:noFill/>
              </a:ln>
            </p:spPr>
            <p:txBody>
              <a:bodyPr wrap="none" lIns="0" tIns="0" rIns="0" bIns="0" anchor="ctr">
                <a:noAutofit/>
              </a:bodyPr>
              <a:lstStyle/>
              <a:p>
                <a:pPr algn="ctr">
                  <a:buNone/>
                </a:pPr>
                <a14:m>
                  <m:oMathPara xmlns:m="http://schemas.openxmlformats.org/officeDocument/2006/math">
                    <m:oMath>
                      <m:r>
                        <a:rPr lang="en-US" sz="1400" b="0" i="0" u="none" baseline="0" dirty="0" smtClean="0">
                          <a:latin typeface="Cambria Math" panose="02040503050406030204" pitchFamily="18" charset="0"/>
                        </a:rPr>
                        <m:t>𝐃</m:t>
                      </m:r>
                      <m:d>
                        <m:dPr>
                          <m:ctrlPr>
                            <a:rPr lang="en-US" sz="1400" b="0" i="0" u="none" baseline="0" dirty="0" smtClean="0">
                              <a:latin typeface="Cambria Math" panose="02040503050406030204" pitchFamily="18" charset="0"/>
                            </a:rPr>
                          </m:ctrlPr>
                        </m:dPr>
                        <m:e>
                          <m:r>
                            <m:rPr>
                              <m:sty m:val="p"/>
                            </m:rPr>
                            <a:rPr lang="en-US" sz="1400" b="0" i="0" u="none" baseline="0" dirty="0" smtClean="0">
                              <a:latin typeface="Cambria Math" panose="02040503050406030204" pitchFamily="18" charset="0"/>
                            </a:rPr>
                            <m:t>Θ</m:t>
                          </m:r>
                        </m:e>
                      </m:d>
                      <m:r>
                        <a:rPr lang="en-US" sz="1400" b="0" i="0" u="none" baseline="0" dirty="0" smtClean="0">
                          <a:latin typeface="Cambria Math" panose="02040503050406030204" pitchFamily="18" charset="0"/>
                        </a:rPr>
                        <m:t>=</m:t>
                      </m:r>
                      <m:bar>
                        <m:barPr>
                          <m:pos m:val="bot"/>
                          <m:ctrlPr>
                            <a:rPr lang="en-US" sz="1400" b="0" i="0" u="none" baseline="0" dirty="0" smtClean="0">
                              <a:latin typeface="Cambria Math" panose="02040503050406030204" pitchFamily="18" charset="0"/>
                            </a:rPr>
                          </m:ctrlPr>
                        </m:barPr>
                        <m:e>
                          <m:r>
                            <m:rPr>
                              <m:sty m:val="p"/>
                            </m:rPr>
                            <a:rPr lang="en-US" sz="1400" b="0" i="0" u="none" baseline="0" dirty="0" smtClean="0">
                              <a:latin typeface="Cambria Math" panose="02040503050406030204" pitchFamily="18" charset="0"/>
                            </a:rPr>
                            <m:t>Θ</m:t>
                          </m:r>
                        </m:e>
                      </m:bar>
                    </m:oMath>
                  </m:oMathPara>
                </a14:m>
                <a:endParaRPr sz="1400" dirty="0"/>
              </a:p>
            </p:txBody>
          </p:sp>
        </mc:Choice>
        <mc:Fallback xmlns="">
          <p:sp>
            <p:nvSpPr>
              <p:cNvPr id="30203" name="!!Sliding center 46 34">
                <a:extLst>
                  <a:ext uri="{FF2B5EF4-FFF2-40B4-BE49-F238E27FC236}">
                    <a16:creationId xmlns:a16="http://schemas.microsoft.com/office/drawing/2014/main" id="{7ABB1BDC-93CF-6E3C-F305-7490A15DBDA7}"/>
                  </a:ext>
                </a:extLst>
              </p:cNvPr>
              <p:cNvSpPr>
                <a:spLocks noRot="1" noChangeAspect="1" noMove="1" noResize="1" noEditPoints="1" noAdjustHandles="1" noChangeArrowheads="1" noChangeShapeType="1" noTextEdit="1"/>
              </p:cNvSpPr>
              <p:nvPr/>
            </p:nvSpPr>
            <p:spPr>
              <a:xfrm>
                <a:off x="9220200" y="1949450"/>
                <a:ext cx="1778000" cy="266700"/>
              </a:xfrm>
              <a:prstGeom prst="rect">
                <a:avLst/>
              </a:prstGeom>
              <a:blipFill>
                <a:blip r:embed="rIdSlideFlow126"/>
                <a:stretch>
                  <a:fillRect/>
                </a:stretch>
              </a:blipFill>
              <a:ln>
                <a:noFill/>
              </a:ln>
            </p:spPr>
            <p:txBody>
              <a:bodyPr/>
              <a:lstStyle/>
              <a:p>
                <a:r>
                  <a:rPr lang="en-NL">
                    <a:noFill/>
                  </a:rPr>
                  <a:t> </a:t>
                </a:r>
              </a:p>
            </p:txBody>
          </p:sp>
        </mc:Fallback>
      </mc:AlternateContent>
      <p:sp>
        <p:nvSpPr>
          <p:cNvPr id="30204" name="!!Sliding center 46 36">
            <a:extLst>
              <a:ext uri="{FF2B5EF4-FFF2-40B4-BE49-F238E27FC236}">
                <a16:creationId xmlns:a16="http://schemas.microsoft.com/office/drawing/2014/main" id="{059D78BC-7712-3472-90C5-2A73836E0F9F}"/>
              </a:ext>
            </a:extLst>
          </p:cNvPr>
          <p:cNvSpPr/>
          <p:nvPr/>
        </p:nvSpPr>
        <p:spPr>
          <a:xfrm>
            <a:off x="93980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30205" name="!!Sliding center 46 38">
            <a:extLst>
              <a:ext uri="{FF2B5EF4-FFF2-40B4-BE49-F238E27FC236}">
                <a16:creationId xmlns:a16="http://schemas.microsoft.com/office/drawing/2014/main" id="{75BDAAEE-E4DD-6E22-9B66-526CA7AF7FFA}"/>
              </a:ext>
            </a:extLst>
          </p:cNvPr>
          <p:cNvSpPr/>
          <p:nvPr/>
        </p:nvSpPr>
        <p:spPr>
          <a:xfrm>
            <a:off x="92202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Tree>
    <p:extLst>
      <p:ext uri="{BB962C8B-B14F-4D97-AF65-F5344CB8AC3E}">
        <p14:creationId xmlns:p14="http://schemas.microsoft.com/office/powerpoint/2010/main" val="19135541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56B67-483D-35C7-CB2A-505B39B1A74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F6FDCE4-3330-5E17-B8CD-4E0D9E8C841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2" name="!!Flow Analysis 2">
            <a:extLst>
              <a:ext uri="{FF2B5EF4-FFF2-40B4-BE49-F238E27FC236}">
                <a16:creationId xmlns:a16="http://schemas.microsoft.com/office/drawing/2014/main" id="{3CFD6E59-32C2-BF7E-297A-18D43B0C60AF}"/>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Flow Analysis 3">
            <a:extLst>
              <a:ext uri="{FF2B5EF4-FFF2-40B4-BE49-F238E27FC236}">
                <a16:creationId xmlns:a16="http://schemas.microsoft.com/office/drawing/2014/main" id="{3159E6B8-DE47-EAB7-2A70-BB42DA911B44}"/>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dirty="0">
                <a:solidFill>
                  <a:srgbClr val="252529"/>
                </a:solidFill>
                <a:latin typeface="Aptos"/>
              </a:rPr>
              <a:t>Robust Analysis</a:t>
            </a:r>
            <a:endParaRPr sz="2000" dirty="0"/>
          </a:p>
        </p:txBody>
      </p:sp>
      <mc:AlternateContent xmlns:mc="http://schemas.openxmlformats.org/markup-compatibility/2006" xmlns:a14="http://schemas.microsoft.com/office/drawing/2010/main">
        <mc:Choice Requires="a14">
          <p:sp>
            <p:nvSpPr>
              <p:cNvPr id="7" name="!!Flow Analysis 7">
                <a:extLst>
                  <a:ext uri="{FF2B5EF4-FFF2-40B4-BE49-F238E27FC236}">
                    <a16:creationId xmlns:a16="http://schemas.microsoft.com/office/drawing/2014/main" id="{957CD929-8153-77A9-0E0D-71E4B17C0A6C}"/>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Linearization of </a:t>
                </a:r>
                <a14:m>
                  <m:oMath xmlns:m="http://schemas.openxmlformats.org/officeDocument/2006/math">
                    <m:r>
                      <a:rPr lang="en-GB" sz="1800" b="1" i="1" u="none" baseline="0" smtClean="0">
                        <a:solidFill>
                          <a:srgbClr val="252529"/>
                        </a:solidFill>
                        <a:latin typeface="Cambria Math" panose="02040503050406030204" pitchFamily="18" charset="0"/>
                        <a:ea typeface="Cambria Math" panose="02040503050406030204" pitchFamily="18" charset="0"/>
                        <a:cs typeface="Aptos"/>
                      </a:rPr>
                      <m:t>𝚫</m:t>
                    </m:r>
                  </m:oMath>
                </a14:m>
                <a:endParaRPr sz="1800" dirty="0"/>
              </a:p>
            </p:txBody>
          </p:sp>
        </mc:Choice>
        <mc:Fallback xmlns="">
          <p:sp>
            <p:nvSpPr>
              <p:cNvPr id="7" name="!!Flow Analysis 7">
                <a:extLst>
                  <a:ext uri="{FF2B5EF4-FFF2-40B4-BE49-F238E27FC236}">
                    <a16:creationId xmlns:a16="http://schemas.microsoft.com/office/drawing/2014/main" id="{957CD929-8153-77A9-0E0D-71E4B17C0A6C}"/>
                  </a:ext>
                </a:extLst>
              </p:cNvPr>
              <p:cNvSpPr>
                <a:spLocks noRot="1" noChangeAspect="1" noMove="1" noResize="1" noEditPoints="1" noAdjustHandles="1" noChangeArrowheads="1" noChangeShapeType="1" noTextEdit="1"/>
              </p:cNvSpPr>
              <p:nvPr/>
            </p:nvSpPr>
            <p:spPr>
              <a:xfrm>
                <a:off x="152400" y="4108450"/>
                <a:ext cx="3302000" cy="342900"/>
              </a:xfrm>
              <a:prstGeom prst="rect">
                <a:avLst/>
              </a:prstGeom>
              <a:blipFill>
                <a:blip r:embed="rId3"/>
                <a:stretch>
                  <a:fillRect t="-10714" b="-3392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 name="!!Flow Analysis 8">
                <a:extLst>
                  <a:ext uri="{FF2B5EF4-FFF2-40B4-BE49-F238E27FC236}">
                    <a16:creationId xmlns:a16="http://schemas.microsoft.com/office/drawing/2014/main" id="{DA552458-7267-5808-3374-1E457F5B1C66}"/>
                  </a:ext>
                </a:extLst>
              </p:cNvPr>
              <p:cNvSpPr/>
              <p:nvPr/>
            </p:nvSpPr>
            <p:spPr>
              <a:xfrm>
                <a:off x="258998" y="4572000"/>
                <a:ext cx="3175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𝑤</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m:t>
                      </m:r>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𝑧</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 ∀ </m:t>
                      </m:r>
                      <m:r>
                        <a:rPr lang="en-US" sz="1600" b="0" i="0" u="none" baseline="0" dirty="0" smtClean="0">
                          <a:solidFill>
                            <a:srgbClr val="633434"/>
                          </a:solidFill>
                          <a:latin typeface="Cambria Math" panose="02040503050406030204" pitchFamily="18" charset="0"/>
                        </a:rPr>
                        <m:t>𝑇</m:t>
                      </m:r>
                      <m:r>
                        <a:rPr lang="en-US" sz="1600" b="0" i="0" u="none" baseline="0" dirty="0" smtClean="0">
                          <a:solidFill>
                            <a:srgbClr val="633434"/>
                          </a:solidFill>
                          <a:latin typeface="Cambria Math" panose="02040503050406030204" pitchFamily="18" charset="0"/>
                        </a:rPr>
                        <m:t>&gt;0</m:t>
                      </m:r>
                    </m:oMath>
                  </m:oMathPara>
                </a14:m>
                <a:endParaRPr sz="1600" dirty="0">
                  <a:solidFill>
                    <a:srgbClr val="633434"/>
                  </a:solidFill>
                  <a:latin typeface="Aptos"/>
                  <a:ea typeface="Aptos"/>
                  <a:cs typeface="Aptos"/>
                </a:endParaRPr>
              </a:p>
            </p:txBody>
          </p:sp>
        </mc:Choice>
        <mc:Fallback xmlns="">
          <p:sp>
            <p:nvSpPr>
              <p:cNvPr id="8" name="!!Flow Analysis 8">
                <a:extLst>
                  <a:ext uri="{FF2B5EF4-FFF2-40B4-BE49-F238E27FC236}">
                    <a16:creationId xmlns:a16="http://schemas.microsoft.com/office/drawing/2014/main" id="{DA552458-7267-5808-3374-1E457F5B1C66}"/>
                  </a:ext>
                </a:extLst>
              </p:cNvPr>
              <p:cNvSpPr>
                <a:spLocks noRot="1" noChangeAspect="1" noMove="1" noResize="1" noEditPoints="1" noAdjustHandles="1" noChangeArrowheads="1" noChangeShapeType="1" noTextEdit="1"/>
              </p:cNvSpPr>
              <p:nvPr/>
            </p:nvSpPr>
            <p:spPr>
              <a:xfrm>
                <a:off x="258998" y="4572000"/>
                <a:ext cx="3175000" cy="304800"/>
              </a:xfrm>
              <a:prstGeom prst="rect">
                <a:avLst/>
              </a:prstGeom>
              <a:blipFill>
                <a:blip r:embed="rId4"/>
                <a:stretch>
                  <a:fillRect l="-2879" t="-30000" r="-1536" b="-42000"/>
                </a:stretch>
              </a:blipFill>
              <a:ln>
                <a:noFill/>
              </a:ln>
            </p:spPr>
            <p:txBody>
              <a:bodyPr/>
              <a:lstStyle/>
              <a:p>
                <a:r>
                  <a:rPr lang="en-NL">
                    <a:noFill/>
                  </a:rPr>
                  <a:t> </a:t>
                </a:r>
              </a:p>
            </p:txBody>
          </p:sp>
        </mc:Fallback>
      </mc:AlternateContent>
      <p:sp>
        <p:nvSpPr>
          <p:cNvPr id="32" name="!!Sliding center 46 32">
            <a:extLst>
              <a:ext uri="{FF2B5EF4-FFF2-40B4-BE49-F238E27FC236}">
                <a16:creationId xmlns:a16="http://schemas.microsoft.com/office/drawing/2014/main" id="{85D8F719-2267-0C64-D7C9-DC27544C20FB}"/>
              </a:ext>
            </a:extLst>
          </p:cNvPr>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4" name="!!Sliding center 46 34">
                <a:extLst>
                  <a:ext uri="{FF2B5EF4-FFF2-40B4-BE49-F238E27FC236}">
                    <a16:creationId xmlns:a16="http://schemas.microsoft.com/office/drawing/2014/main" id="{7ABB1BDC-93CF-6E3C-F305-7490A15DBDA7}"/>
                  </a:ext>
                </a:extLst>
              </p:cNvPr>
              <p:cNvSpPr/>
              <p:nvPr/>
            </p:nvSpPr>
            <p:spPr>
              <a:xfrm>
                <a:off x="3683000" y="1949450"/>
                <a:ext cx="1778000" cy="266700"/>
              </a:xfrm>
              <a:prstGeom prst="rect">
                <a:avLst/>
              </a:prstGeom>
              <a:noFill/>
              <a:ln>
                <a:noFill/>
              </a:ln>
            </p:spPr>
            <p:txBody>
              <a:bodyPr wrap="none" lIns="0" tIns="0" rIns="0" bIns="0" anchor="ctr">
                <a:noAutofit/>
              </a:bodyPr>
              <a:lstStyle/>
              <a:p>
                <a:pPr algn="ctr">
                  <a:buNone/>
                </a:pPr>
                <a14:m>
                  <m:oMathPara xmlns:m="http://schemas.openxmlformats.org/officeDocument/2006/math">
                    <m:oMath>
                      <m:r>
                        <a:rPr lang="en-US" sz="1400" b="0" i="0" u="none" baseline="0" dirty="0" smtClean="0">
                          <a:latin typeface="Cambria Math" panose="02040503050406030204" pitchFamily="18" charset="0"/>
                        </a:rPr>
                        <m:t>𝐃</m:t>
                      </m:r>
                      <m:d>
                        <m:dPr>
                          <m:ctrlPr>
                            <a:rPr lang="en-US" sz="1400" b="0" i="0" u="none" baseline="0" dirty="0" smtClean="0">
                              <a:latin typeface="Cambria Math" panose="02040503050406030204" pitchFamily="18" charset="0"/>
                            </a:rPr>
                          </m:ctrlPr>
                        </m:dPr>
                        <m:e>
                          <m:r>
                            <m:rPr>
                              <m:sty m:val="p"/>
                            </m:rPr>
                            <a:rPr lang="en-US" sz="1400" b="0" i="0" u="none" baseline="0" dirty="0" smtClean="0">
                              <a:latin typeface="Cambria Math" panose="02040503050406030204" pitchFamily="18" charset="0"/>
                            </a:rPr>
                            <m:t>Θ</m:t>
                          </m:r>
                        </m:e>
                      </m:d>
                      <m:r>
                        <a:rPr lang="en-US" sz="1400" b="0" i="0" u="none" baseline="0" dirty="0" smtClean="0">
                          <a:latin typeface="Cambria Math" panose="02040503050406030204" pitchFamily="18" charset="0"/>
                        </a:rPr>
                        <m:t>=</m:t>
                      </m:r>
                      <m:bar>
                        <m:barPr>
                          <m:pos m:val="bot"/>
                          <m:ctrlPr>
                            <a:rPr lang="en-US" sz="1400" b="0" i="0" u="none" baseline="0" dirty="0" smtClean="0">
                              <a:latin typeface="Cambria Math" panose="02040503050406030204" pitchFamily="18" charset="0"/>
                            </a:rPr>
                          </m:ctrlPr>
                        </m:barPr>
                        <m:e>
                          <m:r>
                            <m:rPr>
                              <m:sty m:val="p"/>
                            </m:rPr>
                            <a:rPr lang="en-US" sz="1400" b="0" i="0" u="none" baseline="0" dirty="0" smtClean="0">
                              <a:latin typeface="Cambria Math" panose="02040503050406030204" pitchFamily="18" charset="0"/>
                            </a:rPr>
                            <m:t>Θ</m:t>
                          </m:r>
                        </m:e>
                      </m:bar>
                    </m:oMath>
                  </m:oMathPara>
                </a14:m>
                <a:endParaRPr sz="1400" dirty="0"/>
              </a:p>
            </p:txBody>
          </p:sp>
        </mc:Choice>
        <mc:Fallback xmlns="">
          <p:sp>
            <p:nvSpPr>
              <p:cNvPr id="34" name="!!Sliding center 46 34">
                <a:extLst>
                  <a:ext uri="{FF2B5EF4-FFF2-40B4-BE49-F238E27FC236}">
                    <a16:creationId xmlns:a16="http://schemas.microsoft.com/office/drawing/2014/main" id="{7ABB1BDC-93CF-6E3C-F305-7490A15DBDA7}"/>
                  </a:ext>
                </a:extLst>
              </p:cNvPr>
              <p:cNvSpPr>
                <a:spLocks noRot="1" noChangeAspect="1" noMove="1" noResize="1" noEditPoints="1" noAdjustHandles="1" noChangeArrowheads="1" noChangeShapeType="1" noTextEdit="1"/>
              </p:cNvSpPr>
              <p:nvPr/>
            </p:nvSpPr>
            <p:spPr>
              <a:xfrm>
                <a:off x="3683000" y="1949450"/>
                <a:ext cx="1778000" cy="266700"/>
              </a:xfrm>
              <a:prstGeom prst="rect">
                <a:avLst/>
              </a:prstGeom>
              <a:blipFill>
                <a:blip r:embed="rId5"/>
                <a:stretch>
                  <a:fillRect/>
                </a:stretch>
              </a:blipFill>
              <a:ln>
                <a:noFill/>
              </a:ln>
            </p:spPr>
            <p:txBody>
              <a:bodyPr/>
              <a:lstStyle/>
              <a:p>
                <a:r>
                  <a:rPr lang="en-NL">
                    <a:noFill/>
                  </a:rPr>
                  <a:t> </a:t>
                </a:r>
              </a:p>
            </p:txBody>
          </p:sp>
        </mc:Fallback>
      </mc:AlternateContent>
      <p:sp>
        <p:nvSpPr>
          <p:cNvPr id="36" name="!!Sliding center 46 36">
            <a:extLst>
              <a:ext uri="{FF2B5EF4-FFF2-40B4-BE49-F238E27FC236}">
                <a16:creationId xmlns:a16="http://schemas.microsoft.com/office/drawing/2014/main" id="{059D78BC-7712-3472-90C5-2A73836E0F9F}"/>
              </a:ext>
            </a:extLst>
          </p:cNvPr>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38" name="!!Sliding center 46 38">
            <a:extLst>
              <a:ext uri="{FF2B5EF4-FFF2-40B4-BE49-F238E27FC236}">
                <a16:creationId xmlns:a16="http://schemas.microsoft.com/office/drawing/2014/main" id="{75BDAAEE-E4DD-6E22-9B66-526CA7AF7FFA}"/>
              </a:ext>
            </a:extLst>
          </p:cNvPr>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pic>
        <p:nvPicPr>
          <p:cNvPr id="30066" name="!!Flow Analysis 30066">
            <a:extLst>
              <a:ext uri="{FF2B5EF4-FFF2-40B4-BE49-F238E27FC236}">
                <a16:creationId xmlns:a16="http://schemas.microsoft.com/office/drawing/2014/main" id="{A99DFEDE-AB1C-A929-54EA-DEC4D6751E6C}"/>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a:off x="386698" y="1777808"/>
            <a:ext cx="2919599" cy="1784478"/>
          </a:xfrm>
          <a:prstGeom prst="rect">
            <a:avLst/>
          </a:prstGeom>
        </p:spPr>
      </p:pic>
      <p:sp>
        <p:nvSpPr>
          <p:cNvPr id="6" name="!!Flow Synthesis 6">
            <a:extLst>
              <a:ext uri="{FF2B5EF4-FFF2-40B4-BE49-F238E27FC236}">
                <a16:creationId xmlns:a16="http://schemas.microsoft.com/office/drawing/2014/main" id="{D703C8B0-5DA5-5751-3376-5CA2CF2E17FF}"/>
              </a:ext>
            </a:extLst>
          </p:cNvPr>
          <p:cNvSpPr/>
          <p:nvPr/>
        </p:nvSpPr>
        <p:spPr>
          <a:xfrm>
            <a:off x="5537200" y="0"/>
            <a:ext cx="3606800" cy="5143500"/>
          </a:xfrm>
          <a:prstGeom prst="rect">
            <a:avLst/>
          </a:prstGeom>
          <a:solidFill>
            <a:srgbClr val="C81919">
              <a:alpha val="50196"/>
            </a:srgbClr>
          </a:solidFill>
          <a:ln>
            <a:noFill/>
          </a:ln>
        </p:spPr>
        <p:txBody>
          <a:bodyPr/>
          <a:lstStyle/>
          <a:p>
            <a:endParaRPr lang="en-NL" dirty="0"/>
          </a:p>
        </p:txBody>
      </p:sp>
      <p:sp>
        <p:nvSpPr>
          <p:cNvPr id="11" name="!!Flow Synthesis 11">
            <a:extLst>
              <a:ext uri="{FF2B5EF4-FFF2-40B4-BE49-F238E27FC236}">
                <a16:creationId xmlns:a16="http://schemas.microsoft.com/office/drawing/2014/main" id="{ACA36901-9FAB-4D2E-0B1E-A8B9FF827A73}"/>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Robust Controller Synthesis</a:t>
            </a:r>
            <a:endParaRPr sz="2000" dirty="0"/>
          </a:p>
        </p:txBody>
      </p:sp>
      <p:sp>
        <p:nvSpPr>
          <p:cNvPr id="13" name="!!Flow Synthesis 13">
            <a:extLst>
              <a:ext uri="{FF2B5EF4-FFF2-40B4-BE49-F238E27FC236}">
                <a16:creationId xmlns:a16="http://schemas.microsoft.com/office/drawing/2014/main" id="{A50C9CA7-26DB-BC1F-AFFB-01B2B253AC96}"/>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Equivalent Dissipation</a:t>
            </a:r>
            <a:endParaRPr sz="1800" dirty="0"/>
          </a:p>
        </p:txBody>
      </p:sp>
      <mc:AlternateContent xmlns:mc="http://schemas.openxmlformats.org/markup-compatibility/2006" xmlns:a14="http://schemas.microsoft.com/office/drawing/2010/main">
        <mc:Choice Requires="a14">
          <p:sp>
            <p:nvSpPr>
              <p:cNvPr id="15" name="!!Flow Synthesis 15">
                <a:extLst>
                  <a:ext uri="{FF2B5EF4-FFF2-40B4-BE49-F238E27FC236}">
                    <a16:creationId xmlns:a16="http://schemas.microsoft.com/office/drawing/2014/main" id="{6C6F5EF8-4780-EA7D-B8B0-E761562F6759}"/>
                  </a:ext>
                </a:extLst>
              </p:cNvPr>
              <p:cNvSpPr/>
              <p:nvPr/>
            </p:nvSpPr>
            <p:spPr>
              <a:xfrm>
                <a:off x="5796198" y="4572000"/>
                <a:ext cx="3175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
                      <m:nary>
                        <m:naryPr>
                          <m:limLoc m:val="subSup"/>
                          <m:ctrlPr>
                            <a:rPr lang="en-US" sz="1600" b="0" i="1" u="none" baseline="0" dirty="0" smtClean="0">
                              <a:solidFill>
                                <a:srgbClr val="633434"/>
                              </a:solidFill>
                              <a:latin typeface="Cambria Math" panose="02040503050406030204" pitchFamily="18" charset="0"/>
                            </a:rPr>
                          </m:ctrlPr>
                        </m:naryPr>
                        <m:sub>
                          <m:r>
                            <a:rPr lang="en-US" sz="1600" b="0" i="1" u="none" baseline="0" dirty="0" smtClean="0">
                              <a:solidFill>
                                <a:srgbClr val="633434"/>
                              </a:solidFill>
                              <a:latin typeface="Cambria Math" panose="02040503050406030204" pitchFamily="18" charset="0"/>
                            </a:rPr>
                            <m:t>0</m:t>
                          </m:r>
                        </m:sub>
                        <m:sup>
                          <m:r>
                            <a:rPr lang="en-US" sz="1600" b="0" i="1"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bar>
                                    <m:barPr>
                                      <m:pos m:val="bot"/>
                                      <m:ctrlPr>
                                        <a:rPr lang="en-US" sz="1600" b="0" i="1" u="none" baseline="0" dirty="0" smtClean="0">
                                          <a:solidFill>
                                            <a:srgbClr val="633434"/>
                                          </a:solidFill>
                                          <a:latin typeface="Cambria Math" panose="02040503050406030204" pitchFamily="18" charset="0"/>
                                        </a:rPr>
                                      </m:ctrlPr>
                                    </m:barPr>
                                    <m:e>
                                      <m:acc>
                                        <m:accPr>
                                          <m:chr m:val="˜"/>
                                          <m:ctrlPr>
                                            <a:rPr lang="en-US" sz="1600" b="0" i="1" u="none" baseline="0" dirty="0" smtClean="0">
                                              <a:solidFill>
                                                <a:srgbClr val="633434"/>
                                              </a:solidFill>
                                              <a:latin typeface="Cambria Math" panose="02040503050406030204" pitchFamily="18" charset="0"/>
                                            </a:rPr>
                                          </m:ctrlPr>
                                        </m:accPr>
                                        <m:e>
                                          <m:r>
                                            <a:rPr lang="en-US" sz="1600" b="0" i="1" u="none" baseline="0" dirty="0" smtClean="0">
                                              <a:solidFill>
                                                <a:srgbClr val="633434"/>
                                              </a:solidFill>
                                              <a:latin typeface="Cambria Math" panose="02040503050406030204" pitchFamily="18" charset="0"/>
                                            </a:rPr>
                                            <m:t>𝑤</m:t>
                                          </m:r>
                                        </m:e>
                                      </m:acc>
                                    </m:e>
                                  </m:bar>
                                  <m:d>
                                    <m:dPr>
                                      <m:ctrlPr>
                                        <a:rPr lang="en-US" sz="1600" b="0" i="1" u="none" baseline="0" dirty="0" smtClean="0">
                                          <a:solidFill>
                                            <a:srgbClr val="633434"/>
                                          </a:solidFill>
                                          <a:latin typeface="Cambria Math" panose="02040503050406030204" pitchFamily="18" charset="0"/>
                                        </a:rPr>
                                      </m:ctrlPr>
                                    </m:dPr>
                                    <m:e>
                                      <m:r>
                                        <a:rPr lang="en-US" sz="1600" b="0" i="1" u="none" baseline="0" dirty="0" smtClean="0">
                                          <a:solidFill>
                                            <a:srgbClr val="633434"/>
                                          </a:solidFill>
                                          <a:latin typeface="Cambria Math" panose="02040503050406030204" pitchFamily="18" charset="0"/>
                                        </a:rPr>
                                        <m:t>𝑡</m:t>
                                      </m:r>
                                    </m:e>
                                  </m:d>
                                </m:e>
                              </m:d>
                            </m:e>
                            <m:sup>
                              <m:r>
                                <a:rPr lang="en-US" sz="1600" b="0" i="1" u="none" baseline="0" dirty="0" smtClean="0">
                                  <a:solidFill>
                                    <a:srgbClr val="633434"/>
                                  </a:solidFill>
                                  <a:latin typeface="Cambria Math" panose="02040503050406030204" pitchFamily="18" charset="0"/>
                                </a:rPr>
                                <m:t>2</m:t>
                              </m:r>
                            </m:sup>
                          </m:sSup>
                        </m:e>
                      </m:nary>
                      <m:r>
                        <a:rPr lang="en-US" sz="1600" b="0" i="1" u="none" baseline="0" dirty="0" smtClean="0">
                          <a:solidFill>
                            <a:srgbClr val="633434"/>
                          </a:solidFill>
                          <a:latin typeface="Cambria Math" panose="02040503050406030204" pitchFamily="18" charset="0"/>
                        </a:rPr>
                        <m:t>𝑑𝑡</m:t>
                      </m:r>
                      <m:r>
                        <a:rPr lang="en-US" sz="1600" b="0" i="1" u="none" baseline="0" dirty="0" smtClean="0">
                          <a:solidFill>
                            <a:srgbClr val="633434"/>
                          </a:solidFill>
                          <a:latin typeface="Cambria Math" panose="02040503050406030204" pitchFamily="18" charset="0"/>
                        </a:rPr>
                        <m:t>≤</m:t>
                      </m:r>
                      <m:nary>
                        <m:naryPr>
                          <m:limLoc m:val="subSup"/>
                          <m:ctrlPr>
                            <a:rPr lang="en-US" sz="1600" b="0" i="1" u="none" baseline="0" dirty="0" smtClean="0">
                              <a:solidFill>
                                <a:srgbClr val="633434"/>
                              </a:solidFill>
                              <a:latin typeface="Cambria Math" panose="02040503050406030204" pitchFamily="18" charset="0"/>
                            </a:rPr>
                          </m:ctrlPr>
                        </m:naryPr>
                        <m:sub>
                          <m:r>
                            <a:rPr lang="en-US" sz="1600" b="0" i="1" u="none" baseline="0" dirty="0" smtClean="0">
                              <a:solidFill>
                                <a:srgbClr val="633434"/>
                              </a:solidFill>
                              <a:latin typeface="Cambria Math" panose="02040503050406030204" pitchFamily="18" charset="0"/>
                            </a:rPr>
                            <m:t>0</m:t>
                          </m:r>
                        </m:sub>
                        <m:sup>
                          <m:r>
                            <a:rPr lang="en-US" sz="1600" b="0" i="1"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bar>
                                    <m:barPr>
                                      <m:pos m:val="bot"/>
                                      <m:ctrlPr>
                                        <a:rPr lang="en-US" sz="1600" b="0" i="1" u="none" baseline="0" dirty="0" smtClean="0">
                                          <a:solidFill>
                                            <a:srgbClr val="633434"/>
                                          </a:solidFill>
                                          <a:latin typeface="Cambria Math" panose="02040503050406030204" pitchFamily="18" charset="0"/>
                                        </a:rPr>
                                      </m:ctrlPr>
                                    </m:barPr>
                                    <m:e>
                                      <m:acc>
                                        <m:accPr>
                                          <m:chr m:val="˜"/>
                                          <m:ctrlPr>
                                            <a:rPr lang="en-US" sz="1600" b="0" i="1" u="none" baseline="0" dirty="0" smtClean="0">
                                              <a:solidFill>
                                                <a:srgbClr val="633434"/>
                                              </a:solidFill>
                                              <a:latin typeface="Cambria Math" panose="02040503050406030204" pitchFamily="18" charset="0"/>
                                            </a:rPr>
                                          </m:ctrlPr>
                                        </m:accPr>
                                        <m:e>
                                          <m:r>
                                            <a:rPr lang="en-US" sz="1600" b="0" i="1" u="none" baseline="0" dirty="0" smtClean="0">
                                              <a:solidFill>
                                                <a:srgbClr val="633434"/>
                                              </a:solidFill>
                                              <a:latin typeface="Cambria Math" panose="02040503050406030204" pitchFamily="18" charset="0"/>
                                            </a:rPr>
                                            <m:t>𝑧</m:t>
                                          </m:r>
                                        </m:e>
                                      </m:acc>
                                    </m:e>
                                  </m:bar>
                                  <m:d>
                                    <m:dPr>
                                      <m:ctrlPr>
                                        <a:rPr lang="en-US" sz="1600" b="0" i="1" u="none" baseline="0" dirty="0" smtClean="0">
                                          <a:solidFill>
                                            <a:srgbClr val="633434"/>
                                          </a:solidFill>
                                          <a:latin typeface="Cambria Math" panose="02040503050406030204" pitchFamily="18" charset="0"/>
                                        </a:rPr>
                                      </m:ctrlPr>
                                    </m:dPr>
                                    <m:e>
                                      <m:r>
                                        <a:rPr lang="en-US" sz="1600" b="0" i="1" u="none" baseline="0" dirty="0" smtClean="0">
                                          <a:solidFill>
                                            <a:srgbClr val="633434"/>
                                          </a:solidFill>
                                          <a:latin typeface="Cambria Math" panose="02040503050406030204" pitchFamily="18" charset="0"/>
                                        </a:rPr>
                                        <m:t>𝑡</m:t>
                                      </m:r>
                                    </m:e>
                                  </m:d>
                                </m:e>
                              </m:d>
                            </m:e>
                            <m:sup>
                              <m:r>
                                <a:rPr lang="en-US" sz="1600" b="0" i="1" u="none" baseline="0" dirty="0" smtClean="0">
                                  <a:solidFill>
                                    <a:srgbClr val="633434"/>
                                  </a:solidFill>
                                  <a:latin typeface="Cambria Math" panose="02040503050406030204" pitchFamily="18" charset="0"/>
                                </a:rPr>
                                <m:t>2</m:t>
                              </m:r>
                            </m:sup>
                          </m:sSup>
                        </m:e>
                      </m:nary>
                      <m:r>
                        <a:rPr lang="en-US" sz="1600" b="0" i="1" u="none" baseline="0" dirty="0" smtClean="0">
                          <a:solidFill>
                            <a:srgbClr val="633434"/>
                          </a:solidFill>
                          <a:latin typeface="Cambria Math" panose="02040503050406030204" pitchFamily="18" charset="0"/>
                        </a:rPr>
                        <m:t>𝑑𝑡</m:t>
                      </m:r>
                      <m:r>
                        <a:rPr lang="en-US" sz="1600" b="0" i="1" u="none" baseline="0" dirty="0" smtClean="0">
                          <a:solidFill>
                            <a:srgbClr val="633434"/>
                          </a:solidFill>
                          <a:latin typeface="Cambria Math" panose="02040503050406030204" pitchFamily="18" charset="0"/>
                        </a:rPr>
                        <m:t> ∀ </m:t>
                      </m:r>
                      <m:r>
                        <a:rPr lang="en-US" sz="1600" b="0" i="1" u="none" baseline="0" dirty="0" smtClean="0">
                          <a:solidFill>
                            <a:srgbClr val="633434"/>
                          </a:solidFill>
                          <a:latin typeface="Cambria Math" panose="02040503050406030204" pitchFamily="18" charset="0"/>
                        </a:rPr>
                        <m:t>𝑇</m:t>
                      </m:r>
                      <m:r>
                        <a:rPr lang="en-US" sz="1600" b="0" i="1" u="none" baseline="0" dirty="0" smtClean="0">
                          <a:solidFill>
                            <a:srgbClr val="633434"/>
                          </a:solidFill>
                          <a:latin typeface="Cambria Math" panose="02040503050406030204" pitchFamily="18" charset="0"/>
                        </a:rPr>
                        <m:t>&gt;0</m:t>
                      </m:r>
                    </m:oMath>
                  </m:oMathPara>
                </a14:m>
                <a:endParaRPr sz="1600" dirty="0">
                  <a:solidFill>
                    <a:srgbClr val="633434"/>
                  </a:solidFill>
                  <a:latin typeface="Aptos"/>
                  <a:ea typeface="Aptos"/>
                  <a:cs typeface="Aptos"/>
                </a:endParaRPr>
              </a:p>
            </p:txBody>
          </p:sp>
        </mc:Choice>
        <mc:Fallback xmlns="">
          <p:sp>
            <p:nvSpPr>
              <p:cNvPr id="15" name="!!Flow Synthesis 15">
                <a:extLst>
                  <a:ext uri="{FF2B5EF4-FFF2-40B4-BE49-F238E27FC236}">
                    <a16:creationId xmlns:a16="http://schemas.microsoft.com/office/drawing/2014/main" id="{6C6F5EF8-4780-EA7D-B8B0-E761562F6759}"/>
                  </a:ext>
                </a:extLst>
              </p:cNvPr>
              <p:cNvSpPr>
                <a:spLocks noRot="1" noChangeAspect="1" noMove="1" noResize="1" noEditPoints="1" noAdjustHandles="1" noChangeArrowheads="1" noChangeShapeType="1" noTextEdit="1"/>
              </p:cNvSpPr>
              <p:nvPr/>
            </p:nvSpPr>
            <p:spPr>
              <a:xfrm>
                <a:off x="5796198" y="4572000"/>
                <a:ext cx="3175000" cy="304800"/>
              </a:xfrm>
              <a:prstGeom prst="rect">
                <a:avLst/>
              </a:prstGeom>
              <a:blipFill>
                <a:blip r:embed="rId7"/>
                <a:stretch>
                  <a:fillRect l="-3071" t="-30000" r="-1536" b="-42000"/>
                </a:stretch>
              </a:blipFill>
              <a:ln>
                <a:noFill/>
              </a:ln>
            </p:spPr>
            <p:txBody>
              <a:bodyPr/>
              <a:lstStyle/>
              <a:p>
                <a:r>
                  <a:rPr lang="en-NL">
                    <a:noFill/>
                  </a:rPr>
                  <a:t> </a:t>
                </a:r>
              </a:p>
            </p:txBody>
          </p:sp>
        </mc:Fallback>
      </mc:AlternateContent>
      <p:sp>
        <p:nvSpPr>
          <p:cNvPr id="17" name="Slide Number Placeholder 5">
            <a:extLst>
              <a:ext uri="{FF2B5EF4-FFF2-40B4-BE49-F238E27FC236}">
                <a16:creationId xmlns:a16="http://schemas.microsoft.com/office/drawing/2014/main" id="{87B3746C-C9D4-F5C0-0A10-82DF4EFDB369}"/>
              </a:ext>
            </a:extLst>
          </p:cNvPr>
          <p:cNvSpPr txBox="1">
            <a:spLocks/>
          </p:cNvSpPr>
          <p:nvPr/>
        </p:nvSpPr>
        <p:spPr>
          <a:xfrm>
            <a:off x="7874000" y="4876800"/>
            <a:ext cx="355600" cy="152400"/>
          </a:xfrm>
          <a:prstGeom prst="rect">
            <a:avLst/>
          </a:prstGeom>
          <a:noFill/>
          <a:ln>
            <a:noFill/>
          </a:ln>
        </p:spPr>
        <p:txBody>
          <a:bodyPr wrap="square" lIns="0" tIns="0" rIns="0" bIns="0" anchor="t">
            <a:noAutofit/>
          </a:bodyPr>
          <a:lstStyle>
            <a:defPPr>
              <a:defRPr lang="nl-NL"/>
            </a:defPPr>
            <a:lvl1pPr marL="0" indent="0" algn="r"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r"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r"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r"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r"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r"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r"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r"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r"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fld id="{02D62CF7-B451-42A0-BFB3-67C7E3FB3001}" type="slidenum">
              <a:rPr lang="en-GB" sz="800" smtClean="0"/>
              <a:pPr>
                <a:defRPr sz="800" b="0">
                  <a:solidFill>
                    <a:srgbClr val="747B82"/>
                  </a:solidFill>
                  <a:latin typeface="Aptos"/>
                  <a:ea typeface="Aptos"/>
                  <a:cs typeface="Aptos"/>
                </a:defRPr>
              </a:pPr>
              <a:t>46</a:t>
            </a:fld>
            <a:endParaRPr lang="en-GB" sz="800"/>
          </a:p>
        </p:txBody>
      </p:sp>
      <p:pic>
        <p:nvPicPr>
          <p:cNvPr id="19" name="!!Flow Synthesis 19">
            <a:extLst>
              <a:ext uri="{FF2B5EF4-FFF2-40B4-BE49-F238E27FC236}">
                <a16:creationId xmlns:a16="http://schemas.microsoft.com/office/drawing/2014/main" id="{3A19A885-5692-940B-24EF-16865348230B}"/>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p:blipFill>
        <p:spPr>
          <a:xfrm>
            <a:off x="5923898" y="1777808"/>
            <a:ext cx="2919599" cy="1784478"/>
          </a:xfrm>
          <a:prstGeom prst="rect">
            <a:avLst/>
          </a:prstGeom>
        </p:spPr>
      </p:pic>
      <p:sp>
        <p:nvSpPr>
          <p:cNvPr id="30166" name="!!Flow PIE 20002">
            <a:extLst>
              <a:ext uri="{FF2B5EF4-FFF2-40B4-BE49-F238E27FC236}">
                <a16:creationId xmlns:a16="http://schemas.microsoft.com/office/drawing/2014/main" id="{D44E39C9-13C2-3452-0EF8-1ED6ECFF230C}"/>
              </a:ext>
            </a:extLst>
          </p:cNvPr>
          <p:cNvSpPr/>
          <p:nvPr/>
        </p:nvSpPr>
        <p:spPr>
          <a:xfrm>
            <a:off x="-5540188" y="0"/>
            <a:ext cx="3606800" cy="5143500"/>
          </a:xfrm>
          <a:prstGeom prst="rect">
            <a:avLst/>
          </a:prstGeom>
          <a:solidFill>
            <a:srgbClr val="C81919">
              <a:alpha val="50196"/>
            </a:srgbClr>
          </a:solidFill>
          <a:ln>
            <a:noFill/>
          </a:ln>
        </p:spPr>
        <p:txBody>
          <a:bodyPr/>
          <a:lstStyle/>
          <a:p>
            <a:endParaRPr lang="en-NL"/>
          </a:p>
        </p:txBody>
      </p:sp>
      <p:sp>
        <p:nvSpPr>
          <p:cNvPr id="30167" name="!!Flow PIE 20005">
            <a:extLst>
              <a:ext uri="{FF2B5EF4-FFF2-40B4-BE49-F238E27FC236}">
                <a16:creationId xmlns:a16="http://schemas.microsoft.com/office/drawing/2014/main" id="{28E4D847-C090-BBB8-693C-BEA916C14EE0}"/>
              </a:ext>
            </a:extLst>
          </p:cNvPr>
          <p:cNvSpPr/>
          <p:nvPr/>
        </p:nvSpPr>
        <p:spPr>
          <a:xfrm>
            <a:off x="-5370090"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30168" name="!!Flow PIE 20007">
            <a:extLst>
              <a:ext uri="{FF2B5EF4-FFF2-40B4-BE49-F238E27FC236}">
                <a16:creationId xmlns:a16="http://schemas.microsoft.com/office/drawing/2014/main" id="{31C25975-554D-879D-2CAC-1B9D512E76A6}"/>
              </a:ext>
            </a:extLst>
          </p:cNvPr>
          <p:cNvSpPr/>
          <p:nvPr/>
        </p:nvSpPr>
        <p:spPr>
          <a:xfrm>
            <a:off x="-5370090"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30169" name="!!Flow PIE 20012">
            <a:extLst>
              <a:ext uri="{FF2B5EF4-FFF2-40B4-BE49-F238E27FC236}">
                <a16:creationId xmlns:a16="http://schemas.microsoft.com/office/drawing/2014/main" id="{0AD71456-660D-7315-EF48-E1E193DFA476}"/>
              </a:ext>
            </a:extLst>
          </p:cNvPr>
          <p:cNvSpPr/>
          <p:nvPr/>
        </p:nvSpPr>
        <p:spPr>
          <a:xfrm>
            <a:off x="-5387788"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30170" name="!!Flow PIE 20013">
                <a:extLst>
                  <a:ext uri="{FF2B5EF4-FFF2-40B4-BE49-F238E27FC236}">
                    <a16:creationId xmlns:a16="http://schemas.microsoft.com/office/drawing/2014/main" id="{4B8B0394-3ECA-22AB-56A2-F02B81623325}"/>
                  </a:ext>
                </a:extLst>
              </p:cNvPr>
              <p:cNvSpPr/>
              <p:nvPr/>
            </p:nvSpPr>
            <p:spPr>
              <a:xfrm>
                <a:off x="-5324288"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30170" name="!!Flow PIE 20013">
                <a:extLst>
                  <a:ext uri="{FF2B5EF4-FFF2-40B4-BE49-F238E27FC236}">
                    <a16:creationId xmlns:a16="http://schemas.microsoft.com/office/drawing/2014/main" id="{4B8B0394-3ECA-22AB-56A2-F02B81623325}"/>
                  </a:ext>
                </a:extLst>
              </p:cNvPr>
              <p:cNvSpPr>
                <a:spLocks noRot="1" noChangeAspect="1" noMove="1" noResize="1" noEditPoints="1" noAdjustHandles="1" noChangeArrowheads="1" noChangeShapeType="1" noTextEdit="1"/>
              </p:cNvSpPr>
              <p:nvPr/>
            </p:nvSpPr>
            <p:spPr>
              <a:xfrm>
                <a:off x="-5324288" y="4457700"/>
                <a:ext cx="3175000" cy="304800"/>
              </a:xfrm>
              <a:prstGeom prst="rect">
                <a:avLst/>
              </a:prstGeom>
              <a:blipFill>
                <a:blip r:embed="rIdSlideFlow108"/>
                <a:stretch>
                  <a:fillRect t="-10000" b="-32000"/>
                </a:stretch>
              </a:blipFill>
              <a:ln>
                <a:noFill/>
              </a:ln>
            </p:spPr>
            <p:txBody>
              <a:bodyPr/>
              <a:lstStyle/>
              <a:p>
                <a:r>
                  <a:rPr lang="en-NL">
                    <a:noFill/>
                  </a:rPr>
                  <a:t> </a:t>
                </a:r>
              </a:p>
            </p:txBody>
          </p:sp>
        </mc:Fallback>
      </mc:AlternateContent>
      <p:grpSp>
        <p:nvGrpSpPr>
          <p:cNvPr id="30171" name="!!Flow PIE 30019">
            <a:extLst>
              <a:ext uri="{FF2B5EF4-FFF2-40B4-BE49-F238E27FC236}">
                <a16:creationId xmlns:a16="http://schemas.microsoft.com/office/drawing/2014/main" id="{66CCDDB3-9732-9221-B6B5-130A7D91B7C5}"/>
              </a:ext>
            </a:extLst>
          </p:cNvPr>
          <p:cNvGrpSpPr/>
          <p:nvPr/>
        </p:nvGrpSpPr>
        <p:grpSpPr>
          <a:xfrm>
            <a:off x="-5146488" y="1574800"/>
            <a:ext cx="2921000" cy="2239010"/>
            <a:chOff x="1995932" y="1819148"/>
            <a:chExt cx="3138932" cy="2405888"/>
          </a:xfrm>
        </p:grpSpPr>
        <p:sp>
          <p:nvSpPr>
            <p:cNvPr id="30172" name="Plant to uncertainty">
              <a:extLst>
                <a:ext uri="{FF2B5EF4-FFF2-40B4-BE49-F238E27FC236}">
                  <a16:creationId xmlns:a16="http://schemas.microsoft.com/office/drawing/2014/main" id="{9970FE05-EEED-4E73-5F73-DA9D59B8AE1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173" name="Uncertainty to plant">
              <a:extLst>
                <a:ext uri="{FF2B5EF4-FFF2-40B4-BE49-F238E27FC236}">
                  <a16:creationId xmlns:a16="http://schemas.microsoft.com/office/drawing/2014/main" id="{936326B6-0A9C-2E1E-DB15-172E5D823A60}"/>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174" name="Controller plant channel">
              <a:extLst>
                <a:ext uri="{FF2B5EF4-FFF2-40B4-BE49-F238E27FC236}">
                  <a16:creationId xmlns:a16="http://schemas.microsoft.com/office/drawing/2014/main" id="{14AC970C-B701-8C32-F489-4C50F4704F5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175" name="Plant controller channel">
              <a:extLst>
                <a:ext uri="{FF2B5EF4-FFF2-40B4-BE49-F238E27FC236}">
                  <a16:creationId xmlns:a16="http://schemas.microsoft.com/office/drawing/2014/main" id="{05AA6917-15B5-FEB1-62A0-F89167064383}"/>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176" name="Controller">
              <a:extLst>
                <a:ext uri="{FF2B5EF4-FFF2-40B4-BE49-F238E27FC236}">
                  <a16:creationId xmlns:a16="http://schemas.microsoft.com/office/drawing/2014/main" id="{D68FCD6D-A458-6F0C-883E-E04094868149}"/>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177" name="Controller label">
                  <a:extLst>
                    <a:ext uri="{FF2B5EF4-FFF2-40B4-BE49-F238E27FC236}">
                      <a16:creationId xmlns:a16="http://schemas.microsoft.com/office/drawing/2014/main" id="{5EDD2408-CBDD-9951-FE27-C7F60D618677}"/>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17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SlideFlow10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179" name="Controller external channel">
                  <a:extLst>
                    <a:ext uri="{FF2B5EF4-FFF2-40B4-BE49-F238E27FC236}">
                      <a16:creationId xmlns:a16="http://schemas.microsoft.com/office/drawing/2014/main" id="{4B36FC3D-BF86-A3E9-29E6-8D07BE9D960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179"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SlideFlow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180" name="Plant measured channel">
                  <a:extLst>
                    <a:ext uri="{FF2B5EF4-FFF2-40B4-BE49-F238E27FC236}">
                      <a16:creationId xmlns:a16="http://schemas.microsoft.com/office/drawing/2014/main" id="{A968A37F-F1C6-F7C2-BE38-788DA055731F}"/>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180"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SlideFlow111"/>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181" name="Uncertainty output channel">
                  <a:extLst>
                    <a:ext uri="{FF2B5EF4-FFF2-40B4-BE49-F238E27FC236}">
                      <a16:creationId xmlns:a16="http://schemas.microsoft.com/office/drawing/2014/main" id="{89F355AA-EBC9-73F2-F7F0-1AF4572B3088}"/>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181"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lideFlow1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182" name="Uncertainty input channel">
                  <a:extLst>
                    <a:ext uri="{FF2B5EF4-FFF2-40B4-BE49-F238E27FC236}">
                      <a16:creationId xmlns:a16="http://schemas.microsoft.com/office/drawing/2014/main" id="{85976CE7-46A8-4EEC-DDB0-543CD220833E}"/>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182"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lideFlow113"/>
                  <a:stretch>
                    <a:fillRect/>
                  </a:stretch>
                </a:blipFill>
                <a:ln>
                  <a:noFill/>
                </a:ln>
              </p:spPr>
              <p:txBody>
                <a:bodyPr/>
                <a:lstStyle/>
                <a:p>
                  <a:r>
                    <a:rPr lang="en-NL">
                      <a:noFill/>
                    </a:rPr>
                    <a:t> </a:t>
                  </a:r>
                </a:p>
              </p:txBody>
            </p:sp>
          </mc:Fallback>
        </mc:AlternateContent>
        <p:sp>
          <p:nvSpPr>
            <p:cNvPr id="30183" name="Uncertainty">
              <a:extLst>
                <a:ext uri="{FF2B5EF4-FFF2-40B4-BE49-F238E27FC236}">
                  <a16:creationId xmlns:a16="http://schemas.microsoft.com/office/drawing/2014/main" id="{DCB8EF8C-4DD6-39F0-99C0-22A153461E2A}"/>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184" name="Uncertainty label">
                  <a:extLst>
                    <a:ext uri="{FF2B5EF4-FFF2-40B4-BE49-F238E27FC236}">
                      <a16:creationId xmlns:a16="http://schemas.microsoft.com/office/drawing/2014/main" id="{05EEDB90-173E-1DBD-7E74-54D3DCE83F2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18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lideFlow114"/>
                  <a:stretch>
                    <a:fillRect/>
                  </a:stretch>
                </a:blipFill>
                <a:ln>
                  <a:noFill/>
                </a:ln>
              </p:spPr>
              <p:txBody>
                <a:bodyPr/>
                <a:lstStyle/>
                <a:p>
                  <a:r>
                    <a:rPr lang="en-NL">
                      <a:noFill/>
                    </a:rPr>
                    <a:t> </a:t>
                  </a:r>
                </a:p>
              </p:txBody>
            </p:sp>
          </mc:Fallback>
        </mc:AlternateContent>
      </p:grpSp>
      <p:grpSp>
        <p:nvGrpSpPr>
          <p:cNvPr id="30186" name="!!Flow PIE 30034">
            <a:extLst>
              <a:ext uri="{FF2B5EF4-FFF2-40B4-BE49-F238E27FC236}">
                <a16:creationId xmlns:a16="http://schemas.microsoft.com/office/drawing/2014/main" id="{682EB208-F1CA-0DF6-2AB4-D125ACCD29FB}"/>
              </a:ext>
            </a:extLst>
          </p:cNvPr>
          <p:cNvGrpSpPr/>
          <p:nvPr/>
        </p:nvGrpSpPr>
        <p:grpSpPr>
          <a:xfrm>
            <a:off x="-4132009" y="2222014"/>
            <a:ext cx="874551" cy="874613"/>
            <a:chOff x="3086100" y="2514599"/>
            <a:chExt cx="939800" cy="939800"/>
          </a:xfrm>
        </p:grpSpPr>
        <p:sp>
          <p:nvSpPr>
            <p:cNvPr id="30187" name="Plant">
              <a:extLst>
                <a:ext uri="{FF2B5EF4-FFF2-40B4-BE49-F238E27FC236}">
                  <a16:creationId xmlns:a16="http://schemas.microsoft.com/office/drawing/2014/main" id="{6B147216-A0F4-826A-7D5A-6052CB4536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188" name="Plant label">
                  <a:extLst>
                    <a:ext uri="{FF2B5EF4-FFF2-40B4-BE49-F238E27FC236}">
                      <a16:creationId xmlns:a16="http://schemas.microsoft.com/office/drawing/2014/main" id="{AA4CA1FA-8D59-E705-920C-8E694852137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188"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lideFlow115"/>
                  <a:stretch>
                    <a:fillRect/>
                  </a:stretch>
                </a:blipFill>
                <a:ln>
                  <a:noFill/>
                </a:ln>
              </p:spPr>
              <p:txBody>
                <a:bodyPr/>
                <a:lstStyle/>
                <a:p>
                  <a:r>
                    <a:rPr lang="en-NL">
                      <a:noFill/>
                    </a:rPr>
                    <a:t> </a:t>
                  </a:r>
                </a:p>
              </p:txBody>
            </p:sp>
          </mc:Fallback>
        </mc:AlternateContent>
      </p:grpSp>
      <p:sp>
        <p:nvSpPr>
          <p:cNvPr id="30189" name="!!Sliding center 45 32">
            <a:extLst>
              <a:ext uri="{FF2B5EF4-FFF2-40B4-BE49-F238E27FC236}">
                <a16:creationId xmlns:a16="http://schemas.microsoft.com/office/drawing/2014/main" id="{CA62F6D7-172B-0E0F-BED9-264185957CD0}"/>
              </a:ext>
            </a:extLst>
          </p:cNvPr>
          <p:cNvSpPr/>
          <p:nvPr/>
        </p:nvSpPr>
        <p:spPr>
          <a:xfrm>
            <a:off x="-16764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0190" name="!!Sliding center 45 34">
                <a:extLst>
                  <a:ext uri="{FF2B5EF4-FFF2-40B4-BE49-F238E27FC236}">
                    <a16:creationId xmlns:a16="http://schemas.microsoft.com/office/drawing/2014/main" id="{7B5329C6-C010-A83E-B34A-5E38BF3A766C}"/>
                  </a:ext>
                </a:extLst>
              </p:cNvPr>
              <p:cNvSpPr/>
              <p:nvPr/>
            </p:nvSpPr>
            <p:spPr>
              <a:xfrm>
                <a:off x="-18542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Analyse </a:t>
                </a:r>
                <a14:m>
                  <m:oMath xmlns:m="http://schemas.openxmlformats.org/officeDocument/2006/math">
                    <m:r>
                      <m:rPr>
                        <m:sty m:val="p"/>
                      </m:rPr>
                      <a:rPr lang="el-GR" sz="1400" b="0" i="1" u="none" baseline="0" smtClean="0">
                        <a:latin typeface="Cambria Math" panose="02040503050406030204" pitchFamily="18" charset="0"/>
                        <a:ea typeface="Cambria Math" panose="02040503050406030204" pitchFamily="18" charset="0"/>
                        <a:cs typeface="Aptos"/>
                      </a:rPr>
                      <m:t>Δ</m:t>
                    </m:r>
                  </m:oMath>
                </a14:m>
                <a:endParaRPr sz="1400" dirty="0"/>
              </a:p>
            </p:txBody>
          </p:sp>
        </mc:Choice>
        <mc:Fallback xmlns="">
          <p:sp>
            <p:nvSpPr>
              <p:cNvPr id="30190" name="!!Sliding center 45 34">
                <a:extLst>
                  <a:ext uri="{FF2B5EF4-FFF2-40B4-BE49-F238E27FC236}">
                    <a16:creationId xmlns:a16="http://schemas.microsoft.com/office/drawing/2014/main" id="{7B5329C6-C010-A83E-B34A-5E38BF3A766C}"/>
                  </a:ext>
                </a:extLst>
              </p:cNvPr>
              <p:cNvSpPr>
                <a:spLocks noRot="1" noChangeAspect="1" noMove="1" noResize="1" noEditPoints="1" noAdjustHandles="1" noChangeArrowheads="1" noChangeShapeType="1" noTextEdit="1"/>
              </p:cNvSpPr>
              <p:nvPr/>
            </p:nvSpPr>
            <p:spPr>
              <a:xfrm>
                <a:off x="-1854200" y="1949450"/>
                <a:ext cx="1778000" cy="266700"/>
              </a:xfrm>
              <a:prstGeom prst="rect">
                <a:avLst/>
              </a:prstGeom>
              <a:blipFill>
                <a:blip r:embed="rIdSlideFlow116"/>
                <a:stretch>
                  <a:fillRect t="-11364" b="-29545"/>
                </a:stretch>
              </a:blipFill>
              <a:ln>
                <a:noFill/>
              </a:ln>
            </p:spPr>
            <p:txBody>
              <a:bodyPr/>
              <a:lstStyle/>
              <a:p>
                <a:r>
                  <a:rPr lang="en-NL">
                    <a:noFill/>
                  </a:rPr>
                  <a:t> </a:t>
                </a:r>
              </a:p>
            </p:txBody>
          </p:sp>
        </mc:Fallback>
      </mc:AlternateContent>
      <p:sp>
        <p:nvSpPr>
          <p:cNvPr id="30191" name="!!Sliding center 45 36">
            <a:extLst>
              <a:ext uri="{FF2B5EF4-FFF2-40B4-BE49-F238E27FC236}">
                <a16:creationId xmlns:a16="http://schemas.microsoft.com/office/drawing/2014/main" id="{248A13C0-1320-6291-E95D-9A1A43F38431}"/>
              </a:ext>
            </a:extLst>
          </p:cNvPr>
          <p:cNvSpPr/>
          <p:nvPr/>
        </p:nvSpPr>
        <p:spPr>
          <a:xfrm>
            <a:off x="-16764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30192" name="!!Sliding center 45 38">
            <a:extLst>
              <a:ext uri="{FF2B5EF4-FFF2-40B4-BE49-F238E27FC236}">
                <a16:creationId xmlns:a16="http://schemas.microsoft.com/office/drawing/2014/main" id="{29E20567-588E-10E4-42F3-8BDFD0744079}"/>
              </a:ext>
            </a:extLst>
          </p:cNvPr>
          <p:cNvSpPr/>
          <p:nvPr/>
        </p:nvSpPr>
        <p:spPr>
          <a:xfrm>
            <a:off x="-18542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30193" name="!!Sliding content 47 9">
            <a:extLst>
              <a:ext uri="{FF2B5EF4-FFF2-40B4-BE49-F238E27FC236}">
                <a16:creationId xmlns:a16="http://schemas.microsoft.com/office/drawing/2014/main" id="{6EED9644-F236-174E-09FF-61DEBA996088}"/>
              </a:ext>
            </a:extLst>
          </p:cNvPr>
          <p:cNvSpPr/>
          <p:nvPr/>
        </p:nvSpPr>
        <p:spPr>
          <a:xfrm>
            <a:off x="9448800" y="374650"/>
            <a:ext cx="4775200" cy="419100"/>
          </a:xfrm>
          <a:prstGeom prst="rect">
            <a:avLst/>
          </a:prstGeom>
          <a:noFill/>
          <a:ln>
            <a:noFill/>
          </a:ln>
        </p:spPr>
        <p:txBody>
          <a:bodyPr wrap="none" lIns="0" tIns="0" rIns="0" bIns="0" anchor="ctr">
            <a:noAutofit/>
          </a:bodyPr>
          <a:lstStyle/>
          <a:p>
            <a:pPr algn="l">
              <a:buNone/>
            </a:pPr>
            <a:r>
              <a:rPr lang="en-GB" sz="2200" b="1" i="0" u="none" baseline="0" dirty="0">
                <a:solidFill>
                  <a:srgbClr val="252529"/>
                </a:solidFill>
                <a:latin typeface="Aptos"/>
                <a:ea typeface="Aptos"/>
                <a:cs typeface="Aptos"/>
              </a:rPr>
              <a:t>Contributions</a:t>
            </a:r>
            <a:endParaRPr sz="2200" dirty="0"/>
          </a:p>
        </p:txBody>
      </p:sp>
      <p:sp>
        <p:nvSpPr>
          <p:cNvPr id="51001" name="!!Contribution line 0"/>
          <p:cNvSpPr/>
          <p:nvPr/>
        </p:nvSpPr>
        <p:spPr>
          <a:xfrm>
            <a:off x="9448800" y="1231900"/>
            <a:ext cx="4775200" cy="381000"/>
          </a:xfrm>
          <a:prstGeom prst="rect">
            <a:avLst/>
          </a:prstGeom>
          <a:noFill/>
          <a:ln>
            <a:noFill/>
          </a:ln>
        </p:spPr>
        <p:txBody>
          <a:bodyPr wrap="none" lIns="0" tIns="0" rIns="0" bIns="0" anchor="ctr">
            <a:noAutofit/>
          </a:bodyPr>
          <a:lstStyle/>
          <a:p>
            <a:pPr algn="l">
              <a:buNone/>
            </a:pPr>
            <a:r>
              <a:rPr lang="en-GB" sz="2000" b="1" i="0" u="none" baseline="0">
                <a:solidFill>
                  <a:srgbClr val="C81919"/>
                </a:solidFill>
                <a:latin typeface="Aptos"/>
                <a:ea typeface="Aptos"/>
                <a:cs typeface="Aptos"/>
              </a:rPr>
              <a:t>1. Dual operation</a:t>
            </a:r>
            <a:endParaRPr sz="2000"/>
          </a:p>
        </p:txBody>
      </p:sp>
      <p:sp>
        <p:nvSpPr>
          <p:cNvPr id="51002" name="!!Contribution line 1"/>
          <p:cNvSpPr/>
          <p:nvPr/>
        </p:nvSpPr>
        <p:spPr>
          <a:xfrm>
            <a:off x="9448800" y="17399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252529"/>
                </a:solidFill>
                <a:latin typeface="Aptos"/>
                <a:ea typeface="Aptos"/>
                <a:cs typeface="Aptos"/>
              </a:rPr>
              <a:t>Construct D(Θ) so the primal and dual</a:t>
            </a:r>
            <a:endParaRPr sz="1600"/>
          </a:p>
        </p:txBody>
      </p:sp>
      <p:sp>
        <p:nvSpPr>
          <p:cNvPr id="51003" name="!!Contribution line 2"/>
          <p:cNvSpPr/>
          <p:nvPr/>
        </p:nvSpPr>
        <p:spPr>
          <a:xfrm>
            <a:off x="9448800" y="20447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252529"/>
                </a:solidFill>
                <a:latin typeface="Aptos"/>
                <a:ea typeface="Aptos"/>
                <a:cs typeface="Aptos"/>
              </a:rPr>
              <a:t>systems satisfy equivalent</a:t>
            </a:r>
            <a:endParaRPr sz="1600"/>
          </a:p>
        </p:txBody>
      </p:sp>
      <p:sp>
        <p:nvSpPr>
          <p:cNvPr id="51004" name="!!Contribution line 3"/>
          <p:cNvSpPr/>
          <p:nvPr/>
        </p:nvSpPr>
        <p:spPr>
          <a:xfrm>
            <a:off x="9448800" y="23495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252529"/>
                </a:solidFill>
                <a:latin typeface="Aptos"/>
                <a:ea typeface="Aptos"/>
                <a:cs typeface="Aptos"/>
              </a:rPr>
              <a:t>dissipativity constraints.</a:t>
            </a:r>
            <a:endParaRPr sz="1600"/>
          </a:p>
        </p:txBody>
      </p:sp>
      <p:sp>
        <p:nvSpPr>
          <p:cNvPr id="51005" name="!!Contribution line 4"/>
          <p:cNvSpPr/>
          <p:nvPr/>
        </p:nvSpPr>
        <p:spPr>
          <a:xfrm>
            <a:off x="9448800" y="3111500"/>
            <a:ext cx="4775200" cy="381000"/>
          </a:xfrm>
          <a:prstGeom prst="rect">
            <a:avLst/>
          </a:prstGeom>
          <a:noFill/>
          <a:ln>
            <a:noFill/>
          </a:ln>
        </p:spPr>
        <p:txBody>
          <a:bodyPr wrap="none" lIns="0" tIns="0" rIns="0" bIns="0" anchor="ctr">
            <a:noAutofit/>
          </a:bodyPr>
          <a:lstStyle/>
          <a:p>
            <a:pPr algn="l">
              <a:buNone/>
            </a:pPr>
            <a:r>
              <a:rPr lang="en-GB" sz="2000" b="1" i="0" u="none" baseline="0">
                <a:solidFill>
                  <a:srgbClr val="C81919"/>
                </a:solidFill>
                <a:latin typeface="Aptos"/>
                <a:ea typeface="Aptos"/>
                <a:cs typeface="Aptos"/>
              </a:rPr>
              <a:t>2. Robust controller synthesis</a:t>
            </a:r>
            <a:endParaRPr sz="2000"/>
          </a:p>
        </p:txBody>
      </p:sp>
      <p:sp>
        <p:nvSpPr>
          <p:cNvPr id="51006" name="!!Contribution line 5"/>
          <p:cNvSpPr/>
          <p:nvPr/>
        </p:nvSpPr>
        <p:spPr>
          <a:xfrm>
            <a:off x="9448800" y="36195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252529"/>
                </a:solidFill>
                <a:latin typeface="Aptos"/>
                <a:ea typeface="Aptos"/>
                <a:cs typeface="Aptos"/>
              </a:rPr>
              <a:t>Apply this equivalence to formulate</a:t>
            </a:r>
            <a:endParaRPr sz="1600"/>
          </a:p>
        </p:txBody>
      </p:sp>
      <p:sp>
        <p:nvSpPr>
          <p:cNvPr id="51007" name="!!Contribution line 6"/>
          <p:cNvSpPr/>
          <p:nvPr/>
        </p:nvSpPr>
        <p:spPr>
          <a:xfrm>
            <a:off x="9448800" y="39243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252529"/>
                </a:solidFill>
                <a:latin typeface="Aptos"/>
                <a:ea typeface="Aptos"/>
                <a:cs typeface="Aptos"/>
              </a:rPr>
              <a:t>robust controller synthesis conditions.</a:t>
            </a:r>
            <a:endParaRPr sz="1600"/>
          </a:p>
        </p:txBody>
      </p:sp>
    </p:spTree>
    <p:extLst>
      <p:ext uri="{BB962C8B-B14F-4D97-AF65-F5344CB8AC3E}">
        <p14:creationId xmlns:p14="http://schemas.microsoft.com/office/powerpoint/2010/main" val="36678595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AD2FF-873E-7136-B8E0-20738BE2D962}"/>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4D5C06E-2B73-C787-17B2-1213D52C8028}"/>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Flow Synthesis 6">
            <a:extLst>
              <a:ext uri="{FF2B5EF4-FFF2-40B4-BE49-F238E27FC236}">
                <a16:creationId xmlns:a16="http://schemas.microsoft.com/office/drawing/2014/main" id="{8BB87A1A-3E4D-B238-CD14-E0F2D35EDD71}"/>
              </a:ext>
            </a:extLst>
          </p:cNvPr>
          <p:cNvSpPr/>
          <p:nvPr/>
        </p:nvSpPr>
        <p:spPr>
          <a:xfrm>
            <a:off x="0" y="0"/>
            <a:ext cx="3606800" cy="5143500"/>
          </a:xfrm>
          <a:prstGeom prst="rect">
            <a:avLst/>
          </a:prstGeom>
          <a:solidFill>
            <a:srgbClr val="C81919">
              <a:alpha val="50196"/>
            </a:srgbClr>
          </a:solidFill>
          <a:ln>
            <a:noFill/>
          </a:ln>
        </p:spPr>
        <p:txBody>
          <a:bodyPr/>
          <a:lstStyle/>
          <a:p>
            <a:endParaRPr lang="en-NL" dirty="0"/>
          </a:p>
        </p:txBody>
      </p:sp>
      <p:sp>
        <p:nvSpPr>
          <p:cNvPr id="11" name="!!Flow Synthesis 11">
            <a:extLst>
              <a:ext uri="{FF2B5EF4-FFF2-40B4-BE49-F238E27FC236}">
                <a16:creationId xmlns:a16="http://schemas.microsoft.com/office/drawing/2014/main" id="{7E5E2DB7-65AC-05AF-E417-A4B673A7D002}"/>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Robust Controller Synthesis</a:t>
            </a:r>
            <a:endParaRPr sz="2000" dirty="0"/>
          </a:p>
        </p:txBody>
      </p:sp>
      <p:sp>
        <p:nvSpPr>
          <p:cNvPr id="13" name="!!Flow Synthesis 13">
            <a:extLst>
              <a:ext uri="{FF2B5EF4-FFF2-40B4-BE49-F238E27FC236}">
                <a16:creationId xmlns:a16="http://schemas.microsoft.com/office/drawing/2014/main" id="{49D100C7-AF9D-D445-BE9C-D5F1DD7ACF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Equivalent Dissipation</a:t>
            </a:r>
            <a:endParaRPr sz="1800" dirty="0"/>
          </a:p>
        </p:txBody>
      </p:sp>
      <mc:AlternateContent xmlns:mc="http://schemas.openxmlformats.org/markup-compatibility/2006" xmlns:a14="http://schemas.microsoft.com/office/drawing/2010/main">
        <mc:Choice Requires="a14">
          <p:sp>
            <p:nvSpPr>
              <p:cNvPr id="15" name="!!Flow Synthesis 15">
                <a:extLst>
                  <a:ext uri="{FF2B5EF4-FFF2-40B4-BE49-F238E27FC236}">
                    <a16:creationId xmlns:a16="http://schemas.microsoft.com/office/drawing/2014/main" id="{E6FE8EEE-8534-9FD1-23A6-870D8E3281B2}"/>
                  </a:ext>
                </a:extLst>
              </p:cNvPr>
              <p:cNvSpPr/>
              <p:nvPr/>
            </p:nvSpPr>
            <p:spPr>
              <a:xfrm>
                <a:off x="258998" y="4572000"/>
                <a:ext cx="3175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
                      <m:nary>
                        <m:naryPr>
                          <m:limLoc m:val="subSup"/>
                          <m:ctrlPr>
                            <a:rPr lang="en-US" sz="1600" b="0" i="1" u="none" baseline="0" dirty="0" smtClean="0">
                              <a:solidFill>
                                <a:srgbClr val="633434"/>
                              </a:solidFill>
                              <a:latin typeface="Cambria Math" panose="02040503050406030204" pitchFamily="18" charset="0"/>
                            </a:rPr>
                          </m:ctrlPr>
                        </m:naryPr>
                        <m:sub>
                          <m:r>
                            <a:rPr lang="en-US" sz="1600" b="0" i="1" u="none" baseline="0" dirty="0" smtClean="0">
                              <a:solidFill>
                                <a:srgbClr val="633434"/>
                              </a:solidFill>
                              <a:latin typeface="Cambria Math" panose="02040503050406030204" pitchFamily="18" charset="0"/>
                            </a:rPr>
                            <m:t>0</m:t>
                          </m:r>
                        </m:sub>
                        <m:sup>
                          <m:r>
                            <a:rPr lang="en-US" sz="1600" b="0" i="1"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bar>
                                    <m:barPr>
                                      <m:pos m:val="bot"/>
                                      <m:ctrlPr>
                                        <a:rPr lang="en-US" sz="1600" b="0" i="1" u="none" baseline="0" dirty="0" smtClean="0">
                                          <a:solidFill>
                                            <a:srgbClr val="633434"/>
                                          </a:solidFill>
                                          <a:latin typeface="Cambria Math" panose="02040503050406030204" pitchFamily="18" charset="0"/>
                                        </a:rPr>
                                      </m:ctrlPr>
                                    </m:barPr>
                                    <m:e>
                                      <m:acc>
                                        <m:accPr>
                                          <m:chr m:val="˜"/>
                                          <m:ctrlPr>
                                            <a:rPr lang="en-US" sz="1600" b="0" i="1" u="none" baseline="0" dirty="0" smtClean="0">
                                              <a:solidFill>
                                                <a:srgbClr val="633434"/>
                                              </a:solidFill>
                                              <a:latin typeface="Cambria Math" panose="02040503050406030204" pitchFamily="18" charset="0"/>
                                            </a:rPr>
                                          </m:ctrlPr>
                                        </m:accPr>
                                        <m:e>
                                          <m:r>
                                            <a:rPr lang="en-US" sz="1600" b="0" i="1" u="none" baseline="0" dirty="0" smtClean="0">
                                              <a:solidFill>
                                                <a:srgbClr val="633434"/>
                                              </a:solidFill>
                                              <a:latin typeface="Cambria Math" panose="02040503050406030204" pitchFamily="18" charset="0"/>
                                            </a:rPr>
                                            <m:t>𝑤</m:t>
                                          </m:r>
                                        </m:e>
                                      </m:acc>
                                    </m:e>
                                  </m:bar>
                                  <m:d>
                                    <m:dPr>
                                      <m:ctrlPr>
                                        <a:rPr lang="en-US" sz="1600" b="0" i="1" u="none" baseline="0" dirty="0" smtClean="0">
                                          <a:solidFill>
                                            <a:srgbClr val="633434"/>
                                          </a:solidFill>
                                          <a:latin typeface="Cambria Math" panose="02040503050406030204" pitchFamily="18" charset="0"/>
                                        </a:rPr>
                                      </m:ctrlPr>
                                    </m:dPr>
                                    <m:e>
                                      <m:r>
                                        <a:rPr lang="en-US" sz="1600" b="0" i="1" u="none" baseline="0" dirty="0" smtClean="0">
                                          <a:solidFill>
                                            <a:srgbClr val="633434"/>
                                          </a:solidFill>
                                          <a:latin typeface="Cambria Math" panose="02040503050406030204" pitchFamily="18" charset="0"/>
                                        </a:rPr>
                                        <m:t>𝑡</m:t>
                                      </m:r>
                                    </m:e>
                                  </m:d>
                                </m:e>
                              </m:d>
                            </m:e>
                            <m:sup>
                              <m:r>
                                <a:rPr lang="en-US" sz="1600" b="0" i="1" u="none" baseline="0" dirty="0" smtClean="0">
                                  <a:solidFill>
                                    <a:srgbClr val="633434"/>
                                  </a:solidFill>
                                  <a:latin typeface="Cambria Math" panose="02040503050406030204" pitchFamily="18" charset="0"/>
                                </a:rPr>
                                <m:t>2</m:t>
                              </m:r>
                            </m:sup>
                          </m:sSup>
                        </m:e>
                      </m:nary>
                      <m:r>
                        <a:rPr lang="en-US" sz="1600" b="0" i="1" u="none" baseline="0" dirty="0" smtClean="0">
                          <a:solidFill>
                            <a:srgbClr val="633434"/>
                          </a:solidFill>
                          <a:latin typeface="Cambria Math" panose="02040503050406030204" pitchFamily="18" charset="0"/>
                        </a:rPr>
                        <m:t>𝑑𝑡</m:t>
                      </m:r>
                      <m:r>
                        <a:rPr lang="en-US" sz="1600" b="0" i="1" u="none" baseline="0" dirty="0" smtClean="0">
                          <a:solidFill>
                            <a:srgbClr val="633434"/>
                          </a:solidFill>
                          <a:latin typeface="Cambria Math" panose="02040503050406030204" pitchFamily="18" charset="0"/>
                        </a:rPr>
                        <m:t>≤</m:t>
                      </m:r>
                      <m:nary>
                        <m:naryPr>
                          <m:limLoc m:val="subSup"/>
                          <m:ctrlPr>
                            <a:rPr lang="en-US" sz="1600" b="0" i="1" u="none" baseline="0" dirty="0" smtClean="0">
                              <a:solidFill>
                                <a:srgbClr val="633434"/>
                              </a:solidFill>
                              <a:latin typeface="Cambria Math" panose="02040503050406030204" pitchFamily="18" charset="0"/>
                            </a:rPr>
                          </m:ctrlPr>
                        </m:naryPr>
                        <m:sub>
                          <m:r>
                            <a:rPr lang="en-US" sz="1600" b="0" i="1" u="none" baseline="0" dirty="0" smtClean="0">
                              <a:solidFill>
                                <a:srgbClr val="633434"/>
                              </a:solidFill>
                              <a:latin typeface="Cambria Math" panose="02040503050406030204" pitchFamily="18" charset="0"/>
                            </a:rPr>
                            <m:t>0</m:t>
                          </m:r>
                        </m:sub>
                        <m:sup>
                          <m:r>
                            <a:rPr lang="en-US" sz="1600" b="0" i="1"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bar>
                                    <m:barPr>
                                      <m:pos m:val="bot"/>
                                      <m:ctrlPr>
                                        <a:rPr lang="en-US" sz="1600" b="0" i="1" u="none" baseline="0" dirty="0" smtClean="0">
                                          <a:solidFill>
                                            <a:srgbClr val="633434"/>
                                          </a:solidFill>
                                          <a:latin typeface="Cambria Math" panose="02040503050406030204" pitchFamily="18" charset="0"/>
                                        </a:rPr>
                                      </m:ctrlPr>
                                    </m:barPr>
                                    <m:e>
                                      <m:acc>
                                        <m:accPr>
                                          <m:chr m:val="˜"/>
                                          <m:ctrlPr>
                                            <a:rPr lang="en-US" sz="1600" b="0" i="1" u="none" baseline="0" dirty="0" smtClean="0">
                                              <a:solidFill>
                                                <a:srgbClr val="633434"/>
                                              </a:solidFill>
                                              <a:latin typeface="Cambria Math" panose="02040503050406030204" pitchFamily="18" charset="0"/>
                                            </a:rPr>
                                          </m:ctrlPr>
                                        </m:accPr>
                                        <m:e>
                                          <m:r>
                                            <a:rPr lang="en-US" sz="1600" b="0" i="1" u="none" baseline="0" dirty="0" smtClean="0">
                                              <a:solidFill>
                                                <a:srgbClr val="633434"/>
                                              </a:solidFill>
                                              <a:latin typeface="Cambria Math" panose="02040503050406030204" pitchFamily="18" charset="0"/>
                                            </a:rPr>
                                            <m:t>𝑧</m:t>
                                          </m:r>
                                        </m:e>
                                      </m:acc>
                                    </m:e>
                                  </m:bar>
                                  <m:d>
                                    <m:dPr>
                                      <m:ctrlPr>
                                        <a:rPr lang="en-US" sz="1600" b="0" i="1" u="none" baseline="0" dirty="0" smtClean="0">
                                          <a:solidFill>
                                            <a:srgbClr val="633434"/>
                                          </a:solidFill>
                                          <a:latin typeface="Cambria Math" panose="02040503050406030204" pitchFamily="18" charset="0"/>
                                        </a:rPr>
                                      </m:ctrlPr>
                                    </m:dPr>
                                    <m:e>
                                      <m:r>
                                        <a:rPr lang="en-US" sz="1600" b="0" i="1" u="none" baseline="0" dirty="0" smtClean="0">
                                          <a:solidFill>
                                            <a:srgbClr val="633434"/>
                                          </a:solidFill>
                                          <a:latin typeface="Cambria Math" panose="02040503050406030204" pitchFamily="18" charset="0"/>
                                        </a:rPr>
                                        <m:t>𝑡</m:t>
                                      </m:r>
                                    </m:e>
                                  </m:d>
                                </m:e>
                              </m:d>
                            </m:e>
                            <m:sup>
                              <m:r>
                                <a:rPr lang="en-US" sz="1600" b="0" i="1" u="none" baseline="0" dirty="0" smtClean="0">
                                  <a:solidFill>
                                    <a:srgbClr val="633434"/>
                                  </a:solidFill>
                                  <a:latin typeface="Cambria Math" panose="02040503050406030204" pitchFamily="18" charset="0"/>
                                </a:rPr>
                                <m:t>2</m:t>
                              </m:r>
                            </m:sup>
                          </m:sSup>
                        </m:e>
                      </m:nary>
                      <m:r>
                        <a:rPr lang="en-US" sz="1600" b="0" i="1" u="none" baseline="0" dirty="0" smtClean="0">
                          <a:solidFill>
                            <a:srgbClr val="633434"/>
                          </a:solidFill>
                          <a:latin typeface="Cambria Math" panose="02040503050406030204" pitchFamily="18" charset="0"/>
                        </a:rPr>
                        <m:t>𝑑𝑡</m:t>
                      </m:r>
                      <m:r>
                        <a:rPr lang="en-US" sz="1600" b="0" i="1" u="none" baseline="0" dirty="0" smtClean="0">
                          <a:solidFill>
                            <a:srgbClr val="633434"/>
                          </a:solidFill>
                          <a:latin typeface="Cambria Math" panose="02040503050406030204" pitchFamily="18" charset="0"/>
                        </a:rPr>
                        <m:t> ∀ </m:t>
                      </m:r>
                      <m:r>
                        <a:rPr lang="en-US" sz="1600" b="0" i="1" u="none" baseline="0" dirty="0" smtClean="0">
                          <a:solidFill>
                            <a:srgbClr val="633434"/>
                          </a:solidFill>
                          <a:latin typeface="Cambria Math" panose="02040503050406030204" pitchFamily="18" charset="0"/>
                        </a:rPr>
                        <m:t>𝑇</m:t>
                      </m:r>
                      <m:r>
                        <a:rPr lang="en-US" sz="1600" b="0" i="1" u="none" baseline="0" dirty="0" smtClean="0">
                          <a:solidFill>
                            <a:srgbClr val="633434"/>
                          </a:solidFill>
                          <a:latin typeface="Cambria Math" panose="02040503050406030204" pitchFamily="18" charset="0"/>
                        </a:rPr>
                        <m:t>&gt;0</m:t>
                      </m:r>
                    </m:oMath>
                  </m:oMathPara>
                </a14:m>
                <a:endParaRPr sz="1600" dirty="0">
                  <a:solidFill>
                    <a:srgbClr val="633434"/>
                  </a:solidFill>
                  <a:latin typeface="Aptos"/>
                  <a:ea typeface="Aptos"/>
                  <a:cs typeface="Aptos"/>
                </a:endParaRPr>
              </a:p>
            </p:txBody>
          </p:sp>
        </mc:Choice>
        <mc:Fallback xmlns="">
          <p:sp>
            <p:nvSpPr>
              <p:cNvPr id="15" name="!!Flow Synthesis 15">
                <a:extLst>
                  <a:ext uri="{FF2B5EF4-FFF2-40B4-BE49-F238E27FC236}">
                    <a16:creationId xmlns:a16="http://schemas.microsoft.com/office/drawing/2014/main" id="{E6FE8EEE-8534-9FD1-23A6-870D8E3281B2}"/>
                  </a:ext>
                </a:extLst>
              </p:cNvPr>
              <p:cNvSpPr>
                <a:spLocks noRot="1" noChangeAspect="1" noMove="1" noResize="1" noEditPoints="1" noAdjustHandles="1" noChangeArrowheads="1" noChangeShapeType="1" noTextEdit="1"/>
              </p:cNvSpPr>
              <p:nvPr/>
            </p:nvSpPr>
            <p:spPr>
              <a:xfrm>
                <a:off x="258998" y="4572000"/>
                <a:ext cx="3175000" cy="304800"/>
              </a:xfrm>
              <a:prstGeom prst="rect">
                <a:avLst/>
              </a:prstGeom>
              <a:blipFill>
                <a:blip r:embed="rId3"/>
                <a:stretch>
                  <a:fillRect l="-2879" t="-30000" r="-1536" b="-42000"/>
                </a:stretch>
              </a:blipFill>
              <a:ln>
                <a:noFill/>
              </a:ln>
            </p:spPr>
            <p:txBody>
              <a:bodyPr/>
              <a:lstStyle/>
              <a:p>
                <a:r>
                  <a:rPr lang="en-NL">
                    <a:noFill/>
                  </a:rPr>
                  <a:t> </a:t>
                </a:r>
              </a:p>
            </p:txBody>
          </p:sp>
        </mc:Fallback>
      </mc:AlternateContent>
      <p:sp>
        <p:nvSpPr>
          <p:cNvPr id="17" name="Slide Number Placeholder 5">
            <a:extLst>
              <a:ext uri="{FF2B5EF4-FFF2-40B4-BE49-F238E27FC236}">
                <a16:creationId xmlns:a16="http://schemas.microsoft.com/office/drawing/2014/main" id="{40DA0777-A36E-0A93-D988-8AA971948343}"/>
              </a:ext>
            </a:extLst>
          </p:cNvPr>
          <p:cNvSpPr txBox="1">
            <a:spLocks/>
          </p:cNvSpPr>
          <p:nvPr/>
        </p:nvSpPr>
        <p:spPr>
          <a:xfrm>
            <a:off x="7874000" y="4876800"/>
            <a:ext cx="355600" cy="152400"/>
          </a:xfrm>
          <a:prstGeom prst="rect">
            <a:avLst/>
          </a:prstGeom>
          <a:noFill/>
          <a:ln>
            <a:noFill/>
          </a:ln>
        </p:spPr>
        <p:txBody>
          <a:bodyPr wrap="square" lIns="0" tIns="0" rIns="0" bIns="0" anchor="t">
            <a:noAutofit/>
          </a:bodyPr>
          <a:lstStyle>
            <a:defPPr>
              <a:defRPr lang="nl-NL"/>
            </a:defPPr>
            <a:lvl1pPr marL="0" indent="0" algn="r"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r"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r"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r"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r"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r"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r"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r"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r"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fld id="{02D62CF7-B451-42A0-BFB3-67C7E3FB3001}" type="slidenum">
              <a:rPr lang="en-GB" sz="800" smtClean="0"/>
              <a:pPr>
                <a:defRPr sz="800" b="0">
                  <a:solidFill>
                    <a:srgbClr val="747B82"/>
                  </a:solidFill>
                  <a:latin typeface="Aptos"/>
                  <a:ea typeface="Aptos"/>
                  <a:cs typeface="Aptos"/>
                </a:defRPr>
              </a:pPr>
              <a:t>47</a:t>
            </a:fld>
            <a:endParaRPr lang="en-GB" sz="800"/>
          </a:p>
        </p:txBody>
      </p:sp>
      <p:pic>
        <p:nvPicPr>
          <p:cNvPr id="19" name="!!Flow Synthesis 19">
            <a:extLst>
              <a:ext uri="{FF2B5EF4-FFF2-40B4-BE49-F238E27FC236}">
                <a16:creationId xmlns:a16="http://schemas.microsoft.com/office/drawing/2014/main" id="{87DFCC8D-4F45-22A6-39D4-595706947B41}"/>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386698" y="1777808"/>
            <a:ext cx="2919599" cy="1784478"/>
          </a:xfrm>
          <a:prstGeom prst="rect">
            <a:avLst/>
          </a:prstGeom>
        </p:spPr>
      </p:pic>
      <p:sp>
        <p:nvSpPr>
          <p:cNvPr id="4" name="Title 1">
            <a:extLst>
              <a:ext uri="{FF2B5EF4-FFF2-40B4-BE49-F238E27FC236}">
                <a16:creationId xmlns:a16="http://schemas.microsoft.com/office/drawing/2014/main" id="{6A41745E-F326-C4D8-39D1-46E67D2B1CAF}"/>
              </a:ext>
            </a:extLst>
          </p:cNvPr>
          <p:cNvSpPr>
            <a:spLocks noGrp="1"/>
          </p:cNvSpPr>
          <p:nvPr>
            <p:ph type="title"/>
          </p:nvPr>
        </p:nvSpPr>
        <p:spPr>
          <a:xfrm>
            <a:off x="457200" y="381000"/>
            <a:ext cx="8229600" cy="508000"/>
          </a:xfrm>
        </p:spPr>
        <p:txBody>
          <a:bodyPr/>
          <a:lstStyle/>
          <a:p>
            <a:endParaRPr lang="en-NL" dirty="0"/>
          </a:p>
        </p:txBody>
      </p:sp>
      <p:sp>
        <p:nvSpPr>
          <p:cNvPr id="9" name="!!Sliding content 47 9">
            <a:extLst>
              <a:ext uri="{FF2B5EF4-FFF2-40B4-BE49-F238E27FC236}">
                <a16:creationId xmlns:a16="http://schemas.microsoft.com/office/drawing/2014/main" id="{6EED9644-F236-174E-09FF-61DEBA996088}"/>
              </a:ext>
            </a:extLst>
          </p:cNvPr>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dirty="0">
                <a:solidFill>
                  <a:srgbClr val="252529"/>
                </a:solidFill>
                <a:latin typeface="Aptos"/>
                <a:ea typeface="Aptos"/>
                <a:cs typeface="Aptos"/>
              </a:rPr>
              <a:t>Contributions</a:t>
            </a:r>
            <a:endParaRPr sz="2200" dirty="0"/>
          </a:p>
        </p:txBody>
      </p:sp>
      <p:sp>
        <p:nvSpPr>
          <p:cNvPr id="119" name="!!Flow Analysis 2">
            <a:extLst>
              <a:ext uri="{FF2B5EF4-FFF2-40B4-BE49-F238E27FC236}">
                <a16:creationId xmlns:a16="http://schemas.microsoft.com/office/drawing/2014/main" id="{3CFD6E59-32C2-BF7E-297A-18D43B0C60AF}"/>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120" name="!!Flow Analysis 3">
            <a:extLst>
              <a:ext uri="{FF2B5EF4-FFF2-40B4-BE49-F238E27FC236}">
                <a16:creationId xmlns:a16="http://schemas.microsoft.com/office/drawing/2014/main" id="{3159E6B8-DE47-EAB7-2A70-BB42DA911B44}"/>
              </a:ext>
            </a:extLst>
          </p:cNvPr>
          <p:cNvSpPr/>
          <p:nvPr/>
        </p:nvSpPr>
        <p:spPr>
          <a:xfrm>
            <a:off x="-5367102" y="360010"/>
            <a:ext cx="3352800" cy="381000"/>
          </a:xfrm>
          <a:prstGeom prst="rect">
            <a:avLst/>
          </a:prstGeom>
          <a:noFill/>
          <a:ln>
            <a:noFill/>
          </a:ln>
        </p:spPr>
        <p:txBody>
          <a:bodyPr wrap="none" lIns="0" tIns="0" rIns="0" bIns="0" anchor="ctr">
            <a:noAutofit/>
          </a:bodyPr>
          <a:lstStyle/>
          <a:p>
            <a:pPr algn="ctr">
              <a:buNone/>
            </a:pPr>
            <a:r>
              <a:rPr lang="en-GB" sz="2000" b="1" dirty="0">
                <a:solidFill>
                  <a:srgbClr val="252529"/>
                </a:solidFill>
                <a:latin typeface="Aptos"/>
              </a:rPr>
              <a:t>Robust Analysis</a:t>
            </a:r>
            <a:endParaRPr sz="2000" dirty="0"/>
          </a:p>
        </p:txBody>
      </p:sp>
      <mc:AlternateContent xmlns:mc="http://schemas.openxmlformats.org/markup-compatibility/2006" xmlns:a14="http://schemas.microsoft.com/office/drawing/2010/main">
        <mc:Choice Requires="a14">
          <p:sp>
            <p:nvSpPr>
              <p:cNvPr id="121" name="!!Flow Analysis 7">
                <a:extLst>
                  <a:ext uri="{FF2B5EF4-FFF2-40B4-BE49-F238E27FC236}">
                    <a16:creationId xmlns:a16="http://schemas.microsoft.com/office/drawing/2014/main" id="{957CD929-8153-77A9-0E0D-71E4B17C0A6C}"/>
                  </a:ext>
                </a:extLst>
              </p:cNvPr>
              <p:cNvSpPr/>
              <p:nvPr/>
            </p:nvSpPr>
            <p:spPr>
              <a:xfrm>
                <a:off x="-53848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Linearization of </a:t>
                </a:r>
                <a14:m>
                  <m:oMath xmlns:m="http://schemas.openxmlformats.org/officeDocument/2006/math">
                    <m:r>
                      <a:rPr lang="en-GB" sz="1800" b="1" i="1" u="none" baseline="0" smtClean="0">
                        <a:solidFill>
                          <a:srgbClr val="252529"/>
                        </a:solidFill>
                        <a:latin typeface="Cambria Math" panose="02040503050406030204" pitchFamily="18" charset="0"/>
                        <a:ea typeface="Cambria Math" panose="02040503050406030204" pitchFamily="18" charset="0"/>
                        <a:cs typeface="Aptos"/>
                      </a:rPr>
                      <m:t>𝚫</m:t>
                    </m:r>
                  </m:oMath>
                </a14:m>
                <a:endParaRPr sz="1800" dirty="0"/>
              </a:p>
            </p:txBody>
          </p:sp>
        </mc:Choice>
        <mc:Fallback xmlns="">
          <p:sp>
            <p:nvSpPr>
              <p:cNvPr id="121" name="!!Flow Analysis 7">
                <a:extLst>
                  <a:ext uri="{FF2B5EF4-FFF2-40B4-BE49-F238E27FC236}">
                    <a16:creationId xmlns:a16="http://schemas.microsoft.com/office/drawing/2014/main" id="{957CD929-8153-77A9-0E0D-71E4B17C0A6C}"/>
                  </a:ext>
                </a:extLst>
              </p:cNvPr>
              <p:cNvSpPr>
                <a:spLocks noRot="1" noChangeAspect="1" noMove="1" noResize="1" noEditPoints="1" noAdjustHandles="1" noChangeArrowheads="1" noChangeShapeType="1" noTextEdit="1"/>
              </p:cNvSpPr>
              <p:nvPr/>
            </p:nvSpPr>
            <p:spPr>
              <a:xfrm>
                <a:off x="-5384800" y="4108450"/>
                <a:ext cx="3302000" cy="342900"/>
              </a:xfrm>
              <a:prstGeom prst="rect">
                <a:avLst/>
              </a:prstGeom>
              <a:blipFill>
                <a:blip r:embed="rIdSlideFlow104"/>
                <a:stretch>
                  <a:fillRect t="-10714" b="-3392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Flow Analysis 8">
                <a:extLst>
                  <a:ext uri="{FF2B5EF4-FFF2-40B4-BE49-F238E27FC236}">
                    <a16:creationId xmlns:a16="http://schemas.microsoft.com/office/drawing/2014/main" id="{DA552458-7267-5808-3374-1E457F5B1C66}"/>
                  </a:ext>
                </a:extLst>
              </p:cNvPr>
              <p:cNvSpPr/>
              <p:nvPr/>
            </p:nvSpPr>
            <p:spPr>
              <a:xfrm>
                <a:off x="-5278202" y="4572000"/>
                <a:ext cx="3175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𝑤</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m:t>
                      </m:r>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𝑧</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 ∀ </m:t>
                      </m:r>
                      <m:r>
                        <a:rPr lang="en-US" sz="1600" b="0" i="0" u="none" baseline="0" dirty="0" smtClean="0">
                          <a:solidFill>
                            <a:srgbClr val="633434"/>
                          </a:solidFill>
                          <a:latin typeface="Cambria Math" panose="02040503050406030204" pitchFamily="18" charset="0"/>
                        </a:rPr>
                        <m:t>𝑇</m:t>
                      </m:r>
                      <m:r>
                        <a:rPr lang="en-US" sz="1600" b="0" i="0" u="none" baseline="0" dirty="0" smtClean="0">
                          <a:solidFill>
                            <a:srgbClr val="633434"/>
                          </a:solidFill>
                          <a:latin typeface="Cambria Math" panose="02040503050406030204" pitchFamily="18" charset="0"/>
                        </a:rPr>
                        <m:t>&gt;0</m:t>
                      </m:r>
                    </m:oMath>
                  </m:oMathPara>
                </a14:m>
                <a:endParaRPr sz="1600" dirty="0">
                  <a:solidFill>
                    <a:srgbClr val="633434"/>
                  </a:solidFill>
                  <a:latin typeface="Aptos"/>
                  <a:ea typeface="Aptos"/>
                  <a:cs typeface="Aptos"/>
                </a:endParaRPr>
              </a:p>
            </p:txBody>
          </p:sp>
        </mc:Choice>
        <mc:Fallback xmlns="">
          <p:sp>
            <p:nvSpPr>
              <p:cNvPr id="122" name="!!Flow Analysis 8">
                <a:extLst>
                  <a:ext uri="{FF2B5EF4-FFF2-40B4-BE49-F238E27FC236}">
                    <a16:creationId xmlns:a16="http://schemas.microsoft.com/office/drawing/2014/main" id="{DA552458-7267-5808-3374-1E457F5B1C66}"/>
                  </a:ext>
                </a:extLst>
              </p:cNvPr>
              <p:cNvSpPr>
                <a:spLocks noRot="1" noChangeAspect="1" noMove="1" noResize="1" noEditPoints="1" noAdjustHandles="1" noChangeArrowheads="1" noChangeShapeType="1" noTextEdit="1"/>
              </p:cNvSpPr>
              <p:nvPr/>
            </p:nvSpPr>
            <p:spPr>
              <a:xfrm>
                <a:off x="-5278202" y="4572000"/>
                <a:ext cx="3175000" cy="304800"/>
              </a:xfrm>
              <a:prstGeom prst="rect">
                <a:avLst/>
              </a:prstGeom>
              <a:blipFill>
                <a:blip r:embed="rIdSlideFlow105"/>
                <a:stretch>
                  <a:fillRect l="-2879" t="-30000" r="-1536" b="-42000"/>
                </a:stretch>
              </a:blipFill>
              <a:ln>
                <a:noFill/>
              </a:ln>
            </p:spPr>
            <p:txBody>
              <a:bodyPr/>
              <a:lstStyle/>
              <a:p>
                <a:r>
                  <a:rPr lang="en-NL">
                    <a:noFill/>
                  </a:rPr>
                  <a:t> </a:t>
                </a:r>
              </a:p>
            </p:txBody>
          </p:sp>
        </mc:Fallback>
      </mc:AlternateContent>
      <p:pic>
        <p:nvPicPr>
          <p:cNvPr id="123" name="!!Flow Analysis 30066">
            <a:extLst>
              <a:ext uri="{FF2B5EF4-FFF2-40B4-BE49-F238E27FC236}">
                <a16:creationId xmlns:a16="http://schemas.microsoft.com/office/drawing/2014/main" id="{A99DFEDE-AB1C-A929-54EA-DEC4D6751E6C}"/>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5150502" y="1777808"/>
            <a:ext cx="2919599" cy="1784478"/>
          </a:xfrm>
          <a:prstGeom prst="rect">
            <a:avLst/>
          </a:prstGeom>
        </p:spPr>
      </p:pic>
      <p:sp>
        <p:nvSpPr>
          <p:cNvPr id="124" name="!!Sliding center 46 32">
            <a:extLst>
              <a:ext uri="{FF2B5EF4-FFF2-40B4-BE49-F238E27FC236}">
                <a16:creationId xmlns:a16="http://schemas.microsoft.com/office/drawing/2014/main" id="{85D8F719-2267-0C64-D7C9-DC27544C20FB}"/>
              </a:ext>
            </a:extLst>
          </p:cNvPr>
          <p:cNvSpPr/>
          <p:nvPr/>
        </p:nvSpPr>
        <p:spPr>
          <a:xfrm>
            <a:off x="-16764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25" name="!!Sliding center 46 34">
                <a:extLst>
                  <a:ext uri="{FF2B5EF4-FFF2-40B4-BE49-F238E27FC236}">
                    <a16:creationId xmlns:a16="http://schemas.microsoft.com/office/drawing/2014/main" id="{7ABB1BDC-93CF-6E3C-F305-7490A15DBDA7}"/>
                  </a:ext>
                </a:extLst>
              </p:cNvPr>
              <p:cNvSpPr/>
              <p:nvPr/>
            </p:nvSpPr>
            <p:spPr>
              <a:xfrm>
                <a:off x="-1854200" y="1949450"/>
                <a:ext cx="1778000" cy="266700"/>
              </a:xfrm>
              <a:prstGeom prst="rect">
                <a:avLst/>
              </a:prstGeom>
              <a:noFill/>
              <a:ln>
                <a:noFill/>
              </a:ln>
            </p:spPr>
            <p:txBody>
              <a:bodyPr wrap="none" lIns="0" tIns="0" rIns="0" bIns="0" anchor="ctr">
                <a:noAutofit/>
              </a:bodyPr>
              <a:lstStyle/>
              <a:p>
                <a:pPr algn="ctr">
                  <a:buNone/>
                </a:pPr>
                <a14:m>
                  <m:oMathPara xmlns:m="http://schemas.openxmlformats.org/officeDocument/2006/math">
                    <m:oMath>
                      <m:r>
                        <a:rPr lang="en-US" sz="1400" b="0" i="0" u="none" baseline="0" dirty="0" smtClean="0">
                          <a:latin typeface="Cambria Math" panose="02040503050406030204" pitchFamily="18" charset="0"/>
                        </a:rPr>
                        <m:t>𝐃</m:t>
                      </m:r>
                      <m:d>
                        <m:dPr>
                          <m:ctrlPr>
                            <a:rPr lang="en-US" sz="1400" b="0" i="0" u="none" baseline="0" dirty="0" smtClean="0">
                              <a:latin typeface="Cambria Math" panose="02040503050406030204" pitchFamily="18" charset="0"/>
                            </a:rPr>
                          </m:ctrlPr>
                        </m:dPr>
                        <m:e>
                          <m:r>
                            <m:rPr>
                              <m:sty m:val="p"/>
                            </m:rPr>
                            <a:rPr lang="en-US" sz="1400" b="0" i="0" u="none" baseline="0" dirty="0" smtClean="0">
                              <a:latin typeface="Cambria Math" panose="02040503050406030204" pitchFamily="18" charset="0"/>
                            </a:rPr>
                            <m:t>Θ</m:t>
                          </m:r>
                        </m:e>
                      </m:d>
                      <m:r>
                        <a:rPr lang="en-US" sz="1400" b="0" i="0" u="none" baseline="0" dirty="0" smtClean="0">
                          <a:latin typeface="Cambria Math" panose="02040503050406030204" pitchFamily="18" charset="0"/>
                        </a:rPr>
                        <m:t>=</m:t>
                      </m:r>
                      <m:bar>
                        <m:barPr>
                          <m:pos m:val="bot"/>
                          <m:ctrlPr>
                            <a:rPr lang="en-US" sz="1400" b="0" i="0" u="none" baseline="0" dirty="0" smtClean="0">
                              <a:latin typeface="Cambria Math" panose="02040503050406030204" pitchFamily="18" charset="0"/>
                            </a:rPr>
                          </m:ctrlPr>
                        </m:barPr>
                        <m:e>
                          <m:r>
                            <m:rPr>
                              <m:sty m:val="p"/>
                            </m:rPr>
                            <a:rPr lang="en-US" sz="1400" b="0" i="0" u="none" baseline="0" dirty="0" smtClean="0">
                              <a:latin typeface="Cambria Math" panose="02040503050406030204" pitchFamily="18" charset="0"/>
                            </a:rPr>
                            <m:t>Θ</m:t>
                          </m:r>
                        </m:e>
                      </m:bar>
                    </m:oMath>
                  </m:oMathPara>
                </a14:m>
                <a:endParaRPr sz="1400" dirty="0"/>
              </a:p>
            </p:txBody>
          </p:sp>
        </mc:Choice>
        <mc:Fallback xmlns="">
          <p:sp>
            <p:nvSpPr>
              <p:cNvPr id="125" name="!!Sliding center 46 34">
                <a:extLst>
                  <a:ext uri="{FF2B5EF4-FFF2-40B4-BE49-F238E27FC236}">
                    <a16:creationId xmlns:a16="http://schemas.microsoft.com/office/drawing/2014/main" id="{7ABB1BDC-93CF-6E3C-F305-7490A15DBDA7}"/>
                  </a:ext>
                </a:extLst>
              </p:cNvPr>
              <p:cNvSpPr>
                <a:spLocks noRot="1" noChangeAspect="1" noMove="1" noResize="1" noEditPoints="1" noAdjustHandles="1" noChangeArrowheads="1" noChangeShapeType="1" noTextEdit="1"/>
              </p:cNvSpPr>
              <p:nvPr/>
            </p:nvSpPr>
            <p:spPr>
              <a:xfrm>
                <a:off x="-1854200" y="1949450"/>
                <a:ext cx="1778000" cy="266700"/>
              </a:xfrm>
              <a:prstGeom prst="rect">
                <a:avLst/>
              </a:prstGeom>
              <a:blipFill>
                <a:blip r:embed="rIdSlideFlow107"/>
                <a:stretch>
                  <a:fillRect/>
                </a:stretch>
              </a:blipFill>
              <a:ln>
                <a:noFill/>
              </a:ln>
            </p:spPr>
            <p:txBody>
              <a:bodyPr/>
              <a:lstStyle/>
              <a:p>
                <a:r>
                  <a:rPr lang="en-NL">
                    <a:noFill/>
                  </a:rPr>
                  <a:t> </a:t>
                </a:r>
              </a:p>
            </p:txBody>
          </p:sp>
        </mc:Fallback>
      </mc:AlternateContent>
      <p:sp>
        <p:nvSpPr>
          <p:cNvPr id="126" name="!!Sliding center 46 36">
            <a:extLst>
              <a:ext uri="{FF2B5EF4-FFF2-40B4-BE49-F238E27FC236}">
                <a16:creationId xmlns:a16="http://schemas.microsoft.com/office/drawing/2014/main" id="{059D78BC-7712-3472-90C5-2A73836E0F9F}"/>
              </a:ext>
            </a:extLst>
          </p:cNvPr>
          <p:cNvSpPr/>
          <p:nvPr/>
        </p:nvSpPr>
        <p:spPr>
          <a:xfrm>
            <a:off x="-16764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127" name="!!Sliding center 46 38">
            <a:extLst>
              <a:ext uri="{FF2B5EF4-FFF2-40B4-BE49-F238E27FC236}">
                <a16:creationId xmlns:a16="http://schemas.microsoft.com/office/drawing/2014/main" id="{75BDAAEE-E4DD-6E22-9B66-526CA7AF7FFA}"/>
              </a:ext>
            </a:extLst>
          </p:cNvPr>
          <p:cNvSpPr/>
          <p:nvPr/>
        </p:nvSpPr>
        <p:spPr>
          <a:xfrm>
            <a:off x="-18542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51001" name="!!Contribution line 0"/>
          <p:cNvSpPr/>
          <p:nvPr/>
        </p:nvSpPr>
        <p:spPr>
          <a:xfrm>
            <a:off x="3911600" y="1231900"/>
            <a:ext cx="4775200" cy="381000"/>
          </a:xfrm>
          <a:prstGeom prst="rect">
            <a:avLst/>
          </a:prstGeom>
          <a:noFill/>
          <a:ln>
            <a:noFill/>
          </a:ln>
        </p:spPr>
        <p:txBody>
          <a:bodyPr wrap="none" lIns="0" tIns="0" rIns="0" bIns="0" anchor="ctr">
            <a:noAutofit/>
          </a:bodyPr>
          <a:lstStyle/>
          <a:p>
            <a:pPr algn="l">
              <a:buNone/>
            </a:pPr>
            <a:r>
              <a:rPr lang="en-GB" sz="2000" b="1" i="0" u="none" baseline="0">
                <a:solidFill>
                  <a:srgbClr val="C81919"/>
                </a:solidFill>
                <a:latin typeface="Aptos"/>
                <a:ea typeface="Aptos"/>
                <a:cs typeface="Aptos"/>
              </a:rPr>
              <a:t>1. Dual operation</a:t>
            </a:r>
            <a:endParaRPr sz="2000"/>
          </a:p>
        </p:txBody>
      </p:sp>
      <p:sp>
        <p:nvSpPr>
          <p:cNvPr id="51002" name="!!Contribution line 1"/>
          <p:cNvSpPr/>
          <p:nvPr/>
        </p:nvSpPr>
        <p:spPr>
          <a:xfrm>
            <a:off x="3911600" y="17399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252529"/>
                </a:solidFill>
                <a:latin typeface="Aptos"/>
                <a:ea typeface="Aptos"/>
                <a:cs typeface="Aptos"/>
              </a:rPr>
              <a:t>Construct D(Θ) so the primal and dual</a:t>
            </a:r>
            <a:endParaRPr sz="1600"/>
          </a:p>
        </p:txBody>
      </p:sp>
      <p:sp>
        <p:nvSpPr>
          <p:cNvPr id="51003" name="!!Contribution line 2"/>
          <p:cNvSpPr/>
          <p:nvPr/>
        </p:nvSpPr>
        <p:spPr>
          <a:xfrm>
            <a:off x="3911600" y="20447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252529"/>
                </a:solidFill>
                <a:latin typeface="Aptos"/>
                <a:ea typeface="Aptos"/>
                <a:cs typeface="Aptos"/>
              </a:rPr>
              <a:t>systems satisfy equivalent</a:t>
            </a:r>
            <a:endParaRPr sz="1600"/>
          </a:p>
        </p:txBody>
      </p:sp>
      <p:sp>
        <p:nvSpPr>
          <p:cNvPr id="51004" name="!!Contribution line 3"/>
          <p:cNvSpPr/>
          <p:nvPr/>
        </p:nvSpPr>
        <p:spPr>
          <a:xfrm>
            <a:off x="3911600" y="23495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252529"/>
                </a:solidFill>
                <a:latin typeface="Aptos"/>
                <a:ea typeface="Aptos"/>
                <a:cs typeface="Aptos"/>
              </a:rPr>
              <a:t>dissipativity constraints.</a:t>
            </a:r>
            <a:endParaRPr sz="1600"/>
          </a:p>
        </p:txBody>
      </p:sp>
      <p:sp>
        <p:nvSpPr>
          <p:cNvPr id="51005" name="!!Contribution line 4"/>
          <p:cNvSpPr/>
          <p:nvPr/>
        </p:nvSpPr>
        <p:spPr>
          <a:xfrm>
            <a:off x="3911600" y="3111500"/>
            <a:ext cx="4775200" cy="381000"/>
          </a:xfrm>
          <a:prstGeom prst="rect">
            <a:avLst/>
          </a:prstGeom>
          <a:noFill/>
          <a:ln>
            <a:noFill/>
          </a:ln>
        </p:spPr>
        <p:txBody>
          <a:bodyPr wrap="none" lIns="0" tIns="0" rIns="0" bIns="0" anchor="ctr">
            <a:noAutofit/>
          </a:bodyPr>
          <a:lstStyle/>
          <a:p>
            <a:pPr algn="l">
              <a:buNone/>
            </a:pPr>
            <a:r>
              <a:rPr lang="en-GB" sz="2000" b="1" i="0" u="none" baseline="0">
                <a:solidFill>
                  <a:srgbClr val="C81919"/>
                </a:solidFill>
                <a:latin typeface="Aptos"/>
                <a:ea typeface="Aptos"/>
                <a:cs typeface="Aptos"/>
              </a:rPr>
              <a:t>2. Robust controller synthesis</a:t>
            </a:r>
            <a:endParaRPr sz="2000"/>
          </a:p>
        </p:txBody>
      </p:sp>
      <p:sp>
        <p:nvSpPr>
          <p:cNvPr id="51006" name="!!Contribution line 5"/>
          <p:cNvSpPr/>
          <p:nvPr/>
        </p:nvSpPr>
        <p:spPr>
          <a:xfrm>
            <a:off x="3911600" y="36195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252529"/>
                </a:solidFill>
                <a:latin typeface="Aptos"/>
                <a:ea typeface="Aptos"/>
                <a:cs typeface="Aptos"/>
              </a:rPr>
              <a:t>Apply this equivalence to formulate</a:t>
            </a:r>
            <a:endParaRPr sz="1600"/>
          </a:p>
        </p:txBody>
      </p:sp>
      <p:sp>
        <p:nvSpPr>
          <p:cNvPr id="51007" name="!!Contribution line 6"/>
          <p:cNvSpPr/>
          <p:nvPr/>
        </p:nvSpPr>
        <p:spPr>
          <a:xfrm>
            <a:off x="3911600" y="39243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252529"/>
                </a:solidFill>
                <a:latin typeface="Aptos"/>
                <a:ea typeface="Aptos"/>
                <a:cs typeface="Aptos"/>
              </a:rPr>
              <a:t>robust controller synthesis conditions.</a:t>
            </a:r>
            <a:endParaRPr sz="1600"/>
          </a:p>
        </p:txBody>
      </p:sp>
    </p:spTree>
    <p:extLst>
      <p:ext uri="{BB962C8B-B14F-4D97-AF65-F5344CB8AC3E}">
        <p14:creationId xmlns:p14="http://schemas.microsoft.com/office/powerpoint/2010/main" val="13411542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93D8E-BDB0-4549-A7C2-BFC67C886EE1}"/>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9837250A-094D-67D4-E733-89F7B49A69A8}"/>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59C08AB6-DF45-0F39-042A-D28A3143617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33E18083-E72F-7F96-039D-098AFF37FE94}"/>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a:extLst>
              <a:ext uri="{FF2B5EF4-FFF2-40B4-BE49-F238E27FC236}">
                <a16:creationId xmlns:a16="http://schemas.microsoft.com/office/drawing/2014/main" id="{3875F379-3ACC-AC5A-F112-AB4D9AF3AB21}"/>
              </a:ext>
            </a:extLst>
          </p:cNvPr>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FBB1C808-8F65-E2B3-BEB0-FBF64D97E54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637B92A2-1384-2F48-C881-3E891AD07625}"/>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a:extLst>
              <a:ext uri="{FF2B5EF4-FFF2-40B4-BE49-F238E27FC236}">
                <a16:creationId xmlns:a16="http://schemas.microsoft.com/office/drawing/2014/main" id="{5D009FFD-08B8-15BB-1CDD-963231B086CB}"/>
              </a:ext>
            </a:extLst>
          </p:cNvPr>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a:extLst>
              <a:ext uri="{FF2B5EF4-FFF2-40B4-BE49-F238E27FC236}">
                <a16:creationId xmlns:a16="http://schemas.microsoft.com/office/drawing/2014/main" id="{237BBBE8-BBDE-13AE-05E5-D99DE6DC653B}"/>
              </a:ext>
            </a:extLst>
          </p:cNvPr>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a:extLst>
              <a:ext uri="{FF2B5EF4-FFF2-40B4-BE49-F238E27FC236}">
                <a16:creationId xmlns:a16="http://schemas.microsoft.com/office/drawing/2014/main" id="{6305D971-6E18-87FB-A960-BE6F98422AA2}"/>
              </a:ext>
            </a:extLst>
          </p:cNvPr>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a:extLst>
              <a:ext uri="{FF2B5EF4-FFF2-40B4-BE49-F238E27FC236}">
                <a16:creationId xmlns:a16="http://schemas.microsoft.com/office/drawing/2014/main" id="{05C1B76B-D801-E45C-40B6-46886D5AC532}"/>
              </a:ext>
            </a:extLst>
          </p:cNvPr>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a:extLst>
              <a:ext uri="{FF2B5EF4-FFF2-40B4-BE49-F238E27FC236}">
                <a16:creationId xmlns:a16="http://schemas.microsoft.com/office/drawing/2014/main" id="{03ED1468-4235-C17E-295B-10301370B06A}"/>
              </a:ext>
            </a:extLst>
          </p:cNvPr>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a:extLst>
              <a:ext uri="{FF2B5EF4-FFF2-40B4-BE49-F238E27FC236}">
                <a16:creationId xmlns:a16="http://schemas.microsoft.com/office/drawing/2014/main" id="{D42603F5-5B8C-BD6E-8724-59564510CA86}"/>
              </a:ext>
            </a:extLst>
          </p:cNvPr>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a:extLst>
              <a:ext uri="{FF2B5EF4-FFF2-40B4-BE49-F238E27FC236}">
                <a16:creationId xmlns:a16="http://schemas.microsoft.com/office/drawing/2014/main" id="{626693E4-EDE5-E743-E9F5-DD84CB048151}"/>
              </a:ext>
            </a:extLst>
          </p:cNvPr>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a:extLst>
              <a:ext uri="{FF2B5EF4-FFF2-40B4-BE49-F238E27FC236}">
                <a16:creationId xmlns:a16="http://schemas.microsoft.com/office/drawing/2014/main" id="{82606E0F-71B7-C87F-45BF-F1F830D7A1FA}"/>
              </a:ext>
            </a:extLst>
          </p:cNvPr>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a:extLst>
              <a:ext uri="{FF2B5EF4-FFF2-40B4-BE49-F238E27FC236}">
                <a16:creationId xmlns:a16="http://schemas.microsoft.com/office/drawing/2014/main" id="{8B9C1F0C-0DA2-3A31-066D-1B47DD0279F1}"/>
              </a:ext>
            </a:extLst>
          </p:cNvPr>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a:extLst>
              <a:ext uri="{FF2B5EF4-FFF2-40B4-BE49-F238E27FC236}">
                <a16:creationId xmlns:a16="http://schemas.microsoft.com/office/drawing/2014/main" id="{713DC615-DB8E-0012-5567-995BAC143A84}"/>
              </a:ext>
            </a:extLst>
          </p:cNvPr>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a:extLst>
              <a:ext uri="{FF2B5EF4-FFF2-40B4-BE49-F238E27FC236}">
                <a16:creationId xmlns:a16="http://schemas.microsoft.com/office/drawing/2014/main" id="{69BB4F36-6E85-470B-9AF2-1299FA2C759D}"/>
              </a:ext>
            </a:extLst>
          </p:cNvPr>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a:extLst>
              <a:ext uri="{FF2B5EF4-FFF2-40B4-BE49-F238E27FC236}">
                <a16:creationId xmlns:a16="http://schemas.microsoft.com/office/drawing/2014/main" id="{B55C83E1-482C-9B01-6391-5D523A74A48A}"/>
              </a:ext>
            </a:extLst>
          </p:cNvPr>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a:extLst>
              <a:ext uri="{FF2B5EF4-FFF2-40B4-BE49-F238E27FC236}">
                <a16:creationId xmlns:a16="http://schemas.microsoft.com/office/drawing/2014/main" id="{1D382443-0430-204F-C131-F23632B2D011}"/>
              </a:ext>
            </a:extLst>
          </p:cNvPr>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a:extLst>
              <a:ext uri="{FF2B5EF4-FFF2-40B4-BE49-F238E27FC236}">
                <a16:creationId xmlns:a16="http://schemas.microsoft.com/office/drawing/2014/main" id="{451BE4F2-AD6C-A3FE-4DA6-DED74507875B}"/>
              </a:ext>
            </a:extLst>
          </p:cNvPr>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a:extLst>
              <a:ext uri="{FF2B5EF4-FFF2-40B4-BE49-F238E27FC236}">
                <a16:creationId xmlns:a16="http://schemas.microsoft.com/office/drawing/2014/main" id="{FBFA2D08-E967-0144-8E6F-94ABB54D7C67}"/>
              </a:ext>
            </a:extLst>
          </p:cNvPr>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a:extLst>
              <a:ext uri="{FF2B5EF4-FFF2-40B4-BE49-F238E27FC236}">
                <a16:creationId xmlns:a16="http://schemas.microsoft.com/office/drawing/2014/main" id="{3B6D3BA6-109F-530A-26D9-953EABA163BE}"/>
              </a:ext>
            </a:extLst>
          </p:cNvPr>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a:extLst>
              <a:ext uri="{FF2B5EF4-FFF2-40B4-BE49-F238E27FC236}">
                <a16:creationId xmlns:a16="http://schemas.microsoft.com/office/drawing/2014/main" id="{6418C78D-ED87-15B0-1850-89ADF8B05EF9}"/>
              </a:ext>
            </a:extLst>
          </p:cNvPr>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a:extLst>
              <a:ext uri="{FF2B5EF4-FFF2-40B4-BE49-F238E27FC236}">
                <a16:creationId xmlns:a16="http://schemas.microsoft.com/office/drawing/2014/main" id="{59BF7BF6-49EA-7476-6714-2D04576B1EBB}"/>
              </a:ext>
            </a:extLst>
          </p:cNvPr>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a:extLst>
                  <a:ext uri="{FF2B5EF4-FFF2-40B4-BE49-F238E27FC236}">
                    <a16:creationId xmlns:a16="http://schemas.microsoft.com/office/drawing/2014/main" id="{AE3B6ABF-E172-69A3-BD7C-B3068BE85B88}"/>
                  </a:ext>
                </a:extLst>
              </p:cNvPr>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a:extLst>
                  <a:ext uri="{FF2B5EF4-FFF2-40B4-BE49-F238E27FC236}">
                    <a16:creationId xmlns:a16="http://schemas.microsoft.com/office/drawing/2014/main" id="{6A89690F-EDB3-46C2-8191-73B0EBDDBD74}"/>
                  </a:ext>
                </a:extLst>
              </p:cNvPr>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a:extLst>
                  <a:ext uri="{FF2B5EF4-FFF2-40B4-BE49-F238E27FC236}">
                    <a16:creationId xmlns:a16="http://schemas.microsoft.com/office/drawing/2014/main" id="{28E7D16E-B679-207A-D657-2E7986483EDC}"/>
                  </a:ext>
                </a:extLst>
              </p:cNvPr>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a:extLst>
                  <a:ext uri="{FF2B5EF4-FFF2-40B4-BE49-F238E27FC236}">
                    <a16:creationId xmlns:a16="http://schemas.microsoft.com/office/drawing/2014/main" id="{A94CBFE2-9F2E-F27C-D9AE-1D6DAEF2C1A2}"/>
                  </a:ext>
                </a:extLst>
              </p:cNvPr>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a:extLst>
                  <a:ext uri="{FF2B5EF4-FFF2-40B4-BE49-F238E27FC236}">
                    <a16:creationId xmlns:a16="http://schemas.microsoft.com/office/drawing/2014/main" id="{FAE551EE-4BD0-0B69-893F-AB1E358CC57B}"/>
                  </a:ext>
                </a:extLst>
              </p:cNvPr>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a:extLst>
                  <a:ext uri="{FF2B5EF4-FFF2-40B4-BE49-F238E27FC236}">
                    <a16:creationId xmlns:a16="http://schemas.microsoft.com/office/drawing/2014/main" id="{5E077F18-394A-2907-3D24-D7B51BB82FF7}"/>
                  </a:ext>
                </a:extLst>
              </p:cNvPr>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a:extLst>
                  <a:ext uri="{FF2B5EF4-FFF2-40B4-BE49-F238E27FC236}">
                    <a16:creationId xmlns:a16="http://schemas.microsoft.com/office/drawing/2014/main" id="{ADD226C9-9223-A393-24A0-5852881E2A89}"/>
                  </a:ext>
                </a:extLst>
              </p:cNvPr>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a:extLst>
              <a:ext uri="{FF2B5EF4-FFF2-40B4-BE49-F238E27FC236}">
                <a16:creationId xmlns:a16="http://schemas.microsoft.com/office/drawing/2014/main" id="{48584E12-44C6-F908-879A-ADFD8EFEAE14}"/>
              </a:ext>
            </a:extLst>
          </p:cNvPr>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a:extLst>
              <a:ext uri="{FF2B5EF4-FFF2-40B4-BE49-F238E27FC236}">
                <a16:creationId xmlns:a16="http://schemas.microsoft.com/office/drawing/2014/main" id="{B8A610D6-503E-0557-FF79-F9DD4C231F4F}"/>
              </a:ext>
            </a:extLst>
          </p:cNvPr>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sp>
        <p:nvSpPr>
          <p:cNvPr id="63001" name="Aligned electrode lead"/>
          <p:cNvSpPr/>
          <p:nvPr/>
        </p:nvSpPr>
        <p:spPr>
          <a:xfrm>
            <a:off x="3861594" y="1589485"/>
            <a:ext cx="554038" cy="532011"/>
          </a:xfrm>
          <a:custGeom>
            <a:avLst/>
            <a:gdLst/>
            <a:ahLst/>
            <a:cxnLst/>
            <a:rect l="0" t="0" r="r" b="b"/>
            <a:pathLst>
              <a:path w="554038" h="532011" fill="none">
                <a:moveTo>
                  <a:pt x="541338" y="12700"/>
                </a:moveTo>
                <a:lnTo>
                  <a:pt x="202128" y="12700"/>
                </a:lnTo>
                <a:lnTo>
                  <a:pt x="96401" y="188912"/>
                </a:lnTo>
                <a:lnTo>
                  <a:pt x="12700" y="519311"/>
                </a:lnTo>
              </a:path>
            </a:pathLst>
          </a:custGeom>
          <a:noFill/>
          <a:ln w="13216">
            <a:solidFill>
              <a:srgbClr val="737D85"/>
            </a:solidFill>
          </a:ln>
        </p:spPr>
      </p:sp>
      <p:sp>
        <p:nvSpPr>
          <p:cNvPr id="63002" name="Aligned electrode shaft"/>
          <p:cNvSpPr/>
          <p:nvPr/>
        </p:nvSpPr>
        <p:spPr>
          <a:xfrm>
            <a:off x="3861594" y="1911073"/>
            <a:ext cx="69453" cy="183991"/>
          </a:xfrm>
          <a:custGeom>
            <a:avLst/>
            <a:gdLst/>
            <a:ahLst/>
            <a:cxnLst/>
            <a:rect l="0" t="0" r="r" b="b"/>
            <a:pathLst>
              <a:path w="69453" h="183991" fill="none">
                <a:moveTo>
                  <a:pt x="56753" y="12700"/>
                </a:moveTo>
                <a:lnTo>
                  <a:pt x="12700" y="171291"/>
                </a:lnTo>
              </a:path>
            </a:pathLst>
          </a:custGeom>
          <a:noFill/>
          <a:ln w="52864">
            <a:solidFill>
              <a:srgbClr val="B8B8B8"/>
            </a:solidFill>
          </a:ln>
        </p:spPr>
      </p:sp>
      <p:sp>
        <p:nvSpPr>
          <p:cNvPr id="63003" name="Aligned electrode contact"/>
          <p:cNvSpPr/>
          <p:nvPr/>
        </p:nvSpPr>
        <p:spPr>
          <a:xfrm>
            <a:off x="3861594" y="2016801"/>
            <a:ext cx="38616" cy="78264"/>
          </a:xfrm>
          <a:custGeom>
            <a:avLst/>
            <a:gdLst/>
            <a:ahLst/>
            <a:cxnLst/>
            <a:rect l="0" t="0" r="r" b="b"/>
            <a:pathLst>
              <a:path w="38616" h="78264" fill="none">
                <a:moveTo>
                  <a:pt x="25916" y="12700"/>
                </a:moveTo>
                <a:lnTo>
                  <a:pt x="12700" y="65564"/>
                </a:lnTo>
              </a:path>
            </a:pathLst>
          </a:custGeom>
          <a:noFill/>
          <a:ln w="52864">
            <a:solidFill>
              <a:srgbClr val="E3BF24"/>
            </a:solidFill>
          </a:ln>
        </p:spPr>
      </p:sp>
      <p:sp>
        <p:nvSpPr>
          <p:cNvPr id="9" name="Controller K block">
            <a:extLst>
              <a:ext uri="{FF2B5EF4-FFF2-40B4-BE49-F238E27FC236}">
                <a16:creationId xmlns:a16="http://schemas.microsoft.com/office/drawing/2014/main" id="{D6A4C341-D776-E7EB-BE6C-A23824AB8CF2}"/>
              </a:ext>
            </a:extLst>
          </p:cNvPr>
          <p:cNvSpPr/>
          <p:nvPr/>
        </p:nvSpPr>
        <p:spPr>
          <a:xfrm>
            <a:off x="4402931" y="142597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90470E0D-042B-7E00-AA79-B698D39687F7}"/>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pic>
        <p:nvPicPr>
          <p:cNvPr id="4" name="Picture 3">
            <a:extLst>
              <a:ext uri="{FF2B5EF4-FFF2-40B4-BE49-F238E27FC236}">
                <a16:creationId xmlns:a16="http://schemas.microsoft.com/office/drawing/2014/main" id="{D720EE55-64DE-8024-10FC-82B47E96F1B7}"/>
              </a:ext>
            </a:extLst>
          </p:cNvPr>
          <p:cNvPicPr>
            <a:picLocks noChangeAspect="1"/>
          </p:cNvPicPr>
          <p:nvPr/>
        </p:nvPicPr>
        <p:blipFill>
          <a:blip r:embed="rId15" cstate="print">
            <a:extLst>
              <a:ext uri="{28A0092B-C50C-407E-A947-70E740481C1C}">
                <a14:useLocalDpi xmlns:a14="http://schemas.microsoft.com/office/drawing/2010/main" val="0"/>
              </a:ext>
            </a:extLst>
          </a:blip>
          <a:srcRect l="15942" r="17681"/>
          <a:stretch>
            <a:fillRect/>
          </a:stretch>
        </p:blipFill>
        <p:spPr>
          <a:xfrm>
            <a:off x="7991175" y="0"/>
            <a:ext cx="1152825" cy="967898"/>
          </a:xfrm>
          <a:prstGeom prst="rect">
            <a:avLst/>
          </a:prstGeom>
        </p:spPr>
      </p:pic>
    </p:spTree>
    <p:extLst>
      <p:ext uri="{BB962C8B-B14F-4D97-AF65-F5344CB8AC3E}">
        <p14:creationId xmlns:p14="http://schemas.microsoft.com/office/powerpoint/2010/main" val="1891799416"/>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3001"/>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5009"/>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3"/>
                </p:tgtEl>
              </p:cMediaNode>
            </p:video>
          </p:childTnLst>
        </p:cTn>
      </p:par>
    </p:tnLst>
    <p:bldLst>
      <p:bldP spid="5009" grpId="0"/>
      <p:bldP spid="9" grpId="0" animBg="1"/>
      <p:bldP spid="11" grpId="0"/>
    </p:bldLst>
  </p:timing>
</p:sld>
</file>

<file path=ppt/slides/slide4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No more Beta-oscillations</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m="http://schemas.openxmlformats.org/officeDocument/2006/math" xmlns="">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xmlns:m="http://schemas.openxmlformats.org/officeDocument/2006/math">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xmlns:m="http://schemas.openxmlformats.org/officeDocument/2006/math">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xmlns:m="http://schemas.openxmlformats.org/officeDocument/2006/math">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xmlns:m="http://schemas.openxmlformats.org/officeDocument/2006/math">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xmlns:m="http://schemas.openxmlformats.org/officeDocument/2006/math">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xmlns:m="http://schemas.openxmlformats.org/officeDocument/2006/math">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p:sp>
        <p:nvSpPr>
          <p:cNvPr id="61001" name="Input plot legend Control"/>
          <p:cNvSpPr/>
          <p:nvPr/>
        </p:nvSpPr>
        <p:spPr>
          <a:xfrm>
            <a:off x="5067300" y="4495800"/>
            <a:ext cx="203200" cy="25400"/>
          </a:xfrm>
          <a:custGeom>
            <a:avLst/>
            <a:gdLst/>
            <a:ahLst/>
            <a:cxnLst/>
            <a:rect l="0" t="0" r="r" b="b"/>
            <a:pathLst>
              <a:path w="203200" h="25400" fill="none">
                <a:moveTo>
                  <a:pt x="12700" y="12700"/>
                </a:moveTo>
                <a:lnTo>
                  <a:pt x="190500" y="12700"/>
                </a:lnTo>
              </a:path>
            </a:pathLst>
          </a:custGeom>
          <a:noFill/>
          <a:ln w="19050">
            <a:solidFill>
              <a:srgbClr val="7461A5"/>
            </a:solidFill>
            <a:round/>
          </a:ln>
        </p:spPr>
      </p:sp>
      <p:sp>
        <p:nvSpPr>
          <p:cNvPr id="61002" name="Input plot legend STN disturbance"/>
          <p:cNvSpPr/>
          <p:nvPr/>
        </p:nvSpPr>
        <p:spPr>
          <a:xfrm>
            <a:off x="6210300" y="4495800"/>
            <a:ext cx="203200" cy="25400"/>
          </a:xfrm>
          <a:custGeom>
            <a:avLst/>
            <a:gdLst/>
            <a:ahLst/>
            <a:cxnLst/>
            <a:rect l="0" t="0" r="r" b="b"/>
            <a:pathLst>
              <a:path w="203200" h="25400" fill="none">
                <a:moveTo>
                  <a:pt x="12700" y="12700"/>
                </a:moveTo>
                <a:lnTo>
                  <a:pt x="190500" y="12700"/>
                </a:lnTo>
              </a:path>
            </a:pathLst>
          </a:custGeom>
          <a:noFill/>
          <a:ln w="19050">
            <a:solidFill>
              <a:srgbClr val="D68B22"/>
            </a:solidFill>
            <a:round/>
          </a:ln>
        </p:spPr>
      </p:sp>
      <p:sp>
        <p:nvSpPr>
          <p:cNvPr id="61003" name="Input plot legend GPe disturbance"/>
          <p:cNvSpPr/>
          <p:nvPr/>
        </p:nvSpPr>
        <p:spPr>
          <a:xfrm>
            <a:off x="7467600" y="4495800"/>
            <a:ext cx="203200" cy="25400"/>
          </a:xfrm>
          <a:custGeom>
            <a:avLst/>
            <a:gdLst/>
            <a:ahLst/>
            <a:cxnLst/>
            <a:rect l="0" t="0" r="r" b="b"/>
            <a:pathLst>
              <a:path w="203200" h="25400" fill="none">
                <a:moveTo>
                  <a:pt x="12700" y="12700"/>
                </a:moveTo>
                <a:lnTo>
                  <a:pt x="190500" y="12700"/>
                </a:lnTo>
              </a:path>
            </a:pathLst>
          </a:custGeom>
          <a:noFill/>
          <a:ln w="19050">
            <a:solidFill>
              <a:srgbClr val="D68B22"/>
            </a:solidFill>
            <a:prstDash val="dash"/>
            <a:round/>
          </a:ln>
        </p:spPr>
      </p:sp>
      <mc:AlternateContent xmlns:mc="http://schemas.openxmlformats.org/markup-compatibility/2006" xmlns:a14="http://schemas.microsoft.com/office/drawing/2010/main">
        <mc:Choice Requires="a14">
          <p:sp>
            <p:nvSpPr>
              <p:cNvPr id="61004" name="Input plot legend control text"/>
              <p:cNvSpPr/>
              <p:nvPr/>
            </p:nvSpPr>
            <p:spPr>
              <a:xfrm>
                <a:off x="5295900" y="4339590"/>
                <a:ext cx="812800" cy="3378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50">
                          <a:solidFill>
                            <a:srgbClr val="7461A5"/>
                          </a:solidFill>
                          <a:latin typeface="Cambria Math"/>
                        </a:rPr>
                        <m:t>𝑢</m:t>
                      </m:r>
                      <m:r>
                        <a:rPr sz="950">
                          <a:solidFill>
                            <a:srgbClr val="7461A5"/>
                          </a:solidFill>
                          <a:latin typeface="Cambria Math"/>
                        </a:rPr>
                        <m:t>: </m:t>
                      </m:r>
                      <m:r>
                        <m:rPr>
                          <m:sty m:val="p"/>
                        </m:rPr>
                        <a:rPr sz="950">
                          <a:solidFill>
                            <a:srgbClr val="7461A5"/>
                          </a:solidFill>
                          <a:latin typeface="Cambria Math"/>
                        </a:rPr>
                        <m:t>control</m:t>
                      </m:r>
                    </m:oMath>
                  </m:oMathPara>
                </a14:m>
                <a:endParaRPr sz="950" dirty="0"/>
              </a:p>
            </p:txBody>
          </p:sp>
        </mc:Choice>
        <mc:Fallback xmlns="">
          <p:sp>
            <p:nvSpPr>
              <p:cNvPr id="61004" name="Input plot legend control text"/>
              <p:cNvSpPr>
                <a:spLocks noRot="1" noChangeAspect="1" noMove="1" noResize="1" noEditPoints="1" noAdjustHandles="1" noChangeArrowheads="1" noChangeShapeType="1" noTextEdit="1"/>
              </p:cNvSpPr>
              <p:nvPr/>
            </p:nvSpPr>
            <p:spPr>
              <a:xfrm>
                <a:off x="5295900" y="4339590"/>
                <a:ext cx="812800" cy="3378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1005" name="Input plot legend disturbance S"/>
              <p:cNvSpPr/>
              <p:nvPr/>
            </p:nvSpPr>
            <p:spPr>
              <a:xfrm>
                <a:off x="6413500" y="4339590"/>
                <a:ext cx="1066800" cy="3378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950">
                              <a:solidFill>
                                <a:srgbClr val="D68B22"/>
                              </a:solidFill>
                              <a:latin typeface="Cambria Math"/>
                            </a:rPr>
                          </m:ctrlPr>
                        </m:sSubPr>
                        <m:e>
                          <m:r>
                            <a:rPr sz="950">
                              <a:solidFill>
                                <a:srgbClr val="D68B22"/>
                              </a:solidFill>
                              <a:latin typeface="Cambria Math"/>
                            </a:rPr>
                            <m:t>𝑑</m:t>
                          </m:r>
                        </m:e>
                        <m:sub>
                          <m:r>
                            <m:rPr>
                              <m:sty m:val="p"/>
                            </m:rPr>
                            <a:rPr sz="950">
                              <a:solidFill>
                                <a:srgbClr val="D68B22"/>
                              </a:solidFill>
                              <a:latin typeface="Cambria Math"/>
                            </a:rPr>
                            <m:t>S</m:t>
                          </m:r>
                        </m:sub>
                      </m:sSub>
                      <m:r>
                        <a:rPr sz="950">
                          <a:solidFill>
                            <a:srgbClr val="D68B22"/>
                          </a:solidFill>
                          <a:latin typeface="Cambria Math"/>
                        </a:rPr>
                        <m:t>: </m:t>
                      </m:r>
                      <m:r>
                        <m:rPr>
                          <m:sty m:val="p"/>
                        </m:rPr>
                        <a:rPr sz="950">
                          <a:solidFill>
                            <a:srgbClr val="D68B22"/>
                          </a:solidFill>
                          <a:latin typeface="Cambria Math"/>
                        </a:rPr>
                        <m:t>disturbance</m:t>
                      </m:r>
                    </m:oMath>
                  </m:oMathPara>
                </a14:m>
                <a:endParaRPr sz="950"/>
              </a:p>
            </p:txBody>
          </p:sp>
        </mc:Choice>
        <mc:Fallback xmlns="">
          <p:sp>
            <p:nvSpPr>
              <p:cNvPr id="61005" name="Input plot legend disturbance S"/>
              <p:cNvSpPr>
                <a:spLocks noRot="1" noChangeAspect="1" noMove="1" noResize="1" noEditPoints="1" noAdjustHandles="1" noChangeArrowheads="1" noChangeShapeType="1" noTextEdit="1"/>
              </p:cNvSpPr>
              <p:nvPr/>
            </p:nvSpPr>
            <p:spPr>
              <a:xfrm>
                <a:off x="6413500" y="4339590"/>
                <a:ext cx="1066800" cy="3378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1006" name="Input plot legend disturbance G"/>
              <p:cNvSpPr/>
              <p:nvPr/>
            </p:nvSpPr>
            <p:spPr>
              <a:xfrm>
                <a:off x="7670800" y="4339590"/>
                <a:ext cx="1066800" cy="3378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950">
                              <a:solidFill>
                                <a:srgbClr val="D68B22"/>
                              </a:solidFill>
                              <a:latin typeface="Cambria Math"/>
                            </a:rPr>
                          </m:ctrlPr>
                        </m:sSubPr>
                        <m:e>
                          <m:r>
                            <a:rPr sz="950">
                              <a:solidFill>
                                <a:srgbClr val="D68B22"/>
                              </a:solidFill>
                              <a:latin typeface="Cambria Math"/>
                            </a:rPr>
                            <m:t>𝑑</m:t>
                          </m:r>
                        </m:e>
                        <m:sub>
                          <m:r>
                            <m:rPr>
                              <m:sty m:val="p"/>
                            </m:rPr>
                            <a:rPr sz="950">
                              <a:solidFill>
                                <a:srgbClr val="D68B22"/>
                              </a:solidFill>
                              <a:latin typeface="Cambria Math"/>
                            </a:rPr>
                            <m:t>G</m:t>
                          </m:r>
                        </m:sub>
                      </m:sSub>
                      <m:r>
                        <a:rPr sz="950">
                          <a:solidFill>
                            <a:srgbClr val="D68B22"/>
                          </a:solidFill>
                          <a:latin typeface="Cambria Math"/>
                        </a:rPr>
                        <m:t>: </m:t>
                      </m:r>
                      <m:r>
                        <m:rPr>
                          <m:sty m:val="p"/>
                        </m:rPr>
                        <a:rPr sz="950">
                          <a:solidFill>
                            <a:srgbClr val="D68B22"/>
                          </a:solidFill>
                          <a:latin typeface="Cambria Math"/>
                        </a:rPr>
                        <m:t>disturbance</m:t>
                      </m:r>
                    </m:oMath>
                  </m:oMathPara>
                </a14:m>
                <a:endParaRPr sz="950"/>
              </a:p>
            </p:txBody>
          </p:sp>
        </mc:Choice>
        <mc:Fallback xmlns="">
          <p:sp>
            <p:nvSpPr>
              <p:cNvPr id="61006" name="Input plot legend disturbance G"/>
              <p:cNvSpPr>
                <a:spLocks noRot="1" noChangeAspect="1" noMove="1" noResize="1" noEditPoints="1" noAdjustHandles="1" noChangeArrowheads="1" noChangeShapeType="1" noTextEdit="1"/>
              </p:cNvSpPr>
              <p:nvPr/>
            </p:nvSpPr>
            <p:spPr>
              <a:xfrm>
                <a:off x="7670800" y="4339590"/>
                <a:ext cx="1066800" cy="337820"/>
              </a:xfrm>
              <a:prstGeom prst="rect">
                <a:avLst/>
              </a:prstGeom>
              <a:blipFill>
                <a:blip r:embed="rId19"/>
                <a:stretch>
                  <a:fillRect/>
                </a:stretch>
              </a:blipFill>
              <a:ln>
                <a:noFill/>
              </a:ln>
            </p:spPr>
            <p:txBody>
              <a:bodyPr/>
              <a:lstStyle/>
              <a:p>
                <a:r>
                  <a:rPr lang="en-NL">
                    <a:noFill/>
                  </a:rPr>
                  <a:t> </a:t>
                </a:r>
              </a:p>
            </p:txBody>
          </p:sp>
        </mc:Fallback>
      </mc:AlternateContent>
      <p:pic>
        <p:nvPicPr>
          <p:cNvPr id="62000" name="Still hand from slide 14"/>
          <p:cNvPicPr>
            <a:picLocks noChangeAspect="1"/>
          </p:cNvPicPr>
          <p:nvPr/>
        </p:nvPicPr>
        <p:blipFill>
          <a:blip r:embed="rId20" cstate="print">
            <a:extLst>
              <a:ext uri="{28A0092B-C50C-407E-A947-70E740481C1C}">
                <a14:useLocalDpi xmlns:a14="http://schemas.microsoft.com/office/drawing/2010/main" val="0"/>
              </a:ext>
            </a:extLst>
          </a:blip>
          <a:srcRect l="15942" r="17681"/>
          <a:stretch>
            <a:fillRect/>
          </a:stretch>
        </p:blipFill>
        <p:spPr>
          <a:xfrm>
            <a:off x="7991175" y="-17859"/>
            <a:ext cx="1152825" cy="967898"/>
          </a:xfrm>
          <a:prstGeom prst="rect">
            <a:avLst/>
          </a:prstGeom>
        </p:spPr>
      </p:pic>
      <p:sp>
        <p:nvSpPr>
          <p:cNvPr id="64000" name="Remove duplicate legend swatch 0"/>
          <p:cNvSpPr/>
          <p:nvPr/>
        </p:nvSpPr>
        <p:spPr>
          <a:xfrm>
            <a:off x="1407319" y="3496470"/>
            <a:ext cx="308372" cy="140970"/>
          </a:xfrm>
          <a:prstGeom prst="rect">
            <a:avLst/>
          </a:prstGeom>
          <a:solidFill>
            <a:srgbClr val="FFFFFF"/>
          </a:solidFill>
          <a:ln>
            <a:noFill/>
          </a:ln>
        </p:spPr>
      </p:sp>
      <p:sp>
        <p:nvSpPr>
          <p:cNvPr id="64001" name="Remove duplicate legend swatch 1"/>
          <p:cNvSpPr/>
          <p:nvPr/>
        </p:nvSpPr>
        <p:spPr>
          <a:xfrm>
            <a:off x="1407319" y="3694709"/>
            <a:ext cx="308372" cy="140970"/>
          </a:xfrm>
          <a:prstGeom prst="rect">
            <a:avLst/>
          </a:prstGeom>
          <a:solidFill>
            <a:srgbClr val="FFFFFF"/>
          </a:solidFill>
          <a:ln>
            <a:noFill/>
          </a:ln>
        </p:spPr>
      </p:sp>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 xmlns:m="http://schemas.openxmlformats.org/officeDocument/2006/math" xmlns:a14="http://schemas.microsoft.com/office/drawing/2010/main">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m="http://schemas.openxmlformats.org/officeDocument/2006/math" xmlns="">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m="http://schemas.openxmlformats.org/officeDocument/2006/math" xmlns="">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m="http://schemas.openxmlformats.org/officeDocument/2006/math" xmlns="">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m="http://schemas.openxmlformats.org/officeDocument/2006/math" xmlns="">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m="http://schemas.openxmlformats.org/officeDocument/2006/math"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m="http://schemas.openxmlformats.org/officeDocument/2006/math"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m="http://schemas.openxmlformats.org/officeDocument/2006/math" xmlns="">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5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54</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56</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5744</TotalTime>
  <Words>8972</Words>
  <Application>Microsoft Office PowerPoint</Application>
  <PresentationFormat>On-screen Show (16:9)</PresentationFormat>
  <Paragraphs>1303</Paragraphs>
  <Slides>64</Slides>
  <Notes>54</Notes>
  <HiddenSlides>0</HiddenSlides>
  <MMClips>11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64</vt:i4>
      </vt:variant>
    </vt:vector>
  </HeadingPairs>
  <TitlesOfParts>
    <vt:vector size="70"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Thought experiment: constrain K by \Θ</vt:lpstr>
      <vt:lpstr>PowerPoint Presentation</vt:lpstr>
      <vt:lpstr>Can we transpose \Θ?</vt:lpstr>
      <vt:lpstr>PowerPoint Presentation</vt:lpstr>
      <vt:lpstr>PowerPoint Presentation</vt:lpstr>
      <vt:lpstr>PowerPoint Presentation</vt:lpstr>
      <vt:lpstr>PowerPoint Presentation</vt:lpstr>
      <vt:lpstr>Beta-oscillations</vt:lpstr>
      <vt:lpstr>No more Beta-oscillations</vt:lpstr>
      <vt:lpstr>PowerPoint Presentation</vt:lpstr>
      <vt:lpstr>PowerPoint Presentation</vt:lpstr>
      <vt:lpstr>PowerPoint Presentation</vt:lpstr>
      <vt:lpstr>PowerPoint Presentation</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62</cp:revision>
  <dcterms:created xsi:type="dcterms:W3CDTF">2019-11-27T15:26:32Z</dcterms:created>
  <dcterms:modified xsi:type="dcterms:W3CDTF">2026-09-27T22:51:52Z</dcterms:modified>
</cp:coreProperties>
</file>