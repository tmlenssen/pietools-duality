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theta_image145.png"/><Relationship Id="rId3" Type="http://schemas.openxmlformats.org/officeDocument/2006/relationships/image" Target="../media/slide43theta_image140.png"/><Relationship Id="rId7" Type="http://schemas.openxmlformats.org/officeDocument/2006/relationships/image" Target="../media/slide43theta_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slide43theta_image143.png"/><Relationship Id="rId5" Type="http://schemas.openxmlformats.org/officeDocument/2006/relationships/image" Target="../media/slide43theta_image142.png"/><Relationship Id="rId4" Type="http://schemas.openxmlformats.org/officeDocument/2006/relationships/image" Target="../media/slide43theta_image141.png"/><Relationship Id="rId9" Type="http://schemas.openxmlformats.org/officeDocument/2006/relationships/image" Target="../media/slide43theta_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Original filter"/>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p:sp>
            <p:nvSpPr>
              <p:cNvPr id="11003" name="Original filter"/>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Required dual filter"/>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p:sp>
            <p:nvSpPr>
              <p:cNvPr id="11004" name="Required dual filter"/>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mc:Choice xmlns:a14="http://schemas.microsoft.com/office/drawing/2010/main"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mc:Choice xmlns:a14="http://schemas.microsoft.com/office/drawing/2010/main"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2" name="Dual operation evaluation"/>
              <p:cNvSpPr/>
              <p:nvPr/>
            </p:nvSpPr>
            <p:spPr>
              <a:xfrm>
                <a:off x="571500" y="3710940"/>
                <a:ext cx="8001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D</m:t>
                      </m:r>
                      <m:d>
                        <m:dPr>
                          <m:ctrlPr>
                            <a:rPr sz="2200">
                              <a:solidFill>
                                <a:srgbClr val="252529"/>
                              </a:solidFill>
                              <a:latin typeface="Cambria Math"/>
                            </a:rPr>
                          </m:ctrlPr>
                        </m:dPr>
                        <m:e>
                          <m:r>
                            <a:rPr sz="2200">
                              <a:solidFill>
                                <a:srgbClr val="252529"/>
                              </a:solidFill>
                              <a:latin typeface="Cambria Math"/>
                            </a:rPr>
                            <m:t>𝛩</m:t>
                          </m:r>
                        </m:e>
                      </m:d>
                      <m:r>
                        <a:rPr sz="2200">
                          <a:solidFill>
                            <a:srgbClr val="252529"/>
                          </a:solidFill>
                          <a:latin typeface="Cambria Math"/>
                        </a:rPr>
                        <m:t>=</m:t>
                      </m:r>
                      <m:sSup>
                        <m:sSupPr>
                          <m:ctrlPr>
                            <a:rPr sz="2200" i="1">
                              <a:solidFill>
                                <a:srgbClr val="252529"/>
                              </a:solidFill>
                              <a:latin typeface="Cambria Math" panose="02040503050406030204" pitchFamily="18" charset="0"/>
                            </a:rPr>
                          </m:ctrlPr>
                        </m:sSupPr>
                        <m:e>
                          <m:d>
                            <m:dPr>
                              <m:begChr m:val="["/>
                              <m:endChr m:val="]"/>
                              <m:ctrlPr>
                                <a:rPr sz="2200" i="1">
                                  <a:solidFill>
                                    <a:srgbClr val="252529"/>
                                  </a:solidFill>
                                  <a:latin typeface="Cambria Math" panose="02040503050406030204" pitchFamily="18" charset="0"/>
                                </a:rPr>
                              </m:ctrlPr>
                            </m:dPr>
                            <m:e>
                              <m:m>
                                <m:mPr>
                                  <m:mcs>
                                    <m:mc>
                                      <m:mcPr>
                                        <m:count m:val="2"/>
                                        <m:mcJc m:val="center"/>
                                      </m:mcPr>
                                    </m:mc>
                                  </m:mcs>
                                  <m:ctrlPr>
                                    <a:rPr sz="2200" i="1">
                                      <a:solidFill>
                                        <a:srgbClr val="252529"/>
                                      </a:solidFill>
                                      <a:latin typeface="Cambria Math" panose="02040503050406030204" pitchFamily="18" charset="0"/>
                                    </a:rPr>
                                  </m:ctrlPr>
                                </m:mPr>
                                <m:mr>
                                  <m:e>
                                    <m:r>
                                      <m:rPr>
                                        <m:sty m:val="p"/>
                                      </m:rPr>
                                      <a:rPr sz="2200">
                                        <a:solidFill>
                                          <a:srgbClr val="252529"/>
                                        </a:solidFill>
                                        <a:latin typeface="Cambria Math"/>
                                      </a:rPr>
                                      <m:t>I</m:t>
                                    </m:r>
                                  </m:e>
                                  <m:e>
                                    <m:r>
                                      <a:rPr sz="2200">
                                        <a:solidFill>
                                          <a:srgbClr val="252529"/>
                                        </a:solidFill>
                                        <a:latin typeface="Cambria Math"/>
                                      </a:rPr>
                                      <m:t>0</m:t>
                                    </m:r>
                                  </m:e>
                                </m:mr>
                                <m:mr>
                                  <m:e>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e>
                                  <m:e>
                                    <m:r>
                                      <m:rPr>
                                        <m:sty m:val="p"/>
                                      </m:rPr>
                                      <a:rPr sz="2200">
                                        <a:solidFill>
                                          <a:srgbClr val="252529"/>
                                        </a:solidFill>
                                        <a:latin typeface="Cambria Math"/>
                                      </a:rPr>
                                      <m:t>I</m:t>
                                    </m:r>
                                  </m:e>
                                </m:mr>
                              </m:m>
                            </m:e>
                          </m:d>
                        </m:e>
                        <m:sup>
                          <m:r>
                            <a:rPr sz="2200">
                              <a:solidFill>
                                <a:srgbClr val="252529"/>
                              </a:solidFill>
                              <a:latin typeface="Cambria Math"/>
                            </a:rPr>
                            <m:t>−1</m:t>
                          </m:r>
                        </m:sup>
                      </m:sSup>
                      <m:r>
                        <a:rPr sz="2200">
                          <a:solidFill>
                            <a:srgbClr val="252529"/>
                          </a:solidFill>
                          <a:latin typeface="Cambria Math"/>
                        </a:rPr>
                        <m:t>=</m:t>
                      </m:r>
                      <m:d>
                        <m:dPr>
                          <m:begChr m:val="["/>
                          <m:endChr m:val="]"/>
                          <m:ctrlPr>
                            <a:rPr sz="2200" i="1">
                              <a:solidFill>
                                <a:srgbClr val="252529"/>
                              </a:solidFill>
                              <a:latin typeface="Cambria Math" panose="02040503050406030204" pitchFamily="18" charset="0"/>
                            </a:rPr>
                          </m:ctrlPr>
                        </m:dPr>
                        <m:e>
                          <m:m>
                            <m:mPr>
                              <m:mcs>
                                <m:mc>
                                  <m:mcPr>
                                    <m:count m:val="2"/>
                                    <m:mcJc m:val="center"/>
                                  </m:mcPr>
                                </m:mc>
                              </m:mcs>
                              <m:ctrlPr>
                                <a:rPr sz="2200" i="1">
                                  <a:solidFill>
                                    <a:srgbClr val="252529"/>
                                  </a:solidFill>
                                  <a:latin typeface="Cambria Math" panose="02040503050406030204" pitchFamily="18" charset="0"/>
                                </a:rPr>
                              </m:ctrlPr>
                            </m:mPr>
                            <m:mr>
                              <m:e>
                                <m:r>
                                  <m:rPr>
                                    <m:sty m:val="p"/>
                                  </m:rPr>
                                  <a:rPr sz="2200">
                                    <a:solidFill>
                                      <a:srgbClr val="252529"/>
                                    </a:solidFill>
                                    <a:latin typeface="Cambria Math"/>
                                  </a:rPr>
                                  <m:t>I</m:t>
                                </m:r>
                              </m:e>
                              <m:e>
                                <m:r>
                                  <a:rPr sz="2200">
                                    <a:solidFill>
                                      <a:srgbClr val="252529"/>
                                    </a:solidFill>
                                    <a:latin typeface="Cambria Math"/>
                                  </a:rPr>
                                  <m:t>0</m:t>
                                </m:r>
                              </m:e>
                            </m:mr>
                            <m:mr>
                              <m:e>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e>
                              <m:e>
                                <m:r>
                                  <m:rPr>
                                    <m:sty m:val="p"/>
                                  </m:rPr>
                                  <a:rPr sz="2200">
                                    <a:solidFill>
                                      <a:srgbClr val="252529"/>
                                    </a:solidFill>
                                    <a:latin typeface="Cambria Math"/>
                                  </a:rPr>
                                  <m:t>I</m:t>
                                </m:r>
                              </m:e>
                            </m:mr>
                          </m:m>
                        </m:e>
                      </m:d>
                      <m:r>
                        <a:rPr sz="2200">
                          <a:solidFill>
                            <a:srgbClr val="252529"/>
                          </a:solidFill>
                          <a:latin typeface="Cambria Math"/>
                        </a:rPr>
                        <m:t>=</m:t>
                      </m:r>
                      <m:bar>
                        <m:barPr>
                          <m:pos m:val="bot"/>
                          <m:ctrlPr>
                            <a:rPr sz="2200">
                              <a:solidFill>
                                <a:srgbClr val="252529"/>
                              </a:solidFill>
                              <a:latin typeface="Cambria Math"/>
                            </a:rPr>
                          </m:ctrlPr>
                        </m:barPr>
                        <m:e>
                          <m:r>
                            <a:rPr sz="2200">
                              <a:solidFill>
                                <a:srgbClr val="252529"/>
                              </a:solidFill>
                              <a:latin typeface="Cambria Math"/>
                            </a:rPr>
                            <m:t>𝛩</m:t>
                          </m:r>
                        </m:e>
                      </m:bar>
                    </m:oMath>
                  </m:oMathPara>
                </a14:m>
                <a:endParaRPr sz="2200"/>
              </a:p>
            </p:txBody>
          </p:sp>
        </mc:Choice>
        <mc:Fallback>
          <p:sp>
            <p:nvSpPr>
              <p:cNvPr id="11012" name="Dual operation evaluation"/>
              <p:cNvSpPr>
                <a:spLocks noRot="1" noChangeAspect="1" noMove="1" noResize="1" noEditPoints="1" noAdjustHandles="1" noChangeArrowheads="1" noChangeShapeType="1" noTextEdit="1"/>
              </p:cNvSpPr>
              <p:nvPr/>
            </p:nvSpPr>
            <p:spPr>
              <a:xfrm>
                <a:off x="571500" y="3710940"/>
                <a:ext cx="8001000" cy="782320"/>
              </a:xfrm>
              <a:prstGeom prst="rect">
                <a:avLst/>
              </a:prstGeom>
              <a:blipFill>
                <a:blip r:embed="rId9"/>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nodeType="withEffect">
                                  <p:stCondLst>
                                    <p:cond delay="300"/>
                                  </p:stCondLst>
                                  <p:childTnLst>
                                    <p:set>
                                      <p:cBhvr>
                                        <p:cTn id="20" dur="1" fill="hold">
                                          <p:stCondLst>
                                            <p:cond delay="0"/>
                                          </p:stCondLst>
                                        </p:cTn>
                                        <p:tgtEl>
                                          <p:spTgt spid="11007"/>
                                        </p:tgtEl>
                                        <p:attrNameLst>
                                          <p:attrName>style.visibility</p:attrName>
                                        </p:attrNameLst>
                                      </p:cBhvr>
                                      <p:to>
                                        <p:strVal val="visible"/>
                                      </p:to>
                                    </p:set>
                                    <p:animEffect transition="in" filter="fade">
                                      <p:cBhvr>
                                        <p:cTn id="21" dur="400"/>
                                        <p:tgtEl>
                                          <p:spTgt spid="1100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11008"/>
                                        </p:tgtEl>
                                        <p:attrNameLst>
                                          <p:attrName>style.visibility</p:attrName>
                                        </p:attrNameLst>
                                      </p:cBhvr>
                                      <p:to>
                                        <p:strVal val="visible"/>
                                      </p:to>
                                    </p:set>
                                    <p:animEffect transition="in" filter="fade">
                                      <p:cBhvr>
                                        <p:cTn id="24" dur="400"/>
                                        <p:tgtEl>
                                          <p:spTgt spid="11008"/>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1009"/>
                                        </p:tgtEl>
                                        <p:attrNameLst>
                                          <p:attrName>style.visibility</p:attrName>
                                        </p:attrNameLst>
                                      </p:cBhvr>
                                      <p:to>
                                        <p:strVal val="visible"/>
                                      </p:to>
                                    </p:set>
                                    <p:animEffect transition="in" filter="fade">
                                      <p:cBhvr>
                                        <p:cTn id="27" dur="400"/>
                                        <p:tgtEl>
                                          <p:spTgt spid="11009"/>
                                        </p:tgtEl>
                                      </p:cBhvr>
                                    </p:animEffect>
                                  </p:childTnLst>
                                </p:cTn>
                              </p:par>
                              <p:par>
                                <p:cTn id="28" presetID="10" presetClass="entr" presetSubtype="0" fill="hold" nodeType="withEffect">
                                  <p:stCondLst>
                                    <p:cond delay="300"/>
                                  </p:stCondLst>
                                  <p:childTnLst>
                                    <p:set>
                                      <p:cBhvr>
                                        <p:cTn id="29" dur="1" fill="hold">
                                          <p:stCondLst>
                                            <p:cond delay="0"/>
                                          </p:stCondLst>
                                        </p:cTn>
                                        <p:tgtEl>
                                          <p:spTgt spid="11010"/>
                                        </p:tgtEl>
                                        <p:attrNameLst>
                                          <p:attrName>style.visibility</p:attrName>
                                        </p:attrNameLst>
                                      </p:cBhvr>
                                      <p:to>
                                        <p:strVal val="visible"/>
                                      </p:to>
                                    </p:set>
                                    <p:animEffect transition="in" filter="fade">
                                      <p:cBhvr>
                                        <p:cTn id="30" dur="400"/>
                                        <p:tgtEl>
                                          <p:spTgt spid="11010"/>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1011"/>
                                        </p:tgtEl>
                                        <p:attrNameLst>
                                          <p:attrName>style.visibility</p:attrName>
                                        </p:attrNameLst>
                                      </p:cBhvr>
                                      <p:to>
                                        <p:strVal val="visible"/>
                                      </p:to>
                                    </p:set>
                                    <p:animEffect transition="in" filter="fade">
                                      <p:cBhvr>
                                        <p:cTn id="33" dur="400"/>
                                        <p:tgtEl>
                                          <p:spTgt spid="11011"/>
                                        </p:tgtEl>
                                      </p:cBhvr>
                                    </p:animEffect>
                                  </p:childTnLst>
                                </p:cTn>
                              </p:par>
                              <p:par>
                                <p:cTn id="34" presetID="10" presetClass="entr" presetSubtype="0" fill="hold" grpId="0" nodeType="withEffect">
                                  <p:stCondLst>
                                    <p:cond delay="300"/>
                                  </p:stCondLst>
                                  <p:childTnLst>
                                    <p:set>
                                      <p:cBhvr>
                                        <p:cTn id="35" dur="1" fill="hold">
                                          <p:stCondLst>
                                            <p:cond delay="0"/>
                                          </p:stCondLst>
                                        </p:cTn>
                                        <p:tgtEl>
                                          <p:spTgt spid="11012"/>
                                        </p:tgtEl>
                                        <p:attrNameLst>
                                          <p:attrName>style.visibility</p:attrName>
                                        </p:attrNameLst>
                                      </p:cBhvr>
                                      <p:to>
                                        <p:strVal val="visible"/>
                                      </p:to>
                                    </p:set>
                                    <p:animEffect transition="in" filter="fade">
                                      <p:cBhvr>
                                        <p:cTn id="36" dur="400"/>
                                        <p:tgtEl>
                                          <p:spTgt spid="11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8" grpId="0"/>
      <p:bldP spid="11009" grpId="0"/>
      <p:bldP spid="11011" grpId="0"/>
      <p:bldP spid="110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