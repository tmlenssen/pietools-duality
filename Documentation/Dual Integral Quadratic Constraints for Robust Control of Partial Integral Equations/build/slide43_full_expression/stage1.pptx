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full_image144.png"/><Relationship Id="rId13" Type="http://schemas.openxmlformats.org/officeDocument/2006/relationships/image" Target="../media/slide43full_image149.png"/><Relationship Id="rId18" Type="http://schemas.openxmlformats.org/officeDocument/2006/relationships/image" Target="../media/slide43full_image155.png"/><Relationship Id="rId26" Type="http://schemas.openxmlformats.org/officeDocument/2006/relationships/image" Target="../media/slide43full_image163.png"/><Relationship Id="rId3" Type="http://schemas.openxmlformats.org/officeDocument/2006/relationships/image" Target="../media/slide43full_image140.png"/><Relationship Id="rId21" Type="http://schemas.openxmlformats.org/officeDocument/2006/relationships/image" Target="../media/slide43full_image158.png"/><Relationship Id="rId7" Type="http://schemas.openxmlformats.org/officeDocument/2006/relationships/image" Target="../media/slide43full_image143.png"/><Relationship Id="rId12" Type="http://schemas.openxmlformats.org/officeDocument/2006/relationships/image" Target="../media/slide43full_image148.png"/><Relationship Id="rId17" Type="http://schemas.openxmlformats.org/officeDocument/2006/relationships/image" Target="../media/slide43full_image154.png"/><Relationship Id="rId25" Type="http://schemas.openxmlformats.org/officeDocument/2006/relationships/image" Target="../media/slide43full_image162.png"/><Relationship Id="rId2" Type="http://schemas.openxmlformats.org/officeDocument/2006/relationships/notesSlide" Target="../notesSlides/notesSlide36.xml"/><Relationship Id="rId16" Type="http://schemas.openxmlformats.org/officeDocument/2006/relationships/image" Target="../media/slide43full_image153.png"/><Relationship Id="rId20" Type="http://schemas.openxmlformats.org/officeDocument/2006/relationships/image" Target="../media/slide43full_image157.png"/><Relationship Id="rId29" Type="http://schemas.openxmlformats.org/officeDocument/2006/relationships/image" Target="../media/slide43full_image166.png"/><Relationship Id="rId1" Type="http://schemas.openxmlformats.org/officeDocument/2006/relationships/slideLayout" Target="../slideLayouts/slideLayout12.xml"/><Relationship Id="rId6" Type="http://schemas.openxmlformats.org/officeDocument/2006/relationships/image" Target="../media/slide43full_slide43animated_slide43theta_image143.png"/><Relationship Id="rId11" Type="http://schemas.openxmlformats.org/officeDocument/2006/relationships/image" Target="../media/slide43full_image147.png"/><Relationship Id="rId24" Type="http://schemas.openxmlformats.org/officeDocument/2006/relationships/image" Target="../media/slide43full_image161.png"/><Relationship Id="rId5" Type="http://schemas.openxmlformats.org/officeDocument/2006/relationships/image" Target="../media/slide43full_image142.png"/><Relationship Id="rId15" Type="http://schemas.openxmlformats.org/officeDocument/2006/relationships/image" Target="../media/slide43full_image152.png"/><Relationship Id="rId23" Type="http://schemas.openxmlformats.org/officeDocument/2006/relationships/image" Target="../media/slide43full_image160.png"/><Relationship Id="rId28" Type="http://schemas.openxmlformats.org/officeDocument/2006/relationships/image" Target="../media/slide43full_image165.png"/><Relationship Id="rId10" Type="http://schemas.openxmlformats.org/officeDocument/2006/relationships/image" Target="../media/slide43full_image146.png"/><Relationship Id="rId19" Type="http://schemas.openxmlformats.org/officeDocument/2006/relationships/image" Target="../media/slide43full_image156.png"/><Relationship Id="rId31" Type="http://schemas.openxmlformats.org/officeDocument/2006/relationships/image" Target="../media/slide43full_image168.png"/><Relationship Id="rId4" Type="http://schemas.openxmlformats.org/officeDocument/2006/relationships/image" Target="../media/slide43full_image141.png"/><Relationship Id="rId9" Type="http://schemas.openxmlformats.org/officeDocument/2006/relationships/image" Target="../media/slide43full_image145.png"/><Relationship Id="rId14" Type="http://schemas.openxmlformats.org/officeDocument/2006/relationships/image" Target="../media/slide43full_image151.png"/><Relationship Id="rId22" Type="http://schemas.openxmlformats.org/officeDocument/2006/relationships/image" Target="../media/slide43full_image159.png"/><Relationship Id="rId27" Type="http://schemas.openxmlformats.org/officeDocument/2006/relationships/image" Target="../media/slide43full_image164.png"/><Relationship Id="rId30" Type="http://schemas.openxmlformats.org/officeDocument/2006/relationships/image" Target="../media/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3.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4.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5.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46.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47.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9.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8.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1.png"/></Relationships>
</file>

<file path=ppt/slides/_rels/slide58.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2.png"/></Relationships>
</file>

<file path=ppt/slides/_rels/slide59.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i="1" smtClean="0">
                          <a:solidFill>
                            <a:srgbClr val="252529"/>
                          </a:solidFill>
                          <a:latin typeface="Cambria Math" panose="02040503050406030204" pitchFamily="18" charset="0"/>
                        </a:rPr>
                        <m:t>Θ</m:t>
                      </m: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r>
                                  <a:rPr lang="en-US" sz="2300" i="1" smtClean="0">
                                    <a:solidFill>
                                      <a:srgbClr val="252529"/>
                                    </a:solidFill>
                                    <a:latin typeface="Cambria Math" panose="02040503050406030204" pitchFamily="18" charset="0"/>
                                  </a:rPr>
                                  <m:t>𝐾</m:t>
                                </m:r>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2300" i="1" smtClean="0">
                              <a:solidFill>
                                <a:srgbClr val="252529"/>
                              </a:solidFill>
                              <a:latin typeface="Cambria Math" panose="02040503050406030204" pitchFamily="18" charset="0"/>
                            </a:rPr>
                          </m:ctrlPr>
                        </m:barPr>
                        <m:e>
                          <m:r>
                            <m:rPr>
                              <m:sty m:val="p"/>
                            </m:rPr>
                            <a:rPr lang="en-US" sz="2300" i="1" smtClean="0">
                              <a:solidFill>
                                <a:srgbClr val="252529"/>
                              </a:solidFill>
                              <a:latin typeface="Cambria Math" panose="02040503050406030204" pitchFamily="18" charset="0"/>
                            </a:rPr>
                            <m:t>Θ</m:t>
                          </m:r>
                        </m:e>
                      </m:bar>
                      <m:r>
                        <a:rPr lang="en-US" sz="2300" i="1" smtClean="0">
                          <a:solidFill>
                            <a:srgbClr val="252529"/>
                          </a:solidFill>
                          <a:latin typeface="Cambria Math" panose="02040503050406030204" pitchFamily="18" charset="0"/>
                        </a:rPr>
                        <m:t>=</m:t>
                      </m:r>
                      <m:d>
                        <m:dPr>
                          <m:begChr m:val="["/>
                          <m:endChr m:val="]"/>
                          <m:ctrlPr>
                            <a:rPr lang="en-US" sz="2300" i="1" smtClean="0">
                              <a:solidFill>
                                <a:srgbClr val="252529"/>
                              </a:solidFill>
                              <a:latin typeface="Cambria Math" panose="02040503050406030204" pitchFamily="18" charset="0"/>
                            </a:rPr>
                          </m:ctrlPr>
                        </m:dPr>
                        <m:e>
                          <m:m>
                            <m:mPr>
                              <m:mcs>
                                <m:mc>
                                  <m:mcPr>
                                    <m:count m:val="2"/>
                                    <m:mcJc m:val="center"/>
                                  </m:mcPr>
                                </m:mc>
                              </m:mcs>
                              <m:ctrlPr>
                                <a:rPr lang="en-US" sz="2300" i="1" smtClean="0">
                                  <a:solidFill>
                                    <a:srgbClr val="252529"/>
                                  </a:solidFill>
                                  <a:latin typeface="Cambria Math" panose="02040503050406030204" pitchFamily="18" charset="0"/>
                                </a:rPr>
                              </m:ctrlPr>
                            </m:mPr>
                            <m:mr>
                              <m:e>
                                <m:r>
                                  <m:rPr>
                                    <m:sty m:val="p"/>
                                  </m:rPr>
                                  <a:rPr lang="en-US" sz="2300" i="1" smtClean="0">
                                    <a:solidFill>
                                      <a:srgbClr val="252529"/>
                                    </a:solidFill>
                                    <a:latin typeface="Cambria Math" panose="02040503050406030204" pitchFamily="18" charset="0"/>
                                  </a:rPr>
                                  <m:t>I</m:t>
                                </m:r>
                              </m:e>
                              <m:e>
                                <m:r>
                                  <a:rPr lang="en-US" sz="2300" i="1" smtClean="0">
                                    <a:solidFill>
                                      <a:srgbClr val="252529"/>
                                    </a:solidFill>
                                    <a:latin typeface="Cambria Math" panose="02040503050406030204" pitchFamily="18" charset="0"/>
                                  </a:rPr>
                                  <m:t>0</m:t>
                                </m:r>
                              </m:e>
                            </m:mr>
                            <m:mr>
                              <m:e>
                                <m:r>
                                  <a:rPr lang="en-US" sz="2300" i="1" smtClean="0">
                                    <a:solidFill>
                                      <a:srgbClr val="252529"/>
                                    </a:solidFill>
                                    <a:latin typeface="Cambria Math" panose="02040503050406030204" pitchFamily="18" charset="0"/>
                                  </a:rPr>
                                  <m:t>−</m:t>
                                </m:r>
                                <m:sSup>
                                  <m:sSupPr>
                                    <m:ctrlPr>
                                      <a:rPr lang="en-US" sz="2300" i="1" smtClean="0">
                                        <a:solidFill>
                                          <a:srgbClr val="252529"/>
                                        </a:solidFill>
                                        <a:latin typeface="Cambria Math" panose="02040503050406030204" pitchFamily="18" charset="0"/>
                                      </a:rPr>
                                    </m:ctrlPr>
                                  </m:sSupPr>
                                  <m:e>
                                    <m:r>
                                      <a:rPr lang="en-US" sz="2300" i="1" smtClean="0">
                                        <a:solidFill>
                                          <a:srgbClr val="252529"/>
                                        </a:solidFill>
                                        <a:latin typeface="Cambria Math" panose="02040503050406030204" pitchFamily="18" charset="0"/>
                                      </a:rPr>
                                      <m:t>𝐾</m:t>
                                    </m:r>
                                  </m:e>
                                  <m:sup>
                                    <m:r>
                                      <a:rPr lang="en-US" sz="2300" b="0" i="1" smtClean="0">
                                        <a:solidFill>
                                          <a:srgbClr val="252529"/>
                                        </a:solidFill>
                                        <a:latin typeface="Cambria Math" panose="02040503050406030204" pitchFamily="18" charset="0"/>
                                      </a:rPr>
                                      <m:t>∗</m:t>
                                    </m:r>
                                  </m:sup>
                                </m:sSup>
                              </m:e>
                              <m:e>
                                <m:r>
                                  <m:rPr>
                                    <m:sty m:val="p"/>
                                  </m:rPr>
                                  <a:rPr lang="en-US" sz="2300" i="1" smtClean="0">
                                    <a:solidFill>
                                      <a:srgbClr val="252529"/>
                                    </a:solidFill>
                                    <a:latin typeface="Cambria Math" panose="02040503050406030204" pitchFamily="18" charset="0"/>
                                  </a:rPr>
                                  <m:t>I</m:t>
                                </m:r>
                              </m:e>
                            </m:mr>
                          </m:m>
                        </m:e>
                      </m:d>
                    </m:oMath>
                  </m:oMathPara>
                </a14:m>
                <a:endParaRPr sz="2300" dirty="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mc:Choice xmlns:a14="http://schemas.microsoft.com/office/drawing/2010/main"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a:rPr sz="2300">
                              <a:solidFill>
                                <a:srgbClr val="252529"/>
                              </a:solidFill>
                              <a:latin typeface="Cambria Math"/>
                            </a:rPr>
                            <m:t>𝛩</m:t>
                          </m:r>
                        </m:e>
                      </m:d>
                      <m:r>
                        <a:rPr sz="2300">
                          <a:solidFill>
                            <a:srgbClr val="252529"/>
                          </a:solidFill>
                          <a:latin typeface="Cambria Math"/>
                        </a:rPr>
                        <m:t>=</m:t>
                      </m:r>
                    </m:oMath>
                  </m:oMathPara>
                </a14:m>
                <a:endParaRPr sz="2300"/>
              </a:p>
            </p:txBody>
          </p:sp>
        </mc:Choice>
        <mc:Fallback>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m:rPr>
                                    <m:sty m:val="p"/>
                                  </m:rPr>
                                  <a:rPr sz="2300">
                                    <a:solidFill>
                                      <a:srgbClr val="252529"/>
                                    </a:solidFill>
                                    <a:latin typeface="Cambria Math"/>
                                  </a:rPr>
                                  <m:t>I</m:t>
                                </m:r>
                              </m:e>
                            </m:mr>
                            <m:mr>
                              <m:e>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m:rPr>
                                    <m:sty m:val="p"/>
                                  </m:rPr>
                                  <a:rPr sz="2300">
                                    <a:solidFill>
                                      <a:srgbClr val="252529"/>
                                    </a:solidFill>
                                    <a:latin typeface="Cambria Math"/>
                                  </a:rPr>
                                  <m:t>I</m:t>
                                </m:r>
                              </m:e>
                            </m:mr>
                            <m:mr>
                              <m:e>
                                <m:r>
                                  <a:rPr sz="2300">
                                    <a:solidFill>
                                      <a:srgbClr val="252529"/>
                                    </a:solidFill>
                                    <a:latin typeface="Cambria Math"/>
                                  </a:rPr>
                                  <m:t>−</m:t>
                                </m:r>
                                <m:r>
                                  <m:rPr>
                                    <m:sty m:val="p"/>
                                  </m:rPr>
                                  <a:rPr sz="2300">
                                    <a:solidFill>
                                      <a:srgbClr val="252529"/>
                                    </a:solidFill>
                                    <a:latin typeface="Cambria Math"/>
                                  </a:rPr>
                                  <m:t>I</m:t>
                                </m:r>
                              </m:e>
                              <m:e>
                                <m:r>
                                  <a:rPr sz="2300">
                                    <a:solidFill>
                                      <a:srgbClr val="252529"/>
                                    </a:solidFill>
                                    <a:latin typeface="Cambria Math"/>
                                  </a:rPr>
                                  <m:t>0</m:t>
                                </m:r>
                              </m:e>
                            </m:mr>
                          </m:m>
                        </m:e>
                      </m:d>
                    </m:oMath>
                  </m:oMathPara>
                </a14:m>
                <a:endParaRPr sz="2300"/>
              </a:p>
            </p:txBody>
          </p:sp>
        </mc:Choice>
        <mc:Fallback>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I</m:t>
                      </m:r>
                    </m:oMath>
                  </m:oMathPara>
                </a14:m>
                <a:endParaRPr sz="2300"/>
              </a:p>
            </p:txBody>
          </p:sp>
        </mc:Choice>
        <mc:Fallback>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mc:Choice xmlns:a14="http://schemas.microsoft.com/office/drawing/2010/main"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p:sp>
        <p:nvSpPr>
          <p:cNvPr id="14022" name="Full D 1 caption"/>
          <p:cNvSpPr/>
          <p:nvPr/>
        </p:nvSpPr>
        <p:spPr>
          <a:xfrm>
            <a:off x="444500" y="4254500"/>
            <a:ext cx="82550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Substitute the filter into the full expression</a:t>
            </a:r>
            <a:endParaRPr sz="1600"/>
          </a:p>
        </p:txBody>
      </p:sp>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5708</TotalTime>
  <Words>8271</Words>
  <Application>Microsoft Office PowerPoint</Application>
  <PresentationFormat>On-screen Show (16:9)</PresentationFormat>
  <Paragraphs>1122</Paragraphs>
  <Slides>59</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2026-09-27T21:29:22Z</dcterms:modified>
</cp:coreProperties>
</file>