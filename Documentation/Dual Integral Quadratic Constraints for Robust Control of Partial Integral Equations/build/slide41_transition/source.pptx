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50" d="100"/>
          <a:sy n="150" d="100"/>
        </p:scale>
        <p:origin x="1518" y="10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png"/><Relationship Id="rId3" Type="http://schemas.openxmlformats.org/officeDocument/2006/relationships/image" Target="../media/image116.png"/><Relationship Id="rId21" Type="http://schemas.openxmlformats.org/officeDocument/2006/relationships/image" Target="../media/image127.png"/><Relationship Id="rId7" Type="http://schemas.openxmlformats.org/officeDocument/2006/relationships/image" Target="../media/slide41original_restore41_image118.png"/><Relationship Id="rId25" Type="http://schemas.openxmlformats.org/officeDocument/2006/relationships/image" Target="../media/image128.png"/><Relationship Id="rId2" Type="http://schemas.openxmlformats.org/officeDocument/2006/relationships/image" Target="../media/image115.png"/><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slide41original_image120.png"/><Relationship Id="rId1" Type="http://schemas.openxmlformats.org/officeDocument/2006/relationships/slideLayout" Target="../slideLayouts/slideLayout12.xml"/><Relationship Id="rId24" Type="http://schemas.openxmlformats.org/officeDocument/2006/relationships/image" Target="../media/slide41original_image117.png"/><Relationship Id="rId32" Type="http://schemas.openxmlformats.org/officeDocument/2006/relationships/image" Target="../media/image133.png"/><Relationship Id="rId5" Type="http://schemas.openxmlformats.org/officeDocument/2006/relationships/image" Target="../media/image118.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slide41original_image119.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slide41original_image115.png"/><Relationship Id="rId27" Type="http://schemas.openxmlformats.org/officeDocument/2006/relationships/image" Target="../media/image131.png"/><Relationship Id="rId30" Type="http://schemas.openxmlformats.org/officeDocument/2006/relationships/image" Target="../media/slide41original_image121.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4.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5.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6.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7.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8.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0.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39.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1.png"/></Relationships>
</file>

<file path=ppt/slides/_rels/slide5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2.png"/></Relationships>
</file>

<file path=ppt/slides/_rels/slide5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a:t>Thought experiment: </a:t>
                </a:r>
                <a:r>
                  <a:rPr lang="en-US" dirty="0"/>
                  <a:t>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5"/>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𝐾𝑦</m:t>
                      </m: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𝑦</m:t>
                                  </m: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700">
                              <a:solidFill>
                                <a:srgbClr val="252529"/>
                              </a:solidFill>
                              <a:latin typeface="Cambria Math"/>
                            </a:rPr>
                          </m:ctrlPr>
                        </m:barPr>
                        <m:e>
                          <m:r>
                            <a:rPr sz="1700">
                              <a:solidFill>
                                <a:srgbClr val="252529"/>
                              </a:solidFill>
                              <a:latin typeface="Cambria Math"/>
                            </a:rPr>
                            <m:t>𝑢</m:t>
                          </m:r>
                        </m:e>
                      </m:ba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bar>
                                    <m:barPr>
                                      <m:pos m:val="bot"/>
                                      <m:ctrlPr>
                                        <a:rPr lang="en-US" sz="1800" i="1" smtClean="0">
                                          <a:solidFill>
                                            <a:srgbClr val="252529"/>
                                          </a:solidFill>
                                          <a:latin typeface="Cambria Math" panose="02040503050406030204" pitchFamily="18" charset="0"/>
                                        </a:rPr>
                                      </m:ctrlPr>
                                    </m:barPr>
                                    <m:e>
                                      <m:r>
                                        <a:rPr lang="en-US" sz="1800" i="1" smtClean="0">
                                          <a:solidFill>
                                            <a:srgbClr val="252529"/>
                                          </a:solidFill>
                                          <a:latin typeface="Cambria Math" panose="02040503050406030204" pitchFamily="18" charset="0"/>
                                        </a:rPr>
                                        <m:t>𝑦</m:t>
                                      </m:r>
                                    </m:e>
                                  </m:ba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1" nodeType="clickEffect">
                                  <p:stCondLst>
                                    <p:cond delay="0"/>
                                  </p:stCondLst>
                                  <p:childTnLst>
                                    <p:set>
                                      <p:cBhvr>
                                        <p:cTn id="72" dur="1" fill="hold">
                                          <p:stCondLst>
                                            <p:cond delay="0"/>
                                          </p:stCondLst>
                                        </p:cTn>
                                        <p:tgtEl>
                                          <p:spTgt spid="10002"/>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10008"/>
                                        </p:tgtEl>
                                        <p:attrNameLst>
                                          <p:attrName>style.visibility</p:attrName>
                                        </p:attrNameLst>
                                      </p:cBhvr>
                                      <p:to>
                                        <p:strVal val="visible"/>
                                      </p:to>
                                    </p:set>
                                  </p:childTnLst>
                                </p:cTn>
                              </p:par>
                              <p:par>
                                <p:cTn id="75" presetID="1" presetClass="entr" presetSubtype="0" fill="hold" grpId="1" nodeType="withEffect">
                                  <p:stCondLst>
                                    <p:cond delay="0"/>
                                  </p:stCondLst>
                                  <p:childTnLst>
                                    <p:set>
                                      <p:cBhvr>
                                        <p:cTn id="76" dur="1" fill="hold">
                                          <p:stCondLst>
                                            <p:cond delay="0"/>
                                          </p:stCondLst>
                                        </p:cTn>
                                        <p:tgtEl>
                                          <p:spTgt spid="10003"/>
                                        </p:tgtEl>
                                        <p:attrNameLst>
                                          <p:attrName>style.visibility</p:attrName>
                                        </p:attrNameLst>
                                      </p:cBhvr>
                                      <p:to>
                                        <p:strVal val="visible"/>
                                      </p:to>
                                    </p:set>
                                  </p:childTnLst>
                                </p:cTn>
                              </p:par>
                              <p:par>
                                <p:cTn id="77" presetID="1" presetClass="entr" presetSubtype="0" fill="hold" grpId="1" nodeType="withEffect">
                                  <p:stCondLst>
                                    <p:cond delay="0"/>
                                  </p:stCondLst>
                                  <p:childTnLst>
                                    <p:set>
                                      <p:cBhvr>
                                        <p:cTn id="78" dur="1" fill="hold">
                                          <p:stCondLst>
                                            <p:cond delay="0"/>
                                          </p:stCondLst>
                                        </p:cTn>
                                        <p:tgtEl>
                                          <p:spTgt spid="1000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1" nodeType="clickEffect">
                                  <p:stCondLst>
                                    <p:cond delay="0"/>
                                  </p:stCondLst>
                                  <p:childTnLst>
                                    <p:set>
                                      <p:cBhvr>
                                        <p:cTn id="82" dur="1" fill="hold">
                                          <p:stCondLst>
                                            <p:cond delay="0"/>
                                          </p:stCondLst>
                                        </p:cTn>
                                        <p:tgtEl>
                                          <p:spTgt spid="10004"/>
                                        </p:tgtEl>
                                        <p:attrNameLst>
                                          <p:attrName>style.visibility</p:attrName>
                                        </p:attrNameLst>
                                      </p:cBhvr>
                                      <p:to>
                                        <p:strVal val="visible"/>
                                      </p:to>
                                    </p:set>
                                  </p:childTnLst>
                                </p:cTn>
                              </p:par>
                              <p:par>
                                <p:cTn id="83" presetID="1" presetClass="entr" presetSubtype="0" fill="hold" grpId="1" nodeType="withEffect">
                                  <p:stCondLst>
                                    <p:cond delay="0"/>
                                  </p:stCondLst>
                                  <p:childTnLst>
                                    <p:set>
                                      <p:cBhvr>
                                        <p:cTn id="84" dur="1" fill="hold">
                                          <p:stCondLst>
                                            <p:cond delay="0"/>
                                          </p:stCondLst>
                                        </p:cTn>
                                        <p:tgtEl>
                                          <p:spTgt spid="1001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42" presetClass="path" presetSubtype="0" accel="50000" decel="50000" fill="hold" grpId="0" nodeType="clickEffect">
                                  <p:stCondLst>
                                    <p:cond delay="0"/>
                                  </p:stCondLst>
                                  <p:childTnLst>
                                    <p:animMotion origin="layout" path="M 1.11111E-6 3.45679E-6 L 1.11111E-6 -0.13673 " pathEditMode="relative" rAng="0" ptsTypes="AA">
                                      <p:cBhvr>
                                        <p:cTn id="88" dur="500" fill="hold"/>
                                        <p:tgtEl>
                                          <p:spTgt spid="10004"/>
                                        </p:tgtEl>
                                        <p:attrNameLst>
                                          <p:attrName>ppt_x</p:attrName>
                                          <p:attrName>ppt_y</p:attrName>
                                        </p:attrNameLst>
                                      </p:cBhvr>
                                      <p:rCtr x="0" y="-6852"/>
                                    </p:animMotion>
                                  </p:childTnLst>
                                </p:cTn>
                              </p:par>
                              <p:par>
                                <p:cTn id="89" presetID="42" presetClass="path" presetSubtype="0" accel="50000" decel="50000" fill="hold" grpId="0" nodeType="withEffect">
                                  <p:stCondLst>
                                    <p:cond delay="0"/>
                                  </p:stCondLst>
                                  <p:childTnLst>
                                    <p:animMotion origin="layout" path="M -1.11111E-6 3.7037E-6 L -1.11111E-6 -0.12068 " pathEditMode="relative" rAng="0" ptsTypes="AA">
                                      <p:cBhvr>
                                        <p:cTn id="90" dur="500" fill="hold"/>
                                        <p:tgtEl>
                                          <p:spTgt spid="10010"/>
                                        </p:tgtEl>
                                        <p:attrNameLst>
                                          <p:attrName>ppt_x</p:attrName>
                                          <p:attrName>ppt_y</p:attrName>
                                        </p:attrNameLst>
                                      </p:cBhvr>
                                      <p:rCtr x="0" y="-6049"/>
                                    </p:animMotion>
                                  </p:childTnLst>
                                </p:cTn>
                              </p:par>
                              <p:par>
                                <p:cTn id="91" presetID="1" presetClass="exit" presetSubtype="0" fill="hold" grpId="0" nodeType="withEffect">
                                  <p:stCondLst>
                                    <p:cond delay="0"/>
                                  </p:stCondLst>
                                  <p:childTnLst>
                                    <p:set>
                                      <p:cBhvr>
                                        <p:cTn id="92" dur="1" fill="hold">
                                          <p:stCondLst>
                                            <p:cond delay="0"/>
                                          </p:stCondLst>
                                        </p:cTn>
                                        <p:tgtEl>
                                          <p:spTgt spid="10002"/>
                                        </p:tgtEl>
                                        <p:attrNameLst>
                                          <p:attrName>style.visibility</p:attrName>
                                        </p:attrNameLst>
                                      </p:cBhvr>
                                      <p:to>
                                        <p:strVal val="hidden"/>
                                      </p:to>
                                    </p:set>
                                  </p:childTnLst>
                                </p:cTn>
                              </p:par>
                              <p:par>
                                <p:cTn id="93" presetID="1" presetClass="exit" presetSubtype="0" fill="hold" grpId="0" nodeType="withEffect">
                                  <p:stCondLst>
                                    <p:cond delay="0"/>
                                  </p:stCondLst>
                                  <p:childTnLst>
                                    <p:set>
                                      <p:cBhvr>
                                        <p:cTn id="94" dur="1" fill="hold">
                                          <p:stCondLst>
                                            <p:cond delay="0"/>
                                          </p:stCondLst>
                                        </p:cTn>
                                        <p:tgtEl>
                                          <p:spTgt spid="10008"/>
                                        </p:tgtEl>
                                        <p:attrNameLst>
                                          <p:attrName>style.visibility</p:attrName>
                                        </p:attrNameLst>
                                      </p:cBhvr>
                                      <p:to>
                                        <p:strVal val="hidden"/>
                                      </p:to>
                                    </p:set>
                                  </p:childTnLst>
                                </p:cTn>
                              </p:par>
                              <p:par>
                                <p:cTn id="95" presetID="1" presetClass="exit" presetSubtype="0" fill="hold" grpId="0" nodeType="withEffect">
                                  <p:stCondLst>
                                    <p:cond delay="0"/>
                                  </p:stCondLst>
                                  <p:childTnLst>
                                    <p:set>
                                      <p:cBhvr>
                                        <p:cTn id="96" dur="1" fill="hold">
                                          <p:stCondLst>
                                            <p:cond delay="0"/>
                                          </p:stCondLst>
                                        </p:cTn>
                                        <p:tgtEl>
                                          <p:spTgt spid="10003"/>
                                        </p:tgtEl>
                                        <p:attrNameLst>
                                          <p:attrName>style.visibility</p:attrName>
                                        </p:attrNameLst>
                                      </p:cBhvr>
                                      <p:to>
                                        <p:strVal val="hidden"/>
                                      </p:to>
                                    </p:set>
                                  </p:childTnLst>
                                </p:cTn>
                              </p:par>
                              <p:par>
                                <p:cTn id="97" presetID="1" presetClass="exit" presetSubtype="0" fill="hold" grpId="0" nodeType="withEffect">
                                  <p:stCondLst>
                                    <p:cond delay="0"/>
                                  </p:stCondLst>
                                  <p:childTnLst>
                                    <p:set>
                                      <p:cBhvr>
                                        <p:cTn id="98" dur="1" fill="hold">
                                          <p:stCondLst>
                                            <p:cond delay="0"/>
                                          </p:stCondLst>
                                        </p:cTn>
                                        <p:tgtEl>
                                          <p:spTgt spid="100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5688</TotalTime>
  <Words>8182</Words>
  <Application>Microsoft Office PowerPoint</Application>
  <PresentationFormat>On-screen Show (16:9)</PresentationFormat>
  <Paragraphs>1104</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50</cp:revision>
  <dcterms:created xsi:type="dcterms:W3CDTF">2019-11-27T15:26:32Z</dcterms:created>
  <dcterms:modified xsi:type="dcterms:W3CDTF">2026-09-27T20:33:37Z</dcterms:modified>
</cp:coreProperties>
</file>