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51" r:id="rId43"/>
    <p:sldId id="452"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50" d="100"/>
          <a:sy n="150" d="100"/>
        </p:scale>
        <p:origin x="1518" y="108"/>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png"/><Relationship Id="rId3" Type="http://schemas.openxmlformats.org/officeDocument/2006/relationships/image" Target="../media/image116.png"/><Relationship Id="rId21" Type="http://schemas.openxmlformats.org/officeDocument/2006/relationships/image" Target="../media/image127.png"/><Relationship Id="rId7" Type="http://schemas.openxmlformats.org/officeDocument/2006/relationships/image" Target="../media/slide41original_restore41_image118.png"/><Relationship Id="rId25" Type="http://schemas.openxmlformats.org/officeDocument/2006/relationships/image" Target="../media/image128.png"/><Relationship Id="rId2" Type="http://schemas.openxmlformats.org/officeDocument/2006/relationships/image" Target="../media/image115.png"/><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slide41original_image120.png"/><Relationship Id="rId1" Type="http://schemas.openxmlformats.org/officeDocument/2006/relationships/slideLayout" Target="../slideLayouts/slideLayout12.xml"/><Relationship Id="rId24" Type="http://schemas.openxmlformats.org/officeDocument/2006/relationships/image" Target="../media/slide41original_image117.png"/><Relationship Id="rId32" Type="http://schemas.openxmlformats.org/officeDocument/2006/relationships/image" Target="../media/image133.png"/><Relationship Id="rId5" Type="http://schemas.openxmlformats.org/officeDocument/2006/relationships/image" Target="../media/image118.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slide41original_image119.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2.png"/><Relationship Id="rId4" Type="http://schemas.openxmlformats.org/officeDocument/2006/relationships/image" Target="../media/image117.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slide41original_image115.png"/><Relationship Id="rId27" Type="http://schemas.openxmlformats.org/officeDocument/2006/relationships/image" Target="../media/image131.png"/><Relationship Id="rId30" Type="http://schemas.openxmlformats.org/officeDocument/2006/relationships/image" Target="../media/slide41original_image121.png"/></Relationships>
</file>

<file path=ppt/slides/_rels/slide42.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3.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34.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35.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36.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37.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38.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0.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39.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41.png"/></Relationships>
</file>

<file path=ppt/slides/_rels/slide5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2.png"/></Relationships>
</file>

<file path=ppt/slides/_rels/slide59.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4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a:t>Thought experiment: </a:t>
                </a:r>
                <a:r>
                  <a:rPr lang="en-US" dirty="0"/>
                  <a:t>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5"/>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acc>
                                  <m:accPr>
                                    <m:chr m:val="̃"/>
                                    <m:ctrlPr>
                                      <a:rPr sz="1700">
                                        <a:solidFill>
                                          <a:srgbClr val="252529"/>
                                        </a:solidFill>
                                        <a:latin typeface="Cambria Math"/>
                                      </a:rPr>
                                    </m:ctrlPr>
                                  </m:accPr>
                                  <m:e>
                                    <m:r>
                                      <a:rPr sz="1700">
                                        <a:solidFill>
                                          <a:srgbClr val="252529"/>
                                        </a:solidFill>
                                        <a:latin typeface="Cambria Math"/>
                                      </a:rPr>
                                      <m:t>𝑦</m:t>
                                    </m:r>
                                  </m:e>
                                </m:acc>
                              </m:e>
                            </m:mr>
                            <m:mr>
                              <m:e>
                                <m:acc>
                                  <m:accPr>
                                    <m:chr m:val="̃"/>
                                    <m:ctrlPr>
                                      <a:rPr sz="1700">
                                        <a:solidFill>
                                          <a:srgbClr val="252529"/>
                                        </a:solidFill>
                                        <a:latin typeface="Cambria Math"/>
                                      </a:rPr>
                                    </m:ctrlPr>
                                  </m:accPr>
                                  <m:e>
                                    <m:r>
                                      <a:rPr sz="1700">
                                        <a:solidFill>
                                          <a:srgbClr val="252529"/>
                                        </a:solidFill>
                                        <a:latin typeface="Cambria Math"/>
                                      </a:rPr>
                                      <m:t>𝑢</m:t>
                                    </m:r>
                                  </m:e>
                                </m:acc>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r>
                                  <a:rPr sz="1700">
                                    <a:solidFill>
                                      <a:srgbClr val="252529"/>
                                    </a:solidFill>
                                    <a:latin typeface="Cambria Math"/>
                                  </a:rPr>
                                  <m:t>𝐾</m:t>
                                </m:r>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𝑦</m:t>
                                </m:r>
                              </m:e>
                            </m:mr>
                            <m:mr>
                              <m:e>
                                <m:r>
                                  <a:rPr sz="1700">
                                    <a:solidFill>
                                      <a:srgbClr val="252529"/>
                                    </a:solidFill>
                                    <a:latin typeface="Cambria Math"/>
                                  </a:rPr>
                                  <m:t>𝑢</m:t>
                                </m:r>
                              </m:e>
                            </m:mr>
                          </m:m>
                        </m:e>
                      </m:d>
                    </m:oMath>
                  </m:oMathPara>
                </a14:m>
                <a:endParaRPr sz="170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800" i="1" smtClean="0">
                          <a:solidFill>
                            <a:srgbClr val="252529"/>
                          </a:solidFill>
                          <a:latin typeface="Cambria Math" panose="02040503050406030204" pitchFamily="18" charset="0"/>
                        </a:rPr>
                        <m:t>0≤</m:t>
                      </m:r>
                      <m:nary>
                        <m:naryPr>
                          <m:limLoc m:val="subSup"/>
                          <m:ctrlPr>
                            <a:rPr lang="en-US" sz="1800" i="1" smtClean="0">
                              <a:solidFill>
                                <a:srgbClr val="252529"/>
                              </a:solidFill>
                              <a:latin typeface="Cambria Math" panose="02040503050406030204" pitchFamily="18" charset="0"/>
                            </a:rPr>
                          </m:ctrlPr>
                        </m:naryPr>
                        <m:sub>
                          <m:r>
                            <a:rPr lang="en-US" sz="1800" i="1" smtClean="0">
                              <a:solidFill>
                                <a:srgbClr val="252529"/>
                              </a:solidFill>
                              <a:latin typeface="Cambria Math" panose="02040503050406030204" pitchFamily="18" charset="0"/>
                            </a:rPr>
                            <m:t>0</m:t>
                          </m:r>
                        </m:sub>
                        <m:sup>
                          <m:r>
                            <a:rPr lang="en-US" sz="1800" i="1" smtClean="0">
                              <a:solidFill>
                                <a:srgbClr val="252529"/>
                              </a:solidFill>
                              <a:latin typeface="Cambria Math" panose="02040503050406030204" pitchFamily="18" charset="0"/>
                            </a:rPr>
                            <m:t>𝑇</m:t>
                          </m:r>
                        </m:sup>
                        <m:e>
                          <m:sSup>
                            <m:sSupPr>
                              <m:ctrlPr>
                                <a:rPr lang="en-US" sz="1800" i="1" smtClean="0">
                                  <a:solidFill>
                                    <a:srgbClr val="252529"/>
                                  </a:solidFill>
                                  <a:latin typeface="Cambria Math" panose="02040503050406030204" pitchFamily="18" charset="0"/>
                                </a:rPr>
                              </m:ctrlPr>
                            </m:sSupPr>
                            <m:e>
                              <m:d>
                                <m:dPr>
                                  <m:begChr m:val="‖"/>
                                  <m:endChr m:val="‖"/>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𝑦</m:t>
                                  </m:r>
                                  <m:d>
                                    <m:dPr>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𝑡</m:t>
                                      </m:r>
                                    </m:e>
                                  </m:d>
                                </m:e>
                              </m:d>
                            </m:e>
                            <m:sup>
                              <m:r>
                                <a:rPr lang="en-US" sz="1800" i="1" smtClean="0">
                                  <a:solidFill>
                                    <a:srgbClr val="252529"/>
                                  </a:solidFill>
                                  <a:latin typeface="Cambria Math" panose="02040503050406030204" pitchFamily="18" charset="0"/>
                                </a:rPr>
                                <m:t>2</m:t>
                              </m:r>
                            </m:sup>
                          </m:sSup>
                        </m:e>
                      </m:nary>
                    </m:oMath>
                  </m:oMathPara>
                </a14:m>
                <a:endParaRPr sz="1800" dirty="0"/>
              </a:p>
            </p:txBody>
          </p:sp>
        </mc:Choice>
        <mc:Fallback>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𝑦</m:t>
                                        </m:r>
                                      </m:e>
                                    </m:acc>
                                  </m:e>
                                </m:bar>
                              </m:e>
                            </m:m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𝑢</m:t>
                                        </m:r>
                                      </m:e>
                                    </m:acc>
                                  </m:e>
                                </m:bar>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a:solidFill>
                                          <a:srgbClr val="252529"/>
                                        </a:solidFill>
                                        <a:latin typeface="Cambria Math"/>
                                      </a:rPr>
                                    </m:ctrlPr>
                                  </m:barPr>
                                  <m:e>
                                    <m:r>
                                      <a:rPr sz="1700">
                                        <a:solidFill>
                                          <a:srgbClr val="252529"/>
                                        </a:solidFill>
                                        <a:latin typeface="Cambria Math"/>
                                      </a:rPr>
                                      <m:t>𝑦</m:t>
                                    </m:r>
                                  </m:e>
                                </m:bar>
                              </m:e>
                            </m:mr>
                            <m:mr>
                              <m:e>
                                <m:bar>
                                  <m:barPr>
                                    <m:pos m:val="bot"/>
                                    <m:ctrlPr>
                                      <a:rPr sz="1700">
                                        <a:solidFill>
                                          <a:srgbClr val="252529"/>
                                        </a:solidFill>
                                        <a:latin typeface="Cambria Math"/>
                                      </a:rPr>
                                    </m:ctrlPr>
                                  </m:barPr>
                                  <m:e>
                                    <m:r>
                                      <a:rPr sz="1700">
                                        <a:solidFill>
                                          <a:srgbClr val="252529"/>
                                        </a:solidFill>
                                        <a:latin typeface="Cambria Math"/>
                                      </a:rPr>
                                      <m:t>𝑢</m:t>
                                    </m:r>
                                  </m:e>
                                </m:bar>
                              </m:e>
                            </m:mr>
                          </m:m>
                        </m:e>
                      </m:d>
                    </m:oMath>
                  </m:oMathPara>
                </a14:m>
                <a:endParaRPr sz="17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800" i="1" smtClean="0">
                          <a:solidFill>
                            <a:srgbClr val="252529"/>
                          </a:solidFill>
                          <a:latin typeface="Cambria Math" panose="02040503050406030204" pitchFamily="18" charset="0"/>
                        </a:rPr>
                        <m:t>0≤</m:t>
                      </m:r>
                      <m:nary>
                        <m:naryPr>
                          <m:limLoc m:val="subSup"/>
                          <m:ctrlPr>
                            <a:rPr lang="en-US" sz="1800" i="1" smtClean="0">
                              <a:solidFill>
                                <a:srgbClr val="252529"/>
                              </a:solidFill>
                              <a:latin typeface="Cambria Math" panose="02040503050406030204" pitchFamily="18" charset="0"/>
                            </a:rPr>
                          </m:ctrlPr>
                        </m:naryPr>
                        <m:sub>
                          <m:r>
                            <a:rPr lang="en-US" sz="1800" i="1" smtClean="0">
                              <a:solidFill>
                                <a:srgbClr val="252529"/>
                              </a:solidFill>
                              <a:latin typeface="Cambria Math" panose="02040503050406030204" pitchFamily="18" charset="0"/>
                            </a:rPr>
                            <m:t>0</m:t>
                          </m:r>
                        </m:sub>
                        <m:sup>
                          <m:r>
                            <a:rPr lang="en-US" sz="1800" i="1" smtClean="0">
                              <a:solidFill>
                                <a:srgbClr val="252529"/>
                              </a:solidFill>
                              <a:latin typeface="Cambria Math" panose="02040503050406030204" pitchFamily="18" charset="0"/>
                            </a:rPr>
                            <m:t>𝑇</m:t>
                          </m:r>
                        </m:sup>
                        <m:e>
                          <m:sSup>
                            <m:sSupPr>
                              <m:ctrlPr>
                                <a:rPr lang="en-US" sz="1800" i="1" smtClean="0">
                                  <a:solidFill>
                                    <a:srgbClr val="252529"/>
                                  </a:solidFill>
                                  <a:latin typeface="Cambria Math" panose="02040503050406030204" pitchFamily="18" charset="0"/>
                                </a:rPr>
                              </m:ctrlPr>
                            </m:sSupPr>
                            <m:e>
                              <m:d>
                                <m:dPr>
                                  <m:begChr m:val="‖"/>
                                  <m:endChr m:val="‖"/>
                                  <m:ctrlPr>
                                    <a:rPr lang="en-US" sz="1800" i="1" smtClean="0">
                                      <a:solidFill>
                                        <a:srgbClr val="252529"/>
                                      </a:solidFill>
                                      <a:latin typeface="Cambria Math" panose="02040503050406030204" pitchFamily="18" charset="0"/>
                                    </a:rPr>
                                  </m:ctrlPr>
                                </m:dPr>
                                <m:e>
                                  <m:bar>
                                    <m:barPr>
                                      <m:pos m:val="bot"/>
                                      <m:ctrlPr>
                                        <a:rPr lang="en-US" sz="1800" i="1" smtClean="0">
                                          <a:solidFill>
                                            <a:srgbClr val="252529"/>
                                          </a:solidFill>
                                          <a:latin typeface="Cambria Math" panose="02040503050406030204" pitchFamily="18" charset="0"/>
                                        </a:rPr>
                                      </m:ctrlPr>
                                    </m:barPr>
                                    <m:e>
                                      <m:r>
                                        <a:rPr lang="en-US" sz="1800" i="1" smtClean="0">
                                          <a:solidFill>
                                            <a:srgbClr val="252529"/>
                                          </a:solidFill>
                                          <a:latin typeface="Cambria Math" panose="02040503050406030204" pitchFamily="18" charset="0"/>
                                        </a:rPr>
                                        <m:t>𝑦</m:t>
                                      </m:r>
                                    </m:e>
                                  </m:bar>
                                  <m:d>
                                    <m:dPr>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𝑡</m:t>
                                      </m:r>
                                    </m:e>
                                  </m:d>
                                </m:e>
                              </m:d>
                            </m:e>
                            <m:sup>
                              <m:r>
                                <a:rPr lang="en-US" sz="1800" i="1" smtClean="0">
                                  <a:solidFill>
                                    <a:srgbClr val="252529"/>
                                  </a:solidFill>
                                  <a:latin typeface="Cambria Math" panose="02040503050406030204" pitchFamily="18" charset="0"/>
                                </a:rPr>
                                <m:t>2</m:t>
                              </m:r>
                            </m:sup>
                          </m:sSup>
                        </m:e>
                      </m:nary>
                    </m:oMath>
                  </m:oMathPara>
                </a14:m>
                <a:endParaRPr sz="1800" dirty="0"/>
              </a:p>
            </p:txBody>
          </p:sp>
        </mc:Choice>
        <mc:Fallback>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1600">
                          <a:solidFill>
                            <a:srgbClr val="252529"/>
                          </a:solidFill>
                          <a:latin typeface="Cambria Math"/>
                        </a:rPr>
                      </m:ctrlPr>
                    </m:sSupPr>
                    <m:e>
                      <m:d>
                        <m:dPr>
                          <m:begChr m:val="‖"/>
                          <m:endChr m:val="‖"/>
                          <m:ctrlPr>
                            <a:rPr sz="1600">
                              <a:solidFill>
                                <a:srgbClr val="252529"/>
                              </a:solidFill>
                              <a:latin typeface="Cambria Math"/>
                            </a:rPr>
                          </m:ctrlPr>
                        </m:dPr>
                        <m:e>
                          <m:acc>
                            <m:accPr>
                              <m:chr m:val="̃"/>
                              <m:ctrlPr>
                                <a:rPr sz="1600">
                                  <a:solidFill>
                                    <a:srgbClr val="252529"/>
                                  </a:solidFill>
                                  <a:latin typeface="Cambria Math"/>
                                </a:rPr>
                              </m:ctrlPr>
                            </m:accPr>
                            <m:e>
                              <m:r>
                                <m:rPr>
                                  <m:sty m:val="i"/>
                                </m:rPr>
                                <a:rPr sz="1600">
                                  <a:solidFill>
                                    <a:srgbClr val="252529"/>
                                  </a:solidFill>
                                  <a:latin typeface="Cambria Math"/>
                                </a:rPr>
                                <m:t xml:space="preserve">u</m:t>
                              </m:r>
                            </m:e>
                          </m:acc>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e>
                      </m:d>
                    </m:e>
                    <m:sup>
                      <m:r>
                        <m:rPr>
                          <m:sty m:val="p"/>
                        </m:rPr>
                        <a:rPr sz="1600">
                          <a:solidFill>
                            <a:srgbClr val="252529"/>
                          </a:solidFill>
                          <a:latin typeface="Cambria Math"/>
                        </a:rPr>
                        <m:t xml:space="preserve">2</m:t>
                      </m:r>
                    </m:sup>
                  </m:sSup>
                  <m:r>
                    <m:rPr>
                      <m:sty m:val="i"/>
                    </m:rPr>
                    <a:rPr sz="1600">
                      <a:solidFill>
                        <a:srgbClr val="252529"/>
                      </a:solidFill>
                      <a:latin typeface="Cambria Math"/>
                    </a:rPr>
                    <m:t xml:space="preserve">≤</m:t>
                  </m:r>
                  <m:sSup>
                    <m:sSupPr>
                      <m:ctrlPr>
                        <a:rPr sz="1600">
                          <a:solidFill>
                            <a:srgbClr val="252529"/>
                          </a:solidFill>
                          <a:latin typeface="Cambria Math"/>
                        </a:rPr>
                      </m:ctrlPr>
                    </m:sSupPr>
                    <m:e>
                      <m:d>
                        <m:dPr>
                          <m:begChr m:val="‖"/>
                          <m:endChr m:val="‖"/>
                          <m:ctrlPr>
                            <a:rPr sz="1600">
                              <a:solidFill>
                                <a:srgbClr val="252529"/>
                              </a:solidFill>
                              <a:latin typeface="Cambria Math"/>
                            </a:rPr>
                          </m:ctrlPr>
                        </m:dPr>
                        <m:e>
                          <m:acc>
                            <m:accPr>
                              <m:chr m:val="̃"/>
                              <m:ctrlPr>
                                <a:rPr sz="1600">
                                  <a:solidFill>
                                    <a:srgbClr val="252529"/>
                                  </a:solidFill>
                                  <a:latin typeface="Cambria Math"/>
                                </a:rPr>
                              </m:ctrlPr>
                            </m:accPr>
                            <m:e>
                              <m:r>
                                <m:rPr>
                                  <m:sty m:val="i"/>
                                </m:rPr>
                                <a:rPr sz="1600">
                                  <a:solidFill>
                                    <a:srgbClr val="252529"/>
                                  </a:solidFill>
                                  <a:latin typeface="Cambria Math"/>
                                </a:rPr>
                                <m:t xml:space="preserve">y</m:t>
                              </m:r>
                            </m:e>
                          </m:acc>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e>
                      </m:d>
                    </m:e>
                    <m:sup>
                      <m:r>
                        <m:rPr>
                          <m:sty m:val="p"/>
                        </m:rPr>
                        <a:rPr sz="1600">
                          <a:solidFill>
                            <a:srgbClr val="252529"/>
                          </a:solidFill>
                          <a:latin typeface="Cambria Math"/>
                        </a:rPr>
                        <m:t xml:space="preserve">2</m:t>
                      </m:r>
                    </m:sup>
                  </m:sSup>
                </m:oMath>
              </m:oMathPara>
            </a14:m>
            <a:endParaRPr sz="1600"/>
          </a:p>
        </p:txBody>
      </p:sp>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1600">
                          <a:solidFill>
                            <a:srgbClr val="252529"/>
                          </a:solidFill>
                          <a:latin typeface="Cambria Math"/>
                        </a:rPr>
                      </m:ctrlPr>
                    </m:sSupPr>
                    <m:e>
                      <m:d>
                        <m:dPr>
                          <m:begChr m:val="‖"/>
                          <m:endChr m:val="‖"/>
                          <m:ctrlPr>
                            <a:rPr sz="1600">
                              <a:solidFill>
                                <a:srgbClr val="252529"/>
                              </a:solidFill>
                              <a:latin typeface="Cambria Math"/>
                            </a:rPr>
                          </m:ctrlPr>
                        </m:dPr>
                        <m:e>
                          <m:bar>
                            <m:barPr>
                              <m:pos m:val="bot"/>
                              <m:ctrlPr>
                                <a:rPr sz="1600">
                                  <a:solidFill>
                                    <a:srgbClr val="252529"/>
                                  </a:solidFill>
                                  <a:latin typeface="Cambria Math"/>
                                </a:rPr>
                              </m:ctrlPr>
                            </m:barPr>
                            <m:e>
                              <m:acc>
                                <m:accPr>
                                  <m:chr m:val="̃"/>
                                  <m:ctrlPr>
                                    <a:rPr sz="1600">
                                      <a:solidFill>
                                        <a:srgbClr val="252529"/>
                                      </a:solidFill>
                                      <a:latin typeface="Cambria Math"/>
                                    </a:rPr>
                                  </m:ctrlPr>
                                </m:accPr>
                                <m:e>
                                  <m:r>
                                    <m:rPr>
                                      <m:sty m:val="i"/>
                                    </m:rPr>
                                    <a:rPr sz="1600">
                                      <a:solidFill>
                                        <a:srgbClr val="252529"/>
                                      </a:solidFill>
                                      <a:latin typeface="Cambria Math"/>
                                    </a:rPr>
                                    <m:t xml:space="preserve">u</m:t>
                                  </m:r>
                                </m:e>
                              </m:acc>
                            </m:e>
                          </m:bar>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e>
                      </m:d>
                    </m:e>
                    <m:sup>
                      <m:r>
                        <m:rPr>
                          <m:sty m:val="p"/>
                        </m:rPr>
                        <a:rPr sz="1600">
                          <a:solidFill>
                            <a:srgbClr val="252529"/>
                          </a:solidFill>
                          <a:latin typeface="Cambria Math"/>
                        </a:rPr>
                        <m:t xml:space="preserve">2</m:t>
                      </m:r>
                    </m:sup>
                  </m:sSup>
                  <m:r>
                    <m:rPr>
                      <m:sty m:val="i"/>
                    </m:rPr>
                    <a:rPr sz="1600">
                      <a:solidFill>
                        <a:srgbClr val="252529"/>
                      </a:solidFill>
                      <a:latin typeface="Cambria Math"/>
                    </a:rPr>
                    <m:t xml:space="preserve">≤</m:t>
                  </m:r>
                  <m:sSup>
                    <m:sSupPr>
                      <m:ctrlPr>
                        <a:rPr sz="1600">
                          <a:solidFill>
                            <a:srgbClr val="252529"/>
                          </a:solidFill>
                          <a:latin typeface="Cambria Math"/>
                        </a:rPr>
                      </m:ctrlPr>
                    </m:sSupPr>
                    <m:e>
                      <m:d>
                        <m:dPr>
                          <m:begChr m:val="‖"/>
                          <m:endChr m:val="‖"/>
                          <m:ctrlPr>
                            <a:rPr sz="1600">
                              <a:solidFill>
                                <a:srgbClr val="252529"/>
                              </a:solidFill>
                              <a:latin typeface="Cambria Math"/>
                            </a:rPr>
                          </m:ctrlPr>
                        </m:dPr>
                        <m:e>
                          <m:bar>
                            <m:barPr>
                              <m:pos m:val="bot"/>
                              <m:ctrlPr>
                                <a:rPr sz="1600">
                                  <a:solidFill>
                                    <a:srgbClr val="252529"/>
                                  </a:solidFill>
                                  <a:latin typeface="Cambria Math"/>
                                </a:rPr>
                              </m:ctrlPr>
                            </m:barPr>
                            <m:e>
                              <m:acc>
                                <m:accPr>
                                  <m:chr m:val="̃"/>
                                  <m:ctrlPr>
                                    <a:rPr sz="1600">
                                      <a:solidFill>
                                        <a:srgbClr val="252529"/>
                                      </a:solidFill>
                                      <a:latin typeface="Cambria Math"/>
                                    </a:rPr>
                                  </m:ctrlPr>
                                </m:accPr>
                                <m:e>
                                  <m:r>
                                    <m:rPr>
                                      <m:sty m:val="i"/>
                                    </m:rPr>
                                    <a:rPr sz="1600">
                                      <a:solidFill>
                                        <a:srgbClr val="252529"/>
                                      </a:solidFill>
                                      <a:latin typeface="Cambria Math"/>
                                    </a:rPr>
                                    <m:t xml:space="preserve">y</m:t>
                                  </m:r>
                                </m:e>
                              </m:acc>
                            </m:e>
                          </m:bar>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e>
                      </m:d>
                    </m:e>
                    <m:sup>
                      <m:r>
                        <m:rPr>
                          <m:sty m:val="p"/>
                        </m:rPr>
                        <a:rPr sz="1600">
                          <a:solidFill>
                            <a:srgbClr val="252529"/>
                          </a:solidFill>
                          <a:latin typeface="Cambria Math"/>
                        </a:rPr>
                        <m:t xml:space="preserve">2</m:t>
                      </m:r>
                    </m:sup>
                  </m:sSup>
                </m:oMath>
              </m:oMathPara>
            </a14:m>
            <a:endParaRPr sz="1600"/>
          </a:p>
        </p:txBody>
      </p:sp>
    </p:spTree>
    <p:extLst>
      <p:ext uri="{BB962C8B-B14F-4D97-AF65-F5344CB8AC3E}">
        <p14:creationId xmlns:p14="http://schemas.microsoft.com/office/powerpoint/2010/main" val="1900818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5688</TotalTime>
  <Words>8182</Words>
  <Application>Microsoft Office PowerPoint</Application>
  <PresentationFormat>On-screen Show (16:9)</PresentationFormat>
  <Paragraphs>1104</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50</cp:revision>
  <dcterms:created xsi:type="dcterms:W3CDTF">2019-11-27T15:26:32Z</dcterms:created>
  <dcterms:modified xsi:type="dcterms:W3CDTF">2026-09-27T20:33:37Z</dcterms:modified>
</cp:coreProperties>
</file>