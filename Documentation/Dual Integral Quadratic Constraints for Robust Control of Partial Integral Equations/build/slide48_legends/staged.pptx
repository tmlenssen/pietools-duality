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53" r:id="rId49"/>
    <p:sldId id="441" r:id="rId50"/>
    <p:sldId id="471" r:id="rId51"/>
    <p:sldId id="442" r:id="rId52"/>
    <p:sldId id="443" r:id="rId53"/>
    <p:sldId id="439" r:id="rId54"/>
    <p:sldId id="458" r:id="rId55"/>
    <p:sldId id="421" r:id="rId56"/>
    <p:sldId id="427" r:id="rId57"/>
    <p:sldId id="431" r:id="rId58"/>
    <p:sldId id="428" r:id="rId59"/>
    <p:sldId id="429" r:id="rId60"/>
    <p:sldId id="432" r:id="rId61"/>
    <p:sldId id="430" r:id="rId62"/>
    <p:sldId id="433" r:id="rId63"/>
    <p:sldId id="434" r:id="rId6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 Id="rIdSlideFlow118" Type="http://schemas.openxmlformats.org/officeDocument/2006/relationships/image" Target="../media/image91.png"/><Relationship Id="rIdSlideFlow119" Type="http://schemas.openxmlformats.org/officeDocument/2006/relationships/image" Target="../media/image92.png"/><Relationship Id="rIdSlideFlow120" Type="http://schemas.openxmlformats.org/officeDocument/2006/relationships/image" Target="../media/image94.png"/><Relationship Id="rIdSlideFlow121" Type="http://schemas.openxmlformats.org/officeDocument/2006/relationships/image" Target="../media/image93.png"/></Relationships>
</file>

<file path=ppt/slides/_rels/slide45.xml.rels><?xml version="1.0" encoding="utf-8"?><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 Id="rIdSlideFlow114" Type="http://schemas.openxmlformats.org/officeDocument/2006/relationships/image" Target="../media/revised_lfr19_image96.png"/><Relationship Id="rIdSlideFlow115" Type="http://schemas.openxmlformats.org/officeDocument/2006/relationships/image" Target="../media/image722.png"/><Relationship Id="rIdSlideFlow116" Type="http://schemas.openxmlformats.org/officeDocument/2006/relationships/image" Target="../media/image81.png"/><Relationship Id="rIdSlideFlow117" Type="http://schemas.openxmlformats.org/officeDocument/2006/relationships/image" Target="../media/image740.png"/><Relationship Id="rIdSlideFlow118" Type="http://schemas.openxmlformats.org/officeDocument/2006/relationships/image" Target="../media/image751.png"/><Relationship Id="rIdSlideFlow119" Type="http://schemas.openxmlformats.org/officeDocument/2006/relationships/image" Target="../media/revised_lfr19_image102.png"/><Relationship Id="rIdSlideFlow120" Type="http://schemas.openxmlformats.org/officeDocument/2006/relationships/image" Target="../media/extraction20_image70.png"/><Relationship Id="rIdSlideFlow121" Type="http://schemas.openxmlformats.org/officeDocument/2006/relationships/image" Target="../media/image67.png"/><Relationship Id="rIdSlideFlow122" Type="http://schemas.openxmlformats.org/officeDocument/2006/relationships/image" Target="../media/image68.jpeg"/><Relationship Id="rIdSlideFlow123" Type="http://schemas.openxmlformats.org/officeDocument/2006/relationships/image" Target="../media/image7.jpg"/><Relationship Id="rIdSlideFlow124" Type="http://schemas.openxmlformats.org/officeDocument/2006/relationships/image" Target="../media/image114.png"/><Relationship Id="rIdSlideFlow125" Type="http://schemas.openxmlformats.org/officeDocument/2006/relationships/image" Target="../media/image115.png"/><Relationship Id="rIdSlideFlow126" Type="http://schemas.openxmlformats.org/officeDocument/2006/relationships/image" Target="../media/image97.png"/></Relationships>
</file>

<file path=ppt/slides/_rels/slide46.xml.rels><?xml version="1.0" encoding="utf-8"?><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 Id="rIdSlideFlow108" Type="http://schemas.openxmlformats.org/officeDocument/2006/relationships/image" Target="../media/image90.png"/><Relationship Id="rIdSlideFlow109" Type="http://schemas.openxmlformats.org/officeDocument/2006/relationships/image" Target="../media/revised_lfr19_image96.png"/><Relationship Id="rIdSlideFlow110" Type="http://schemas.openxmlformats.org/officeDocument/2006/relationships/image" Target="../media/image770.png"/><Relationship Id="rIdSlideFlow111" Type="http://schemas.openxmlformats.org/officeDocument/2006/relationships/image" Target="../media/image82.png"/><Relationship Id="rIdSlideFlow112" Type="http://schemas.openxmlformats.org/officeDocument/2006/relationships/image" Target="../media/image790.png"/><Relationship Id="rIdSlideFlow113" Type="http://schemas.openxmlformats.org/officeDocument/2006/relationships/image" Target="../media/image800.png"/><Relationship Id="rIdSlideFlow114" Type="http://schemas.openxmlformats.org/officeDocument/2006/relationships/image" Target="../media/revised_lfr19_image102.png"/><Relationship Id="rIdSlideFlow115" Type="http://schemas.openxmlformats.org/officeDocument/2006/relationships/image" Target="../media/image731.png"/><Relationship Id="rIdSlideFlow116" Type="http://schemas.openxmlformats.org/officeDocument/2006/relationships/image" Target="../media/image93.png"/></Relationships>
</file>

<file path=ppt/slides/_rels/slide47.xml.rels><?xml version="1.0" encoding="utf-8"?><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 Id="rIdSlideFlow104" Type="http://schemas.openxmlformats.org/officeDocument/2006/relationships/image" Target="../media/image95.png"/><Relationship Id="rIdSlideFlow105" Type="http://schemas.openxmlformats.org/officeDocument/2006/relationships/image" Target="../media/image96.png"/><Relationship Id="rIdSlideFlow106" Type="http://schemas.openxmlformats.org/officeDocument/2006/relationships/image" Target="../media/image110.png"/><Relationship Id="rIdSlideFlow107" Type="http://schemas.openxmlformats.org/officeDocument/2006/relationships/image" Target="../media/image97.png"/></Relationships>
</file>

<file path=ppt/slides/_rels/slide48.xml.rels><?xml version="1.0" encoding="utf-8"?><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 Id="rIdHandStill48" Type="http://schemas.openxmlformats.org/officeDocument/2006/relationships/image" Target="../media/slide48_hand_still.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SlideFlow1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SlideFlow12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SlideFlow122"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SlideFlow123"/>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SlideFlow125"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51001" name="!!Contribution line 0"/>
          <p:cNvSpPr/>
          <p:nvPr/>
        </p:nvSpPr>
        <p:spPr>
          <a:xfrm>
            <a:off x="94488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94488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94488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94488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94488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94488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94488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SlideFlow106" cstate="print">
            <a:extLst>
              <a:ext uri="{28A0092B-C50C-407E-A947-70E740481C1C}">
                <a14:useLocalDpi xmlns:a14="http://schemas.microsoft.com/office/drawing/2010/main" val="0"/>
              </a:ext>
            </a:extLst>
          </a:blip>
          <a:stretch>
            <a:fillRect/>
          </a:stretch>
        </p:blipFill>
        <p:spPr>
          <a:xfrm>
            <a:off x="-5150502" y="1777808"/>
            <a:ext cx="2919600"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51001" name="!!Contribution line 0"/>
          <p:cNvSpPr/>
          <p:nvPr/>
        </p:nvSpPr>
        <p:spPr>
          <a:xfrm>
            <a:off x="3911600" y="12319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1. Dual operation</a:t>
            </a:r>
            <a:endParaRPr sz="2000"/>
          </a:p>
        </p:txBody>
      </p:sp>
      <p:sp>
        <p:nvSpPr>
          <p:cNvPr id="51002" name="!!Contribution line 1"/>
          <p:cNvSpPr/>
          <p:nvPr/>
        </p:nvSpPr>
        <p:spPr>
          <a:xfrm>
            <a:off x="3911600" y="17399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Construct D(Θ) so the primal and dual</a:t>
            </a:r>
            <a:endParaRPr sz="1600"/>
          </a:p>
        </p:txBody>
      </p:sp>
      <p:sp>
        <p:nvSpPr>
          <p:cNvPr id="51003" name="!!Contribution line 2"/>
          <p:cNvSpPr/>
          <p:nvPr/>
        </p:nvSpPr>
        <p:spPr>
          <a:xfrm>
            <a:off x="3911600" y="20447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systems satisfy equivalent</a:t>
            </a:r>
            <a:endParaRPr sz="1600"/>
          </a:p>
        </p:txBody>
      </p:sp>
      <p:sp>
        <p:nvSpPr>
          <p:cNvPr id="51004" name="!!Contribution line 3"/>
          <p:cNvSpPr/>
          <p:nvPr/>
        </p:nvSpPr>
        <p:spPr>
          <a:xfrm>
            <a:off x="3911600" y="234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dissipativity constraints.</a:t>
            </a:r>
            <a:endParaRPr sz="1600"/>
          </a:p>
        </p:txBody>
      </p:sp>
      <p:sp>
        <p:nvSpPr>
          <p:cNvPr id="51005" name="!!Contribution line 4"/>
          <p:cNvSpPr/>
          <p:nvPr/>
        </p:nvSpPr>
        <p:spPr>
          <a:xfrm>
            <a:off x="3911600" y="3111500"/>
            <a:ext cx="4775200" cy="381000"/>
          </a:xfrm>
          <a:prstGeom prst="rect">
            <a:avLst/>
          </a:prstGeom>
          <a:noFill/>
          <a:ln>
            <a:noFill/>
          </a:ln>
        </p:spPr>
        <p:txBody>
          <a:bodyPr wrap="none" lIns="0" tIns="0" rIns="0" bIns="0" anchor="ctr">
            <a:noAutofit/>
          </a:bodyPr>
          <a:lstStyle/>
          <a:p>
            <a:pPr algn="l">
              <a:buNone/>
            </a:pPr>
            <a:r>
              <a:rPr lang="en-GB" sz="2000" baseline="0" b="1" i="0" u="none">
                <a:solidFill>
                  <a:srgbClr val="C81919"/>
                </a:solidFill>
                <a:latin typeface="Aptos"/>
                <a:ea typeface="Aptos"/>
                <a:cs typeface="Aptos"/>
              </a:rPr>
              <a:t xml:space="preserve">2. Robust controller synthesis</a:t>
            </a:r>
            <a:endParaRPr sz="2000"/>
          </a:p>
        </p:txBody>
      </p:sp>
      <p:sp>
        <p:nvSpPr>
          <p:cNvPr id="51006" name="!!Contribution line 5"/>
          <p:cNvSpPr/>
          <p:nvPr/>
        </p:nvSpPr>
        <p:spPr>
          <a:xfrm>
            <a:off x="3911600" y="36195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Apply this equivalence to formulate</a:t>
            </a:r>
            <a:endParaRPr sz="1600"/>
          </a:p>
        </p:txBody>
      </p:sp>
      <p:sp>
        <p:nvSpPr>
          <p:cNvPr id="51007" name="!!Contribution line 6"/>
          <p:cNvSpPr/>
          <p:nvPr/>
        </p:nvSpPr>
        <p:spPr>
          <a:xfrm>
            <a:off x="3911600" y="3924300"/>
            <a:ext cx="4775200" cy="304800"/>
          </a:xfrm>
          <a:prstGeom prst="rect">
            <a:avLst/>
          </a:prstGeom>
          <a:noFill/>
          <a:ln>
            <a:noFill/>
          </a:ln>
        </p:spPr>
        <p:txBody>
          <a:bodyPr wrap="none" lIns="0" tIns="0" rIns="0" bIns="0" anchor="ctr">
            <a:noAutofit/>
          </a:bodyPr>
          <a:lstStyle/>
          <a:p>
            <a:pPr algn="l">
              <a:buNone/>
            </a:pPr>
            <a:r>
              <a:rPr lang="en-GB" sz="1600" baseline="0" b="0" i="0" u="none">
                <a:solidFill>
                  <a:srgbClr val="252529"/>
                </a:solidFill>
                <a:latin typeface="Aptos"/>
                <a:ea typeface="Aptos"/>
                <a:cs typeface="Aptos"/>
              </a:rPr>
              <a:t xml:space="preserve">robust controller synthesis conditions.</a:t>
            </a:r>
            <a:endParaRPr sz="160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
        <p:nvSpPr>
          <p:cNvPr id="61001" name="Input plot legend Control"/>
          <p:cNvSpPr/>
          <p:nvPr/>
        </p:nvSpPr>
        <p:spPr>
          <a:xfrm>
            <a:off x="5067300" y="4495800"/>
            <a:ext cx="203200" cy="25400"/>
          </a:xfrm>
          <a:custGeom>
            <a:avLst/>
            <a:gdLst/>
            <a:ahLst/>
            <a:cxnLst/>
            <a:rect l="0" t="0" r="r" b="b"/>
            <a:pathLst>
              <a:path w="203200" h="25400" fill="none">
                <a:moveTo>
                  <a:pt x="12700" y="12700"/>
                </a:moveTo>
                <a:lnTo>
                  <a:pt x="190500" y="12700"/>
                </a:lnTo>
              </a:path>
            </a:pathLst>
          </a:custGeom>
          <a:noFill/>
          <a:ln w="19050">
            <a:solidFill>
              <a:srgbClr val="7461A5"/>
            </a:solidFill>
            <a:round/>
          </a:ln>
        </p:spPr>
      </p:sp>
      <p:sp>
        <p:nvSpPr>
          <p:cNvPr id="61002" name="Input plot legend STN disturbance"/>
          <p:cNvSpPr/>
          <p:nvPr/>
        </p:nvSpPr>
        <p:spPr>
          <a:xfrm>
            <a:off x="62103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round/>
          </a:ln>
        </p:spPr>
      </p:sp>
      <p:sp>
        <p:nvSpPr>
          <p:cNvPr id="61003" name="Input plot legend GPe disturbance"/>
          <p:cNvSpPr/>
          <p:nvPr/>
        </p:nvSpPr>
        <p:spPr>
          <a:xfrm>
            <a:off x="74676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prstDash val="dash"/>
            <a:round/>
          </a:ln>
        </p:spPr>
      </p:sp>
      <p:sp>
        <p:nvSpPr>
          <p:cNvPr id="61004" name="Input plot legend control text"/>
          <p:cNvSpPr/>
          <p:nvPr/>
        </p:nvSpPr>
        <p:spPr>
          <a:xfrm>
            <a:off x="5295900" y="4339590"/>
            <a:ext cx="812800" cy="3378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950">
                      <a:solidFill>
                        <a:srgbClr val="7461A5"/>
                      </a:solidFill>
                      <a:latin typeface="Cambria Math"/>
                    </a:rPr>
                    <m:t xml:space="preserve">u</m:t>
                  </m:r>
                  <m:r>
                    <m:rPr>
                      <m:sty m:val="p"/>
                    </m:rPr>
                    <a:rPr sz="950">
                      <a:solidFill>
                        <a:srgbClr val="7461A5"/>
                      </a:solidFill>
                      <a:latin typeface="Cambria Math"/>
                    </a:rPr>
                    <m:t xml:space="preserve">:</m:t>
                  </m:r>
                  <m:r>
                    <m:rPr>
                      <m:sty m:val="p"/>
                    </m:rPr>
                    <a:rPr sz="950">
                      <a:solidFill>
                        <a:srgbClr val="7461A5"/>
                      </a:solidFill>
                      <a:latin typeface="Cambria Math"/>
                    </a:rPr>
                    <m:t xml:space="preserve"> </m:t>
                  </m:r>
                  <m:r>
                    <m:rPr>
                      <m:sty m:val="p"/>
                    </m:rPr>
                    <a:rPr sz="950">
                      <a:solidFill>
                        <a:srgbClr val="7461A5"/>
                      </a:solidFill>
                      <a:latin typeface="Cambria Math"/>
                    </a:rPr>
                    <m:t xml:space="preserve">c</m:t>
                  </m:r>
                  <m:r>
                    <m:rPr>
                      <m:sty m:val="p"/>
                    </m:rPr>
                    <a:rPr sz="950">
                      <a:solidFill>
                        <a:srgbClr val="7461A5"/>
                      </a:solidFill>
                      <a:latin typeface="Cambria Math"/>
                    </a:rPr>
                    <m:t xml:space="preserve">o</m:t>
                  </m:r>
                  <m:r>
                    <m:rPr>
                      <m:sty m:val="p"/>
                    </m:rPr>
                    <a:rPr sz="950">
                      <a:solidFill>
                        <a:srgbClr val="7461A5"/>
                      </a:solidFill>
                      <a:latin typeface="Cambria Math"/>
                    </a:rPr>
                    <m:t xml:space="preserve">n</m:t>
                  </m:r>
                  <m:r>
                    <m:rPr>
                      <m:sty m:val="p"/>
                    </m:rPr>
                    <a:rPr sz="950">
                      <a:solidFill>
                        <a:srgbClr val="7461A5"/>
                      </a:solidFill>
                      <a:latin typeface="Cambria Math"/>
                    </a:rPr>
                    <m:t xml:space="preserve">t</m:t>
                  </m:r>
                  <m:r>
                    <m:rPr>
                      <m:sty m:val="p"/>
                    </m:rPr>
                    <a:rPr sz="950">
                      <a:solidFill>
                        <a:srgbClr val="7461A5"/>
                      </a:solidFill>
                      <a:latin typeface="Cambria Math"/>
                    </a:rPr>
                    <m:t xml:space="preserve">r</m:t>
                  </m:r>
                  <m:r>
                    <m:rPr>
                      <m:sty m:val="p"/>
                    </m:rPr>
                    <a:rPr sz="950">
                      <a:solidFill>
                        <a:srgbClr val="7461A5"/>
                      </a:solidFill>
                      <a:latin typeface="Cambria Math"/>
                    </a:rPr>
                    <m:t xml:space="preserve">o</m:t>
                  </m:r>
                  <m:r>
                    <m:rPr>
                      <m:sty m:val="p"/>
                    </m:rPr>
                    <a:rPr sz="950">
                      <a:solidFill>
                        <a:srgbClr val="7461A5"/>
                      </a:solidFill>
                      <a:latin typeface="Cambria Math"/>
                    </a:rPr>
                    <m:t xml:space="preserve">l</m:t>
                  </m:r>
                </m:oMath>
              </m:oMathPara>
            </a14:m>
            <a:endParaRPr sz="950"/>
          </a:p>
        </p:txBody>
      </p:sp>
      <p:sp>
        <p:nvSpPr>
          <p:cNvPr id="61005" name="Input plot legend disturbance S"/>
          <p:cNvSpPr/>
          <p:nvPr/>
        </p:nvSpPr>
        <p:spPr>
          <a:xfrm>
            <a:off x="6413500" y="4339590"/>
            <a:ext cx="1066800" cy="3378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950">
                          <a:solidFill>
                            <a:srgbClr val="D68B22"/>
                          </a:solidFill>
                          <a:latin typeface="Cambria Math"/>
                        </a:rPr>
                      </m:ctrlPr>
                    </m:sSubPr>
                    <m:e>
                      <m:r>
                        <m:rPr>
                          <m:sty m:val="i"/>
                        </m:rPr>
                        <a:rPr sz="950">
                          <a:solidFill>
                            <a:srgbClr val="D68B22"/>
                          </a:solidFill>
                          <a:latin typeface="Cambria Math"/>
                        </a:rPr>
                        <m:t xml:space="preserve">d</m:t>
                      </m:r>
                    </m:e>
                    <m:sub>
                      <m:r>
                        <m:rPr>
                          <m:sty m:val="p"/>
                        </m:rPr>
                        <a:rPr sz="950">
                          <a:solidFill>
                            <a:srgbClr val="D68B22"/>
                          </a:solidFill>
                          <a:latin typeface="Cambria Math"/>
                        </a:rPr>
                        <m:t xml:space="preserve">S</m:t>
                      </m:r>
                    </m:sub>
                  </m:sSub>
                  <m:r>
                    <m:rPr>
                      <m:sty m:val="p"/>
                    </m:rPr>
                    <a:rPr sz="950">
                      <a:solidFill>
                        <a:srgbClr val="D68B22"/>
                      </a:solidFill>
                      <a:latin typeface="Cambria Math"/>
                    </a:rPr>
                    <m:t xml:space="preserve">:</m:t>
                  </m:r>
                  <m:r>
                    <m:rPr>
                      <m:sty m:val="p"/>
                    </m:rPr>
                    <a:rPr sz="950">
                      <a:solidFill>
                        <a:srgbClr val="D68B22"/>
                      </a:solidFill>
                      <a:latin typeface="Cambria Math"/>
                    </a:rPr>
                    <m:t xml:space="preserve"> </m:t>
                  </m:r>
                  <m:r>
                    <m:rPr>
                      <m:sty m:val="p"/>
                    </m:rPr>
                    <a:rPr sz="950">
                      <a:solidFill>
                        <a:srgbClr val="D68B22"/>
                      </a:solidFill>
                      <a:latin typeface="Cambria Math"/>
                    </a:rPr>
                    <m:t xml:space="preserve">d</m:t>
                  </m:r>
                  <m:r>
                    <m:rPr>
                      <m:sty m:val="p"/>
                    </m:rPr>
                    <a:rPr sz="950">
                      <a:solidFill>
                        <a:srgbClr val="D68B22"/>
                      </a:solidFill>
                      <a:latin typeface="Cambria Math"/>
                    </a:rPr>
                    <m:t xml:space="preserve">i</m:t>
                  </m:r>
                  <m:r>
                    <m:rPr>
                      <m:sty m:val="p"/>
                    </m:rPr>
                    <a:rPr sz="950">
                      <a:solidFill>
                        <a:srgbClr val="D68B22"/>
                      </a:solidFill>
                      <a:latin typeface="Cambria Math"/>
                    </a:rPr>
                    <m:t xml:space="preserve">s</m:t>
                  </m:r>
                  <m:r>
                    <m:rPr>
                      <m:sty m:val="p"/>
                    </m:rPr>
                    <a:rPr sz="950">
                      <a:solidFill>
                        <a:srgbClr val="D68B22"/>
                      </a:solidFill>
                      <a:latin typeface="Cambria Math"/>
                    </a:rPr>
                    <m:t xml:space="preserve">t</m:t>
                  </m:r>
                  <m:r>
                    <m:rPr>
                      <m:sty m:val="p"/>
                    </m:rPr>
                    <a:rPr sz="950">
                      <a:solidFill>
                        <a:srgbClr val="D68B22"/>
                      </a:solidFill>
                      <a:latin typeface="Cambria Math"/>
                    </a:rPr>
                    <m:t xml:space="preserve">u</m:t>
                  </m:r>
                  <m:r>
                    <m:rPr>
                      <m:sty m:val="p"/>
                    </m:rPr>
                    <a:rPr sz="950">
                      <a:solidFill>
                        <a:srgbClr val="D68B22"/>
                      </a:solidFill>
                      <a:latin typeface="Cambria Math"/>
                    </a:rPr>
                    <m:t xml:space="preserve">r</m:t>
                  </m:r>
                  <m:r>
                    <m:rPr>
                      <m:sty m:val="p"/>
                    </m:rPr>
                    <a:rPr sz="950">
                      <a:solidFill>
                        <a:srgbClr val="D68B22"/>
                      </a:solidFill>
                      <a:latin typeface="Cambria Math"/>
                    </a:rPr>
                    <m:t xml:space="preserve">b</m:t>
                  </m:r>
                  <m:r>
                    <m:rPr>
                      <m:sty m:val="p"/>
                    </m:rPr>
                    <a:rPr sz="950">
                      <a:solidFill>
                        <a:srgbClr val="D68B22"/>
                      </a:solidFill>
                      <a:latin typeface="Cambria Math"/>
                    </a:rPr>
                    <m:t xml:space="preserve">a</m:t>
                  </m:r>
                  <m:r>
                    <m:rPr>
                      <m:sty m:val="p"/>
                    </m:rPr>
                    <a:rPr sz="950">
                      <a:solidFill>
                        <a:srgbClr val="D68B22"/>
                      </a:solidFill>
                      <a:latin typeface="Cambria Math"/>
                    </a:rPr>
                    <m:t xml:space="preserve">n</m:t>
                  </m:r>
                  <m:r>
                    <m:rPr>
                      <m:sty m:val="p"/>
                    </m:rPr>
                    <a:rPr sz="950">
                      <a:solidFill>
                        <a:srgbClr val="D68B22"/>
                      </a:solidFill>
                      <a:latin typeface="Cambria Math"/>
                    </a:rPr>
                    <m:t xml:space="preserve">c</m:t>
                  </m:r>
                  <m:r>
                    <m:rPr>
                      <m:sty m:val="p"/>
                    </m:rPr>
                    <a:rPr sz="950">
                      <a:solidFill>
                        <a:srgbClr val="D68B22"/>
                      </a:solidFill>
                      <a:latin typeface="Cambria Math"/>
                    </a:rPr>
                    <m:t xml:space="preserve">e</m:t>
                  </m:r>
                </m:oMath>
              </m:oMathPara>
            </a14:m>
            <a:endParaRPr sz="950"/>
          </a:p>
        </p:txBody>
      </p:sp>
      <p:sp>
        <p:nvSpPr>
          <p:cNvPr id="61006" name="Input plot legend disturbance G"/>
          <p:cNvSpPr/>
          <p:nvPr/>
        </p:nvSpPr>
        <p:spPr>
          <a:xfrm>
            <a:off x="7670800" y="4339590"/>
            <a:ext cx="1066800" cy="33782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950">
                          <a:solidFill>
                            <a:srgbClr val="D68B22"/>
                          </a:solidFill>
                          <a:latin typeface="Cambria Math"/>
                        </a:rPr>
                      </m:ctrlPr>
                    </m:sSubPr>
                    <m:e>
                      <m:r>
                        <m:rPr>
                          <m:sty m:val="i"/>
                        </m:rPr>
                        <a:rPr sz="950">
                          <a:solidFill>
                            <a:srgbClr val="D68B22"/>
                          </a:solidFill>
                          <a:latin typeface="Cambria Math"/>
                        </a:rPr>
                        <m:t xml:space="preserve">d</m:t>
                      </m:r>
                    </m:e>
                    <m:sub>
                      <m:r>
                        <m:rPr>
                          <m:sty m:val="p"/>
                        </m:rPr>
                        <a:rPr sz="950">
                          <a:solidFill>
                            <a:srgbClr val="D68B22"/>
                          </a:solidFill>
                          <a:latin typeface="Cambria Math"/>
                        </a:rPr>
                        <m:t xml:space="preserve">G</m:t>
                      </m:r>
                    </m:sub>
                  </m:sSub>
                  <m:r>
                    <m:rPr>
                      <m:sty m:val="p"/>
                    </m:rPr>
                    <a:rPr sz="950">
                      <a:solidFill>
                        <a:srgbClr val="D68B22"/>
                      </a:solidFill>
                      <a:latin typeface="Cambria Math"/>
                    </a:rPr>
                    <m:t xml:space="preserve">:</m:t>
                  </m:r>
                  <m:r>
                    <m:rPr>
                      <m:sty m:val="p"/>
                    </m:rPr>
                    <a:rPr sz="950">
                      <a:solidFill>
                        <a:srgbClr val="D68B22"/>
                      </a:solidFill>
                      <a:latin typeface="Cambria Math"/>
                    </a:rPr>
                    <m:t xml:space="preserve"> </m:t>
                  </m:r>
                  <m:r>
                    <m:rPr>
                      <m:sty m:val="p"/>
                    </m:rPr>
                    <a:rPr sz="950">
                      <a:solidFill>
                        <a:srgbClr val="D68B22"/>
                      </a:solidFill>
                      <a:latin typeface="Cambria Math"/>
                    </a:rPr>
                    <m:t xml:space="preserve">d</m:t>
                  </m:r>
                  <m:r>
                    <m:rPr>
                      <m:sty m:val="p"/>
                    </m:rPr>
                    <a:rPr sz="950">
                      <a:solidFill>
                        <a:srgbClr val="D68B22"/>
                      </a:solidFill>
                      <a:latin typeface="Cambria Math"/>
                    </a:rPr>
                    <m:t xml:space="preserve">i</m:t>
                  </m:r>
                  <m:r>
                    <m:rPr>
                      <m:sty m:val="p"/>
                    </m:rPr>
                    <a:rPr sz="950">
                      <a:solidFill>
                        <a:srgbClr val="D68B22"/>
                      </a:solidFill>
                      <a:latin typeface="Cambria Math"/>
                    </a:rPr>
                    <m:t xml:space="preserve">s</m:t>
                  </m:r>
                  <m:r>
                    <m:rPr>
                      <m:sty m:val="p"/>
                    </m:rPr>
                    <a:rPr sz="950">
                      <a:solidFill>
                        <a:srgbClr val="D68B22"/>
                      </a:solidFill>
                      <a:latin typeface="Cambria Math"/>
                    </a:rPr>
                    <m:t xml:space="preserve">t</m:t>
                  </m:r>
                  <m:r>
                    <m:rPr>
                      <m:sty m:val="p"/>
                    </m:rPr>
                    <a:rPr sz="950">
                      <a:solidFill>
                        <a:srgbClr val="D68B22"/>
                      </a:solidFill>
                      <a:latin typeface="Cambria Math"/>
                    </a:rPr>
                    <m:t xml:space="preserve">u</m:t>
                  </m:r>
                  <m:r>
                    <m:rPr>
                      <m:sty m:val="p"/>
                    </m:rPr>
                    <a:rPr sz="950">
                      <a:solidFill>
                        <a:srgbClr val="D68B22"/>
                      </a:solidFill>
                      <a:latin typeface="Cambria Math"/>
                    </a:rPr>
                    <m:t xml:space="preserve">r</m:t>
                  </m:r>
                  <m:r>
                    <m:rPr>
                      <m:sty m:val="p"/>
                    </m:rPr>
                    <a:rPr sz="950">
                      <a:solidFill>
                        <a:srgbClr val="D68B22"/>
                      </a:solidFill>
                      <a:latin typeface="Cambria Math"/>
                    </a:rPr>
                    <m:t xml:space="preserve">b</m:t>
                  </m:r>
                  <m:r>
                    <m:rPr>
                      <m:sty m:val="p"/>
                    </m:rPr>
                    <a:rPr sz="950">
                      <a:solidFill>
                        <a:srgbClr val="D68B22"/>
                      </a:solidFill>
                      <a:latin typeface="Cambria Math"/>
                    </a:rPr>
                    <m:t xml:space="preserve">a</m:t>
                  </m:r>
                  <m:r>
                    <m:rPr>
                      <m:sty m:val="p"/>
                    </m:rPr>
                    <a:rPr sz="950">
                      <a:solidFill>
                        <a:srgbClr val="D68B22"/>
                      </a:solidFill>
                      <a:latin typeface="Cambria Math"/>
                    </a:rPr>
                    <m:t xml:space="preserve">n</m:t>
                  </m:r>
                  <m:r>
                    <m:rPr>
                      <m:sty m:val="p"/>
                    </m:rPr>
                    <a:rPr sz="950">
                      <a:solidFill>
                        <a:srgbClr val="D68B22"/>
                      </a:solidFill>
                      <a:latin typeface="Cambria Math"/>
                    </a:rPr>
                    <m:t xml:space="preserve">c</m:t>
                  </m:r>
                  <m:r>
                    <m:rPr>
                      <m:sty m:val="p"/>
                    </m:rPr>
                    <a:rPr sz="950">
                      <a:solidFill>
                        <a:srgbClr val="D68B22"/>
                      </a:solidFill>
                      <a:latin typeface="Cambria Math"/>
                    </a:rPr>
                    <m:t xml:space="preserve">e</m:t>
                  </m:r>
                </m:oMath>
              </m:oMathPara>
            </a14:m>
            <a:endParaRPr sz="950"/>
          </a:p>
        </p:txBody>
      </p:sp>
      <p:pic>
        <p:nvPicPr>
          <p:cNvPr id="62000" name="Still hand from slide 14"/>
          <p:cNvPicPr>
            <a:picLocks noChangeAspect="1"/>
          </p:cNvPicPr>
          <p:nvPr/>
        </p:nvPicPr>
        <p:blipFill>
          <a:blip r:embed="rIdHandStill48"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