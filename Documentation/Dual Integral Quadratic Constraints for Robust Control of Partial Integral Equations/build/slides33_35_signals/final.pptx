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45.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6"/>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47" r:id="rId35"/>
    <p:sldId id="448" r:id="rId51"/>
    <p:sldId id="439" r:id="rId36"/>
    <p:sldId id="421" r:id="rId37"/>
    <p:sldId id="427" r:id="rId38"/>
    <p:sldId id="431" r:id="rId39"/>
    <p:sldId id="428" r:id="rId40"/>
    <p:sldId id="429" r:id="rId41"/>
    <p:sldId id="432" r:id="rId42"/>
    <p:sldId id="430" r:id="rId43"/>
    <p:sldId id="433" r:id="rId44"/>
    <p:sldId id="434" r:id="rId45"/>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1140" y="5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51"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39</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44</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8" Type="http://schemas.openxmlformats.org/officeDocument/2006/relationships/image" Target="../media/image39.png"/><Relationship Id="rId12" Type="http://schemas.openxmlformats.org/officeDocument/2006/relationships/image" Target="../media/image33.png"/><Relationship Id="rId17" Type="http://schemas.openxmlformats.org/officeDocument/2006/relationships/image" Target="../media/image38.png"/><Relationship Id="rId16" Type="http://schemas.openxmlformats.org/officeDocument/2006/relationships/image" Target="../media/image37.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36.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1.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11" Type="http://schemas.openxmlformats.org/officeDocument/2006/relationships/image" Target="../media/image50.png"/><Relationship Id="rId5" Type="http://schemas.openxmlformats.org/officeDocument/2006/relationships/image" Target="../media/image43.png"/><Relationship Id="rId10" Type="http://schemas.openxmlformats.org/officeDocument/2006/relationships/image" Target="../media/image49.png"/><Relationship Id="rId4" Type="http://schemas.openxmlformats.org/officeDocument/2006/relationships/image" Target="../media/image42.png"/><Relationship Id="rId9"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52.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54.png"/></Relationships>
</file>

<file path=ppt/slides/_rels/slide4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55.png"/></Relationships>
</file>

<file path=ppt/slides/_rels/slide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56.png"/></Relationships>
</file>

<file path=ppt/slides/_rels/slide4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1.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11" Type="http://schemas.openxmlformats.org/officeDocument/2006/relationships/image" Target="../media/image50.png"/><Relationship Id="rId5" Type="http://schemas.openxmlformats.org/officeDocument/2006/relationships/image" Target="../media/image43.png"/><Relationship Id="rId10" Type="http://schemas.openxmlformats.org/officeDocument/2006/relationships/image" Target="../media/image49.png"/><Relationship Id="rId4" Type="http://schemas.openxmlformats.org/officeDocument/2006/relationships/image" Target="../media/image42.png"/><Relationship Id="rId9"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xmlns:m="http://schemas.openxmlformats.org/officeDocument/2006/math">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Alternative controller schematic</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Plant label"/>
          <p:cNvSpPr txBox="1"/>
          <p:nvPr/>
        </p:nvSpPr>
        <p:spPr>
          <a:xfrm>
            <a:off x="4876800" y="1066800"/>
            <a:ext cx="3784600" cy="279400"/>
          </a:xfrm>
          <a:prstGeom prst="rect">
            <a:avLst/>
          </a:prstGeom>
          <a:noFill/>
          <a:ln>
            <a:noFill/>
          </a:ln>
        </p:spPr>
        <p:txBody>
          <a:bodyPr wrap="square" lIns="0" tIns="0" rIns="0" bIns="0" anchor="ctr">
            <a:noAutofit/>
          </a:bodyPr>
          <a:lstStyle/>
          <a:p>
            <a:pPr algn="l"/>
            <a:r>
              <a:rPr lang="en-US" sz="1400" b="0">
                <a:solidFill>
                  <a:srgbClr val="252529"/>
                </a:solidFill>
                <a:latin typeface="Aptos"/>
              </a:rPr>
              <a:t>Take the state-feedback system</a:t>
            </a:r>
          </a:p>
        </p:txBody>
      </p:sp>
      <mc:AlternateContent>
        <mc:Choice Requires="a14">
          <p:sp>
            <p:nvSpPr>
              <p:cNvPr id="302" name="Plant"/>
              <p:cNvSpPr txBox="1"/>
              <p:nvPr/>
            </p:nvSpPr>
            <p:spPr>
              <a:xfrm>
                <a:off x="4965700" y="1384300"/>
                <a:ext cx="3721100" cy="546100"/>
              </a:xfrm>
              <a:prstGeom prst="rect">
                <a:avLst/>
              </a:prstGeom>
              <a:noFill/>
              <a:ln>
                <a:noFill/>
              </a:ln>
            </p:spPr>
            <p:txBody>
              <a:bodyPr wrap="square" lIns="0" tIns="0" rIns="0" bIns="0" anchor="ctr">
                <a:noAutofit/>
              </a:bodyPr>
              <a:lstStyle/>
              <a:p>
                <a:pPr algn="l"/>
                <a14:m>
                  <m:oMathPara>
                    <m:oMathParaPr>
                      <m:jc m:val="left"/>
                    </m:oMathParaPr>
                    <m:oMath>
                      <m:d>
                        <m:dPr>
                          <m:begChr m:val="{"/>
                          <m:endChr m:val=""/>
                          <m:ctrlPr>
                            <a:rPr lang="en-US" sz="1600">
                              <a:solidFill>
                                <a:srgbClr val="252529"/>
                              </a:solidFill>
                              <a:latin typeface="Cambria Math"/>
                            </a:rPr>
                          </m:ctrlPr>
                        </m:dPr>
                        <m:e>
                          <m:eqArr>
                            <m:eqArrPr>
                              <m:ctrlPr>
                                <a:rPr lang="en-US" sz="1600">
                                  <a:solidFill>
                                    <a:srgbClr val="252529"/>
                                  </a:solidFill>
                                  <a:latin typeface="Cambria Math"/>
                                </a:rPr>
                              </m:ctrlPr>
                            </m:eqArrPr>
                            <m:e>
                              <m:r>
                                <m:rPr>
                                  <m:sty m:val="p"/>
                                </m:rPr>
                                <a:rPr lang="en-US" sz="1600">
                                  <a:solidFill>
                                    <a:srgbClr val="252529"/>
                                  </a:solidFill>
                                  <a:latin typeface="Cambria Math"/>
                                </a:rPr>
                                <m:t xml:space="preserve">𝑇</m:t>
                              </m:r>
                              <m:acc>
                                <m:accPr>
                                  <m:chr m:val="̇"/>
                                  <m:ctrlPr>
                                    <a:rPr lang="en-US" sz="1600">
                                      <a:solidFill>
                                        <a:srgbClr val="252529"/>
                                      </a:solidFill>
                                      <a:latin typeface="Cambria Math"/>
                                    </a:rPr>
                                  </m:ctrlPr>
                                </m:accPr>
                                <m:e>
                                  <m:r>
                                    <m:rPr>
                                      <m:sty m:val="p"/>
                                    </m:rPr>
                                    <a:rPr lang="en-US" sz="1600">
                                      <a:solidFill>
                                        <a:srgbClr val="252529"/>
                                      </a:solidFill>
                                      <a:latin typeface="Cambria Math"/>
                                    </a:rPr>
                                    <m:t xml:space="preserve">𝑥</m:t>
                                  </m:r>
                                </m:e>
                              </m:acc>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𝐴</m:t>
                              </m:r>
                              <m:r>
                                <m:rPr>
                                  <m:sty m:val="p"/>
                                </m:rPr>
                                <a:rPr lang="en-US" sz="1600">
                                  <a:solidFill>
                                    <a:srgbClr val="252529"/>
                                  </a:solidFill>
                                  <a:latin typeface="Cambria Math"/>
                                </a:rPr>
                                <m:t xml:space="preserve">𝑥</m:t>
                              </m:r>
                              <m:r>
                                <m:rPr>
                                  <m:sty m:val="p"/>
                                </m:rPr>
                                <a:rPr lang="en-US" sz="1600">
                                  <a:solidFill>
                                    <a:srgbClr val="252529"/>
                                  </a:solidFill>
                                  <a:latin typeface="Cambria Math"/>
                                </a:rPr>
                                <m:t xml:space="preserve">+</m:t>
                              </m:r>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r>
                                <m:rPr>
                                  <m:sty m:val="p"/>
                                </m:rPr>
                                <a:rPr lang="en-US" sz="1600">
                                  <a:solidFill>
                                    <a:srgbClr val="252529"/>
                                  </a:solidFill>
                                  <a:latin typeface="Cambria Math"/>
                                </a:rPr>
                                <m:t xml:space="preserve">𝑢</m:t>
                              </m:r>
                            </m:e>
                            <m:e>
                              <m:r>
                                <m:rPr>
                                  <m:sty m:val="p"/>
                                </m:rPr>
                                <a:rPr lang="en-US" sz="1600">
                                  <a:solidFill>
                                    <a:srgbClr val="252529"/>
                                  </a:solidFill>
                                  <a:latin typeface="Cambria Math"/>
                                </a:rPr>
                                <m:t xml:space="preserve">𝑦</m:t>
                              </m:r>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𝑥</m:t>
                              </m:r>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 </m:t>
                              </m:r>
                              <m:r>
                                <m:rPr>
                                  <m:sty m:val="p"/>
                                </m:rPr>
                                <a:rPr lang="en-US" sz="1600">
                                  <a:solidFill>
                                    <a:srgbClr val="252529"/>
                                  </a:solidFill>
                                  <a:latin typeface="Cambria Math"/>
                                </a:rPr>
                                <m:t xml:space="preserve"> </m:t>
                              </m:r>
                              <m:r>
                                <m:rPr>
                                  <m:sty m:val="p"/>
                                </m:rPr>
                                <a:rPr lang="en-US" sz="1600">
                                  <a:solidFill>
                                    <a:srgbClr val="252529"/>
                                  </a:solidFill>
                                  <a:latin typeface="Cambria Math"/>
                                </a:rPr>
                                <m:t xml:space="preserve"> </m:t>
                              </m:r>
                              <m:r>
                                <m:rPr>
                                  <m:sty m:val="p"/>
                                </m:rPr>
                                <a:rPr lang="en-US" sz="1600">
                                  <a:solidFill>
                                    <a:srgbClr val="252529"/>
                                  </a:solidFill>
                                  <a:latin typeface="Cambria Math"/>
                                </a:rPr>
                                <m:t xml:space="preserve">𝑢</m:t>
                              </m:r>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𝐾</m:t>
                              </m:r>
                              <m:r>
                                <m:rPr>
                                  <m:sty m:val="p"/>
                                </m:rPr>
                                <a:rPr lang="en-US" sz="1600">
                                  <a:solidFill>
                                    <a:srgbClr val="252529"/>
                                  </a:solidFill>
                                  <a:latin typeface="Cambria Math"/>
                                </a:rPr>
                                <m:t xml:space="preserve">𝑦</m:t>
                              </m:r>
                            </m:e>
                          </m:eqArr>
                        </m:e>
                      </m:d>
                    </m:oMath>
                  </m:oMathPara>
                </a14:m>
                <a:endParaRPr sz="1600">
                  <a:latin typeface="Cambria Math"/>
                </a:endParaRPr>
              </a:p>
            </p:txBody>
          </p:sp>
        </mc:Choice>
        <mc:Fallback>
          <p:sp>
            <p:nvSpPr>
              <p:cNvPr id="302" name="Plant"/>
              <p:cNvSpPr txBox="1"/>
              <p:nvPr/>
            </p:nvSpPr>
            <p:spPr>
              <a:xfrm>
                <a:off x="4965700" y="1384300"/>
                <a:ext cx="37211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3" name="Stage1 filter signal system"/>
              <p:cNvSpPr txBox="1"/>
              <p:nvPr/>
            </p:nvSpPr>
            <p:spPr>
              <a:xfrm>
                <a:off x="4864100" y="2006600"/>
                <a:ext cx="3898900" cy="7620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600">
                          <a:solidFill>
                            <a:srgbClr val="252529"/>
                          </a:solidFill>
                          <a:latin typeface="Cambria Math"/>
                        </a:rPr>
                        <m:t xml:space="preserve">Θ</m:t>
                      </m:r>
                      <m:r>
                        <m:rPr>
                          <m:sty m:val="p"/>
                        </m:rPr>
                        <a:rPr lang="en-US" sz="1600">
                          <a:solidFill>
                            <a:srgbClr val="252529"/>
                          </a:solidFill>
                          <a:latin typeface="Cambria Math"/>
                        </a:rPr>
                        <m:t xml:space="preserve"> </m:t>
                      </m:r>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 </m:t>
                      </m:r>
                      <m:d>
                        <m:dPr>
                          <m:begChr m:val="{"/>
                          <m:endChr m:val=""/>
                          <m:ctrlPr>
                            <a:rPr lang="en-US" sz="1600">
                              <a:solidFill>
                                <a:srgbClr val="252529"/>
                              </a:solidFill>
                              <a:latin typeface="Cambria Math"/>
                            </a:rPr>
                          </m:ctrlPr>
                        </m:dPr>
                        <m:e>
                          <m:eqArr>
                            <m:eqArrPr>
                              <m:ctrlPr>
                                <a:rPr lang="en-US" sz="1600">
                                  <a:solidFill>
                                    <a:srgbClr val="252529"/>
                                  </a:solidFill>
                                  <a:latin typeface="Cambria Math"/>
                                </a:rPr>
                              </m:ctrlPr>
                            </m:eqArrPr>
                            <m:e>
                              <m:d>
                                <m:dPr>
                                  <m:begChr m:val="["/>
                                  <m:endChr m:val="]"/>
                                  <m:ctrlPr>
                                    <a:rPr lang="en-US" sz="1600">
                                      <a:solidFill>
                                        <a:srgbClr val="252529"/>
                                      </a:solidFill>
                                      <a:latin typeface="Cambria Math"/>
                                    </a:rPr>
                                  </m:ctrlPr>
                                </m:dPr>
                                <m:e>
                                  <m:m>
                                    <m:mPr>
                                      <m:ctrlPr>
                                        <a:rPr lang="en-US" sz="1600">
                                          <a:solidFill>
                                            <a:srgbClr val="252529"/>
                                          </a:solidFill>
                                          <a:latin typeface="Cambria Math"/>
                                        </a:rPr>
                                      </m:ctrlPr>
                                    </m:mPr>
                                    <m:mr>
                                      <m:e>
                                        <m:acc>
                                          <m:accPr>
                                            <m:chr m:val="̃"/>
                                            <m:ctrlPr>
                                              <a:rPr lang="en-US" sz="1600">
                                                <a:solidFill>
                                                  <a:srgbClr val="252529"/>
                                                </a:solidFill>
                                                <a:latin typeface="Cambria Math"/>
                                              </a:rPr>
                                            </m:ctrlPr>
                                          </m:accPr>
                                          <m:e>
                                            <m:r>
                                              <m:rPr>
                                                <m:sty m:val="p"/>
                                              </m:rPr>
                                              <a:rPr lang="en-US" sz="1600">
                                                <a:solidFill>
                                                  <a:srgbClr val="252529"/>
                                                </a:solidFill>
                                                <a:latin typeface="Cambria Math"/>
                                              </a:rPr>
                                              <m:t xml:space="preserve">𝑦</m:t>
                                            </m:r>
                                          </m:e>
                                        </m:acc>
                                      </m:e>
                                    </m:mr>
                                    <m:mr>
                                      <m:e>
                                        <m:acc>
                                          <m:accPr>
                                            <m:chr m:val="̃"/>
                                            <m:ctrlPr>
                                              <a:rPr lang="en-US" sz="1600">
                                                <a:solidFill>
                                                  <a:srgbClr val="252529"/>
                                                </a:solidFill>
                                                <a:latin typeface="Cambria Math"/>
                                              </a:rPr>
                                            </m:ctrlPr>
                                          </m:accPr>
                                          <m:e>
                                            <m:r>
                                              <m:rPr>
                                                <m:sty m:val="p"/>
                                              </m:rPr>
                                              <a:rPr lang="en-US" sz="1600">
                                                <a:solidFill>
                                                  <a:srgbClr val="252529"/>
                                                </a:solidFill>
                                                <a:latin typeface="Cambria Math"/>
                                              </a:rPr>
                                              <m:t xml:space="preserve">𝑢</m:t>
                                            </m:r>
                                          </m:e>
                                        </m:acc>
                                      </m:e>
                                    </m:mr>
                                  </m:m>
                                </m:e>
                              </m:d>
                              <m:r>
                                <m:rPr>
                                  <m:sty m:val="p"/>
                                </m:rPr>
                                <a:rPr lang="en-US" sz="1600">
                                  <a:solidFill>
                                    <a:srgbClr val="252529"/>
                                  </a:solidFill>
                                  <a:latin typeface="Cambria Math"/>
                                </a:rPr>
                                <m:t xml:space="preserve">=</m:t>
                              </m:r>
                              <m:d>
                                <m:dPr>
                                  <m:begChr m:val="["/>
                                  <m:endChr m:val="]"/>
                                  <m:ctrlPr>
                                    <a:rPr lang="en-US" sz="1600">
                                      <a:solidFill>
                                        <a:srgbClr val="252529"/>
                                      </a:solidFill>
                                      <a:latin typeface="Cambria Math"/>
                                    </a:rPr>
                                  </m:ctrlPr>
                                </m:dPr>
                                <m:e>
                                  <m:m>
                                    <m:mPr>
                                      <m:ctrlPr>
                                        <a:rPr lang="en-US" sz="1600">
                                          <a:solidFill>
                                            <a:srgbClr val="252529"/>
                                          </a:solidFill>
                                          <a:latin typeface="Cambria Math"/>
                                        </a:rPr>
                                      </m:ctrlPr>
                                    </m:mPr>
                                    <m:mr>
                                      <m:e>
                                        <m:r>
                                          <m:rPr>
                                            <m:sty m:val="p"/>
                                          </m:rPr>
                                          <a:rPr lang="en-US" sz="1600">
                                            <a:solidFill>
                                              <a:srgbClr val="252529"/>
                                            </a:solidFill>
                                            <a:latin typeface="Cambria Math"/>
                                          </a:rPr>
                                          <m:t xml:space="preserve">𝐼</m:t>
                                        </m:r>
                                      </m:e>
                                      <m:e>
                                        <m:r>
                                          <m:rPr>
                                            <m:sty m:val="p"/>
                                          </m:rPr>
                                          <a:rPr lang="en-US" sz="1600">
                                            <a:solidFill>
                                              <a:srgbClr val="252529"/>
                                            </a:solidFill>
                                            <a:latin typeface="Cambria Math"/>
                                          </a:rPr>
                                          <m:t xml:space="preserve">0</m:t>
                                        </m:r>
                                      </m:e>
                                    </m:mr>
                                    <m:mr>
                                      <m:e>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𝐾</m:t>
                                        </m:r>
                                      </m:e>
                                      <m:e>
                                        <m:r>
                                          <m:rPr>
                                            <m:sty m:val="p"/>
                                          </m:rPr>
                                          <a:rPr lang="en-US" sz="1600">
                                            <a:solidFill>
                                              <a:srgbClr val="252529"/>
                                            </a:solidFill>
                                            <a:latin typeface="Cambria Math"/>
                                          </a:rPr>
                                          <m:t xml:space="preserve">𝐼</m:t>
                                        </m:r>
                                      </m:e>
                                    </m:mr>
                                  </m:m>
                                </m:e>
                              </m:d>
                              <m:d>
                                <m:dPr>
                                  <m:begChr m:val="["/>
                                  <m:endChr m:val="]"/>
                                  <m:ctrlPr>
                                    <a:rPr lang="en-US" sz="1600">
                                      <a:solidFill>
                                        <a:srgbClr val="252529"/>
                                      </a:solidFill>
                                      <a:latin typeface="Cambria Math"/>
                                    </a:rPr>
                                  </m:ctrlPr>
                                </m:dPr>
                                <m:e>
                                  <m:m>
                                    <m:mPr>
                                      <m:ctrlPr>
                                        <a:rPr lang="en-US" sz="1600">
                                          <a:solidFill>
                                            <a:srgbClr val="252529"/>
                                          </a:solidFill>
                                          <a:latin typeface="Cambria Math"/>
                                        </a:rPr>
                                      </m:ctrlPr>
                                    </m:mPr>
                                    <m:mr>
                                      <m:e>
                                        <m:r>
                                          <m:rPr>
                                            <m:sty m:val="p"/>
                                          </m:rPr>
                                          <a:rPr lang="en-US" sz="1600">
                                            <a:solidFill>
                                              <a:srgbClr val="252529"/>
                                            </a:solidFill>
                                            <a:latin typeface="Cambria Math"/>
                                          </a:rPr>
                                          <m:t xml:space="preserve">𝑦</m:t>
                                        </m:r>
                                      </m:e>
                                    </m:mr>
                                    <m:mr>
                                      <m:e>
                                        <m:r>
                                          <m:rPr>
                                            <m:sty m:val="p"/>
                                          </m:rPr>
                                          <a:rPr lang="en-US" sz="1600">
                                            <a:solidFill>
                                              <a:srgbClr val="252529"/>
                                            </a:solidFill>
                                            <a:latin typeface="Cambria Math"/>
                                          </a:rPr>
                                          <m:t xml:space="preserve">𝑢</m:t>
                                        </m:r>
                                      </m:e>
                                    </m:mr>
                                  </m:m>
                                </m:e>
                              </m:d>
                            </m:e>
                          </m:eqArr>
                        </m:e>
                      </m:d>
                    </m:oMath>
                  </m:oMathPara>
                </a14:m>
                <a:endParaRPr sz="1600">
                  <a:latin typeface="Cambria Math"/>
                </a:endParaRPr>
              </a:p>
            </p:txBody>
          </p:sp>
        </mc:Choice>
        <mc:Fallback>
          <p:sp>
            <p:nvSpPr>
              <p:cNvPr id="303" name="Stage1 filter signal system"/>
              <p:cNvSpPr txBox="1"/>
              <p:nvPr/>
            </p:nvSpPr>
            <p:spPr>
              <a:xfrm>
                <a:off x="4864100" y="2006600"/>
                <a:ext cx="3898900" cy="7620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thus"/>
          <p:cNvSpPr txBox="1"/>
          <p:nvPr/>
        </p:nvSpPr>
        <p:spPr>
          <a:xfrm>
            <a:off x="4876800" y="2794000"/>
            <a:ext cx="3784600" cy="266700"/>
          </a:xfrm>
          <a:prstGeom prst="rect">
            <a:avLst/>
          </a:prstGeom>
          <a:noFill/>
          <a:ln>
            <a:noFill/>
          </a:ln>
        </p:spPr>
        <p:txBody>
          <a:bodyPr wrap="square" lIns="0" tIns="0" rIns="0" bIns="0" anchor="ctr">
            <a:noAutofit/>
          </a:bodyPr>
          <a:lstStyle/>
          <a:p>
            <a:pPr algn="l"/>
            <a:r>
              <a:rPr lang="en-US" sz="1400" b="0">
                <a:solidFill>
                  <a:srgbClr val="252529"/>
                </a:solidFill>
                <a:latin typeface="Aptos"/>
              </a:rPr>
              <a:t>Thus</a:t>
            </a:r>
          </a:p>
        </p:txBody>
      </p:sp>
      <mc:AlternateContent>
        <mc:Choice Requires="a14">
          <p:sp>
            <p:nvSpPr>
              <p:cNvPr id="305" name="Stage2 outputs"/>
              <p:cNvSpPr txBox="1"/>
              <p:nvPr/>
            </p:nvSpPr>
            <p:spPr>
              <a:xfrm>
                <a:off x="4965700" y="3086100"/>
                <a:ext cx="3721100" cy="558800"/>
              </a:xfrm>
              <a:prstGeom prst="rect">
                <a:avLst/>
              </a:prstGeom>
              <a:noFill/>
              <a:ln>
                <a:noFill/>
              </a:ln>
            </p:spPr>
            <p:txBody>
              <a:bodyPr wrap="square" lIns="0" tIns="0" rIns="0" bIns="0" anchor="ctr">
                <a:noAutofit/>
              </a:bodyPr>
              <a:lstStyle/>
              <a:p>
                <a:pPr algn="l"/>
                <a14:m>
                  <m:oMathPara>
                    <m:oMathParaPr>
                      <m:jc m:val="left"/>
                    </m:oMathParaPr>
                    <m:oMath>
                      <m:d>
                        <m:dPr>
                          <m:begChr m:val="{"/>
                          <m:endChr m:val=""/>
                          <m:ctrlPr>
                            <a:rPr lang="en-US" sz="1700">
                              <a:solidFill>
                                <a:srgbClr val="252529"/>
                              </a:solidFill>
                              <a:latin typeface="Cambria Math"/>
                            </a:rPr>
                          </m:ctrlPr>
                        </m:dPr>
                        <m:e>
                          <m:eqArr>
                            <m:eqArrPr>
                              <m:ctrlPr>
                                <a:rPr lang="en-US" sz="1700">
                                  <a:solidFill>
                                    <a:srgbClr val="252529"/>
                                  </a:solidFill>
                                  <a:latin typeface="Cambria Math"/>
                                </a:rPr>
                              </m:ctrlPr>
                            </m:eqArrPr>
                            <m:e>
                              <m:acc>
                                <m:accPr>
                                  <m:chr m:val="̃"/>
                                  <m:ctrlPr>
                                    <a:rPr lang="en-US" sz="1700">
                                      <a:solidFill>
                                        <a:srgbClr val="252529"/>
                                      </a:solidFill>
                                      <a:latin typeface="Cambria Math"/>
                                    </a:rPr>
                                  </m:ctrlPr>
                                </m:accPr>
                                <m:e>
                                  <m:r>
                                    <m:rPr>
                                      <m:sty m:val="p"/>
                                    </m:rPr>
                                    <a:rPr lang="en-US" sz="1700">
                                      <a:solidFill>
                                        <a:srgbClr val="252529"/>
                                      </a:solidFill>
                                      <a:latin typeface="Cambria Math"/>
                                    </a:rPr>
                                    <m:t xml:space="preserve">𝑦</m:t>
                                  </m:r>
                                </m:e>
                              </m:acc>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𝑦</m:t>
                              </m:r>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𝑥</m:t>
                              </m:r>
                            </m:e>
                            <m:e>
                              <m:acc>
                                <m:accPr>
                                  <m:chr m:val="̃"/>
                                  <m:ctrlPr>
                                    <a:rPr lang="en-US" sz="1700">
                                      <a:solidFill>
                                        <a:srgbClr val="252529"/>
                                      </a:solidFill>
                                      <a:latin typeface="Cambria Math"/>
                                    </a:rPr>
                                  </m:ctrlPr>
                                </m:accPr>
                                <m:e>
                                  <m:r>
                                    <m:rPr>
                                      <m:sty m:val="p"/>
                                    </m:rPr>
                                    <a:rPr lang="en-US" sz="1700">
                                      <a:solidFill>
                                        <a:srgbClr val="252529"/>
                                      </a:solidFill>
                                      <a:latin typeface="Cambria Math"/>
                                    </a:rPr>
                                    <m:t xml:space="preserve">𝑢</m:t>
                                  </m:r>
                                </m:e>
                              </m:acc>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𝑢</m:t>
                              </m:r>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𝐾</m:t>
                              </m:r>
                              <m:r>
                                <m:rPr>
                                  <m:sty m:val="p"/>
                                </m:rPr>
                                <a:rPr lang="en-US" sz="1700">
                                  <a:solidFill>
                                    <a:srgbClr val="252529"/>
                                  </a:solidFill>
                                  <a:latin typeface="Cambria Math"/>
                                </a:rPr>
                                <m:t xml:space="preserve">𝑦</m:t>
                              </m:r>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0</m:t>
                              </m:r>
                            </m:e>
                          </m:eqArr>
                        </m:e>
                      </m:d>
                    </m:oMath>
                  </m:oMathPara>
                </a14:m>
                <a:endParaRPr sz="1700">
                  <a:latin typeface="Cambria Math"/>
                </a:endParaRPr>
              </a:p>
            </p:txBody>
          </p:sp>
        </mc:Choice>
        <mc:Fallback>
          <p:sp>
            <p:nvSpPr>
              <p:cNvPr id="305" name="Stage2 outputs"/>
              <p:cNvSpPr txBox="1"/>
              <p:nvPr/>
            </p:nvSpPr>
            <p:spPr>
              <a:xfrm>
                <a:off x="4965700" y="3086100"/>
                <a:ext cx="3721100" cy="558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6" name="Stage3 substitution"/>
          <p:cNvSpPr txBox="1"/>
          <p:nvPr/>
        </p:nvSpPr>
        <p:spPr>
          <a:xfrm>
            <a:off x="4876800" y="3759200"/>
            <a:ext cx="3784600" cy="266700"/>
          </a:xfrm>
          <a:prstGeom prst="rect">
            <a:avLst/>
          </a:prstGeom>
          <a:noFill/>
          <a:ln>
            <a:noFill/>
          </a:ln>
        </p:spPr>
        <p:txBody>
          <a:bodyPr wrap="square" lIns="0" tIns="0" rIns="0" bIns="0" anchor="ctr">
            <a:noAutofit/>
          </a:bodyPr>
          <a:lstStyle/>
          <a:p>
            <a:pPr algn="l"/>
            <a:r>
              <a:rPr lang="en-US" sz="1400" b="0">
                <a:solidFill>
                  <a:srgbClr val="252529"/>
                </a:solidFill>
                <a:latin typeface="Aptos"/>
              </a:rPr>
              <a:t>Filling in</a:t>
            </a:r>
          </a:p>
        </p:txBody>
      </p:sp>
      <mc:AlternateContent>
        <mc:Choice Requires="a14">
          <p:sp>
            <p:nvSpPr>
              <p:cNvPr id="307" name="Stage3 closed loop"/>
              <p:cNvSpPr txBox="1"/>
              <p:nvPr/>
            </p:nvSpPr>
            <p:spPr>
              <a:xfrm>
                <a:off x="4965700" y="4038600"/>
                <a:ext cx="3721100" cy="3302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700">
                          <a:solidFill>
                            <a:srgbClr val="252529"/>
                          </a:solidFill>
                          <a:latin typeface="Cambria Math"/>
                        </a:rPr>
                        <m:t xml:space="preserve">𝑇</m:t>
                      </m:r>
                      <m:acc>
                        <m:accPr>
                          <m:chr m:val="̇"/>
                          <m:ctrlPr>
                            <a:rPr lang="en-US" sz="1700">
                              <a:solidFill>
                                <a:srgbClr val="252529"/>
                              </a:solidFill>
                              <a:latin typeface="Cambria Math"/>
                            </a:rPr>
                          </m:ctrlPr>
                        </m:accPr>
                        <m:e>
                          <m:r>
                            <m:rPr>
                              <m:sty m:val="p"/>
                            </m:rPr>
                            <a:rPr lang="en-US" sz="1700">
                              <a:solidFill>
                                <a:srgbClr val="252529"/>
                              </a:solidFill>
                              <a:latin typeface="Cambria Math"/>
                            </a:rPr>
                            <m:t xml:space="preserve">𝑥</m:t>
                          </m:r>
                        </m:e>
                      </m:acc>
                      <m:r>
                        <m:rPr>
                          <m:sty m:val="p"/>
                        </m:rPr>
                        <a:rPr lang="en-US" sz="1700">
                          <a:solidFill>
                            <a:srgbClr val="252529"/>
                          </a:solidFill>
                          <a:latin typeface="Cambria Math"/>
                        </a:rPr>
                        <m:t xml:space="preserve">=</m:t>
                      </m:r>
                      <m:d>
                        <m:dPr>
                          <m:begChr m:val="("/>
                          <m:endChr m:val=")"/>
                          <m:ctrlPr>
                            <a:rPr lang="en-US" sz="1700">
                              <a:solidFill>
                                <a:srgbClr val="252529"/>
                              </a:solidFill>
                              <a:latin typeface="Cambria Math"/>
                            </a:rPr>
                          </m:ctrlPr>
                        </m:dPr>
                        <m:e>
                          <m:r>
                            <m:rPr>
                              <m:sty m:val="p"/>
                            </m:rPr>
                            <a:rPr lang="en-US" sz="1700">
                              <a:solidFill>
                                <a:srgbClr val="252529"/>
                              </a:solidFill>
                              <a:latin typeface="Cambria Math"/>
                            </a:rPr>
                            <m:t xml:space="preserve">𝐴</m:t>
                          </m:r>
                          <m:r>
                            <m:rPr>
                              <m:sty m:val="p"/>
                            </m:rPr>
                            <a:rPr lang="en-US" sz="1700">
                              <a:solidFill>
                                <a:srgbClr val="252529"/>
                              </a:solidFill>
                              <a:latin typeface="Cambria Math"/>
                            </a:rPr>
                            <m:t xml:space="preserve">+</m:t>
                          </m:r>
                          <m:sSub>
                            <m:sSubPr>
                              <m:ctrlPr>
                                <a:rPr lang="en-US" sz="1700">
                                  <a:solidFill>
                                    <a:srgbClr val="252529"/>
                                  </a:solidFill>
                                  <a:latin typeface="Cambria Math"/>
                                </a:rPr>
                              </m:ctrlPr>
                            </m:sSubPr>
                            <m:e>
                              <m:r>
                                <m:rPr>
                                  <m:sty m:val="p"/>
                                </m:rPr>
                                <a:rPr lang="en-US" sz="1700">
                                  <a:solidFill>
                                    <a:srgbClr val="252529"/>
                                  </a:solidFill>
                                  <a:latin typeface="Cambria Math"/>
                                </a:rPr>
                                <m:t xml:space="preserve">𝐵</m:t>
                              </m:r>
                            </m:e>
                            <m:sub>
                              <m:r>
                                <m:rPr>
                                  <m:sty m:val="p"/>
                                </m:rPr>
                                <a:rPr lang="en-US" sz="1700">
                                  <a:solidFill>
                                    <a:srgbClr val="252529"/>
                                  </a:solidFill>
                                  <a:latin typeface="Cambria Math"/>
                                </a:rPr>
                                <m:t xml:space="preserve">u</m:t>
                              </m:r>
                            </m:sub>
                          </m:sSub>
                          <m:r>
                            <m:rPr>
                              <m:sty m:val="p"/>
                            </m:rPr>
                            <a:rPr lang="en-US" sz="1700">
                              <a:solidFill>
                                <a:srgbClr val="252529"/>
                              </a:solidFill>
                              <a:latin typeface="Cambria Math"/>
                            </a:rPr>
                            <m:t xml:space="preserve">𝐾</m:t>
                          </m:r>
                        </m:e>
                      </m:d>
                      <m:r>
                        <m:rPr>
                          <m:sty m:val="p"/>
                        </m:rPr>
                        <a:rPr lang="en-US" sz="1700">
                          <a:solidFill>
                            <a:srgbClr val="252529"/>
                          </a:solidFill>
                          <a:latin typeface="Cambria Math"/>
                        </a:rPr>
                        <m:t xml:space="preserve">𝑥</m:t>
                      </m:r>
                    </m:oMath>
                  </m:oMathPara>
                </a14:m>
                <a:endParaRPr sz="1700">
                  <a:latin typeface="Cambria Math"/>
                </a:endParaRPr>
              </a:p>
            </p:txBody>
          </p:sp>
        </mc:Choice>
        <mc:Fallback>
          <p:sp>
            <p:nvSpPr>
              <p:cNvPr id="307" name="Stage3 closed loop"/>
              <p:cNvSpPr txBox="1"/>
              <p:nvPr/>
            </p:nvSpPr>
            <p:spPr>
              <a:xfrm>
                <a:off x="4965700" y="4038600"/>
                <a:ext cx="37211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The controller enforces a zero residual.</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fade">
                                      <p:cBhvr>
                                        <p:cTn id="7" dur="300"/>
                                        <p:tgtEl>
                                          <p:spTgt spid="3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4"/>
                                        </p:tgtEl>
                                        <p:attrNameLst>
                                          <p:attrName>style.visibility</p:attrName>
                                        </p:attrNameLst>
                                      </p:cBhvr>
                                      <p:to>
                                        <p:strVal val="visible"/>
                                      </p:to>
                                    </p:set>
                                    <p:animEffect transition="in" filter="fade">
                                      <p:cBhvr>
                                        <p:cTn id="12" dur="300"/>
                                        <p:tgtEl>
                                          <p:spTgt spid="30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05"/>
                                        </p:tgtEl>
                                        <p:attrNameLst>
                                          <p:attrName>style.visibility</p:attrName>
                                        </p:attrNameLst>
                                      </p:cBhvr>
                                      <p:to>
                                        <p:strVal val="visible"/>
                                      </p:to>
                                    </p:set>
                                    <p:animEffect transition="in" filter="fade">
                                      <p:cBhvr>
                                        <p:cTn id="15" dur="300"/>
                                        <p:tgtEl>
                                          <p:spTgt spid="30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06"/>
                                        </p:tgtEl>
                                        <p:attrNameLst>
                                          <p:attrName>style.visibility</p:attrName>
                                        </p:attrNameLst>
                                      </p:cBhvr>
                                      <p:to>
                                        <p:strVal val="visible"/>
                                      </p:to>
                                    </p:set>
                                    <p:animEffect transition="in" filter="fade">
                                      <p:cBhvr>
                                        <p:cTn id="20" dur="300"/>
                                        <p:tgtEl>
                                          <p:spTgt spid="30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07"/>
                                        </p:tgtEl>
                                        <p:attrNameLst>
                                          <p:attrName>style.visibility</p:attrName>
                                        </p:attrNameLst>
                                      </p:cBhvr>
                                      <p:to>
                                        <p:strVal val="visible"/>
                                      </p:to>
                                    </p:set>
                                    <p:animEffect transition="in" filter="fade">
                                      <p:cBhvr>
                                        <p:cTn id="23" dur="300"/>
                                        <p:tgtEl>
                                          <p:spTgt spid="30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8"/>
                                        </p:tgtEl>
                                        <p:attrNameLst>
                                          <p:attrName>style.visibility</p:attrName>
                                        </p:attrNameLst>
                                      </p:cBhvr>
                                      <p:to>
                                        <p:strVal val="visible"/>
                                      </p:to>
                                    </p:set>
                                    <p:animEffect transition="in" filter="fade">
                                      <p:cBhvr>
                                        <p:cTn id="26" dur="300"/>
                                        <p:tgtEl>
                                          <p:spTgt spid="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p:bldP spid="304" grpId="0"/>
      <p:bldP spid="305" grpId="0"/>
      <p:bldP spid="306" grpId="0"/>
      <p:bldP spid="307" grpId="0"/>
      <p:bldP spid="308" grpId="0"/>
    </p:bldLst>
  </p:timing>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mc:AlternateContent>
        <mc:Choice Requires="a14">
          <p:sp>
            <p:nvSpPr>
              <p:cNvPr id="302" name="Stage1 transposed plant"/>
              <p:cNvSpPr txBox="1"/>
              <p:nvPr/>
            </p:nvSpPr>
            <p:spPr>
              <a:xfrm>
                <a:off x="4864100" y="1117600"/>
                <a:ext cx="3898900" cy="723900"/>
              </a:xfrm>
              <a:prstGeom prst="rect">
                <a:avLst/>
              </a:prstGeom>
              <a:noFill/>
              <a:ln>
                <a:noFill/>
              </a:ln>
            </p:spPr>
            <p:txBody>
              <a:bodyPr wrap="square" lIns="0" tIns="0" rIns="0" bIns="0" anchor="ctr">
                <a:noAutofit/>
              </a:bodyPr>
              <a:lstStyle/>
              <a:p>
                <a:pPr algn="l"/>
                <a14:m>
                  <m:oMathPara>
                    <m:oMathParaPr>
                      <m:jc m:val="left"/>
                    </m:oMathParaPr>
                    <m:oMath>
                      <m:sSup>
                        <m:sSupPr>
                          <m:ctrlPr>
                            <a:rPr lang="en-US" sz="1600">
                              <a:solidFill>
                                <a:srgbClr val="252529"/>
                              </a:solidFill>
                              <a:latin typeface="Cambria Math"/>
                            </a:rPr>
                          </m:ctrlPr>
                        </m:sSupPr>
                        <m:e>
                          <m:r>
                            <m:rPr>
                              <m:sty m:val="p"/>
                            </m:rPr>
                            <a:rPr lang="en-US" sz="1600">
                              <a:solidFill>
                                <a:srgbClr val="252529"/>
                              </a:solidFill>
                              <a:latin typeface="Cambria Math"/>
                            </a:rPr>
                            <m:t xml:space="preserve">𝐺</m:t>
                          </m:r>
                        </m:e>
                        <m:sup>
                          <m:r>
                            <m:rPr>
                              <m:sty m:val="p"/>
                            </m:rPr>
                            <a:rPr lang="en-US" sz="1600">
                              <a:solidFill>
                                <a:srgbClr val="252529"/>
                              </a:solidFill>
                              <a:latin typeface="Cambria Math"/>
                            </a:rPr>
                            <m:t xml:space="preserve">⊤</m:t>
                          </m:r>
                        </m:sup>
                      </m:sSup>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 </m:t>
                      </m:r>
                      <m:d>
                        <m:dPr>
                          <m:begChr m:val="{"/>
                          <m:endChr m:val=""/>
                          <m:ctrlPr>
                            <a:rPr lang="en-US" sz="1600">
                              <a:solidFill>
                                <a:srgbClr val="252529"/>
                              </a:solidFill>
                              <a:latin typeface="Cambria Math"/>
                            </a:rPr>
                          </m:ctrlPr>
                        </m:dPr>
                        <m:e>
                          <m:eqArr>
                            <m:eqArrPr>
                              <m:ctrlPr>
                                <a:rPr lang="en-US" sz="1600">
                                  <a:solidFill>
                                    <a:srgbClr val="252529"/>
                                  </a:solidFill>
                                  <a:latin typeface="Cambria Math"/>
                                </a:rPr>
                              </m:ctrlPr>
                            </m:eqArrPr>
                            <m:e>
                              <m:sSup>
                                <m:sSupPr>
                                  <m:ctrlPr>
                                    <a:rPr lang="en-US" sz="1600">
                                      <a:solidFill>
                                        <a:srgbClr val="252529"/>
                                      </a:solidFill>
                                      <a:latin typeface="Cambria Math"/>
                                    </a:rPr>
                                  </m:ctrlPr>
                                </m:sSupPr>
                                <m:e>
                                  <m:r>
                                    <m:rPr>
                                      <m:sty m:val="p"/>
                                    </m:rPr>
                                    <a:rPr lang="en-US" sz="1600">
                                      <a:solidFill>
                                        <a:srgbClr val="252529"/>
                                      </a:solidFill>
                                      <a:latin typeface="Cambria Math"/>
                                    </a:rPr>
                                    <m:t xml:space="preserve">𝑇</m:t>
                                  </m:r>
                                </m:e>
                                <m:sup>
                                  <m:r>
                                    <m:rPr>
                                      <m:sty m:val="p"/>
                                    </m:rPr>
                                    <a:rPr lang="en-US" sz="1600">
                                      <a:solidFill>
                                        <a:srgbClr val="252529"/>
                                      </a:solidFill>
                                      <a:latin typeface="Cambria Math"/>
                                    </a:rPr>
                                    <m:t xml:space="preserve">*</m:t>
                                  </m:r>
                                </m:sup>
                              </m:sSup>
                              <m:acc>
                                <m:accPr>
                                  <m:chr m:val="̇"/>
                                  <m:ctrlPr>
                                    <a:rPr lang="en-US" sz="1600">
                                      <a:solidFill>
                                        <a:srgbClr val="252529"/>
                                      </a:solidFill>
                                      <a:latin typeface="Cambria Math"/>
                                    </a:rPr>
                                  </m:ctrlPr>
                                </m:accPr>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acc>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r>
                                    <m:rPr>
                                      <m:sty m:val="p"/>
                                    </m:rPr>
                                    <a:rPr lang="en-US" sz="1600">
                                      <a:solidFill>
                                        <a:srgbClr val="252529"/>
                                      </a:solidFill>
                                      <a:latin typeface="Cambria Math"/>
                                    </a:rPr>
                                    <m:t xml:space="preserve">𝐴</m:t>
                                  </m:r>
                                </m:e>
                                <m:sup>
                                  <m:r>
                                    <m:rPr>
                                      <m:sty m:val="p"/>
                                    </m:rPr>
                                    <a:rPr lang="en-US" sz="1600">
                                      <a:solidFill>
                                        <a:srgbClr val="252529"/>
                                      </a:solidFill>
                                      <a:latin typeface="Cambria Math"/>
                                    </a:rPr>
                                    <m:t xml:space="preserve">*</m:t>
                                  </m:r>
                                </m:sup>
                              </m:sSup>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r>
                                <m:rPr>
                                  <m:sty m:val="p"/>
                                </m:rPr>
                                <a:rPr lang="en-US" sz="1600">
                                  <a:solidFill>
                                    <a:srgbClr val="252529"/>
                                  </a:solidFill>
                                  <a:latin typeface="Cambria Math"/>
                                </a:rPr>
                                <m:t xml:space="preserve">+</m:t>
                              </m:r>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𝑢</m:t>
                                  </m:r>
                                </m:e>
                              </m:bar>
                            </m:e>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𝑦</m:t>
                                  </m:r>
                                </m:e>
                              </m:bar>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e>
                                <m:sup>
                                  <m:r>
                                    <m:rPr>
                                      <m:sty m:val="p"/>
                                    </m:rPr>
                                    <a:rPr lang="en-US" sz="1600">
                                      <a:solidFill>
                                        <a:srgbClr val="252529"/>
                                      </a:solidFill>
                                      <a:latin typeface="Cambria Math"/>
                                    </a:rPr>
                                    <m:t xml:space="preserve">*</m:t>
                                  </m:r>
                                </m:sup>
                              </m:sSup>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eqArr>
                        </m:e>
                      </m:d>
                    </m:oMath>
                  </m:oMathPara>
                </a14:m>
                <a:endParaRPr sz="1600">
                  <a:latin typeface="Cambria Math"/>
                </a:endParaRPr>
              </a:p>
            </p:txBody>
          </p:sp>
        </mc:Choice>
        <mc:Fallback>
          <p:sp>
            <p:nvSpPr>
              <p:cNvPr id="302" name="Stage1 transposed plant"/>
              <p:cNvSpPr txBox="1"/>
              <p:nvPr/>
            </p:nvSpPr>
            <p:spPr>
              <a:xfrm>
                <a:off x="4864100" y="1117600"/>
                <a:ext cx="3898900" cy="723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3" name="Stage1 transposed controller"/>
              <p:cNvSpPr txBox="1"/>
              <p:nvPr/>
            </p:nvSpPr>
            <p:spPr>
              <a:xfrm>
                <a:off x="4864100" y="1955800"/>
                <a:ext cx="3898900" cy="317500"/>
              </a:xfrm>
              <a:prstGeom prst="rect">
                <a:avLst/>
              </a:prstGeom>
              <a:noFill/>
              <a:ln>
                <a:noFill/>
              </a:ln>
            </p:spPr>
            <p:txBody>
              <a:bodyPr wrap="square" lIns="0" tIns="0" rIns="0" bIns="0" anchor="ctr">
                <a:noAutofit/>
              </a:bodyPr>
              <a:lstStyle/>
              <a:p>
                <a:pPr algn="l"/>
                <a14:m>
                  <m:oMathPara>
                    <m:oMathParaPr>
                      <m:jc m:val="left"/>
                    </m:oMathParaPr>
                    <m:oMath>
                      <m:sSup>
                        <m:sSupPr>
                          <m:ctrlPr>
                            <a:rPr lang="en-US" sz="1600">
                              <a:solidFill>
                                <a:srgbClr val="252529"/>
                              </a:solidFill>
                              <a:latin typeface="Cambria Math"/>
                            </a:rPr>
                          </m:ctrlPr>
                        </m:sSupPr>
                        <m:e>
                          <m:r>
                            <m:rPr>
                              <m:sty m:val="p"/>
                            </m:rPr>
                            <a:rPr lang="en-US" sz="1600">
                              <a:solidFill>
                                <a:srgbClr val="252529"/>
                              </a:solidFill>
                              <a:latin typeface="Cambria Math"/>
                            </a:rPr>
                            <m:t xml:space="preserve">𝐾</m:t>
                          </m:r>
                        </m:e>
                        <m:sup>
                          <m:r>
                            <m:rPr>
                              <m:sty m:val="p"/>
                            </m:rPr>
                            <a:rPr lang="en-US" sz="1600">
                              <a:solidFill>
                                <a:srgbClr val="252529"/>
                              </a:solidFill>
                              <a:latin typeface="Cambria Math"/>
                            </a:rPr>
                            <m:t xml:space="preserve">⊤</m:t>
                          </m:r>
                        </m:sup>
                      </m:sSup>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 </m:t>
                      </m:r>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𝑢</m:t>
                          </m:r>
                        </m:e>
                      </m:bar>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r>
                            <m:rPr>
                              <m:sty m:val="p"/>
                            </m:rPr>
                            <a:rPr lang="en-US" sz="1600">
                              <a:solidFill>
                                <a:srgbClr val="252529"/>
                              </a:solidFill>
                              <a:latin typeface="Cambria Math"/>
                            </a:rPr>
                            <m:t xml:space="preserve">𝐾</m:t>
                          </m:r>
                        </m:e>
                        <m:sup>
                          <m:r>
                            <m:rPr>
                              <m:sty m:val="p"/>
                            </m:rPr>
                            <a:rPr lang="en-US" sz="1600">
                              <a:solidFill>
                                <a:srgbClr val="252529"/>
                              </a:solidFill>
                              <a:latin typeface="Cambria Math"/>
                            </a:rPr>
                            <m:t xml:space="preserve">*</m:t>
                          </m:r>
                        </m:sup>
                      </m:sSup>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𝑦</m:t>
                          </m:r>
                        </m:e>
                      </m:bar>
                    </m:oMath>
                  </m:oMathPara>
                </a14:m>
                <a:endParaRPr sz="1600">
                  <a:latin typeface="Cambria Math"/>
                </a:endParaRPr>
              </a:p>
            </p:txBody>
          </p:sp>
        </mc:Choice>
        <mc:Fallback>
          <p:sp>
            <p:nvSpPr>
              <p:cNvPr id="303" name="Stage1 transposed controller"/>
              <p:cNvSpPr txBox="1"/>
              <p:nvPr/>
            </p:nvSpPr>
            <p:spPr>
              <a:xfrm>
                <a:off x="4864100" y="1955800"/>
                <a:ext cx="3898900" cy="317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4" name="Stage1 transposed filter signal system"/>
              <p:cNvSpPr txBox="1"/>
              <p:nvPr/>
            </p:nvSpPr>
            <p:spPr>
              <a:xfrm>
                <a:off x="4864100" y="2286000"/>
                <a:ext cx="3898900" cy="685800"/>
              </a:xfrm>
              <a:prstGeom prst="rect">
                <a:avLst/>
              </a:prstGeom>
              <a:noFill/>
              <a:ln>
                <a:noFill/>
              </a:ln>
            </p:spPr>
            <p:txBody>
              <a:bodyPr wrap="square" lIns="0" tIns="0" rIns="0" bIns="0" anchor="ctr">
                <a:noAutofit/>
              </a:bodyPr>
              <a:lstStyle/>
              <a:p>
                <a:pPr algn="l"/>
                <a14:m>
                  <m:oMathPara>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 xml:space="preserve">Θ</m:t>
                          </m:r>
                        </m:e>
                        <m:sup>
                          <m:r>
                            <m:rPr>
                              <m:sty m:val="p"/>
                            </m:rPr>
                            <a:rPr lang="en-US" sz="1550">
                              <a:solidFill>
                                <a:srgbClr val="252529"/>
                              </a:solidFill>
                              <a:latin typeface="Cambria Math"/>
                            </a:rPr>
                            <m:t xml:space="preserve">⊤</m:t>
                          </m:r>
                        </m:sup>
                      </m:sSup>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 </m:t>
                      </m:r>
                      <m:d>
                        <m:dPr>
                          <m:begChr m:val="{"/>
                          <m:endChr m:val=""/>
                          <m:ctrlPr>
                            <a:rPr lang="en-US" sz="1550">
                              <a:solidFill>
                                <a:srgbClr val="252529"/>
                              </a:solidFill>
                              <a:latin typeface="Cambria Math"/>
                            </a:rPr>
                          </m:ctrlPr>
                        </m:dPr>
                        <m:e>
                          <m:eqArr>
                            <m:eqArrPr>
                              <m:ctrlPr>
                                <a:rPr lang="en-US" sz="1550">
                                  <a:solidFill>
                                    <a:srgbClr val="252529"/>
                                  </a:solidFill>
                                  <a:latin typeface="Cambria Math"/>
                                </a:rPr>
                              </m:ctrlPr>
                            </m:eqArrPr>
                            <m:e>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acc>
                                          <m:accPr>
                                            <m:chr m:val="̃"/>
                                            <m:ctrlPr>
                                              <a:rPr lang="en-US" sz="1550">
                                                <a:solidFill>
                                                  <a:srgbClr val="252529"/>
                                                </a:solidFill>
                                                <a:latin typeface="Cambria Math"/>
                                              </a:rPr>
                                            </m:ctrlPr>
                                          </m:accP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𝑦</m:t>
                                                </m:r>
                                              </m:e>
                                            </m:bar>
                                          </m:e>
                                        </m:acc>
                                      </m:e>
                                    </m:mr>
                                    <m:mr>
                                      <m:e>
                                        <m:acc>
                                          <m:accPr>
                                            <m:chr m:val="̃"/>
                                            <m:ctrlPr>
                                              <a:rPr lang="en-US" sz="1550">
                                                <a:solidFill>
                                                  <a:srgbClr val="252529"/>
                                                </a:solidFill>
                                                <a:latin typeface="Cambria Math"/>
                                              </a:rPr>
                                            </m:ctrlPr>
                                          </m:accP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𝑢</m:t>
                                                </m:r>
                                              </m:e>
                                            </m:bar>
                                          </m:e>
                                        </m:acc>
                                      </m:e>
                                    </m:mr>
                                  </m:m>
                                </m:e>
                              </m:d>
                              <m:r>
                                <m:rPr>
                                  <m:sty m:val="p"/>
                                </m:rPr>
                                <a:rPr lang="en-US" sz="1550">
                                  <a:solidFill>
                                    <a:srgbClr val="252529"/>
                                  </a:solidFill>
                                  <a:latin typeface="Cambria Math"/>
                                </a:rPr>
                                <m:t xml:space="preserve">=</m:t>
                              </m:r>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r>
                                          <m:rPr>
                                            <m:sty m:val="p"/>
                                          </m:rPr>
                                          <a:rPr lang="en-US" sz="1550">
                                            <a:solidFill>
                                              <a:srgbClr val="252529"/>
                                            </a:solidFill>
                                            <a:latin typeface="Cambria Math"/>
                                          </a:rPr>
                                          <m:t xml:space="preserve">𝐼</m:t>
                                        </m:r>
                                      </m:e>
                                      <m:e>
                                        <m:r>
                                          <m:rPr>
                                            <m:sty m:val="p"/>
                                          </m:rPr>
                                          <a:rPr lang="en-US" sz="1550">
                                            <a:solidFill>
                                              <a:srgbClr val="252529"/>
                                            </a:solidFill>
                                            <a:latin typeface="Cambria Math"/>
                                          </a:rPr>
                                          <m:t xml:space="preserve">−</m:t>
                                        </m:r>
                                        <m:sSup>
                                          <m:sSupPr>
                                            <m:ctrlPr>
                                              <a:rPr lang="en-US" sz="1550">
                                                <a:solidFill>
                                                  <a:srgbClr val="252529"/>
                                                </a:solidFill>
                                                <a:latin typeface="Cambria Math"/>
                                              </a:rPr>
                                            </m:ctrlPr>
                                          </m:sSupPr>
                                          <m:e>
                                            <m:r>
                                              <m:rPr>
                                                <m:sty m:val="p"/>
                                              </m:rPr>
                                              <a:rPr lang="en-US" sz="1550">
                                                <a:solidFill>
                                                  <a:srgbClr val="252529"/>
                                                </a:solidFill>
                                                <a:latin typeface="Cambria Math"/>
                                              </a:rPr>
                                              <m:t xml:space="preserve">𝐾</m:t>
                                            </m:r>
                                          </m:e>
                                          <m:sup>
                                            <m:r>
                                              <m:rPr>
                                                <m:sty m:val="p"/>
                                              </m:rPr>
                                              <a:rPr lang="en-US" sz="1550">
                                                <a:solidFill>
                                                  <a:srgbClr val="252529"/>
                                                </a:solidFill>
                                                <a:latin typeface="Cambria Math"/>
                                              </a:rPr>
                                              <m:t xml:space="preserve">*</m:t>
                                            </m:r>
                                          </m:sup>
                                        </m:sSup>
                                      </m:e>
                                    </m:mr>
                                    <m:mr>
                                      <m:e>
                                        <m:r>
                                          <m:rPr>
                                            <m:sty m:val="p"/>
                                          </m:rPr>
                                          <a:rPr lang="en-US" sz="1550">
                                            <a:solidFill>
                                              <a:srgbClr val="252529"/>
                                            </a:solidFill>
                                            <a:latin typeface="Cambria Math"/>
                                          </a:rPr>
                                          <m:t xml:space="preserve">0</m:t>
                                        </m:r>
                                      </m:e>
                                      <m:e>
                                        <m:r>
                                          <m:rPr>
                                            <m:sty m:val="p"/>
                                          </m:rPr>
                                          <a:rPr lang="en-US" sz="1550">
                                            <a:solidFill>
                                              <a:srgbClr val="252529"/>
                                            </a:solidFill>
                                            <a:latin typeface="Cambria Math"/>
                                          </a:rPr>
                                          <m:t xml:space="preserve">𝐼</m:t>
                                        </m:r>
                                      </m:e>
                                    </m:mr>
                                  </m:m>
                                </m:e>
                              </m:d>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𝑦</m:t>
                                            </m:r>
                                          </m:e>
                                        </m:bar>
                                      </m:e>
                                    </m:mr>
                                    <m:m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𝑢</m:t>
                                            </m:r>
                                          </m:e>
                                        </m:bar>
                                      </m:e>
                                    </m:mr>
                                  </m:m>
                                </m:e>
                              </m:d>
                            </m:e>
                          </m:eqArr>
                        </m:e>
                      </m:d>
                    </m:oMath>
                  </m:oMathPara>
                </a14:m>
                <a:endParaRPr sz="1550">
                  <a:latin typeface="Cambria Math"/>
                </a:endParaRPr>
              </a:p>
            </p:txBody>
          </p:sp>
        </mc:Choice>
        <mc:Fallback>
          <p:sp>
            <p:nvSpPr>
              <p:cNvPr id="304" name="Stage1 transposed filter signal system"/>
              <p:cNvSpPr txBox="1"/>
              <p:nvPr/>
            </p:nvSpPr>
            <p:spPr>
              <a:xfrm>
                <a:off x="4864100" y="2286000"/>
                <a:ext cx="3898900" cy="685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5" name="Stage2 second output label"/>
          <p:cNvSpPr txBox="1"/>
          <p:nvPr/>
        </p:nvSpPr>
        <p:spPr>
          <a:xfrm>
            <a:off x="4876800" y="3009900"/>
            <a:ext cx="3810000" cy="254000"/>
          </a:xfrm>
          <a:prstGeom prst="rect">
            <a:avLst/>
          </a:prstGeom>
          <a:noFill/>
          <a:ln>
            <a:noFill/>
          </a:ln>
        </p:spPr>
        <p:txBody>
          <a:bodyPr wrap="square" lIns="0" tIns="0" rIns="0" bIns="0" anchor="ctr">
            <a:noAutofit/>
          </a:bodyPr>
          <a:lstStyle/>
          <a:p>
            <a:pPr algn="l"/>
            <a:r>
              <a:rPr lang="en-US" sz="1300" b="0">
                <a:solidFill>
                  <a:srgbClr val="252529"/>
                </a:solidFill>
                <a:latin typeface="Aptos"/>
              </a:rPr>
              <a:t>Read the second output:</a:t>
            </a:r>
          </a:p>
        </p:txBody>
      </p:sp>
      <mc:AlternateContent>
        <mc:Choice Requires="a14">
          <p:sp>
            <p:nvSpPr>
              <p:cNvPr id="306" name="Stage2 second output"/>
              <p:cNvSpPr txBox="1"/>
              <p:nvPr/>
            </p:nvSpPr>
            <p:spPr>
              <a:xfrm>
                <a:off x="4965700" y="3276600"/>
                <a:ext cx="3721100" cy="3556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2100">
                              <a:solidFill>
                                <a:srgbClr val="252529"/>
                              </a:solidFill>
                              <a:latin typeface="Cambria Math"/>
                            </a:rPr>
                          </m:ctrlPr>
                        </m:accPr>
                        <m:e>
                          <m:bar>
                            <m:barPr>
                              <m:pos m:val="bot"/>
                              <m:ctrlPr>
                                <a:rPr lang="en-US" sz="2100">
                                  <a:solidFill>
                                    <a:srgbClr val="252529"/>
                                  </a:solidFill>
                                  <a:latin typeface="Cambria Math"/>
                                </a:rPr>
                              </m:ctrlPr>
                            </m:barPr>
                            <m:e>
                              <m:r>
                                <m:rPr>
                                  <m:sty m:val="p"/>
                                </m:rPr>
                                <a:rPr lang="en-US" sz="2100">
                                  <a:solidFill>
                                    <a:srgbClr val="252529"/>
                                  </a:solidFill>
                                  <a:latin typeface="Cambria Math"/>
                                </a:rPr>
                                <m:t xml:space="preserve">𝑢</m:t>
                              </m:r>
                            </m:e>
                          </m:bar>
                        </m:e>
                      </m:acc>
                      <m:r>
                        <m:rPr>
                          <m:sty m:val="p"/>
                        </m:rPr>
                        <a:rPr lang="en-US" sz="2100">
                          <a:solidFill>
                            <a:srgbClr val="252529"/>
                          </a:solidFill>
                          <a:latin typeface="Cambria Math"/>
                        </a:rPr>
                        <m:t xml:space="preserve">=</m:t>
                      </m:r>
                      <m:bar>
                        <m:barPr>
                          <m:pos m:val="bot"/>
                          <m:ctrlPr>
                            <a:rPr lang="en-US" sz="2100">
                              <a:solidFill>
                                <a:srgbClr val="252529"/>
                              </a:solidFill>
                              <a:latin typeface="Cambria Math"/>
                            </a:rPr>
                          </m:ctrlPr>
                        </m:barPr>
                        <m:e>
                          <m:r>
                            <m:rPr>
                              <m:sty m:val="p"/>
                            </m:rPr>
                            <a:rPr lang="en-US" sz="2100">
                              <a:solidFill>
                                <a:srgbClr val="252529"/>
                              </a:solidFill>
                              <a:latin typeface="Cambria Math"/>
                            </a:rPr>
                            <m:t xml:space="preserve">𝑢</m:t>
                          </m:r>
                        </m:e>
                      </m:bar>
                    </m:oMath>
                  </m:oMathPara>
                </a14:m>
                <a:endParaRPr sz="2100">
                  <a:latin typeface="Cambria Math"/>
                </a:endParaRPr>
              </a:p>
            </p:txBody>
          </p:sp>
        </mc:Choice>
        <mc:Fallback>
          <p:sp>
            <p:nvSpPr>
              <p:cNvPr id="306" name="Stage2 second output"/>
              <p:cNvSpPr txBox="1"/>
              <p:nvPr/>
            </p:nvSpPr>
            <p:spPr>
              <a:xfrm>
                <a:off x="4965700" y="3276600"/>
                <a:ext cx="3721100" cy="355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substitute controller label"/>
          <p:cNvSpPr txBox="1"/>
          <p:nvPr/>
        </p:nvSpPr>
        <p:spPr>
          <a:xfrm>
            <a:off x="4876800" y="3695700"/>
            <a:ext cx="3810000" cy="254000"/>
          </a:xfrm>
          <a:prstGeom prst="rect">
            <a:avLst/>
          </a:prstGeom>
          <a:noFill/>
          <a:ln>
            <a:noFill/>
          </a:ln>
        </p:spPr>
        <p:txBody>
          <a:bodyPr wrap="square" lIns="0" tIns="0" rIns="0" bIns="0" anchor="ctr">
            <a:noAutofit/>
          </a:bodyPr>
          <a:lstStyle/>
          <a:p>
            <a:pPr algn="l"/>
            <a:r>
              <a:rPr lang="en-US" sz="1300" b="0">
                <a:solidFill>
                  <a:srgbClr val="252529"/>
                </a:solidFill>
                <a:latin typeface="Aptos"/>
              </a:rPr>
              <a:t>Substitute the dual controller:</a:t>
            </a:r>
          </a:p>
        </p:txBody>
      </p:sp>
      <mc:AlternateContent>
        <mc:Choice Requires="a14">
          <p:sp>
            <p:nvSpPr>
              <p:cNvPr id="308" name="Stage3 residual"/>
              <p:cNvSpPr txBox="1"/>
              <p:nvPr/>
            </p:nvSpPr>
            <p:spPr>
              <a:xfrm>
                <a:off x="4965700" y="3962400"/>
                <a:ext cx="3721100" cy="3810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2100">
                              <a:solidFill>
                                <a:srgbClr val="252529"/>
                              </a:solidFill>
                              <a:latin typeface="Cambria Math"/>
                            </a:rPr>
                          </m:ctrlPr>
                        </m:accPr>
                        <m:e>
                          <m:bar>
                            <m:barPr>
                              <m:pos m:val="bot"/>
                              <m:ctrlPr>
                                <a:rPr lang="en-US" sz="2100">
                                  <a:solidFill>
                                    <a:srgbClr val="252529"/>
                                  </a:solidFill>
                                  <a:latin typeface="Cambria Math"/>
                                </a:rPr>
                              </m:ctrlPr>
                            </m:barPr>
                            <m:e>
                              <m:r>
                                <m:rPr>
                                  <m:sty m:val="p"/>
                                </m:rPr>
                                <a:rPr lang="en-US" sz="2100">
                                  <a:solidFill>
                                    <a:srgbClr val="252529"/>
                                  </a:solidFill>
                                  <a:latin typeface="Cambria Math"/>
                                </a:rPr>
                                <m:t xml:space="preserve">𝑢</m:t>
                              </m:r>
                            </m:e>
                          </m:bar>
                        </m:e>
                      </m:acc>
                      <m:r>
                        <m:rPr>
                          <m:sty m:val="p"/>
                        </m:rPr>
                        <a:rPr lang="en-US" sz="2100">
                          <a:solidFill>
                            <a:srgbClr val="252529"/>
                          </a:solidFill>
                          <a:latin typeface="Cambria Math"/>
                        </a:rPr>
                        <m:t xml:space="preserve">=</m:t>
                      </m:r>
                      <m:sSup>
                        <m:sSupPr>
                          <m:ctrlPr>
                            <a:rPr lang="en-US" sz="2100">
                              <a:solidFill>
                                <a:srgbClr val="252529"/>
                              </a:solidFill>
                              <a:latin typeface="Cambria Math"/>
                            </a:rPr>
                          </m:ctrlPr>
                        </m:sSupPr>
                        <m:e>
                          <m:r>
                            <m:rPr>
                              <m:sty m:val="p"/>
                            </m:rPr>
                            <a:rPr lang="en-US" sz="2100">
                              <a:solidFill>
                                <a:srgbClr val="252529"/>
                              </a:solidFill>
                              <a:latin typeface="Cambria Math"/>
                            </a:rPr>
                            <m:t xml:space="preserve">𝐾</m:t>
                          </m:r>
                        </m:e>
                        <m:sup>
                          <m:r>
                            <m:rPr>
                              <m:sty m:val="p"/>
                            </m:rPr>
                            <a:rPr lang="en-US" sz="2100">
                              <a:solidFill>
                                <a:srgbClr val="252529"/>
                              </a:solidFill>
                              <a:latin typeface="Cambria Math"/>
                            </a:rPr>
                            <m:t xml:space="preserve">*</m:t>
                          </m:r>
                        </m:sup>
                      </m:sSup>
                      <m:bar>
                        <m:barPr>
                          <m:pos m:val="bot"/>
                          <m:ctrlPr>
                            <a:rPr lang="en-US" sz="2100">
                              <a:solidFill>
                                <a:srgbClr val="252529"/>
                              </a:solidFill>
                              <a:latin typeface="Cambria Math"/>
                            </a:rPr>
                          </m:ctrlPr>
                        </m:barPr>
                        <m:e>
                          <m:r>
                            <m:rPr>
                              <m:sty m:val="p"/>
                            </m:rPr>
                            <a:rPr lang="en-US" sz="2100">
                              <a:solidFill>
                                <a:srgbClr val="252529"/>
                              </a:solidFill>
                              <a:latin typeface="Cambria Math"/>
                            </a:rPr>
                            <m:t xml:space="preserve">𝑦</m:t>
                          </m:r>
                        </m:e>
                      </m:bar>
                      <m:r>
                        <m:rPr>
                          <m:sty m:val="p"/>
                        </m:rPr>
                        <a:rPr lang="en-US" sz="2100">
                          <a:solidFill>
                            <a:srgbClr val="C81919"/>
                          </a:solidFill>
                          <a:latin typeface="Cambria Math"/>
                        </a:rPr>
                        <m:t xml:space="preserve">≠</m:t>
                      </m:r>
                      <m:r>
                        <m:rPr>
                          <m:sty m:val="p"/>
                        </m:rPr>
                        <a:rPr lang="en-US" sz="2100">
                          <a:solidFill>
                            <a:srgbClr val="C81919"/>
                          </a:solidFill>
                          <a:latin typeface="Cambria Math"/>
                        </a:rPr>
                        <m:t xml:space="preserve">0</m:t>
                      </m:r>
                    </m:oMath>
                  </m:oMathPara>
                </a14:m>
                <a:endParaRPr sz="2100">
                  <a:latin typeface="Cambria Math"/>
                </a:endParaRPr>
              </a:p>
            </p:txBody>
          </p:sp>
        </mc:Choice>
        <mc:Fallback>
          <p:sp>
            <p:nvSpPr>
              <p:cNvPr id="308" name="Stage3 residual"/>
              <p:cNvSpPr txBox="1"/>
              <p:nvPr/>
            </p:nvSpPr>
            <p:spPr>
              <a:xfrm>
                <a:off x="4965700" y="3962400"/>
                <a:ext cx="3721100" cy="3810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7086600" y="4051300"/>
            <a:ext cx="1524000" cy="228600"/>
          </a:xfrm>
          <a:prstGeom prst="rect">
            <a:avLst/>
          </a:prstGeom>
          <a:noFill/>
          <a:ln>
            <a:noFill/>
          </a:ln>
        </p:spPr>
        <p:txBody>
          <a:bodyPr wrap="square" lIns="0" tIns="0" rIns="0" bIns="0" anchor="ctr">
            <a:noAutofit/>
          </a:bodyPr>
          <a:lstStyle/>
          <a:p>
            <a:pPr algn="l"/>
            <a:r>
              <a:rPr lang="en-US" sz="1150" b="0">
                <a:solidFill>
                  <a:srgbClr val="66717C"/>
                </a:solidFill>
                <a:latin typeface="Aptos"/>
              </a:rPr>
              <a:t>in general</a:t>
            </a:r>
          </a:p>
        </p:txBody>
      </p:sp>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550" b="1">
                <a:solidFill>
                  <a:srgbClr val="C81919"/>
                </a:solidFill>
                <a:latin typeface="Aptos"/>
              </a:rPr>
              <a:t>The residual is not forced to zero: this filter connection is wrong.</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4"/>
                                        </p:tgtEl>
                                        <p:attrNameLst>
                                          <p:attrName>style.visibility</p:attrName>
                                        </p:attrNameLst>
                                      </p:cBhvr>
                                      <p:to>
                                        <p:strVal val="visible"/>
                                      </p:to>
                                    </p:set>
                                    <p:animEffect transition="in" filter="fade">
                                      <p:cBhvr>
                                        <p:cTn id="13" dur="300"/>
                                        <p:tgtEl>
                                          <p:spTgt spid="30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36</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2200">
                          <a:solidFill>
                            <a:srgbClr val="252529"/>
                          </a:solidFill>
                          <a:latin typeface="Cambria Math"/>
                        </a:rPr>
                        <m:t xml:space="preserve">𝐃</m:t>
                      </m:r>
                      <m:d>
                        <m:dPr>
                          <m:begChr m:val="("/>
                          <m:endChr m:val=")"/>
                          <m:ctrlPr>
                            <a:rPr lang="en-US" sz="2200">
                              <a:solidFill>
                                <a:srgbClr val="252529"/>
                              </a:solidFill>
                              <a:latin typeface="Cambria Math"/>
                            </a:rPr>
                          </m:ctrlPr>
                        </m:dPr>
                        <m:e>
                          <m:r>
                            <m:rPr>
                              <m:sty m:val="p"/>
                            </m:rPr>
                            <a:rPr lang="en-US" sz="2200">
                              <a:solidFill>
                                <a:srgbClr val="252529"/>
                              </a:solidFill>
                              <a:latin typeface="Cambria Math"/>
                            </a:rPr>
                            <m:t xml:space="preserve">Θ</m:t>
                          </m:r>
                        </m:e>
                      </m:d>
                    </m:oMath>
                  </m:oMathPara>
                </a14:m>
                <a:endParaRPr sz="2200">
                  <a:latin typeface="Cambria Math"/>
                </a:endParaRPr>
              </a:p>
            </p:txBody>
          </p:sp>
        </mc:Choice>
        <mc:Fallback>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introduction"/>
          <p:cNvSpPr txBox="1"/>
          <p:nvPr/>
        </p:nvSpPr>
        <p:spPr>
          <a:xfrm>
            <a:off x="4876800" y="1054100"/>
            <a:ext cx="3784600" cy="279400"/>
          </a:xfrm>
          <a:prstGeom prst="rect">
            <a:avLst/>
          </a:prstGeom>
          <a:noFill/>
          <a:ln>
            <a:noFill/>
          </a:ln>
        </p:spPr>
        <p:txBody>
          <a:bodyPr wrap="square" lIns="0" tIns="0" rIns="0" bIns="0" anchor="ctr">
            <a:noAutofit/>
          </a:bodyPr>
          <a:lstStyle/>
          <a:p>
            <a:pPr algn="l"/>
            <a:r>
              <a:rPr lang="en-US" sz="1400" b="0">
                <a:solidFill>
                  <a:srgbClr val="252529"/>
                </a:solidFill>
                <a:latin typeface="Aptos"/>
              </a:rPr>
              <a:t>Use the dual filter</a:t>
            </a:r>
          </a:p>
        </p:txBody>
      </p:sp>
      <mc:AlternateContent>
        <mc:Choice Requires="a14">
          <p:sp>
            <p:nvSpPr>
              <p:cNvPr id="303" name="Stage1 definition"/>
              <p:cNvSpPr txBox="1"/>
              <p:nvPr/>
            </p:nvSpPr>
            <p:spPr>
              <a:xfrm>
                <a:off x="4864100" y="1384300"/>
                <a:ext cx="3898900" cy="4826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800">
                          <a:solidFill>
                            <a:srgbClr val="252529"/>
                          </a:solidFill>
                          <a:latin typeface="Cambria Math"/>
                        </a:rPr>
                        <m:t xml:space="preserve">𝐃</m:t>
                      </m:r>
                      <m:d>
                        <m:dPr>
                          <m:begChr m:val="("/>
                          <m:endChr m:val=")"/>
                          <m:ctrlPr>
                            <a:rPr lang="en-US" sz="1800">
                              <a:solidFill>
                                <a:srgbClr val="252529"/>
                              </a:solidFill>
                              <a:latin typeface="Cambria Math"/>
                            </a:rPr>
                          </m:ctrlPr>
                        </m:dPr>
                        <m:e>
                          <m:r>
                            <m:rPr>
                              <m:sty m:val="p"/>
                            </m:rPr>
                            <a:rPr lang="en-US" sz="1800">
                              <a:solidFill>
                                <a:srgbClr val="252529"/>
                              </a:solidFill>
                              <a:latin typeface="Cambria Math"/>
                            </a:rPr>
                            <m:t xml:space="preserve">Θ</m:t>
                          </m:r>
                        </m:e>
                      </m:d>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m:t>
                      </m:r>
                      <m:sSup>
                        <m:sSupPr>
                          <m:ctrlPr>
                            <a:rPr lang="en-US" sz="1800">
                              <a:solidFill>
                                <a:srgbClr val="252529"/>
                              </a:solidFill>
                              <a:latin typeface="Cambria Math"/>
                            </a:rPr>
                          </m:ctrlPr>
                        </m:sSupPr>
                        <m:e>
                          <m:d>
                            <m:dPr>
                              <m:begChr m:val="("/>
                              <m:endChr m:val=")"/>
                              <m:ctrlPr>
                                <a:rPr lang="en-US" sz="1800">
                                  <a:solidFill>
                                    <a:srgbClr val="252529"/>
                                  </a:solidFill>
                                  <a:latin typeface="Cambria Math"/>
                                </a:rPr>
                              </m:ctrlPr>
                            </m:dPr>
                            <m:e>
                              <m:sSup>
                                <m:sSupPr>
                                  <m:ctrlPr>
                                    <a:rPr lang="en-US" sz="1800">
                                      <a:solidFill>
                                        <a:srgbClr val="252529"/>
                                      </a:solidFill>
                                      <a:latin typeface="Cambria Math"/>
                                    </a:rPr>
                                  </m:ctrlPr>
                                </m:sSupPr>
                                <m:e>
                                  <m:acc>
                                    <m:accPr>
                                      <m:chr m:val="̂"/>
                                      <m:ctrlPr>
                                        <a:rPr lang="en-US" sz="1800">
                                          <a:solidFill>
                                            <a:srgbClr val="252529"/>
                                          </a:solidFill>
                                          <a:latin typeface="Cambria Math"/>
                                        </a:rPr>
                                      </m:ctrlPr>
                                    </m:accPr>
                                    <m:e>
                                      <m:r>
                                        <m:rPr>
                                          <m:sty m:val="p"/>
                                        </m:rPr>
                                        <a:rPr lang="en-US" sz="1800">
                                          <a:solidFill>
                                            <a:srgbClr val="252529"/>
                                          </a:solidFill>
                                          <a:latin typeface="Cambria Math"/>
                                        </a:rPr>
                                        <m:t xml:space="preserve">𝐽</m:t>
                                      </m:r>
                                    </m:e>
                                  </m:acc>
                                </m:e>
                                <m:sup>
                                  <m:r>
                                    <m:rPr>
                                      <m:sty m:val="p"/>
                                    </m:rPr>
                                    <a:rPr lang="en-US" sz="1800">
                                      <a:solidFill>
                                        <a:srgbClr val="252529"/>
                                      </a:solidFill>
                                      <a:latin typeface="Cambria Math"/>
                                    </a:rPr>
                                    <m:t xml:space="preserve">*</m:t>
                                  </m:r>
                                </m:sup>
                              </m:sSup>
                              <m:sSup>
                                <m:sSupPr>
                                  <m:ctrlPr>
                                    <a:rPr lang="en-US" sz="1800">
                                      <a:solidFill>
                                        <a:srgbClr val="252529"/>
                                      </a:solidFill>
                                      <a:latin typeface="Cambria Math"/>
                                    </a:rPr>
                                  </m:ctrlPr>
                                </m:sSupPr>
                                <m:e>
                                  <m:r>
                                    <m:rPr>
                                      <m:sty m:val="p"/>
                                    </m:rPr>
                                    <a:rPr lang="en-US" sz="1800">
                                      <a:solidFill>
                                        <a:srgbClr val="252529"/>
                                      </a:solidFill>
                                      <a:latin typeface="Cambria Math"/>
                                    </a:rPr>
                                    <m:t xml:space="preserve">Θ</m:t>
                                  </m:r>
                                </m:e>
                                <m:sup>
                                  <m:r>
                                    <m:rPr>
                                      <m:sty m:val="p"/>
                                    </m:rPr>
                                    <a:rPr lang="en-US" sz="1800">
                                      <a:solidFill>
                                        <a:srgbClr val="252529"/>
                                      </a:solidFill>
                                      <a:latin typeface="Cambria Math"/>
                                    </a:rPr>
                                    <m:t xml:space="preserve">⊤</m:t>
                                  </m:r>
                                </m:sup>
                              </m:sSup>
                              <m:acc>
                                <m:accPr>
                                  <m:chr m:val="̂"/>
                                  <m:ctrlPr>
                                    <a:rPr lang="en-US" sz="1800">
                                      <a:solidFill>
                                        <a:srgbClr val="252529"/>
                                      </a:solidFill>
                                      <a:latin typeface="Cambria Math"/>
                                    </a:rPr>
                                  </m:ctrlPr>
                                </m:accPr>
                                <m:e>
                                  <m:r>
                                    <m:rPr>
                                      <m:sty m:val="p"/>
                                    </m:rPr>
                                    <a:rPr lang="en-US" sz="1800">
                                      <a:solidFill>
                                        <a:srgbClr val="252529"/>
                                      </a:solidFill>
                                      <a:latin typeface="Cambria Math"/>
                                    </a:rPr>
                                    <m:t xml:space="preserve">𝐽</m:t>
                                  </m:r>
                                </m:e>
                              </m:acc>
                            </m:e>
                          </m:d>
                        </m:e>
                        <m:sup>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1</m:t>
                          </m:r>
                        </m:sup>
                      </m:sSup>
                    </m:oMath>
                  </m:oMathPara>
                </a14:m>
                <a:endParaRPr sz="1800">
                  <a:latin typeface="Cambria Math"/>
                </a:endParaRPr>
              </a:p>
            </p:txBody>
          </p:sp>
        </mc:Choice>
        <mc:Fallback>
          <p:sp>
            <p:nvSpPr>
              <p:cNvPr id="303" name="Stage1 definition"/>
              <p:cNvSpPr txBox="1"/>
              <p:nvPr/>
            </p:nvSpPr>
            <p:spPr>
              <a:xfrm>
                <a:off x="4864100" y="1384300"/>
                <a:ext cx="3898900" cy="482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4" name="Stage1 exchange"/>
              <p:cNvSpPr txBox="1"/>
              <p:nvPr/>
            </p:nvSpPr>
            <p:spPr>
              <a:xfrm>
                <a:off x="4864100" y="1917700"/>
                <a:ext cx="3898900" cy="4953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1400">
                              <a:solidFill>
                                <a:srgbClr val="252529"/>
                              </a:solidFill>
                              <a:latin typeface="Cambria Math"/>
                            </a:rPr>
                          </m:ctrlPr>
                        </m:accPr>
                        <m:e>
                          <m:r>
                            <m:rPr>
                              <m:sty m:val="p"/>
                            </m:rPr>
                            <a:rPr lang="en-US" sz="1400">
                              <a:solidFill>
                                <a:srgbClr val="252529"/>
                              </a:solidFill>
                              <a:latin typeface="Cambria Math"/>
                            </a:rPr>
                            <m:t xml:space="preserve">𝐽</m:t>
                          </m:r>
                        </m:e>
                      </m:acc>
                      <m:r>
                        <m:rPr>
                          <m:sty m:val="p"/>
                        </m:rPr>
                        <a:rPr lang="en-US" sz="1400">
                          <a:solidFill>
                            <a:srgbClr val="252529"/>
                          </a:solidFill>
                          <a:latin typeface="Cambria Math"/>
                        </a:rPr>
                        <m:t xml:space="preserve">=</m:t>
                      </m:r>
                      <m:d>
                        <m:dPr>
                          <m:begChr m:val="["/>
                          <m:endChr m:val="]"/>
                          <m:ctrlPr>
                            <a:rPr lang="en-US" sz="1400">
                              <a:solidFill>
                                <a:srgbClr val="252529"/>
                              </a:solidFill>
                              <a:latin typeface="Cambria Math"/>
                            </a:rPr>
                          </m:ctrlPr>
                        </m:dPr>
                        <m:e>
                          <m:m>
                            <m:mPr>
                              <m:ctrlPr>
                                <a:rPr lang="en-US" sz="1400">
                                  <a:solidFill>
                                    <a:srgbClr val="252529"/>
                                  </a:solidFill>
                                  <a:latin typeface="Cambria Math"/>
                                </a:rPr>
                              </m:ctrlPr>
                            </m:mPr>
                            <m:mr>
                              <m:e>
                                <m:r>
                                  <m:rPr>
                                    <m:sty m:val="p"/>
                                  </m:rPr>
                                  <a:rPr lang="en-US" sz="1400">
                                    <a:solidFill>
                                      <a:srgbClr val="252529"/>
                                    </a:solidFill>
                                    <a:latin typeface="Cambria Math"/>
                                  </a:rPr>
                                  <m:t xml:space="preserve">0</m:t>
                                </m:r>
                              </m:e>
                              <m:e>
                                <m:r>
                                  <m:rPr>
                                    <m:sty m:val="p"/>
                                  </m:rPr>
                                  <a:rPr lang="en-US" sz="1400">
                                    <a:solidFill>
                                      <a:srgbClr val="252529"/>
                                    </a:solidFill>
                                    <a:latin typeface="Cambria Math"/>
                                  </a:rPr>
                                  <m:t xml:space="preserve">𝐼</m:t>
                                </m:r>
                              </m:e>
                            </m:mr>
                            <m:mr>
                              <m:e>
                                <m:r>
                                  <m:rPr>
                                    <m:sty m:val="p"/>
                                  </m:rPr>
                                  <a:rPr lang="en-US" sz="1400">
                                    <a:solidFill>
                                      <a:srgbClr val="252529"/>
                                    </a:solidFill>
                                    <a:latin typeface="Cambria Math"/>
                                  </a:rPr>
                                  <m:t xml:space="preserve">−</m:t>
                                </m:r>
                                <m:r>
                                  <m:rPr>
                                    <m:sty m:val="p"/>
                                  </m:rPr>
                                  <a:rPr lang="en-US" sz="1400">
                                    <a:solidFill>
                                      <a:srgbClr val="252529"/>
                                    </a:solidFill>
                                    <a:latin typeface="Cambria Math"/>
                                  </a:rPr>
                                  <m:t xml:space="preserve">𝐼</m:t>
                                </m:r>
                              </m:e>
                              <m:e>
                                <m:r>
                                  <m:rPr>
                                    <m:sty m:val="p"/>
                                  </m:rPr>
                                  <a:rPr lang="en-US" sz="1400">
                                    <a:solidFill>
                                      <a:srgbClr val="252529"/>
                                    </a:solidFill>
                                    <a:latin typeface="Cambria Math"/>
                                  </a:rPr>
                                  <m:t xml:space="preserve">0</m:t>
                                </m:r>
                              </m:e>
                            </m:mr>
                          </m:m>
                        </m:e>
                      </m:d>
                    </m:oMath>
                  </m:oMathPara>
                </a14:m>
                <a:endParaRPr sz="1400">
                  <a:latin typeface="Cambria Math"/>
                </a:endParaRPr>
              </a:p>
            </p:txBody>
          </p:sp>
        </mc:Choice>
        <mc:Fallback>
          <p:sp>
            <p:nvSpPr>
              <p:cNvPr id="304" name="Stage1 exchange"/>
              <p:cNvSpPr txBox="1"/>
              <p:nvPr/>
            </p:nvSpPr>
            <p:spPr>
              <a:xfrm>
                <a:off x="4864100" y="19177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5" name="Stage2 dual filter signal system"/>
              <p:cNvSpPr txBox="1"/>
              <p:nvPr/>
            </p:nvSpPr>
            <p:spPr>
              <a:xfrm>
                <a:off x="4864100" y="2540000"/>
                <a:ext cx="3898900" cy="6858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550">
                          <a:solidFill>
                            <a:srgbClr val="252529"/>
                          </a:solidFill>
                          <a:latin typeface="Cambria Math"/>
                        </a:rPr>
                        <m:t xml:space="preserve">𝐃</m:t>
                      </m:r>
                      <m:d>
                        <m:dPr>
                          <m:begChr m:val="("/>
                          <m:endChr m:val=")"/>
                          <m:ctrlPr>
                            <a:rPr lang="en-US" sz="1550">
                              <a:solidFill>
                                <a:srgbClr val="252529"/>
                              </a:solidFill>
                              <a:latin typeface="Cambria Math"/>
                            </a:rPr>
                          </m:ctrlPr>
                        </m:dPr>
                        <m:e>
                          <m:r>
                            <m:rPr>
                              <m:sty m:val="p"/>
                            </m:rPr>
                            <a:rPr lang="en-US" sz="1550">
                              <a:solidFill>
                                <a:srgbClr val="252529"/>
                              </a:solidFill>
                              <a:latin typeface="Cambria Math"/>
                            </a:rPr>
                            <m:t xml:space="preserve">Θ</m:t>
                          </m:r>
                        </m:e>
                      </m:d>
                      <m:r>
                        <m:rPr>
                          <m:sty m:val="p"/>
                        </m:rPr>
                        <a:rPr lang="en-US" sz="1550">
                          <a:solidFill>
                            <a:srgbClr val="252529"/>
                          </a:solidFill>
                          <a:latin typeface="Cambria Math"/>
                        </a:rPr>
                        <m:t xml:space="preserve"> </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m:t>
                      </m:r>
                      <m:r>
                        <m:rPr>
                          <m:sty m:val="p"/>
                        </m:rPr>
                        <a:rPr lang="en-US" sz="1550">
                          <a:solidFill>
                            <a:srgbClr val="252529"/>
                          </a:solidFill>
                          <a:latin typeface="Cambria Math"/>
                        </a:rPr>
                        <m:t xml:space="preserve"> </m:t>
                      </m:r>
                      <m:d>
                        <m:dPr>
                          <m:begChr m:val="{"/>
                          <m:endChr m:val=""/>
                          <m:ctrlPr>
                            <a:rPr lang="en-US" sz="1550">
                              <a:solidFill>
                                <a:srgbClr val="252529"/>
                              </a:solidFill>
                              <a:latin typeface="Cambria Math"/>
                            </a:rPr>
                          </m:ctrlPr>
                        </m:dPr>
                        <m:e>
                          <m:eqArr>
                            <m:eqArrPr>
                              <m:ctrlPr>
                                <a:rPr lang="en-US" sz="1550">
                                  <a:solidFill>
                                    <a:srgbClr val="252529"/>
                                  </a:solidFill>
                                  <a:latin typeface="Cambria Math"/>
                                </a:rPr>
                              </m:ctrlPr>
                            </m:eqArrPr>
                            <m:e>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acc>
                                          <m:accPr>
                                            <m:chr m:val="̃"/>
                                            <m:ctrlPr>
                                              <a:rPr lang="en-US" sz="1550">
                                                <a:solidFill>
                                                  <a:srgbClr val="252529"/>
                                                </a:solidFill>
                                                <a:latin typeface="Cambria Math"/>
                                              </a:rPr>
                                            </m:ctrlPr>
                                          </m:accP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𝑦</m:t>
                                                </m:r>
                                              </m:e>
                                            </m:bar>
                                          </m:e>
                                        </m:acc>
                                      </m:e>
                                    </m:mr>
                                    <m:mr>
                                      <m:e>
                                        <m:acc>
                                          <m:accPr>
                                            <m:chr m:val="̃"/>
                                            <m:ctrlPr>
                                              <a:rPr lang="en-US" sz="1550">
                                                <a:solidFill>
                                                  <a:srgbClr val="252529"/>
                                                </a:solidFill>
                                                <a:latin typeface="Cambria Math"/>
                                              </a:rPr>
                                            </m:ctrlPr>
                                          </m:accP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𝑢</m:t>
                                                </m:r>
                                              </m:e>
                                            </m:bar>
                                          </m:e>
                                        </m:acc>
                                      </m:e>
                                    </m:mr>
                                  </m:m>
                                </m:e>
                              </m:d>
                              <m:r>
                                <m:rPr>
                                  <m:sty m:val="p"/>
                                </m:rPr>
                                <a:rPr lang="en-US" sz="1550">
                                  <a:solidFill>
                                    <a:srgbClr val="252529"/>
                                  </a:solidFill>
                                  <a:latin typeface="Cambria Math"/>
                                </a:rPr>
                                <m:t xml:space="preserve">=</m:t>
                              </m:r>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r>
                                          <m:rPr>
                                            <m:sty m:val="p"/>
                                          </m:rPr>
                                          <a:rPr lang="en-US" sz="1550">
                                            <a:solidFill>
                                              <a:srgbClr val="252529"/>
                                            </a:solidFill>
                                            <a:latin typeface="Cambria Math"/>
                                          </a:rPr>
                                          <m:t xml:space="preserve">𝐼</m:t>
                                        </m:r>
                                      </m:e>
                                      <m:e>
                                        <m:r>
                                          <m:rPr>
                                            <m:sty m:val="p"/>
                                          </m:rPr>
                                          <a:rPr lang="en-US" sz="1550">
                                            <a:solidFill>
                                              <a:srgbClr val="252529"/>
                                            </a:solidFill>
                                            <a:latin typeface="Cambria Math"/>
                                          </a:rPr>
                                          <m:t xml:space="preserve">0</m:t>
                                        </m:r>
                                      </m:e>
                                    </m:mr>
                                    <m:mr>
                                      <m:e>
                                        <m:r>
                                          <m:rPr>
                                            <m:sty m:val="p"/>
                                          </m:rPr>
                                          <a:rPr lang="en-US" sz="1550">
                                            <a:solidFill>
                                              <a:srgbClr val="252529"/>
                                            </a:solidFill>
                                            <a:latin typeface="Cambria Math"/>
                                          </a:rPr>
                                          <m:t xml:space="preserve">−</m:t>
                                        </m:r>
                                        <m:sSup>
                                          <m:sSupPr>
                                            <m:ctrlPr>
                                              <a:rPr lang="en-US" sz="1550">
                                                <a:solidFill>
                                                  <a:srgbClr val="252529"/>
                                                </a:solidFill>
                                                <a:latin typeface="Cambria Math"/>
                                              </a:rPr>
                                            </m:ctrlPr>
                                          </m:sSupPr>
                                          <m:e>
                                            <m:r>
                                              <m:rPr>
                                                <m:sty m:val="p"/>
                                              </m:rPr>
                                              <a:rPr lang="en-US" sz="1550">
                                                <a:solidFill>
                                                  <a:srgbClr val="252529"/>
                                                </a:solidFill>
                                                <a:latin typeface="Cambria Math"/>
                                              </a:rPr>
                                              <m:t xml:space="preserve">𝐾</m:t>
                                            </m:r>
                                          </m:e>
                                          <m:sup>
                                            <m:r>
                                              <m:rPr>
                                                <m:sty m:val="p"/>
                                              </m:rPr>
                                              <a:rPr lang="en-US" sz="1550">
                                                <a:solidFill>
                                                  <a:srgbClr val="252529"/>
                                                </a:solidFill>
                                                <a:latin typeface="Cambria Math"/>
                                              </a:rPr>
                                              <m:t xml:space="preserve">*</m:t>
                                            </m:r>
                                          </m:sup>
                                        </m:sSup>
                                      </m:e>
                                      <m:e>
                                        <m:r>
                                          <m:rPr>
                                            <m:sty m:val="p"/>
                                          </m:rPr>
                                          <a:rPr lang="en-US" sz="1550">
                                            <a:solidFill>
                                              <a:srgbClr val="252529"/>
                                            </a:solidFill>
                                            <a:latin typeface="Cambria Math"/>
                                          </a:rPr>
                                          <m:t xml:space="preserve">𝐼</m:t>
                                        </m:r>
                                      </m:e>
                                    </m:mr>
                                  </m:m>
                                </m:e>
                              </m:d>
                              <m:d>
                                <m:dPr>
                                  <m:begChr m:val="["/>
                                  <m:endChr m:val="]"/>
                                  <m:ctrlPr>
                                    <a:rPr lang="en-US" sz="1550">
                                      <a:solidFill>
                                        <a:srgbClr val="252529"/>
                                      </a:solidFill>
                                      <a:latin typeface="Cambria Math"/>
                                    </a:rPr>
                                  </m:ctrlPr>
                                </m:dPr>
                                <m:e>
                                  <m:m>
                                    <m:mPr>
                                      <m:ctrlPr>
                                        <a:rPr lang="en-US" sz="1550">
                                          <a:solidFill>
                                            <a:srgbClr val="252529"/>
                                          </a:solidFill>
                                          <a:latin typeface="Cambria Math"/>
                                        </a:rPr>
                                      </m:ctrlPr>
                                    </m:mPr>
                                    <m:m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𝑦</m:t>
                                            </m:r>
                                          </m:e>
                                        </m:bar>
                                      </m:e>
                                    </m:mr>
                                    <m:mr>
                                      <m:e>
                                        <m:bar>
                                          <m:barPr>
                                            <m:pos m:val="bot"/>
                                            <m:ctrlPr>
                                              <a:rPr lang="en-US" sz="1550">
                                                <a:solidFill>
                                                  <a:srgbClr val="252529"/>
                                                </a:solidFill>
                                                <a:latin typeface="Cambria Math"/>
                                              </a:rPr>
                                            </m:ctrlPr>
                                          </m:barPr>
                                          <m:e>
                                            <m:r>
                                              <m:rPr>
                                                <m:sty m:val="p"/>
                                              </m:rPr>
                                              <a:rPr lang="en-US" sz="1550">
                                                <a:solidFill>
                                                  <a:srgbClr val="252529"/>
                                                </a:solidFill>
                                                <a:latin typeface="Cambria Math"/>
                                              </a:rPr>
                                              <m:t xml:space="preserve">𝑢</m:t>
                                            </m:r>
                                          </m:e>
                                        </m:bar>
                                      </m:e>
                                    </m:mr>
                                  </m:m>
                                </m:e>
                              </m:d>
                            </m:e>
                          </m:eqArr>
                        </m:e>
                      </m:d>
                    </m:oMath>
                  </m:oMathPara>
                </a14:m>
                <a:endParaRPr sz="1550">
                  <a:latin typeface="Cambria Math"/>
                </a:endParaRPr>
              </a:p>
            </p:txBody>
          </p:sp>
        </mc:Choice>
        <mc:Fallback>
          <p:sp>
            <p:nvSpPr>
              <p:cNvPr id="305" name="Stage2 dual filter signal system"/>
              <p:cNvSpPr txBox="1"/>
              <p:nvPr/>
            </p:nvSpPr>
            <p:spPr>
              <a:xfrm>
                <a:off x="4864100" y="2540000"/>
                <a:ext cx="3898900" cy="685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6" name="Stage3 substitution"/>
          <p:cNvSpPr txBox="1"/>
          <p:nvPr/>
        </p:nvSpPr>
        <p:spPr>
          <a:xfrm>
            <a:off x="4876800" y="3263900"/>
            <a:ext cx="3784600" cy="266700"/>
          </a:xfrm>
          <a:prstGeom prst="rect">
            <a:avLst/>
          </a:prstGeom>
          <a:noFill/>
          <a:ln>
            <a:noFill/>
          </a:ln>
        </p:spPr>
        <p:txBody>
          <a:bodyPr wrap="square" lIns="0" tIns="0" rIns="0" bIns="0" anchor="ctr">
            <a:noAutofit/>
          </a:bodyPr>
          <a:lstStyle/>
          <a:p>
            <a:pPr algn="l"/>
            <a:r>
              <a:rPr lang="en-US" sz="1400" b="0">
                <a:solidFill>
                  <a:srgbClr val="252529"/>
                </a:solidFill>
                <a:latin typeface="Aptos"/>
              </a:rPr>
              <a:t>Filling in</a:t>
            </a:r>
          </a:p>
        </p:txBody>
      </p:sp>
      <mc:AlternateContent>
        <mc:Choice Requires="a14">
          <p:sp>
            <p:nvSpPr>
              <p:cNvPr id="307" name="Stage3 dual system"/>
              <p:cNvSpPr txBox="1"/>
              <p:nvPr/>
            </p:nvSpPr>
            <p:spPr>
              <a:xfrm>
                <a:off x="4864100" y="3556000"/>
                <a:ext cx="3911600" cy="812800"/>
              </a:xfrm>
              <a:prstGeom prst="rect">
                <a:avLst/>
              </a:prstGeom>
              <a:noFill/>
              <a:ln>
                <a:noFill/>
              </a:ln>
            </p:spPr>
            <p:txBody>
              <a:bodyPr wrap="square" lIns="0" tIns="0" rIns="0" bIns="0" anchor="ctr">
                <a:noAutofit/>
              </a:bodyPr>
              <a:lstStyle/>
              <a:p>
                <a:pPr algn="l"/>
                <a14:m>
                  <m:oMathPara>
                    <m:oMathParaPr>
                      <m:jc m:val="left"/>
                    </m:oMathParaPr>
                    <m:oMath>
                      <m:d>
                        <m:dPr>
                          <m:begChr m:val="{"/>
                          <m:endChr m:val=""/>
                          <m:ctrlPr>
                            <a:rPr lang="en-US" sz="1600">
                              <a:solidFill>
                                <a:srgbClr val="252529"/>
                              </a:solidFill>
                              <a:latin typeface="Cambria Math"/>
                            </a:rPr>
                          </m:ctrlPr>
                        </m:dPr>
                        <m:e>
                          <m:eqArr>
                            <m:eqArrPr>
                              <m:ctrlPr>
                                <a:rPr lang="en-US" sz="1600">
                                  <a:solidFill>
                                    <a:srgbClr val="252529"/>
                                  </a:solidFill>
                                  <a:latin typeface="Cambria Math"/>
                                </a:rPr>
                              </m:ctrlPr>
                            </m:eqArrPr>
                            <m:e>
                              <m:sSup>
                                <m:sSupPr>
                                  <m:ctrlPr>
                                    <a:rPr lang="en-US" sz="1600">
                                      <a:solidFill>
                                        <a:srgbClr val="252529"/>
                                      </a:solidFill>
                                      <a:latin typeface="Cambria Math"/>
                                    </a:rPr>
                                  </m:ctrlPr>
                                </m:sSupPr>
                                <m:e>
                                  <m:r>
                                    <m:rPr>
                                      <m:sty m:val="p"/>
                                    </m:rPr>
                                    <a:rPr lang="en-US" sz="1600">
                                      <a:solidFill>
                                        <a:srgbClr val="252529"/>
                                      </a:solidFill>
                                      <a:latin typeface="Cambria Math"/>
                                    </a:rPr>
                                    <m:t xml:space="preserve">𝑇</m:t>
                                  </m:r>
                                </m:e>
                                <m:sup>
                                  <m:r>
                                    <m:rPr>
                                      <m:sty m:val="p"/>
                                    </m:rPr>
                                    <a:rPr lang="en-US" sz="1600">
                                      <a:solidFill>
                                        <a:srgbClr val="252529"/>
                                      </a:solidFill>
                                      <a:latin typeface="Cambria Math"/>
                                    </a:rPr>
                                    <m:t xml:space="preserve">*</m:t>
                                  </m:r>
                                </m:sup>
                              </m:sSup>
                              <m:acc>
                                <m:accPr>
                                  <m:chr m:val="̇"/>
                                  <m:ctrlPr>
                                    <a:rPr lang="en-US" sz="1600">
                                      <a:solidFill>
                                        <a:srgbClr val="252529"/>
                                      </a:solidFill>
                                      <a:latin typeface="Cambria Math"/>
                                    </a:rPr>
                                  </m:ctrlPr>
                                </m:accPr>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acc>
                              <m:r>
                                <m:rPr>
                                  <m:sty m:val="p"/>
                                </m:rPr>
                                <a:rPr lang="en-US" sz="1600">
                                  <a:solidFill>
                                    <a:srgbClr val="252529"/>
                                  </a:solidFill>
                                  <a:latin typeface="Cambria Math"/>
                                </a:rPr>
                                <m:t xml:space="preserve">=</m:t>
                              </m:r>
                              <m:d>
                                <m:dPr>
                                  <m:begChr m:val="("/>
                                  <m:endChr m:val=")"/>
                                  <m:ctrlPr>
                                    <a:rPr lang="en-US" sz="1600">
                                      <a:solidFill>
                                        <a:srgbClr val="252529"/>
                                      </a:solidFill>
                                      <a:latin typeface="Cambria Math"/>
                                    </a:rPr>
                                  </m:ctrlPr>
                                </m:dPr>
                                <m:e>
                                  <m:sSup>
                                    <m:sSupPr>
                                      <m:ctrlPr>
                                        <a:rPr lang="en-US" sz="1600">
                                          <a:solidFill>
                                            <a:srgbClr val="252529"/>
                                          </a:solidFill>
                                          <a:latin typeface="Cambria Math"/>
                                        </a:rPr>
                                      </m:ctrlPr>
                                    </m:sSupPr>
                                    <m:e>
                                      <m:r>
                                        <m:rPr>
                                          <m:sty m:val="p"/>
                                        </m:rPr>
                                        <a:rPr lang="en-US" sz="1600">
                                          <a:solidFill>
                                            <a:srgbClr val="252529"/>
                                          </a:solidFill>
                                          <a:latin typeface="Cambria Math"/>
                                        </a:rPr>
                                        <m:t xml:space="preserve">𝐴</m:t>
                                      </m:r>
                                    </m:e>
                                    <m:sup>
                                      <m:r>
                                        <m:rPr>
                                          <m:sty m:val="p"/>
                                        </m:rPr>
                                        <a:rPr lang="en-US" sz="1600">
                                          <a:solidFill>
                                            <a:srgbClr val="252529"/>
                                          </a:solidFill>
                                          <a:latin typeface="Cambria Math"/>
                                        </a:rPr>
                                        <m:t xml:space="preserve">*</m:t>
                                      </m:r>
                                    </m:sup>
                                  </m:sSup>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r>
                                        <m:rPr>
                                          <m:sty m:val="p"/>
                                        </m:rPr>
                                        <a:rPr lang="en-US" sz="1600">
                                          <a:solidFill>
                                            <a:srgbClr val="252529"/>
                                          </a:solidFill>
                                          <a:latin typeface="Cambria Math"/>
                                        </a:rPr>
                                        <m:t xml:space="preserve">𝐾</m:t>
                                      </m:r>
                                    </m:e>
                                    <m:sup>
                                      <m:r>
                                        <m:rPr>
                                          <m:sty m:val="p"/>
                                        </m:rPr>
                                        <a:rPr lang="en-US" sz="1600">
                                          <a:solidFill>
                                            <a:srgbClr val="252529"/>
                                          </a:solidFill>
                                          <a:latin typeface="Cambria Math"/>
                                        </a:rPr>
                                        <m:t xml:space="preserve">*</m:t>
                                      </m:r>
                                    </m:sup>
                                  </m:sSup>
                                  <m:sSup>
                                    <m:sSupPr>
                                      <m:ctrlPr>
                                        <a:rPr lang="en-US" sz="1600">
                                          <a:solidFill>
                                            <a:srgbClr val="252529"/>
                                          </a:solidFill>
                                          <a:latin typeface="Cambria Math"/>
                                        </a:rPr>
                                      </m:ctrlPr>
                                    </m:sSupPr>
                                    <m:e>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e>
                                    <m:sup>
                                      <m:r>
                                        <m:rPr>
                                          <m:sty m:val="p"/>
                                        </m:rPr>
                                        <a:rPr lang="en-US" sz="1600">
                                          <a:solidFill>
                                            <a:srgbClr val="252529"/>
                                          </a:solidFill>
                                          <a:latin typeface="Cambria Math"/>
                                        </a:rPr>
                                        <m:t xml:space="preserve">*</m:t>
                                      </m:r>
                                    </m:sup>
                                  </m:sSup>
                                </m:e>
                              </m:d>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e>
                              <m:acc>
                                <m:accPr>
                                  <m:chr m:val="̃"/>
                                  <m:ctrlPr>
                                    <a:rPr lang="en-US" sz="1600">
                                      <a:solidFill>
                                        <a:srgbClr val="252529"/>
                                      </a:solidFill>
                                      <a:latin typeface="Cambria Math"/>
                                    </a:rPr>
                                  </m:ctrlPr>
                                </m:accPr>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𝑦</m:t>
                                      </m:r>
                                    </m:e>
                                  </m:bar>
                                </m:e>
                              </m:acc>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e>
                                <m:sup>
                                  <m:r>
                                    <m:rPr>
                                      <m:sty m:val="p"/>
                                    </m:rPr>
                                    <a:rPr lang="en-US" sz="1600">
                                      <a:solidFill>
                                        <a:srgbClr val="252529"/>
                                      </a:solidFill>
                                      <a:latin typeface="Cambria Math"/>
                                    </a:rPr>
                                    <m:t xml:space="preserve">*</m:t>
                                  </m:r>
                                </m:sup>
                              </m:sSup>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e>
                              <m:acc>
                                <m:accPr>
                                  <m:chr m:val="̃"/>
                                  <m:ctrlPr>
                                    <a:rPr lang="en-US" sz="1600">
                                      <a:solidFill>
                                        <a:srgbClr val="252529"/>
                                      </a:solidFill>
                                      <a:latin typeface="Cambria Math"/>
                                    </a:rPr>
                                  </m:ctrlPr>
                                </m:accPr>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𝑢</m:t>
                                      </m:r>
                                    </m:e>
                                  </m:bar>
                                </m:e>
                              </m:acc>
                              <m:r>
                                <m:rPr>
                                  <m:sty m:val="p"/>
                                </m:rPr>
                                <a:rPr lang="en-US" sz="1600">
                                  <a:solidFill>
                                    <a:srgbClr val="252529"/>
                                  </a:solidFill>
                                  <a:latin typeface="Cambria Math"/>
                                </a:rPr>
                                <m:t xml:space="preserve">=</m:t>
                              </m:r>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𝑢</m:t>
                                  </m:r>
                                </m:e>
                              </m:bar>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r>
                                    <m:rPr>
                                      <m:sty m:val="p"/>
                                    </m:rPr>
                                    <a:rPr lang="en-US" sz="1600">
                                      <a:solidFill>
                                        <a:srgbClr val="252529"/>
                                      </a:solidFill>
                                      <a:latin typeface="Cambria Math"/>
                                    </a:rPr>
                                    <m:t xml:space="preserve">𝐾</m:t>
                                  </m:r>
                                </m:e>
                                <m:sup>
                                  <m:r>
                                    <m:rPr>
                                      <m:sty m:val="p"/>
                                    </m:rPr>
                                    <a:rPr lang="en-US" sz="1600">
                                      <a:solidFill>
                                        <a:srgbClr val="252529"/>
                                      </a:solidFill>
                                      <a:latin typeface="Cambria Math"/>
                                    </a:rPr>
                                    <m:t xml:space="preserve">*</m:t>
                                  </m:r>
                                </m:sup>
                              </m:sSup>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𝑦</m:t>
                                  </m:r>
                                </m:e>
                              </m:bar>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0</m:t>
                              </m:r>
                            </m:e>
                          </m:eqArr>
                        </m:e>
                      </m:d>
                    </m:oMath>
                  </m:oMathPara>
                </a14:m>
                <a:endParaRPr sz="1600">
                  <a:latin typeface="Cambria Math"/>
                </a:endParaRPr>
              </a:p>
            </p:txBody>
          </p:sp>
        </mc:Choice>
        <mc:Fallback>
          <p:sp>
            <p:nvSpPr>
              <p:cNvPr id="307" name="Stage3 dual system"/>
              <p:cNvSpPr txBox="1"/>
              <p:nvPr/>
            </p:nvSpPr>
            <p:spPr>
              <a:xfrm>
                <a:off x="4864100" y="3556000"/>
                <a:ext cx="3911600" cy="812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The dual filter restores the zero residual.</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4"/>
                                        </p:tgtEl>
                                        <p:attrNameLst>
                                          <p:attrName>style.visibility</p:attrName>
                                        </p:attrNameLst>
                                      </p:cBhvr>
                                      <p:to>
                                        <p:strVal val="visible"/>
                                      </p:to>
                                    </p:set>
                                    <p:animEffect transition="in" filter="fade">
                                      <p:cBhvr>
                                        <p:cTn id="13" dur="300"/>
                                        <p:tgtEl>
                                          <p:spTgt spid="30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06"/>
                                        </p:tgtEl>
                                        <p:attrNameLst>
                                          <p:attrName>style.visibility</p:attrName>
                                        </p:attrNameLst>
                                      </p:cBhvr>
                                      <p:to>
                                        <p:strVal val="visible"/>
                                      </p:to>
                                    </p:set>
                                    <p:animEffect transition="in" filter="fade">
                                      <p:cBhvr>
                                        <p:cTn id="23" dur="300"/>
                                        <p:tgtEl>
                                          <p:spTgt spid="30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Lst>
  </p:timing>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2772</TotalTime>
  <Words>4481</Words>
  <Application>Microsoft Office PowerPoint</Application>
  <PresentationFormat>On-screen Show (16:9)</PresentationFormat>
  <Paragraphs>463</Paragraphs>
  <Slides>44</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Alternative controller schematic</vt:lpstr>
      <vt:lpstr>Transposing the systems</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22</cp:revision>
  <dcterms:created xsi:type="dcterms:W3CDTF">2019-11-27T15:26:32Z</dcterms:created>
  <dcterms:modified xsi:type="dcterms:W3CDTF">2026-09-25T14:02:56Z</dcterms:modified>
</cp:coreProperties>
</file>