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45.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46"/>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24" r:id="rId17"/>
    <p:sldId id="425" r:id="rId18"/>
    <p:sldId id="440" r:id="rId19"/>
    <p:sldId id="404" r:id="rId20"/>
    <p:sldId id="405" r:id="rId21"/>
    <p:sldId id="406" r:id="rId22"/>
    <p:sldId id="407" r:id="rId23"/>
    <p:sldId id="408" r:id="rId24"/>
    <p:sldId id="409" r:id="rId25"/>
    <p:sldId id="426" r:id="rId26"/>
    <p:sldId id="441" r:id="rId27"/>
    <p:sldId id="442" r:id="rId28"/>
    <p:sldId id="443" r:id="rId29"/>
    <p:sldId id="435" r:id="rId30"/>
    <p:sldId id="436" r:id="rId31"/>
    <p:sldId id="437" r:id="rId32"/>
    <p:sldId id="438" r:id="rId33"/>
    <p:sldId id="446" r:id="rId34"/>
    <p:sldId id="447" r:id="rId35"/>
    <p:sldId id="448" r:id="rId51"/>
    <p:sldId id="439" r:id="rId36"/>
    <p:sldId id="421" r:id="rId37"/>
    <p:sldId id="427" r:id="rId38"/>
    <p:sldId id="431" r:id="rId39"/>
    <p:sldId id="428" r:id="rId40"/>
    <p:sldId id="429" r:id="rId41"/>
    <p:sldId id="432" r:id="rId42"/>
    <p:sldId id="430" r:id="rId43"/>
    <p:sldId id="433" r:id="rId44"/>
    <p:sldId id="434" r:id="rId45"/>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FFFFFF"/>
    <a:srgbClr val="EEE8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08" d="100"/>
          <a:sy n="108" d="100"/>
        </p:scale>
        <p:origin x="1140" y="52"/>
      </p:cViewPr>
      <p:guideLst/>
    </p:cSldViewPr>
  </p:slideViewPr>
  <p:outlineViewPr>
    <p:cViewPr>
      <p:scale>
        <a:sx n="33" d="100"/>
        <a:sy n="33" d="100"/>
      </p:scale>
      <p:origin x="0" y="-3978"/>
    </p:cViewPr>
  </p:outlin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51"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25/09/2026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16</a:t>
            </a:fld>
            <a:endParaRPr lang="en-GB"/>
          </a:p>
        </p:txBody>
      </p:sp>
    </p:spTree>
    <p:extLst>
      <p:ext uri="{BB962C8B-B14F-4D97-AF65-F5344CB8AC3E}">
        <p14:creationId xmlns:p14="http://schemas.microsoft.com/office/powerpoint/2010/main" val="264570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57FB1-094A-B8EA-B1A3-88158F04A4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5D46CB-8AA4-A207-E755-3C87E61DDD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8875B-C080-32D5-5838-B091F114DB1D}"/>
              </a:ext>
            </a:extLst>
          </p:cNvPr>
          <p:cNvSpPr>
            <a:spLocks noGrp="1"/>
          </p:cNvSpPr>
          <p:nvPr>
            <p:ph type="body" idx="1"/>
          </p:nvPr>
        </p:nvSpPr>
        <p:spPr/>
        <p:txBody>
          <a:bodyPr/>
          <a:lstStyle/>
          <a:p>
            <a:r>
              <a:rPr lang="en-US" dirty="0"/>
              <a:t>Assume full state information is known</a:t>
            </a:r>
          </a:p>
          <a:p>
            <a:endParaRPr lang="en-US" dirty="0"/>
          </a:p>
          <a:p>
            <a:r>
              <a:rPr lang="en-US" dirty="0"/>
              <a:t>Needs to be satisfied for all uncertainty, infinite dimensional system, uncertainty</a:t>
            </a:r>
          </a:p>
          <a:p>
            <a:endParaRPr lang="en-US" dirty="0"/>
          </a:p>
          <a:p>
            <a:r>
              <a:rPr lang="en-US" dirty="0"/>
              <a:t>Thinking of discretization have already lost the battle, the physics of the system determines that PDE is the representation of the system. First thing AI tries to do is discretize the model</a:t>
            </a:r>
            <a:endParaRPr lang="en-NL" dirty="0"/>
          </a:p>
        </p:txBody>
      </p:sp>
      <p:sp>
        <p:nvSpPr>
          <p:cNvPr id="4" name="Slide Number Placeholder 3">
            <a:extLst>
              <a:ext uri="{FF2B5EF4-FFF2-40B4-BE49-F238E27FC236}">
                <a16:creationId xmlns:a16="http://schemas.microsoft.com/office/drawing/2014/main" id="{2E39ABB2-5B7B-B47D-854E-5E660D1E7555}"/>
              </a:ext>
            </a:extLst>
          </p:cNvPr>
          <p:cNvSpPr>
            <a:spLocks noGrp="1"/>
          </p:cNvSpPr>
          <p:nvPr>
            <p:ph type="sldNum" sz="quarter" idx="5"/>
          </p:nvPr>
        </p:nvSpPr>
        <p:spPr/>
        <p:txBody>
          <a:bodyPr/>
          <a:lstStyle/>
          <a:p>
            <a:fld id="{AA799BBE-B871-48D7-983C-C0B1D7156DCD}" type="slidenum">
              <a:rPr lang="en-GB" smtClean="0"/>
              <a:t>17</a:t>
            </a:fld>
            <a:endParaRPr lang="en-GB"/>
          </a:p>
        </p:txBody>
      </p:sp>
    </p:spTree>
    <p:extLst>
      <p:ext uri="{BB962C8B-B14F-4D97-AF65-F5344CB8AC3E}">
        <p14:creationId xmlns:p14="http://schemas.microsoft.com/office/powerpoint/2010/main" val="31282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F2CC4-64BA-41F9-F81A-4986127877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95AD93-F5F7-C821-9E72-B115490DC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D64D6-7401-AA83-1E04-D8737E210D94}"/>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4DEE983-7A01-9522-EA1E-BFE65BC3BF9D}"/>
              </a:ext>
            </a:extLst>
          </p:cNvPr>
          <p:cNvSpPr>
            <a:spLocks noGrp="1"/>
          </p:cNvSpPr>
          <p:nvPr>
            <p:ph type="sldNum" sz="quarter" idx="5"/>
          </p:nvPr>
        </p:nvSpPr>
        <p:spPr/>
        <p:txBody>
          <a:bodyPr/>
          <a:lstStyle/>
          <a:p>
            <a:fld id="{AA799BBE-B871-48D7-983C-C0B1D7156DCD}" type="slidenum">
              <a:rPr lang="en-GB" smtClean="0"/>
              <a:t>18</a:t>
            </a:fld>
            <a:endParaRPr lang="en-GB"/>
          </a:p>
        </p:txBody>
      </p:sp>
    </p:spTree>
    <p:extLst>
      <p:ext uri="{BB962C8B-B14F-4D97-AF65-F5344CB8AC3E}">
        <p14:creationId xmlns:p14="http://schemas.microsoft.com/office/powerpoint/2010/main" val="2107978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19</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Manner prose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20</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21</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22</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23</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Partial Differential Equations give a natural way to describe distributed systems, but stability analysis, observer design, and controller synthesis are challenging. Spatially distributed dynamics and boundary conditions complicate the application of large amount of theory that has been developed for ordinary differential equations.</a:t>
            </a:r>
          </a:p>
          <a:p>
            <a:endParaRPr lang="en-US" dirty="0"/>
          </a:p>
          <a:p>
            <a:r>
              <a:rPr lang="en-US" dirty="0"/>
              <a:t>More recently, partial differential equations have been introduced as an alternative representation that brings much of the properties of ODEs to partial differential equations.</a:t>
            </a:r>
          </a:p>
          <a:p>
            <a:endParaRPr lang="en-US" dirty="0"/>
          </a:p>
          <a:p>
            <a:r>
              <a:rPr lang="en-US" dirty="0"/>
              <a:t>Five steps PDE to PIE,</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24</a:t>
            </a:fld>
            <a:endParaRPr lang="en-GB"/>
          </a:p>
        </p:txBody>
      </p:sp>
    </p:spTree>
    <p:extLst>
      <p:ext uri="{BB962C8B-B14F-4D97-AF65-F5344CB8AC3E}">
        <p14:creationId xmlns:p14="http://schemas.microsoft.com/office/powerpoint/2010/main" val="2499934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25</a:t>
            </a:fld>
            <a:endParaRPr lang="en-GB"/>
          </a:p>
        </p:txBody>
      </p:sp>
    </p:spTree>
    <p:extLst>
      <p:ext uri="{BB962C8B-B14F-4D97-AF65-F5344CB8AC3E}">
        <p14:creationId xmlns:p14="http://schemas.microsoft.com/office/powerpoint/2010/main" val="32521841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dirty="0">
                <a:solidFill>
                  <a:srgbClr val="252529"/>
                </a:solidFill>
                <a:latin typeface="Aptos"/>
                <a:ea typeface="Aptos"/>
                <a:cs typeface="Aptos"/>
              </a:rPr>
              <a:t>Parkinsonian </a:t>
            </a:r>
            <a:r>
              <a:rPr lang="en-GB" sz="1200" b="0" i="0" u="none" baseline="0" dirty="0" err="1">
                <a:solidFill>
                  <a:srgbClr val="252529"/>
                </a:solidFill>
                <a:latin typeface="Aptos"/>
                <a:ea typeface="Aptos"/>
                <a:cs typeface="Aptos"/>
              </a:rPr>
              <a:t>GPe</a:t>
            </a:r>
            <a:r>
              <a:rPr lang="en-GB" sz="1200" b="0" i="0" u="none" baseline="0" dirty="0">
                <a:solidFill>
                  <a:srgbClr val="252529"/>
                </a:solidFill>
                <a:latin typeface="Aptos"/>
                <a:ea typeface="Aptos"/>
                <a:cs typeface="Aptos"/>
              </a:rPr>
              <a:t>-STN sector simulation. Each channel satisfies </a:t>
            </a:r>
            <a:r>
              <a:rPr lang="en-GB" sz="1200" b="0" i="0" u="none" baseline="0" dirty="0" err="1">
                <a:solidFill>
                  <a:srgbClr val="252529"/>
                </a:solidFill>
                <a:latin typeface="Aptos"/>
                <a:ea typeface="Aptos"/>
                <a:cs typeface="Aptos"/>
              </a:rPr>
              <a:t>q_i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w_i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beta_i</a:t>
            </a:r>
            <a:r>
              <a:rPr lang="en-GB" sz="1200" b="0" i="0" u="none" baseline="0" dirty="0">
                <a:solidFill>
                  <a:srgbClr val="252529"/>
                </a:solidFill>
                <a:latin typeface="Aptos"/>
                <a:ea typeface="Aptos"/>
                <a:cs typeface="Aptos"/>
              </a:rPr>
              <a:t>*</a:t>
            </a:r>
            <a:r>
              <a:rPr lang="en-GB" sz="1200" b="0" i="0" u="none" baseline="0" dirty="0" err="1">
                <a:solidFill>
                  <a:srgbClr val="252529"/>
                </a:solidFill>
                <a:latin typeface="Aptos"/>
                <a:ea typeface="Aptos"/>
                <a:cs typeface="Aptos"/>
              </a:rPr>
              <a:t>z_i-w_i</a:t>
            </a:r>
            <a:r>
              <a:rPr lang="en-GB" sz="1200" b="0" i="0" u="none" baseline="0" dirty="0">
                <a:solidFill>
                  <a:srgbClr val="252529"/>
                </a:solidFill>
                <a:latin typeface="Aptos"/>
                <a:ea typeface="Aptos"/>
                <a:cs typeface="Aptos"/>
              </a:rPr>
              <a:t>)&gt;=0. The supply function panel plots the accumulated supply integral, giving the hard IQC and </a:t>
            </a:r>
            <a:r>
              <a:rPr lang="en-GB" sz="1200" b="0" i="0" u="none" baseline="0" dirty="0" err="1">
                <a:solidFill>
                  <a:srgbClr val="252529"/>
                </a:solidFill>
                <a:latin typeface="Aptos"/>
                <a:ea typeface="Aptos"/>
                <a:cs typeface="Aptos"/>
              </a:rPr>
              <a:t>dissipativity</a:t>
            </a:r>
            <a:r>
              <a:rPr lang="en-GB" sz="1200" b="0" i="0" u="none" baseline="0" dirty="0">
                <a:solidFill>
                  <a:srgbClr val="252529"/>
                </a:solidFill>
                <a:latin typeface="Aptos"/>
                <a:ea typeface="Aptos"/>
                <a:cs typeface="Aptos"/>
              </a:rPr>
              <a:t> with zero storage. </a:t>
            </a:r>
            <a:r>
              <a:rPr lang="en-GB" sz="1200" b="0" i="0" u="none" baseline="0" dirty="0" err="1">
                <a:solidFill>
                  <a:srgbClr val="252529"/>
                </a:solidFill>
                <a:latin typeface="Aptos"/>
                <a:ea typeface="Aptos"/>
                <a:cs typeface="Aptos"/>
              </a:rPr>
              <a:t>beta_S</a:t>
            </a:r>
            <a:r>
              <a:rPr lang="en-GB" sz="1200" b="0" i="0" u="none" baseline="0" dirty="0">
                <a:solidFill>
                  <a:srgbClr val="252529"/>
                </a:solidFill>
                <a:latin typeface="Aptos"/>
                <a:ea typeface="Aptos"/>
                <a:cs typeface="Aptos"/>
              </a:rPr>
              <a:t>=0.7344121335837432, </a:t>
            </a:r>
            <a:r>
              <a:rPr lang="en-GB" sz="1200" b="0" i="0" u="none" baseline="0" dirty="0" err="1">
                <a:solidFill>
                  <a:srgbClr val="252529"/>
                </a:solidFill>
                <a:latin typeface="Aptos"/>
                <a:ea typeface="Aptos"/>
                <a:cs typeface="Aptos"/>
              </a:rPr>
              <a:t>beta_G</a:t>
            </a:r>
            <a:r>
              <a:rPr lang="en-GB" sz="1200" b="0" i="0" u="none" baseline="0" dirty="0">
                <a:solidFill>
                  <a:srgbClr val="252529"/>
                </a:solidFill>
                <a:latin typeface="Aptos"/>
                <a:ea typeface="Aptos"/>
                <a:cs typeface="Aptos"/>
              </a:rPr>
              <a:t>=0.7048314668921489. Click to play the embedded clean 4K video; all text and math labels are editable PowerPoint overlays.</a:t>
            </a:r>
          </a:p>
          <a:p>
            <a:pPr algn="ctr">
              <a:buNone/>
            </a:pPr>
            <a:endParaRPr lang="en-GB" sz="1200" b="0" i="0" u="none" baseline="0" dirty="0">
              <a:solidFill>
                <a:srgbClr val="252529"/>
              </a:solidFill>
              <a:latin typeface="Aptos"/>
            </a:endParaRPr>
          </a:p>
          <a:p>
            <a:pPr algn="ctr">
              <a:buNone/>
            </a:pPr>
            <a:r>
              <a:rPr lang="en-NL" sz="1200" dirty="0"/>
              <a:t>This says that the increase in stored energy cannot exceed the supplied energy. It is a supply–storage balance, so you can explain it without introducing a Lyapunov stability argument.</a:t>
            </a:r>
            <a:endParaRPr sz="1200"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D0A36-CA77-C300-A6F7-97B9E16078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F59CF2-D16C-EF45-F4C8-30427152CC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BFC593-F465-69EB-2F78-C12B58AFFE5F}"/>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p>
          <a:p>
            <a:endParaRPr lang="en-US" dirty="0"/>
          </a:p>
          <a:p>
            <a:endParaRPr lang="en-US" dirty="0"/>
          </a:p>
          <a:p>
            <a:r>
              <a:rPr lang="en-US" dirty="0"/>
              <a:t>Introduce IQC for parametric uncertainty things we can do, keep the promise to show another example</a:t>
            </a:r>
          </a:p>
          <a:p>
            <a:r>
              <a:rPr lang="en-US" dirty="0"/>
              <a:t>Introduce duality argument for sector bounded uncertainty</a:t>
            </a:r>
          </a:p>
          <a:p>
            <a:endParaRPr lang="en-NL" dirty="0"/>
          </a:p>
        </p:txBody>
      </p:sp>
      <p:sp>
        <p:nvSpPr>
          <p:cNvPr id="4" name="Slide Number Placeholder 3">
            <a:extLst>
              <a:ext uri="{FF2B5EF4-FFF2-40B4-BE49-F238E27FC236}">
                <a16:creationId xmlns:a16="http://schemas.microsoft.com/office/drawing/2014/main" id="{1AF9EF2A-760A-6A74-6E24-B06539328A05}"/>
              </a:ext>
            </a:extLst>
          </p:cNvPr>
          <p:cNvSpPr>
            <a:spLocks noGrp="1"/>
          </p:cNvSpPr>
          <p:nvPr>
            <p:ph type="sldNum" sz="quarter" idx="5"/>
          </p:nvPr>
        </p:nvSpPr>
        <p:spPr/>
        <p:txBody>
          <a:bodyPr/>
          <a:lstStyle/>
          <a:p>
            <a:fld id="{AA799BBE-B871-48D7-983C-C0B1D7156DCD}" type="slidenum">
              <a:rPr lang="en-GB" smtClean="0"/>
              <a:t>29</a:t>
            </a:fld>
            <a:endParaRPr lang="en-GB"/>
          </a:p>
        </p:txBody>
      </p:sp>
    </p:spTree>
    <p:extLst>
      <p:ext uri="{BB962C8B-B14F-4D97-AF65-F5344CB8AC3E}">
        <p14:creationId xmlns:p14="http://schemas.microsoft.com/office/powerpoint/2010/main" val="18850061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0EB01E-37AD-E8FA-9C1F-8C3448526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66527D-97B8-A2AF-9413-6B648B4D60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26BE2E-E8C8-0310-FA51-015CABFE942B}"/>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ED135E5A-7679-96E5-C74E-DEA4AD7FC8E6}"/>
              </a:ext>
            </a:extLst>
          </p:cNvPr>
          <p:cNvSpPr>
            <a:spLocks noGrp="1"/>
          </p:cNvSpPr>
          <p:nvPr>
            <p:ph type="sldNum" sz="quarter" idx="5"/>
          </p:nvPr>
        </p:nvSpPr>
        <p:spPr/>
        <p:txBody>
          <a:bodyPr/>
          <a:lstStyle/>
          <a:p>
            <a:fld id="{AA799BBE-B871-48D7-983C-C0B1D7156DCD}" type="slidenum">
              <a:rPr lang="en-GB" smtClean="0"/>
              <a:t>30</a:t>
            </a:fld>
            <a:endParaRPr lang="en-GB"/>
          </a:p>
        </p:txBody>
      </p:sp>
    </p:spTree>
    <p:extLst>
      <p:ext uri="{BB962C8B-B14F-4D97-AF65-F5344CB8AC3E}">
        <p14:creationId xmlns:p14="http://schemas.microsoft.com/office/powerpoint/2010/main" val="244275755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CDAE7-A72B-1ED4-B079-BDB9E083C8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3B2949-F688-D84D-C862-9A859F3E75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16B365-6B80-7FB6-6763-B38AC2E0DCC8}"/>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31429EC9-F4AF-0020-C441-796E5E846DA7}"/>
              </a:ext>
            </a:extLst>
          </p:cNvPr>
          <p:cNvSpPr>
            <a:spLocks noGrp="1"/>
          </p:cNvSpPr>
          <p:nvPr>
            <p:ph type="sldNum" sz="quarter" idx="5"/>
          </p:nvPr>
        </p:nvSpPr>
        <p:spPr/>
        <p:txBody>
          <a:bodyPr/>
          <a:lstStyle/>
          <a:p>
            <a:fld id="{AA799BBE-B871-48D7-983C-C0B1D7156DCD}" type="slidenum">
              <a:rPr lang="en-GB" smtClean="0"/>
              <a:t>31</a:t>
            </a:fld>
            <a:endParaRPr lang="en-GB"/>
          </a:p>
        </p:txBody>
      </p:sp>
    </p:spTree>
    <p:extLst>
      <p:ext uri="{BB962C8B-B14F-4D97-AF65-F5344CB8AC3E}">
        <p14:creationId xmlns:p14="http://schemas.microsoft.com/office/powerpoint/2010/main" val="11238257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A005E-35F6-3992-F2C3-9EF0342A1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CB3672-5D59-7FB5-06C3-4BAA3371F5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92726B-0260-A0C6-C6F3-AED3D63BE3D9}"/>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64A6D3D6-CD21-D5B2-B466-BD7234800A0D}"/>
              </a:ext>
            </a:extLst>
          </p:cNvPr>
          <p:cNvSpPr>
            <a:spLocks noGrp="1"/>
          </p:cNvSpPr>
          <p:nvPr>
            <p:ph type="sldNum" sz="quarter" idx="5"/>
          </p:nvPr>
        </p:nvSpPr>
        <p:spPr/>
        <p:txBody>
          <a:bodyPr/>
          <a:lstStyle/>
          <a:p>
            <a:fld id="{AA799BBE-B871-48D7-983C-C0B1D7156DCD}" type="slidenum">
              <a:rPr lang="en-GB" smtClean="0"/>
              <a:t>32</a:t>
            </a:fld>
            <a:endParaRPr lang="en-GB"/>
          </a:p>
        </p:txBody>
      </p:sp>
    </p:spTree>
    <p:extLst>
      <p:ext uri="{BB962C8B-B14F-4D97-AF65-F5344CB8AC3E}">
        <p14:creationId xmlns:p14="http://schemas.microsoft.com/office/powerpoint/2010/main" val="263510423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39</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40</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44</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microsoft.com/office/2007/relationships/media" Target="../media/media2.mp4"/><Relationship Id="rId7" Type="http://schemas.openxmlformats.org/officeDocument/2006/relationships/image" Target="../media/image4.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2.xml"/><Relationship Id="rId5" Type="http://schemas.openxmlformats.org/officeDocument/2006/relationships/slideLayout" Target="../slideLayouts/slideLayout5.xml"/><Relationship Id="rId4" Type="http://schemas.openxmlformats.org/officeDocument/2006/relationships/video" Target="../media/media2.mp4"/><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10.gif"/><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410.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0.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92.png"/><Relationship Id="rId2" Type="http://schemas.openxmlformats.org/officeDocument/2006/relationships/notesSlide" Target="../notesSlides/notesSlide15.xml"/><Relationship Id="rId1" Type="http://schemas.openxmlformats.org/officeDocument/2006/relationships/slideLayout" Target="../slideLayouts/slideLayout5.xml"/><Relationship Id="rId5" Type="http://schemas.openxmlformats.org/officeDocument/2006/relationships/image" Target="../media/image1.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00.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1.png"/><Relationship Id="rId4" Type="http://schemas.openxmlformats.org/officeDocument/2006/relationships/image" Target="../media/image1200.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24.png"/><Relationship Id="rId4"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25.png"/><Relationship Id="rId4" Type="http://schemas.openxmlformats.org/officeDocument/2006/relationships/notesSlide" Target="../notesSlides/notesSlide24.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26.png"/><Relationship Id="rId4" Type="http://schemas.openxmlformats.org/officeDocument/2006/relationships/notesSlide" Target="../notesSlides/notesSlide25.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41.pn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381.pn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12" Type="http://schemas.openxmlformats.org/officeDocument/2006/relationships/image" Target="../media/image401.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13" Type="http://schemas.openxmlformats.org/officeDocument/2006/relationships/image" Target="../media/image34.png"/><Relationship Id="rId18" Type="http://schemas.openxmlformats.org/officeDocument/2006/relationships/image" Target="../media/image39.png"/><Relationship Id="rId12" Type="http://schemas.openxmlformats.org/officeDocument/2006/relationships/image" Target="../media/image33.png"/><Relationship Id="rId17" Type="http://schemas.openxmlformats.org/officeDocument/2006/relationships/image" Target="../media/image38.png"/><Relationship Id="rId16" Type="http://schemas.openxmlformats.org/officeDocument/2006/relationships/image" Target="../media/image37.png"/><Relationship Id="rId1" Type="http://schemas.openxmlformats.org/officeDocument/2006/relationships/slideLayout" Target="../slideLayouts/slideLayout12.xml"/><Relationship Id="rId6" Type="http://schemas.openxmlformats.org/officeDocument/2006/relationships/image" Target="../media/image32.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36.png"/><Relationship Id="rId4" Type="http://schemas.openxmlformats.org/officeDocument/2006/relationships/image" Target="../media/image96.png"/><Relationship Id="rId14" Type="http://schemas.openxmlformats.org/officeDocument/2006/relationships/image" Target="../media/image35.png"/></Relationships>
</file>

<file path=ppt/slides/_rels/slide34.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3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0.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38.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3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40.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52.png"/><Relationship Id="rId2" Type="http://schemas.openxmlformats.org/officeDocument/2006/relationships/notesSlide" Target="../notesSlides/notesSlide35.xml"/><Relationship Id="rId1" Type="http://schemas.openxmlformats.org/officeDocument/2006/relationships/slideLayout" Target="../slideLayouts/slideLayout12.xml"/><Relationship Id="rId4" Type="http://schemas.openxmlformats.org/officeDocument/2006/relationships/image" Target="../media/image54.png"/></Relationships>
</file>

<file path=ppt/slides/_rels/slide4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6.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56.png"/></Relationships>
</file>

<file path=ppt/slides/_rels/slide45.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1.png"/><Relationship Id="rId2" Type="http://schemas.openxmlformats.org/officeDocument/2006/relationships/image" Target="../media/image40.png"/><Relationship Id="rId1" Type="http://schemas.openxmlformats.org/officeDocument/2006/relationships/slideLayout" Target="../slideLayouts/slideLayout12.xml"/><Relationship Id="rId6" Type="http://schemas.openxmlformats.org/officeDocument/2006/relationships/image" Target="../media/image44.png"/><Relationship Id="rId11" Type="http://schemas.openxmlformats.org/officeDocument/2006/relationships/image" Target="../media/image50.png"/><Relationship Id="rId5" Type="http://schemas.openxmlformats.org/officeDocument/2006/relationships/image" Target="../media/image43.png"/><Relationship Id="rId10" Type="http://schemas.openxmlformats.org/officeDocument/2006/relationships/image" Target="../media/image49.png"/><Relationship Id="rId4" Type="http://schemas.openxmlformats.org/officeDocument/2006/relationships/image" Target="../media/image42.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44500" y="1833724"/>
            <a:ext cx="3943350" cy="2228850"/>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435475" y="1833239"/>
            <a:ext cx="4552950" cy="2619375"/>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000"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0"/>
                </p:tgtEl>
              </p:cMediaNode>
            </p:video>
            <p:seq concurrent="1" nextAc="seek">
              <p:cTn id="12" restart="whenNotActive" fill="hold" evtFilter="cancelBubble" nodeType="interactiveSeq">
                <p:stCondLst>
                  <p:cond evt="onClick" delay="0">
                    <p:tgtEl>
                      <p:spTgt spid="20"/>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0"/>
                                        </p:tgtEl>
                                      </p:cBhvr>
                                    </p:cmd>
                                  </p:childTnLst>
                                </p:cTn>
                              </p:par>
                            </p:childTnLst>
                          </p:cTn>
                        </p:par>
                      </p:childTnLst>
                    </p:cTn>
                  </p:par>
                </p:childTnLst>
              </p:cTn>
              <p:nextCondLst>
                <p:cond evt="onClick" delay="0">
                  <p:tgtEl>
                    <p:spTgt spid="20"/>
                  </p:tgtEl>
                </p:cond>
              </p:nextCondLst>
            </p:seq>
            <p:video>
              <p:cMediaNode vol="80000">
                <p:cTn id="17" fill="hold" display="0">
                  <p:stCondLst>
                    <p:cond delay="indefinite"/>
                  </p:stCondLst>
                </p:cTn>
                <p:tgtEl>
                  <p:spTgt spid="21"/>
                </p:tgtEl>
              </p:cMediaNode>
            </p:video>
            <p:seq concurrent="1" nextAc="seek">
              <p:cTn id="18" restart="whenNotActive" fill="hold" evtFilter="cancelBubble" nodeType="interactiveSeq">
                <p:stCondLst>
                  <p:cond evt="onClick" delay="0">
                    <p:tgtEl>
                      <p:spTgt spid="21"/>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21"/>
                                        </p:tgtEl>
                                      </p:cBhvr>
                                    </p:cmd>
                                  </p:childTnLst>
                                </p:cTn>
                              </p:par>
                            </p:childTnLst>
                          </p:cTn>
                        </p:par>
                      </p:childTnLst>
                    </p:cTn>
                  </p:par>
                </p:childTnLst>
              </p:cTn>
              <p:nextCondLst>
                <p:cond evt="onClick" delay="0">
                  <p:tgtEl>
                    <p:spTgt spid="21"/>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pic>
        <p:nvPicPr>
          <p:cNvPr id="3" name="Picture 2">
            <a:extLst>
              <a:ext uri="{FF2B5EF4-FFF2-40B4-BE49-F238E27FC236}">
                <a16:creationId xmlns:a16="http://schemas.microsoft.com/office/drawing/2014/main" id="{CE68D164-ECC1-2C08-4E8F-C6A89F1A7245}"/>
              </a:ext>
            </a:extLst>
          </p:cNvPr>
          <p:cNvPicPr>
            <a:picLocks noChangeAspect="1"/>
          </p:cNvPicPr>
          <p:nvPr/>
        </p:nvPicPr>
        <p:blipFill>
          <a:blip r:embed="rId8">
            <a:extLst>
              <a:ext uri="{28A0092B-C50C-407E-A947-70E740481C1C}">
                <a14:useLocalDpi xmlns:a14="http://schemas.microsoft.com/office/drawing/2010/main" val="0"/>
              </a:ext>
            </a:extLst>
          </a:blip>
          <a:srcRect l="15942" r="17681"/>
          <a:stretch>
            <a:fillRect/>
          </a:stretch>
        </p:blipFill>
        <p:spPr>
          <a:xfrm>
            <a:off x="6331461" y="1449643"/>
            <a:ext cx="2355339" cy="1977514"/>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537024" cy="784830"/>
              </a:xfrm>
              <a:prstGeom prst="rect">
                <a:avLst/>
              </a:prstGeom>
              <a:noFill/>
            </p:spPr>
            <p:txBody>
              <a:bodyPr wrap="none" rtlCol="0">
                <a:spAutoFit/>
              </a:bodyPr>
              <a:lstStyle/>
              <a:p>
                <a:pPr/>
                <a14:m>
                  <m:oMathPara xmlns:m="http://schemas.openxmlformats.org/officeDocument/2006/math">
                    <m:oMath>
                      <m:r>
                        <a:rPr lang="en-US" sz="1800" b="0" i="1" smtClean="0">
                          <a:latin typeface="Cambria Math" panose="02040503050406030204" pitchFamily="18" charset="0"/>
                        </a:rPr>
                        <m:t>𝛿</m:t>
                      </m:r>
                      <m:r>
                        <a:rPr lang="en-US" sz="1800" b="0" i="1" smtClean="0">
                          <a:latin typeface="Cambria Math" panose="02040503050406030204" pitchFamily="18" charset="0"/>
                        </a:rPr>
                        <m:t>∈[−0.5,0.5]</m:t>
                      </m:r>
                    </m:oMath>
                  </m:oMathPara>
                </a14:m>
                <a:endParaRPr lang="en-US" b="0" dirty="0"/>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537024" cy="784830"/>
              </a:xfrm>
              <a:prstGeom prst="rect">
                <a:avLst/>
              </a:prstGeom>
              <a:blipFill>
                <a:blip r:embed="rId3"/>
                <a:stretch>
                  <a:fillRect r="-3571"/>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4</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4"/>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extBox 2">
            <a:extLst>
              <a:ext uri="{FF2B5EF4-FFF2-40B4-BE49-F238E27FC236}">
                <a16:creationId xmlns:a16="http://schemas.microsoft.com/office/drawing/2014/main" id="{F8836475-C67C-5FD6-CA27-4A6AECE9B89D}"/>
              </a:ext>
            </a:extLst>
          </p:cNvPr>
          <p:cNvSpPr txBox="1"/>
          <p:nvPr/>
        </p:nvSpPr>
        <p:spPr>
          <a:xfrm>
            <a:off x="5810250" y="3321050"/>
            <a:ext cx="964495" cy="300082"/>
          </a:xfrm>
          <a:prstGeom prst="rect">
            <a:avLst/>
          </a:prstGeom>
          <a:noFill/>
        </p:spPr>
        <p:txBody>
          <a:bodyPr wrap="none" rtlCol="0">
            <a:spAutoFit/>
          </a:bodyPr>
          <a:lstStyle/>
          <a:p>
            <a:r>
              <a:rPr lang="en-US" dirty="0"/>
              <a:t>Cite paper</a:t>
            </a:r>
            <a:endParaRPr lang="en-NL" dirty="0"/>
          </a:p>
        </p:txBody>
      </p:sp>
      <p:pic>
        <p:nvPicPr>
          <p:cNvPr id="7" name="Baked figure with larger labels"/>
          <p:cNvPicPr>
            <a:picLocks noChangeAspect="1"/>
          </p:cNvPicPr>
          <p:nvPr/>
        </p:nvPicPr>
        <p:blipFill>
          <a:blip r:embed="rId6"/>
          <a:stretch>
            <a:fillRect/>
          </a:stretch>
        </p:blipFill>
        <p:spPr>
          <a:xfrm>
            <a:off x="1057275" y="366712"/>
            <a:ext cx="6581775" cy="1109662"/>
          </a:xfrm>
          <a:prstGeom prst="rect">
            <a:avLst/>
          </a:prstGeom>
        </p:spPr>
      </p:pic>
      <p:pic>
        <p:nvPicPr>
          <p:cNvPr id="18" name="Baked figure with larger labels"/>
          <p:cNvPicPr>
            <a:picLocks noChangeAspect="1"/>
          </p:cNvPicPr>
          <p:nvPr/>
        </p:nvPicPr>
        <p:blipFill>
          <a:blip r:embed="rId7"/>
          <a:stretch>
            <a:fillRect/>
          </a:stretch>
        </p:blipFill>
        <p:spPr>
          <a:xfrm>
            <a:off x="1201737" y="2616244"/>
            <a:ext cx="3590925" cy="2009775"/>
          </a:xfrm>
          <a:prstGeom prst="rect">
            <a:avLst/>
          </a:prstGeom>
        </p:spPr>
      </p:pic>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4"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6" name="Baked figure with larger labels"/>
          <p:cNvPicPr>
            <a:picLocks noChangeAspect="1"/>
          </p:cNvPicPr>
          <p:nvPr/>
        </p:nvPicPr>
        <p:blipFill>
          <a:blip r:embed="rId4"/>
          <a:stretch>
            <a:fillRect/>
          </a:stretch>
        </p:blipFill>
        <p:spPr>
          <a:xfrm>
            <a:off x="1990725" y="547688"/>
            <a:ext cx="4681538" cy="20097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2" name="Baked figure with larger labels"/>
          <p:cNvPicPr>
            <a:picLocks noChangeAspect="1"/>
          </p:cNvPicPr>
          <p:nvPr/>
        </p:nvPicPr>
        <p:blipFill>
          <a:blip r:embed="rId4"/>
          <a:stretch>
            <a:fillRect/>
          </a:stretch>
        </p:blipFill>
        <p:spPr>
          <a:xfrm>
            <a:off x="1909762" y="390525"/>
            <a:ext cx="4762500" cy="22336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60" name="Baked figure with larger labels"/>
          <p:cNvPicPr>
            <a:picLocks noChangeAspect="1"/>
          </p:cNvPicPr>
          <p:nvPr/>
        </p:nvPicPr>
        <p:blipFill>
          <a:blip r:embed="rId4"/>
          <a:stretch>
            <a:fillRect/>
          </a:stretch>
        </p:blipFill>
        <p:spPr>
          <a:xfrm>
            <a:off x="1919288" y="409575"/>
            <a:ext cx="4752975" cy="2200275"/>
          </a:xfrm>
          <a:prstGeom prst="rect">
            <a:avLst/>
          </a:prstGeom>
        </p:spPr>
      </p:pic>
      <p:sp>
        <p:nvSpPr>
          <p:cNvPr id="68" name="TextBox 67">
            <a:extLst>
              <a:ext uri="{FF2B5EF4-FFF2-40B4-BE49-F238E27FC236}">
                <a16:creationId xmlns:a16="http://schemas.microsoft.com/office/drawing/2014/main" id="{DE5ACBCD-6245-5808-3E38-E90CD319A76E}"/>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xmlns:m="http://schemas.openxmlformats.org/officeDocument/2006/math">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pic>
        <p:nvPicPr>
          <p:cNvPr id="58" name="Baked figure with larger labels"/>
          <p:cNvPicPr>
            <a:picLocks noChangeAspect="1"/>
          </p:cNvPicPr>
          <p:nvPr/>
        </p:nvPicPr>
        <p:blipFill>
          <a:blip r:embed="rId4"/>
          <a:stretch>
            <a:fillRect/>
          </a:stretch>
        </p:blipFill>
        <p:spPr>
          <a:xfrm>
            <a:off x="2438400" y="595312"/>
            <a:ext cx="4138612" cy="1695450"/>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delays and nonlinear activation </a:t>
            </a:r>
            <a:r>
              <a:rPr lang="en-US" sz="1300" b="1" u="none" cap="none" dirty="0" err="1">
                <a:solidFill>
                  <a:srgbClr val="C81919"/>
                </a:solidFill>
                <a:latin typeface="Aptos"/>
                <a:ea typeface="Aptos"/>
                <a:cs typeface="Aptos"/>
              </a:rPr>
              <a:t>funtions</a:t>
            </a:r>
            <a:r>
              <a:rPr lang="en-US" sz="1300" b="1" u="none" cap="none" dirty="0">
                <a:solidFill>
                  <a:srgbClr val="C81919"/>
                </a:solidFill>
                <a:latin typeface="Aptos"/>
                <a:ea typeface="Aptos"/>
                <a:cs typeface="Aptos"/>
              </a:rPr>
              <a:t>!</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13</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0" name="Baked figure with larger labels"/>
          <p:cNvPicPr>
            <a:picLocks noChangeAspect="1"/>
          </p:cNvPicPr>
          <p:nvPr/>
        </p:nvPicPr>
        <p:blipFill>
          <a:blip r:embed="rId3"/>
          <a:stretch>
            <a:fillRect/>
          </a:stretch>
        </p:blipFill>
        <p:spPr>
          <a:xfrm>
            <a:off x="438150" y="1190625"/>
            <a:ext cx="4157662" cy="1785938"/>
          </a:xfrm>
          <a:prstGeom prst="rect">
            <a:avLst/>
          </a:prstGeom>
        </p:spPr>
      </p:pic>
      <p:pic>
        <p:nvPicPr>
          <p:cNvPr id="76" name="Baked figure with larger labels"/>
          <p:cNvPicPr>
            <a:picLocks noChangeAspect="1"/>
          </p:cNvPicPr>
          <p:nvPr/>
        </p:nvPicPr>
        <p:blipFill>
          <a:blip r:embed="rId4"/>
          <a:stretch>
            <a:fillRect/>
          </a:stretch>
        </p:blipFill>
        <p:spPr>
          <a:xfrm>
            <a:off x="4943475" y="1219200"/>
            <a:ext cx="3952875" cy="2305050"/>
          </a:xfrm>
          <a:prstGeom prst="rect">
            <a:avLst/>
          </a:prstGeom>
        </p:spPr>
      </p:pic>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14</a:t>
            </a:fld>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8" name="Baked figure with larger labels"/>
          <p:cNvPicPr>
            <a:picLocks noChangeAspect="1"/>
          </p:cNvPicPr>
          <p:nvPr/>
        </p:nvPicPr>
        <p:blipFill>
          <a:blip r:embed="rId3"/>
          <a:stretch>
            <a:fillRect/>
          </a:stretch>
        </p:blipFill>
        <p:spPr>
          <a:xfrm>
            <a:off x="4962525" y="1452562"/>
            <a:ext cx="3805238" cy="1819275"/>
          </a:xfrm>
          <a:prstGeom prst="rect">
            <a:avLst/>
          </a:prstGeom>
        </p:spPr>
      </p:pic>
      <p:pic>
        <p:nvPicPr>
          <p:cNvPr id="80" name="Baked figure with larger labels"/>
          <p:cNvPicPr>
            <a:picLocks noChangeAspect="1"/>
          </p:cNvPicPr>
          <p:nvPr/>
        </p:nvPicPr>
        <p:blipFill>
          <a:blip r:embed="rId4"/>
          <a:stretch>
            <a:fillRect/>
          </a:stretch>
        </p:blipFill>
        <p:spPr>
          <a:xfrm>
            <a:off x="438150" y="1190625"/>
            <a:ext cx="4157662" cy="1785938"/>
          </a:xfrm>
          <a:prstGeom prst="rect">
            <a:avLst/>
          </a:prstGeom>
        </p:spPr>
      </p:pic>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a:t>
            </a:r>
            <a:r>
              <a:rPr lang="en-US" sz="2500" b="1" u="none" cap="none" dirty="0" err="1">
                <a:solidFill>
                  <a:srgbClr val="252529"/>
                </a:solidFill>
                <a:latin typeface="Aptos"/>
                <a:ea typeface="Aptos"/>
                <a:cs typeface="Aptos"/>
              </a:rPr>
              <a:t>oscilations</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1E839C8E-BE40-063E-7661-6AADA38550E1}"/>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CACDC46-5B03-CC7E-FA93-F4744B6FDFF5}"/>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C9BC131D-D2FB-D741-D331-ED81110CD9AF}"/>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39D3539-02C4-6006-7956-CD599CA0BC1B}"/>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F6C2857C-4D39-CEAB-95BF-5566109DC79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750847A4-E047-3912-D770-1425B63DA482}"/>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a:t>
            </a:r>
            <a:endParaRPr lang="en-NL" sz="1600" b="1" dirty="0">
              <a:solidFill>
                <a:srgbClr val="C81919">
                  <a:alpha val="100000"/>
                </a:srgbClr>
              </a:solidFill>
              <a:latin typeface="Aptos"/>
            </a:endParaRPr>
          </a:p>
        </p:txBody>
      </p:sp>
      <p:pic>
        <p:nvPicPr>
          <p:cNvPr id="8" name="Original TUe logo">
            <a:extLst>
              <a:ext uri="{FF2B5EF4-FFF2-40B4-BE49-F238E27FC236}">
                <a16:creationId xmlns:a16="http://schemas.microsoft.com/office/drawing/2014/main" id="{3532277B-2F23-0968-D05E-CCA3C295582D}"/>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8416277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0E538-AB9A-55DE-F2AA-096FBEE54688}"/>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2A75B8DC-BBD4-3BC9-CE29-702DCEA4274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969BF0BA-A706-9BD9-951F-3C8C952FAE0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29A80ADD-A6A4-ADAF-E56B-FE0EE63645B3}"/>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6EC9DF87-E14A-2F72-BE4A-6FE32DF3255E}"/>
              </a:ext>
            </a:extLst>
          </p:cNvPr>
          <p:cNvSpPr txBox="1"/>
          <p:nvPr/>
        </p:nvSpPr>
        <p:spPr>
          <a:xfrm>
            <a:off x="457200" y="2002404"/>
            <a:ext cx="8229600" cy="1841500"/>
          </a:xfrm>
          <a:prstGeom prst="rect">
            <a:avLst/>
          </a:prstGeom>
          <a:noFill/>
          <a:ln>
            <a:noFill/>
          </a:ln>
        </p:spPr>
        <p:txBody>
          <a:bodyPr wrap="square" lIns="0" tIns="0" rIns="0" bIns="0" rtlCol="0" anchor="t">
            <a:noAutofit/>
          </a:bodyPr>
          <a:lstStyle/>
          <a:p>
            <a:pPr indent="0" defTabSz="1">
              <a:lnSpc>
                <a:spcPct val="113000"/>
              </a:lnSpc>
              <a:spcBef>
                <a:spcPts val="0"/>
              </a:spcBef>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800" dirty="0">
                <a:solidFill>
                  <a:srgbClr val="252529"/>
                </a:solidFill>
                <a:latin typeface="Aptos"/>
              </a:rPr>
              <a:t>Convex state feedback synthesis</a:t>
            </a:r>
            <a:endParaRPr lang="en-NL" sz="1800" dirty="0">
              <a:solidFill>
                <a:srgbClr val="252529"/>
              </a:solidFill>
              <a:latin typeface="Aptos"/>
            </a:endParaRPr>
          </a:p>
        </p:txBody>
      </p:sp>
      <p:pic>
        <p:nvPicPr>
          <p:cNvPr id="8" name="Original TUe logo">
            <a:extLst>
              <a:ext uri="{FF2B5EF4-FFF2-40B4-BE49-F238E27FC236}">
                <a16:creationId xmlns:a16="http://schemas.microsoft.com/office/drawing/2014/main" id="{06976AFE-2C4D-6CF7-7B45-E5598D2FC38F}"/>
              </a:ext>
            </a:extLst>
          </p:cNvPr>
          <p:cNvPicPr>
            <a:picLocks noChangeAspect="1"/>
          </p:cNvPicPr>
          <p:nvPr/>
        </p:nvPicPr>
        <p:blipFill>
          <a:blip r:embed="rId3"/>
          <a:stretch>
            <a:fillRect/>
          </a:stretch>
        </p:blipFill>
        <p:spPr>
          <a:xfrm>
            <a:off x="8458200" y="4813300"/>
            <a:ext cx="457200" cy="254000"/>
          </a:xfrm>
          <a:prstGeom prst="rect">
            <a:avLst/>
          </a:prstGeom>
        </p:spPr>
      </p:pic>
      <p:sp>
        <p:nvSpPr>
          <p:cNvPr id="2" name="Right Brace 1">
            <a:extLst>
              <a:ext uri="{FF2B5EF4-FFF2-40B4-BE49-F238E27FC236}">
                <a16:creationId xmlns:a16="http://schemas.microsoft.com/office/drawing/2014/main" id="{68C5DC0B-E777-5046-9842-142B316C3DE3}"/>
              </a:ext>
            </a:extLst>
          </p:cNvPr>
          <p:cNvSpPr/>
          <p:nvPr/>
        </p:nvSpPr>
        <p:spPr>
          <a:xfrm>
            <a:off x="4196079" y="2468880"/>
            <a:ext cx="460587" cy="25527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NL"/>
          </a:p>
        </p:txBody>
      </p:sp>
      <p:sp>
        <p:nvSpPr>
          <p:cNvPr id="3" name="TextBox 2">
            <a:extLst>
              <a:ext uri="{FF2B5EF4-FFF2-40B4-BE49-F238E27FC236}">
                <a16:creationId xmlns:a16="http://schemas.microsoft.com/office/drawing/2014/main" id="{D4BB2500-71D7-F457-766E-38B03B073DEB}"/>
              </a:ext>
            </a:extLst>
          </p:cNvPr>
          <p:cNvSpPr txBox="1"/>
          <p:nvPr/>
        </p:nvSpPr>
        <p:spPr>
          <a:xfrm>
            <a:off x="4893644" y="2365682"/>
            <a:ext cx="2662908" cy="461665"/>
          </a:xfrm>
          <a:prstGeom prst="rect">
            <a:avLst/>
          </a:prstGeom>
          <a:noFill/>
        </p:spPr>
        <p:txBody>
          <a:bodyPr wrap="none" rtlCol="0">
            <a:spAutoFit/>
          </a:bodyPr>
          <a:lstStyle/>
          <a:p>
            <a:r>
              <a:rPr lang="en-US" sz="2400" b="1" dirty="0">
                <a:solidFill>
                  <a:srgbClr val="C81919"/>
                </a:solidFill>
                <a:latin typeface="Aptos"/>
              </a:rPr>
              <a:t>Main contribution</a:t>
            </a:r>
            <a:endParaRPr lang="en-NL" sz="2400" b="1" dirty="0">
              <a:solidFill>
                <a:srgbClr val="C81919"/>
              </a:solidFill>
              <a:latin typeface="Aptos"/>
            </a:endParaRPr>
          </a:p>
        </p:txBody>
      </p:sp>
    </p:spTree>
    <p:extLst>
      <p:ext uri="{BB962C8B-B14F-4D97-AF65-F5344CB8AC3E}">
        <p14:creationId xmlns:p14="http://schemas.microsoft.com/office/powerpoint/2010/main" val="4244936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81BB5-7ED6-30B1-E3E5-0BAE6397327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4180B62-B314-B389-54E2-38DB2FC761F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A468E71B-610D-BA1C-0353-7E00C28B25E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86C2F95-F51D-3379-0604-32C543ED84D0}"/>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GS</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GS</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SG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SG</m:t>
                                  </m:r>
                                </m:sub>
                              </m:sSub>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𝑤</m:t>
                              </m:r>
                            </m:e>
                            <m:sub>
                              <m:r>
                                <m:rPr>
                                  <m:sty m:val="p"/>
                                </m:rPr>
                                <a:rPr lang="en-US" sz="1700" b="0" i="1" smtClean="0">
                                  <a:latin typeface="Cambria Math" panose="02040503050406030204" pitchFamily="18" charset="0"/>
                                </a:rPr>
                                <m:t>GG</m:t>
                              </m:r>
                            </m:sub>
                          </m:sSub>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GG</m:t>
                                  </m:r>
                                </m:sub>
                              </m:sSub>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chemeClr val="tx1"/>
                              </a:solidFill>
                              <a:latin typeface="Cambria Math" panose="02040503050406030204" pitchFamily="18" charset="0"/>
                            </a:rPr>
                            <m:t>𝑢</m:t>
                          </m:r>
                          <m:d>
                            <m:dPr>
                              <m:ctrlPr>
                                <a:rPr lang="en-US" sz="1700" b="0" i="1" smtClean="0">
                                  <a:solidFill>
                                    <a:schemeClr val="tx1"/>
                                  </a:solidFill>
                                  <a:latin typeface="Cambria Math" panose="02040503050406030204" pitchFamily="18" charset="0"/>
                                </a:rPr>
                              </m:ctrlPr>
                            </m:dPr>
                            <m:e>
                              <m:r>
                                <a:rPr lang="en-US" sz="1700" b="0" i="1" smtClean="0">
                                  <a:solidFill>
                                    <a:schemeClr val="tx1"/>
                                  </a:solidFill>
                                  <a:latin typeface="Cambria Math" panose="02040503050406030204" pitchFamily="18" charset="0"/>
                                </a:rPr>
                                <m:t>𝑡</m:t>
                              </m:r>
                            </m:e>
                          </m:d>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xmlns:m="http://schemas.openxmlformats.org/officeDocument/2006/math">
          <p:sp>
            <p:nvSpPr>
              <p:cNvPr id="46" name="TextBox 45">
                <a:extLst>
                  <a:ext uri="{FF2B5EF4-FFF2-40B4-BE49-F238E27FC236}">
                    <a16:creationId xmlns:a16="http://schemas.microsoft.com/office/drawing/2014/main" id="{986C2F95-F51D-3379-0604-32C543ED84D0}"/>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pic>
        <p:nvPicPr>
          <p:cNvPr id="54" name="Baked figure with larger labels"/>
          <p:cNvPicPr>
            <a:picLocks noChangeAspect="1"/>
          </p:cNvPicPr>
          <p:nvPr/>
        </p:nvPicPr>
        <p:blipFill>
          <a:blip r:embed="rId4"/>
          <a:stretch>
            <a:fillRect/>
          </a:stretch>
        </p:blipFill>
        <p:spPr>
          <a:xfrm>
            <a:off x="2338388" y="452438"/>
            <a:ext cx="4795838" cy="1928812"/>
          </a:xfrm>
          <a:prstGeom prst="rect">
            <a:avLst/>
          </a:prstGeom>
        </p:spPr>
      </p:pic>
      <p:sp>
        <p:nvSpPr>
          <p:cNvPr id="68" name="TextBox 67">
            <a:extLst>
              <a:ext uri="{FF2B5EF4-FFF2-40B4-BE49-F238E27FC236}">
                <a16:creationId xmlns:a16="http://schemas.microsoft.com/office/drawing/2014/main" id="{29357B7B-159A-B941-76F1-7163EEB8E7B8}"/>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71938516-7999-D17B-19D3-561F98E24727}"/>
              </a:ext>
            </a:extLst>
          </p:cNvPr>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509134054"/>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46A1DA8-3169-D41D-49F1-F28B39BF7C9E}"/>
                  </a:ext>
                </a:extLst>
              </p:cNvPr>
              <p:cNvSpPr txBox="1"/>
              <p:nvPr/>
            </p:nvSpPr>
            <p:spPr>
              <a:xfrm>
                <a:off x="2025650" y="2260600"/>
                <a:ext cx="5080000" cy="13335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acc>
                        <m:accPr>
                          <m:chr m:val="̇"/>
                          <m:ctrlPr>
                            <a:rPr lang="en-US" sz="1600" b="0" i="1" smtClean="0">
                              <a:latin typeface="Cambria Math" panose="02040503050406030204" pitchFamily="18" charset="0"/>
                            </a:rPr>
                          </m:ctrlPr>
                        </m:accPr>
                        <m:e>
                          <m:r>
                            <a:rPr lang="en-US" sz="1600" b="0" i="1" smtClean="0">
                              <a:latin typeface="Cambria Math" panose="02040503050406030204" pitchFamily="18" charset="0"/>
                            </a:rPr>
                            <m:t>𝑇</m:t>
                          </m:r>
                        </m:e>
                      </m:acc>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r>
                        <a:rPr lang="en-US" sz="1600" b="0" i="1" smtClean="0">
                          <a:latin typeface="Cambria Math" panose="02040503050406030204" pitchFamily="18" charset="0"/>
                        </a:rPr>
                        <m:t>=</m:t>
                      </m:r>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m:t>
                          </m:r>
                          <m:r>
                            <a:rPr lang="en-US" sz="1600" b="0" i="1" smtClean="0">
                              <a:latin typeface="Cambria Math" panose="02040503050406030204" pitchFamily="18" charset="0"/>
                            </a:rPr>
                            <m:t>𝑠</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𝑇</m:t>
                      </m:r>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1</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e>
                      </m:d>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𝑇</m:t>
                          </m:r>
                        </m:e>
                        <m:sub>
                          <m:r>
                            <a:rPr lang="en-US" sz="1600" b="0" i="1" smtClean="0">
                              <a:latin typeface="Cambria Math" panose="02040503050406030204" pitchFamily="18" charset="0"/>
                            </a:rPr>
                            <m:t>𝑠</m:t>
                          </m:r>
                        </m:sub>
                      </m:sSub>
                      <m:d>
                        <m:dPr>
                          <m:ctrlPr>
                            <a:rPr lang="en-US" sz="1600" b="0" i="1" smtClean="0">
                              <a:latin typeface="Cambria Math" panose="02040503050406030204" pitchFamily="18" charset="0"/>
                            </a:rPr>
                          </m:ctrlPr>
                        </m:dPr>
                        <m:e>
                          <m:r>
                            <a:rPr lang="en-US" sz="1600" b="0" i="1" smtClean="0">
                              <a:latin typeface="Cambria Math" panose="02040503050406030204" pitchFamily="18" charset="0"/>
                            </a:rPr>
                            <m:t>𝑡</m:t>
                          </m:r>
                          <m:r>
                            <a:rPr lang="en-US" sz="1600" b="0" i="1" smtClean="0">
                              <a:latin typeface="Cambria Math" panose="02040503050406030204" pitchFamily="18" charset="0"/>
                            </a:rPr>
                            <m:t>,0</m:t>
                          </m:r>
                        </m:e>
                      </m:d>
                      <m:r>
                        <a:rPr lang="en-US" sz="1600" b="0" i="1" smtClean="0">
                          <a:latin typeface="Cambria Math" panose="02040503050406030204" pitchFamily="18" charset="0"/>
                        </a:rPr>
                        <m:t>=</m:t>
                      </m:r>
                      <m:sSub>
                        <m:sSubPr>
                          <m:ctrlPr>
                            <a:rPr lang="en-US" sz="1600" b="0" i="1" smtClean="0">
                              <a:solidFill>
                                <a:srgbClr val="FF0000"/>
                              </a:solidFill>
                              <a:latin typeface="Cambria Math" panose="02040503050406030204" pitchFamily="18" charset="0"/>
                            </a:rPr>
                          </m:ctrlPr>
                        </m:sSubPr>
                        <m:e>
                          <m:r>
                            <a:rPr lang="en-US" sz="1600" b="0" i="1" smtClean="0">
                              <a:solidFill>
                                <a:srgbClr val="FF0000"/>
                              </a:solidFill>
                              <a:latin typeface="Cambria Math" panose="02040503050406030204" pitchFamily="18" charset="0"/>
                            </a:rPr>
                            <m:t>𝑤</m:t>
                          </m:r>
                        </m:e>
                        <m:sub>
                          <m:r>
                            <a:rPr lang="en-US" sz="1600" b="0" i="1" smtClean="0">
                              <a:solidFill>
                                <a:srgbClr val="FF0000"/>
                              </a:solidFill>
                              <a:latin typeface="Cambria Math" panose="02040503050406030204" pitchFamily="18" charset="0"/>
                            </a:rPr>
                            <m:t>2</m:t>
                          </m:r>
                        </m:sub>
                      </m:sSub>
                      <m:r>
                        <a:rPr lang="en-US" sz="1600" b="0" i="1" smtClean="0">
                          <a:latin typeface="Cambria Math" panose="02040503050406030204" pitchFamily="18" charset="0"/>
                        </a:rPr>
                        <m:t>(</m:t>
                      </m:r>
                      <m:r>
                        <a:rPr lang="en-US" sz="1600" b="0" i="1" smtClean="0">
                          <a:latin typeface="Cambria Math" panose="02040503050406030204" pitchFamily="18" charset="0"/>
                        </a:rPr>
                        <m:t>𝑡</m:t>
                      </m:r>
                      <m:r>
                        <a:rPr lang="en-US" sz="1600" b="0" i="1" smtClean="0">
                          <a:latin typeface="Cambria Math" panose="02040503050406030204" pitchFamily="18" charset="0"/>
                        </a:rPr>
                        <m:t>) </m:t>
                      </m:r>
                    </m:oMath>
                  </m:oMathPara>
                </a14:m>
                <a:endParaRPr lang="en-NL" sz="1600" dirty="0"/>
              </a:p>
            </p:txBody>
          </p:sp>
        </mc:Choice>
        <mc:Fallback xmlns="">
          <p:sp>
            <p:nvSpPr>
              <p:cNvPr id="17" name="TextBox 16">
                <a:extLst>
                  <a:ext uri="{FF2B5EF4-FFF2-40B4-BE49-F238E27FC236}">
                    <a16:creationId xmlns:a16="http://schemas.microsoft.com/office/drawing/2014/main" id="{546A1DA8-3169-D41D-49F1-F28B39BF7C9E}"/>
                  </a:ext>
                </a:extLst>
              </p:cNvPr>
              <p:cNvSpPr txBox="1">
                <a:spLocks noRot="1" noChangeAspect="1" noMove="1" noResize="1" noEditPoints="1" noAdjustHandles="1" noChangeArrowheads="1" noChangeShapeType="1" noTextEdit="1"/>
              </p:cNvSpPr>
              <p:nvPr/>
            </p:nvSpPr>
            <p:spPr>
              <a:xfrm>
                <a:off x="2025650" y="2260600"/>
                <a:ext cx="5080000" cy="1333500"/>
              </a:xfrm>
              <a:prstGeom prst="rect">
                <a:avLst/>
              </a:prstGeom>
              <a:blipFill>
                <a:blip r:embed="rId3"/>
                <a:stretch>
                  <a:fillRect t="-22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21560D5-3827-94F1-89E3-71A5FECACCB6}"/>
                  </a:ext>
                </a:extLst>
              </p:cNvPr>
              <p:cNvSpPr txBox="1"/>
              <p:nvPr/>
            </p:nvSpPr>
            <p:spPr>
              <a:xfrm>
                <a:off x="5511800" y="2190750"/>
                <a:ext cx="5080000" cy="762000"/>
              </a:xfrm>
              <a:prstGeom prst="rect">
                <a:avLst/>
              </a:prstGeom>
              <a:noFill/>
              <a:ln>
                <a:noFill/>
              </a:ln>
            </p:spPr>
            <p:txBody>
              <a:bodyPr wrap="none" lIns="0" tIns="0" rIns="0" bIns="0" rtlCol="0" anchor="t">
                <a:noAutofit/>
              </a:bodyPr>
              <a:lstStyle/>
              <a:p>
                <a:pPr algn="ctr">
                  <a:spcAft>
                    <a:spcPts val="0"/>
                  </a:spcAft>
                  <a:defRPr sz="1500" b="0" u="none" cap="none">
                    <a:solidFill>
                      <a:srgbClr val="252529"/>
                    </a:solidFill>
                    <a:latin typeface="Cambria Math"/>
                    <a:ea typeface="Cambria Math"/>
                    <a:cs typeface="Cambria Math"/>
                  </a:defRPr>
                </a:pPr>
                <a14:m>
                  <m:oMathPara xmlns:m="http://schemas.openxmlformats.org/officeDocument/2006/math">
                    <m:oMath>
                      <m:eqArr>
                        <m:eqArrPr>
                          <m:ctrlPr>
                            <a:rPr lang="en-US" sz="1500" b="0" i="1" smtClean="0">
                              <a:latin typeface="Cambria Math" panose="02040503050406030204" pitchFamily="18" charset="0"/>
                            </a:rPr>
                          </m:ctrlPr>
                        </m:eqArrPr>
                        <m:e>
                          <m:acc>
                            <m:accPr>
                              <m:chr m:val="̇"/>
                              <m:ctrlPr>
                                <a:rPr lang="en-US" sz="1500" b="0" i="1" smtClean="0">
                                  <a:latin typeface="Cambria Math" panose="02040503050406030204" pitchFamily="18" charset="0"/>
                                </a:rPr>
                              </m:ctrlPr>
                            </m:accPr>
                            <m:e>
                              <m:r>
                                <a:rPr lang="en-US" sz="1500" b="0" i="1" smtClean="0">
                                  <a:latin typeface="Cambria Math" panose="02040503050406030204" pitchFamily="18" charset="0"/>
                                </a:rPr>
                                <m:t>𝑢</m:t>
                              </m:r>
                            </m:e>
                          </m:acc>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𝑠</m:t>
                              </m:r>
                            </m:e>
                          </m:d>
                          <m:r>
                            <a:rPr lang="en-US" sz="1500" b="0" i="1" smtClean="0">
                              <a:latin typeface="Cambria Math" panose="02040503050406030204" pitchFamily="18" charset="0"/>
                            </a:rPr>
                            <m:t>=</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1</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r>
                            <a:rPr lang="en-US" sz="1500" b="0" i="1" smtClean="0">
                              <a:latin typeface="Cambria Math" panose="02040503050406030204" pitchFamily="18" charset="0"/>
                            </a:rPr>
                            <m:t>𝑠</m:t>
                          </m:r>
                          <m:sSub>
                            <m:sSubPr>
                              <m:ctrlPr>
                                <a:rPr lang="en-US" sz="1500" b="0" i="1" smtClean="0">
                                  <a:solidFill>
                                    <a:srgbClr val="00B050"/>
                                  </a:solidFill>
                                  <a:latin typeface="Cambria Math" panose="02040503050406030204" pitchFamily="18" charset="0"/>
                                </a:rPr>
                              </m:ctrlPr>
                            </m:sSubPr>
                            <m:e>
                              <m:r>
                                <a:rPr lang="en-US" sz="1500" b="0" i="1" smtClean="0">
                                  <a:solidFill>
                                    <a:srgbClr val="00B050"/>
                                  </a:solidFill>
                                  <a:latin typeface="Cambria Math" panose="02040503050406030204" pitchFamily="18" charset="0"/>
                                </a:rPr>
                                <m:t>𝑤</m:t>
                              </m:r>
                            </m:e>
                            <m:sub>
                              <m:r>
                                <a:rPr lang="en-US" sz="1500" b="0" i="1" smtClean="0">
                                  <a:solidFill>
                                    <a:srgbClr val="00B050"/>
                                  </a:solidFill>
                                  <a:latin typeface="Cambria Math" panose="02040503050406030204" pitchFamily="18" charset="0"/>
                                </a:rPr>
                                <m:t>2</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e>
                          </m:d>
                        </m:e>
                        <m:e>
                          <m:r>
                            <a:rPr lang="en-US" sz="1500" b="0" i="1" smtClean="0">
                              <a:latin typeface="Cambria Math" panose="02040503050406030204" pitchFamily="18" charset="0"/>
                            </a:rPr>
                            <m:t>+</m:t>
                          </m:r>
                          <m:nary>
                            <m:naryPr>
                              <m:limLoc m:val="subSup"/>
                              <m:ctrlPr>
                                <a:rPr lang="en-US" sz="1500" b="0" i="1" smtClean="0">
                                  <a:latin typeface="Cambria Math" panose="02040503050406030204" pitchFamily="18" charset="0"/>
                                </a:rPr>
                              </m:ctrlPr>
                            </m:naryPr>
                            <m:sub>
                              <m:r>
                                <a:rPr lang="en-US" sz="1500" b="0" i="1" smtClean="0">
                                  <a:latin typeface="Cambria Math" panose="02040503050406030204" pitchFamily="18" charset="0"/>
                                </a:rPr>
                                <m:t>0</m:t>
                              </m:r>
                            </m:sub>
                            <m:sup>
                              <m:r>
                                <a:rPr lang="en-US" sz="1500" b="0" i="1" smtClean="0">
                                  <a:latin typeface="Cambria Math" panose="02040503050406030204" pitchFamily="18" charset="0"/>
                                </a:rPr>
                                <m:t>𝑠</m:t>
                              </m:r>
                            </m:sup>
                            <m:e>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𝜉</m:t>
                                  </m:r>
                                </m:e>
                              </m:d>
                            </m:e>
                          </m:nary>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𝑢</m:t>
                              </m:r>
                            </m:e>
                            <m:sub>
                              <m:r>
                                <a:rPr lang="en-US" sz="1500" b="0" i="1" smtClean="0">
                                  <a:latin typeface="Cambria Math" panose="02040503050406030204" pitchFamily="18" charset="0"/>
                                </a:rPr>
                                <m:t>𝜉𝜉</m:t>
                              </m:r>
                            </m:sub>
                          </m:sSub>
                          <m:d>
                            <m:dPr>
                              <m:ctrlPr>
                                <a:rPr lang="en-US" sz="1500" b="0" i="1" smtClean="0">
                                  <a:latin typeface="Cambria Math" panose="02040503050406030204" pitchFamily="18" charset="0"/>
                                </a:rPr>
                              </m:ctrlPr>
                            </m:dPr>
                            <m:e>
                              <m:r>
                                <a:rPr lang="en-US" sz="1500" b="0" i="1" smtClean="0">
                                  <a:latin typeface="Cambria Math" panose="02040503050406030204" pitchFamily="18" charset="0"/>
                                </a:rPr>
                                <m:t>𝑡</m:t>
                              </m:r>
                              <m:r>
                                <a:rPr lang="en-US" sz="1500" b="0" i="1" smtClean="0">
                                  <a:latin typeface="Cambria Math" panose="02040503050406030204" pitchFamily="18" charset="0"/>
                                </a:rPr>
                                <m:t>,</m:t>
                              </m:r>
                              <m:r>
                                <a:rPr lang="en-US" sz="1500" b="0" i="1" smtClean="0">
                                  <a:latin typeface="Cambria Math" panose="02040503050406030204" pitchFamily="18" charset="0"/>
                                </a:rPr>
                                <m:t>𝜉</m:t>
                              </m:r>
                            </m:e>
                          </m:d>
                          <m:r>
                            <a:rPr lang="en-US" sz="1500" b="0" i="1" smtClean="0">
                              <a:latin typeface="Cambria Math" panose="02040503050406030204" pitchFamily="18" charset="0"/>
                            </a:rPr>
                            <m:t>𝑑</m:t>
                          </m:r>
                          <m:r>
                            <a:rPr lang="en-US" sz="1500" b="0" i="1" smtClean="0">
                              <a:latin typeface="Cambria Math" panose="02040503050406030204" pitchFamily="18" charset="0"/>
                            </a:rPr>
                            <m:t>𝜉</m:t>
                          </m:r>
                        </m:e>
                      </m:eqArr>
                    </m:oMath>
                  </m:oMathPara>
                </a14:m>
                <a:endParaRPr lang="en-NL" sz="1500" dirty="0"/>
              </a:p>
            </p:txBody>
          </p:sp>
        </mc:Choice>
        <mc:Fallback xmlns="">
          <p:sp>
            <p:nvSpPr>
              <p:cNvPr id="18" name="TextBox 17">
                <a:extLst>
                  <a:ext uri="{FF2B5EF4-FFF2-40B4-BE49-F238E27FC236}">
                    <a16:creationId xmlns:a16="http://schemas.microsoft.com/office/drawing/2014/main" id="{421560D5-3827-94F1-89E3-71A5FECACCB6}"/>
                  </a:ext>
                </a:extLst>
              </p:cNvPr>
              <p:cNvSpPr txBox="1">
                <a:spLocks noRot="1" noChangeAspect="1" noMove="1" noResize="1" noEditPoints="1" noAdjustHandles="1" noChangeArrowheads="1" noChangeShapeType="1" noTextEdit="1"/>
              </p:cNvSpPr>
              <p:nvPr/>
            </p:nvSpPr>
            <p:spPr>
              <a:xfrm>
                <a:off x="5511800" y="2190750"/>
                <a:ext cx="5080000" cy="762000"/>
              </a:xfrm>
              <a:prstGeom prst="rect">
                <a:avLst/>
              </a:prstGeom>
              <a:blipFill>
                <a:blip r:embed="rId4"/>
                <a:stretch>
                  <a:fillRect b="-29600"/>
                </a:stretch>
              </a:blipFill>
              <a:ln>
                <a:noFill/>
              </a:ln>
            </p:spPr>
            <p:txBody>
              <a:bodyPr/>
              <a:lstStyle/>
              <a:p>
                <a:r>
                  <a:rPr lang="en-NL">
                    <a:noFill/>
                  </a:rPr>
                  <a:t> </a:t>
                </a:r>
              </a:p>
            </p:txBody>
          </p:sp>
        </mc:Fallback>
      </mc:AlternateContent>
      <p:pic>
        <p:nvPicPr>
          <p:cNvPr id="24" name="Original TUe logo"/>
          <p:cNvPicPr>
            <a:picLocks noChangeAspect="1"/>
          </p:cNvPicPr>
          <p:nvPr/>
        </p:nvPicPr>
        <p:blipFill>
          <a:blip r:embed="rId5"/>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6BDBA0B0-2CCF-F6A7-EE9C-B855856178BB}"/>
                  </a:ext>
                </a:extLst>
              </p:cNvPr>
              <p:cNvSpPr txBox="1"/>
              <p:nvPr/>
            </p:nvSpPr>
            <p:spPr>
              <a:xfrm>
                <a:off x="3606800" y="2514600"/>
                <a:ext cx="5080000" cy="1917700"/>
              </a:xfrm>
              <a:prstGeom prst="rect">
                <a:avLst/>
              </a:prstGeom>
              <a:noFill/>
              <a:ln>
                <a:noFill/>
              </a:ln>
            </p:spPr>
            <p:txBody>
              <a:bodyPr wrap="none" lIns="0" tIns="0" rIns="0" bIns="0" rtlCol="0" anchor="t">
                <a:noAutofit/>
              </a:bodyPr>
              <a:lstStyle/>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sSub>
                        <m:sSubPr>
                          <m:ctrlPr>
                            <a:rPr lang="en-US" sz="2100" b="0" i="1" smtClean="0">
                              <a:latin typeface="Cambria Math" panose="02040503050406030204" pitchFamily="18" charset="0"/>
                            </a:rPr>
                          </m:ctrlPr>
                        </m:sSubPr>
                        <m:e>
                          <m:acc>
                            <m:accPr>
                              <m:chr m:val="̇"/>
                              <m:ctrlPr>
                                <a:rPr lang="en-US" sz="2100" b="0" i="1" smtClean="0">
                                  <a:latin typeface="Cambria Math" panose="02040503050406030204" pitchFamily="18" charset="0"/>
                                </a:rPr>
                              </m:ctrlPr>
                            </m:accPr>
                            <m:e>
                              <m:r>
                                <a:rPr lang="en-US" sz="2100" b="0" i="1" smtClean="0">
                                  <a:latin typeface="Cambria Math" panose="02040503050406030204" pitchFamily="18" charset="0"/>
                                </a:rPr>
                                <m:t>𝐱</m:t>
                              </m:r>
                            </m:e>
                          </m:acc>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ℬ</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i="1" dirty="0">
                  <a:latin typeface="Cambria Math" panose="02040503050406030204" pitchFamily="18" charset="0"/>
                </a:endParaRPr>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latin typeface="Cambria Math" panose="02040503050406030204" pitchFamily="18" charset="0"/>
                        </a:rPr>
                        <m:t>𝑧</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𝒞</m:t>
                      </m:r>
                      <m:sSub>
                        <m:sSubPr>
                          <m:ctrlPr>
                            <a:rPr lang="en-US" sz="2100" b="0" i="1" smtClean="0">
                              <a:latin typeface="Cambria Math" panose="02040503050406030204" pitchFamily="18" charset="0"/>
                            </a:rPr>
                          </m:ctrlPr>
                        </m:sSubPr>
                        <m:e>
                          <m:r>
                            <a:rPr lang="en-US" sz="2100" b="0" i="1" smtClean="0">
                              <a:latin typeface="Cambria Math" panose="02040503050406030204" pitchFamily="18" charset="0"/>
                            </a:rPr>
                            <m:t>𝐱</m:t>
                          </m:r>
                        </m:e>
                        <m:sub>
                          <m:r>
                            <a:rPr lang="en-US" sz="2100" b="0" i="1" smtClean="0">
                              <a:latin typeface="Cambria Math" panose="02040503050406030204" pitchFamily="18" charset="0"/>
                            </a:rPr>
                            <m:t>𝑓</m:t>
                          </m:r>
                        </m:sub>
                      </m:sSub>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𝒟</m:t>
                      </m:r>
                      <m:r>
                        <a:rPr lang="en-US" sz="2100" b="0" i="1" smtClean="0">
                          <a:latin typeface="Cambria Math" panose="02040503050406030204" pitchFamily="18" charset="0"/>
                        </a:rPr>
                        <m:t>𝑤</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𝑡</m:t>
                          </m:r>
                        </m:e>
                      </m:d>
                    </m:oMath>
                  </m:oMathPara>
                </a14:m>
                <a:endParaRPr lang="en-US" sz="2100" b="0" dirty="0"/>
              </a:p>
              <a:p>
                <a:pPr algn="ctr">
                  <a:spcAft>
                    <a:spcPts val="0"/>
                  </a:spcAft>
                  <a:defRPr sz="2100" b="0" u="none" cap="none">
                    <a:solidFill>
                      <a:srgbClr val="252529"/>
                    </a:solidFill>
                    <a:latin typeface="Cambria Math"/>
                    <a:ea typeface="Cambria Math"/>
                    <a:cs typeface="Cambria Math"/>
                  </a:defRPr>
                </a:pPr>
                <a14:m>
                  <m:oMathPara xmlns:m="http://schemas.openxmlformats.org/officeDocument/2006/math">
                    <m:oMath>
                      <m:r>
                        <a:rPr lang="en-US" sz="2100" b="0" i="1" smtClean="0">
                          <a:solidFill>
                            <a:srgbClr val="00B050"/>
                          </a:solidFill>
                          <a:latin typeface="Cambria Math" panose="02040503050406030204" pitchFamily="18" charset="0"/>
                        </a:rPr>
                        <m:t>𝒯</m:t>
                      </m:r>
                      <m:r>
                        <a:rPr lang="en-US" sz="2100" b="0" i="1" smtClean="0">
                          <a:latin typeface="Cambria Math" panose="02040503050406030204" pitchFamily="18" charset="0"/>
                        </a:rPr>
                        <m:t>,</m:t>
                      </m:r>
                      <m:r>
                        <a:rPr lang="en-US" sz="2100" b="0" i="1" smtClean="0">
                          <a:solidFill>
                            <a:srgbClr val="00B050"/>
                          </a:solidFill>
                          <a:latin typeface="Cambria Math" panose="02040503050406030204" pitchFamily="18" charset="0"/>
                        </a:rPr>
                        <m:t>𝒜</m:t>
                      </m:r>
                      <m:r>
                        <a:rPr lang="en-US" sz="2100" b="0" i="1" smtClean="0">
                          <a:latin typeface="Cambria Math" panose="02040503050406030204" pitchFamily="18" charset="0"/>
                        </a:rPr>
                        <m:t>,....∈</m:t>
                      </m:r>
                      <m:sSub>
                        <m:sSubPr>
                          <m:ctrlPr>
                            <a:rPr lang="en-US" sz="2100" b="0" i="1" smtClean="0">
                              <a:latin typeface="Cambria Math" panose="02040503050406030204" pitchFamily="18" charset="0"/>
                            </a:rPr>
                          </m:ctrlPr>
                        </m:sSubPr>
                        <m:e>
                          <m:r>
                            <m:rPr>
                              <m:sty m:val="p"/>
                            </m:rPr>
                            <a:rPr lang="en-US" sz="2100" b="0" i="1" smtClean="0">
                              <a:latin typeface="Cambria Math" panose="02040503050406030204" pitchFamily="18" charset="0"/>
                            </a:rPr>
                            <m:t>Π</m:t>
                          </m:r>
                        </m:e>
                        <m:sub>
                          <m:r>
                            <a:rPr lang="en-US" sz="2100" b="0" i="1" smtClean="0">
                              <a:latin typeface="Cambria Math" panose="02040503050406030204" pitchFamily="18" charset="0"/>
                            </a:rPr>
                            <m:t>4</m:t>
                          </m:r>
                        </m:sub>
                      </m:sSub>
                    </m:oMath>
                  </m:oMathPara>
                </a14:m>
                <a:endParaRPr lang="en-US" sz="2100" b="0" dirty="0"/>
              </a:p>
              <a:p>
                <a:pPr algn="ctr">
                  <a:spcAft>
                    <a:spcPts val="0"/>
                  </a:spcAft>
                  <a:defRPr sz="2100" b="0" u="none" cap="none">
                    <a:solidFill>
                      <a:srgbClr val="252529"/>
                    </a:solidFill>
                    <a:latin typeface="Cambria Math"/>
                    <a:ea typeface="Cambria Math"/>
                    <a:cs typeface="Cambria Math"/>
                  </a:defRPr>
                </a:pPr>
                <a:endParaRPr lang="en-NL" sz="2100" dirty="0"/>
              </a:p>
            </p:txBody>
          </p:sp>
        </mc:Choice>
        <mc:Fallback xmlns="">
          <p:sp>
            <p:nvSpPr>
              <p:cNvPr id="21" name="TextBox 20">
                <a:extLst>
                  <a:ext uri="{FF2B5EF4-FFF2-40B4-BE49-F238E27FC236}">
                    <a16:creationId xmlns:a16="http://schemas.microsoft.com/office/drawing/2014/main" id="{6BDBA0B0-2CCF-F6A7-EE9C-B855856178BB}"/>
                  </a:ext>
                </a:extLst>
              </p:cNvPr>
              <p:cNvSpPr txBox="1">
                <a:spLocks noRot="1" noChangeAspect="1" noMove="1" noResize="1" noEditPoints="1" noAdjustHandles="1" noChangeArrowheads="1" noChangeShapeType="1" noTextEdit="1"/>
              </p:cNvSpPr>
              <p:nvPr/>
            </p:nvSpPr>
            <p:spPr>
              <a:xfrm>
                <a:off x="3606800" y="2514600"/>
                <a:ext cx="5080000" cy="1917700"/>
              </a:xfrm>
              <a:prstGeom prst="rect">
                <a:avLst/>
              </a:prstGeom>
              <a:noFill/>
              <a:ln>
                <a:noFill/>
              </a:ln>
            </p:spPr>
            <p:txBody>
              <a:bodyPr lIns="0" rIns="0" tIns="0" bIns="0" anchor="t" wrap="none">
                <a:noAutofit/>
              </a:bodyPr>
              <a:lstStyle/>
              <a:p>
                <a:pPr algn="ctr">
                  <a:spcAft>
                    <a:spcPts val="0"/>
                  </a:spcAft>
                  <a:defRPr sz="2100" b="0" u="none" cap="none">
                    <a:solidFill>
                      <a:srgbClr val="252529"/>
                    </a:solidFill>
                    <a:latin typeface="Cambria Math"/>
                    <a:ea typeface="Cambria Math"/>
                    <a:cs typeface="Cambria Math"/>
                  </a:defRPr>
                </a:pPr>
                <a:r>
                  <a:rPr lang="en-NL" sz="21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4C8FEF0-3513-3273-4C7C-0A2C5EB2DD6A}"/>
                  </a:ext>
                </a:extLst>
              </p:cNvPr>
              <p:cNvSpPr txBox="1"/>
              <p:nvPr/>
            </p:nvSpPr>
            <p:spPr>
              <a:xfrm>
                <a:off x="3606800" y="2971800"/>
                <a:ext cx="5080000" cy="1143000"/>
              </a:xfrm>
              <a:prstGeom prst="rect">
                <a:avLst/>
              </a:prstGeom>
              <a:noFill/>
              <a:ln>
                <a:noFill/>
              </a:ln>
            </p:spPr>
            <p:txBody>
              <a:bodyPr wrap="none" lIns="0" tIns="0" rIns="0" bIns="0" rtlCol="0" anchor="t">
                <a:noAutofit/>
              </a:bodyPr>
              <a:lstStyle/>
              <a:p>
                <a:pPr algn="ctr">
                  <a:spcAft>
                    <a:spcPts val="0"/>
                  </a:spcAft>
                  <a:defRPr sz="1300" b="0" u="none" cap="none">
                    <a:solidFill>
                      <a:srgbClr val="252529"/>
                    </a:solidFill>
                    <a:latin typeface="Cambria Math"/>
                    <a:ea typeface="Cambria Math"/>
                    <a:cs typeface="Cambria Math"/>
                  </a:defRPr>
                </a:pPr>
                <a14:m>
                  <m:oMathPara xmlns:m="http://schemas.openxmlformats.org/officeDocument/2006/math">
                    <m:oMath>
                      <m:r>
                        <a:rPr lang="en-US" sz="1300" b="0" i="1" smtClean="0">
                          <a:latin typeface="Cambria Math" panose="02040503050406030204" pitchFamily="18" charset="0"/>
                        </a:rPr>
                        <m:t>𝒜</m:t>
                      </m:r>
                      <m:r>
                        <a:rPr lang="en-US" sz="1300" b="0" i="1" smtClean="0">
                          <a:latin typeface="Cambria Math" panose="02040503050406030204" pitchFamily="18" charset="0"/>
                        </a:rPr>
                        <m:t>+</m:t>
                      </m:r>
                      <m:r>
                        <a:rPr lang="en-US" sz="1300" b="0" i="1" smtClean="0">
                          <a:latin typeface="Cambria Math" panose="02040503050406030204" pitchFamily="18" charset="0"/>
                        </a:rPr>
                        <m:t>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r>
                        <a:rPr lang="en-US" sz="1300" b="0" i="1" smtClean="0">
                          <a:latin typeface="Cambria Math" panose="02040503050406030204" pitchFamily="18" charset="0"/>
                        </a:rPr>
                        <m:t>𝒜ℬ</m:t>
                      </m:r>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sSup>
                        <m:sSupPr>
                          <m:ctrlPr>
                            <a:rPr lang="en-US" sz="1300" b="0" i="1" smtClean="0">
                              <a:latin typeface="Cambria Math" panose="02040503050406030204" pitchFamily="18" charset="0"/>
                            </a:rPr>
                          </m:ctrlPr>
                        </m:sSupPr>
                        <m:e>
                          <m:r>
                            <a:rPr lang="en-US" sz="1300" b="0" i="1" smtClean="0">
                              <a:latin typeface="Cambria Math" panose="02040503050406030204" pitchFamily="18" charset="0"/>
                            </a:rPr>
                            <m:t>𝒜</m:t>
                          </m:r>
                        </m:e>
                        <m:sup>
                          <m:r>
                            <a:rPr lang="en-US" sz="1300" b="0" i="1" smtClean="0">
                              <a:latin typeface="Cambria Math" panose="02040503050406030204" pitchFamily="18" charset="0"/>
                            </a:rPr>
                            <m:t>∗</m:t>
                          </m:r>
                        </m:sup>
                      </m:sSup>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r>
                        <a:rPr lang="en-US" sz="1300" b="0" i="1" smtClean="0">
                          <a:latin typeface="Cambria Math" panose="02040503050406030204" pitchFamily="18" charset="0"/>
                        </a:rPr>
                        <m:t>, </m:t>
                      </m:r>
                      <m:d>
                        <m:dPr>
                          <m:begChr m:val="["/>
                          <m:endChr m:val="]"/>
                          <m:ctrlPr>
                            <a:rPr lang="en-US" sz="1300" b="0" i="1" smtClean="0">
                              <a:latin typeface="Cambria Math" panose="02040503050406030204" pitchFamily="18" charset="0"/>
                            </a:rPr>
                          </m:ctrlPr>
                        </m:dPr>
                        <m:e>
                          <m:m>
                            <m:mPr>
                              <m:mcs>
                                <m:mc>
                                  <m:mcPr>
                                    <m:count m:val="2"/>
                                    <m:mcJc m:val="center"/>
                                  </m:mcPr>
                                </m:mc>
                              </m:mcs>
                              <m:ctrlPr>
                                <a:rPr lang="en-US" sz="1300" b="0" i="1" smtClean="0">
                                  <a:latin typeface="Cambria Math" panose="02040503050406030204" pitchFamily="18" charset="0"/>
                                </a:rPr>
                              </m:ctrlPr>
                            </m:mPr>
                            <m:mr>
                              <m:e>
                                <m:r>
                                  <a:rPr lang="en-US" sz="1300" b="0" i="1" smtClean="0">
                                    <a:latin typeface="Cambria Math" panose="02040503050406030204" pitchFamily="18" charset="0"/>
                                  </a:rPr>
                                  <m:t>𝒜</m:t>
                                </m:r>
                              </m:e>
                              <m:e>
                                <m:r>
                                  <a:rPr lang="en-US" sz="1300" b="0" i="1" smtClean="0">
                                    <a:latin typeface="Cambria Math" panose="02040503050406030204" pitchFamily="18" charset="0"/>
                                  </a:rPr>
                                  <m:t>ℬ</m:t>
                                </m:r>
                              </m:e>
                            </m:mr>
                          </m:m>
                        </m:e>
                      </m:d>
                      <m:r>
                        <a:rPr lang="en-US" sz="1300" b="0" i="1" smtClean="0">
                          <a:latin typeface="Cambria Math" panose="02040503050406030204" pitchFamily="18" charset="0"/>
                        </a:rPr>
                        <m:t>∈</m:t>
                      </m:r>
                      <m:sSub>
                        <m:sSubPr>
                          <m:ctrlPr>
                            <a:rPr lang="en-US" sz="1300" b="0" i="1" smtClean="0">
                              <a:latin typeface="Cambria Math" panose="02040503050406030204" pitchFamily="18" charset="0"/>
                            </a:rPr>
                          </m:ctrlPr>
                        </m:sSubPr>
                        <m:e>
                          <m:r>
                            <m:rPr>
                              <m:sty m:val="p"/>
                            </m:rPr>
                            <a:rPr lang="en-US" sz="1300" b="0" i="1" smtClean="0">
                              <a:latin typeface="Cambria Math" panose="02040503050406030204" pitchFamily="18" charset="0"/>
                            </a:rPr>
                            <m:t>Π</m:t>
                          </m:r>
                        </m:e>
                        <m:sub>
                          <m:r>
                            <a:rPr lang="en-US" sz="1300" b="0" i="1" smtClean="0">
                              <a:latin typeface="Cambria Math" panose="02040503050406030204" pitchFamily="18" charset="0"/>
                            </a:rPr>
                            <m:t>4</m:t>
                          </m:r>
                        </m:sub>
                      </m:sSub>
                    </m:oMath>
                  </m:oMathPara>
                </a14:m>
                <a:endParaRPr lang="en-US" sz="1300" b="0" dirty="0"/>
              </a:p>
              <a:p>
                <a:pPr algn="ctr">
                  <a:spcAft>
                    <a:spcPts val="0"/>
                  </a:spcAft>
                  <a:defRPr sz="1300" b="0" u="none" cap="none">
                    <a:solidFill>
                      <a:srgbClr val="252529"/>
                    </a:solidFill>
                    <a:latin typeface="Cambria Math"/>
                    <a:ea typeface="Cambria Math"/>
                    <a:cs typeface="Cambria Math"/>
                  </a:defRPr>
                </a:pPr>
                <a:endParaRPr lang="en-NL" sz="1300" dirty="0"/>
              </a:p>
            </p:txBody>
          </p:sp>
        </mc:Choice>
        <mc:Fallback xmlns="">
          <p:sp>
            <p:nvSpPr>
              <p:cNvPr id="22" name="TextBox 21">
                <a:extLst>
                  <a:ext uri="{FF2B5EF4-FFF2-40B4-BE49-F238E27FC236}">
                    <a16:creationId xmlns:a16="http://schemas.microsoft.com/office/drawing/2014/main" id="{34C8FEF0-3513-3273-4C7C-0A2C5EB2DD6A}"/>
                  </a:ext>
                </a:extLst>
              </p:cNvPr>
              <p:cNvSpPr txBox="1">
                <a:spLocks noRot="1" noChangeAspect="1" noMove="1" noResize="1" noEditPoints="1" noAdjustHandles="1" noChangeArrowheads="1" noChangeShapeType="1" noTextEdit="1"/>
              </p:cNvSpPr>
              <p:nvPr/>
            </p:nvSpPr>
            <p:spPr>
              <a:xfrm>
                <a:off x="3606800" y="2971800"/>
                <a:ext cx="5080000" cy="1143000"/>
              </a:xfrm>
              <a:prstGeom prst="rect">
                <a:avLst/>
              </a:prstGeom>
              <a:noFill/>
              <a:ln>
                <a:noFill/>
              </a:ln>
            </p:spPr>
            <p:txBody>
              <a:bodyPr lIns="0" rIns="0" tIns="0" bIns="0" anchor="t" wrap="none">
                <a:noAutofit/>
              </a:bodyPr>
              <a:lstStyle/>
              <a:p>
                <a:pPr algn="ctr">
                  <a:spcAft>
                    <a:spcPts val="0"/>
                  </a:spcAft>
                  <a:defRPr sz="1300" b="0" u="none" cap="none">
                    <a:solidFill>
                      <a:srgbClr val="252529"/>
                    </a:solidFill>
                    <a:latin typeface="Cambria Math"/>
                    <a:ea typeface="Cambria Math"/>
                    <a:cs typeface="Cambria Math"/>
                  </a:defRPr>
                </a:pPr>
                <a:r>
                  <a:rPr lang="en-NL" sz="13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31CC601C-00A2-097D-0D27-A19317961092}"/>
                  </a:ext>
                </a:extLst>
              </p:cNvPr>
              <p:cNvSpPr txBox="1"/>
              <p:nvPr/>
            </p:nvSpPr>
            <p:spPr>
              <a:xfrm>
                <a:off x="3606800" y="2667000"/>
                <a:ext cx="5080000" cy="1422400"/>
              </a:xfrm>
              <a:prstGeom prst="rect">
                <a:avLst/>
              </a:prstGeom>
              <a:noFill/>
              <a:ln>
                <a:noFill/>
              </a:ln>
            </p:spPr>
            <p:txBody>
              <a:bodyPr wrap="none" lIns="0" tIns="0" rIns="0" bIns="0" rtlCol="0" anchor="t">
                <a:noAutofit/>
              </a:bodyPr>
              <a:lstStyle/>
              <a:p>
                <a:pPr algn="ctr">
                  <a:spcAft>
                    <a:spcPts val="0"/>
                  </a:spcAft>
                  <a:defRPr sz="1600" b="0" u="none" cap="none">
                    <a:solidFill>
                      <a:srgbClr val="252529"/>
                    </a:solidFill>
                    <a:latin typeface="Cambria Math"/>
                    <a:ea typeface="Cambria Math"/>
                    <a:cs typeface="Cambria Math"/>
                  </a:defRPr>
                </a:pPr>
                <a:r>
                  <a:rPr lang="en-US" sz="1600" b="0" i="1" dirty="0"/>
                  <a:t>Exponential stability  of PDE</a:t>
                </a: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m:t>
                      </m:r>
                      <m:r>
                        <a:rPr lang="en-US" sz="1600" b="0" i="1" smtClean="0">
                          <a:latin typeface="Cambria Math" panose="02040503050406030204" pitchFamily="18" charset="0"/>
                        </a:rPr>
                        <m:t>𝒫</m:t>
                      </m:r>
                      <m:r>
                        <a:rPr lang="en-US" sz="1600" b="0" i="1" smtClean="0">
                          <a:latin typeface="Cambria Math" panose="02040503050406030204" pitchFamily="18" charset="0"/>
                        </a:rPr>
                        <m:t>≻0, </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𝒫𝒜</m:t>
                      </m:r>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𝒜</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r>
                        <a:rPr lang="en-US" sz="1600" b="0" i="1" smtClean="0">
                          <a:latin typeface="Cambria Math" panose="02040503050406030204" pitchFamily="18" charset="0"/>
                        </a:rPr>
                        <m:t>⪯−</m:t>
                      </m:r>
                      <m:r>
                        <a:rPr lang="en-US" sz="1600" b="0" i="1" smtClean="0">
                          <a:latin typeface="Cambria Math" panose="02040503050406030204" pitchFamily="18" charset="0"/>
                        </a:rPr>
                        <m:t>𝛼</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𝒯</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𝒫𝒯</m:t>
                      </m:r>
                    </m:oMath>
                  </m:oMathPara>
                </a14:m>
                <a:endParaRPr lang="en-US" sz="1600" b="0" i="1" dirty="0">
                  <a:latin typeface="Cambria Math" panose="02040503050406030204" pitchFamily="18" charset="0"/>
                </a:endParaRPr>
              </a:p>
              <a:p>
                <a:pPr algn="ctr">
                  <a:spcAft>
                    <a:spcPts val="0"/>
                  </a:spcAft>
                  <a:defRPr sz="1600" b="0" u="none" cap="none">
                    <a:solidFill>
                      <a:srgbClr val="252529"/>
                    </a:solidFill>
                    <a:latin typeface="Cambria Math"/>
                    <a:ea typeface="Cambria Math"/>
                    <a:cs typeface="Cambria Math"/>
                  </a:defRPr>
                </a:pPr>
                <a14:m>
                  <m:oMathPara xmlns:m="http://schemas.openxmlformats.org/officeDocument/2006/math">
                    <m:oMath>
                      <m:r>
                        <a:rPr lang="en-US" sz="1600" b="0" i="1" smtClean="0">
                          <a:latin typeface="Cambria Math" panose="02040503050406030204" pitchFamily="18" charset="0"/>
                        </a:rPr>
                        <m:t>  </m:t>
                      </m:r>
                    </m:oMath>
                  </m:oMathPara>
                </a14:m>
                <a:endParaRPr lang="en-NL" sz="1600" dirty="0"/>
              </a:p>
            </p:txBody>
          </p:sp>
        </mc:Choice>
        <mc:Fallback xmlns="">
          <p:sp>
            <p:nvSpPr>
              <p:cNvPr id="23" name="TextBox 22">
                <a:extLst>
                  <a:ext uri="{FF2B5EF4-FFF2-40B4-BE49-F238E27FC236}">
                    <a16:creationId xmlns:a16="http://schemas.microsoft.com/office/drawing/2014/main" id="{31CC601C-00A2-097D-0D27-A19317961092}"/>
                  </a:ext>
                </a:extLst>
              </p:cNvPr>
              <p:cNvSpPr txBox="1">
                <a:spLocks noRot="1" noChangeAspect="1" noMove="1" noResize="1" noEditPoints="1" noAdjustHandles="1" noChangeArrowheads="1" noChangeShapeType="1" noTextEdit="1"/>
              </p:cNvSpPr>
              <p:nvPr/>
            </p:nvSpPr>
            <p:spPr>
              <a:xfrm>
                <a:off x="3606800" y="2667000"/>
                <a:ext cx="5080000" cy="1422400"/>
              </a:xfrm>
              <a:prstGeom prst="rect">
                <a:avLst/>
              </a:prstGeom>
              <a:noFill/>
              <a:ln>
                <a:noFill/>
              </a:ln>
            </p:spPr>
            <p:txBody>
              <a:bodyPr lIns="0" rIns="0" tIns="0" bIns="0" anchor="t" wrap="none">
                <a:noAutofit/>
              </a:bodyPr>
              <a:lstStyle/>
              <a:p>
                <a:pPr algn="ctr">
                  <a:spcAft>
                    <a:spcPts val="0"/>
                  </a:spcAft>
                  <a:defRPr sz="1600" b="0" u="none" cap="none">
                    <a:solidFill>
                      <a:srgbClr val="252529"/>
                    </a:solidFill>
                    <a:latin typeface="Cambria Math"/>
                    <a:ea typeface="Cambria Math"/>
                    <a:cs typeface="Cambria Math"/>
                  </a:defRPr>
                </a:pPr>
                <a:r>
                  <a:rPr lang="en-NL" sz="1600">
                    <a:noFill/>
                  </a:rPr>
                  <a:t> </a:t>
                </a:r>
              </a:p>
            </p:txBody>
          </p:sp>
        </mc:Fallback>
      </mc:AlternateContent>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Built in boundary conditions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Controller synthesis for linear systems…..</a:t>
            </a:r>
            <a:endParaRPr lang="en-NL" sz="1600" b="1" u="none" cap="none" dirty="0">
              <a:solidFill>
                <a:srgbClr val="C81919">
                  <a:alpha val="10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1" name="Rectangle: Rounded Corners 10">
            <a:extLst>
              <a:ext uri="{FF2B5EF4-FFF2-40B4-BE49-F238E27FC236}">
                <a16:creationId xmlns:a16="http://schemas.microsoft.com/office/drawing/2014/main" id="{2FD39B4D-3750-F107-E2F0-C1D73584016C}"/>
              </a:ext>
            </a:extLst>
          </p:cNvPr>
          <p:cNvSpPr/>
          <p:nvPr/>
        </p:nvSpPr>
        <p:spPr>
          <a:xfrm>
            <a:off x="37973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ODE-PDE</a:t>
            </a:r>
            <a:endParaRPr lang="en-NL" sz="2000" b="1" u="none" cap="none" dirty="0">
              <a:solidFill>
                <a:srgbClr val="252529"/>
              </a:solidFill>
              <a:latin typeface="Aptos"/>
              <a:ea typeface="Aptos"/>
              <a:cs typeface="Aptos"/>
            </a:endParaRPr>
          </a:p>
        </p:txBody>
      </p:sp>
      <p:sp>
        <p:nvSpPr>
          <p:cNvPr id="13" name="Rectangle: Rounded Corners 12">
            <a:extLst>
              <a:ext uri="{FF2B5EF4-FFF2-40B4-BE49-F238E27FC236}">
                <a16:creationId xmlns:a16="http://schemas.microsoft.com/office/drawing/2014/main" id="{0FD93FA5-B40C-EAB5-84D9-D4D25E85821B}"/>
              </a:ext>
            </a:extLst>
          </p:cNvPr>
          <p:cNvSpPr/>
          <p:nvPr/>
        </p:nvSpPr>
        <p:spPr>
          <a:xfrm>
            <a:off x="7150100" y="1193800"/>
            <a:ext cx="1536700" cy="584200"/>
          </a:xfrm>
          <a:prstGeom prst="roundRect">
            <a:avLst/>
          </a:prstGeom>
          <a:solidFill>
            <a:srgbClr val="F2F3F5"/>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noAutofit/>
          </a:bodyPr>
          <a:lstStyle/>
          <a:p>
            <a:pPr marL="0" indent="0" algn="ctr">
              <a:spcAft>
                <a:spcPts val="0"/>
              </a:spcAft>
              <a:buNone/>
              <a:defRPr sz="2000" b="1" u="none" cap="none">
                <a:solidFill>
                  <a:srgbClr val="252529"/>
                </a:solidFill>
                <a:latin typeface="Aptos"/>
                <a:ea typeface="Aptos"/>
                <a:cs typeface="Aptos"/>
              </a:defRPr>
            </a:pPr>
            <a:r>
              <a:rPr lang="en-US" sz="2000" b="1" u="none" cap="none" dirty="0">
                <a:solidFill>
                  <a:srgbClr val="252529"/>
                </a:solidFill>
                <a:latin typeface="Aptos"/>
                <a:ea typeface="Aptos"/>
                <a:cs typeface="Aptos"/>
              </a:rPr>
              <a:t>PIE</a:t>
            </a:r>
            <a:endParaRPr lang="en-NL" sz="2000" b="1" u="none" cap="none" dirty="0">
              <a:solidFill>
                <a:srgbClr val="252529"/>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8415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6" name="TextBox 5">
            <a:extLst>
              <a:ext uri="{FF2B5EF4-FFF2-40B4-BE49-F238E27FC236}">
                <a16:creationId xmlns:a16="http://schemas.microsoft.com/office/drawing/2014/main" id="{B97EE0E7-879C-FD55-BE25-E673438E10EB}"/>
              </a:ext>
            </a:extLst>
          </p:cNvPr>
          <p:cNvSpPr txBox="1"/>
          <p:nvPr/>
        </p:nvSpPr>
        <p:spPr>
          <a:xfrm>
            <a:off x="5924550" y="3771900"/>
            <a:ext cx="1777859" cy="300082"/>
          </a:xfrm>
          <a:prstGeom prst="rect">
            <a:avLst/>
          </a:prstGeom>
          <a:noFill/>
        </p:spPr>
        <p:txBody>
          <a:bodyPr wrap="none" rtlCol="0">
            <a:spAutoFit/>
          </a:bodyPr>
          <a:lstStyle/>
          <a:p>
            <a:r>
              <a:rPr lang="en-US" dirty="0"/>
              <a:t>Cite </a:t>
            </a:r>
            <a:r>
              <a:rPr lang="en-US" dirty="0" err="1"/>
              <a:t>gpde</a:t>
            </a:r>
            <a:r>
              <a:rPr lang="en-US" dirty="0"/>
              <a:t> application</a:t>
            </a:r>
            <a:endParaRPr lang="en-NL" dirty="0"/>
          </a:p>
        </p:txBody>
      </p:sp>
    </p:spTree>
    <p:extLst>
      <p:ext uri="{BB962C8B-B14F-4D97-AF65-F5344CB8AC3E}">
        <p14:creationId xmlns:p14="http://schemas.microsoft.com/office/powerpoint/2010/main" val="35917342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95817-C042-A17D-1C34-BE36E34B465E}"/>
              </a:ext>
            </a:extLst>
          </p:cNvPr>
          <p:cNvSpPr>
            <a:spLocks noGrp="1"/>
          </p:cNvSpPr>
          <p:nvPr>
            <p:ph type="title"/>
          </p:nvPr>
        </p:nvSpPr>
        <p:spPr/>
        <p:txBody>
          <a:bodyPr/>
          <a:lstStyle/>
          <a:p>
            <a:r>
              <a:rPr lang="en-US" dirty="0"/>
              <a:t>Robust Stability and Performance</a:t>
            </a:r>
            <a:endParaRPr lang="en-NL" dirty="0"/>
          </a:p>
        </p:txBody>
      </p:sp>
      <p:sp>
        <p:nvSpPr>
          <p:cNvPr id="3" name="Footer Placeholder 2">
            <a:extLst>
              <a:ext uri="{FF2B5EF4-FFF2-40B4-BE49-F238E27FC236}">
                <a16:creationId xmlns:a16="http://schemas.microsoft.com/office/drawing/2014/main" id="{7EFF1BEA-6649-8375-EEE5-9935B7405C4B}"/>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C45A81B-FED1-F277-D144-172F69BA8D56}"/>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spTree>
    <p:extLst>
      <p:ext uri="{BB962C8B-B14F-4D97-AF65-F5344CB8AC3E}">
        <p14:creationId xmlns:p14="http://schemas.microsoft.com/office/powerpoint/2010/main" val="25523275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574737-65B2-D0C1-0F73-A7C115D3C2D9}"/>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ED90BED-AACA-2CD0-24EB-B4CC36493971}"/>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DB80C30F-E305-D5EF-C067-256425A8B7DD}"/>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08E24ED1-6FAA-D06B-E4C9-9B9BF7FBAA0B}"/>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733675"/>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384E03A9-D7D1-A2D3-B803-8270DD6E9733}"/>
                  </a:ext>
                </a:extLst>
              </p:cNvPr>
              <p:cNvSpPr txBox="1">
                <a:spLocks/>
              </p:cNvSpPr>
              <p:nvPr/>
            </p:nvSpPr>
            <p:spPr>
              <a:xfrm>
                <a:off x="6033244" y="122827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C81919">
                        <a:alpha val="100000"/>
                      </a:srgbClr>
                    </a:solidFill>
                  </a:rPr>
                  <a:t>Replace </a:t>
                </a:r>
                <a14:m>
                  <m:oMath xmlns:m="http://schemas.openxmlformats.org/officeDocument/2006/math">
                    <m:r>
                      <a:rPr lang="en-US" sz="1600" b="1" kern="0">
                        <a:solidFill>
                          <a:srgbClr val="C81919">
                            <a:alpha val="100000"/>
                          </a:srgbClr>
                        </a:solidFill>
                        <a:latin typeface="Cambria Math" panose="02040503050406030204" pitchFamily="18" charset="0"/>
                      </a:rPr>
                      <m:t>∆</m:t>
                    </m:r>
                  </m:oMath>
                </a14:m>
                <a:r>
                  <a:rPr lang="en-US" sz="1600" b="1" kern="0" dirty="0">
                    <a:solidFill>
                      <a:srgbClr val="C81919">
                        <a:alpha val="10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384E03A9-D7D1-A2D3-B803-8270DD6E9733}"/>
                  </a:ext>
                </a:extLst>
              </p:cNvPr>
              <p:cNvSpPr txBox="1">
                <a:spLocks noRot="1" noChangeAspect="1" noMove="1" noResize="1" noEditPoints="1" noAdjustHandles="1" noChangeArrowheads="1" noChangeShapeType="1" noTextEdit="1"/>
              </p:cNvSpPr>
              <p:nvPr/>
            </p:nvSpPr>
            <p:spPr>
              <a:xfrm>
                <a:off x="6033244" y="1228278"/>
                <a:ext cx="2844800" cy="3327400"/>
              </a:xfrm>
              <a:prstGeom prst="rect">
                <a:avLst/>
              </a:prstGeom>
              <a:blipFill>
                <a:blip r:embed="rId12"/>
                <a:stretch>
                  <a:fillRect l="-4506" t="-1282"/>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0479629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5EFCC-216A-F551-914D-EEB01FE07E2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A8C604FF-D295-EC05-092E-DFF425D9F46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46C8623E-005A-5976-D6BC-767945934EC7}"/>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D735713-A32D-F219-C38E-8046F1F41C2A}"/>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71762"/>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0C5C6FF1-057B-10E0-A370-B8AEF0188366}"/>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1" kern="0" dirty="0">
                    <a:solidFill>
                      <a:srgbClr val="C81919">
                        <a:alpha val="100000"/>
                      </a:srgbClr>
                    </a:solidFill>
                  </a:rPr>
                  <a:t>Cost</a:t>
                </a:r>
                <a:r>
                  <a:rPr lang="en-US" sz="1600" kern="0" dirty="0">
                    <a:solidFill>
                      <a:srgbClr val="252529">
                        <a:alpha val="30000"/>
                      </a:srgbClr>
                    </a:solidFill>
                  </a:rPr>
                  <a:t> </a:t>
                </a:r>
                <a:r>
                  <a:rPr lang="en-US" sz="1600" b="1" kern="0" dirty="0">
                    <a:solidFill>
                      <a:srgbClr val="C81919">
                        <a:alpha val="100000"/>
                      </a:srgbClr>
                    </a:solidFill>
                  </a:rPr>
                  <a:t>function </a:t>
                </a:r>
              </a:p>
            </p:txBody>
          </p:sp>
        </mc:Choice>
        <mc:Fallback xmlns="">
          <p:sp>
            <p:nvSpPr>
              <p:cNvPr id="84" name="Content Placeholder 2">
                <a:extLst>
                  <a:ext uri="{FF2B5EF4-FFF2-40B4-BE49-F238E27FC236}">
                    <a16:creationId xmlns:a16="http://schemas.microsoft.com/office/drawing/2014/main" id="{0C5C6FF1-057B-10E0-A370-B8AEF0188366}"/>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9A8C96EE-6183-5F37-6592-76CD290D604D}"/>
              </a:ext>
            </a:extLst>
          </p:cNvPr>
          <p:cNvSpPr txBox="1"/>
          <p:nvPr/>
        </p:nvSpPr>
        <p:spPr>
          <a:xfrm>
            <a:off x="5485375" y="3767866"/>
            <a:ext cx="2986972" cy="461665"/>
          </a:xfrm>
          <a:prstGeom prst="rect">
            <a:avLst/>
          </a:prstGeom>
          <a:noFill/>
        </p:spPr>
        <p:txBody>
          <a:bodyPr wrap="none" rtlCol="0">
            <a:spAutoFit/>
          </a:bodyPr>
          <a:lstStyle/>
          <a:p>
            <a:r>
              <a:rPr lang="en-US" sz="2400" b="1" dirty="0">
                <a:solidFill>
                  <a:srgbClr val="C81919"/>
                </a:solidFill>
              </a:rPr>
              <a:t>Convex for analysis!</a:t>
            </a:r>
            <a:endParaRPr lang="en-NL" sz="2400" b="1" dirty="0">
              <a:solidFill>
                <a:srgbClr val="C81919"/>
              </a:solidFill>
            </a:endParaRPr>
          </a:p>
        </p:txBody>
      </p:sp>
    </p:spTree>
    <p:extLst>
      <p:ext uri="{BB962C8B-B14F-4D97-AF65-F5344CB8AC3E}">
        <p14:creationId xmlns:p14="http://schemas.microsoft.com/office/powerpoint/2010/main" val="2052152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4AEBE-45A9-2C48-5D25-D16230E72E9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049FCCAC-ACA8-E27C-5FD0-667DA1D29E77}"/>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Analysis</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94B40FA2-2F9E-1B31-01FD-105C911E6C15}"/>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F704601-CFFA-B1B3-F531-E62A648095E4}"/>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981075" y="1476375"/>
            <a:ext cx="4367212" cy="2686050"/>
          </a:xfrm>
          <a:prstGeom prst="rect">
            <a:avLst/>
          </a:prstGeom>
        </p:spPr>
      </p:pic>
      <mc:AlternateContent xmlns:mc="http://schemas.openxmlformats.org/markup-compatibility/2006" xmlns:a14="http://schemas.microsoft.com/office/drawing/2010/main">
        <mc:Choice Requires="a14">
          <p:sp>
            <p:nvSpPr>
              <p:cNvPr id="84" name="Content Placeholder 2">
                <a:extLst>
                  <a:ext uri="{FF2B5EF4-FFF2-40B4-BE49-F238E27FC236}">
                    <a16:creationId xmlns:a16="http://schemas.microsoft.com/office/drawing/2014/main" id="{F4AB1EAF-B92A-E7B7-F3B7-B4A1D4288153}"/>
                  </a:ext>
                </a:extLst>
              </p:cNvPr>
              <p:cNvSpPr txBox="1">
                <a:spLocks/>
              </p:cNvSpPr>
              <p:nvPr/>
            </p:nvSpPr>
            <p:spPr>
              <a:xfrm>
                <a:off x="6033244" y="1234628"/>
                <a:ext cx="2844800" cy="3327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defTabSz="1">
                  <a:lnSpc>
                    <a:spcPct val="113000"/>
                  </a:lnSpc>
                  <a:spcAft>
                    <a:spcPts val="1300"/>
                  </a:spcAft>
                  <a:defRPr sz="1600" b="1" u="none" cap="none">
                    <a:solidFill>
                      <a:srgbClr val="C81919">
                        <a:alpha val="100000"/>
                      </a:srgbClr>
                    </a:solidFill>
                    <a:latin typeface="Aptos"/>
                    <a:ea typeface="Aptos"/>
                    <a:cs typeface="Aptos"/>
                  </a:defRPr>
                </a:pPr>
                <a:r>
                  <a:rPr lang="en-US" sz="1600" kern="0" dirty="0">
                    <a:solidFill>
                      <a:srgbClr val="252529">
                        <a:alpha val="30000"/>
                      </a:srgbClr>
                    </a:solidFill>
                  </a:rPr>
                  <a:t>Replace </a:t>
                </a:r>
                <a14:m>
                  <m:oMath xmlns:m="http://schemas.openxmlformats.org/officeDocument/2006/math">
                    <m:r>
                      <a:rPr lang="en-US" sz="1600" kern="0">
                        <a:solidFill>
                          <a:srgbClr val="252529">
                            <a:alpha val="30000"/>
                          </a:srgbClr>
                        </a:solidFill>
                        <a:latin typeface="Cambria Math" panose="02040503050406030204" pitchFamily="18" charset="0"/>
                      </a:rPr>
                      <m:t>∆</m:t>
                    </m:r>
                  </m:oMath>
                </a14:m>
                <a:r>
                  <a:rPr lang="en-US" sz="1600" kern="0" dirty="0">
                    <a:solidFill>
                      <a:srgbClr val="252529">
                        <a:alpha val="30000"/>
                      </a:srgbClr>
                    </a:solidFill>
                  </a:rPr>
                  <a:t> with some scaling</a:t>
                </a:r>
              </a:p>
              <a:p>
                <a:pPr defTabSz="1">
                  <a:lnSpc>
                    <a:spcPct val="113000"/>
                  </a:lnSpc>
                  <a:spcAft>
                    <a:spcPts val="1300"/>
                  </a:spcAft>
                  <a:defRPr sz="1600" b="1" u="none" cap="none">
                    <a:solidFill>
                      <a:srgbClr val="C81919">
                        <a:alpha val="100000"/>
                      </a:srgbClr>
                    </a:solidFill>
                    <a:latin typeface="Aptos"/>
                    <a:ea typeface="Aptos"/>
                    <a:cs typeface="Aptos"/>
                  </a:defRPr>
                </a:pPr>
                <a:r>
                  <a:rPr lang="en-US" sz="1600" b="1" kern="0" dirty="0">
                    <a:solidFill>
                      <a:srgbClr val="252529">
                        <a:alpha val="30000"/>
                      </a:srgbClr>
                    </a:solidFill>
                  </a:rPr>
                  <a:t>Cost function </a:t>
                </a:r>
              </a:p>
            </p:txBody>
          </p:sp>
        </mc:Choice>
        <mc:Fallback xmlns="">
          <p:sp>
            <p:nvSpPr>
              <p:cNvPr id="84" name="Content Placeholder 2">
                <a:extLst>
                  <a:ext uri="{FF2B5EF4-FFF2-40B4-BE49-F238E27FC236}">
                    <a16:creationId xmlns:a16="http://schemas.microsoft.com/office/drawing/2014/main" id="{F4AB1EAF-B92A-E7B7-F3B7-B4A1D4288153}"/>
                  </a:ext>
                </a:extLst>
              </p:cNvPr>
              <p:cNvSpPr txBox="1">
                <a:spLocks noRot="1" noChangeAspect="1" noMove="1" noResize="1" noEditPoints="1" noAdjustHandles="1" noChangeArrowheads="1" noChangeShapeType="1" noTextEdit="1"/>
              </p:cNvSpPr>
              <p:nvPr/>
            </p:nvSpPr>
            <p:spPr>
              <a:xfrm>
                <a:off x="6033244" y="1234628"/>
                <a:ext cx="2844800" cy="3327400"/>
              </a:xfrm>
              <a:prstGeom prst="rect">
                <a:avLst/>
              </a:prstGeom>
              <a:blipFill>
                <a:blip r:embed="rId12"/>
                <a:stretch>
                  <a:fillRect l="-4506" t="-1468"/>
                </a:stretch>
              </a:blipFill>
              <a:ln>
                <a:noFill/>
              </a:ln>
            </p:spPr>
            <p:txBody>
              <a:bodyPr/>
              <a:lstStyle/>
              <a:p>
                <a:r>
                  <a:rPr lang="en-NL">
                    <a:noFill/>
                  </a:rPr>
                  <a:t> </a:t>
                </a:r>
              </a:p>
            </p:txBody>
          </p:sp>
        </mc:Fallback>
      </mc:AlternateContent>
      <p:sp>
        <p:nvSpPr>
          <p:cNvPr id="3" name="TextBox 2">
            <a:extLst>
              <a:ext uri="{FF2B5EF4-FFF2-40B4-BE49-F238E27FC236}">
                <a16:creationId xmlns:a16="http://schemas.microsoft.com/office/drawing/2014/main" id="{0EE621E9-F222-FC3C-6ED8-C5455D3C718E}"/>
              </a:ext>
            </a:extLst>
          </p:cNvPr>
          <p:cNvSpPr txBox="1"/>
          <p:nvPr/>
        </p:nvSpPr>
        <p:spPr>
          <a:xfrm>
            <a:off x="1613149" y="874339"/>
            <a:ext cx="2672591" cy="300082"/>
          </a:xfrm>
          <a:prstGeom prst="rect">
            <a:avLst/>
          </a:prstGeom>
          <a:noFill/>
        </p:spPr>
        <p:txBody>
          <a:bodyPr wrap="none" rtlCol="0">
            <a:spAutoFit/>
          </a:bodyPr>
          <a:lstStyle/>
          <a:p>
            <a:r>
              <a:rPr lang="en-US" b="1" dirty="0">
                <a:solidFill>
                  <a:srgbClr val="C81919"/>
                </a:solidFill>
              </a:rPr>
              <a:t>Final representation the system</a:t>
            </a:r>
            <a:endParaRPr lang="en-NL" b="1" dirty="0">
              <a:solidFill>
                <a:srgbClr val="C81919"/>
              </a:solidFill>
            </a:endParaRPr>
          </a:p>
        </p:txBody>
      </p:sp>
      <p:sp>
        <p:nvSpPr>
          <p:cNvPr id="4" name="Rectangle 3">
            <a:extLst>
              <a:ext uri="{FF2B5EF4-FFF2-40B4-BE49-F238E27FC236}">
                <a16:creationId xmlns:a16="http://schemas.microsoft.com/office/drawing/2014/main" id="{75D3E531-7E9E-4032-6584-C3A37ADC2513}"/>
              </a:ext>
            </a:extLst>
          </p:cNvPr>
          <p:cNvSpPr/>
          <p:nvPr/>
        </p:nvSpPr>
        <p:spPr>
          <a:xfrm>
            <a:off x="916604" y="1188335"/>
            <a:ext cx="4684867" cy="324485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6" name="Rectangle 5">
            <a:extLst>
              <a:ext uri="{FF2B5EF4-FFF2-40B4-BE49-F238E27FC236}">
                <a16:creationId xmlns:a16="http://schemas.microsoft.com/office/drawing/2014/main" id="{ADA20E65-E7BB-E762-5690-1750A74B8098}"/>
              </a:ext>
            </a:extLst>
          </p:cNvPr>
          <p:cNvSpPr/>
          <p:nvPr/>
        </p:nvSpPr>
        <p:spPr>
          <a:xfrm>
            <a:off x="7010400" y="28403"/>
            <a:ext cx="2107074" cy="1030143"/>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11" name="Freeform: Shape 10">
            <a:extLst>
              <a:ext uri="{FF2B5EF4-FFF2-40B4-BE49-F238E27FC236}">
                <a16:creationId xmlns:a16="http://schemas.microsoft.com/office/drawing/2014/main" id="{EE000B0E-2B02-BB63-CE4F-BDF1422844DD}"/>
              </a:ext>
            </a:extLst>
          </p:cNvPr>
          <p:cNvSpPr/>
          <p:nvPr/>
        </p:nvSpPr>
        <p:spPr>
          <a:xfrm>
            <a:off x="4705350" y="279723"/>
            <a:ext cx="1974850" cy="717227"/>
          </a:xfrm>
          <a:custGeom>
            <a:avLst/>
            <a:gdLst>
              <a:gd name="csX0" fmla="*/ 0 w 1974850"/>
              <a:gd name="csY0" fmla="*/ 717227 h 717227"/>
              <a:gd name="csX1" fmla="*/ 742950 w 1974850"/>
              <a:gd name="csY1" fmla="*/ 75877 h 717227"/>
              <a:gd name="csX2" fmla="*/ 1974850 w 1974850"/>
              <a:gd name="csY2" fmla="*/ 12377 h 717227"/>
              <a:gd name="csX3" fmla="*/ 1974850 w 1974850"/>
              <a:gd name="csY3" fmla="*/ 12377 h 717227"/>
            </a:gdLst>
            <a:ahLst/>
            <a:cxnLst>
              <a:cxn ang="0">
                <a:pos x="csX0" y="csY0"/>
              </a:cxn>
              <a:cxn ang="0">
                <a:pos x="csX1" y="csY1"/>
              </a:cxn>
              <a:cxn ang="0">
                <a:pos x="csX2" y="csY2"/>
              </a:cxn>
              <a:cxn ang="0">
                <a:pos x="csX3" y="csY3"/>
              </a:cxn>
            </a:cxnLst>
            <a:rect l="l" t="t" r="r" b="b"/>
            <a:pathLst>
              <a:path w="1974850" h="717227">
                <a:moveTo>
                  <a:pt x="0" y="717227"/>
                </a:moveTo>
                <a:cubicBezTo>
                  <a:pt x="206904" y="455289"/>
                  <a:pt x="413808" y="193352"/>
                  <a:pt x="742950" y="75877"/>
                </a:cubicBezTo>
                <a:cubicBezTo>
                  <a:pt x="1072092" y="-41598"/>
                  <a:pt x="1974850" y="12377"/>
                  <a:pt x="1974850" y="12377"/>
                </a:cubicBezTo>
                <a:lnTo>
                  <a:pt x="1974850" y="12377"/>
                </a:lnTo>
              </a:path>
            </a:pathLst>
          </a:custGeom>
          <a:ln w="38100" cap="flat" cmpd="sng" algn="ctr">
            <a:solidFill>
              <a:schemeClr val="dk1"/>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p>
            <a:pPr algn="ctr"/>
            <a:endParaRPr lang="en-NL">
              <a:ln w="38100">
                <a:solidFill>
                  <a:schemeClr val="tx1"/>
                </a:solidFill>
              </a:ln>
            </a:endParaRPr>
          </a:p>
        </p:txBody>
      </p:sp>
    </p:spTree>
    <p:extLst>
      <p:ext uri="{BB962C8B-B14F-4D97-AF65-F5344CB8AC3E}">
        <p14:creationId xmlns:p14="http://schemas.microsoft.com/office/powerpoint/2010/main" val="4191826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81DD7-87E1-6C86-25E8-6E632B53FE4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23C3524-601B-B047-4384-C182393E7BB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Let’s analyse!</a:t>
            </a:r>
            <a:endParaRPr sz="2500" dirty="0"/>
          </a:p>
        </p:txBody>
      </p:sp>
      <p:pic>
        <p:nvPicPr>
          <p:cNvPr id="2" name="Baked figure with larger labels"/>
          <p:cNvPicPr>
            <a:picLocks noChangeAspect="1"/>
          </p:cNvPicPr>
          <p:nvPr/>
        </p:nvPicPr>
        <p:blipFill>
          <a:blip r:embed="rId3"/>
          <a:stretch>
            <a:fillRect/>
          </a:stretch>
        </p:blipFill>
        <p:spPr>
          <a:xfrm>
            <a:off x="7243762" y="338138"/>
            <a:ext cx="1757362" cy="557212"/>
          </a:xfrm>
          <a:prstGeom prst="rect">
            <a:avLst/>
          </a:prstGeom>
        </p:spPr>
      </p:pic>
      <p:sp>
        <p:nvSpPr>
          <p:cNvPr id="123" name="Footer">
            <a:extLst>
              <a:ext uri="{FF2B5EF4-FFF2-40B4-BE49-F238E27FC236}">
                <a16:creationId xmlns:a16="http://schemas.microsoft.com/office/drawing/2014/main" id="{FBC83CBB-31E6-23F3-3510-466978FE642B}"/>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A7689E06-9C0D-AE2D-4EB3-6F0658749818}"/>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82" name="Baked figure with larger labels"/>
          <p:cNvPicPr>
            <a:picLocks noChangeAspect="1"/>
          </p:cNvPicPr>
          <p:nvPr/>
        </p:nvPicPr>
        <p:blipFill>
          <a:blip r:embed="rId4"/>
          <a:stretch>
            <a:fillRect/>
          </a:stretch>
        </p:blipFill>
        <p:spPr>
          <a:xfrm>
            <a:off x="7038975" y="1176338"/>
            <a:ext cx="1966912" cy="1233488"/>
          </a:xfrm>
          <a:prstGeom prst="rect">
            <a:avLst/>
          </a:prstGeom>
        </p:spPr>
      </p:pic>
    </p:spTree>
    <p:extLst>
      <p:ext uri="{BB962C8B-B14F-4D97-AF65-F5344CB8AC3E}">
        <p14:creationId xmlns:p14="http://schemas.microsoft.com/office/powerpoint/2010/main" val="21474151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98B6E-12E2-A3A7-9D1F-E632459E6D05}"/>
              </a:ext>
            </a:extLst>
          </p:cNvPr>
          <p:cNvSpPr>
            <a:spLocks noGrp="1"/>
          </p:cNvSpPr>
          <p:nvPr>
            <p:ph type="title"/>
          </p:nvPr>
        </p:nvSpPr>
        <p:spPr/>
        <p:txBody>
          <a:bodyPr/>
          <a:lstStyle/>
          <a:p>
            <a:r>
              <a:rPr lang="en-US" dirty="0"/>
              <a:t>Alternative controller schematic</a:t>
            </a:r>
            <a:endParaRPr lang="en-NL" dirty="0"/>
          </a:p>
        </p:txBody>
      </p:sp>
      <p:sp>
        <p:nvSpPr>
          <p:cNvPr id="3" name="Footer Placeholder 2">
            <a:extLst>
              <a:ext uri="{FF2B5EF4-FFF2-40B4-BE49-F238E27FC236}">
                <a16:creationId xmlns:a16="http://schemas.microsoft.com/office/drawing/2014/main" id="{AB58BF6B-65E2-3416-157A-8C31855021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5A8ED17-D3CD-E35B-4454-60B32F3B3DF2}"/>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33</a:t>
            </a:fld>
            <a:endParaRPr lang="en-GB"/>
          </a:p>
        </p:txBody>
      </p:sp>
      <p:grpSp>
        <p:nvGrpSpPr>
          <p:cNvPr id="5" name="Editable paper diagram">
            <a:extLst>
              <a:ext uri="{FF2B5EF4-FFF2-40B4-BE49-F238E27FC236}">
                <a16:creationId xmlns:a16="http://schemas.microsoft.com/office/drawing/2014/main" id="{90AB5F3C-EAF4-AC7C-DB16-8306D5A74E12}"/>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B7816C8F-5BF7-E6DB-50FC-107B8DBAE450}"/>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4492BFD9-BFDE-E3FF-6837-356D21DAE0C1}"/>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CD3A7FE7-7302-9423-B899-F1B2A182B64B}"/>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08D7CDCC-8636-7651-F00D-89F213B9D70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11B58DE6-B9FA-404F-8B6A-DC720824741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447AE719-E822-08F7-0C2F-2F3A4DC9E8DE}"/>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32C8CCA5-B22E-75DB-4F85-F6C4EC62D44D}"/>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ECD3D13A-2310-9004-E478-9FF56E267BE7}"/>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EA54A2BC-3077-84DB-D24D-EEF51AA8B8C6}"/>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11777D22-5BB5-F0C4-718C-9556ED7FA2BC}"/>
                  </a:ext>
                </a:extLst>
              </p:cNvPr>
              <p:cNvSpPr/>
              <p:nvPr/>
            </p:nvSpPr>
            <p:spPr>
              <a:xfrm>
                <a:off x="4290941" y="326305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0" smtClean="0">
                              <a:solidFill>
                                <a:srgbClr val="252529"/>
                              </a:solidFill>
                              <a:latin typeface="Cambria Math" panose="02040503050406030204" pitchFamily="18" charset="0"/>
                            </a:rPr>
                          </m:ctrlPr>
                        </m:accPr>
                        <m:e>
                          <m:r>
                            <m:rPr>
                              <m:sty m:val="p"/>
                            </m:rPr>
                            <a:rPr lang="en-US" sz="1998" b="0" i="0" smtClean="0">
                              <a:solidFill>
                                <a:srgbClr val="252529"/>
                              </a:solidFill>
                              <a:latin typeface="Cambria Math" panose="02040503050406030204" pitchFamily="18" charset="0"/>
                            </a:rPr>
                            <m:t>y</m:t>
                          </m:r>
                        </m:e>
                      </m:acc>
                    </m:oMath>
                  </m:oMathPara>
                </a14:m>
                <a:endParaRPr sz="1998" dirty="0"/>
              </a:p>
            </p:txBody>
          </p:sp>
        </mc:Choice>
        <mc:Fallback xmlns="">
          <p:sp>
            <p:nvSpPr>
              <p:cNvPr id="35" name="Filtered z">
                <a:extLst>
                  <a:ext uri="{FF2B5EF4-FFF2-40B4-BE49-F238E27FC236}">
                    <a16:creationId xmlns:a16="http://schemas.microsoft.com/office/drawing/2014/main" id="{11777D22-5BB5-F0C4-718C-9556ED7FA2BC}"/>
                  </a:ext>
                </a:extLst>
              </p:cNvPr>
              <p:cNvSpPr>
                <a:spLocks noRot="1" noChangeAspect="1" noMove="1" noResize="1" noEditPoints="1" noAdjustHandles="1" noChangeArrowheads="1" noChangeShapeType="1" noTextEdit="1"/>
              </p:cNvSpPr>
              <p:nvPr/>
            </p:nvSpPr>
            <p:spPr>
              <a:xfrm>
                <a:off x="4290941" y="3263059"/>
                <a:ext cx="422910" cy="380619"/>
              </a:xfrm>
              <a:prstGeom prst="rect">
                <a:avLst/>
              </a:prstGeom>
              <a:blipFill>
                <a:blip r:embed="rId12"/>
                <a:stretch>
                  <a:fillRect r="-47826" b="-11111"/>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CD1B519C-22CE-F008-6647-2772342827A4}"/>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2C44D234-86C7-6AEA-2E5F-29BD4BFF3C12}"/>
                  </a:ext>
                </a:extLst>
              </p:cNvPr>
              <p:cNvSpPr/>
              <p:nvPr/>
            </p:nvSpPr>
            <p:spPr>
              <a:xfrm>
                <a:off x="4290941" y="36389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oMath>
                  </m:oMathPara>
                </a14:m>
                <a:endParaRPr sz="1998" dirty="0"/>
              </a:p>
            </p:txBody>
          </p:sp>
        </mc:Choice>
        <mc:Fallback xmlns="">
          <p:sp>
            <p:nvSpPr>
              <p:cNvPr id="37" name="Filtered w">
                <a:extLst>
                  <a:ext uri="{FF2B5EF4-FFF2-40B4-BE49-F238E27FC236}">
                    <a16:creationId xmlns:a16="http://schemas.microsoft.com/office/drawing/2014/main" id="{2C44D234-86C7-6AEA-2E5F-29BD4BFF3C12}"/>
                  </a:ext>
                </a:extLst>
              </p:cNvPr>
              <p:cNvSpPr>
                <a:spLocks noRot="1" noChangeAspect="1" noMove="1" noResize="1" noEditPoints="1" noAdjustHandles="1" noChangeArrowheads="1" noChangeShapeType="1" noTextEdit="1"/>
              </p:cNvSpPr>
              <p:nvPr/>
            </p:nvSpPr>
            <p:spPr>
              <a:xfrm>
                <a:off x="4290941" y="3638979"/>
                <a:ext cx="422910" cy="380619"/>
              </a:xfrm>
              <a:prstGeom prst="rect">
                <a:avLst/>
              </a:prstGeom>
              <a:blipFill>
                <a:blip r:embed="rId13"/>
                <a:stretch>
                  <a:fillRect r="-47826"/>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B2F36D05-56FF-4643-773B-9C86E06B8E20}"/>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70CDC681-B229-942F-5E20-F17E1ED103EE}"/>
                  </a:ext>
                </a:extLst>
              </p:cNvPr>
              <p:cNvSpPr txBox="1"/>
              <p:nvPr/>
            </p:nvSpPr>
            <p:spPr>
              <a:xfrm>
                <a:off x="3079354" y="342562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3" name="TextBox 52">
                <a:extLst>
                  <a:ext uri="{FF2B5EF4-FFF2-40B4-BE49-F238E27FC236}">
                    <a16:creationId xmlns:a16="http://schemas.microsoft.com/office/drawing/2014/main" id="{70CDC681-B229-942F-5E20-F17E1ED103EE}"/>
                  </a:ext>
                </a:extLst>
              </p:cNvPr>
              <p:cNvSpPr txBox="1">
                <a:spLocks noRot="1" noChangeAspect="1" noMove="1" noResize="1" noEditPoints="1" noAdjustHandles="1" noChangeArrowheads="1" noChangeShapeType="1" noTextEdit="1"/>
              </p:cNvSpPr>
              <p:nvPr/>
            </p:nvSpPr>
            <p:spPr>
              <a:xfrm>
                <a:off x="3079354" y="3425625"/>
                <a:ext cx="283732" cy="398571"/>
              </a:xfrm>
              <a:prstGeom prst="rect">
                <a:avLst/>
              </a:prstGeom>
              <a:blipFill>
                <a:blip r:embed="rId14"/>
                <a:stretch>
                  <a:fillRect l="-25532" r="-27660"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98B18962-A47F-3CCD-4CB7-B1700598B92E}"/>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16F66D3-F773-9545-1661-892E4869BCFF}"/>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Plant label"/>
          <p:cNvSpPr txBox="1"/>
          <p:nvPr/>
        </p:nvSpPr>
        <p:spPr>
          <a:xfrm>
            <a:off x="4876800" y="10668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Take the state-feedback system</a:t>
            </a:r>
          </a:p>
        </p:txBody>
      </p:sp>
      <mc:AlternateContent>
        <mc:Choice Requires="a14">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r>
                                <m:rPr>
                                  <m:sty m:val="p"/>
                                </m:rPr>
                                <a:rPr lang="en-US" sz="1600">
                                  <a:solidFill>
                                    <a:srgbClr val="252529"/>
                                  </a:solidFill>
                                  <a:latin typeface="Cambria Math"/>
                                </a:rPr>
                                <m:t xml:space="preserve">𝑇</m:t>
                              </m:r>
                              <m:acc>
                                <m:accPr>
                                  <m:chr m:val="̇"/>
                                  <m:ctrlPr>
                                    <a:rPr lang="en-US" sz="1600">
                                      <a:solidFill>
                                        <a:srgbClr val="252529"/>
                                      </a:solidFill>
                                      <a:latin typeface="Cambria Math"/>
                                    </a:rPr>
                                  </m:ctrlPr>
                                </m:accPr>
                                <m:e>
                                  <m:r>
                                    <m:rPr>
                                      <m:sty m:val="p"/>
                                    </m:rPr>
                                    <a:rPr lang="en-US" sz="1600">
                                      <a:solidFill>
                                        <a:srgbClr val="252529"/>
                                      </a:solidFill>
                                      <a:latin typeface="Cambria Math"/>
                                    </a:rPr>
                                    <m:t xml:space="preserve">𝑥</m:t>
                                  </m:r>
                                </m:e>
                              </m:acc>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𝐴</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r>
                                <m:rPr>
                                  <m:sty m:val="p"/>
                                </m:rPr>
                                <a:rPr lang="en-US" sz="1600">
                                  <a:solidFill>
                                    <a:srgbClr val="252529"/>
                                  </a:solidFill>
                                  <a:latin typeface="Cambria Math"/>
                                </a:rPr>
                                <m:t xml:space="preserve">𝑢</m:t>
                              </m:r>
                            </m:e>
                            <m:e>
                              <m:r>
                                <m:rPr>
                                  <m:sty m:val="p"/>
                                </m:rPr>
                                <a:rPr lang="en-US" sz="1600">
                                  <a:solidFill>
                                    <a:srgbClr val="252529"/>
                                  </a:solidFill>
                                  <a:latin typeface="Cambria Math"/>
                                </a:rPr>
                                <m:t xml:space="preserve">𝑦</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𝑥</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 </m:t>
                              </m:r>
                              <m:r>
                                <m:rPr>
                                  <m:sty m:val="p"/>
                                </m:rPr>
                                <a:rPr lang="en-US" sz="1600">
                                  <a:solidFill>
                                    <a:srgbClr val="252529"/>
                                  </a:solidFill>
                                  <a:latin typeface="Cambria Math"/>
                                </a:rPr>
                                <m:t xml:space="preserve">𝑢</m:t>
                              </m: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𝐾</m:t>
                              </m:r>
                              <m:r>
                                <m:rPr>
                                  <m:sty m:val="p"/>
                                </m:rPr>
                                <a:rPr lang="en-US" sz="1600">
                                  <a:solidFill>
                                    <a:srgbClr val="252529"/>
                                  </a:solidFill>
                                  <a:latin typeface="Cambria Math"/>
                                </a:rPr>
                                <m:t xml:space="preserve">𝑦</m:t>
                              </m:r>
                            </m:e>
                          </m:eqArr>
                        </m:e>
                      </m:d>
                    </m:oMath>
                  </m:oMathPara>
                </a14:m>
                <a:endParaRPr sz="1600">
                  <a:latin typeface="Cambria Math"/>
                </a:endParaRPr>
              </a:p>
            </p:txBody>
          </p:sp>
        </mc:Choice>
        <mc:Fallback>
          <p:sp>
            <p:nvSpPr>
              <p:cNvPr id="302" name="Plant"/>
              <p:cNvSpPr txBox="1"/>
              <p:nvPr/>
            </p:nvSpPr>
            <p:spPr>
              <a:xfrm>
                <a:off x="4965700" y="13843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3" name="Stage1 filter"/>
              <p:cNvSpPr txBox="1"/>
              <p:nvPr/>
            </p:nvSpPr>
            <p:spPr>
              <a:xfrm>
                <a:off x="4965700" y="2095500"/>
                <a:ext cx="3721100" cy="5461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Θ</m:t>
                      </m:r>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𝐼</m:t>
                                </m:r>
                              </m:e>
                              <m:e>
                                <m:r>
                                  <m:rPr>
                                    <m:sty m:val="p"/>
                                  </m:rPr>
                                  <a:rPr lang="en-US" sz="1800">
                                    <a:solidFill>
                                      <a:srgbClr val="252529"/>
                                    </a:solidFill>
                                    <a:latin typeface="Cambria Math"/>
                                  </a:rPr>
                                  <m:t xml:space="preserve">0</m:t>
                                </m:r>
                              </m:e>
                            </m:mr>
                            <m:mr>
                              <m:e>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𝐾</m:t>
                                </m:r>
                              </m:e>
                              <m:e>
                                <m:r>
                                  <m:rPr>
                                    <m:sty m:val="p"/>
                                  </m:rPr>
                                  <a:rPr lang="en-US" sz="1800">
                                    <a:solidFill>
                                      <a:srgbClr val="252529"/>
                                    </a:solidFill>
                                    <a:latin typeface="Cambria Math"/>
                                  </a:rPr>
                                  <m:t xml:space="preserve">𝐼</m:t>
                                </m:r>
                              </m:e>
                            </m:mr>
                          </m:m>
                        </m:e>
                      </m:d>
                    </m:oMath>
                  </m:oMathPara>
                </a14:m>
                <a:endParaRPr sz="1800">
                  <a:latin typeface="Cambria Math"/>
                </a:endParaRPr>
              </a:p>
            </p:txBody>
          </p:sp>
        </mc:Choice>
        <mc:Fallback>
          <p:sp>
            <p:nvSpPr>
              <p:cNvPr id="303" name="Stage1 filter"/>
              <p:cNvSpPr txBox="1"/>
              <p:nvPr/>
            </p:nvSpPr>
            <p:spPr>
              <a:xfrm>
                <a:off x="4965700" y="2095500"/>
                <a:ext cx="37211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4" name="Stage2 thus"/>
          <p:cNvSpPr txBox="1"/>
          <p:nvPr/>
        </p:nvSpPr>
        <p:spPr>
          <a:xfrm>
            <a:off x="4876800" y="27940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Thus</a:t>
            </a:r>
          </a:p>
        </p:txBody>
      </p:sp>
      <mc:AlternateContent>
        <mc:Choice Requires="a14">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700">
                              <a:solidFill>
                                <a:srgbClr val="252529"/>
                              </a:solidFill>
                              <a:latin typeface="Cambria Math"/>
                            </a:rPr>
                          </m:ctrlPr>
                        </m:dPr>
                        <m:e>
                          <m:eqArr>
                            <m:eqArrPr>
                              <m:ctrlPr>
                                <a:rPr lang="en-US" sz="1700">
                                  <a:solidFill>
                                    <a:srgbClr val="252529"/>
                                  </a:solidFill>
                                  <a:latin typeface="Cambria Math"/>
                                </a:rPr>
                              </m:ctrlPr>
                            </m:eqArrPr>
                            <m:e>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𝑦</m:t>
                                  </m: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𝑦</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𝑥</m:t>
                              </m:r>
                            </m:e>
                            <m:e>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𝑢</m:t>
                                  </m:r>
                                </m:e>
                              </m:acc>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𝑢</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𝐾</m:t>
                              </m:r>
                              <m:r>
                                <m:rPr>
                                  <m:sty m:val="p"/>
                                </m:rPr>
                                <a:rPr lang="en-US" sz="1700">
                                  <a:solidFill>
                                    <a:srgbClr val="252529"/>
                                  </a:solidFill>
                                  <a:latin typeface="Cambria Math"/>
                                </a:rPr>
                                <m:t xml:space="preserve">𝑦</m:t>
                              </m:r>
                              <m:r>
                                <m:rPr>
                                  <m:sty m:val="p"/>
                                </m:rPr>
                                <a:rPr lang="en-US" sz="1700">
                                  <a:solidFill>
                                    <a:srgbClr val="252529"/>
                                  </a:solidFill>
                                  <a:latin typeface="Cambria Math"/>
                                </a:rPr>
                                <m:t xml:space="preserve">=</m:t>
                              </m:r>
                              <m:r>
                                <m:rPr>
                                  <m:sty m:val="p"/>
                                </m:rPr>
                                <a:rPr lang="en-US" sz="1700">
                                  <a:solidFill>
                                    <a:srgbClr val="252529"/>
                                  </a:solidFill>
                                  <a:latin typeface="Cambria Math"/>
                                </a:rPr>
                                <m:t xml:space="preserve">0</m:t>
                              </m:r>
                            </m:e>
                          </m:eqArr>
                        </m:e>
                      </m:d>
                    </m:oMath>
                  </m:oMathPara>
                </a14:m>
                <a:endParaRPr sz="1700">
                  <a:latin typeface="Cambria Math"/>
                </a:endParaRPr>
              </a:p>
            </p:txBody>
          </p:sp>
        </mc:Choice>
        <mc:Fallback>
          <p:sp>
            <p:nvSpPr>
              <p:cNvPr id="305" name="Stage2 outputs"/>
              <p:cNvSpPr txBox="1"/>
              <p:nvPr/>
            </p:nvSpPr>
            <p:spPr>
              <a:xfrm>
                <a:off x="4965700" y="3086100"/>
                <a:ext cx="3721100" cy="558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7592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700">
                          <a:solidFill>
                            <a:srgbClr val="252529"/>
                          </a:solidFill>
                          <a:latin typeface="Cambria Math"/>
                        </a:rPr>
                        <m:t xml:space="preserve">𝑇</m:t>
                      </m:r>
                      <m:acc>
                        <m:accPr>
                          <m:chr m:val="̇"/>
                          <m:ctrlPr>
                            <a:rPr lang="en-US" sz="1700">
                              <a:solidFill>
                                <a:srgbClr val="252529"/>
                              </a:solidFill>
                              <a:latin typeface="Cambria Math"/>
                            </a:rPr>
                          </m:ctrlPr>
                        </m:accPr>
                        <m:e>
                          <m:r>
                            <m:rPr>
                              <m:sty m:val="p"/>
                            </m:rPr>
                            <a:rPr lang="en-US" sz="1700">
                              <a:solidFill>
                                <a:srgbClr val="252529"/>
                              </a:solidFill>
                              <a:latin typeface="Cambria Math"/>
                            </a:rPr>
                            <m:t xml:space="preserve">𝑥</m:t>
                          </m:r>
                        </m:e>
                      </m:acc>
                      <m:r>
                        <m:rPr>
                          <m:sty m:val="p"/>
                        </m:rPr>
                        <a:rPr lang="en-US" sz="1700">
                          <a:solidFill>
                            <a:srgbClr val="252529"/>
                          </a:solidFill>
                          <a:latin typeface="Cambria Math"/>
                        </a:rPr>
                        <m:t xml:space="preserve">=</m:t>
                      </m:r>
                      <m:d>
                        <m:dPr>
                          <m:begChr m:val="("/>
                          <m:endChr m:val=")"/>
                          <m:ctrlPr>
                            <a:rPr lang="en-US" sz="1700">
                              <a:solidFill>
                                <a:srgbClr val="252529"/>
                              </a:solidFill>
                              <a:latin typeface="Cambria Math"/>
                            </a:rPr>
                          </m:ctrlPr>
                        </m:dPr>
                        <m:e>
                          <m:r>
                            <m:rPr>
                              <m:sty m:val="p"/>
                            </m:rPr>
                            <a:rPr lang="en-US" sz="1700">
                              <a:solidFill>
                                <a:srgbClr val="252529"/>
                              </a:solidFill>
                              <a:latin typeface="Cambria Math"/>
                            </a:rPr>
                            <m:t xml:space="preserve">𝐴</m:t>
                          </m:r>
                          <m:r>
                            <m:rPr>
                              <m:sty m:val="p"/>
                            </m:rPr>
                            <a:rPr lang="en-US" sz="1700">
                              <a:solidFill>
                                <a:srgbClr val="252529"/>
                              </a:solidFill>
                              <a:latin typeface="Cambria Math"/>
                            </a:rPr>
                            <m:t xml:space="preserve">+</m:t>
                          </m:r>
                          <m:sSub>
                            <m:sSubPr>
                              <m:ctrlPr>
                                <a:rPr lang="en-US" sz="1700">
                                  <a:solidFill>
                                    <a:srgbClr val="252529"/>
                                  </a:solidFill>
                                  <a:latin typeface="Cambria Math"/>
                                </a:rPr>
                              </m:ctrlPr>
                            </m:sSubPr>
                            <m:e>
                              <m:r>
                                <m:rPr>
                                  <m:sty m:val="p"/>
                                </m:rPr>
                                <a:rPr lang="en-US" sz="1700">
                                  <a:solidFill>
                                    <a:srgbClr val="252529"/>
                                  </a:solidFill>
                                  <a:latin typeface="Cambria Math"/>
                                </a:rPr>
                                <m:t xml:space="preserve">𝐵</m:t>
                              </m:r>
                            </m:e>
                            <m:sub>
                              <m:r>
                                <m:rPr>
                                  <m:sty m:val="p"/>
                                </m:rPr>
                                <a:rPr lang="en-US" sz="1700">
                                  <a:solidFill>
                                    <a:srgbClr val="252529"/>
                                  </a:solidFill>
                                  <a:latin typeface="Cambria Math"/>
                                </a:rPr>
                                <m:t xml:space="preserve">u</m:t>
                              </m:r>
                            </m:sub>
                          </m:sSub>
                          <m:r>
                            <m:rPr>
                              <m:sty m:val="p"/>
                            </m:rPr>
                            <a:rPr lang="en-US" sz="1700">
                              <a:solidFill>
                                <a:srgbClr val="252529"/>
                              </a:solidFill>
                              <a:latin typeface="Cambria Math"/>
                            </a:rPr>
                            <m:t xml:space="preserve">𝐾</m:t>
                          </m:r>
                        </m:e>
                      </m:d>
                      <m:r>
                        <m:rPr>
                          <m:sty m:val="p"/>
                        </m:rPr>
                        <a:rPr lang="en-US" sz="1700">
                          <a:solidFill>
                            <a:srgbClr val="252529"/>
                          </a:solidFill>
                          <a:latin typeface="Cambria Math"/>
                        </a:rPr>
                        <m:t xml:space="preserve">𝑥</m:t>
                      </m:r>
                    </m:oMath>
                  </m:oMathPara>
                </a14:m>
                <a:endParaRPr sz="1700">
                  <a:latin typeface="Cambria Math"/>
                </a:endParaRPr>
              </a:p>
            </p:txBody>
          </p:sp>
        </mc:Choice>
        <mc:Fallback>
          <p:sp>
            <p:nvSpPr>
              <p:cNvPr id="307" name="Stage3 closed loop"/>
              <p:cNvSpPr txBox="1"/>
              <p:nvPr/>
            </p:nvSpPr>
            <p:spPr>
              <a:xfrm>
                <a:off x="4965700" y="4038600"/>
                <a:ext cx="3721100" cy="330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controller enforces a zero residual.</a:t>
            </a:r>
          </a:p>
        </p:txBody>
      </p:sp>
    </p:spTree>
    <p:extLst>
      <p:ext uri="{BB962C8B-B14F-4D97-AF65-F5344CB8AC3E}">
        <p14:creationId xmlns:p14="http://schemas.microsoft.com/office/powerpoint/2010/main" val="33793407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3"/>
                                        </p:tgtEl>
                                        <p:attrNameLst>
                                          <p:attrName>style.visibility</p:attrName>
                                        </p:attrNameLst>
                                      </p:cBhvr>
                                      <p:to>
                                        <p:strVal val="visible"/>
                                      </p:to>
                                    </p:set>
                                    <p:animEffect transition="in" filter="fade">
                                      <p:cBhvr>
                                        <p:cTn id="7" dur="300"/>
                                        <p:tgtEl>
                                          <p:spTgt spid="30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04"/>
                                        </p:tgtEl>
                                        <p:attrNameLst>
                                          <p:attrName>style.visibility</p:attrName>
                                        </p:attrNameLst>
                                      </p:cBhvr>
                                      <p:to>
                                        <p:strVal val="visible"/>
                                      </p:to>
                                    </p:set>
                                    <p:animEffect transition="in" filter="fade">
                                      <p:cBhvr>
                                        <p:cTn id="12" dur="300"/>
                                        <p:tgtEl>
                                          <p:spTgt spid="30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05"/>
                                        </p:tgtEl>
                                        <p:attrNameLst>
                                          <p:attrName>style.visibility</p:attrName>
                                        </p:attrNameLst>
                                      </p:cBhvr>
                                      <p:to>
                                        <p:strVal val="visible"/>
                                      </p:to>
                                    </p:set>
                                    <p:animEffect transition="in" filter="fade">
                                      <p:cBhvr>
                                        <p:cTn id="15" dur="300"/>
                                        <p:tgtEl>
                                          <p:spTgt spid="30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6"/>
                                        </p:tgtEl>
                                        <p:attrNameLst>
                                          <p:attrName>style.visibility</p:attrName>
                                        </p:attrNameLst>
                                      </p:cBhvr>
                                      <p:to>
                                        <p:strVal val="visible"/>
                                      </p:to>
                                    </p:set>
                                    <p:animEffect transition="in" filter="fade">
                                      <p:cBhvr>
                                        <p:cTn id="20" dur="300"/>
                                        <p:tgtEl>
                                          <p:spTgt spid="30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07"/>
                                        </p:tgtEl>
                                        <p:attrNameLst>
                                          <p:attrName>style.visibility</p:attrName>
                                        </p:attrNameLst>
                                      </p:cBhvr>
                                      <p:to>
                                        <p:strVal val="visible"/>
                                      </p:to>
                                    </p:set>
                                    <p:animEffect transition="in" filter="fade">
                                      <p:cBhvr>
                                        <p:cTn id="23" dur="300"/>
                                        <p:tgtEl>
                                          <p:spTgt spid="30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8"/>
                                        </p:tgtEl>
                                        <p:attrNameLst>
                                          <p:attrName>style.visibility</p:attrName>
                                        </p:attrNameLst>
                                      </p:cBhvr>
                                      <p:to>
                                        <p:strVal val="visible"/>
                                      </p:to>
                                    </p:set>
                                    <p:animEffect transition="in" filter="fade">
                                      <p:cBhvr>
                                        <p:cTn id="26"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 grpId="0"/>
      <p:bldP spid="304" grpId="0"/>
      <p:bldP spid="305" grpId="0"/>
      <p:bldP spid="306" grpId="0"/>
      <p:bldP spid="307" grpId="0"/>
      <p:bldP spid="308" grpId="0"/>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Transposing the systems</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34</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CFA38E4C-24E9-CA08-8353-19157955D2C0}"/>
                  </a:ext>
                </a:extLst>
              </p:cNvPr>
              <p:cNvSpPr txBox="1"/>
              <p:nvPr/>
            </p:nvSpPr>
            <p:spPr>
              <a:xfrm>
                <a:off x="3079354" y="3425625"/>
                <a:ext cx="469039" cy="398571"/>
              </a:xfrm>
              <a:prstGeom prst="rect">
                <a:avLst/>
              </a:prstGeom>
              <a:noFill/>
            </p:spPr>
            <p:txBody>
              <a:bodyPr wrap="none" lIns="0" tIns="0" rIns="0" bIns="0" rtlCol="0">
                <a:spAutoFit/>
              </a:bodyPr>
              <a:lstStyle/>
              <a:p>
                <a:pPr/>
                <a14:m>
                  <m:oMathPara xmlns:m="http://schemas.openxmlformats.org/officeDocument/2006/math">
                    <m:oMath>
                      <m:sSup>
                        <m:sSupPr>
                          <m:ctrlPr>
                            <a:rPr lang="el-GR" sz="2590" i="1" smtClean="0">
                              <a:latin typeface="Cambria Math" panose="02040503050406030204" pitchFamily="18" charset="0"/>
                              <a:ea typeface="Cambria Math" panose="02040503050406030204" pitchFamily="18" charset="0"/>
                            </a:rPr>
                          </m:ctrlPr>
                        </m:sSupPr>
                        <m:e>
                          <m:r>
                            <m:rPr>
                              <m:sty m:val="p"/>
                            </m:rPr>
                            <a:rPr lang="el-GR" sz="2590" i="1" smtClean="0">
                              <a:latin typeface="Cambria Math" panose="02040503050406030204" pitchFamily="18" charset="0"/>
                              <a:ea typeface="Cambria Math" panose="02040503050406030204" pitchFamily="18" charset="0"/>
                            </a:rPr>
                            <m:t>Θ</m:t>
                          </m:r>
                        </m:e>
                        <m:sup>
                          <m:r>
                            <a:rPr lang="el-GR" sz="2590" i="1" smtClean="0">
                              <a:latin typeface="Cambria Math" panose="02040503050406030204" pitchFamily="18" charset="0"/>
                              <a:ea typeface="Cambria Math" panose="02040503050406030204" pitchFamily="18" charset="0"/>
                            </a:rPr>
                            <m:t>⊤</m:t>
                          </m:r>
                        </m:sup>
                      </m:sSup>
                    </m:oMath>
                  </m:oMathPara>
                </a14:m>
                <a:endParaRPr lang="en-NL" sz="2590" dirty="0"/>
              </a:p>
            </p:txBody>
          </p:sp>
        </mc:Choice>
        <mc:Fallback xmlns="">
          <p:sp>
            <p:nvSpPr>
              <p:cNvPr id="53" name="TextBox 52">
                <a:extLst>
                  <a:ext uri="{FF2B5EF4-FFF2-40B4-BE49-F238E27FC236}">
                    <a16:creationId xmlns:a16="http://schemas.microsoft.com/office/drawing/2014/main" id="{CFA38E4C-24E9-CA08-8353-19157955D2C0}"/>
                  </a:ext>
                </a:extLst>
              </p:cNvPr>
              <p:cNvSpPr txBox="1">
                <a:spLocks noRot="1" noChangeAspect="1" noMove="1" noResize="1" noEditPoints="1" noAdjustHandles="1" noChangeArrowheads="1" noChangeShapeType="1" noTextEdit="1"/>
              </p:cNvSpPr>
              <p:nvPr/>
            </p:nvSpPr>
            <p:spPr>
              <a:xfrm>
                <a:off x="3079354" y="3425625"/>
                <a:ext cx="469039" cy="398571"/>
              </a:xfrm>
              <a:prstGeom prst="rect">
                <a:avLst/>
              </a:prstGeom>
              <a:blipFill>
                <a:blip r:embed="rId8"/>
                <a:stretch>
                  <a:fillRect l="-15584" t="-1538" r="-6494" b="-4615"/>
                </a:stretch>
              </a:blipFill>
            </p:spPr>
            <p:txBody>
              <a:bodyPr/>
              <a:lstStyle/>
              <a:p>
                <a:r>
                  <a:rPr lang="en-NL">
                    <a:noFill/>
                  </a:rPr>
                  <a:t> </a:t>
                </a:r>
              </a:p>
            </p:txBody>
          </p:sp>
        </mc:Fallback>
      </mc:AlternateContent>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p:sp>
        <p:nvSpPr>
          <p:cNvPr id="301" name="Dimension convention"/>
          <p:cNvSpPr txBox="1"/>
          <p:nvPr/>
        </p:nvSpPr>
        <p:spPr>
          <a:xfrm>
            <a:off x="457200" y="1028700"/>
            <a:ext cx="4229100" cy="215900"/>
          </a:xfrm>
          <a:prstGeom prst="rect">
            <a:avLst/>
          </a:prstGeom>
          <a:noFill/>
          <a:ln>
            <a:noFill/>
          </a:ln>
        </p:spPr>
        <p:txBody>
          <a:bodyPr wrap="square" lIns="0" tIns="0" rIns="0" bIns="0" anchor="ctr">
            <a:noAutofit/>
          </a:bodyPr>
          <a:lstStyle/>
          <a:p>
            <a:pPr algn="l"/>
            <a:r>
              <a:rPr lang="en-US" sz="1050" b="0">
                <a:solidFill>
                  <a:srgbClr val="66717C"/>
                </a:solidFill>
                <a:latin typeface="Aptos"/>
              </a:rPr>
              <a:t>For this illustration, state and input have equal dimension.</a:t>
            </a:r>
          </a:p>
        </p:txBody>
      </p:sp>
      <mc:AlternateContent>
        <mc:Choice Requires="a14">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00">
                              <a:solidFill>
                                <a:srgbClr val="252529"/>
                              </a:solidFill>
                              <a:latin typeface="Cambria Math"/>
                            </a:rPr>
                          </m:ctrlPr>
                        </m:sSupPr>
                        <m:e>
                          <m:r>
                            <m:rPr>
                              <m:sty m:val="p"/>
                            </m:rPr>
                            <a:rPr lang="en-US" sz="1600">
                              <a:solidFill>
                                <a:srgbClr val="252529"/>
                              </a:solidFill>
                              <a:latin typeface="Cambria Math"/>
                            </a:rPr>
                            <m:t xml:space="preserve">𝐺</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r>
                                <m:rPr>
                                  <m:sty m:val="p"/>
                                </m:rPr>
                                <a:rPr lang="en-US" sz="1600">
                                  <a:solidFill>
                                    <a:srgbClr val="252529"/>
                                  </a:solidFill>
                                  <a:latin typeface="Cambria Math"/>
                                </a:rPr>
                                <m:t xml:space="preserve">+</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qArr>
                        </m:e>
                      </m:d>
                    </m:oMath>
                  </m:oMathPara>
                </a14:m>
                <a:endParaRPr sz="1600">
                  <a:latin typeface="Cambria Math"/>
                </a:endParaRPr>
              </a:p>
            </p:txBody>
          </p:sp>
        </mc:Choice>
        <mc:Fallback>
          <p:sp>
            <p:nvSpPr>
              <p:cNvPr id="302" name="Stage1 transposed plant"/>
              <p:cNvSpPr txBox="1"/>
              <p:nvPr/>
            </p:nvSpPr>
            <p:spPr>
              <a:xfrm>
                <a:off x="4864100" y="1117600"/>
                <a:ext cx="3898900" cy="7239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 </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oMath>
                  </m:oMathPara>
                </a14:m>
                <a:endParaRPr sz="1600">
                  <a:latin typeface="Cambria Math"/>
                </a:endParaRPr>
              </a:p>
            </p:txBody>
          </p:sp>
        </mc:Choice>
        <mc:Fallback>
          <p:sp>
            <p:nvSpPr>
              <p:cNvPr id="303" name="Stage1 transposed controller"/>
              <p:cNvSpPr txBox="1"/>
              <p:nvPr/>
            </p:nvSpPr>
            <p:spPr>
              <a:xfrm>
                <a:off x="4864100" y="1955800"/>
                <a:ext cx="3898900" cy="317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Stage1 transposed filter"/>
              <p:cNvSpPr txBox="1"/>
              <p:nvPr/>
            </p:nvSpPr>
            <p:spPr>
              <a:xfrm>
                <a:off x="4864100" y="2362200"/>
                <a:ext cx="3898900" cy="533400"/>
              </a:xfrm>
              <a:prstGeom prst="rect">
                <a:avLst/>
              </a:prstGeom>
              <a:noFill/>
              <a:ln>
                <a:noFill/>
              </a:ln>
            </p:spPr>
            <p:txBody>
              <a:bodyPr wrap="square" lIns="0" tIns="0" rIns="0" bIns="0" anchor="ctr">
                <a:noAutofit/>
              </a:bodyPr>
              <a:lstStyle/>
              <a:p>
                <a:pPr algn="l"/>
                <a14:m>
                  <m:oMathPara>
                    <m:oMathParaPr>
                      <m:jc m:val="left"/>
                    </m:oMathParaPr>
                    <m:oMath>
                      <m:sSup>
                        <m:sSupPr>
                          <m:ctrlPr>
                            <a:rPr lang="en-US" sz="1800">
                              <a:solidFill>
                                <a:srgbClr val="252529"/>
                              </a:solidFill>
                              <a:latin typeface="Cambria Math"/>
                            </a:rPr>
                          </m:ctrlPr>
                        </m:sSupPr>
                        <m:e>
                          <m:r>
                            <m:rPr>
                              <m:sty m:val="p"/>
                            </m:rPr>
                            <a:rPr lang="en-US" sz="1800">
                              <a:solidFill>
                                <a:srgbClr val="252529"/>
                              </a:solidFill>
                              <a:latin typeface="Cambria Math"/>
                            </a:rPr>
                            <m:t xml:space="preserve">Θ</m:t>
                          </m:r>
                        </m:e>
                        <m:sup>
                          <m:r>
                            <m:rPr>
                              <m:sty m:val="p"/>
                            </m:rPr>
                            <a:rPr lang="en-US" sz="1800">
                              <a:solidFill>
                                <a:srgbClr val="252529"/>
                              </a:solidFill>
                              <a:latin typeface="Cambria Math"/>
                            </a:rPr>
                            <m:t xml:space="preserve">⊤</m:t>
                          </m:r>
                        </m:sup>
                      </m:sSup>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𝐼</m:t>
                                </m:r>
                              </m:e>
                              <m:e>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r>
                                      <m:rPr>
                                        <m:sty m:val="p"/>
                                      </m:rPr>
                                      <a:rPr lang="en-US" sz="1800">
                                        <a:solidFill>
                                          <a:srgbClr val="252529"/>
                                        </a:solidFill>
                                        <a:latin typeface="Cambria Math"/>
                                      </a:rPr>
                                      <m:t xml:space="preserve">𝐾</m:t>
                                    </m:r>
                                  </m:e>
                                  <m:sup>
                                    <m:r>
                                      <m:rPr>
                                        <m:sty m:val="p"/>
                                      </m:rPr>
                                      <a:rPr lang="en-US" sz="1800">
                                        <a:solidFill>
                                          <a:srgbClr val="252529"/>
                                        </a:solidFill>
                                        <a:latin typeface="Cambria Math"/>
                                      </a:rPr>
                                      <m:t xml:space="preserve">*</m:t>
                                    </m:r>
                                  </m:sup>
                                </m:sSup>
                              </m:e>
                            </m:mr>
                            <m:mr>
                              <m:e>
                                <m:r>
                                  <m:rPr>
                                    <m:sty m:val="p"/>
                                  </m:rPr>
                                  <a:rPr lang="en-US" sz="1800">
                                    <a:solidFill>
                                      <a:srgbClr val="252529"/>
                                    </a:solidFill>
                                    <a:latin typeface="Cambria Math"/>
                                  </a:rPr>
                                  <m:t xml:space="preserve">0</m:t>
                                </m:r>
                              </m:e>
                              <m:e>
                                <m:r>
                                  <m:rPr>
                                    <m:sty m:val="p"/>
                                  </m:rPr>
                                  <a:rPr lang="en-US" sz="1800">
                                    <a:solidFill>
                                      <a:srgbClr val="252529"/>
                                    </a:solidFill>
                                    <a:latin typeface="Cambria Math"/>
                                  </a:rPr>
                                  <m:t xml:space="preserve">𝐼</m:t>
                                </m:r>
                              </m:e>
                            </m:mr>
                          </m:m>
                        </m:e>
                      </m:d>
                    </m:oMath>
                  </m:oMathPara>
                </a14:m>
                <a:endParaRPr sz="1800">
                  <a:latin typeface="Cambria Math"/>
                </a:endParaRPr>
              </a:p>
            </p:txBody>
          </p:sp>
        </mc:Choice>
        <mc:Fallback>
          <p:sp>
            <p:nvSpPr>
              <p:cNvPr id="304" name="Stage1 transposed filter"/>
              <p:cNvSpPr txBox="1"/>
              <p:nvPr/>
            </p:nvSpPr>
            <p:spPr>
              <a:xfrm>
                <a:off x="4864100" y="2362200"/>
                <a:ext cx="3898900" cy="5334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5" name="Stage2 substitution"/>
          <p:cNvSpPr txBox="1"/>
          <p:nvPr/>
        </p:nvSpPr>
        <p:spPr>
          <a:xfrm>
            <a:off x="4876800" y="30226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6" name="Stage2 resulting system"/>
              <p:cNvSpPr txBox="1"/>
              <p:nvPr/>
            </p:nvSpPr>
            <p:spPr>
              <a:xfrm>
                <a:off x="4864100" y="3365500"/>
                <a:ext cx="3911600" cy="9652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e>
                              </m:d>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r>
                                    <m:rPr>
                                      <m:sty m:val="p"/>
                                    </m:rPr>
                                    <a:rPr lang="en-US" sz="1600">
                                      <a:solidFill>
                                        <a:srgbClr val="252529"/>
                                      </a:solidFill>
                                      <a:latin typeface="Cambria Math"/>
                                    </a:rPr>
                                    <m:t xml:space="preserve">𝐼</m:t>
                                  </m: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d>
                                        <m:dPr>
                                          <m:begChr m:val="("/>
                                          <m:endChr m:val=")"/>
                                          <m:ctrlPr>
                                            <a:rPr lang="en-US" sz="1600">
                                              <a:solidFill>
                                                <a:srgbClr val="252529"/>
                                              </a:solidFill>
                                              <a:latin typeface="Cambria Math"/>
                                            </a:rPr>
                                          </m:ctrlPr>
                                        </m:d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e>
                                      </m:d>
                                    </m:e>
                                    <m:sup>
                                      <m:r>
                                        <m:rPr>
                                          <m:sty m:val="p"/>
                                        </m:rPr>
                                        <a:rPr lang="en-US" sz="1600">
                                          <a:solidFill>
                                            <a:srgbClr val="252529"/>
                                          </a:solidFill>
                                          <a:latin typeface="Cambria Math"/>
                                        </a:rPr>
                                        <m:t xml:space="preserve">2</m:t>
                                      </m:r>
                                    </m:sup>
                                  </m:sSup>
                                </m:e>
                              </m:d>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r>
                                <m:rPr>
                                  <m:sty m:val="p"/>
                                </m:rPr>
                                <a:rPr lang="en-US" sz="1600">
                                  <a:solidFill>
                                    <a:srgbClr val="C81919"/>
                                  </a:solidFill>
                                  <a:latin typeface="Cambria Math"/>
                                </a:rPr>
                                <m:t xml:space="preserve">≠</m:t>
                              </m:r>
                              <m:r>
                                <m:rPr>
                                  <m:sty m:val="p"/>
                                </m:rPr>
                                <a:rPr lang="en-US" sz="1600">
                                  <a:solidFill>
                                    <a:srgbClr val="C81919"/>
                                  </a:solidFill>
                                  <a:latin typeface="Cambria Math"/>
                                </a:rPr>
                                <m:t xml:space="preserve">0</m:t>
                              </m:r>
                            </m:e>
                          </m:eqArr>
                        </m:e>
                      </m:d>
                    </m:oMath>
                  </m:oMathPara>
                </a14:m>
                <a:endParaRPr sz="1600">
                  <a:latin typeface="Cambria Math"/>
                </a:endParaRPr>
              </a:p>
            </p:txBody>
          </p:sp>
        </mc:Choice>
        <mc:Fallback>
          <p:sp>
            <p:nvSpPr>
              <p:cNvPr id="306" name="Stage2 resulting system"/>
              <p:cNvSpPr txBox="1"/>
              <p:nvPr/>
            </p:nvSpPr>
            <p:spPr>
              <a:xfrm>
                <a:off x="4864100" y="3365500"/>
                <a:ext cx="3911600" cy="9652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7" name="Stage3 conclusion"/>
          <p:cNvSpPr txBox="1"/>
          <p:nvPr/>
        </p:nvSpPr>
        <p:spPr>
          <a:xfrm>
            <a:off x="457200" y="4445000"/>
            <a:ext cx="8229600" cy="355600"/>
          </a:xfrm>
          <a:prstGeom prst="rect">
            <a:avLst/>
          </a:prstGeom>
          <a:noFill/>
          <a:ln>
            <a:noFill/>
          </a:ln>
        </p:spPr>
        <p:txBody>
          <a:bodyPr wrap="square" lIns="0" tIns="0" rIns="0" bIns="0" anchor="ctr">
            <a:noAutofit/>
          </a:bodyPr>
          <a:lstStyle/>
          <a:p>
            <a:pPr algn="l"/>
            <a:r>
              <a:rPr lang="en-US" sz="1550" b="1">
                <a:solidFill>
                  <a:srgbClr val="C81919"/>
                </a:solidFill>
                <a:latin typeface="Aptos"/>
              </a:rPr>
              <a:t>Not the dual filtered system: the residual is generally nonzero.</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06"/>
                                        </p:tgtEl>
                                        <p:attrNameLst>
                                          <p:attrName>style.visibility</p:attrName>
                                        </p:attrNameLst>
                                      </p:cBhvr>
                                      <p:to>
                                        <p:strVal val="visible"/>
                                      </p:to>
                                    </p:set>
                                    <p:animEffect transition="in" filter="fade">
                                      <p:cBhvr>
                                        <p:cTn id="21" dur="300"/>
                                        <p:tgtEl>
                                          <p:spTgt spid="306"/>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36</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26</a:t>
            </a:r>
            <a:endParaRPr sz="800"/>
          </a:p>
        </p:txBody>
      </p:sp>
    </p:spTree>
    <p:extLst>
      <p:ext uri="{BB962C8B-B14F-4D97-AF65-F5344CB8AC3E}">
        <p14:creationId xmlns:p14="http://schemas.microsoft.com/office/powerpoint/2010/main" val="19626724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27</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28</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29</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xmlns:mc="http://schemas.openxmlformats.org/markup-compatibility/2006">
  <p:cSld>
    <p:spTree>
      <p:nvGrpSpPr>
        <p:cNvPr id="1" name="">
          <a:extLst>
            <a:ext uri="{FF2B5EF4-FFF2-40B4-BE49-F238E27FC236}">
              <a16:creationId xmlns:a16="http://schemas.microsoft.com/office/drawing/2014/main" id="{1755D3A2-1085-6389-AB41-B0015504F6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9EFAF-C05C-0044-9765-20298D927EFC}"/>
              </a:ext>
            </a:extLst>
          </p:cNvPr>
          <p:cNvSpPr>
            <a:spLocks noGrp="1"/>
          </p:cNvSpPr>
          <p:nvPr>
            <p:ph type="title"/>
          </p:nvPr>
        </p:nvSpPr>
        <p:spPr/>
        <p:txBody>
          <a:bodyPr/>
          <a:lstStyle/>
          <a:p>
            <a:r>
              <a:rPr lang="en-US" dirty="0"/>
              <a:t>The dual filter</a:t>
            </a:r>
            <a:endParaRPr lang="en-NL" dirty="0"/>
          </a:p>
        </p:txBody>
      </p:sp>
      <p:sp>
        <p:nvSpPr>
          <p:cNvPr id="3" name="Footer Placeholder 2">
            <a:extLst>
              <a:ext uri="{FF2B5EF4-FFF2-40B4-BE49-F238E27FC236}">
                <a16:creationId xmlns:a16="http://schemas.microsoft.com/office/drawing/2014/main" id="{2B2EEE6B-C27A-FF11-5EB0-616BDA0C88F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6CCB6CB2-433D-A7B3-D437-52136B6D25B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35</a:t>
            </a:fld>
            <a:endParaRPr lang="en-GB"/>
          </a:p>
        </p:txBody>
      </p:sp>
      <p:grpSp>
        <p:nvGrpSpPr>
          <p:cNvPr id="5" name="Editable paper diagram">
            <a:extLst>
              <a:ext uri="{FF2B5EF4-FFF2-40B4-BE49-F238E27FC236}">
                <a16:creationId xmlns:a16="http://schemas.microsoft.com/office/drawing/2014/main" id="{9E670E9A-ED2A-0C1E-17FB-CD9EA8D493F7}"/>
              </a:ext>
            </a:extLst>
          </p:cNvPr>
          <p:cNvGrpSpPr/>
          <p:nvPr/>
        </p:nvGrpSpPr>
        <p:grpSpPr>
          <a:xfrm>
            <a:off x="457200" y="1308149"/>
            <a:ext cx="3138932" cy="1845056"/>
            <a:chOff x="1995932" y="2514600"/>
            <a:chExt cx="3138932" cy="1845056"/>
          </a:xfrm>
        </p:grpSpPr>
        <p:sp>
          <p:nvSpPr>
            <p:cNvPr id="14" name="Controller plant channel">
              <a:extLst>
                <a:ext uri="{FF2B5EF4-FFF2-40B4-BE49-F238E27FC236}">
                  <a16:creationId xmlns:a16="http://schemas.microsoft.com/office/drawing/2014/main" id="{D6D8BE0D-9F31-F4D8-1037-CC5CF917B2D8}"/>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5" name="Plant controller channel">
              <a:extLst>
                <a:ext uri="{FF2B5EF4-FFF2-40B4-BE49-F238E27FC236}">
                  <a16:creationId xmlns:a16="http://schemas.microsoft.com/office/drawing/2014/main" id="{AAAA39D3-FFC1-5A7A-9281-FB3A299D2DAB}"/>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17" name="Controller">
              <a:extLst>
                <a:ext uri="{FF2B5EF4-FFF2-40B4-BE49-F238E27FC236}">
                  <a16:creationId xmlns:a16="http://schemas.microsoft.com/office/drawing/2014/main" id="{9DDDEDCB-6AE8-3438-2296-1EB066492A2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18" name="Controller label">
                  <a:extLst>
                    <a:ext uri="{FF2B5EF4-FFF2-40B4-BE49-F238E27FC236}">
                      <a16:creationId xmlns:a16="http://schemas.microsoft.com/office/drawing/2014/main" id="{1D62BB51-984F-F36F-4695-2EFDF756E965}"/>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2"/>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Controller external channel">
                  <a:extLst>
                    <a:ext uri="{FF2B5EF4-FFF2-40B4-BE49-F238E27FC236}">
                      <a16:creationId xmlns:a16="http://schemas.microsoft.com/office/drawing/2014/main" id="{91D88441-A807-20C6-73D2-092D6154F82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 name="Plant measured channel">
                  <a:extLst>
                    <a:ext uri="{FF2B5EF4-FFF2-40B4-BE49-F238E27FC236}">
                      <a16:creationId xmlns:a16="http://schemas.microsoft.com/office/drawing/2014/main" id="{8D2F5480-B7A6-C2BD-D705-5203A1AECF2B}"/>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4"/>
                  <a:stretch>
                    <a:fillRect b="-3175"/>
                  </a:stretch>
                </a:blipFill>
                <a:ln>
                  <a:noFill/>
                </a:ln>
              </p:spPr>
              <p:txBody>
                <a:bodyPr/>
                <a:lstStyle/>
                <a:p>
                  <a:r>
                    <a:rPr lang="en-NL">
                      <a:noFill/>
                    </a:rPr>
                    <a:t> </a:t>
                  </a:r>
                </a:p>
              </p:txBody>
            </p:sp>
          </mc:Fallback>
        </mc:AlternateContent>
        <p:sp>
          <p:nvSpPr>
            <p:cNvPr id="26" name="Plant">
              <a:extLst>
                <a:ext uri="{FF2B5EF4-FFF2-40B4-BE49-F238E27FC236}">
                  <a16:creationId xmlns:a16="http://schemas.microsoft.com/office/drawing/2014/main" id="{8B2F2164-5759-10C7-BD62-A35E271CBBD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Plant label">
                  <a:extLst>
                    <a:ext uri="{FF2B5EF4-FFF2-40B4-BE49-F238E27FC236}">
                      <a16:creationId xmlns:a16="http://schemas.microsoft.com/office/drawing/2014/main" id="{07A78C4C-DB19-ECFD-BA9E-F09D1243617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5"/>
                  <a:stretch>
                    <a:fillRect/>
                  </a:stretch>
                </a:blipFill>
                <a:ln>
                  <a:noFill/>
                </a:ln>
              </p:spPr>
              <p:txBody>
                <a:bodyPr/>
                <a:lstStyle/>
                <a:p>
                  <a:r>
                    <a:rPr lang="en-NL">
                      <a:noFill/>
                    </a:rPr>
                    <a:t> </a:t>
                  </a:r>
                </a:p>
              </p:txBody>
            </p:sp>
          </mc:Fallback>
        </mc:AlternateContent>
      </p:grpSp>
      <p:sp>
        <p:nvSpPr>
          <p:cNvPr id="34" name="z filtered output">
            <a:extLst>
              <a:ext uri="{FF2B5EF4-FFF2-40B4-BE49-F238E27FC236}">
                <a16:creationId xmlns:a16="http://schemas.microsoft.com/office/drawing/2014/main" id="{9E4E8853-8302-AF6D-D8EC-BC62E1A63D12}"/>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5" name="Filtered z">
                <a:extLst>
                  <a:ext uri="{FF2B5EF4-FFF2-40B4-BE49-F238E27FC236}">
                    <a16:creationId xmlns:a16="http://schemas.microsoft.com/office/drawing/2014/main" id="{26FCE12F-2802-EF96-A411-762C12D13CD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35" name="Filtered z">
                <a:extLst>
                  <a:ext uri="{FF2B5EF4-FFF2-40B4-BE49-F238E27FC236}">
                    <a16:creationId xmlns:a16="http://schemas.microsoft.com/office/drawing/2014/main" id="{26FCE12F-2802-EF96-A411-762C12D13CD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6"/>
                <a:stretch>
                  <a:fillRect r="-30000" b="-3175"/>
                </a:stretch>
              </a:blipFill>
              <a:ln>
                <a:noFill/>
              </a:ln>
            </p:spPr>
            <p:txBody>
              <a:bodyPr/>
              <a:lstStyle/>
              <a:p>
                <a:r>
                  <a:rPr lang="en-NL">
                    <a:noFill/>
                  </a:rPr>
                  <a:t> </a:t>
                </a:r>
              </a:p>
            </p:txBody>
          </p:sp>
        </mc:Fallback>
      </mc:AlternateContent>
      <p:sp>
        <p:nvSpPr>
          <p:cNvPr id="36" name="w filtered output">
            <a:extLst>
              <a:ext uri="{FF2B5EF4-FFF2-40B4-BE49-F238E27FC236}">
                <a16:creationId xmlns:a16="http://schemas.microsoft.com/office/drawing/2014/main" id="{04088DD3-A4A0-57B8-9EF2-428C36616A80}"/>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7" name="Filtered w">
                <a:extLst>
                  <a:ext uri="{FF2B5EF4-FFF2-40B4-BE49-F238E27FC236}">
                    <a16:creationId xmlns:a16="http://schemas.microsoft.com/office/drawing/2014/main" id="{A8E4EB10-C79B-1D23-44E6-1BA5F1AE1AE3}"/>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37" name="Filtered w">
                <a:extLst>
                  <a:ext uri="{FF2B5EF4-FFF2-40B4-BE49-F238E27FC236}">
                    <a16:creationId xmlns:a16="http://schemas.microsoft.com/office/drawing/2014/main" id="{A8E4EB10-C79B-1D23-44E6-1BA5F1AE1AE3}"/>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7"/>
                <a:stretch>
                  <a:fillRect r="-30435"/>
                </a:stretch>
              </a:blipFill>
              <a:ln>
                <a:noFill/>
              </a:ln>
            </p:spPr>
            <p:txBody>
              <a:bodyPr/>
              <a:lstStyle/>
              <a:p>
                <a:r>
                  <a:rPr lang="en-NL">
                    <a:noFill/>
                  </a:rPr>
                  <a:t> </a:t>
                </a:r>
              </a:p>
            </p:txBody>
          </p:sp>
        </mc:Fallback>
      </mc:AlternateContent>
      <p:sp>
        <p:nvSpPr>
          <p:cNvPr id="52" name="Dynamic filter">
            <a:extLst>
              <a:ext uri="{FF2B5EF4-FFF2-40B4-BE49-F238E27FC236}">
                <a16:creationId xmlns:a16="http://schemas.microsoft.com/office/drawing/2014/main" id="{E2922503-EE0D-518C-6D56-90D1DD0FC909}"/>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p:sp>
        <p:nvSpPr>
          <p:cNvPr id="55" name="Connector: Elbow 54">
            <a:extLst>
              <a:ext uri="{FF2B5EF4-FFF2-40B4-BE49-F238E27FC236}">
                <a16:creationId xmlns:a16="http://schemas.microsoft.com/office/drawing/2014/main" id="{63205932-9B0E-5CAE-36E7-13DA4F346306}"/>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61" name="Connector: Elbow 60">
            <a:extLst>
              <a:ext uri="{FF2B5EF4-FFF2-40B4-BE49-F238E27FC236}">
                <a16:creationId xmlns:a16="http://schemas.microsoft.com/office/drawing/2014/main" id="{7BDB8044-BB83-282B-9538-3E80C9445E09}"/>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00" name="Signal tap 200">
            <a:extLst>
              <a:ext uri="{FF2B5EF4-FFF2-40B4-BE49-F238E27FC236}">
                <a16:creationId xmlns:a16="http://schemas.microsoft.com/office/drawing/2014/main" id="{B3E0480F-B49A-82BC-3BF7-757647D463C5}"/>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01" name="Signal tap 201">
            <a:extLst>
              <a:ext uri="{FF2B5EF4-FFF2-40B4-BE49-F238E27FC236}">
                <a16:creationId xmlns:a16="http://schemas.microsoft.com/office/drawing/2014/main" id="{87D28B37-71A6-9E34-44FC-8330024EEF41}"/>
              </a:ext>
            </a:extLst>
          </p:cNvPr>
          <p:cNvSpPr/>
          <p:nvPr/>
        </p:nvSpPr>
        <p:spPr>
          <a:xfrm>
            <a:off x="1236166" y="2797097"/>
            <a:ext cx="35560" cy="35560"/>
          </a:xfrm>
          <a:prstGeom prst="ellipse">
            <a:avLst/>
          </a:prstGeom>
          <a:solidFill>
            <a:srgbClr val="252529"/>
          </a:solidFill>
          <a:ln>
            <a:noFill/>
          </a:ln>
        </p:spPr>
        <p:txBody>
          <a:bodyPr/>
          <a:lstStyle/>
          <a:p>
            <a:endParaRPr lang="en-NL"/>
          </a:p>
        </p:txBody>
      </p:sp>
      <mc:AlternateContent>
        <mc:Choice Requires="a14">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2200">
                          <a:solidFill>
                            <a:srgbClr val="252529"/>
                          </a:solidFill>
                          <a:latin typeface="Cambria Math"/>
                        </a:rPr>
                        <m:t xml:space="preserve">𝐃</m:t>
                      </m:r>
                      <m:d>
                        <m:dPr>
                          <m:begChr m:val="("/>
                          <m:endChr m:val=")"/>
                          <m:ctrlPr>
                            <a:rPr lang="en-US" sz="2200">
                              <a:solidFill>
                                <a:srgbClr val="252529"/>
                              </a:solidFill>
                              <a:latin typeface="Cambria Math"/>
                            </a:rPr>
                          </m:ctrlPr>
                        </m:dPr>
                        <m:e>
                          <m:r>
                            <m:rPr>
                              <m:sty m:val="p"/>
                            </m:rPr>
                            <a:rPr lang="en-US" sz="2200">
                              <a:solidFill>
                                <a:srgbClr val="252529"/>
                              </a:solidFill>
                              <a:latin typeface="Cambria Math"/>
                            </a:rPr>
                            <m:t xml:space="preserve">Θ</m:t>
                          </m:r>
                        </m:e>
                      </m:d>
                    </m:oMath>
                  </m:oMathPara>
                </a14:m>
                <a:endParaRPr sz="2200">
                  <a:latin typeface="Cambria Math"/>
                </a:endParaRPr>
              </a:p>
            </p:txBody>
          </p:sp>
        </mc:Choice>
        <mc:Fallback>
          <p:sp>
            <p:nvSpPr>
              <p:cNvPr id="301" name="Dual filter diagram label"/>
              <p:cNvSpPr txBox="1"/>
              <p:nvPr/>
            </p:nvSpPr>
            <p:spPr>
              <a:xfrm>
                <a:off x="2844800" y="3378200"/>
                <a:ext cx="825500" cy="4445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2" name="Stage1 introduction"/>
          <p:cNvSpPr txBox="1"/>
          <p:nvPr/>
        </p:nvSpPr>
        <p:spPr>
          <a:xfrm>
            <a:off x="4876800" y="1054100"/>
            <a:ext cx="3784600" cy="279400"/>
          </a:xfrm>
          <a:prstGeom prst="rect">
            <a:avLst/>
          </a:prstGeom>
          <a:noFill/>
          <a:ln>
            <a:noFill/>
          </a:ln>
        </p:spPr>
        <p:txBody>
          <a:bodyPr wrap="square" lIns="0" tIns="0" rIns="0" bIns="0" anchor="ctr">
            <a:noAutofit/>
          </a:bodyPr>
          <a:lstStyle/>
          <a:p>
            <a:pPr algn="l"/>
            <a:r>
              <a:rPr lang="en-US" sz="1400" b="0">
                <a:solidFill>
                  <a:srgbClr val="252529"/>
                </a:solidFill>
                <a:latin typeface="Aptos"/>
              </a:rPr>
              <a:t>Use the dual filter</a:t>
            </a:r>
          </a:p>
        </p:txBody>
      </p:sp>
      <mc:AlternateContent>
        <mc:Choice Requires="a14">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𝐃</m:t>
                      </m:r>
                      <m:d>
                        <m:dPr>
                          <m:begChr m:val="("/>
                          <m:endChr m:val=")"/>
                          <m:ctrlPr>
                            <a:rPr lang="en-US" sz="1800">
                              <a:solidFill>
                                <a:srgbClr val="252529"/>
                              </a:solidFill>
                              <a:latin typeface="Cambria Math"/>
                            </a:rPr>
                          </m:ctrlPr>
                        </m:dPr>
                        <m:e>
                          <m:r>
                            <m:rPr>
                              <m:sty m:val="p"/>
                            </m:rPr>
                            <a:rPr lang="en-US" sz="1800">
                              <a:solidFill>
                                <a:srgbClr val="252529"/>
                              </a:solidFill>
                              <a:latin typeface="Cambria Math"/>
                            </a:rPr>
                            <m:t xml:space="preserve">Θ</m:t>
                          </m:r>
                        </m:e>
                      </m:d>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d>
                            <m:dPr>
                              <m:begChr m:val="("/>
                              <m:endChr m:val=")"/>
                              <m:ctrlPr>
                                <a:rPr lang="en-US" sz="1800">
                                  <a:solidFill>
                                    <a:srgbClr val="252529"/>
                                  </a:solidFill>
                                  <a:latin typeface="Cambria Math"/>
                                </a:rPr>
                              </m:ctrlPr>
                            </m:dPr>
                            <m:e>
                              <m:sSup>
                                <m:sSupPr>
                                  <m:ctrlPr>
                                    <a:rPr lang="en-US" sz="1800">
                                      <a:solidFill>
                                        <a:srgbClr val="252529"/>
                                      </a:solidFill>
                                      <a:latin typeface="Cambria Math"/>
                                    </a:rPr>
                                  </m:ctrlPr>
                                </m:sSupPr>
                                <m:e>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e>
                                <m:sup>
                                  <m:r>
                                    <m:rPr>
                                      <m:sty m:val="p"/>
                                    </m:rPr>
                                    <a:rPr lang="en-US" sz="1800">
                                      <a:solidFill>
                                        <a:srgbClr val="252529"/>
                                      </a:solidFill>
                                      <a:latin typeface="Cambria Math"/>
                                    </a:rPr>
                                    <m:t xml:space="preserve">*</m:t>
                                  </m:r>
                                </m:sup>
                              </m:sSup>
                              <m:sSup>
                                <m:sSupPr>
                                  <m:ctrlPr>
                                    <a:rPr lang="en-US" sz="1800">
                                      <a:solidFill>
                                        <a:srgbClr val="252529"/>
                                      </a:solidFill>
                                      <a:latin typeface="Cambria Math"/>
                                    </a:rPr>
                                  </m:ctrlPr>
                                </m:sSupPr>
                                <m:e>
                                  <m:r>
                                    <m:rPr>
                                      <m:sty m:val="p"/>
                                    </m:rPr>
                                    <a:rPr lang="en-US" sz="1800">
                                      <a:solidFill>
                                        <a:srgbClr val="252529"/>
                                      </a:solidFill>
                                      <a:latin typeface="Cambria Math"/>
                                    </a:rPr>
                                    <m:t xml:space="preserve">Θ</m:t>
                                  </m:r>
                                </m:e>
                                <m:sup>
                                  <m:r>
                                    <m:rPr>
                                      <m:sty m:val="p"/>
                                    </m:rPr>
                                    <a:rPr lang="en-US" sz="1800">
                                      <a:solidFill>
                                        <a:srgbClr val="252529"/>
                                      </a:solidFill>
                                      <a:latin typeface="Cambria Math"/>
                                    </a:rPr>
                                    <m:t xml:space="preserve">⊤</m:t>
                                  </m:r>
                                </m:sup>
                              </m:sSup>
                              <m:acc>
                                <m:accPr>
                                  <m:chr m:val="̂"/>
                                  <m:ctrlPr>
                                    <a:rPr lang="en-US" sz="1800">
                                      <a:solidFill>
                                        <a:srgbClr val="252529"/>
                                      </a:solidFill>
                                      <a:latin typeface="Cambria Math"/>
                                    </a:rPr>
                                  </m:ctrlPr>
                                </m:accPr>
                                <m:e>
                                  <m:r>
                                    <m:rPr>
                                      <m:sty m:val="p"/>
                                    </m:rPr>
                                    <a:rPr lang="en-US" sz="1800">
                                      <a:solidFill>
                                        <a:srgbClr val="252529"/>
                                      </a:solidFill>
                                      <a:latin typeface="Cambria Math"/>
                                    </a:rPr>
                                    <m:t xml:space="preserve">𝐽</m:t>
                                  </m:r>
                                </m:e>
                              </m:acc>
                            </m:e>
                          </m:d>
                        </m:e>
                        <m:sup>
                          <m:r>
                            <m:rPr>
                              <m:sty m:val="p"/>
                            </m:rPr>
                            <a:rPr lang="en-US" sz="1800">
                              <a:solidFill>
                                <a:srgbClr val="252529"/>
                              </a:solidFill>
                              <a:latin typeface="Cambria Math"/>
                            </a:rPr>
                            <m:t xml:space="preserve">−</m:t>
                          </m:r>
                          <m:r>
                            <m:rPr>
                              <m:sty m:val="p"/>
                            </m:rPr>
                            <a:rPr lang="en-US" sz="1800">
                              <a:solidFill>
                                <a:srgbClr val="252529"/>
                              </a:solidFill>
                              <a:latin typeface="Cambria Math"/>
                            </a:rPr>
                            <m:t xml:space="preserve">1</m:t>
                          </m:r>
                        </m:sup>
                      </m:sSup>
                    </m:oMath>
                  </m:oMathPara>
                </a14:m>
                <a:endParaRPr sz="1800">
                  <a:latin typeface="Cambria Math"/>
                </a:endParaRPr>
              </a:p>
            </p:txBody>
          </p:sp>
        </mc:Choice>
        <mc:Fallback>
          <p:sp>
            <p:nvSpPr>
              <p:cNvPr id="303" name="Stage1 definition"/>
              <p:cNvSpPr txBox="1"/>
              <p:nvPr/>
            </p:nvSpPr>
            <p:spPr>
              <a:xfrm>
                <a:off x="4864100" y="1384300"/>
                <a:ext cx="3898900" cy="4826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pPr algn="l"/>
                <a14:m>
                  <m:oMathPara>
                    <m:oMathParaPr>
                      <m:jc m:val="left"/>
                    </m:oMathParaPr>
                    <m:oMath>
                      <m:acc>
                        <m:accPr>
                          <m:chr m:val="̂"/>
                          <m:ctrlPr>
                            <a:rPr lang="en-US" sz="1400">
                              <a:solidFill>
                                <a:srgbClr val="252529"/>
                              </a:solidFill>
                              <a:latin typeface="Cambria Math"/>
                            </a:rPr>
                          </m:ctrlPr>
                        </m:accPr>
                        <m:e>
                          <m:r>
                            <m:rPr>
                              <m:sty m:val="p"/>
                            </m:rPr>
                            <a:rPr lang="en-US" sz="1400">
                              <a:solidFill>
                                <a:srgbClr val="252529"/>
                              </a:solidFill>
                              <a:latin typeface="Cambria Math"/>
                            </a:rPr>
                            <m:t xml:space="preserve">𝐽</m:t>
                          </m:r>
                        </m:e>
                      </m:acc>
                      <m:r>
                        <m:rPr>
                          <m:sty m:val="p"/>
                        </m:rPr>
                        <a:rPr lang="en-US" sz="1400">
                          <a:solidFill>
                            <a:srgbClr val="252529"/>
                          </a:solidFill>
                          <a:latin typeface="Cambria Math"/>
                        </a:rPr>
                        <m:t xml:space="preserve">=</m:t>
                      </m:r>
                      <m:d>
                        <m:dPr>
                          <m:begChr m:val="["/>
                          <m:endChr m:val="]"/>
                          <m:ctrlPr>
                            <a:rPr lang="en-US" sz="1400">
                              <a:solidFill>
                                <a:srgbClr val="252529"/>
                              </a:solidFill>
                              <a:latin typeface="Cambria Math"/>
                            </a:rPr>
                          </m:ctrlPr>
                        </m:dPr>
                        <m:e>
                          <m:m>
                            <m:mPr>
                              <m:ctrlPr>
                                <a:rPr lang="en-US" sz="1400">
                                  <a:solidFill>
                                    <a:srgbClr val="252529"/>
                                  </a:solidFill>
                                  <a:latin typeface="Cambria Math"/>
                                </a:rPr>
                              </m:ctrlPr>
                            </m:mPr>
                            <m:mr>
                              <m:e>
                                <m:r>
                                  <m:rPr>
                                    <m:sty m:val="p"/>
                                  </m:rPr>
                                  <a:rPr lang="en-US" sz="1400">
                                    <a:solidFill>
                                      <a:srgbClr val="252529"/>
                                    </a:solidFill>
                                    <a:latin typeface="Cambria Math"/>
                                  </a:rPr>
                                  <m:t xml:space="preserve">0</m:t>
                                </m:r>
                              </m:e>
                              <m:e>
                                <m:r>
                                  <m:rPr>
                                    <m:sty m:val="p"/>
                                  </m:rPr>
                                  <a:rPr lang="en-US" sz="1400">
                                    <a:solidFill>
                                      <a:srgbClr val="252529"/>
                                    </a:solidFill>
                                    <a:latin typeface="Cambria Math"/>
                                  </a:rPr>
                                  <m:t xml:space="preserve">𝐼</m:t>
                                </m:r>
                              </m:e>
                            </m:mr>
                            <m:mr>
                              <m:e>
                                <m:r>
                                  <m:rPr>
                                    <m:sty m:val="p"/>
                                  </m:rPr>
                                  <a:rPr lang="en-US" sz="1400">
                                    <a:solidFill>
                                      <a:srgbClr val="252529"/>
                                    </a:solidFill>
                                    <a:latin typeface="Cambria Math"/>
                                  </a:rPr>
                                  <m:t xml:space="preserve">−</m:t>
                                </m:r>
                                <m:r>
                                  <m:rPr>
                                    <m:sty m:val="p"/>
                                  </m:rPr>
                                  <a:rPr lang="en-US" sz="1400">
                                    <a:solidFill>
                                      <a:srgbClr val="252529"/>
                                    </a:solidFill>
                                    <a:latin typeface="Cambria Math"/>
                                  </a:rPr>
                                  <m:t xml:space="preserve">𝐼</m:t>
                                </m:r>
                              </m:e>
                              <m:e>
                                <m:r>
                                  <m:rPr>
                                    <m:sty m:val="p"/>
                                  </m:rPr>
                                  <a:rPr lang="en-US" sz="1400">
                                    <a:solidFill>
                                      <a:srgbClr val="252529"/>
                                    </a:solidFill>
                                    <a:latin typeface="Cambria Math"/>
                                  </a:rPr>
                                  <m:t xml:space="preserve">0</m:t>
                                </m:r>
                              </m:e>
                            </m:mr>
                          </m:m>
                        </m:e>
                      </m:d>
                    </m:oMath>
                  </m:oMathPara>
                </a14:m>
                <a:endParaRPr sz="1400">
                  <a:latin typeface="Cambria Math"/>
                </a:endParaRPr>
              </a:p>
            </p:txBody>
          </p:sp>
        </mc:Choice>
        <mc:Fallback>
          <p:sp>
            <p:nvSpPr>
              <p:cNvPr id="304" name="Stage1 exchange"/>
              <p:cNvSpPr txBox="1"/>
              <p:nvPr/>
            </p:nvSpPr>
            <p:spPr>
              <a:xfrm>
                <a:off x="4864100" y="1917700"/>
                <a:ext cx="3898900" cy="4953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mc:AlternateContent>
        <mc:Choice Requires="a14">
          <p:sp>
            <p:nvSpPr>
              <p:cNvPr id="305" name="Stage2 controller filter"/>
              <p:cNvSpPr txBox="1"/>
              <p:nvPr/>
            </p:nvSpPr>
            <p:spPr>
              <a:xfrm>
                <a:off x="4864100" y="2590800"/>
                <a:ext cx="3898900" cy="546100"/>
              </a:xfrm>
              <a:prstGeom prst="rect">
                <a:avLst/>
              </a:prstGeom>
              <a:noFill/>
              <a:ln>
                <a:noFill/>
              </a:ln>
            </p:spPr>
            <p:txBody>
              <a:bodyPr wrap="square" lIns="0" tIns="0" rIns="0" bIns="0" anchor="ctr">
                <a:noAutofit/>
              </a:bodyPr>
              <a:lstStyle/>
              <a:p>
                <a:pPr algn="l"/>
                <a14:m>
                  <m:oMathPara>
                    <m:oMathParaPr>
                      <m:jc m:val="left"/>
                    </m:oMathParaPr>
                    <m:oMath>
                      <m:r>
                        <m:rPr>
                          <m:sty m:val="p"/>
                        </m:rPr>
                        <a:rPr lang="en-US" sz="1800">
                          <a:solidFill>
                            <a:srgbClr val="252529"/>
                          </a:solidFill>
                          <a:latin typeface="Cambria Math"/>
                        </a:rPr>
                        <m:t xml:space="preserve">𝐃</m:t>
                      </m:r>
                      <m:d>
                        <m:dPr>
                          <m:begChr m:val="("/>
                          <m:endChr m:val=")"/>
                          <m:ctrlPr>
                            <a:rPr lang="en-US" sz="1800">
                              <a:solidFill>
                                <a:srgbClr val="252529"/>
                              </a:solidFill>
                              <a:latin typeface="Cambria Math"/>
                            </a:rPr>
                          </m:ctrlPr>
                        </m:dPr>
                        <m:e>
                          <m:r>
                            <m:rPr>
                              <m:sty m:val="p"/>
                            </m:rPr>
                            <a:rPr lang="en-US" sz="1800">
                              <a:solidFill>
                                <a:srgbClr val="252529"/>
                              </a:solidFill>
                              <a:latin typeface="Cambria Math"/>
                            </a:rPr>
                            <m:t xml:space="preserve">Θ</m:t>
                          </m:r>
                        </m:e>
                      </m:d>
                      <m:r>
                        <m:rPr>
                          <m:sty m:val="p"/>
                        </m:rPr>
                        <a:rPr lang="en-US" sz="1800">
                          <a:solidFill>
                            <a:srgbClr val="252529"/>
                          </a:solidFill>
                          <a:latin typeface="Cambria Math"/>
                        </a:rPr>
                        <m:t xml:space="preserve">=</m:t>
                      </m:r>
                      <m:d>
                        <m:dPr>
                          <m:begChr m:val="["/>
                          <m:endChr m:val="]"/>
                          <m:ctrlPr>
                            <a:rPr lang="en-US" sz="1800">
                              <a:solidFill>
                                <a:srgbClr val="252529"/>
                              </a:solidFill>
                              <a:latin typeface="Cambria Math"/>
                            </a:rPr>
                          </m:ctrlPr>
                        </m:dPr>
                        <m:e>
                          <m:m>
                            <m:mPr>
                              <m:ctrlPr>
                                <a:rPr lang="en-US" sz="1800">
                                  <a:solidFill>
                                    <a:srgbClr val="252529"/>
                                  </a:solidFill>
                                  <a:latin typeface="Cambria Math"/>
                                </a:rPr>
                              </m:ctrlPr>
                            </m:mPr>
                            <m:mr>
                              <m:e>
                                <m:r>
                                  <m:rPr>
                                    <m:sty m:val="p"/>
                                  </m:rPr>
                                  <a:rPr lang="en-US" sz="1800">
                                    <a:solidFill>
                                      <a:srgbClr val="252529"/>
                                    </a:solidFill>
                                    <a:latin typeface="Cambria Math"/>
                                  </a:rPr>
                                  <m:t xml:space="preserve">𝐼</m:t>
                                </m:r>
                              </m:e>
                              <m:e>
                                <m:r>
                                  <m:rPr>
                                    <m:sty m:val="p"/>
                                  </m:rPr>
                                  <a:rPr lang="en-US" sz="1800">
                                    <a:solidFill>
                                      <a:srgbClr val="252529"/>
                                    </a:solidFill>
                                    <a:latin typeface="Cambria Math"/>
                                  </a:rPr>
                                  <m:t xml:space="preserve">0</m:t>
                                </m:r>
                              </m:e>
                            </m:mr>
                            <m:mr>
                              <m:e>
                                <m:r>
                                  <m:rPr>
                                    <m:sty m:val="p"/>
                                  </m:rPr>
                                  <a:rPr lang="en-US" sz="1800">
                                    <a:solidFill>
                                      <a:srgbClr val="252529"/>
                                    </a:solidFill>
                                    <a:latin typeface="Cambria Math"/>
                                  </a:rPr>
                                  <m:t xml:space="preserve">−</m:t>
                                </m:r>
                                <m:sSup>
                                  <m:sSupPr>
                                    <m:ctrlPr>
                                      <a:rPr lang="en-US" sz="1800">
                                        <a:solidFill>
                                          <a:srgbClr val="252529"/>
                                        </a:solidFill>
                                        <a:latin typeface="Cambria Math"/>
                                      </a:rPr>
                                    </m:ctrlPr>
                                  </m:sSupPr>
                                  <m:e>
                                    <m:r>
                                      <m:rPr>
                                        <m:sty m:val="p"/>
                                      </m:rPr>
                                      <a:rPr lang="en-US" sz="1800">
                                        <a:solidFill>
                                          <a:srgbClr val="252529"/>
                                        </a:solidFill>
                                        <a:latin typeface="Cambria Math"/>
                                      </a:rPr>
                                      <m:t xml:space="preserve">𝐾</m:t>
                                    </m:r>
                                  </m:e>
                                  <m:sup>
                                    <m:r>
                                      <m:rPr>
                                        <m:sty m:val="p"/>
                                      </m:rPr>
                                      <a:rPr lang="en-US" sz="1800">
                                        <a:solidFill>
                                          <a:srgbClr val="252529"/>
                                        </a:solidFill>
                                        <a:latin typeface="Cambria Math"/>
                                      </a:rPr>
                                      <m:t xml:space="preserve">*</m:t>
                                    </m:r>
                                  </m:sup>
                                </m:sSup>
                              </m:e>
                              <m:e>
                                <m:r>
                                  <m:rPr>
                                    <m:sty m:val="p"/>
                                  </m:rPr>
                                  <a:rPr lang="en-US" sz="1800">
                                    <a:solidFill>
                                      <a:srgbClr val="252529"/>
                                    </a:solidFill>
                                    <a:latin typeface="Cambria Math"/>
                                  </a:rPr>
                                  <m:t xml:space="preserve">𝐼</m:t>
                                </m:r>
                              </m:e>
                            </m:mr>
                          </m:m>
                        </m:e>
                      </m:d>
                    </m:oMath>
                  </m:oMathPara>
                </a14:m>
                <a:endParaRPr sz="1800">
                  <a:latin typeface="Cambria Math"/>
                </a:endParaRPr>
              </a:p>
            </p:txBody>
          </p:sp>
        </mc:Choice>
        <mc:Fallback>
          <p:sp>
            <p:nvSpPr>
              <p:cNvPr id="305" name="Stage2 controller filter"/>
              <p:cNvSpPr txBox="1"/>
              <p:nvPr/>
            </p:nvSpPr>
            <p:spPr>
              <a:xfrm>
                <a:off x="4864100" y="2590800"/>
                <a:ext cx="3898900" cy="5461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6" name="Stage3 substitution"/>
          <p:cNvSpPr txBox="1"/>
          <p:nvPr/>
        </p:nvSpPr>
        <p:spPr>
          <a:xfrm>
            <a:off x="4876800" y="3263900"/>
            <a:ext cx="3784600" cy="266700"/>
          </a:xfrm>
          <a:prstGeom prst="rect">
            <a:avLst/>
          </a:prstGeom>
          <a:noFill/>
          <a:ln>
            <a:noFill/>
          </a:ln>
        </p:spPr>
        <p:txBody>
          <a:bodyPr wrap="square" lIns="0" tIns="0" rIns="0" bIns="0" anchor="ctr">
            <a:noAutofit/>
          </a:bodyPr>
          <a:lstStyle/>
          <a:p>
            <a:pPr algn="l"/>
            <a:r>
              <a:rPr lang="en-US" sz="1400" b="0">
                <a:solidFill>
                  <a:srgbClr val="252529"/>
                </a:solidFill>
                <a:latin typeface="Aptos"/>
              </a:rPr>
              <a:t>Filling in</a:t>
            </a:r>
          </a:p>
        </p:txBody>
      </p:sp>
      <mc:AlternateContent>
        <mc:Choice Requires="a14">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pPr algn="l"/>
                <a14:m>
                  <m:oMathPara>
                    <m:oMathParaPr>
                      <m:jc m:val="left"/>
                    </m:oMathParaPr>
                    <m:oMath>
                      <m:d>
                        <m:dPr>
                          <m:begChr m:val="{"/>
                          <m:endChr m:val=""/>
                          <m:ctrlPr>
                            <a:rPr lang="en-US" sz="1600">
                              <a:solidFill>
                                <a:srgbClr val="252529"/>
                              </a:solidFill>
                              <a:latin typeface="Cambria Math"/>
                            </a:rPr>
                          </m:ctrlPr>
                        </m:dPr>
                        <m:e>
                          <m:eqArr>
                            <m:eqArrPr>
                              <m:ctrlPr>
                                <a:rPr lang="en-US" sz="1600">
                                  <a:solidFill>
                                    <a:srgbClr val="252529"/>
                                  </a:solidFill>
                                  <a:latin typeface="Cambria Math"/>
                                </a:rPr>
                              </m:ctrlPr>
                            </m:eqArr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𝑇</m:t>
                                  </m:r>
                                </m:e>
                                <m:sup>
                                  <m:r>
                                    <m:rPr>
                                      <m:sty m:val="p"/>
                                    </m:rPr>
                                    <a:rPr lang="en-US" sz="1600">
                                      <a:solidFill>
                                        <a:srgbClr val="252529"/>
                                      </a:solidFill>
                                      <a:latin typeface="Cambria Math"/>
                                    </a:rPr>
                                    <m:t xml:space="preserve">*</m:t>
                                  </m:r>
                                </m:sup>
                              </m:sSup>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acc>
                              <m:r>
                                <m:rPr>
                                  <m:sty m:val="p"/>
                                </m:rPr>
                                <a:rPr lang="en-US" sz="1600">
                                  <a:solidFill>
                                    <a:srgbClr val="252529"/>
                                  </a:solidFill>
                                  <a:latin typeface="Cambria Math"/>
                                </a:rPr>
                                <m:t xml:space="preserve">=</m:t>
                              </m:r>
                              <m:d>
                                <m:dPr>
                                  <m:begChr m:val="("/>
                                  <m:endChr m:val=")"/>
                                  <m:ctrlPr>
                                    <a:rPr lang="en-US" sz="1600">
                                      <a:solidFill>
                                        <a:srgbClr val="252529"/>
                                      </a:solidFill>
                                      <a:latin typeface="Cambria Math"/>
                                    </a:rPr>
                                  </m:ctrlPr>
                                </m:dPr>
                                <m:e>
                                  <m:sSup>
                                    <m:sSupPr>
                                      <m:ctrlPr>
                                        <a:rPr lang="en-US" sz="1600">
                                          <a:solidFill>
                                            <a:srgbClr val="252529"/>
                                          </a:solidFill>
                                          <a:latin typeface="Cambria Math"/>
                                        </a:rPr>
                                      </m:ctrlPr>
                                    </m:sSupPr>
                                    <m:e>
                                      <m:r>
                                        <m:rPr>
                                          <m:sty m:val="p"/>
                                        </m:rPr>
                                        <a:rPr lang="en-US" sz="1600">
                                          <a:solidFill>
                                            <a:srgbClr val="252529"/>
                                          </a:solidFill>
                                          <a:latin typeface="Cambria Math"/>
                                        </a:rPr>
                                        <m:t xml:space="preserve">𝐴</m:t>
                                      </m:r>
                                    </m:e>
                                    <m:sup>
                                      <m:r>
                                        <m:rPr>
                                          <m:sty m:val="p"/>
                                        </m:rPr>
                                        <a:rPr lang="en-US" sz="1600">
                                          <a:solidFill>
                                            <a:srgbClr val="252529"/>
                                          </a:solidFill>
                                          <a:latin typeface="Cambria Math"/>
                                        </a:rPr>
                                        <m:t xml:space="preserve">*</m:t>
                                      </m:r>
                                    </m:sup>
                                  </m:sSup>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e>
                              </m:d>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e>
                              </m:acc>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sSub>
                                    <m:sSubPr>
                                      <m:ctrlPr>
                                        <a:rPr lang="en-US" sz="1600">
                                          <a:solidFill>
                                            <a:srgbClr val="252529"/>
                                          </a:solidFill>
                                          <a:latin typeface="Cambria Math"/>
                                        </a:rPr>
                                      </m:ctrlPr>
                                    </m:sSubPr>
                                    <m:e>
                                      <m:r>
                                        <m:rPr>
                                          <m:sty m:val="p"/>
                                        </m:rPr>
                                        <a:rPr lang="en-US" sz="1600">
                                          <a:solidFill>
                                            <a:srgbClr val="252529"/>
                                          </a:solidFill>
                                          <a:latin typeface="Cambria Math"/>
                                        </a:rPr>
                                        <m:t xml:space="preserve">𝐵</m:t>
                                      </m:r>
                                    </m:e>
                                    <m:sub>
                                      <m:r>
                                        <m:rPr>
                                          <m:sty m:val="p"/>
                                        </m:rPr>
                                        <a:rPr lang="en-US" sz="1600">
                                          <a:solidFill>
                                            <a:srgbClr val="252529"/>
                                          </a:solidFill>
                                          <a:latin typeface="Cambria Math"/>
                                        </a:rPr>
                                        <m:t xml:space="preserve">u</m:t>
                                      </m:r>
                                    </m:sub>
                                  </m:sSub>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𝑥</m:t>
                                  </m:r>
                                </m:e>
                              </m:bar>
                            </m:e>
                            <m:e>
                              <m:acc>
                                <m:accPr>
                                  <m:chr m:val="̃"/>
                                  <m:ctrlPr>
                                    <a:rPr lang="en-US" sz="1600">
                                      <a:solidFill>
                                        <a:srgbClr val="252529"/>
                                      </a:solidFill>
                                      <a:latin typeface="Cambria Math"/>
                                    </a:rPr>
                                  </m:ctrlPr>
                                </m:accPr>
                                <m:e>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e>
                              </m:acc>
                              <m:r>
                                <m:rPr>
                                  <m:sty m:val="p"/>
                                </m:rPr>
                                <a:rPr lang="en-US" sz="1600">
                                  <a:solidFill>
                                    <a:srgbClr val="252529"/>
                                  </a:solidFill>
                                  <a:latin typeface="Cambria Math"/>
                                </a:rPr>
                                <m:t xml:space="preserve">=</m:t>
                              </m:r>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𝑢</m:t>
                                  </m:r>
                                </m:e>
                              </m:bar>
                              <m:r>
                                <m:rPr>
                                  <m:sty m:val="p"/>
                                </m:rPr>
                                <a:rPr lang="en-US" sz="1600">
                                  <a:solidFill>
                                    <a:srgbClr val="252529"/>
                                  </a:solidFill>
                                  <a:latin typeface="Cambria Math"/>
                                </a:rPr>
                                <m:t xml:space="preserve">−</m:t>
                              </m:r>
                              <m:sSup>
                                <m:sSupPr>
                                  <m:ctrlPr>
                                    <a:rPr lang="en-US" sz="1600">
                                      <a:solidFill>
                                        <a:srgbClr val="252529"/>
                                      </a:solidFill>
                                      <a:latin typeface="Cambria Math"/>
                                    </a:rPr>
                                  </m:ctrlPr>
                                </m:sSupPr>
                                <m:e>
                                  <m:r>
                                    <m:rPr>
                                      <m:sty m:val="p"/>
                                    </m:rPr>
                                    <a:rPr lang="en-US" sz="1600">
                                      <a:solidFill>
                                        <a:srgbClr val="252529"/>
                                      </a:solidFill>
                                      <a:latin typeface="Cambria Math"/>
                                    </a:rPr>
                                    <m:t xml:space="preserve">𝐾</m:t>
                                  </m:r>
                                </m:e>
                                <m:sup>
                                  <m:r>
                                    <m:rPr>
                                      <m:sty m:val="p"/>
                                    </m:rPr>
                                    <a:rPr lang="en-US" sz="1600">
                                      <a:solidFill>
                                        <a:srgbClr val="252529"/>
                                      </a:solidFill>
                                      <a:latin typeface="Cambria Math"/>
                                    </a:rPr>
                                    <m:t xml:space="preserve">*</m:t>
                                  </m:r>
                                </m:sup>
                              </m:sSup>
                              <m:bar>
                                <m:barPr>
                                  <m:pos m:val="bot"/>
                                  <m:ctrlPr>
                                    <a:rPr lang="en-US" sz="1600">
                                      <a:solidFill>
                                        <a:srgbClr val="252529"/>
                                      </a:solidFill>
                                      <a:latin typeface="Cambria Math"/>
                                    </a:rPr>
                                  </m:ctrlPr>
                                </m:barPr>
                                <m:e>
                                  <m:r>
                                    <m:rPr>
                                      <m:sty m:val="p"/>
                                    </m:rPr>
                                    <a:rPr lang="en-US" sz="1600">
                                      <a:solidFill>
                                        <a:srgbClr val="252529"/>
                                      </a:solidFill>
                                      <a:latin typeface="Cambria Math"/>
                                    </a:rPr>
                                    <m:t xml:space="preserve">𝑦</m:t>
                                  </m:r>
                                </m:e>
                              </m:bar>
                              <m:r>
                                <m:rPr>
                                  <m:sty m:val="p"/>
                                </m:rPr>
                                <a:rPr lang="en-US" sz="1600">
                                  <a:solidFill>
                                    <a:srgbClr val="252529"/>
                                  </a:solidFill>
                                  <a:latin typeface="Cambria Math"/>
                                </a:rPr>
                                <m:t xml:space="preserve">=</m:t>
                              </m:r>
                              <m:r>
                                <m:rPr>
                                  <m:sty m:val="p"/>
                                </m:rPr>
                                <a:rPr lang="en-US" sz="1600">
                                  <a:solidFill>
                                    <a:srgbClr val="252529"/>
                                  </a:solidFill>
                                  <a:latin typeface="Cambria Math"/>
                                </a:rPr>
                                <m:t xml:space="preserve">0</m:t>
                              </m:r>
                            </m:e>
                          </m:eqArr>
                        </m:e>
                      </m:d>
                    </m:oMath>
                  </m:oMathPara>
                </a14:m>
                <a:endParaRPr sz="1600">
                  <a:latin typeface="Cambria Math"/>
                </a:endParaRPr>
              </a:p>
            </p:txBody>
          </p:sp>
        </mc:Choice>
        <mc:Fallback>
          <p:sp>
            <p:nvSpPr>
              <p:cNvPr id="307" name="Stage3 dual system"/>
              <p:cNvSpPr txBox="1"/>
              <p:nvPr/>
            </p:nvSpPr>
            <p:spPr>
              <a:xfrm>
                <a:off x="4864100" y="3556000"/>
                <a:ext cx="3911600" cy="812800"/>
              </a:xfrm>
              <a:prstGeom prst="rect">
                <a:avLst/>
              </a:prstGeom>
              <a:noFill/>
              <a:ln>
                <a:noFill/>
              </a:ln>
            </p:spPr>
            <p:txBody>
              <a:bodyPr wrap="square" lIns="0" tIns="0" rIns="0" bIns="0" anchor="ctr">
                <a:noAutofit/>
              </a:bodyPr>
              <a:lstStyle/>
              <a:p>
                <a:r>
                  <a:rPr sz="1800"/>
                  <a:t>Editable equation (requires current PowerPoint)</a:t>
                </a:r>
              </a:p>
            </p:txBody>
          </p:sp>
        </mc:Fallback>
      </mc:AlternateContent>
      <p:sp>
        <p:nvSpPr>
          <p:cNvPr id="308" name="Stage3 conclusion"/>
          <p:cNvSpPr txBox="1"/>
          <p:nvPr/>
        </p:nvSpPr>
        <p:spPr>
          <a:xfrm>
            <a:off x="457200" y="4495800"/>
            <a:ext cx="8229600" cy="279400"/>
          </a:xfrm>
          <a:prstGeom prst="rect">
            <a:avLst/>
          </a:prstGeom>
          <a:noFill/>
          <a:ln>
            <a:noFill/>
          </a:ln>
        </p:spPr>
        <p:txBody>
          <a:bodyPr wrap="square" lIns="0" tIns="0" rIns="0" bIns="0" anchor="ctr">
            <a:noAutofit/>
          </a:bodyPr>
          <a:lstStyle/>
          <a:p>
            <a:pPr algn="l"/>
            <a:r>
              <a:rPr lang="en-US" sz="1600" b="1">
                <a:solidFill>
                  <a:srgbClr val="C81919"/>
                </a:solidFill>
                <a:latin typeface="Aptos"/>
              </a:rPr>
              <a:t>The dual filter restores the zero residual.</a:t>
            </a:r>
          </a:p>
        </p:txBody>
      </p:sp>
    </p:spTree>
    <p:extLst>
      <p:ext uri="{BB962C8B-B14F-4D97-AF65-F5344CB8AC3E}">
        <p14:creationId xmlns:p14="http://schemas.microsoft.com/office/powerpoint/2010/main" val="1166307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2"/>
                                        </p:tgtEl>
                                        <p:attrNameLst>
                                          <p:attrName>style.visibility</p:attrName>
                                        </p:attrNameLst>
                                      </p:cBhvr>
                                      <p:to>
                                        <p:strVal val="visible"/>
                                      </p:to>
                                    </p:set>
                                    <p:animEffect transition="in" filter="fade">
                                      <p:cBhvr>
                                        <p:cTn id="7" dur="300"/>
                                        <p:tgtEl>
                                          <p:spTgt spid="30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03"/>
                                        </p:tgtEl>
                                        <p:attrNameLst>
                                          <p:attrName>style.visibility</p:attrName>
                                        </p:attrNameLst>
                                      </p:cBhvr>
                                      <p:to>
                                        <p:strVal val="visible"/>
                                      </p:to>
                                    </p:set>
                                    <p:animEffect transition="in" filter="fade">
                                      <p:cBhvr>
                                        <p:cTn id="10" dur="300"/>
                                        <p:tgtEl>
                                          <p:spTgt spid="30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4"/>
                                        </p:tgtEl>
                                        <p:attrNameLst>
                                          <p:attrName>style.visibility</p:attrName>
                                        </p:attrNameLst>
                                      </p:cBhvr>
                                      <p:to>
                                        <p:strVal val="visible"/>
                                      </p:to>
                                    </p:set>
                                    <p:animEffect transition="in" filter="fade">
                                      <p:cBhvr>
                                        <p:cTn id="13" dur="300"/>
                                        <p:tgtEl>
                                          <p:spTgt spid="304"/>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05"/>
                                        </p:tgtEl>
                                        <p:attrNameLst>
                                          <p:attrName>style.visibility</p:attrName>
                                        </p:attrNameLst>
                                      </p:cBhvr>
                                      <p:to>
                                        <p:strVal val="visible"/>
                                      </p:to>
                                    </p:set>
                                    <p:animEffect transition="in" filter="fade">
                                      <p:cBhvr>
                                        <p:cTn id="18" dur="300"/>
                                        <p:tgtEl>
                                          <p:spTgt spid="305"/>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06"/>
                                        </p:tgtEl>
                                        <p:attrNameLst>
                                          <p:attrName>style.visibility</p:attrName>
                                        </p:attrNameLst>
                                      </p:cBhvr>
                                      <p:to>
                                        <p:strVal val="visible"/>
                                      </p:to>
                                    </p:set>
                                    <p:animEffect transition="in" filter="fade">
                                      <p:cBhvr>
                                        <p:cTn id="23" dur="300"/>
                                        <p:tgtEl>
                                          <p:spTgt spid="30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07"/>
                                        </p:tgtEl>
                                        <p:attrNameLst>
                                          <p:attrName>style.visibility</p:attrName>
                                        </p:attrNameLst>
                                      </p:cBhvr>
                                      <p:to>
                                        <p:strVal val="visible"/>
                                      </p:to>
                                    </p:set>
                                    <p:animEffect transition="in" filter="fade">
                                      <p:cBhvr>
                                        <p:cTn id="26" dur="300"/>
                                        <p:tgtEl>
                                          <p:spTgt spid="307"/>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08"/>
                                        </p:tgtEl>
                                        <p:attrNameLst>
                                          <p:attrName>style.visibility</p:attrName>
                                        </p:attrNameLst>
                                      </p:cBhvr>
                                      <p:to>
                                        <p:strVal val="visible"/>
                                      </p:to>
                                    </p:set>
                                    <p:animEffect transition="in" filter="fade">
                                      <p:cBhvr>
                                        <p:cTn id="29" dur="300"/>
                                        <p:tgtEl>
                                          <p:spTgt spid="3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 grpId="0"/>
      <p:bldP spid="303" grpId="0"/>
      <p:bldP spid="304" grpId="0"/>
      <p:bldP spid="305" grpId="0"/>
      <p:bldP spid="306" grpId="0"/>
      <p:bldP spid="307" grpId="0"/>
      <p:bldP spid="308" grpId="0"/>
    </p:bldLst>
  </p:timing>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2772</TotalTime>
  <Words>4481</Words>
  <Application>Microsoft Office PowerPoint</Application>
  <PresentationFormat>On-screen Show (16:9)</PresentationFormat>
  <Paragraphs>463</Paragraphs>
  <Slides>44</Slides>
  <Notes>37</Notes>
  <HiddenSlides>0</HiddenSlides>
  <MMClips>5</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Beta-oscilations</vt:lpstr>
      <vt:lpstr>PowerPoint Presentation</vt:lpstr>
      <vt:lpstr>PowerPoint Presentation</vt:lpstr>
      <vt:lpstr>PowerPoint Presentation</vt:lpstr>
      <vt:lpstr>PowerPoint Presentation</vt:lpstr>
      <vt:lpstr>Partial Integral Equations</vt:lpstr>
      <vt:lpstr>Partial Integral Equations</vt:lpstr>
      <vt:lpstr>Partial Integral Equations</vt:lpstr>
      <vt:lpstr>Partial Integral Equations</vt:lpstr>
      <vt:lpstr>Partial Integral Equations</vt:lpstr>
      <vt:lpstr>Partial Integral Equations</vt:lpstr>
      <vt:lpstr>Robust Stability and Performance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Alternative controller schematic</vt:lpstr>
      <vt:lpstr>Transposing the systems</vt:lpstr>
      <vt:lpstr>Future work</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Lenssen, Thijs</cp:lastModifiedBy>
  <cp:revision>22</cp:revision>
  <dcterms:created xsi:type="dcterms:W3CDTF">2019-11-27T15:26:32Z</dcterms:created>
  <dcterms:modified xsi:type="dcterms:W3CDTF">2026-09-25T14:02:56Z</dcterms:modified>
</cp:coreProperties>
</file>