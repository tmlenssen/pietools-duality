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61"/>
  </p:notesMasterIdLst>
  <p:sldIdLst>
    <p:sldId id="401" r:id="rId2"/>
    <p:sldId id="402" r:id="rId3"/>
    <p:sldId id="403" r:id="rId4"/>
    <p:sldId id="410" r:id="rId5"/>
    <p:sldId id="411" r:id="rId6"/>
    <p:sldId id="444" r:id="rId7"/>
    <p:sldId id="414" r:id="rId8"/>
    <p:sldId id="415" r:id="rId9"/>
    <p:sldId id="416" r:id="rId10"/>
    <p:sldId id="445" r:id="rId11"/>
    <p:sldId id="417" r:id="rId12"/>
    <p:sldId id="418" r:id="rId13"/>
    <p:sldId id="419" r:id="rId14"/>
    <p:sldId id="420" r:id="rId15"/>
    <p:sldId id="422" r:id="rId16"/>
    <p:sldId id="454" r:id="rId17"/>
    <p:sldId id="455" r:id="rId18"/>
    <p:sldId id="456" r:id="rId19"/>
    <p:sldId id="457" r:id="rId20"/>
    <p:sldId id="404" r:id="rId21"/>
    <p:sldId id="406" r:id="rId22"/>
    <p:sldId id="460" r:id="rId23"/>
    <p:sldId id="407" r:id="rId24"/>
    <p:sldId id="408" r:id="rId25"/>
    <p:sldId id="459" r:id="rId26"/>
    <p:sldId id="462" r:id="rId27"/>
    <p:sldId id="461" r:id="rId28"/>
    <p:sldId id="463" r:id="rId29"/>
    <p:sldId id="466" r:id="rId30"/>
    <p:sldId id="465" r:id="rId31"/>
    <p:sldId id="467" r:id="rId32"/>
    <p:sldId id="469" r:id="rId33"/>
    <p:sldId id="470" r:id="rId34"/>
    <p:sldId id="472" r:id="rId35"/>
    <p:sldId id="256" r:id="rId36"/>
    <p:sldId id="257" r:id="rId37"/>
    <p:sldId id="258" r:id="rId38"/>
    <p:sldId id="476" r:id="rId39"/>
    <p:sldId id="474" r:id="rId40"/>
    <p:sldId id="475" r:id="rId41"/>
    <p:sldId id="450" r:id="rId42"/>
    <p:sldId id="478" r:id="rId43"/>
    <p:sldId id="477" r:id="rId44"/>
    <p:sldId id="453" r:id="rId45"/>
    <p:sldId id="441" r:id="rId46"/>
    <p:sldId id="471" r:id="rId47"/>
    <p:sldId id="442" r:id="rId48"/>
    <p:sldId id="443" r:id="rId49"/>
    <p:sldId id="439" r:id="rId50"/>
    <p:sldId id="458" r:id="rId51"/>
    <p:sldId id="421" r:id="rId52"/>
    <p:sldId id="427" r:id="rId53"/>
    <p:sldId id="431" r:id="rId54"/>
    <p:sldId id="428" r:id="rId55"/>
    <p:sldId id="429" r:id="rId56"/>
    <p:sldId id="432" r:id="rId57"/>
    <p:sldId id="430" r:id="rId58"/>
    <p:sldId id="433" r:id="rId59"/>
    <p:sldId id="434" r:id="rId60"/>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81919"/>
    <a:srgbClr val="000000"/>
    <a:srgbClr val="216F9C"/>
    <a:srgbClr val="EEE8E8"/>
    <a:srgbClr val="530505"/>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58" autoAdjust="0"/>
    <p:restoredTop sz="85122" autoAdjust="0"/>
  </p:normalViewPr>
  <p:slideViewPr>
    <p:cSldViewPr snapToGrid="0" showGuides="1">
      <p:cViewPr varScale="1">
        <p:scale>
          <a:sx n="124" d="100"/>
          <a:sy n="124" d="100"/>
        </p:scale>
        <p:origin x="2268" y="102"/>
      </p:cViewPr>
      <p:guideLst/>
    </p:cSldViewPr>
  </p:slideViewPr>
  <p:outlineViewPr>
    <p:cViewPr>
      <p:scale>
        <a:sx n="33" d="100"/>
        <a:sy n="33" d="100"/>
      </p:scale>
      <p:origin x="0" y="-3978"/>
    </p:cViewPr>
  </p:outlin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27/09/2026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As we increase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xmlns="">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7</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F4547-1D74-6924-7F4F-0FD1145E7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0B1FEC-F382-0D05-EF9C-7DB56DA68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F4A45-1859-632F-DF7E-C24E9426CD6C}"/>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70AABC9-5F70-0EDA-AD6C-D2924BF85F73}"/>
              </a:ext>
            </a:extLst>
          </p:cNvPr>
          <p:cNvSpPr>
            <a:spLocks noGrp="1"/>
          </p:cNvSpPr>
          <p:nvPr>
            <p:ph type="sldNum" sz="quarter" idx="5"/>
          </p:nvPr>
        </p:nvSpPr>
        <p:spPr/>
        <p:txBody>
          <a:bodyPr/>
          <a:lstStyle/>
          <a:p>
            <a:fld id="{AA799BBE-B871-48D7-983C-C0B1D7156DCD}" type="slidenum">
              <a:rPr lang="en-GB" smtClean="0"/>
              <a:t>10</a:t>
            </a:fld>
            <a:endParaRPr lang="en-GB"/>
          </a:p>
        </p:txBody>
      </p:sp>
    </p:spTree>
    <p:extLst>
      <p:ext uri="{BB962C8B-B14F-4D97-AF65-F5344CB8AC3E}">
        <p14:creationId xmlns:p14="http://schemas.microsoft.com/office/powerpoint/2010/main" val="1391209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11</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12</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13</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14</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Five-click construction using the user-supplied editable LFR. 1: the two nonlinearities become Delta, with the neural schematic moving to the right. 2: the linear dynamics and delay/transport profiles become G, retaining the supplied z, w, u and y ports. 3: connect K from y to u. The neural schematic is unchanged: the equivalence is a change of representation, not extra physical neural connections. 4: ASML wafer-stage and Canon production-printer images illustrate additional distributed models that can be expressed in suitable PIE/LFR form, subject to the framework assumptions. 5: clear the examples, center the complete LFR, and reveal its name. No claim of demonstrated industrial controller performance is implied.
Previous notes: Four-click LFR construction. 1: move delta_S(z_S) and delta_G(z_G) into Delta; rename their outputs w_S,w_G. 2: gather all remaining linear state dynamics, coupling weights and delay/transport profiles phi_ij into P. Define z_Delta=col(z_S,z_G), w_Delta=col(w_S,w_G), and y(t)=col(x_S(t),x_G(t)); the displayed phi_ij(t,1) notation is retained from the current slide. P includes the unchanged delay transport equations and their boundary/history data even though they are not expanded on screen. 3: connect a causal controller K from y to u; K may be dynamic and use measurement history, as in the paper. This is a structural interconnection diagram, not a claim of a new stabilization certificate or a static-gain implementation. 4: the controlled schematic and the closed LFR have exactly the same equations for the same initial histories and same controller. No dynamics are discarded in collecting blocks.
Previous notes: In de  praktijk   wordt  er  een   elektrode  op de  stn   gezet  om deep brain stimulation. Correlatie   tussen   oscilatie   en   traagheid  van  bewegingen . Dus de  vraag  is dan  kunnen  we het  brein  zo  stimuleren   dat  we de  oscilaties   verminderen Remende  effect is inhibitory Gaspedaal  is exhibitory 19</a:t>
            </a:r>
            <a:endParaRPr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After the LFR is defined, extract only its nominal PDE block. The rest of the feedback connection stays fixed. Introduce the original property list and highlight exact equivalent dynamics.</a:t>
            </a:r>
            <a:endParaRPr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66CFD-4274-DF01-61C7-FC928F0A13CE}"/>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205F32A-ABEB-8532-9DFB-CAE0BC53D3D4}"/>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extLst>
      <p:ext uri="{BB962C8B-B14F-4D97-AF65-F5344CB8AC3E}">
        <p14:creationId xmlns:p14="http://schemas.microsoft.com/office/powerpoint/2010/main" val="27021009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PI operator class is closed under addition, composition, adjoints and block concatenation for compatible dimensions.</a:t>
            </a:r>
            <a:endParaRPr sz="120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P is self-adjoint and coercive. For alpha&gt;0, the displayed inequality is a sufficient Lyapunov condition for exponential stability of the reconstructed PDE state. Polynomial PI parameterization gives sufficient LMIs; exact model conversion does not imply a lossless finite certificate search.</a:t>
            </a:r>
            <a:endParaRPr sz="120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334DD1-B74F-3A0A-6EEC-1B069EA03738}"/>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3FBA298F-E42B-B15A-CED4-74D6195B147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7997018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CDA67C-A478-F59C-38DE-0F1B3E54CFB0}"/>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6B5476FC-3C1F-55A7-58BA-B3E21B5665C7}"/>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2777909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8F49CC-22EA-D17E-D5D5-8D19DE5AC1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01C453D5-387B-1A83-0117-4D3DD50AADC1}"/>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0937091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285ED6-8E9B-121A-E799-BA28AAC011A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96867D53-0956-5221-D422-F44378F5A23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89747529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D6419C-FB50-E5A1-DCD0-CC72F3A0F4E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11A1C17F-22CD-0964-8EC1-8C924298418F}"/>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06801637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1D796-2E26-703D-C3B4-7119B38B804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E83B2176-9DD2-ADCA-5056-F65528A33E23}"/>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43121995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3A6469-0EFC-4B7A-6070-36B73B58CBD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2FDE0F4B-DC15-22CC-FC26-DDBDFBD4031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7660185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FAD956-915B-050B-12F2-3C4A8C86C327}"/>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89B2298-433D-AC5C-DB9A-8A9650A250CB}"/>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310701296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D8A32E-658C-CF2E-AEE4-AA6546D3CD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1F14692-C2DF-6DF0-C956-42D6A8FDEF3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56881615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actual activation is S(q)=M/2[1+tanh(2q/M)], and Delta(z)=S(zStar+z)-S(zStar). The original pasted PIE/Delta/filter schematic is reused without redrawing its connections. Its two orphan K and u labels are omitted. First plot Delta and the defining functions, next introduce the dashed Delta and Theta with the original schematic, finally reveal the sector. Theta is parameterized on slide 36.
Previous notes: Zoom from the Delta block in the existing LFR. Delta is the actual shifted STN activation: Delta(z)=150[tanh(2(zStar+z)/300)-tanh(2zStar/300)], zStar=-196.16933347833915. First show the shifted curve with Delta(0)=0, then reveal the thick sector bounds alpha=0 and beta=0.7344121335837432. This is a secant sector, not a derivative bound.
Previous notes: The graph is the actual equilibrium-shifted STN activation used in the Parkinsonian simulation: phi(z)=M/2[tanh(2(zStar+z)/M)-tanh(2zStar/M)], M=300, zStar=-196.169333478339. Thus phi(0)=0. The horizontal and vertical equilibrium shifts must both be included. Global sector alpha=0, beta=0.734412133583743; the displayed beta is approximate, while the graph uses the full value. Beta is the maximum secant phi(z)/z, not the maximum derivative. The corresponding GPe channel has M=400, zStar=-285.173802460895, beta=0.704831466892149. The global lower sector bound is zero because this sigmoid saturates. Values come from the existing STN_GPe sector data; the local controller certificate is not used as a global bound.</a:t>
            </a:r>
            <a:endParaRPr sz="120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large plot sweeps z=250 sin(2*pi*t/12). Readouts use the exact plotted sample, with native editable values refreshed at 12 fps. Positive and negative signs are visible in the numerical values; no comparison statements are used. a=beta*z-w and b=w-alpha*z, alpha=0. Gap arrows are signed.
Previous notes: The input sweep z(t)=250 sin(2*pi*t/12) illustrates the memoryless graph, not a new neural closed-loop simulation. The signed gaps are a=beta z-w and b=w-alpha z. For the interior sample points a,b are positive at positive z and negative at negative z. Globally use nonnegative/nonpositive: gaps can vanish at the origin or a sector boundary, including the tight positive tangent. All text labels are editable overlays.
Previous notes: The upper and lower signed gaps are a=beta*z-w and b=w-alpha*z=w. The sector boundary lines pass through the shifted equilibrium (0,0). For z&gt;0 the two gaps are nonnegative; for z&lt;0 both are nonpositive. At zero, w=0 and both gaps vanish. The displayed filter simply computes these gaps; it does not replace the nonlinearity by a linear system.</a:t>
            </a:r>
            <a:endParaRPr sz="120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Theta(v)=[[v,1],[v,-1]][[beta,-1],[-alpha,1]], v&gt;0. Thus ztilde=v*a+b, wtilde=v*a-b and sigma=4vab&gt;=0. The memoryless nonlinearity has zero storage. This is a direct dissipativity construction, with no Pi notation.
Previous notes: Use the weighted sum/difference transform [[v,1],[v,-1]] with v&gt;0. Then ztilde=v*a+b and wtilde=v*a-b, so sigma=|ztilde|^2-|wtilde|^2=4vab&gt;=0. A memoryless sector graph is dissipative with zero storage S_Delta=0. The alternative matrix [[v,v],[1,-1]] requires v&gt;=1 in general and is not the stated arbitrary-positive-weight identity. For vector channels apply componentwise and sum. No multiplier Pi is needed.
Previous notes: Choose the constant scaling s=1 in [[s,1],[s,-1]]. This s is not a Laplace variable or spatial coordinate. Then ztilde=a+b=beta*z and wtilde=a-b=beta*z-2w. Their squared difference is 4ab, nonnegative throughout the sector, so |wtilde|&lt;=|ztilde|. Since beta&gt;0, this defines the memoryless transformed map phitilde(v)=v-2phi(v/beta), with input v=ztilde and output wtilde. The original nonlinearity is still present.</a:t>
            </a:r>
            <a:endParaRPr sz="120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FF20BF-45F0-8C73-3D6F-0D00D27B56A3}"/>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5654815-039C-F0AD-F78B-444162B97BF9}"/>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46553775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302F17-4A6A-8967-7AC8-D0F5D95500A7}"/>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63536BC0-1217-6EA8-D644-8BD64EC14E15}"/>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355620961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41</a:t>
            </a:fld>
            <a:endParaRPr lang="en-GB"/>
          </a:p>
        </p:txBody>
      </p:sp>
    </p:spTree>
    <p:extLst>
      <p:ext uri="{BB962C8B-B14F-4D97-AF65-F5344CB8AC3E}">
        <p14:creationId xmlns:p14="http://schemas.microsoft.com/office/powerpoint/2010/main" val="259495147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B8FA96-FF47-0D13-B3DB-51F4882818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47E712-E17B-081D-6D16-7C37AFA0AB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887EA6-B2A8-BE99-C34A-719BFD02FB58}"/>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541307E4-E14D-526F-DEFB-6798B543BDE3}"/>
              </a:ext>
            </a:extLst>
          </p:cNvPr>
          <p:cNvSpPr>
            <a:spLocks noGrp="1"/>
          </p:cNvSpPr>
          <p:nvPr>
            <p:ph type="sldNum" sz="quarter" idx="5"/>
          </p:nvPr>
        </p:nvSpPr>
        <p:spPr/>
        <p:txBody>
          <a:bodyPr/>
          <a:lstStyle/>
          <a:p>
            <a:fld id="{AA799BBE-B871-48D7-983C-C0B1D7156DCD}" type="slidenum">
              <a:rPr lang="en-GB" smtClean="0"/>
              <a:t>42</a:t>
            </a:fld>
            <a:endParaRPr lang="en-GB"/>
          </a:p>
        </p:txBody>
      </p:sp>
    </p:spTree>
    <p:extLst>
      <p:ext uri="{BB962C8B-B14F-4D97-AF65-F5344CB8AC3E}">
        <p14:creationId xmlns:p14="http://schemas.microsoft.com/office/powerpoint/2010/main" val="235511740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DF2DF2-EEFE-0697-B312-DA35EA5FFF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0AAC57-0093-5626-15CF-16F41DC846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ED6186-E79B-F794-14C8-37BF8E0187B0}"/>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217D4BB9-AFA5-92B4-8F06-5C1F0979DEE4}"/>
              </a:ext>
            </a:extLst>
          </p:cNvPr>
          <p:cNvSpPr>
            <a:spLocks noGrp="1"/>
          </p:cNvSpPr>
          <p:nvPr>
            <p:ph type="sldNum" sz="quarter" idx="5"/>
          </p:nvPr>
        </p:nvSpPr>
        <p:spPr/>
        <p:txBody>
          <a:bodyPr/>
          <a:lstStyle/>
          <a:p>
            <a:fld id="{AA799BBE-B871-48D7-983C-C0B1D7156DCD}" type="slidenum">
              <a:rPr lang="en-GB" smtClean="0"/>
              <a:t>43</a:t>
            </a:fld>
            <a:endParaRPr lang="en-GB"/>
          </a:p>
        </p:txBody>
      </p:sp>
    </p:spTree>
    <p:extLst>
      <p:ext uri="{BB962C8B-B14F-4D97-AF65-F5344CB8AC3E}">
        <p14:creationId xmlns:p14="http://schemas.microsoft.com/office/powerpoint/2010/main" val="350196643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unchanged STN-GPe sector simulation curves originally displayed integrals of q_i=a_i*b_i. With v=1 the norm-difference supply sigma_i=4q_i. The supply-axis tick values have therefore been multiplied by four; curve geometry and all simulated state trajectories are unchanged. Integral values are nonnegative for every T, not necessarily strictly positive at zero. This follows from the pointwise sector property, not merely from inspecting a finite sampled simulation. The plotted trajectory does not prove closed-loop stability.
Previous notes: Parkinsonian  GPe -STN sector simulation. Each channel satisfies  q_i = w_i ( beta_i * z_i-w_i )&gt;=0. The supply function panel plots the accumulated supply integral, giving the hard IQC and  dissipativity  with zero storage.  beta_S =0.7344121335837432,  beta_G =0.7048314668921489. Click to play the embedded clean 4K video; all text and math labels are editable PowerPoint overlays. This says that the increase in stored energy cannot exceed the supplied energy. It is a supply–storage balance, so you can explain it without introducing a Lyapunov stability argument.</a:t>
            </a:r>
            <a:endParaRPr sz="120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Sign convention matters: sigma=||ztilde||^2-||wtilde||^2&gt;=0 on the Delta graph. Vdot&lt;=+sigma does NOT imply stability (even Vdot=1, sigma=1 is allowed). The complementary PIE supply is -sigma=||wtilde||^2-||ztilde||^2. Seek a common coercive storage for the unforced well-posed interconnection with Vdot&lt;=-sigma-epsilon||x||^2. The nonlinearity cannot provide a positive net supply to replenish this storage, so Vdot&lt;=-epsilon||x||^2 and V(t)&lt;=exp(-epsilon*t/M)V(0). Positive m and M and compatible state norm/solution regularity are required. Without the strict margin, V nonincrease gives Lyapunov stability under the coercive bounds, but asymptotic decay is not automatic. The strict inequality shown excludes the equilibrium. This pointwise argument applies to the present static sector filter; general dynamic integral dissipativity needs the corresponding augmented storage argument.
Previous notes: Assume an unforced well-posed feedback interconnection and a common differentiable/coercive storage V with m||x||^2&lt;=V&lt;=M||x||^2, m,M&gt;0. Seek a plant/controller certificate Vdot+sigma&lt;=-epsilon||x||^2 uniformly, epsilon&gt;0, for the relevant augmented plant signals/states. For the static sector filter above, sigma&gt;=0 pointwise on every admissible Delta graph, hence Vdot&lt;=-epsilon||x||^2&lt;=-(epsilon/M)V and exponential decay follows. The first displayed strict inequality is for nonzero states; at the equilibrium its value is zero. In a PIE, use the reconstructed physical state norm and compatible solution regularity. For a general dynamic filter with only integral nonnegativity, the argument must instead use the integrated inequality and appropriate augmented storage; the pointwise step is specific to this static sector example. The simulation alone supplies no plant certificate.</a:t>
            </a:r>
            <a:endParaRPr sz="120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STN-GPe is the worked example, not a restriction on application. Distributed wave/beam models of ASML wafer stages and coupled heat/moisture models of Canon production printers can be put into suitable PIE and LFR representations. The uncertainty/nonlinearity class and performance channels are chosen for each model; the same robust-analysis and controller-synthesis framework can then be applied under its stated assumptions. The images are the existing images from slide 3, and the neural circuit is the existing editable schematic. This slide communicates scope, not a claim that every industrial model has already been synthesized or experimentally validated.</a:t>
            </a:r>
            <a:endParaRPr sz="120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CBD0E-B216-D69A-5960-BB446D99694A}"/>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3F4B2DC-C3F6-4BF3-14F2-73D5FA5C9E8C}"/>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extLst>
      <p:ext uri="{BB962C8B-B14F-4D97-AF65-F5344CB8AC3E}">
        <p14:creationId xmlns:p14="http://schemas.microsoft.com/office/powerpoint/2010/main" val="264917848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5986F-3474-6329-229F-AA912E4E4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6A95F-D039-0F99-5182-A08021A3F5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470B4-9F82-A335-873E-8F41B2A7BA41}"/>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03827E28-C4B1-3905-59EB-3E6525D4020C}"/>
              </a:ext>
            </a:extLst>
          </p:cNvPr>
          <p:cNvSpPr>
            <a:spLocks noGrp="1"/>
          </p:cNvSpPr>
          <p:nvPr>
            <p:ph type="sldNum" sz="quarter" idx="5"/>
          </p:nvPr>
        </p:nvSpPr>
        <p:spPr/>
        <p:txBody>
          <a:bodyPr/>
          <a:lstStyle/>
          <a:p>
            <a:fld id="{AA799BBE-B871-48D7-983C-C0B1D7156DCD}" type="slidenum">
              <a:rPr lang="en-GB" smtClean="0"/>
              <a:t>54</a:t>
            </a:fld>
            <a:endParaRPr lang="en-GB"/>
          </a:p>
        </p:txBody>
      </p:sp>
    </p:spTree>
    <p:extLst>
      <p:ext uri="{BB962C8B-B14F-4D97-AF65-F5344CB8AC3E}">
        <p14:creationId xmlns:p14="http://schemas.microsoft.com/office/powerpoint/2010/main" val="240699804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31F7C-4941-8036-AF1F-DD3D7EC55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62CE9-4341-F79A-E018-53FEB3227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033D12-3888-7A57-820C-54EADABE66D1}"/>
              </a:ext>
            </a:extLst>
          </p:cNvPr>
          <p:cNvSpPr>
            <a:spLocks noGrp="1"/>
          </p:cNvSpPr>
          <p:nvPr>
            <p:ph type="body" idx="1"/>
          </p:nvPr>
        </p:nvSpPr>
        <p:spPr/>
        <p:txBody>
          <a:bodyPr/>
          <a:lstStyle/>
          <a:p>
            <a:r>
              <a:rPr lang="en-US" dirty="0" err="1"/>
              <a:t>w_p</a:t>
            </a:r>
            <a:r>
              <a:rPr lang="en-US" dirty="0"/>
              <a:t> models some heat disturbance acting on the piece of paper as it is leaving the printer, </a:t>
            </a:r>
            <a:r>
              <a:rPr lang="en-NL" dirty="0"/>
              <a:t>such as drying heat, warm airflow, or ambient temperature</a:t>
            </a:r>
            <a:r>
              <a:rPr lang="en-US" dirty="0"/>
              <a:t>. Our performance channel </a:t>
            </a:r>
            <a:r>
              <a:rPr lang="en-US" dirty="0" err="1"/>
              <a:t>z_p</a:t>
            </a:r>
            <a:r>
              <a:rPr lang="en-US" dirty="0"/>
              <a:t> wants to know what effect this disturbance has on the average temperature of our sheet of paper. Lets put this equation in to a more generic form that is easier to interpret the LFR structure</a:t>
            </a:r>
            <a:endParaRPr lang="en-NL" dirty="0"/>
          </a:p>
        </p:txBody>
      </p:sp>
      <p:sp>
        <p:nvSpPr>
          <p:cNvPr id="4" name="Slide Number Placeholder 3">
            <a:extLst>
              <a:ext uri="{FF2B5EF4-FFF2-40B4-BE49-F238E27FC236}">
                <a16:creationId xmlns:a16="http://schemas.microsoft.com/office/drawing/2014/main" id="{380B9D66-0D3B-3A7A-7112-3C6458BCCF48}"/>
              </a:ext>
            </a:extLst>
          </p:cNvPr>
          <p:cNvSpPr>
            <a:spLocks noGrp="1"/>
          </p:cNvSpPr>
          <p:nvPr>
            <p:ph type="sldNum" sz="quarter" idx="5"/>
          </p:nvPr>
        </p:nvSpPr>
        <p:spPr/>
        <p:txBody>
          <a:bodyPr/>
          <a:lstStyle/>
          <a:p>
            <a:fld id="{AA799BBE-B871-48D7-983C-C0B1D7156DCD}" type="slidenum">
              <a:rPr lang="en-GB" smtClean="0"/>
              <a:t>55</a:t>
            </a:fld>
            <a:endParaRPr lang="en-GB"/>
          </a:p>
        </p:txBody>
      </p:sp>
    </p:spTree>
    <p:extLst>
      <p:ext uri="{BB962C8B-B14F-4D97-AF65-F5344CB8AC3E}">
        <p14:creationId xmlns:p14="http://schemas.microsoft.com/office/powerpoint/2010/main" val="332561038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3F3D3-0EE7-9C56-6E24-F23744BC1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4F64D4-DA47-D55E-DDF6-DC3F9DC49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7E073-FB25-F0BB-AB31-C5B13D1937F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D55E1D78-9390-2689-3F12-B63F667D810B}"/>
              </a:ext>
            </a:extLst>
          </p:cNvPr>
          <p:cNvSpPr>
            <a:spLocks noGrp="1"/>
          </p:cNvSpPr>
          <p:nvPr>
            <p:ph type="sldNum" sz="quarter" idx="5"/>
          </p:nvPr>
        </p:nvSpPr>
        <p:spPr/>
        <p:txBody>
          <a:bodyPr/>
          <a:lstStyle/>
          <a:p>
            <a:fld id="{AA799BBE-B871-48D7-983C-C0B1D7156DCD}" type="slidenum">
              <a:rPr lang="en-GB" smtClean="0"/>
              <a:t>56</a:t>
            </a:fld>
            <a:endParaRPr lang="en-GB"/>
          </a:p>
        </p:txBody>
      </p:sp>
    </p:spTree>
    <p:extLst>
      <p:ext uri="{BB962C8B-B14F-4D97-AF65-F5344CB8AC3E}">
        <p14:creationId xmlns:p14="http://schemas.microsoft.com/office/powerpoint/2010/main" val="179117885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F62B4-F904-B835-A741-73497CB16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6FFB3-7E02-49A4-3E4E-DC17E34B4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DF093-9020-D34C-87ED-B8C07956611C}"/>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12BE2F6-1DD2-2BF9-4F95-37D67A282D76}"/>
              </a:ext>
            </a:extLst>
          </p:cNvPr>
          <p:cNvSpPr>
            <a:spLocks noGrp="1"/>
          </p:cNvSpPr>
          <p:nvPr>
            <p:ph type="sldNum" sz="quarter" idx="5"/>
          </p:nvPr>
        </p:nvSpPr>
        <p:spPr/>
        <p:txBody>
          <a:bodyPr/>
          <a:lstStyle/>
          <a:p>
            <a:fld id="{AA799BBE-B871-48D7-983C-C0B1D7156DCD}" type="slidenum">
              <a:rPr lang="en-GB" smtClean="0"/>
              <a:t>57</a:t>
            </a:fld>
            <a:endParaRPr lang="en-GB"/>
          </a:p>
        </p:txBody>
      </p:sp>
    </p:spTree>
    <p:extLst>
      <p:ext uri="{BB962C8B-B14F-4D97-AF65-F5344CB8AC3E}">
        <p14:creationId xmlns:p14="http://schemas.microsoft.com/office/powerpoint/2010/main" val="281650727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692FC-E50E-7410-1948-F596E5B40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EBECD8-34FD-7060-6F13-3DB07A27BC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CF1FE-4F29-D212-5370-A7C0F85E370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296F4E6-2143-3F0C-6EDB-57BE7FBCE002}"/>
              </a:ext>
            </a:extLst>
          </p:cNvPr>
          <p:cNvSpPr>
            <a:spLocks noGrp="1"/>
          </p:cNvSpPr>
          <p:nvPr>
            <p:ph type="sldNum" sz="quarter" idx="5"/>
          </p:nvPr>
        </p:nvSpPr>
        <p:spPr/>
        <p:txBody>
          <a:bodyPr/>
          <a:lstStyle/>
          <a:p>
            <a:fld id="{AA799BBE-B871-48D7-983C-C0B1D7156DCD}" type="slidenum">
              <a:rPr lang="en-GB" smtClean="0"/>
              <a:t>58</a:t>
            </a:fld>
            <a:endParaRPr lang="en-GB"/>
          </a:p>
        </p:txBody>
      </p:sp>
    </p:spTree>
    <p:extLst>
      <p:ext uri="{BB962C8B-B14F-4D97-AF65-F5344CB8AC3E}">
        <p14:creationId xmlns:p14="http://schemas.microsoft.com/office/powerpoint/2010/main" val="69363349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9B25A-1FF9-FD01-FB79-13D266FF2E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AA84D-3CD8-3C17-8815-B2FD7BC4A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C7A1D-2549-2D4A-CC60-12DA3130D141}"/>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59A52DDA-0371-289C-2514-C51B87AB1A93}"/>
              </a:ext>
            </a:extLst>
          </p:cNvPr>
          <p:cNvSpPr>
            <a:spLocks noGrp="1"/>
          </p:cNvSpPr>
          <p:nvPr>
            <p:ph type="sldNum" sz="quarter" idx="5"/>
          </p:nvPr>
        </p:nvSpPr>
        <p:spPr/>
        <p:txBody>
          <a:bodyPr/>
          <a:lstStyle/>
          <a:p>
            <a:fld id="{AA799BBE-B871-48D7-983C-C0B1D7156DCD}" type="slidenum">
              <a:rPr lang="en-GB" smtClean="0"/>
              <a:t>59</a:t>
            </a:fld>
            <a:endParaRPr lang="en-GB"/>
          </a:p>
        </p:txBody>
      </p:sp>
    </p:spTree>
    <p:extLst>
      <p:ext uri="{BB962C8B-B14F-4D97-AF65-F5344CB8AC3E}">
        <p14:creationId xmlns:p14="http://schemas.microsoft.com/office/powerpoint/2010/main" val="403928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lean White - Titl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Clean White - Section">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171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section title</a:t>
            </a:r>
          </a:p>
        </p:txBody>
      </p:sp>
      <p:sp>
        <p:nvSpPr>
          <p:cNvPr id="3" name="Clean subTitle 1"/>
          <p:cNvSpPr>
            <a:spLocks noGrp="1"/>
          </p:cNvSpPr>
          <p:nvPr>
            <p:ph type="subTitle" idx="1"/>
          </p:nvPr>
        </p:nvSpPr>
        <p:spPr>
          <a:xfrm>
            <a:off x="457200" y="3048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Clean White - Title with figur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sp>
        <p:nvSpPr>
          <p:cNvPr id="25" name="Clean pic 15"/>
          <p:cNvSpPr>
            <a:spLocks noGrp="1"/>
          </p:cNvSpPr>
          <p:nvPr>
            <p:ph type="pic" idx="15"/>
          </p:nvPr>
        </p:nvSpPr>
        <p:spPr>
          <a:xfrm>
            <a:off x="4381500" y="2349500"/>
            <a:ext cx="4064000" cy="20701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Clean White - Title and Conten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lean White - Comparis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Left heading</a:t>
            </a:r>
          </a:p>
        </p:txBody>
      </p:sp>
      <p:sp>
        <p:nvSpPr>
          <p:cNvPr id="23" name="Clean body 13"/>
          <p:cNvSpPr>
            <a:spLocks noGrp="1"/>
          </p:cNvSpPr>
          <p:nvPr>
            <p:ph type="body" idx="13"/>
          </p:nvPr>
        </p:nvSpPr>
        <p:spPr>
          <a:xfrm>
            <a:off x="4775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Right heading</a:t>
            </a:r>
          </a:p>
        </p:txBody>
      </p:sp>
      <p:sp>
        <p:nvSpPr>
          <p:cNvPr id="11" name="Clean obj 1"/>
          <p:cNvSpPr>
            <a:spLocks noGrp="1"/>
          </p:cNvSpPr>
          <p:nvPr>
            <p:ph idx="1"/>
          </p:nvPr>
        </p:nvSpPr>
        <p:spPr>
          <a:xfrm>
            <a:off x="457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lean White -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lean White - Wide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62484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lean White - Figure and Capti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obj 13"/>
          <p:cNvSpPr>
            <a:spLocks noGrp="1"/>
          </p:cNvSpPr>
          <p:nvPr>
            <p:ph idx="13"/>
          </p:nvPr>
        </p:nvSpPr>
        <p:spPr>
          <a:xfrm>
            <a:off x="1625600" y="1092200"/>
            <a:ext cx="5892800" cy="33147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figure or video</a:t>
            </a:r>
          </a:p>
        </p:txBody>
      </p:sp>
      <p:sp>
        <p:nvSpPr>
          <p:cNvPr id="24" name="Clean body 14"/>
          <p:cNvSpPr>
            <a:spLocks noGrp="1"/>
          </p:cNvSpPr>
          <p:nvPr>
            <p:ph type="body" idx="14"/>
          </p:nvPr>
        </p:nvSpPr>
        <p:spPr>
          <a:xfrm>
            <a:off x="914400" y="4470400"/>
            <a:ext cx="7315200" cy="254000"/>
          </a:xfrm>
          <a:prstGeom prst="rect">
            <a:avLst/>
          </a:prstGeom>
          <a:noFill/>
          <a:ln>
            <a:noFill/>
          </a:ln>
        </p:spPr>
        <p:txBody>
          <a:bodyPr wrap="square" lIns="0" tIns="0" rIns="0" bIns="0" anchor="t">
            <a:noAutofit/>
          </a:bodyPr>
          <a:lstStyle>
            <a:lvl1pPr marL="0" indent="0" algn="ctr">
              <a:lnSpc>
                <a:spcPct val="112000"/>
              </a:lnSpc>
              <a:spcAft>
                <a:spcPts val="0"/>
              </a:spcAft>
              <a:buNone/>
              <a:defRPr sz="1400" b="0">
                <a:solidFill>
                  <a:srgbClr val="747B82"/>
                </a:solidFill>
                <a:latin typeface="Aptos"/>
                <a:ea typeface="Aptos"/>
                <a:cs typeface="Aptos"/>
              </a:defRPr>
            </a:lvl1pPr>
            <a:lvl2pPr marL="203200" indent="0" algn="ctr">
              <a:lnSpc>
                <a:spcPct val="112000"/>
              </a:lnSpc>
              <a:spcAft>
                <a:spcPts val="0"/>
              </a:spcAft>
              <a:buNone/>
              <a:defRPr sz="1400" b="0">
                <a:solidFill>
                  <a:srgbClr val="747B82"/>
                </a:solidFill>
                <a:latin typeface="Aptos"/>
                <a:ea typeface="Aptos"/>
                <a:cs typeface="Aptos"/>
              </a:defRPr>
            </a:lvl2pPr>
            <a:lvl3pPr marL="406400" indent="0" algn="ctr">
              <a:lnSpc>
                <a:spcPct val="112000"/>
              </a:lnSpc>
              <a:spcAft>
                <a:spcPts val="0"/>
              </a:spcAft>
              <a:buNone/>
              <a:defRPr sz="1400" b="0">
                <a:solidFill>
                  <a:srgbClr val="747B82"/>
                </a:solidFill>
                <a:latin typeface="Aptos"/>
                <a:ea typeface="Aptos"/>
                <a:cs typeface="Aptos"/>
              </a:defRPr>
            </a:lvl3pPr>
            <a:lvl4pPr marL="609600" indent="0" algn="ctr">
              <a:lnSpc>
                <a:spcPct val="112000"/>
              </a:lnSpc>
              <a:spcAft>
                <a:spcPts val="0"/>
              </a:spcAft>
              <a:buNone/>
              <a:defRPr sz="1400" b="0">
                <a:solidFill>
                  <a:srgbClr val="747B82"/>
                </a:solidFill>
                <a:latin typeface="Aptos"/>
                <a:ea typeface="Aptos"/>
                <a:cs typeface="Aptos"/>
              </a:defRPr>
            </a:lvl4pPr>
            <a:lvl5pPr marL="812800" indent="0" algn="ctr">
              <a:lnSpc>
                <a:spcPct val="112000"/>
              </a:lnSpc>
              <a:spcAft>
                <a:spcPts val="0"/>
              </a:spcAft>
              <a:buNone/>
              <a:defRPr sz="1400" b="0">
                <a:solidFill>
                  <a:srgbClr val="747B82"/>
                </a:solidFill>
                <a:latin typeface="Aptos"/>
                <a:ea typeface="Aptos"/>
                <a:cs typeface="Aptos"/>
              </a:defRPr>
            </a:lvl5pPr>
            <a:lvl6pPr marL="1016000" indent="0" algn="ctr">
              <a:lnSpc>
                <a:spcPct val="112000"/>
              </a:lnSpc>
              <a:spcAft>
                <a:spcPts val="0"/>
              </a:spcAft>
              <a:buNone/>
              <a:defRPr sz="1400" b="0">
                <a:solidFill>
                  <a:srgbClr val="747B82"/>
                </a:solidFill>
                <a:latin typeface="Aptos"/>
                <a:ea typeface="Aptos"/>
                <a:cs typeface="Aptos"/>
              </a:defRPr>
            </a:lvl6pPr>
            <a:lvl7pPr marL="1219200" indent="0" algn="ctr">
              <a:lnSpc>
                <a:spcPct val="112000"/>
              </a:lnSpc>
              <a:spcAft>
                <a:spcPts val="0"/>
              </a:spcAft>
              <a:buNone/>
              <a:defRPr sz="1400" b="0">
                <a:solidFill>
                  <a:srgbClr val="747B82"/>
                </a:solidFill>
                <a:latin typeface="Aptos"/>
                <a:ea typeface="Aptos"/>
                <a:cs typeface="Aptos"/>
              </a:defRPr>
            </a:lvl7pPr>
            <a:lvl8pPr marL="1422400" indent="0" algn="ctr">
              <a:lnSpc>
                <a:spcPct val="112000"/>
              </a:lnSpc>
              <a:spcAft>
                <a:spcPts val="0"/>
              </a:spcAft>
              <a:buNone/>
              <a:defRPr sz="1400" b="0">
                <a:solidFill>
                  <a:srgbClr val="747B82"/>
                </a:solidFill>
                <a:latin typeface="Aptos"/>
                <a:ea typeface="Aptos"/>
                <a:cs typeface="Aptos"/>
              </a:defRPr>
            </a:lvl8pPr>
            <a:lvl9pPr marL="1625600" indent="0" algn="ctr">
              <a:lnSpc>
                <a:spcPct val="112000"/>
              </a:lnSpc>
              <a:spcAft>
                <a:spcPts val="0"/>
              </a:spcAft>
              <a:buNone/>
              <a:defRPr sz="1400" b="0">
                <a:solidFill>
                  <a:srgbClr val="747B82"/>
                </a:solidFill>
                <a:latin typeface="Aptos"/>
                <a:ea typeface="Aptos"/>
                <a:cs typeface="Aptos"/>
              </a:defRPr>
            </a:lvl9pPr>
          </a:lstStyle>
          <a:p>
            <a:pPr marL="0" indent="0" algn="ctr">
              <a:lnSpc>
                <a:spcPct val="112000"/>
              </a:lnSpc>
              <a:spcAft>
                <a:spcPts val="0"/>
              </a:spcAft>
              <a:buNone/>
              <a:defRPr sz="1200" b="0">
                <a:solidFill>
                  <a:srgbClr val="747B82"/>
                </a:solidFill>
                <a:latin typeface="Aptos"/>
                <a:ea typeface="Aptos"/>
                <a:cs typeface="Aptos"/>
              </a:defRPr>
            </a:pPr>
            <a:r>
              <a:t>Click to add caption</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lean White - Three Panel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5" name="Clean pic 15"/>
          <p:cNvSpPr>
            <a:spLocks noGrp="1"/>
          </p:cNvSpPr>
          <p:nvPr>
            <p:ph type="pic" idx="15"/>
          </p:nvPr>
        </p:nvSpPr>
        <p:spPr>
          <a:xfrm>
            <a:off x="4572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3" name="Clean obj 13"/>
          <p:cNvSpPr>
            <a:spLocks noGrp="1"/>
          </p:cNvSpPr>
          <p:nvPr>
            <p:ph idx="13"/>
          </p:nvPr>
        </p:nvSpPr>
        <p:spPr>
          <a:xfrm>
            <a:off x="33528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6" name="Clean pic 16"/>
          <p:cNvSpPr>
            <a:spLocks noGrp="1"/>
          </p:cNvSpPr>
          <p:nvPr>
            <p:ph type="pic" idx="16"/>
          </p:nvPr>
        </p:nvSpPr>
        <p:spPr>
          <a:xfrm>
            <a:off x="33528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4" name="Clean obj 14"/>
          <p:cNvSpPr>
            <a:spLocks noGrp="1"/>
          </p:cNvSpPr>
          <p:nvPr>
            <p:ph idx="14"/>
          </p:nvPr>
        </p:nvSpPr>
        <p:spPr>
          <a:xfrm>
            <a:off x="62484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7" name="Clean pic 17"/>
          <p:cNvSpPr>
            <a:spLocks noGrp="1"/>
          </p:cNvSpPr>
          <p:nvPr>
            <p:ph type="pic" idx="17"/>
          </p:nvPr>
        </p:nvSpPr>
        <p:spPr>
          <a:xfrm>
            <a:off x="62484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lean White - Picture and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lean White - Picture and Wide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33528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lean White - Title Only">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lean White - Blank">
    <p:bg>
      <p:bgPr>
        <a:solidFill>
          <a:srgbClr val="FFFFFF"/>
        </a:solidFill>
        <a:effectLst/>
      </p:bgPr>
    </p:bg>
    <p:spTree>
      <p:nvGrpSpPr>
        <p:cNvPr id="1" name=""/>
        <p:cNvGrpSpPr/>
        <p:nvPr/>
      </p:nvGrpSpPr>
      <p:grpSpPr>
        <a:xfrm>
          <a:off x="0" y="0"/>
          <a:ext cx="0" cy="0"/>
          <a:chOff x="0" y="0"/>
          <a:chExt cx="0" cy="0"/>
        </a:xfrm>
      </p:grpSpPr>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Clean White - Large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092200"/>
            <a:ext cx="8229600" cy="34798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Clean White - Two Column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bl" preserve="1">
  <p:cSld name="Clean White - Table and Note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tbl 13"/>
          <p:cNvSpPr>
            <a:spLocks noGrp="1"/>
          </p:cNvSpPr>
          <p:nvPr>
            <p:ph type="tbl" idx="13"/>
          </p:nvPr>
        </p:nvSpPr>
        <p:spPr>
          <a:xfrm>
            <a:off x="457200" y="1219200"/>
            <a:ext cx="8229600" cy="2222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table</a:t>
            </a:r>
          </a:p>
        </p:txBody>
      </p:sp>
      <p:sp>
        <p:nvSpPr>
          <p:cNvPr id="11" name="Clean obj 1"/>
          <p:cNvSpPr>
            <a:spLocks noGrp="1"/>
          </p:cNvSpPr>
          <p:nvPr>
            <p:ph idx="1"/>
          </p:nvPr>
        </p:nvSpPr>
        <p:spPr>
          <a:xfrm>
            <a:off x="457200" y="3721100"/>
            <a:ext cx="8229600" cy="825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notes</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chart" preserve="1">
  <p:cSld name="Clean White - Char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chart 13"/>
          <p:cNvSpPr>
            <a:spLocks noGrp="1"/>
          </p:cNvSpPr>
          <p:nvPr>
            <p:ph type="chart" idx="13"/>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chart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Ue - Clean Whit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3" name="Clean body 1"/>
          <p:cNvSpPr>
            <a:spLocks noGrp="1"/>
          </p:cNvSpPr>
          <p:nvPr>
            <p:ph type="body"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pic>
        <p:nvPicPr>
          <p:cNvPr id="100" name="TUe logo"/>
          <p:cNvPicPr>
            <a:picLocks noChangeAspect="1"/>
          </p:cNvPicPr>
          <p:nvPr/>
        </p:nvPicPr>
        <p:blipFill>
          <a:blip r:embed="rId19"/>
          <a:stretch>
            <a:fillRect/>
          </a:stretch>
        </p:blipFill>
        <p:spPr>
          <a:xfrm>
            <a:off x="8458200" y="4813300"/>
            <a:ext cx="457200" cy="267053"/>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hdr="0" dt="0"/>
  <p:txStyles>
    <p:title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p:titleStyle>
    <p:body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bodyStyle>
    <p:other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Editable104" Type="http://schemas.openxmlformats.org/officeDocument/2006/relationships/image" Target="../media/slide2springs_editable_370_image34.png"/><Relationship Id="rIdEditable109" Type="http://schemas.openxmlformats.org/officeDocument/2006/relationships/image" Target="../media/slide2springs_editable_375_image39.png"/><Relationship Id="rId13" Type="http://schemas.openxmlformats.org/officeDocument/2006/relationships/image" Target="../media/image9.png"/><Relationship Id="rId3" Type="http://schemas.microsoft.com/office/2007/relationships/media" Target="../media/media2.mp4"/><Relationship Id="rId7" Type="http://schemas.openxmlformats.org/officeDocument/2006/relationships/image" Target="../media/image4.png"/><Relationship Id="rIdEditable103" Type="http://schemas.openxmlformats.org/officeDocument/2006/relationships/image" Target="../media/slide2springs_editable_369_image33.png"/><Relationship Id="rIdEditable108" Type="http://schemas.openxmlformats.org/officeDocument/2006/relationships/image" Target="../media/slide2springs_editable_374_image38.png"/><Relationship Id="rIdEditable111" Type="http://schemas.openxmlformats.org/officeDocument/2006/relationships/image" Target="../media/slide2springs_editable_377_image41.png"/><Relationship Id="rId12" Type="http://schemas.openxmlformats.org/officeDocument/2006/relationships/image" Target="../media/image8.png"/><Relationship Id="rId2" Type="http://schemas.openxmlformats.org/officeDocument/2006/relationships/video" Target="../media/media1.mp4"/><Relationship Id="rIdEditable107" Type="http://schemas.openxmlformats.org/officeDocument/2006/relationships/image" Target="../media/slide2springs_editable_373_image37.png"/><Relationship Id="rId1" Type="http://schemas.microsoft.com/office/2007/relationships/media" Target="../media/media1.mp4"/><Relationship Id="rId6" Type="http://schemas.openxmlformats.org/officeDocument/2006/relationships/notesSlide" Target="../notesSlides/notesSlide2.xml"/><Relationship Id="rIdEditable102" Type="http://schemas.openxmlformats.org/officeDocument/2006/relationships/image" Target="../media/slide2springs_editable_368_image32.png"/><Relationship Id="rIdEditable110" Type="http://schemas.openxmlformats.org/officeDocument/2006/relationships/image" Target="../media/slide2springs_editable_376_image40.png"/><Relationship Id="rId11" Type="http://schemas.openxmlformats.org/officeDocument/2006/relationships/image" Target="../media/image7.png"/><Relationship Id="rId5" Type="http://schemas.openxmlformats.org/officeDocument/2006/relationships/slideLayout" Target="../slideLayouts/slideLayout5.xml"/><Relationship Id="rIdEditable101" Type="http://schemas.openxmlformats.org/officeDocument/2006/relationships/image" Target="../media/slide2springs_editable_367_image31.png"/><Relationship Id="rIdEditable106" Type="http://schemas.openxmlformats.org/officeDocument/2006/relationships/image" Target="../media/slide2springs_editable_372_image36.png"/><Relationship Id="rId10" Type="http://schemas.openxmlformats.org/officeDocument/2006/relationships/image" Target="../media/image6.png"/><Relationship Id="rId4" Type="http://schemas.openxmlformats.org/officeDocument/2006/relationships/video" Target="../media/media2.mp4"/><Relationship Id="rId9" Type="http://schemas.openxmlformats.org/officeDocument/2006/relationships/image" Target="../media/image1.png"/><Relationship Id="rIdEditable100" Type="http://schemas.openxmlformats.org/officeDocument/2006/relationships/image" Target="../media/slide2springs_editable_366_image30.png"/><Relationship Id="rIdEditable105" Type="http://schemas.openxmlformats.org/officeDocument/2006/relationships/image" Target="../media/slide2springs_editable_371_image35.png"/></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6.png"/><Relationship Id="rId18" Type="http://schemas.openxmlformats.org/officeDocument/2006/relationships/image" Target="../media/image21.png"/><Relationship Id="rId3" Type="http://schemas.openxmlformats.org/officeDocument/2006/relationships/slideLayout" Target="../slideLayouts/slideLayout5.xml"/><Relationship Id="rId7" Type="http://schemas.openxmlformats.org/officeDocument/2006/relationships/image" Target="../media/image1.png"/><Relationship Id="rId12" Type="http://schemas.openxmlformats.org/officeDocument/2006/relationships/image" Target="../media/image150.png"/><Relationship Id="rId17" Type="http://schemas.openxmlformats.org/officeDocument/2006/relationships/image" Target="../media/image20.png"/><Relationship Id="rId2" Type="http://schemas.openxmlformats.org/officeDocument/2006/relationships/video" Target="../media/media3.mp4"/><Relationship Id="rId16" Type="http://schemas.openxmlformats.org/officeDocument/2006/relationships/image" Target="../media/image19.png"/><Relationship Id="rId20" Type="http://schemas.openxmlformats.org/officeDocument/2006/relationships/image" Target="../media/image23.png"/><Relationship Id="rId1" Type="http://schemas.microsoft.com/office/2007/relationships/media" Target="../media/media3.mp4"/><Relationship Id="rId6" Type="http://schemas.openxmlformats.org/officeDocument/2006/relationships/image" Target="../media/neurosim_s4_4.png"/><Relationship Id="rId11" Type="http://schemas.openxmlformats.org/officeDocument/2006/relationships/image" Target="../media/image14.png"/><Relationship Id="rId5" Type="http://schemas.openxmlformats.org/officeDocument/2006/relationships/image" Target="../media/image12.png"/><Relationship Id="rId15" Type="http://schemas.openxmlformats.org/officeDocument/2006/relationships/image" Target="../media/image18.png"/><Relationship Id="rId10" Type="http://schemas.openxmlformats.org/officeDocument/2006/relationships/image" Target="../media/image130.png"/><Relationship Id="rId19" Type="http://schemas.openxmlformats.org/officeDocument/2006/relationships/image" Target="../media/image22.png"/><Relationship Id="rId4" Type="http://schemas.openxmlformats.org/officeDocument/2006/relationships/notesSlide" Target="../notesSlides/notesSlide4.xml"/><Relationship Id="rId9" Type="http://schemas.openxmlformats.org/officeDocument/2006/relationships/image" Target="../media/image125.png"/><Relationship Id="rId14" Type="http://schemas.openxmlformats.org/officeDocument/2006/relationships/image" Target="../media/image15.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1410.png"/><Relationship Id="rId7"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27.png"/><Relationship Id="rId11" Type="http://schemas.openxmlformats.org/officeDocument/2006/relationships/image" Target="../media/image1.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17.png"/><Relationship Id="rId9" Type="http://schemas.openxmlformats.org/officeDocument/2006/relationships/image" Target="../media/image30.png"/></Relationships>
</file>

<file path=ppt/slides/_rels/slide8.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1.png"/><Relationship Id="rId3" Type="http://schemas.openxmlformats.org/officeDocument/2006/relationships/image" Target="../media/image170.png"/><Relationship Id="rId7" Type="http://schemas.openxmlformats.org/officeDocument/2006/relationships/image" Target="../media/image35.png"/><Relationship Id="rId12" Type="http://schemas.openxmlformats.org/officeDocument/2006/relationships/image" Target="../media/image40.png"/><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24.png"/><Relationship Id="rId9" Type="http://schemas.openxmlformats.org/officeDocument/2006/relationships/image" Target="../media/image37.png"/></Relationships>
</file>

<file path=ppt/slides/_rels/slide9.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190.png"/><Relationship Id="rId7" Type="http://schemas.openxmlformats.org/officeDocument/2006/relationships/image" Target="../media/image35.png"/><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25.png"/><Relationship Id="rId9" Type="http://schemas.openxmlformats.org/officeDocument/2006/relationships/image" Target="../media/image43.png"/></Relationships>
</file>

<file path=ppt/slides/_rels/slide10.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41.png"/><Relationship Id="rId7"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25.png"/><Relationship Id="rId9" Type="http://schemas.openxmlformats.org/officeDocument/2006/relationships/image" Target="../media/image43.png"/></Relationships>
</file>

<file path=ppt/slides/_rels/slide11.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5.png"/><Relationship Id="rId7" Type="http://schemas.openxmlformats.org/officeDocument/2006/relationships/image" Target="../media/image48.png"/><Relationship Id="rId12"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image" Target="../media/image47.png"/><Relationship Id="rId11" Type="http://schemas.openxmlformats.org/officeDocument/2006/relationships/image" Target="../media/image52.png"/><Relationship Id="rId5" Type="http://schemas.openxmlformats.org/officeDocument/2006/relationships/image" Target="../media/image461.png"/><Relationship Id="rId10" Type="http://schemas.openxmlformats.org/officeDocument/2006/relationships/image" Target="../media/image51.png"/><Relationship Id="rId4" Type="http://schemas.openxmlformats.org/officeDocument/2006/relationships/image" Target="../media/image32.png"/><Relationship Id="rId9" Type="http://schemas.openxmlformats.org/officeDocument/2006/relationships/image" Target="../media/image50.png"/></Relationships>
</file>

<file path=ppt/slides/_rels/slide12.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3.png"/><Relationship Id="rId7"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46.png"/><Relationship Id="rId9" Type="http://schemas.openxmlformats.org/officeDocument/2006/relationships/image" Target="../media/image1.png"/></Relationships>
</file>

<file path=ppt/slides/_rels/slide13.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2.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4.mp4"/><Relationship Id="rId1" Type="http://schemas.microsoft.com/office/2007/relationships/media" Target="../media/media4.mp4"/><Relationship Id="rId6" Type="http://schemas.openxmlformats.org/officeDocument/2006/relationships/image" Target="../media/image54.png"/><Relationship Id="rId11" Type="http://schemas.openxmlformats.org/officeDocument/2006/relationships/image" Target="../media/image60.png"/><Relationship Id="rId5" Type="http://schemas.openxmlformats.org/officeDocument/2006/relationships/image" Target="../media/image1.png"/><Relationship Id="rId10" Type="http://schemas.openxmlformats.org/officeDocument/2006/relationships/image" Target="../media/image59.png"/><Relationship Id="rId4" Type="http://schemas.openxmlformats.org/officeDocument/2006/relationships/notesSlide" Target="../notesSlides/notesSlide11.xml"/><Relationship Id="rId9" Type="http://schemas.openxmlformats.org/officeDocument/2006/relationships/image" Target="../media/image58.png"/></Relationships>
</file>

<file path=ppt/slides/_rels/slide14.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5.mp4"/><Relationship Id="rId1" Type="http://schemas.microsoft.com/office/2007/relationships/media" Target="../media/media5.mp4"/><Relationship Id="rId6" Type="http://schemas.openxmlformats.org/officeDocument/2006/relationships/image" Target="../media/image56.png"/><Relationship Id="rId11" Type="http://schemas.openxmlformats.org/officeDocument/2006/relationships/image" Target="../media/image65.png"/><Relationship Id="rId5" Type="http://schemas.openxmlformats.org/officeDocument/2006/relationships/image" Target="../media/image1.png"/><Relationship Id="rId15" Type="http://schemas.openxmlformats.org/officeDocument/2006/relationships/image" Target="../media/image64.gif"/><Relationship Id="rId10" Type="http://schemas.openxmlformats.org/officeDocument/2006/relationships/image" Target="../media/image64.png"/><Relationship Id="rId4" Type="http://schemas.openxmlformats.org/officeDocument/2006/relationships/notesSlide" Target="../notesSlides/notesSlide12.xml"/><Relationship Id="rId9" Type="http://schemas.openxmlformats.org/officeDocument/2006/relationships/image" Target="../media/image58.png"/><Relationship Id="rId14" Type="http://schemas.openxmlformats.org/officeDocument/2006/relationships/image" Target="../media/image63.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92.png"/><Relationship Id="rId1" Type="http://schemas.openxmlformats.org/officeDocument/2006/relationships/slideLayout" Target="../slideLayouts/slideLayout4.xml"/><Relationship Id="rId4" Type="http://schemas.openxmlformats.org/officeDocument/2006/relationships/image" Target="../media/image68.png"/></Relationships>
</file>

<file path=ppt/slides/_rels/slide19.xml.rels><?xml version="1.0" encoding="UTF-8" standalone="yes"?>
<Relationships xmlns="http://schemas.openxmlformats.org/package/2006/relationships"><Relationship Id="rId8" Type="http://schemas.openxmlformats.org/officeDocument/2006/relationships/image" Target="../media/image71.png"/><Relationship Id="rIdRevisedLFR120" Type="http://schemas.openxmlformats.org/officeDocument/2006/relationships/image" Target="../media/revised_lfr19_lfr19_image76.png"/><Relationship Id="rId13" Type="http://schemas.openxmlformats.org/officeDocument/2006/relationships/image" Target="../media/image76.png"/><Relationship Id="rIdRevisedLFR125" Type="http://schemas.openxmlformats.org/officeDocument/2006/relationships/image" Target="../media/revised_lfr19_image97.png"/><Relationship Id="rId3" Type="http://schemas.openxmlformats.org/officeDocument/2006/relationships/image" Target="../media/image7.jpg"/><Relationship Id="rIdRevisedLFR108" Type="http://schemas.openxmlformats.org/officeDocument/2006/relationships/image" Target="../media/revised_lfr19_lfr19_image55.png"/><Relationship Id="rIdRevisedLFR103" Type="http://schemas.openxmlformats.org/officeDocument/2006/relationships/image" Target="../media/revised_lfr19_image101.png"/><Relationship Id="rIdRevisedLFR129" Type="http://schemas.openxmlformats.org/officeDocument/2006/relationships/image" Target="../media/revised_lfr19_image96.png"/><Relationship Id="rId7" Type="http://schemas.openxmlformats.org/officeDocument/2006/relationships/image" Target="../media/image70.png"/><Relationship Id="rId12" Type="http://schemas.openxmlformats.org/officeDocument/2006/relationships/image" Target="../media/image75.png"/><Relationship Id="rId2" Type="http://schemas.openxmlformats.org/officeDocument/2006/relationships/notesSlide" Target="../notesSlides/notesSlide13.xml"/><Relationship Id="rIdRevisedLFR123" Type="http://schemas.openxmlformats.org/officeDocument/2006/relationships/image" Target="../media/revised_lfr19_lfr19_image72.png"/><Relationship Id="rIdRevisedLFR102" Type="http://schemas.openxmlformats.org/officeDocument/2006/relationships/image" Target="../media/revised_lfr19_lfr19_image73.png"/><Relationship Id="rIdRevisedLFR128" Type="http://schemas.openxmlformats.org/officeDocument/2006/relationships/image" Target="../media/revised_lfr19_image102.png"/><Relationship Id="rIdRevisedLFR110" Type="http://schemas.openxmlformats.org/officeDocument/2006/relationships/image" Target="../media/revised_lfr19_image100.png"/><Relationship Id="rId1" Type="http://schemas.openxmlformats.org/officeDocument/2006/relationships/slideLayout" Target="../slideLayouts/slideLayout5.xml"/><Relationship Id="rId6" Type="http://schemas.openxmlformats.org/officeDocument/2006/relationships/image" Target="../media/image46.png"/><Relationship Id="rIdRevisedLFR101" Type="http://schemas.openxmlformats.org/officeDocument/2006/relationships/image" Target="../media/revised_lfr19_lfr19_image35.png"/><Relationship Id="rIdRevisedLFR106" Type="http://schemas.openxmlformats.org/officeDocument/2006/relationships/image" Target="../media/revised_lfr19_lfr19_image75.png"/><Relationship Id="rId11" Type="http://schemas.openxmlformats.org/officeDocument/2006/relationships/image" Target="../media/image74.png"/><Relationship Id="rIdRevisedLFR119" Type="http://schemas.openxmlformats.org/officeDocument/2006/relationships/image" Target="../media/revised_lfr19_image74.png"/><Relationship Id="rId5" Type="http://schemas.openxmlformats.org/officeDocument/2006/relationships/image" Target="../media/image1.png"/><Relationship Id="rId15" Type="http://schemas.openxmlformats.org/officeDocument/2006/relationships/image" Target="../media/image78.png"/><Relationship Id="rIdRevisedLFR113" Type="http://schemas.openxmlformats.org/officeDocument/2006/relationships/image" Target="../media/revised_lfr19_lfr19_image33.png"/><Relationship Id="rIdRevisedLFR100" Type="http://schemas.openxmlformats.org/officeDocument/2006/relationships/image" Target="../media/revised_lfr19_lfr19_image34.png"/><Relationship Id="rIdRevisedLFR118" Type="http://schemas.openxmlformats.org/officeDocument/2006/relationships/image" Target="../media/revised_lfr19_lfr19_image77.png"/><Relationship Id="rId10" Type="http://schemas.openxmlformats.org/officeDocument/2006/relationships/image" Target="../media/image73.png"/><Relationship Id="rId4" Type="http://schemas.openxmlformats.org/officeDocument/2006/relationships/image" Target="../media/image65.jpeg"/><Relationship Id="rId9" Type="http://schemas.openxmlformats.org/officeDocument/2006/relationships/image" Target="../media/image72.png"/><Relationship Id="rId14" Type="http://schemas.openxmlformats.org/officeDocument/2006/relationships/image" Target="../media/image77.png"/><Relationship Id="rIdRevisedLFR104" Type="http://schemas.openxmlformats.org/officeDocument/2006/relationships/image" Target="../media/revised_lfr19_image70.png"/></Relationships>
</file>

<file path=ppt/slides/_rels/slide20.xml.rels><?xml version="1.0" encoding="UTF-8" standalone="yes"?>
<Relationships xmlns="http://schemas.openxmlformats.org/package/2006/relationships"><Relationship Id="rIdBlockMorph20_1" Type="http://schemas.openxmlformats.org/officeDocument/2006/relationships/image" Target="../media/blockmorph20_extraction20_revised_lfr19_image101.png"/><Relationship Id="rIdBlockMorph20_18" Type="http://schemas.openxmlformats.org/officeDocument/2006/relationships/image" Target="../media/blockmorph20_image81.png"/><Relationship Id="rId3" Type="http://schemas.openxmlformats.org/officeDocument/2006/relationships/image" Target="../media/image1.png"/><Relationship Id="rIdBlockMorph20_0" Type="http://schemas.openxmlformats.org/officeDocument/2006/relationships/image" Target="../media/blockmorph20_extraction20_revised_lfr19_image97.png"/><Relationship Id="rIdBlockMorph20_21" Type="http://schemas.openxmlformats.org/officeDocument/2006/relationships/image" Target="../media/blockmorph20_image76.png"/><Relationship Id="rIdBlockMorph20_13" Type="http://schemas.openxmlformats.org/officeDocument/2006/relationships/image" Target="../media/blockmorph20_image82.png"/><Relationship Id="rIdBlockMorph20_12" Type="http://schemas.openxmlformats.org/officeDocument/2006/relationships/image" Target="../media/blockmorph20_extraction20_revised_lfr19_image100.png"/><Relationship Id="rIdBlockMorph20_17" Type="http://schemas.openxmlformats.org/officeDocument/2006/relationships/image" Target="../media/blockmorph20_image72.png"/><Relationship Id="rIdBlockMorph20_9" Type="http://schemas.openxmlformats.org/officeDocument/2006/relationships/image" Target="../media/blockmorph20_image78.png"/><Relationship Id="rId2" Type="http://schemas.openxmlformats.org/officeDocument/2006/relationships/notesSlide" Target="../notesSlides/notesSlide14.xml"/><Relationship Id="rIdBlockMorph20_20" Type="http://schemas.openxmlformats.org/officeDocument/2006/relationships/image" Target="../media/blockmorph20_extraction20_image70.png"/><Relationship Id="rIdBlockMorph20_4" Type="http://schemas.openxmlformats.org/officeDocument/2006/relationships/image" Target="../media/blockmorph20_image84.png"/><Relationship Id="rId1" Type="http://schemas.openxmlformats.org/officeDocument/2006/relationships/slideLayout" Target="../slideLayouts/slideLayout6.xml"/><Relationship Id="rIdBlockMorph20_8" Type="http://schemas.openxmlformats.org/officeDocument/2006/relationships/image" Target="../media/blockmorph20_image71.png"/><Relationship Id="rIdBlockMorph20_16" Type="http://schemas.openxmlformats.org/officeDocument/2006/relationships/image" Target="../media/blockmorph20_image77.png"/><Relationship Id="rIdBlockMorph20_3" Type="http://schemas.openxmlformats.org/officeDocument/2006/relationships/image" Target="../media/blockmorph20_image79.png"/><Relationship Id="rIdBlockMorph20_24" Type="http://schemas.openxmlformats.org/officeDocument/2006/relationships/image" Target="../media/blockmorph20_image80.png"/><Relationship Id="rIdBlockMorph20_15" Type="http://schemas.openxmlformats.org/officeDocument/2006/relationships/image" Target="../media/blockmorph20_image73.png"/><Relationship Id="rIdBlockMorph20_7" Type="http://schemas.openxmlformats.org/officeDocument/2006/relationships/image" Target="../media/blockmorph20_extraction20_revised_lfr19_image74.png"/><Relationship Id="rIdBlockMorph20_2" Type="http://schemas.openxmlformats.org/officeDocument/2006/relationships/image" Target="../media/blockmorph20_image74.png"/><Relationship Id="rIdBlockMorph20_23" Type="http://schemas.openxmlformats.org/officeDocument/2006/relationships/image" Target="../media/blockmorph20_image75.png"/><Relationship Id="rIdBlockMorph20_10" Type="http://schemas.openxmlformats.org/officeDocument/2006/relationships/image" Target="../media/blockmorph20_image83.png"/><Relationship Id="rIdBlockMorph20_6" Type="http://schemas.openxmlformats.org/officeDocument/2006/relationships/image" Target="../media/blockmorph20_extraction20_revised_lfr19_image96.png"/><Relationship Id="rIdBlockMorph20_19" Type="http://schemas.openxmlformats.org/officeDocument/2006/relationships/image" Target="../media/blockmorph20_extraction20_revised_lfr19_image102.png"/><Relationship Id="rIdBlockMorph20_22" Type="http://schemas.openxmlformats.org/officeDocument/2006/relationships/image" Target="../media/blockmorph20_image85.png"/></Relationships>
</file>

<file path=ppt/slides/_rels/slide21.xml.rels><?xml version="1.0" encoding="UTF-8" standalone="yes"?>
<Relationships xmlns="http://schemas.openxmlformats.org/package/2006/relationships"><Relationship Id="rIdBlockMorph21_13" Type="http://schemas.openxmlformats.org/officeDocument/2006/relationships/image" Target="../media/blockmorph21_image84.png"/><Relationship Id="rId3" Type="http://schemas.openxmlformats.org/officeDocument/2006/relationships/image" Target="../media/image1.png"/><Relationship Id="rIdBlockMorph21_17" Type="http://schemas.openxmlformats.org/officeDocument/2006/relationships/image" Target="../media/blockmorph21_image83.png"/><Relationship Id="rIdBlockMorph21_7" Type="http://schemas.openxmlformats.org/officeDocument/2006/relationships/image" Target="../media/blockmorph21_image85.png"/><Relationship Id="rIdBlockMorph21_12" Type="http://schemas.openxmlformats.org/officeDocument/2006/relationships/image" Target="../media/blockmorph21_image752.png"/><Relationship Id="rId2" Type="http://schemas.openxmlformats.org/officeDocument/2006/relationships/notesSlide" Target="../notesSlides/notesSlide15.xml"/><Relationship Id="rIdBlockMorph21_16" Type="http://schemas.openxmlformats.org/officeDocument/2006/relationships/image" Target="../media/blockmorph21_image78.png"/><Relationship Id="rIdBlockMorph21_1" Type="http://schemas.openxmlformats.org/officeDocument/2006/relationships/image" Target="../media/blockmorph21_image82.png"/><Relationship Id="rId1" Type="http://schemas.openxmlformats.org/officeDocument/2006/relationships/slideLayout" Target="../slideLayouts/slideLayout6.xml"/><Relationship Id="rIdBlockMorph21_11" Type="http://schemas.openxmlformats.org/officeDocument/2006/relationships/image" Target="../media/blockmorph21_image80.png"/><Relationship Id="rIdBlockMorph21_5" Type="http://schemas.openxmlformats.org/officeDocument/2006/relationships/image" Target="../media/blockmorph21_image81.png"/><Relationship Id="rIdBlockMorph21_15" Type="http://schemas.openxmlformats.org/officeDocument/2006/relationships/image" Target="../media/blockmorph21_image741.png"/><Relationship Id="rIdBlockMorph21_9" Type="http://schemas.openxmlformats.org/officeDocument/2006/relationships/image" Target="../media/blockmorph21_image760.png"/><Relationship Id="rIdBlockMorph21_10" Type="http://schemas.openxmlformats.org/officeDocument/2006/relationships/image" Target="../media/blockmorph21_extraction20_image70.png"/><Relationship Id="rIdBlockMorph21_0" Type="http://schemas.openxmlformats.org/officeDocument/2006/relationships/image" Target="../media/blockmorph21_image77.png"/><Relationship Id="rIdBlockMorph21_4" Type="http://schemas.openxmlformats.org/officeDocument/2006/relationships/image" Target="../media/blockmorph21_image71.png"/><Relationship Id="rIdBlockMorph21_3" Type="http://schemas.openxmlformats.org/officeDocument/2006/relationships/image" Target="../media/blockmorph21_image73.png"/><Relationship Id="rIdBlockMorph21_14" Type="http://schemas.openxmlformats.org/officeDocument/2006/relationships/image" Target="../media/blockmorph21_image79.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 Id="rId6" Type="http://schemas.openxmlformats.org/officeDocument/2006/relationships/image" Target="../media/image732.png"/><Relationship Id="rId5" Type="http://schemas.openxmlformats.org/officeDocument/2006/relationships/image" Target="../media/image723.png"/><Relationship Id="rIdBlockMorph21_10" Type="http://schemas.openxmlformats.org/officeDocument/2006/relationships/image" Target="../media/blockmorph21_extraction20_image70.png"/><Relationship Id="rId4" Type="http://schemas.openxmlformats.org/officeDocument/2006/relationships/image" Target="../media/image711.png"/><Relationship Id="rIdBlockMorph21_3" Type="http://schemas.openxmlformats.org/officeDocument/2006/relationships/image" Target="../media/blockmorph21_image73.png"/></Relationships>
</file>

<file path=ppt/slides/_rels/slide23.xml.rels><?xml version="1.0" encoding="utf-8"?><Relationships xmlns="http://schemas.openxmlformats.org/package/2006/relationships"><Relationship Id="rId3" Type="http://schemas.openxmlformats.org/officeDocument/2006/relationships/image" Target="../media/transpose_slide23_image1.png"/><Relationship Id="rIdBlock108" Type="http://schemas.openxmlformats.org/officeDocument/2006/relationships/image" Target="../media/transpose_slide23_image731.png"/><Relationship Id="rId7" Type="http://schemas.openxmlformats.org/officeDocument/2006/relationships/image" Target="../media/transpose_slide23_image771.png"/><Relationship Id="rIdBlock107" Type="http://schemas.openxmlformats.org/officeDocument/2006/relationships/image" Target="../media/transpose_slide23_extraction20_image70.png"/><Relationship Id="rId2" Type="http://schemas.openxmlformats.org/officeDocument/2006/relationships/notesSlide" Target="../notesSlides/notesSlide17.xml"/><Relationship Id="rId1" Type="http://schemas.openxmlformats.org/officeDocument/2006/relationships/slideLayout" Target="../slideLayouts/slideLayout6.xml"/><Relationship Id="rId6" Type="http://schemas.openxmlformats.org/officeDocument/2006/relationships/image" Target="../media/transpose_slide23_image760.png"/><Relationship Id="rId5" Type="http://schemas.openxmlformats.org/officeDocument/2006/relationships/image" Target="../media/transpose_slide23_image752.png"/><Relationship Id="rId4" Type="http://schemas.openxmlformats.org/officeDocument/2006/relationships/image" Target="../media/transpose_slide23_image741.png"/></Relationships>
</file>

<file path=ppt/slides/_rels/slide24.xml.rels><?xml version="1.0" encoding="utf-8"?><Relationships xmlns="http://schemas.openxmlformats.org/package/2006/relationships"><Relationship Id="rId3" Type="http://schemas.openxmlformats.org/officeDocument/2006/relationships/image" Target="../media/transpose_slide24_image1.png"/><Relationship Id="rId2" Type="http://schemas.openxmlformats.org/officeDocument/2006/relationships/notesSlide" Target="../notesSlides/notesSlide18.xml"/><Relationship Id="rId1" Type="http://schemas.openxmlformats.org/officeDocument/2006/relationships/slideLayout" Target="../slideLayouts/slideLayout6.xml"/><Relationship Id="rIdBlock106" Type="http://schemas.openxmlformats.org/officeDocument/2006/relationships/image" Target="../media/transpose_slide24_image731.png"/><Relationship Id="rId5" Type="http://schemas.openxmlformats.org/officeDocument/2006/relationships/image" Target="../media/transpose_slide24_image79.png"/><Relationship Id="rIdBlock105" Type="http://schemas.openxmlformats.org/officeDocument/2006/relationships/image" Target="../media/transpose_slide24_extraction20_image70.png"/><Relationship Id="rId4" Type="http://schemas.openxmlformats.org/officeDocument/2006/relationships/image" Target="../media/transpose_slide24_image781.png"/></Relationships>
</file>

<file path=ppt/slides/_rels/slide25.xml.rels><?xml version="1.0" encoding="UTF-8" standalone="yes"?>
<Relationships xmlns="http://schemas.openxmlformats.org/package/2006/relationships"><Relationship Id="rId8" Type="http://schemas.openxmlformats.org/officeDocument/2006/relationships/image" Target="../media/image751.png"/><Relationship Id="rId13" Type="http://schemas.openxmlformats.org/officeDocument/2006/relationships/image" Target="../media/image67.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7" Type="http://schemas.openxmlformats.org/officeDocument/2006/relationships/image" Target="../media/image740.png"/><Relationship Id="rId12" Type="http://schemas.openxmlformats.org/officeDocument/2006/relationships/image" Target="../media/image800.png"/><Relationship Id="rId2" Type="http://schemas.openxmlformats.org/officeDocument/2006/relationships/notesSlide" Target="../notesSlides/notesSlide19.xml"/><Relationship Id="rIdRevisedLFR128" Type="http://schemas.openxmlformats.org/officeDocument/2006/relationships/image" Target="../media/revised_lfr19_image102.png"/><Relationship Id="rIdPillarBlock18" Type="http://schemas.openxmlformats.org/officeDocument/2006/relationships/image" Target="../media/extraction20_image70.png"/><Relationship Id="rId1" Type="http://schemas.openxmlformats.org/officeDocument/2006/relationships/slideLayout" Target="../slideLayouts/slideLayout6.xml"/><Relationship Id="rId6" Type="http://schemas.openxmlformats.org/officeDocument/2006/relationships/image" Target="../media/image81.png"/><Relationship Id="rId11" Type="http://schemas.openxmlformats.org/officeDocument/2006/relationships/image" Target="../media/image790.png"/><Relationship Id="rId5" Type="http://schemas.openxmlformats.org/officeDocument/2006/relationships/image" Target="../media/image722.png"/><Relationship Id="rId15" Type="http://schemas.openxmlformats.org/officeDocument/2006/relationships/image" Target="../media/image7.jpg"/><Relationship Id="rId10" Type="http://schemas.openxmlformats.org/officeDocument/2006/relationships/image" Target="../media/image82.png"/><Relationship Id="rId4" Type="http://schemas.openxmlformats.org/officeDocument/2006/relationships/image" Target="../media/image1.png"/><Relationship Id="rId9" Type="http://schemas.openxmlformats.org/officeDocument/2006/relationships/image" Target="../media/image770.png"/><Relationship Id="rId14" Type="http://schemas.openxmlformats.org/officeDocument/2006/relationships/image" Target="../media/image68.jpeg"/></Relationships>
</file>

<file path=ppt/slides/_rels/slide26.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0.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4" Type="http://schemas.openxmlformats.org/officeDocument/2006/relationships/image" Target="../media/image1.png"/><Relationship Id="rId9" Type="http://schemas.openxmlformats.org/officeDocument/2006/relationships/image" Target="../media/image82.png"/></Relationships>
</file>

<file path=ppt/slides/_rels/slide27.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31.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1.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8.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84.png"/><Relationship Id="rId3" Type="http://schemas.openxmlformats.org/officeDocument/2006/relationships/image" Target="../media/image831.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3.png"/><Relationship Id="rId2" Type="http://schemas.openxmlformats.org/officeDocument/2006/relationships/notesSlide" Target="../notesSlides/notesSlide22.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9.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3.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4.xml"/><Relationship Id="rId1" Type="http://schemas.openxmlformats.org/officeDocument/2006/relationships/slideLayout" Target="../slideLayouts/slideLayout6.xml"/><Relationship Id="rId9" Type="http://schemas.openxmlformats.org/officeDocument/2006/relationships/image" Target="../media/image780.png"/></Relationships>
</file>

<file path=ppt/slides/_rels/slide31.xml.rels><?xml version="1.0" encoding="utf-8"?><Relationships xmlns="http://schemas.openxmlformats.org/package/2006/relationships"><Relationship Id="rId8" Type="http://schemas.openxmlformats.org/officeDocument/2006/relationships/image" Target="../media/transpose_slide31_image770.png"/><Relationship Id="rId13" Type="http://schemas.openxmlformats.org/officeDocument/2006/relationships/image" Target="../media/transpose_slide31_image90.png"/><Relationship Id="rId18" Type="http://schemas.openxmlformats.org/officeDocument/2006/relationships/image" Target="../media/transpose_slide31_image95.png"/><Relationship Id="rIdRevisedLFR129" Type="http://schemas.openxmlformats.org/officeDocument/2006/relationships/image" Target="../media/transpose_slide31_revised_lfr19_image96.png"/><Relationship Id="rIdPillarBlock19" Type="http://schemas.openxmlformats.org/officeDocument/2006/relationships/image" Target="../media/transpose_slide31_image731.png"/><Relationship Id="rId12" Type="http://schemas.openxmlformats.org/officeDocument/2006/relationships/image" Target="../media/transpose_slide31_image89.png"/><Relationship Id="rId17" Type="http://schemas.openxmlformats.org/officeDocument/2006/relationships/image" Target="../media/transpose_slide31_image94.png"/><Relationship Id="rId2" Type="http://schemas.openxmlformats.org/officeDocument/2006/relationships/notesSlide" Target="../notesSlides/notesSlide25.xml"/><Relationship Id="rId16" Type="http://schemas.openxmlformats.org/officeDocument/2006/relationships/image" Target="../media/transpose_slide31_image93.png"/><Relationship Id="rId1" Type="http://schemas.openxmlformats.org/officeDocument/2006/relationships/slideLayout" Target="../slideLayouts/slideLayout6.xml"/><Relationship Id="rId11" Type="http://schemas.openxmlformats.org/officeDocument/2006/relationships/image" Target="../media/transpose_slide31_image88.png"/><Relationship Id="rId15" Type="http://schemas.openxmlformats.org/officeDocument/2006/relationships/image" Target="../media/transpose_slide31_image92.png"/><Relationship Id="rId10" Type="http://schemas.openxmlformats.org/officeDocument/2006/relationships/image" Target="../media/transpose_slide31_image87.png"/><Relationship Id="rId19" Type="http://schemas.openxmlformats.org/officeDocument/2006/relationships/image" Target="../media/transpose_slide31_image96.png"/><Relationship Id="rId9" Type="http://schemas.openxmlformats.org/officeDocument/2006/relationships/image" Target="../media/transpose_slide31_image861.png"/><Relationship Id="rId14" Type="http://schemas.openxmlformats.org/officeDocument/2006/relationships/image" Target="../media/transpose_slide31_image91.png"/></Relationships>
</file>

<file path=ppt/slides/_rels/slide32.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4.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7.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1.png"/><Relationship Id="rId10" Type="http://schemas.openxmlformats.org/officeDocument/2006/relationships/image" Target="../media/image790.png"/><Relationship Id="rId4" Type="http://schemas.openxmlformats.org/officeDocument/2006/relationships/image" Target="../media/image85.png"/><Relationship Id="rId9" Type="http://schemas.openxmlformats.org/officeDocument/2006/relationships/image" Target="../media/image86.png"/></Relationships>
</file>

<file path=ppt/slides/_rels/slide34.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SectorRefinement34_1" Type="http://schemas.openxmlformats.org/officeDocument/2006/relationships/image" Target="../media/sectorrefinement34_image108.png"/><Relationship Id="rId8" Type="http://schemas.openxmlformats.org/officeDocument/2006/relationships/image" Target="../media/image990.png"/><Relationship Id="rId13" Type="http://schemas.openxmlformats.org/officeDocument/2006/relationships/image" Target="../media/image47.png"/><Relationship Id="rId18" Type="http://schemas.openxmlformats.org/officeDocument/2006/relationships/image" Target="../media/image52.png"/><Relationship Id="rId3" Type="http://schemas.openxmlformats.org/officeDocument/2006/relationships/image" Target="../media/image980.png"/><Relationship Id="rId7" Type="http://schemas.openxmlformats.org/officeDocument/2006/relationships/image" Target="../media/image102.png"/><Relationship Id="rId12" Type="http://schemas.openxmlformats.org/officeDocument/2006/relationships/image" Target="../media/image461.png"/><Relationship Id="rId17" Type="http://schemas.openxmlformats.org/officeDocument/2006/relationships/image" Target="../media/image51.png"/><Relationship Id="rId2" Type="http://schemas.openxmlformats.org/officeDocument/2006/relationships/notesSlide" Target="../notesSlides/notesSlide29.xml"/><Relationship Id="rId16" Type="http://schemas.openxmlformats.org/officeDocument/2006/relationships/image" Target="../media/image50.png"/><Relationship Id="rId1" Type="http://schemas.openxmlformats.org/officeDocument/2006/relationships/slideLayout" Target="../slideLayouts/slideLayout12.xml"/><Relationship Id="rIdSectorRefinement34_3" Type="http://schemas.openxmlformats.org/officeDocument/2006/relationships/image" Target="../media/sectorrefinement34_image98.png"/><Relationship Id="rId6" Type="http://schemas.openxmlformats.org/officeDocument/2006/relationships/image" Target="../media/image101.png"/><Relationship Id="rId11" Type="http://schemas.openxmlformats.org/officeDocument/2006/relationships/image" Target="../media/image32.png"/><Relationship Id="rIdSectorRefinement34_16" Type="http://schemas.openxmlformats.org/officeDocument/2006/relationships/image" Target="../media/sectorrefinement34_image99.png"/><Relationship Id="rId5" Type="http://schemas.openxmlformats.org/officeDocument/2006/relationships/image" Target="../media/image100.png"/><Relationship Id="rId15" Type="http://schemas.openxmlformats.org/officeDocument/2006/relationships/image" Target="../media/image49.png"/><Relationship Id="rId10" Type="http://schemas.openxmlformats.org/officeDocument/2006/relationships/image" Target="../media/image104.png"/><Relationship Id="rId19" Type="http://schemas.openxmlformats.org/officeDocument/2006/relationships/image" Target="../media/image105.png"/><Relationship Id="rIdSectorRefinement34_10" Type="http://schemas.openxmlformats.org/officeDocument/2006/relationships/image" Target="../media/sectorrefinement34_image101.png"/><Relationship Id="rId4" Type="http://schemas.openxmlformats.org/officeDocument/2006/relationships/image" Target="../media/image99.png"/><Relationship Id="rId9" Type="http://schemas.openxmlformats.org/officeDocument/2006/relationships/image" Target="../media/image103.png"/><Relationship Id="rId14" Type="http://schemas.openxmlformats.org/officeDocument/2006/relationships/image" Target="../media/image48.png"/></Relationships>
</file>

<file path=ppt/slides/_rels/slide36.xml.rels><?xml version="1.0" encoding="UTF-8" standalone="yes"?>
<Relationships xmlns="http://schemas.openxmlformats.org/package/2006/relationships"><Relationship Id="rId8" Type="http://schemas.openxmlformats.org/officeDocument/2006/relationships/image" Target="../media/slide36product_image108.png"/><Relationship Id="rId3" Type="http://schemas.openxmlformats.org/officeDocument/2006/relationships/slideLayout" Target="../slideLayouts/slideLayout12.xml"/><Relationship Id="rIdSectorRefinement35_325" Type="http://schemas.openxmlformats.org/officeDocument/2006/relationships/image" Target="../media/slide36product_slide36smooth_sectorrefinement35_image116.png"/><Relationship Id="rIdSectorRefinement35_105" Type="http://schemas.openxmlformats.org/officeDocument/2006/relationships/image" Target="../media/slide36product_slide36smooth_sectorrefinement35_image119.png"/><Relationship Id="rId7" Type="http://schemas.openxmlformats.org/officeDocument/2006/relationships/image" Target="../media/slide36product_image107.png"/><Relationship Id="rId2" Type="http://schemas.openxmlformats.org/officeDocument/2006/relationships/video" Target="../media/media6.mp4"/><Relationship Id="rId1" Type="http://schemas.microsoft.com/office/2007/relationships/media" Target="../media/media6.mp4"/><Relationship Id="rId6" Type="http://schemas.openxmlformats.org/officeDocument/2006/relationships/image" Target="../media/slide36product_image106.png"/><Relationship Id="rId5" Type="http://schemas.openxmlformats.org/officeDocument/2006/relationships/image" Target="../media/image97.png"/><Relationship Id="rId4" Type="http://schemas.openxmlformats.org/officeDocument/2006/relationships/notesSlide" Target="../notesSlides/notesSlide30.xml"/><Relationship Id="rIdSectorRefinement35_60" Type="http://schemas.openxmlformats.org/officeDocument/2006/relationships/image" Target="../media/slide36product_slide36smooth_sectorrefinement35_image117.png"/></Relationships>
</file>

<file path=ppt/slides/_rels/slide37.xml.rels><?xml version="1.0" encoding="UTF-8" standalone="yes"?>
<Relationships xmlns="http://schemas.openxmlformats.org/package/2006/relationships"><Relationship Id="rId8" Type="http://schemas.openxmlformats.org/officeDocument/2006/relationships/image" Target="../media/slide37derivation_image107.png"/><Relationship Id="rId3" Type="http://schemas.openxmlformats.org/officeDocument/2006/relationships/image" Target="../media/image106.png"/><Relationship Id="rId7" Type="http://schemas.openxmlformats.org/officeDocument/2006/relationships/image" Target="../media/slide37derivation_slide37norm_image108.png"/><Relationship Id="rId2" Type="http://schemas.openxmlformats.org/officeDocument/2006/relationships/notesSlide" Target="../notesSlides/notesSlide31.xml"/><Relationship Id="rId1" Type="http://schemas.openxmlformats.org/officeDocument/2006/relationships/slideLayout" Target="../slideLayouts/slideLayout12.xml"/><Relationship Id="rId11" Type="http://schemas.openxmlformats.org/officeDocument/2006/relationships/image" Target="../media/image1070.png"/><Relationship Id="rId5" Type="http://schemas.openxmlformats.org/officeDocument/2006/relationships/image" Target="../media/slide37derivation_slide37norm_slide37narrative_image108.png"/><Relationship Id="rId10" Type="http://schemas.openxmlformats.org/officeDocument/2006/relationships/image" Target="../media/image109.png"/><Relationship Id="rId4" Type="http://schemas.openxmlformats.org/officeDocument/2006/relationships/image" Target="../media/image107.png"/><Relationship Id="rId9" Type="http://schemas.openxmlformats.org/officeDocument/2006/relationships/image" Target="../media/image108.png"/></Relationships>
</file>

<file path=ppt/slides/_rels/slide38.xml.rels><?xml version="1.0" encoding="UTF-8" standalone="yes"?>
<Relationships xmlns="http://schemas.openxmlformats.org/package/2006/relationships"><Relationship Id="rId3" Type="http://schemas.openxmlformats.org/officeDocument/2006/relationships/image" Target="../media/slide38theta_image111.png"/><Relationship Id="rId7" Type="http://schemas.openxmlformats.org/officeDocument/2006/relationships/image" Target="../media/image113.png"/><Relationship Id="rId2" Type="http://schemas.openxmlformats.org/officeDocument/2006/relationships/image" Target="../media/image110.png"/><Relationship Id="rId1" Type="http://schemas.openxmlformats.org/officeDocument/2006/relationships/slideLayout" Target="../slideLayouts/slideLayout12.xml"/><Relationship Id="rId6" Type="http://schemas.openxmlformats.org/officeDocument/2006/relationships/image" Target="../media/image112.png"/><Relationship Id="rId5" Type="http://schemas.openxmlformats.org/officeDocument/2006/relationships/image" Target="../media/image111.png"/><Relationship Id="rId4" Type="http://schemas.openxmlformats.org/officeDocument/2006/relationships/image" Target="../media/slide38theta_image112.png"/></Relationships>
</file>

<file path=ppt/slides/_rels/slide39.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114.png"/><Relationship Id="rId2" Type="http://schemas.openxmlformats.org/officeDocument/2006/relationships/notesSlide" Target="../notesSlides/notesSlide32.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1.png"/><Relationship Id="rId10" Type="http://schemas.openxmlformats.org/officeDocument/2006/relationships/image" Target="../media/image790.png"/><Relationship Id="rId9" Type="http://schemas.openxmlformats.org/officeDocument/2006/relationships/image" Target="../media/image780.png"/></Relationships>
</file>

<file path=ppt/slides/_rels/slide40.xml.rels><?xml version="1.0" encoding="UTF-8" standalone="yes"?>
<Relationships xmlns="http://schemas.openxmlformats.org/package/2006/relationships"><Relationship Id="rId8" Type="http://schemas.openxmlformats.org/officeDocument/2006/relationships/image" Target="../media/image971.png"/><Relationship Id="rId13" Type="http://schemas.openxmlformats.org/officeDocument/2006/relationships/image" Target="../media/image1020.png"/><Relationship Id="rId18" Type="http://schemas.openxmlformats.org/officeDocument/2006/relationships/image" Target="../media/image1140.png"/><Relationship Id="rId3" Type="http://schemas.openxmlformats.org/officeDocument/2006/relationships/image" Target="../media/image85.png"/><Relationship Id="rId7" Type="http://schemas.openxmlformats.org/officeDocument/2006/relationships/image" Target="../media/image961.png"/><Relationship Id="rId12" Type="http://schemas.openxmlformats.org/officeDocument/2006/relationships/image" Target="../media/image1011.png"/><Relationship Id="rId17" Type="http://schemas.openxmlformats.org/officeDocument/2006/relationships/image" Target="../media/image1130.png"/><Relationship Id="rId2" Type="http://schemas.openxmlformats.org/officeDocument/2006/relationships/notesSlide" Target="../notesSlides/notesSlide33.xml"/><Relationship Id="rId16" Type="http://schemas.openxmlformats.org/officeDocument/2006/relationships/image" Target="../media/image1120.png"/><Relationship Id="rId1" Type="http://schemas.openxmlformats.org/officeDocument/2006/relationships/slideLayout" Target="../slideLayouts/slideLayout6.xml"/><Relationship Id="rId6" Type="http://schemas.openxmlformats.org/officeDocument/2006/relationships/image" Target="../media/image950.png"/><Relationship Id="rId11" Type="http://schemas.openxmlformats.org/officeDocument/2006/relationships/image" Target="../media/image1000.png"/><Relationship Id="rId5" Type="http://schemas.openxmlformats.org/officeDocument/2006/relationships/image" Target="../media/image940.png"/><Relationship Id="rId15" Type="http://schemas.openxmlformats.org/officeDocument/2006/relationships/image" Target="../media/image1110.png"/><Relationship Id="rId10" Type="http://schemas.openxmlformats.org/officeDocument/2006/relationships/image" Target="../media/image1090.png"/><Relationship Id="rId4" Type="http://schemas.openxmlformats.org/officeDocument/2006/relationships/image" Target="../media/image114.png"/><Relationship Id="rId9" Type="http://schemas.openxmlformats.org/officeDocument/2006/relationships/image" Target="../media/image981.png"/><Relationship Id="rId14" Type="http://schemas.openxmlformats.org/officeDocument/2006/relationships/image" Target="../media/image1100.png"/></Relationships>
</file>

<file path=ppt/slides/_rels/slide41.xml.rels><?xml version="1.0" encoding="utf-8"?><Relationships xmlns="http://schemas.openxmlformats.org/package/2006/relationships"><Relationship Id="rId8" Type="http://schemas.openxmlformats.org/officeDocument/2006/relationships/image" Target="../media/transpose_slide41_image119.png"/><Relationship Id="rId13" Type="http://schemas.openxmlformats.org/officeDocument/2006/relationships/image" Target="../media/transpose_slide41_slide41original_restore41_image124.png"/><Relationship Id="rId26" Type="http://schemas.openxmlformats.org/officeDocument/2006/relationships/image" Target="../media/transpose_slide41_image1290.png"/><Relationship Id="rId3" Type="http://schemas.openxmlformats.org/officeDocument/2006/relationships/image" Target="../media/transpose_slide41_image115.png"/><Relationship Id="rId21" Type="http://schemas.openxmlformats.org/officeDocument/2006/relationships/image" Target="../media/transpose_slide41_image127.png"/><Relationship Id="rId34" Type="http://schemas.openxmlformats.org/officeDocument/2006/relationships/image" Target="../media/transpose_slide41_image1350.png"/><Relationship Id="rId7" Type="http://schemas.openxmlformats.org/officeDocument/2006/relationships/image" Target="../media/transpose_slide41_slide41original_restore41_image118.png"/><Relationship Id="rId25" Type="http://schemas.openxmlformats.org/officeDocument/2006/relationships/image" Target="../media/transpose_slide41_image131.png"/><Relationship Id="rId33" Type="http://schemas.openxmlformats.org/officeDocument/2006/relationships/image" Target="../media/transpose_slide41_image136.png"/><Relationship Id="rId2" Type="http://schemas.openxmlformats.org/officeDocument/2006/relationships/notesSlide" Target="../notesSlides/notesSlide34.xml"/><Relationship Id="rId16" Type="http://schemas.openxmlformats.org/officeDocument/2006/relationships/image" Target="../media/transpose_slide41_image124.png"/><Relationship Id="rId20" Type="http://schemas.openxmlformats.org/officeDocument/2006/relationships/image" Target="../media/transpose_slide41_image126.png"/><Relationship Id="rId29" Type="http://schemas.openxmlformats.org/officeDocument/2006/relationships/image" Target="../media/transpose_slide41_image133.png"/><Relationship Id="rId1" Type="http://schemas.openxmlformats.org/officeDocument/2006/relationships/slideLayout" Target="../slideLayouts/slideLayout12.xml"/><Relationship Id="rId6" Type="http://schemas.openxmlformats.org/officeDocument/2006/relationships/image" Target="../media/transpose_slide41_image118.png"/><Relationship Id="rId24" Type="http://schemas.openxmlformats.org/officeDocument/2006/relationships/image" Target="../media/transpose_slide41_image129.png"/><Relationship Id="rId32" Type="http://schemas.openxmlformats.org/officeDocument/2006/relationships/image" Target="../media/transpose_slide41_image1330.png"/><Relationship Id="rId5" Type="http://schemas.openxmlformats.org/officeDocument/2006/relationships/image" Target="../media/transpose_slide41_image117.png"/><Relationship Id="rId15" Type="http://schemas.openxmlformats.org/officeDocument/2006/relationships/image" Target="../media/transpose_slide41_image123.png"/><Relationship Id="rId23" Type="http://schemas.openxmlformats.org/officeDocument/2006/relationships/image" Target="../media/transpose_slide41_slide41original_image116.png"/><Relationship Id="rId28" Type="http://schemas.openxmlformats.org/officeDocument/2006/relationships/image" Target="../media/transpose_slide41_image132.png"/><Relationship Id="rId10" Type="http://schemas.openxmlformats.org/officeDocument/2006/relationships/image" Target="../media/transpose_slide41_image121.png"/><Relationship Id="rId19" Type="http://schemas.openxmlformats.org/officeDocument/2006/relationships/image" Target="../media/transpose_slide41_slide41original_restore41_image132.png"/><Relationship Id="rId31" Type="http://schemas.openxmlformats.org/officeDocument/2006/relationships/image" Target="../media/transpose_slide41_image135.png"/><Relationship Id="rId4" Type="http://schemas.openxmlformats.org/officeDocument/2006/relationships/image" Target="../media/transpose_slide41_image116.png"/><Relationship Id="rId9" Type="http://schemas.openxmlformats.org/officeDocument/2006/relationships/image" Target="../media/transpose_slide41_image120.png"/><Relationship Id="rId14" Type="http://schemas.openxmlformats.org/officeDocument/2006/relationships/image" Target="../media/transpose_slide41_image122.png"/><Relationship Id="rId22" Type="http://schemas.openxmlformats.org/officeDocument/2006/relationships/image" Target="../media/transpose_slide41_image128.png"/><Relationship Id="rId27" Type="http://schemas.openxmlformats.org/officeDocument/2006/relationships/image" Target="../media/transpose_slide41_image1310.png"/><Relationship Id="rId30" Type="http://schemas.openxmlformats.org/officeDocument/2006/relationships/image" Target="../media/transpose_slide41_image134.png"/></Relationships>
</file>

<file path=ppt/slides/_rels/slide42.xml.rels><?xml version="1.0" encoding="utf-8"?><Relationships xmlns="http://schemas.openxmlformats.org/package/2006/relationships"><Relationship Id="rId3" Type="http://schemas.openxmlformats.org/officeDocument/2006/relationships/image" Target="../media/transpose_slide42_image137.png"/><Relationship Id="rId2" Type="http://schemas.openxmlformats.org/officeDocument/2006/relationships/notesSlide" Target="../notesSlides/notesSlide35.xml"/><Relationship Id="rId1" Type="http://schemas.openxmlformats.org/officeDocument/2006/relationships/slideLayout" Target="../slideLayouts/slideLayout12.xml"/><Relationship Id="rId6" Type="http://schemas.openxmlformats.org/officeDocument/2006/relationships/image" Target="../media/transpose_slide42_image135.png"/><Relationship Id="rId5" Type="http://schemas.openxmlformats.org/officeDocument/2006/relationships/image" Target="../media/transpose_slide42_image139.png"/><Relationship Id="rId4" Type="http://schemas.openxmlformats.org/officeDocument/2006/relationships/image" Target="../media/transpose_slide42_image138.png"/></Relationships>
</file>

<file path=ppt/slides/_rels/slide43.xml.rels><?xml version="1.0" encoding="utf-8"?><Relationships xmlns="http://schemas.openxmlformats.org/package/2006/relationships"><Relationship Id="rId8" Type="http://schemas.openxmlformats.org/officeDocument/2006/relationships/image" Target="../media/transpose_slide43_slide43full_image144.png"/><Relationship Id="rId13" Type="http://schemas.openxmlformats.org/officeDocument/2006/relationships/image" Target="../media/transpose_slide43_image140.png"/><Relationship Id="rId18" Type="http://schemas.openxmlformats.org/officeDocument/2006/relationships/image" Target="../media/transpose_slide43_slide43full_image155.png"/><Relationship Id="rId26" Type="http://schemas.openxmlformats.org/officeDocument/2006/relationships/image" Target="../media/transpose_slide43_slide43full_image163.png"/><Relationship Id="rId3" Type="http://schemas.openxmlformats.org/officeDocument/2006/relationships/image" Target="../media/transpose_slide43_slide43full_image140.png"/><Relationship Id="rId21" Type="http://schemas.openxmlformats.org/officeDocument/2006/relationships/image" Target="../media/transpose_slide43_slide43full_image158.png"/><Relationship Id="rId7" Type="http://schemas.openxmlformats.org/officeDocument/2006/relationships/image" Target="../media/transpose_slide43_slide43full_image143.png"/><Relationship Id="rId12" Type="http://schemas.openxmlformats.org/officeDocument/2006/relationships/image" Target="../media/transpose_slide43_slide43full_image148.png"/><Relationship Id="rId17" Type="http://schemas.openxmlformats.org/officeDocument/2006/relationships/image" Target="../media/transpose_slide43_slide43full_image154.png"/><Relationship Id="rId25" Type="http://schemas.openxmlformats.org/officeDocument/2006/relationships/image" Target="../media/transpose_slide43_slide43full_image162.png"/><Relationship Id="rId2" Type="http://schemas.openxmlformats.org/officeDocument/2006/relationships/notesSlide" Target="../notesSlides/notesSlide36.xml"/><Relationship Id="rId16" Type="http://schemas.openxmlformats.org/officeDocument/2006/relationships/image" Target="../media/transpose_slide43_slide43full_image153.png"/><Relationship Id="rId20" Type="http://schemas.openxmlformats.org/officeDocument/2006/relationships/image" Target="../media/transpose_slide43_slide43full_image157.png"/><Relationship Id="rId29" Type="http://schemas.openxmlformats.org/officeDocument/2006/relationships/image" Target="../media/transpose_slide43_slide43full_image166.png"/><Relationship Id="rId1" Type="http://schemas.openxmlformats.org/officeDocument/2006/relationships/slideLayout" Target="../slideLayouts/slideLayout12.xml"/><Relationship Id="rId6" Type="http://schemas.openxmlformats.org/officeDocument/2006/relationships/image" Target="../media/transpose_slide43_slide43full_slide43animated_slide43theta_image143.png"/><Relationship Id="rId11" Type="http://schemas.openxmlformats.org/officeDocument/2006/relationships/image" Target="../media/transpose_slide43_slide43full_image147.png"/><Relationship Id="rId24" Type="http://schemas.openxmlformats.org/officeDocument/2006/relationships/image" Target="../media/transpose_slide43_slide43full_image161.png"/><Relationship Id="rId5" Type="http://schemas.openxmlformats.org/officeDocument/2006/relationships/image" Target="../media/transpose_slide43_slide43full_image142.png"/><Relationship Id="rId15" Type="http://schemas.openxmlformats.org/officeDocument/2006/relationships/image" Target="../media/transpose_slide43_slide43full_image152.png"/><Relationship Id="rId23" Type="http://schemas.openxmlformats.org/officeDocument/2006/relationships/image" Target="../media/transpose_slide43_slide43full_image160.png"/><Relationship Id="rId28" Type="http://schemas.openxmlformats.org/officeDocument/2006/relationships/image" Target="../media/transpose_slide43_slide43full_image165.png"/><Relationship Id="rId10" Type="http://schemas.openxmlformats.org/officeDocument/2006/relationships/image" Target="../media/transpose_slide43_slide43full_image146.png"/><Relationship Id="rId19" Type="http://schemas.openxmlformats.org/officeDocument/2006/relationships/image" Target="../media/transpose_slide43_slide43full_image156.png"/><Relationship Id="rId31" Type="http://schemas.openxmlformats.org/officeDocument/2006/relationships/image" Target="../media/transpose_slide43_slide43full_image168.png"/><Relationship Id="rId4" Type="http://schemas.openxmlformats.org/officeDocument/2006/relationships/image" Target="../media/transpose_slide43_slide43full_image141.png"/><Relationship Id="rId9" Type="http://schemas.openxmlformats.org/officeDocument/2006/relationships/image" Target="../media/transpose_slide43_slide43full_image145.png"/><Relationship Id="rId14" Type="http://schemas.openxmlformats.org/officeDocument/2006/relationships/image" Target="../media/transpose_slide43_slide43full_image151.png"/><Relationship Id="rId22" Type="http://schemas.openxmlformats.org/officeDocument/2006/relationships/image" Target="../media/transpose_slide43_slide43full_image159.png"/><Relationship Id="rId27" Type="http://schemas.openxmlformats.org/officeDocument/2006/relationships/image" Target="../media/transpose_slide43_slide43full_image164.png"/><Relationship Id="rId30" Type="http://schemas.openxmlformats.org/officeDocument/2006/relationships/image" Target="../media/transpose_slide43_slide43full_image167.png"/></Relationships>
</file>

<file path=ppt/slides/_rels/slide44.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7.mp4"/><Relationship Id="rId16" Type="http://schemas.openxmlformats.org/officeDocument/2006/relationships/image" Target="../media/image701.png"/><Relationship Id="rId1" Type="http://schemas.microsoft.com/office/2007/relationships/media" Target="../media/media7.mp4"/><Relationship Id="rId6" Type="http://schemas.openxmlformats.org/officeDocument/2006/relationships/image" Target="../media/image220.png"/><Relationship Id="rId11" Type="http://schemas.openxmlformats.org/officeDocument/2006/relationships/image" Target="../media/image65.png"/><Relationship Id="rId5" Type="http://schemas.openxmlformats.org/officeDocument/2006/relationships/image" Target="../media/image141.png"/><Relationship Id="rId15" Type="http://schemas.openxmlformats.org/officeDocument/2006/relationships/image" Target="../media/image691.png"/><Relationship Id="rId10" Type="http://schemas.openxmlformats.org/officeDocument/2006/relationships/image" Target="../media/image64.png"/><Relationship Id="rId4" Type="http://schemas.openxmlformats.org/officeDocument/2006/relationships/image" Target="../media/image1.png"/><Relationship Id="rId9" Type="http://schemas.openxmlformats.org/officeDocument/2006/relationships/image" Target="../media/image58.png"/><Relationship Id="rId14" Type="http://schemas.openxmlformats.org/officeDocument/2006/relationships/image" Target="../media/image681.png"/></Relationships>
</file>

<file path=ppt/slides/_rels/slide45.xml.rels><?xml version="1.0" encoding="UTF-8" standalone="yes"?>
<Relationships xmlns="http://schemas.openxmlformats.org/package/2006/relationships"><Relationship Id="rIdEditable104" Type="http://schemas.openxmlformats.org/officeDocument/2006/relationships/image" Target="../media/editable_382_image157.png"/><Relationship Id="rId3" Type="http://schemas.openxmlformats.org/officeDocument/2006/relationships/slideLayout" Target="../slideLayouts/slideLayout12.xml"/><Relationship Id="rIdEditable103" Type="http://schemas.openxmlformats.org/officeDocument/2006/relationships/image" Target="../media/editable_381_image156.png"/><Relationship Id="rIdEditable108" Type="http://schemas.openxmlformats.org/officeDocument/2006/relationships/image" Target="../media/editable_386_image160.png"/><Relationship Id="rId2" Type="http://schemas.openxmlformats.org/officeDocument/2006/relationships/video" Target="../media/media8.mp4"/><Relationship Id="rIdEditable107" Type="http://schemas.openxmlformats.org/officeDocument/2006/relationships/image" Target="../media/editable_385_image159.png"/><Relationship Id="rId1" Type="http://schemas.microsoft.com/office/2007/relationships/media" Target="../media/media8.mp4"/><Relationship Id="rIdEditable102" Type="http://schemas.openxmlformats.org/officeDocument/2006/relationships/image" Target="../media/editable_380_image155.png"/><Relationship Id="rId6" Type="http://schemas.openxmlformats.org/officeDocument/2006/relationships/image" Target="../media/image1010.png"/><Relationship Id="rId5" Type="http://schemas.openxmlformats.org/officeDocument/2006/relationships/image" Target="../media/image142.png"/><Relationship Id="rIdEditable101" Type="http://schemas.openxmlformats.org/officeDocument/2006/relationships/image" Target="../media/editable_379_image154.png"/><Relationship Id="rIdEditable106" Type="http://schemas.openxmlformats.org/officeDocument/2006/relationships/image" Target="../media/editable_384_image161.png"/><Relationship Id="rId4" Type="http://schemas.openxmlformats.org/officeDocument/2006/relationships/notesSlide" Target="../notesSlides/notesSlide37.xml"/><Relationship Id="rIdEditable100" Type="http://schemas.openxmlformats.org/officeDocument/2006/relationships/image" Target="../media/editable_378_image153.png"/><Relationship Id="rIdEditable105" Type="http://schemas.openxmlformats.org/officeDocument/2006/relationships/image" Target="../media/editable_383_image158.png"/></Relationships>
</file>

<file path=ppt/slides/_rels/slide46.xml.rels><?xml version="1.0" encoding="UTF-8" standalone="yes"?>
<Relationships xmlns="http://schemas.openxmlformats.org/package/2006/relationships"><Relationship Id="rIdSectorRefinement39_0" Type="http://schemas.openxmlformats.org/officeDocument/2006/relationships/image" Target="../media/sectorrefinement39_image562.png"/><Relationship Id="rIdSectorRefinement39_12" Type="http://schemas.openxmlformats.org/officeDocument/2006/relationships/image" Target="../media/sectorrefinement39_image563.png"/><Relationship Id="rIdSectorRefinement39_9" Type="http://schemas.openxmlformats.org/officeDocument/2006/relationships/image" Target="../media/sectorrefinement39_image558.png"/><Relationship Id="rIdSectorRefinement39_4" Type="http://schemas.openxmlformats.org/officeDocument/2006/relationships/image" Target="../media/sectorrefinement39_image566.png"/><Relationship Id="rId2" Type="http://schemas.openxmlformats.org/officeDocument/2006/relationships/notesSlide" Target="../notesSlides/notesSlide38.xml"/><Relationship Id="rIdSectorRefinement39_11" Type="http://schemas.openxmlformats.org/officeDocument/2006/relationships/image" Target="../media/sectorrefinement39_image557.png"/><Relationship Id="rIdSectorRefinement39_8" Type="http://schemas.openxmlformats.org/officeDocument/2006/relationships/image" Target="../media/sectorrefinement39_image565.png"/><Relationship Id="rId1" Type="http://schemas.openxmlformats.org/officeDocument/2006/relationships/slideLayout" Target="../slideLayouts/slideLayout12.xml"/><Relationship Id="rIdSectorRefinement39_3" Type="http://schemas.openxmlformats.org/officeDocument/2006/relationships/image" Target="../media/sectorrefinement39_image561.png"/><Relationship Id="rIdSectorRefinement39_7" Type="http://schemas.openxmlformats.org/officeDocument/2006/relationships/image" Target="../media/sectorrefinement39_image559.png"/><Relationship Id="rIdSectorRefinement39_10" Type="http://schemas.openxmlformats.org/officeDocument/2006/relationships/image" Target="../media/sectorrefinement39_image564.png"/><Relationship Id="rIdSectorRefinement39_2" Type="http://schemas.openxmlformats.org/officeDocument/2006/relationships/image" Target="../media/sectorrefinement39_image556.png"/><Relationship Id="rIdSectorRefinement39_1" Type="http://schemas.openxmlformats.org/officeDocument/2006/relationships/image" Target="../media/sectorrefinement39_image567.png"/></Relationships>
</file>

<file path=ppt/slides/_rels/slide47.xml.rels><?xml version="1.0" encoding="UTF-8" standalone="yes"?>
<Relationships xmlns="http://schemas.openxmlformats.org/package/2006/relationships"><Relationship Id="rIdEditable104" Type="http://schemas.openxmlformats.org/officeDocument/2006/relationships/image" Target="../media/editable_392_image173.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1_image172.png"/><Relationship Id="rId7" Type="http://schemas.openxmlformats.org/officeDocument/2006/relationships/image" Target="../media/image250.png"/><Relationship Id="rId2" Type="http://schemas.openxmlformats.org/officeDocument/2006/relationships/video" Target="../media/media9.mp4"/><Relationship Id="rId1" Type="http://schemas.microsoft.com/office/2007/relationships/media" Target="../media/media9.mp4"/><Relationship Id="rIdEditable102" Type="http://schemas.openxmlformats.org/officeDocument/2006/relationships/image" Target="../media/editable_390_image171.png"/><Relationship Id="rId6" Type="http://schemas.openxmlformats.org/officeDocument/2006/relationships/image" Target="../media/image721.png"/><Relationship Id="rId5" Type="http://schemas.openxmlformats.org/officeDocument/2006/relationships/image" Target="../media/image143.png"/><Relationship Id="rIdEditable101" Type="http://schemas.openxmlformats.org/officeDocument/2006/relationships/image" Target="../media/editable_389_image169.png"/><Relationship Id="rId10" Type="http://schemas.openxmlformats.org/officeDocument/2006/relationships/image" Target="../media/image281.png"/><Relationship Id="rId4" Type="http://schemas.openxmlformats.org/officeDocument/2006/relationships/notesSlide" Target="../notesSlides/notesSlide39.xml"/><Relationship Id="rIdEditable100" Type="http://schemas.openxmlformats.org/officeDocument/2006/relationships/image" Target="../media/editable_388_image168.png"/><Relationship Id="rId9" Type="http://schemas.openxmlformats.org/officeDocument/2006/relationships/image" Target="../media/image271.png"/></Relationships>
</file>

<file path=ppt/slides/_rels/slide48.xml.rels><?xml version="1.0" encoding="UTF-8" standalone="yes"?>
<Relationships xmlns="http://schemas.openxmlformats.org/package/2006/relationships"><Relationship Id="rIdEditable104" Type="http://schemas.openxmlformats.org/officeDocument/2006/relationships/image" Target="../media/editable_398_image175.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7_image172.png"/><Relationship Id="rId7" Type="http://schemas.openxmlformats.org/officeDocument/2006/relationships/image" Target="../media/image250.png"/><Relationship Id="rId2" Type="http://schemas.openxmlformats.org/officeDocument/2006/relationships/video" Target="../media/media10.mp4"/><Relationship Id="rId1" Type="http://schemas.microsoft.com/office/2007/relationships/media" Target="../media/media10.mp4"/><Relationship Id="rIdEditable102" Type="http://schemas.openxmlformats.org/officeDocument/2006/relationships/image" Target="../media/editable_396_image171.png"/><Relationship Id="rId6" Type="http://schemas.openxmlformats.org/officeDocument/2006/relationships/image" Target="../media/image750.png"/><Relationship Id="rId5" Type="http://schemas.openxmlformats.org/officeDocument/2006/relationships/image" Target="../media/image144.png"/><Relationship Id="rIdEditable101" Type="http://schemas.openxmlformats.org/officeDocument/2006/relationships/image" Target="../media/editable_395_image169.png"/><Relationship Id="rId10" Type="http://schemas.openxmlformats.org/officeDocument/2006/relationships/image" Target="../media/image281.png"/><Relationship Id="rId4" Type="http://schemas.openxmlformats.org/officeDocument/2006/relationships/notesSlide" Target="../notesSlides/notesSlide40.xml"/><Relationship Id="rIdEditable100" Type="http://schemas.openxmlformats.org/officeDocument/2006/relationships/image" Target="../media/editable_394_image168.png"/><Relationship Id="rId9" Type="http://schemas.openxmlformats.org/officeDocument/2006/relationships/image" Target="../media/image27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3" Type="http://schemas.openxmlformats.org/officeDocument/2006/relationships/image" Target="../media/image6.jpeg"/><Relationship Id="rIdClosing7" Type="http://schemas.openxmlformats.org/officeDocument/2006/relationships/image" Target="../media/image55.png"/><Relationship Id="rIdClosing6" Type="http://schemas.openxmlformats.org/officeDocument/2006/relationships/image" Target="../media/image35.png"/><Relationship Id="rId2" Type="http://schemas.openxmlformats.org/officeDocument/2006/relationships/notesSlide" Target="../notesSlides/notesSlide41.xml"/><Relationship Id="rId1" Type="http://schemas.openxmlformats.org/officeDocument/2006/relationships/slideLayout" Target="../slideLayouts/slideLayout12.xml"/><Relationship Id="rIdClosing5" Type="http://schemas.openxmlformats.org/officeDocument/2006/relationships/image" Target="../media/image34.png"/><Relationship Id="rId6" Type="http://schemas.openxmlformats.org/officeDocument/2006/relationships/image" Target="../media/image1.png"/><Relationship Id="rId5" Type="http://schemas.openxmlformats.org/officeDocument/2006/relationships/image" Target="../media/image145.png"/><Relationship Id="rIdClosing4" Type="http://schemas.openxmlformats.org/officeDocument/2006/relationships/image" Target="../media/image33.png"/><Relationship Id="rId4" Type="http://schemas.openxmlformats.org/officeDocument/2006/relationships/image" Target="../media/image7.jpg"/></Relationships>
</file>

<file path=ppt/slides/_rels/slide5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52.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2" Type="http://schemas.openxmlformats.org/officeDocument/2006/relationships/notesSlide" Target="../notesSlides/notesSlide42.xml"/><Relationship Id="rId1" Type="http://schemas.openxmlformats.org/officeDocument/2006/relationships/slideLayout" Target="../slideLayouts/slideLayout12.xml"/><Relationship Id="rId6" Type="http://schemas.openxmlformats.org/officeDocument/2006/relationships/image" Target="../media/image300.png"/><Relationship Id="rId5" Type="http://schemas.openxmlformats.org/officeDocument/2006/relationships/image" Target="../media/image290.png"/><Relationship Id="rId4" Type="http://schemas.openxmlformats.org/officeDocument/2006/relationships/image" Target="../media/image280.png"/><Relationship Id="rId9" Type="http://schemas.openxmlformats.org/officeDocument/2006/relationships/image" Target="../media/image330.png"/></Relationships>
</file>

<file path=ppt/slides/_rels/slide53.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60.png"/><Relationship Id="rId2" Type="http://schemas.openxmlformats.org/officeDocument/2006/relationships/notesSlide" Target="../notesSlides/notesSlide43.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51.png"/><Relationship Id="rId5" Type="http://schemas.openxmlformats.org/officeDocument/2006/relationships/image" Target="../media/image290.png"/><Relationship Id="rId10" Type="http://schemas.openxmlformats.org/officeDocument/2006/relationships/image" Target="../media/image340.png"/><Relationship Id="rId4" Type="http://schemas.openxmlformats.org/officeDocument/2006/relationships/image" Target="../media/image280.png"/><Relationship Id="rId9" Type="http://schemas.openxmlformats.org/officeDocument/2006/relationships/image" Target="../media/image330.png"/></Relationships>
</file>

<file path=ppt/slides/_rels/slide54.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0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44.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80.png"/><Relationship Id="rId5" Type="http://schemas.openxmlformats.org/officeDocument/2006/relationships/image" Target="../media/image290.png"/><Relationship Id="rId10" Type="http://schemas.openxmlformats.org/officeDocument/2006/relationships/image" Target="../media/image370.png"/><Relationship Id="rId4" Type="http://schemas.openxmlformats.org/officeDocument/2006/relationships/image" Target="../media/image280.png"/><Relationship Id="rId9" Type="http://schemas.openxmlformats.org/officeDocument/2006/relationships/image" Target="../media/image330.png"/></Relationships>
</file>

<file path=ppt/slides/_rels/slide55.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45.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410.png"/><Relationship Id="rId5" Type="http://schemas.openxmlformats.org/officeDocument/2006/relationships/image" Target="../media/image290.png"/><Relationship Id="rId10" Type="http://schemas.openxmlformats.org/officeDocument/2006/relationships/image" Target="../media/image350.png"/><Relationship Id="rId4" Type="http://schemas.openxmlformats.org/officeDocument/2006/relationships/image" Target="../media/image280.png"/><Relationship Id="rId9" Type="http://schemas.openxmlformats.org/officeDocument/2006/relationships/image" Target="../media/image330.png"/></Relationships>
</file>

<file path=ppt/slides/_rels/slide56.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46.xml"/><Relationship Id="rId1" Type="http://schemas.openxmlformats.org/officeDocument/2006/relationships/slideLayout" Target="../slideLayouts/slideLayout12.xml"/><Relationship Id="rId10" Type="http://schemas.openxmlformats.org/officeDocument/2006/relationships/image" Target="../media/image520.png"/><Relationship Id="rId4" Type="http://schemas.openxmlformats.org/officeDocument/2006/relationships/image" Target="../media/image147.png"/></Relationships>
</file>

<file path=ppt/slides/_rels/slide57.xml.rels><?xml version="1.0" encoding="UTF-8" standalone="yes"?>
<Relationships xmlns="http://schemas.openxmlformats.org/package/2006/relationships"><Relationship Id="rId8" Type="http://schemas.openxmlformats.org/officeDocument/2006/relationships/image" Target="../media/image550.png"/><Relationship Id="rId3" Type="http://schemas.openxmlformats.org/officeDocument/2006/relationships/image" Target="../media/image146.png"/><Relationship Id="rId2" Type="http://schemas.openxmlformats.org/officeDocument/2006/relationships/notesSlide" Target="../notesSlides/notesSlide47.xml"/><Relationship Id="rId1" Type="http://schemas.openxmlformats.org/officeDocument/2006/relationships/slideLayout" Target="../slideLayouts/slideLayout12.xml"/><Relationship Id="rId4" Type="http://schemas.openxmlformats.org/officeDocument/2006/relationships/image" Target="../media/image148.png"/></Relationships>
</file>

<file path=ppt/slides/_rels/slide58.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48.xml"/><Relationship Id="rId1" Type="http://schemas.openxmlformats.org/officeDocument/2006/relationships/slideLayout" Target="../slideLayouts/slideLayout12.xml"/><Relationship Id="rId10" Type="http://schemas.openxmlformats.org/officeDocument/2006/relationships/image" Target="../media/image620.png"/><Relationship Id="rId4" Type="http://schemas.openxmlformats.org/officeDocument/2006/relationships/image" Target="../media/image149.png"/></Relationships>
</file>

<file path=ppt/slides/_rels/slide59.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49.xml"/><Relationship Id="rId1" Type="http://schemas.openxmlformats.org/officeDocument/2006/relationships/slideLayout" Target="../slideLayouts/slideLayout12.xml"/><Relationship Id="rId11" Type="http://schemas.openxmlformats.org/officeDocument/2006/relationships/image" Target="../media/image660.png"/><Relationship Id="rId10" Type="http://schemas.openxmlformats.org/officeDocument/2006/relationships/image" Target="../media/image650.png"/><Relationship Id="rId4" Type="http://schemas.openxmlformats.org/officeDocument/2006/relationships/image" Target="../media/image151.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a:xfrm>
            <a:off x="457200" y="444500"/>
            <a:ext cx="8229600" cy="1092200"/>
          </a:xfrm>
          <a:noFill/>
          <a:ln>
            <a:noFill/>
          </a:ln>
        </p:spPr>
        <p:txBody>
          <a:bodyPr wrap="square" lIns="0" tIns="0" rIns="0" bIns="0" anchor="t">
            <a:noAutofit/>
          </a:bodyPr>
          <a:lstStyle/>
          <a:p>
            <a:pPr marL="0" indent="0" algn="l" defTabSz="1">
              <a:lnSpc>
                <a:spcPct val="112000"/>
              </a:lnSpc>
              <a:spcAft>
                <a:spcPts val="0"/>
              </a:spcAft>
              <a:buNone/>
              <a:defRPr sz="2800" b="1" u="none" cap="none">
                <a:solidFill>
                  <a:srgbClr val="252529"/>
                </a:solidFill>
                <a:latin typeface="Aptos"/>
                <a:ea typeface="Aptos"/>
                <a:cs typeface="Aptos"/>
              </a:defRPr>
            </a:pPr>
            <a:r>
              <a:rPr lang="en-GB" sz="2800" b="1" u="none" cap="none" dirty="0">
                <a:solidFill>
                  <a:srgbClr val="252529"/>
                </a:solidFill>
                <a:latin typeface="Aptos"/>
                <a:ea typeface="Aptos"/>
                <a:cs typeface="Aptos"/>
              </a:rPr>
              <a:t>Dual Integral Quadratic Constraints for Robust Control of Partial Integral Equations </a:t>
            </a:r>
          </a:p>
        </p:txBody>
      </p:sp>
      <p:sp>
        <p:nvSpPr>
          <p:cNvPr id="7" name="Ondertitel 6"/>
          <p:cNvSpPr>
            <a:spLocks noGrp="1"/>
          </p:cNvSpPr>
          <p:nvPr>
            <p:ph type="subTitle" idx="1"/>
          </p:nvPr>
        </p:nvSpPr>
        <p:spPr>
          <a:xfrm>
            <a:off x="457200" y="1663700"/>
            <a:ext cx="8229600" cy="355600"/>
          </a:xfrm>
          <a:noFill/>
          <a:ln>
            <a:noFill/>
          </a:ln>
        </p:spPr>
        <p:txBody>
          <a:bodyPr wrap="square" lIns="0" tIns="0" rIns="0" bIns="0" anchor="t">
            <a:noAutofit/>
          </a:bodyPr>
          <a:lstStyle/>
          <a:p>
            <a:pPr marL="0" indent="0" algn="l" defTabSz="1">
              <a:lnSpc>
                <a:spcPct val="112000"/>
              </a:lnSpc>
              <a:spcAft>
                <a:spcPts val="0"/>
              </a:spcAft>
              <a:buNone/>
              <a:defRPr sz="1600" b="0" u="none" cap="none">
                <a:solidFill>
                  <a:srgbClr val="C81919"/>
                </a:solidFill>
                <a:latin typeface="Aptos"/>
                <a:ea typeface="Aptos"/>
                <a:cs typeface="Aptos"/>
              </a:defRPr>
            </a:pPr>
            <a:r>
              <a:rPr lang="en-GB" sz="1600" b="0" u="none" cap="none" dirty="0">
                <a:solidFill>
                  <a:srgbClr val="C81919"/>
                </a:solidFill>
                <a:latin typeface="Aptos"/>
                <a:ea typeface="Aptos"/>
                <a:cs typeface="Aptos"/>
              </a:rPr>
              <a:t>An engineering overview</a:t>
            </a:r>
          </a:p>
        </p:txBody>
      </p:sp>
      <p:sp>
        <p:nvSpPr>
          <p:cNvPr id="8" name="Tijdelijke aanduiding voor tekst 7"/>
          <p:cNvSpPr>
            <a:spLocks noGrp="1"/>
          </p:cNvSpPr>
          <p:nvPr>
            <p:ph type="body" sz="quarter" idx="13"/>
          </p:nvPr>
        </p:nvSpPr>
        <p:spPr>
          <a:xfrm>
            <a:off x="457200" y="2971800"/>
            <a:ext cx="3276600" cy="749300"/>
          </a:xfrm>
          <a:noFill/>
          <a:ln>
            <a:noFill/>
          </a:ln>
        </p:spPr>
        <p:txBody>
          <a:bodyPr wrap="square" lIns="0" tIns="0" rIns="0" bIns="0" anchor="t">
            <a:noAutofit/>
          </a:bodyPr>
          <a:lstStyle/>
          <a:p>
            <a:pPr marL="0" indent="0" algn="l" defTabSz="1">
              <a:lnSpc>
                <a:spcPct val="120000"/>
              </a:lnSpc>
              <a:spcAft>
                <a:spcPts val="0"/>
              </a:spcAft>
              <a:buNone/>
              <a:defRPr sz="1300" b="0" u="none" cap="none">
                <a:solidFill>
                  <a:srgbClr val="252529"/>
                </a:solidFill>
                <a:latin typeface="Aptos"/>
                <a:ea typeface="Aptos"/>
                <a:cs typeface="Aptos"/>
              </a:defRPr>
            </a:pPr>
            <a:r>
              <a:rPr lang="en-GB" sz="1300" b="0" u="none" cap="none" dirty="0">
                <a:solidFill>
                  <a:srgbClr val="252529"/>
                </a:solidFill>
                <a:latin typeface="Aptos"/>
                <a:ea typeface="Aptos"/>
                <a:cs typeface="Aptos"/>
              </a:rPr>
              <a:t>T.M. Lenssen – supervisor: Amritam Das</a:t>
            </a:r>
          </a:p>
        </p:txBody>
      </p:sp>
      <p:sp>
        <p:nvSpPr>
          <p:cNvPr id="9" name="Tijdelijke aanduiding voor tekst 8"/>
          <p:cNvSpPr>
            <a:spLocks noGrp="1"/>
          </p:cNvSpPr>
          <p:nvPr>
            <p:ph type="body" sz="quarter" idx="14"/>
          </p:nvPr>
        </p:nvSpPr>
        <p:spPr>
          <a:xfrm>
            <a:off x="457200" y="3835400"/>
            <a:ext cx="3276600" cy="368300"/>
          </a:xfrm>
          <a:noFill/>
          <a:ln>
            <a:noFill/>
          </a:ln>
        </p:spPr>
        <p:txBody>
          <a:bodyPr wrap="square" lIns="0" tIns="0" rIns="0" bIns="0" anchor="t">
            <a:noAutofit/>
          </a:bodyPr>
          <a:lstStyle/>
          <a:p>
            <a:pPr marL="0" indent="0" algn="l" defTabSz="1">
              <a:lnSpc>
                <a:spcPct val="112000"/>
              </a:lnSpc>
              <a:spcAft>
                <a:spcPts val="0"/>
              </a:spcAft>
              <a:buNone/>
              <a:defRPr sz="1100" b="0" u="none" cap="none">
                <a:solidFill>
                  <a:srgbClr val="747B82"/>
                </a:solidFill>
                <a:latin typeface="Aptos"/>
                <a:ea typeface="Aptos"/>
                <a:cs typeface="Aptos"/>
              </a:defRPr>
            </a:pPr>
            <a:r>
              <a:rPr lang="en-GB" sz="1100" b="0" u="none" cap="none" dirty="0">
                <a:solidFill>
                  <a:srgbClr val="747B82"/>
                </a:solidFill>
                <a:latin typeface="Aptos"/>
                <a:ea typeface="Aptos"/>
                <a:cs typeface="Aptos"/>
              </a:rPr>
              <a:t>CS – System &amp; Control / 30-09-2026</a:t>
            </a:r>
          </a:p>
        </p:txBody>
      </p:sp>
      <p:pic>
        <p:nvPicPr>
          <p:cNvPr id="10" name="Baked figure with larger labels"/>
          <p:cNvPicPr>
            <a:picLocks noChangeAspect="1"/>
          </p:cNvPicPr>
          <p:nvPr/>
        </p:nvPicPr>
        <p:blipFill>
          <a:blip r:embed="rId3"/>
          <a:stretch>
            <a:fillRect/>
          </a:stretch>
        </p:blipFill>
        <p:spPr>
          <a:xfrm>
            <a:off x="4386262" y="2347912"/>
            <a:ext cx="4067175" cy="2071688"/>
          </a:xfrm>
          <a:prstGeom prst="rect">
            <a:avLst/>
          </a:prstGeom>
        </p:spPr>
      </p:pic>
      <p:pic>
        <p:nvPicPr>
          <p:cNvPr id="11" name="Original university logo"/>
          <p:cNvPicPr>
            <a:picLocks noChangeAspect="1"/>
          </p:cNvPicPr>
          <p:nvPr/>
        </p:nvPicPr>
        <p:blipFill>
          <a:blip r:embed="rId4"/>
          <a:stretch>
            <a:fillRect/>
          </a:stretch>
        </p:blipFill>
        <p:spPr>
          <a:xfrm>
            <a:off x="457200" y="4523742"/>
            <a:ext cx="1587500" cy="507490"/>
          </a:xfrm>
          <a:prstGeom prst="rect">
            <a:avLst/>
          </a:prstGeom>
        </p:spPr>
      </p:pic>
    </p:spTree>
    <p:extLst>
      <p:ext uri="{BB962C8B-B14F-4D97-AF65-F5344CB8AC3E}">
        <p14:creationId xmlns:p14="http://schemas.microsoft.com/office/powerpoint/2010/main" val="1347096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457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Rigid body representation</a:t>
            </a:r>
            <a:br>
              <a:rPr lang="en-US" sz="1800" b="0" u="none" cap="none" dirty="0">
                <a:solidFill>
                  <a:srgbClr val="252529"/>
                </a:solidFill>
                <a:latin typeface="Aptos"/>
                <a:ea typeface="Aptos"/>
                <a:cs typeface="Aptos"/>
              </a:rPr>
            </a:br>
            <a:r>
              <a:rPr lang="en-US" sz="1800" b="0" u="none" cap="none" dirty="0">
                <a:solidFill>
                  <a:srgbClr val="252529"/>
                </a:solidFill>
                <a:latin typeface="Aptos"/>
                <a:ea typeface="Aptos"/>
                <a:cs typeface="Aptos"/>
              </a:rPr>
              <a:t>Ordinary Differential Equation (ODE)</a:t>
            </a:r>
            <a:endParaRPr lang="en-NL" sz="1800" b="0" u="none" cap="none" dirty="0">
              <a:solidFill>
                <a:srgbClr val="252529"/>
              </a:solidFill>
              <a:latin typeface="Aptos"/>
              <a:ea typeface="Aptos"/>
              <a:cs typeface="Aptos"/>
            </a:endParaRPr>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a:t>
            </a:fld>
            <a:endParaRPr lang="en-GB" sz="800" b="0" u="none" cap="none" dirty="0">
              <a:solidFill>
                <a:srgbClr val="747B82"/>
              </a:solidFill>
              <a:latin typeface="Aptos"/>
              <a:ea typeface="Aptos"/>
              <a:cs typeface="Aptos"/>
            </a:endParaRPr>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a:xfrm>
            <a:off x="4775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Flexible body representation</a:t>
            </a:r>
            <a:endParaRPr lang="en-US" sz="1800" b="0" u="none" cap="none" dirty="0">
              <a:solidFill>
                <a:srgbClr val="252529"/>
              </a:solidFill>
              <a:latin typeface="Aptos"/>
              <a:ea typeface="Aptos"/>
              <a:cs typeface="Aptos"/>
            </a:endParaRPr>
          </a:p>
          <a:p>
            <a:pPr marL="0" indent="0" algn="l">
              <a:spcAft>
                <a:spcPts val="0"/>
              </a:spcAft>
              <a:buNone/>
              <a:defRPr sz="1800" b="0" u="none" cap="none">
                <a:solidFill>
                  <a:srgbClr val="252529"/>
                </a:solidFill>
                <a:latin typeface="Aptos"/>
                <a:ea typeface="Aptos"/>
                <a:cs typeface="Aptos"/>
              </a:defRPr>
            </a:pPr>
            <a:r>
              <a:rPr lang="en-US" sz="1800" b="0" u="none" cap="none" dirty="0">
                <a:solidFill>
                  <a:srgbClr val="252529"/>
                </a:solidFill>
                <a:latin typeface="Aptos"/>
                <a:ea typeface="Aptos"/>
                <a:cs typeface="Aptos"/>
              </a:rPr>
              <a:t>Partial Differential Equation (PDE)</a:t>
            </a:r>
            <a:endParaRPr lang="en-NL" sz="1800" b="0" u="none" cap="none" dirty="0">
              <a:solidFill>
                <a:srgbClr val="252529"/>
              </a:solidFill>
              <a:latin typeface="Aptos"/>
              <a:ea typeface="Aptos"/>
              <a:cs typeface="Aptos"/>
            </a:endParaRPr>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457200" y="1846424"/>
            <a:ext cx="3911600" cy="2199952"/>
          </a:xfrm>
          <a:prstGeom prst="rect">
            <a:avLst/>
          </a:prstGeo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4775200" y="1845939"/>
            <a:ext cx="3911600" cy="2200923"/>
          </a:xfrm>
          <a:prstGeom prst="rect">
            <a:avLst/>
          </a:prstGeom>
        </p:spPr>
      </p:pic>
      <p:pic>
        <p:nvPicPr>
          <p:cNvPr id="22" name="Original TUe logo"/>
          <p:cNvPicPr>
            <a:picLocks noChangeAspect="1"/>
          </p:cNvPicPr>
          <p:nvPr/>
        </p:nvPicPr>
        <p:blipFill>
          <a:blip r:embed="rId9"/>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01" name="Moving target label"/>
              <p:cNvSpPr/>
              <p:nvPr/>
            </p:nvSpPr>
            <p:spPr>
              <a:xfrm>
                <a:off x="1883304" y="1909163"/>
                <a:ext cx="570442"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m="http://schemas.openxmlformats.org/officeDocument/2006/math" xmlns="">
          <p:sp>
            <p:nvSpPr>
              <p:cNvPr id="10001" name="Moving target label"/>
              <p:cNvSpPr>
                <a:spLocks noRot="1" noChangeAspect="1" noMove="1" noResize="1" noEditPoints="1" noAdjustHandles="1" noChangeArrowheads="1" noChangeShapeType="1" noTextEdit="1"/>
              </p:cNvSpPr>
              <p:nvPr/>
            </p:nvSpPr>
            <p:spPr>
              <a:xfrm>
                <a:off x="1883304" y="1909163"/>
                <a:ext cx="570442" cy="322660"/>
              </a:xfrm>
              <a:prstGeom prst="rect">
                <a:avLst/>
              </a:prstGeom>
              <a:blipFill>
                <a:blip r:embed="rIdEditable100"/>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Moving tip displacement"/>
              <p:cNvSpPr/>
              <p:nvPr/>
            </p:nvSpPr>
            <p:spPr>
              <a:xfrm>
                <a:off x="2380403" y="2275822"/>
                <a:ext cx="244475"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02" name="Moving tip displacement"/>
              <p:cNvSpPr>
                <a:spLocks noRot="1" noChangeAspect="1" noMove="1" noResize="1" noEditPoints="1" noAdjustHandles="1" noChangeArrowheads="1" noChangeShapeType="1" noTextEdit="1"/>
              </p:cNvSpPr>
              <p:nvPr/>
            </p:nvSpPr>
            <p:spPr>
              <a:xfrm>
                <a:off x="2380403" y="2275822"/>
                <a:ext cx="244475" cy="322660"/>
              </a:xfrm>
              <a:prstGeom prst="rect">
                <a:avLst/>
              </a:prstGeom>
              <a:blipFill>
                <a:blip r:embed="rIdEditable101"/>
                <a:stretch>
                  <a:fillRect l="-3414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Moving cart displacement"/>
              <p:cNvSpPr/>
              <p:nvPr/>
            </p:nvSpPr>
            <p:spPr>
              <a:xfrm>
                <a:off x="2025915" y="3302466"/>
                <a:ext cx="285221"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03" name="Moving cart displacement"/>
              <p:cNvSpPr>
                <a:spLocks noRot="1" noChangeAspect="1" noMove="1" noResize="1" noEditPoints="1" noAdjustHandles="1" noChangeArrowheads="1" noChangeShapeType="1" noTextEdit="1"/>
              </p:cNvSpPr>
              <p:nvPr/>
            </p:nvSpPr>
            <p:spPr>
              <a:xfrm>
                <a:off x="2025915" y="3302466"/>
                <a:ext cx="285221" cy="322660"/>
              </a:xfrm>
              <a:prstGeom prst="rect">
                <a:avLst/>
              </a:prstGeom>
              <a:blipFill>
                <a:blip r:embed="rIdEditable102"/>
                <a:stretch>
                  <a:fillRect l="-2127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6" name="Moving target label"/>
              <p:cNvSpPr/>
              <p:nvPr/>
            </p:nvSpPr>
            <p:spPr>
              <a:xfrm>
                <a:off x="6201304" y="1908706"/>
                <a:ext cx="570442"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m="http://schemas.openxmlformats.org/officeDocument/2006/math" xmlns="">
          <p:sp>
            <p:nvSpPr>
              <p:cNvPr id="10026" name="Moving target label"/>
              <p:cNvSpPr>
                <a:spLocks noRot="1" noChangeAspect="1" noMove="1" noResize="1" noEditPoints="1" noAdjustHandles="1" noChangeArrowheads="1" noChangeShapeType="1" noTextEdit="1"/>
              </p:cNvSpPr>
              <p:nvPr/>
            </p:nvSpPr>
            <p:spPr>
              <a:xfrm>
                <a:off x="6201304" y="1908706"/>
                <a:ext cx="570442" cy="322802"/>
              </a:xfrm>
              <a:prstGeom prst="rect">
                <a:avLst/>
              </a:prstGeom>
              <a:blipFill>
                <a:blip r:embed="rIdEditable103"/>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7" name="Moving tip displacement"/>
              <p:cNvSpPr/>
              <p:nvPr/>
            </p:nvSpPr>
            <p:spPr>
              <a:xfrm>
                <a:off x="6761467" y="2275527"/>
                <a:ext cx="835290"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r>
                        <a:rPr sz="1200">
                          <a:solidFill>
                            <a:srgbClr val="192B3C"/>
                          </a:solidFill>
                          <a:latin typeface="Cambria Math"/>
                        </a:rPr>
                        <m:t>+</m:t>
                      </m:r>
                      <m:r>
                        <a:rPr sz="1200">
                          <a:solidFill>
                            <a:srgbClr val="192B3C"/>
                          </a:solidFill>
                          <a:latin typeface="Cambria Math"/>
                        </a:rPr>
                        <m:t>𝑤</m:t>
                      </m:r>
                      <m:d>
                        <m:dPr>
                          <m:ctrlPr>
                            <a:rPr sz="1200">
                              <a:solidFill>
                                <a:srgbClr val="192B3C"/>
                              </a:solidFill>
                              <a:latin typeface="Cambria Math"/>
                            </a:rPr>
                          </m:ctrlPr>
                        </m:dPr>
                        <m:e>
                          <m:r>
                            <a:rPr sz="1200">
                              <a:solidFill>
                                <a:srgbClr val="192B3C"/>
                              </a:solidFill>
                              <a:latin typeface="Cambria Math"/>
                            </a:rPr>
                            <m:t>𝑡</m:t>
                          </m:r>
                          <m:r>
                            <a:rPr sz="1200">
                              <a:solidFill>
                                <a:srgbClr val="192B3C"/>
                              </a:solidFill>
                              <a:latin typeface="Cambria Math"/>
                            </a:rPr>
                            <m:t>,</m:t>
                          </m:r>
                          <m:r>
                            <a:rPr sz="1200">
                              <a:solidFill>
                                <a:srgbClr val="192B3C"/>
                              </a:solidFill>
                              <a:latin typeface="Cambria Math"/>
                            </a:rPr>
                            <m:t>𝐿</m:t>
                          </m:r>
                        </m:e>
                      </m:d>
                    </m:oMath>
                  </m:oMathPara>
                </a14:m>
                <a:endParaRPr sz="1200" dirty="0"/>
              </a:p>
            </p:txBody>
          </p:sp>
        </mc:Choice>
        <mc:Fallback xmlns:m="http://schemas.openxmlformats.org/officeDocument/2006/math" xmlns="">
          <p:sp>
            <p:nvSpPr>
              <p:cNvPr id="10027" name="Moving tip displacement"/>
              <p:cNvSpPr>
                <a:spLocks noRot="1" noChangeAspect="1" noMove="1" noResize="1" noEditPoints="1" noAdjustHandles="1" noChangeArrowheads="1" noChangeShapeType="1" noTextEdit="1"/>
              </p:cNvSpPr>
              <p:nvPr/>
            </p:nvSpPr>
            <p:spPr>
              <a:xfrm>
                <a:off x="6761467" y="2275527"/>
                <a:ext cx="835290" cy="322802"/>
              </a:xfrm>
              <a:prstGeom prst="rect">
                <a:avLst/>
              </a:prstGeom>
              <a:blipFill>
                <a:blip r:embed="rIdEditable104"/>
                <a:stretch>
                  <a:fillRect l="-12409" r="-146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8" name="Moving cart displacement"/>
              <p:cNvSpPr/>
              <p:nvPr/>
            </p:nvSpPr>
            <p:spPr>
              <a:xfrm>
                <a:off x="6343915" y="3302624"/>
                <a:ext cx="285221"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28" name="Moving cart displacement"/>
              <p:cNvSpPr>
                <a:spLocks noRot="1" noChangeAspect="1" noMove="1" noResize="1" noEditPoints="1" noAdjustHandles="1" noChangeArrowheads="1" noChangeShapeType="1" noTextEdit="1"/>
              </p:cNvSpPr>
              <p:nvPr/>
            </p:nvSpPr>
            <p:spPr>
              <a:xfrm>
                <a:off x="6343915" y="3302624"/>
                <a:ext cx="285221" cy="322802"/>
              </a:xfrm>
              <a:prstGeom prst="rect">
                <a:avLst/>
              </a:prstGeom>
              <a:blipFill>
                <a:blip r:embed="rIdEditable105"/>
                <a:stretch>
                  <a:fillRect l="-2391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9" name="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𝑠</m:t>
                      </m:r>
                    </m:oMath>
                  </m:oMathPara>
                </a14:m>
                <a:endParaRPr sz="1200"/>
              </a:p>
            </p:txBody>
          </p:sp>
        </mc:Choice>
        <mc:Fallback xmlns:m="http://schemas.openxmlformats.org/officeDocument/2006/math" xmlns="">
          <p:sp>
            <p:nvSpPr>
              <p:cNvPr id="10029" name="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Editable106"/>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0" name="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=0,   0&lt;</m:t>
                      </m:r>
                      <m:r>
                        <a:rPr sz="1200">
                          <a:solidFill>
                            <a:srgbClr val="333333"/>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m="http://schemas.openxmlformats.org/officeDocument/2006/math" xmlns="">
          <p:sp>
            <p:nvSpPr>
              <p:cNvPr id="10030" name="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Editable107"/>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1" name="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𝑤</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=0,    </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m="http://schemas.openxmlformats.org/officeDocument/2006/math" xmlns="">
          <p:sp>
            <p:nvSpPr>
              <p:cNvPr id="10031" name="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Editable108"/>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m="http://schemas.openxmlformats.org/officeDocument/2006/math" xmlns="">
          <p:sp>
            <p:nvSpPr>
              <p:cNvPr id="10032" name="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Editable109"/>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3" name="Flexible cart drive"/>
              <p:cNvSpPr/>
              <p:nvPr/>
            </p:nvSpPr>
            <p:spPr>
              <a:xfrm>
                <a:off x="4815946" y="4249739"/>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m="http://schemas.openxmlformats.org/officeDocument/2006/math" xmlns="">
          <p:sp>
            <p:nvSpPr>
              <p:cNvPr id="10033" name="Flexible cart drive"/>
              <p:cNvSpPr>
                <a:spLocks noRot="1" noChangeAspect="1" noMove="1" noResize="1" noEditPoints="1" noAdjustHandles="1" noChangeArrowheads="1" noChangeShapeType="1" noTextEdit="1"/>
              </p:cNvSpPr>
              <p:nvPr/>
            </p:nvSpPr>
            <p:spPr>
              <a:xfrm>
                <a:off x="4815946" y="4249739"/>
                <a:ext cx="3830108" cy="205419"/>
              </a:xfrm>
              <a:prstGeom prst="rect">
                <a:avLst/>
              </a:prstGeom>
              <a:blipFill>
                <a:blip r:embed="rIdEditable110"/>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 name="Flexible cart drive">
                <a:extLst>
                  <a:ext uri="{FF2B5EF4-FFF2-40B4-BE49-F238E27FC236}">
                    <a16:creationId xmlns:a16="http://schemas.microsoft.com/office/drawing/2014/main" id="{AAAA216A-8EBC-5E86-56B0-B3A0F4DADABA}"/>
                  </a:ext>
                </a:extLst>
              </p:cNvPr>
              <p:cNvSpPr/>
              <p:nvPr/>
            </p:nvSpPr>
            <p:spPr>
              <a:xfrm>
                <a:off x="253471" y="362512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m="http://schemas.openxmlformats.org/officeDocument/2006/math" xmlns="">
          <p:sp>
            <p:nvSpPr>
              <p:cNvPr id="4" name="Flexible cart drive">
                <a:extLst>
                  <a:ext uri="{FF2B5EF4-FFF2-40B4-BE49-F238E27FC236}">
                    <a16:creationId xmlns:a16="http://schemas.microsoft.com/office/drawing/2014/main" id="{AAAA216A-8EBC-5E86-56B0-B3A0F4DADABA}"/>
                  </a:ext>
                </a:extLst>
              </p:cNvPr>
              <p:cNvSpPr>
                <a:spLocks noRot="1" noChangeAspect="1" noMove="1" noResize="1" noEditPoints="1" noAdjustHandles="1" noChangeArrowheads="1" noChangeShapeType="1" noTextEdit="1"/>
              </p:cNvSpPr>
              <p:nvPr/>
            </p:nvSpPr>
            <p:spPr>
              <a:xfrm>
                <a:off x="253471" y="3625126"/>
                <a:ext cx="3830108" cy="205419"/>
              </a:xfrm>
              <a:prstGeom prst="rect">
                <a:avLst/>
              </a:prstGeom>
              <a:blipFill>
                <a:blip r:embed="rIdEditable111"/>
                <a:stretch>
                  <a:fillRect b="-1818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4" name="Red 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𝑠</m:t>
                      </m:r>
                    </m:oMath>
                  </m:oMathPara>
                </a14:m>
                <a:endParaRPr sz="1200"/>
              </a:p>
            </p:txBody>
          </p:sp>
        </mc:Choice>
        <mc:Fallback xmlns="">
          <p:sp>
            <p:nvSpPr>
              <p:cNvPr id="10134" name="Red 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10"/>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5" name="Red 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C8102E"/>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m:t>
                          </m:r>
                          <m:r>
                            <a:rPr sz="1200">
                              <a:solidFill>
                                <a:srgbClr val="C8102E"/>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=0,   0&lt;</m:t>
                      </m:r>
                      <m:r>
                        <a:rPr sz="1200">
                          <a:solidFill>
                            <a:srgbClr val="C8102E"/>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
          <p:sp>
            <p:nvSpPr>
              <p:cNvPr id="10135" name="Red 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11"/>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6" name="Red 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𝑤</m:t>
                      </m:r>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,0</m:t>
                          </m:r>
                        </m:e>
                      </m:d>
                      <m:r>
                        <a:rPr sz="1200">
                          <a:solidFill>
                            <a:srgbClr val="C8102E"/>
                          </a:solidFill>
                          <a:latin typeface="Cambria Math"/>
                        </a:rPr>
                        <m:t>=</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,0</m:t>
                          </m:r>
                        </m:e>
                      </m:d>
                      <m:r>
                        <a:rPr sz="1200">
                          <a:solidFill>
                            <a:srgbClr val="C8102E"/>
                          </a:solidFill>
                          <a:latin typeface="Cambria Math"/>
                        </a:rPr>
                        <m:t>=0,    </m:t>
                      </m:r>
                      <m:r>
                        <a:rPr sz="1200">
                          <a:solidFill>
                            <a:srgbClr val="C8102E"/>
                          </a:solidFill>
                          <a:latin typeface="Cambria Math"/>
                        </a:rPr>
                        <m:t>𝐸𝐼</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m:t>
                      </m:r>
                      <m:r>
                        <m:rPr>
                          <m:sty m:val="p"/>
                        </m:rPr>
                        <a:rPr sz="1200">
                          <a:solidFill>
                            <a:srgbClr val="C8102E"/>
                          </a:solidFill>
                          <a:latin typeface="Cambria Math"/>
                        </a:rPr>
                        <m:t>η</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𝑡𝑠𝑠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=0</m:t>
                      </m:r>
                    </m:oMath>
                  </m:oMathPara>
                </a14:m>
                <a:endParaRPr sz="1200" dirty="0"/>
              </a:p>
            </p:txBody>
          </p:sp>
        </mc:Choice>
        <mc:Fallback xmlns="">
          <p:sp>
            <p:nvSpPr>
              <p:cNvPr id="10136" name="Red 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12"/>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7" name="Red 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𝐸𝐼</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m:t>
                      </m:r>
                      <m:r>
                        <m:rPr>
                          <m:sty m:val="p"/>
                        </m:rPr>
                        <a:rPr sz="1200">
                          <a:solidFill>
                            <a:srgbClr val="C8102E"/>
                          </a:solidFill>
                          <a:latin typeface="Cambria Math"/>
                        </a:rPr>
                        <m:t>η</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𝑡𝑠𝑠𝑠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=0</m:t>
                      </m:r>
                    </m:oMath>
                  </m:oMathPara>
                </a14:m>
                <a:endParaRPr sz="1200" dirty="0"/>
              </a:p>
            </p:txBody>
          </p:sp>
        </mc:Choice>
        <mc:Fallback xmlns="">
          <p:sp>
            <p:nvSpPr>
              <p:cNvPr id="10137" name="Red 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13"/>
                <a:stretch>
                  <a:fillRect b="-14706"/>
                </a:stretch>
              </a:blipFill>
              <a:ln>
                <a:noFill/>
              </a:ln>
            </p:spPr>
            <p:txBody>
              <a:bodyPr/>
              <a:lstStyle/>
              <a:p>
                <a:r>
                  <a:rPr lang="en-NL">
                    <a:noFill/>
                  </a:rPr>
                  <a:t> </a:t>
                </a:r>
              </a:p>
            </p:txBody>
          </p:sp>
        </mc:Fallback>
      </mc:AlternateContent>
      <p:grpSp>
        <p:nvGrpSpPr>
          <p:cNvPr id="10260" name="Additional flexible modes - body springs"/>
          <p:cNvGrpSpPr/>
          <p:nvPr/>
        </p:nvGrpSpPr>
        <p:grpSpPr>
          <a:xfrm>
            <a:off x="0" y="0"/>
            <a:ext cx="9144000" cy="5143500"/>
            <a:chOff x="0" y="0"/>
            <a:chExt cx="9144000" cy="5143500"/>
          </a:xfrm>
        </p:grpSpPr>
        <p:sp>
          <p:nvSpPr>
            <p:cNvPr id="10238" name="Upright spring openings"/>
            <p:cNvSpPr/>
            <p:nvPr/>
          </p:nvSpPr>
          <p:spPr>
            <a:xfrm>
              <a:off x="2107260" y="2477414"/>
              <a:ext cx="123190" cy="779087"/>
            </a:xfrm>
            <a:custGeom>
              <a:avLst/>
              <a:gdLst/>
              <a:ahLst/>
              <a:cxnLst/>
              <a:rect l="0" t="0" r="r" b="b"/>
              <a:pathLst>
                <a:path w="123190" h="779087">
                  <a:moveTo>
                    <a:pt x="12700" y="12700"/>
                  </a:moveTo>
                  <a:lnTo>
                    <a:pt x="110490" y="12700"/>
                  </a:lnTo>
                  <a:lnTo>
                    <a:pt x="110490" y="766387"/>
                  </a:lnTo>
                  <a:lnTo>
                    <a:pt x="12700" y="766387"/>
                  </a:lnTo>
                  <a:close/>
                </a:path>
              </a:pathLst>
            </a:custGeom>
            <a:solidFill>
              <a:srgbClr val="FFFFFF"/>
            </a:solidFill>
            <a:ln w="0">
              <a:noFill/>
            </a:ln>
          </p:spPr>
        </p:sp>
        <p:sp>
          <p:nvSpPr>
            <p:cNvPr id="10239" name="Upright spring 1"/>
            <p:cNvSpPr/>
            <p:nvPr/>
          </p:nvSpPr>
          <p:spPr>
            <a:xfrm>
              <a:off x="2119484" y="2477414"/>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0" name="Upright spring 2"/>
            <p:cNvSpPr/>
            <p:nvPr/>
          </p:nvSpPr>
          <p:spPr>
            <a:xfrm>
              <a:off x="2119484" y="2552782"/>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1" name="Upright spring 3"/>
            <p:cNvSpPr/>
            <p:nvPr/>
          </p:nvSpPr>
          <p:spPr>
            <a:xfrm>
              <a:off x="2119484" y="2628151"/>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2" name="Upright spring 4"/>
            <p:cNvSpPr/>
            <p:nvPr/>
          </p:nvSpPr>
          <p:spPr>
            <a:xfrm>
              <a:off x="2119484" y="2703520"/>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3" name="Upright spring 5"/>
            <p:cNvSpPr/>
            <p:nvPr/>
          </p:nvSpPr>
          <p:spPr>
            <a:xfrm>
              <a:off x="2119484" y="2778889"/>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4" name="Upright spring 6"/>
            <p:cNvSpPr/>
            <p:nvPr/>
          </p:nvSpPr>
          <p:spPr>
            <a:xfrm>
              <a:off x="2119484" y="2854257"/>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5" name="Upright spring 7"/>
            <p:cNvSpPr/>
            <p:nvPr/>
          </p:nvSpPr>
          <p:spPr>
            <a:xfrm>
              <a:off x="2119484" y="2929626"/>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6" name="Upright spring 8"/>
            <p:cNvSpPr/>
            <p:nvPr/>
          </p:nvSpPr>
          <p:spPr>
            <a:xfrm>
              <a:off x="2119484" y="3004995"/>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7" name="Upright spring 9"/>
            <p:cNvSpPr/>
            <p:nvPr/>
          </p:nvSpPr>
          <p:spPr>
            <a:xfrm>
              <a:off x="2119484" y="3080363"/>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8" name="Upright spring 10"/>
            <p:cNvSpPr/>
            <p:nvPr/>
          </p:nvSpPr>
          <p:spPr>
            <a:xfrm>
              <a:off x="2119484" y="3155732"/>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9" name="Cart body spring openings"/>
            <p:cNvSpPr/>
            <p:nvPr/>
          </p:nvSpPr>
          <p:spPr>
            <a:xfrm>
              <a:off x="1724250" y="3247397"/>
              <a:ext cx="889212" cy="131324"/>
            </a:xfrm>
            <a:custGeom>
              <a:avLst/>
              <a:gdLst/>
              <a:ahLst/>
              <a:cxnLst/>
              <a:rect l="0" t="0" r="r" b="b"/>
              <a:pathLst>
                <a:path w="889212" h="131324">
                  <a:moveTo>
                    <a:pt x="12700" y="12700"/>
                  </a:moveTo>
                  <a:lnTo>
                    <a:pt x="876512" y="12700"/>
                  </a:lnTo>
                  <a:lnTo>
                    <a:pt x="876512" y="118624"/>
                  </a:lnTo>
                  <a:lnTo>
                    <a:pt x="12700" y="118624"/>
                  </a:lnTo>
                  <a:close/>
                </a:path>
              </a:pathLst>
            </a:custGeom>
            <a:solidFill>
              <a:srgbClr val="FFFFFF"/>
            </a:solidFill>
            <a:ln w="0">
              <a:noFill/>
            </a:ln>
          </p:spPr>
        </p:sp>
        <p:sp>
          <p:nvSpPr>
            <p:cNvPr id="10250" name="Cart body spring 1"/>
            <p:cNvSpPr/>
            <p:nvPr/>
          </p:nvSpPr>
          <p:spPr>
            <a:xfrm>
              <a:off x="1724250"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1" name="Cart body spring 2"/>
            <p:cNvSpPr/>
            <p:nvPr/>
          </p:nvSpPr>
          <p:spPr>
            <a:xfrm>
              <a:off x="1810631"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2" name="Cart body spring 3"/>
            <p:cNvSpPr/>
            <p:nvPr/>
          </p:nvSpPr>
          <p:spPr>
            <a:xfrm>
              <a:off x="1897012"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3" name="Cart body spring 4"/>
            <p:cNvSpPr/>
            <p:nvPr/>
          </p:nvSpPr>
          <p:spPr>
            <a:xfrm>
              <a:off x="1983393"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4" name="Cart body spring 5"/>
            <p:cNvSpPr/>
            <p:nvPr/>
          </p:nvSpPr>
          <p:spPr>
            <a:xfrm>
              <a:off x="2069774"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5" name="Cart body spring 6"/>
            <p:cNvSpPr/>
            <p:nvPr/>
          </p:nvSpPr>
          <p:spPr>
            <a:xfrm>
              <a:off x="2156155"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6" name="Cart body spring 7"/>
            <p:cNvSpPr/>
            <p:nvPr/>
          </p:nvSpPr>
          <p:spPr>
            <a:xfrm>
              <a:off x="2242537"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7" name="Cart body spring 8"/>
            <p:cNvSpPr/>
            <p:nvPr/>
          </p:nvSpPr>
          <p:spPr>
            <a:xfrm>
              <a:off x="2328918"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8" name="Cart body spring 9"/>
            <p:cNvSpPr/>
            <p:nvPr/>
          </p:nvSpPr>
          <p:spPr>
            <a:xfrm>
              <a:off x="2415299"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9" name="Cart body spring 10"/>
            <p:cNvSpPr/>
            <p:nvPr/>
          </p:nvSpPr>
          <p:spPr>
            <a:xfrm>
              <a:off x="2501680"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grpSp>
      <p:sp>
        <p:nvSpPr>
          <p:cNvPr id="10271" name="Flexible modes caption"/>
          <p:cNvSpPr/>
          <p:nvPr/>
        </p:nvSpPr>
        <p:spPr>
          <a:xfrm>
            <a:off x="457200" y="1584325"/>
            <a:ext cx="3911600" cy="209550"/>
          </a:xfrm>
          <a:prstGeom prst="rect">
            <a:avLst/>
          </a:prstGeom>
          <a:noFill/>
          <a:ln>
            <a:noFill/>
          </a:ln>
        </p:spPr>
        <p:txBody>
          <a:bodyPr wrap="none" lIns="0" tIns="0" rIns="0" bIns="0" anchor="ctr">
            <a:noAutofit/>
          </a:bodyPr>
          <a:lstStyle/>
          <a:p>
            <a:pPr algn="ctr">
              <a:buNone/>
            </a:pPr>
            <a:r>
              <a:rPr lang="en-GB" sz="1100" b="0" i="0" u="none" baseline="0">
                <a:solidFill>
                  <a:srgbClr val="C8102E"/>
                </a:solidFill>
                <a:latin typeface="Aptos"/>
                <a:ea typeface="Aptos"/>
                <a:cs typeface="Aptos"/>
              </a:rPr>
              <a:t>Approximate with more flexible modes</a:t>
            </a:r>
            <a:endParaRPr sz="1100"/>
          </a:p>
        </p:txBody>
      </p:sp>
    </p:spTree>
    <p:extLst>
      <p:ext uri="{BB962C8B-B14F-4D97-AF65-F5344CB8AC3E}">
        <p14:creationId xmlns:p14="http://schemas.microsoft.com/office/powerpoint/2010/main" val="38222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anim calcmode="lin" valueType="num">
                                      <p:cBhvr additive="base">
                                        <p:cTn id="7" dur="10000" fill="hold">
                                          <p:stCondLst>
                                            <p:cond delay="0"/>
                                          </p:stCondLst>
                                        </p:cTn>
                                        <p:tgtEl>
                                          <p:spTgt spid="10001"/>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9063"/>
                                          </p:val>
                                        </p:tav>
                                        <p:tav tm="10333">
                                          <p:val>
                                            <p:fltVal val="0.29063"/>
                                          </p:val>
                                        </p:tav>
                                        <p:tav tm="10667">
                                          <p:val>
                                            <p:fltVal val="0.29063"/>
                                          </p:val>
                                        </p:tav>
                                        <p:tav tm="11000">
                                          <p:val>
                                            <p:fltVal val="0.29063"/>
                                          </p:val>
                                        </p:tav>
                                        <p:tav tm="11333">
                                          <p:val>
                                            <p:fltVal val="0.29063"/>
                                          </p:val>
                                        </p:tav>
                                        <p:tav tm="11667">
                                          <p:val>
                                            <p:fltVal val="0.29063"/>
                                          </p:val>
                                        </p:tav>
                                        <p:tav tm="12000">
                                          <p:val>
                                            <p:fltVal val="0.29063"/>
                                          </p:val>
                                        </p:tav>
                                        <p:tav tm="12333">
                                          <p:val>
                                            <p:fltVal val="0.29063"/>
                                          </p:val>
                                        </p:tav>
                                        <p:tav tm="12667">
                                          <p:val>
                                            <p:fltVal val="0.29063"/>
                                          </p:val>
                                        </p:tav>
                                        <p:tav tm="13000">
                                          <p:val>
                                            <p:fltVal val="0.29063"/>
                                          </p:val>
                                        </p:tav>
                                        <p:tav tm="13333">
                                          <p:val>
                                            <p:fltVal val="0.29063"/>
                                          </p:val>
                                        </p:tav>
                                        <p:tav tm="13667">
                                          <p:val>
                                            <p:fltVal val="0.29063"/>
                                          </p:val>
                                        </p:tav>
                                        <p:tav tm="14000">
                                          <p:val>
                                            <p:fltVal val="0.29063"/>
                                          </p:val>
                                        </p:tav>
                                        <p:tav tm="14333">
                                          <p:val>
                                            <p:fltVal val="0.29063"/>
                                          </p:val>
                                        </p:tav>
                                        <p:tav tm="14667">
                                          <p:val>
                                            <p:fltVal val="0.29063"/>
                                          </p:val>
                                        </p:tav>
                                        <p:tav tm="15000">
                                          <p:val>
                                            <p:fltVal val="0.29063"/>
                                          </p:val>
                                        </p:tav>
                                        <p:tav tm="15333">
                                          <p:val>
                                            <p:fltVal val="0.29063"/>
                                          </p:val>
                                        </p:tav>
                                        <p:tav tm="15667">
                                          <p:val>
                                            <p:fltVal val="0.29063"/>
                                          </p:val>
                                        </p:tav>
                                        <p:tav tm="16000">
                                          <p:val>
                                            <p:fltVal val="0.29063"/>
                                          </p:val>
                                        </p:tav>
                                        <p:tav tm="16333">
                                          <p:val>
                                            <p:fltVal val="0.29063"/>
                                          </p:val>
                                        </p:tav>
                                        <p:tav tm="16667">
                                          <p:val>
                                            <p:fltVal val="0.29063"/>
                                          </p:val>
                                        </p:tav>
                                        <p:tav tm="17000">
                                          <p:val>
                                            <p:fltVal val="0.29063"/>
                                          </p:val>
                                        </p:tav>
                                        <p:tav tm="17333">
                                          <p:val>
                                            <p:fltVal val="0.29063"/>
                                          </p:val>
                                        </p:tav>
                                        <p:tav tm="17667">
                                          <p:val>
                                            <p:fltVal val="0.29063"/>
                                          </p:val>
                                        </p:tav>
                                        <p:tav tm="18000">
                                          <p:val>
                                            <p:fltVal val="0.29063"/>
                                          </p:val>
                                        </p:tav>
                                        <p:tav tm="18333">
                                          <p:val>
                                            <p:fltVal val="0.29063"/>
                                          </p:val>
                                        </p:tav>
                                        <p:tav tm="18667">
                                          <p:val>
                                            <p:fltVal val="0.29063"/>
                                          </p:val>
                                        </p:tav>
                                        <p:tav tm="19000">
                                          <p:val>
                                            <p:fltVal val="0.29063"/>
                                          </p:val>
                                        </p:tav>
                                        <p:tav tm="19333">
                                          <p:val>
                                            <p:fltVal val="0.29063"/>
                                          </p:val>
                                        </p:tav>
                                        <p:tav tm="19667">
                                          <p:val>
                                            <p:fltVal val="0.29063"/>
                                          </p:val>
                                        </p:tav>
                                        <p:tav tm="20000">
                                          <p:val>
                                            <p:fltVal val="0.29063"/>
                                          </p:val>
                                        </p:tav>
                                        <p:tav tm="20333">
                                          <p:val>
                                            <p:fltVal val="0.29063"/>
                                          </p:val>
                                        </p:tav>
                                        <p:tav tm="20667">
                                          <p:val>
                                            <p:fltVal val="0.29063"/>
                                          </p:val>
                                        </p:tav>
                                        <p:tav tm="21000">
                                          <p:val>
                                            <p:fltVal val="0.29063"/>
                                          </p:val>
                                        </p:tav>
                                        <p:tav tm="21333">
                                          <p:val>
                                            <p:fltVal val="0.29063"/>
                                          </p:val>
                                        </p:tav>
                                        <p:tav tm="21667">
                                          <p:val>
                                            <p:fltVal val="0.29063"/>
                                          </p:val>
                                        </p:tav>
                                        <p:tav tm="22000">
                                          <p:val>
                                            <p:fltVal val="0.29063"/>
                                          </p:val>
                                        </p:tav>
                                        <p:tav tm="22333">
                                          <p:val>
                                            <p:fltVal val="0.29063"/>
                                          </p:val>
                                        </p:tav>
                                        <p:tav tm="22667">
                                          <p:val>
                                            <p:fltVal val="0.29063"/>
                                          </p:val>
                                        </p:tav>
                                        <p:tav tm="23000">
                                          <p:val>
                                            <p:fltVal val="0.29063"/>
                                          </p:val>
                                        </p:tav>
                                        <p:tav tm="23333">
                                          <p:val>
                                            <p:fltVal val="0.29063"/>
                                          </p:val>
                                        </p:tav>
                                        <p:tav tm="23667">
                                          <p:val>
                                            <p:fltVal val="0.29063"/>
                                          </p:val>
                                        </p:tav>
                                        <p:tav tm="24000">
                                          <p:val>
                                            <p:fltVal val="0.29063"/>
                                          </p:val>
                                        </p:tav>
                                        <p:tav tm="24333">
                                          <p:val>
                                            <p:fltVal val="0.29063"/>
                                          </p:val>
                                        </p:tav>
                                        <p:tav tm="24667">
                                          <p:val>
                                            <p:fltVal val="0.29063"/>
                                          </p:val>
                                        </p:tav>
                                        <p:tav tm="25000">
                                          <p:val>
                                            <p:fltVal val="0.29063"/>
                                          </p:val>
                                        </p:tav>
                                        <p:tav tm="25333">
                                          <p:val>
                                            <p:fltVal val="0.29063"/>
                                          </p:val>
                                        </p:tav>
                                        <p:tav tm="25667">
                                          <p:val>
                                            <p:fltVal val="0.29063"/>
                                          </p:val>
                                        </p:tav>
                                        <p:tav tm="26000">
                                          <p:val>
                                            <p:fltVal val="0.29063"/>
                                          </p:val>
                                        </p:tav>
                                        <p:tav tm="26333">
                                          <p:val>
                                            <p:fltVal val="0.29063"/>
                                          </p:val>
                                        </p:tav>
                                        <p:tav tm="26667">
                                          <p:val>
                                            <p:fltVal val="0.29063"/>
                                          </p:val>
                                        </p:tav>
                                        <p:tav tm="27000">
                                          <p:val>
                                            <p:fltVal val="0.29063"/>
                                          </p:val>
                                        </p:tav>
                                        <p:tav tm="27333">
                                          <p:val>
                                            <p:fltVal val="0.29063"/>
                                          </p:val>
                                        </p:tav>
                                        <p:tav tm="27667">
                                          <p:val>
                                            <p:fltVal val="0.29063"/>
                                          </p:val>
                                        </p:tav>
                                        <p:tav tm="28000">
                                          <p:val>
                                            <p:fltVal val="0.29063"/>
                                          </p:val>
                                        </p:tav>
                                        <p:tav tm="28333">
                                          <p:val>
                                            <p:fltVal val="0.29063"/>
                                          </p:val>
                                        </p:tav>
                                        <p:tav tm="28667">
                                          <p:val>
                                            <p:fltVal val="0.29063"/>
                                          </p:val>
                                        </p:tav>
                                        <p:tav tm="29000">
                                          <p:val>
                                            <p:fltVal val="0.29063"/>
                                          </p:val>
                                        </p:tav>
                                        <p:tav tm="29333">
                                          <p:val>
                                            <p:fltVal val="0.29063"/>
                                          </p:val>
                                        </p:tav>
                                        <p:tav tm="29667">
                                          <p:val>
                                            <p:fltVal val="0.29063"/>
                                          </p:val>
                                        </p:tav>
                                        <p:tav tm="30000">
                                          <p:val>
                                            <p:fltVal val="0.29063"/>
                                          </p:val>
                                        </p:tav>
                                        <p:tav tm="30333">
                                          <p:val>
                                            <p:fltVal val="0.29063"/>
                                          </p:val>
                                        </p:tav>
                                        <p:tav tm="30667">
                                          <p:val>
                                            <p:fltVal val="0.29063"/>
                                          </p:val>
                                        </p:tav>
                                        <p:tav tm="31000">
                                          <p:val>
                                            <p:fltVal val="0.29063"/>
                                          </p:val>
                                        </p:tav>
                                        <p:tav tm="31333">
                                          <p:val>
                                            <p:fltVal val="0.29063"/>
                                          </p:val>
                                        </p:tav>
                                        <p:tav tm="31667">
                                          <p:val>
                                            <p:fltVal val="0.29063"/>
                                          </p:val>
                                        </p:tav>
                                        <p:tav tm="32000">
                                          <p:val>
                                            <p:fltVal val="0.29063"/>
                                          </p:val>
                                        </p:tav>
                                        <p:tav tm="32333">
                                          <p:val>
                                            <p:fltVal val="0.29063"/>
                                          </p:val>
                                        </p:tav>
                                        <p:tav tm="32667">
                                          <p:val>
                                            <p:fltVal val="0.29063"/>
                                          </p:val>
                                        </p:tav>
                                        <p:tav tm="33000">
                                          <p:val>
                                            <p:fltVal val="0.29063"/>
                                          </p:val>
                                        </p:tav>
                                        <p:tav tm="33333">
                                          <p:val>
                                            <p:fltVal val="0.29063"/>
                                          </p:val>
                                        </p:tav>
                                        <p:tav tm="33667">
                                          <p:val>
                                            <p:fltVal val="0.29063"/>
                                          </p:val>
                                        </p:tav>
                                        <p:tav tm="34000">
                                          <p:val>
                                            <p:fltVal val="0.29063"/>
                                          </p:val>
                                        </p:tav>
                                        <p:tav tm="34333">
                                          <p:val>
                                            <p:fltVal val="0.29063"/>
                                          </p:val>
                                        </p:tav>
                                        <p:tav tm="34667">
                                          <p:val>
                                            <p:fltVal val="0.29063"/>
                                          </p:val>
                                        </p:tav>
                                        <p:tav tm="35000">
                                          <p:val>
                                            <p:fltVal val="0.29063"/>
                                          </p:val>
                                        </p:tav>
                                        <p:tav tm="35333">
                                          <p:val>
                                            <p:fltVal val="0.29063"/>
                                          </p:val>
                                        </p:tav>
                                        <p:tav tm="35667">
                                          <p:val>
                                            <p:fltVal val="0.29063"/>
                                          </p:val>
                                        </p:tav>
                                        <p:tav tm="36000">
                                          <p:val>
                                            <p:fltVal val="0.29063"/>
                                          </p:val>
                                        </p:tav>
                                        <p:tav tm="36333">
                                          <p:val>
                                            <p:fltVal val="0.29063"/>
                                          </p:val>
                                        </p:tav>
                                        <p:tav tm="36667">
                                          <p:val>
                                            <p:fltVal val="0.29063"/>
                                          </p:val>
                                        </p:tav>
                                        <p:tav tm="37000">
                                          <p:val>
                                            <p:fltVal val="0.29063"/>
                                          </p:val>
                                        </p:tav>
                                        <p:tav tm="37333">
                                          <p:val>
                                            <p:fltVal val="0.29063"/>
                                          </p:val>
                                        </p:tav>
                                        <p:tav tm="37667">
                                          <p:val>
                                            <p:fltVal val="0.29063"/>
                                          </p:val>
                                        </p:tav>
                                        <p:tav tm="38000">
                                          <p:val>
                                            <p:fltVal val="0.29063"/>
                                          </p:val>
                                        </p:tav>
                                        <p:tav tm="38333">
                                          <p:val>
                                            <p:fltVal val="0.29063"/>
                                          </p:val>
                                        </p:tav>
                                        <p:tav tm="38667">
                                          <p:val>
                                            <p:fltVal val="0.29063"/>
                                          </p:val>
                                        </p:tav>
                                        <p:tav tm="39000">
                                          <p:val>
                                            <p:fltVal val="0.29063"/>
                                          </p:val>
                                        </p:tav>
                                        <p:tav tm="39333">
                                          <p:val>
                                            <p:fltVal val="0.29063"/>
                                          </p:val>
                                        </p:tav>
                                        <p:tav tm="39667">
                                          <p:val>
                                            <p:fltVal val="0.29063"/>
                                          </p:val>
                                        </p:tav>
                                        <p:tav tm="40000">
                                          <p:val>
                                            <p:fltVal val="0.29063"/>
                                          </p:val>
                                        </p:tav>
                                        <p:tav tm="40333">
                                          <p:val>
                                            <p:fltVal val="0.29063"/>
                                          </p:val>
                                        </p:tav>
                                        <p:tav tm="40667">
                                          <p:val>
                                            <p:fltVal val="0.29063"/>
                                          </p:val>
                                        </p:tav>
                                        <p:tav tm="41000">
                                          <p:val>
                                            <p:fltVal val="0.29063"/>
                                          </p:val>
                                        </p:tav>
                                        <p:tav tm="41333">
                                          <p:val>
                                            <p:fltVal val="0.29063"/>
                                          </p:val>
                                        </p:tav>
                                        <p:tav tm="41667">
                                          <p:val>
                                            <p:fltVal val="0.29063"/>
                                          </p:val>
                                        </p:tav>
                                        <p:tav tm="42000">
                                          <p:val>
                                            <p:fltVal val="0.29063"/>
                                          </p:val>
                                        </p:tav>
                                        <p:tav tm="42333">
                                          <p:val>
                                            <p:fltVal val="0.29063"/>
                                          </p:val>
                                        </p:tav>
                                        <p:tav tm="42667">
                                          <p:val>
                                            <p:fltVal val="0.29063"/>
                                          </p:val>
                                        </p:tav>
                                        <p:tav tm="43000">
                                          <p:val>
                                            <p:fltVal val="0.29063"/>
                                          </p:val>
                                        </p:tav>
                                        <p:tav tm="43333">
                                          <p:val>
                                            <p:fltVal val="0.29063"/>
                                          </p:val>
                                        </p:tav>
                                        <p:tav tm="43667">
                                          <p:val>
                                            <p:fltVal val="0.29063"/>
                                          </p:val>
                                        </p:tav>
                                        <p:tav tm="44000">
                                          <p:val>
                                            <p:fltVal val="0.29063"/>
                                          </p:val>
                                        </p:tav>
                                        <p:tav tm="44333">
                                          <p:val>
                                            <p:fltVal val="0.29063"/>
                                          </p:val>
                                        </p:tav>
                                        <p:tav tm="44667">
                                          <p:val>
                                            <p:fltVal val="0.29063"/>
                                          </p:val>
                                        </p:tav>
                                        <p:tav tm="45000">
                                          <p:val>
                                            <p:fltVal val="0.29063"/>
                                          </p:val>
                                        </p:tav>
                                        <p:tav tm="45333">
                                          <p:val>
                                            <p:fltVal val="0.29063"/>
                                          </p:val>
                                        </p:tav>
                                        <p:tav tm="45667">
                                          <p:val>
                                            <p:fltVal val="0.29063"/>
                                          </p:val>
                                        </p:tav>
                                        <p:tav tm="46000">
                                          <p:val>
                                            <p:fltVal val="0.29063"/>
                                          </p:val>
                                        </p:tav>
                                        <p:tav tm="46333">
                                          <p:val>
                                            <p:fltVal val="0.29063"/>
                                          </p:val>
                                        </p:tav>
                                        <p:tav tm="46667">
                                          <p:val>
                                            <p:fltVal val="0.29063"/>
                                          </p:val>
                                        </p:tav>
                                        <p:tav tm="47000">
                                          <p:val>
                                            <p:fltVal val="0.29063"/>
                                          </p:val>
                                        </p:tav>
                                        <p:tav tm="47333">
                                          <p:val>
                                            <p:fltVal val="0.29063"/>
                                          </p:val>
                                        </p:tav>
                                        <p:tav tm="47667">
                                          <p:val>
                                            <p:fltVal val="0.29063"/>
                                          </p:val>
                                        </p:tav>
                                        <p:tav tm="48000">
                                          <p:val>
                                            <p:fltVal val="0.29063"/>
                                          </p:val>
                                        </p:tav>
                                        <p:tav tm="48333">
                                          <p:val>
                                            <p:fltVal val="0.29063"/>
                                          </p:val>
                                        </p:tav>
                                        <p:tav tm="48667">
                                          <p:val>
                                            <p:fltVal val="0.29063"/>
                                          </p:val>
                                        </p:tav>
                                        <p:tav tm="49000">
                                          <p:val>
                                            <p:fltVal val="0.29063"/>
                                          </p:val>
                                        </p:tav>
                                        <p:tav tm="49333">
                                          <p:val>
                                            <p:fltVal val="0.29063"/>
                                          </p:val>
                                        </p:tav>
                                        <p:tav tm="49667">
                                          <p:val>
                                            <p:fltVal val="0.29063"/>
                                          </p:val>
                                        </p:tav>
                                        <p:tav tm="50000">
                                          <p:val>
                                            <p:fltVal val="0.29063"/>
                                          </p:val>
                                        </p:tav>
                                        <p:tav tm="50333">
                                          <p:val>
                                            <p:fltVal val="0.29063"/>
                                          </p:val>
                                        </p:tav>
                                        <p:tav tm="50667">
                                          <p:val>
                                            <p:fltVal val="0.29063"/>
                                          </p:val>
                                        </p:tav>
                                        <p:tav tm="51000">
                                          <p:val>
                                            <p:fltVal val="0.29063"/>
                                          </p:val>
                                        </p:tav>
                                        <p:tav tm="51333">
                                          <p:val>
                                            <p:fltVal val="0.29063"/>
                                          </p:val>
                                        </p:tav>
                                        <p:tav tm="51667">
                                          <p:val>
                                            <p:fltVal val="0.29063"/>
                                          </p:val>
                                        </p:tav>
                                        <p:tav tm="52000">
                                          <p:val>
                                            <p:fltVal val="0.29063"/>
                                          </p:val>
                                        </p:tav>
                                        <p:tav tm="52333">
                                          <p:val>
                                            <p:fltVal val="0.29063"/>
                                          </p:val>
                                        </p:tav>
                                        <p:tav tm="52667">
                                          <p:val>
                                            <p:fltVal val="0.29063"/>
                                          </p:val>
                                        </p:tav>
                                        <p:tav tm="53000">
                                          <p:val>
                                            <p:fltVal val="0.29063"/>
                                          </p:val>
                                        </p:tav>
                                        <p:tav tm="53333">
                                          <p:val>
                                            <p:fltVal val="0.29063"/>
                                          </p:val>
                                        </p:tav>
                                        <p:tav tm="53667">
                                          <p:val>
                                            <p:fltVal val="0.29063"/>
                                          </p:val>
                                        </p:tav>
                                        <p:tav tm="54000">
                                          <p:val>
                                            <p:fltVal val="0.29063"/>
                                          </p:val>
                                        </p:tav>
                                        <p:tav tm="54333">
                                          <p:val>
                                            <p:fltVal val="0.29063"/>
                                          </p:val>
                                        </p:tav>
                                        <p:tav tm="54667">
                                          <p:val>
                                            <p:fltVal val="0.29063"/>
                                          </p:val>
                                        </p:tav>
                                        <p:tav tm="55000">
                                          <p:val>
                                            <p:fltVal val="0.29063"/>
                                          </p:val>
                                        </p:tav>
                                        <p:tav tm="55333">
                                          <p:val>
                                            <p:fltVal val="0.29063"/>
                                          </p:val>
                                        </p:tav>
                                        <p:tav tm="55667">
                                          <p:val>
                                            <p:fltVal val="0.29063"/>
                                          </p:val>
                                        </p:tav>
                                        <p:tav tm="56000">
                                          <p:val>
                                            <p:fltVal val="0.29063"/>
                                          </p:val>
                                        </p:tav>
                                        <p:tav tm="56333">
                                          <p:val>
                                            <p:fltVal val="0.29063"/>
                                          </p:val>
                                        </p:tav>
                                        <p:tav tm="56667">
                                          <p:val>
                                            <p:fltVal val="0.29063"/>
                                          </p:val>
                                        </p:tav>
                                        <p:tav tm="57000">
                                          <p:val>
                                            <p:fltVal val="0.29063"/>
                                          </p:val>
                                        </p:tav>
                                        <p:tav tm="57333">
                                          <p:val>
                                            <p:fltVal val="0.29063"/>
                                          </p:val>
                                        </p:tav>
                                        <p:tav tm="57667">
                                          <p:val>
                                            <p:fltVal val="0.29063"/>
                                          </p:val>
                                        </p:tav>
                                        <p:tav tm="58000">
                                          <p:val>
                                            <p:fltVal val="0.29063"/>
                                          </p:val>
                                        </p:tav>
                                        <p:tav tm="58333">
                                          <p:val>
                                            <p:fltVal val="0.29063"/>
                                          </p:val>
                                        </p:tav>
                                        <p:tav tm="58667">
                                          <p:val>
                                            <p:fltVal val="0.29063"/>
                                          </p:val>
                                        </p:tav>
                                        <p:tav tm="59000">
                                          <p:val>
                                            <p:fltVal val="0.29063"/>
                                          </p:val>
                                        </p:tav>
                                        <p:tav tm="59333">
                                          <p:val>
                                            <p:fltVal val="0.29063"/>
                                          </p:val>
                                        </p:tav>
                                        <p:tav tm="59667">
                                          <p:val>
                                            <p:fltVal val="0.29063"/>
                                          </p:val>
                                        </p:tav>
                                        <p:tav tm="60000">
                                          <p:val>
                                            <p:fltVal val="0.29063"/>
                                          </p:val>
                                        </p:tav>
                                        <p:tav tm="60333">
                                          <p:val>
                                            <p:fltVal val="0.29063"/>
                                          </p:val>
                                        </p:tav>
                                        <p:tav tm="60667">
                                          <p:val>
                                            <p:fltVal val="0.29063"/>
                                          </p:val>
                                        </p:tav>
                                        <p:tav tm="61000">
                                          <p:val>
                                            <p:fltVal val="0.29063"/>
                                          </p:val>
                                        </p:tav>
                                        <p:tav tm="61333">
                                          <p:val>
                                            <p:fltVal val="0.29063"/>
                                          </p:val>
                                        </p:tav>
                                        <p:tav tm="61667">
                                          <p:val>
                                            <p:fltVal val="0.29063"/>
                                          </p:val>
                                        </p:tav>
                                        <p:tav tm="62000">
                                          <p:val>
                                            <p:fltVal val="0.29063"/>
                                          </p:val>
                                        </p:tav>
                                        <p:tav tm="62333">
                                          <p:val>
                                            <p:fltVal val="0.29063"/>
                                          </p:val>
                                        </p:tav>
                                        <p:tav tm="62667">
                                          <p:val>
                                            <p:fltVal val="0.29063"/>
                                          </p:val>
                                        </p:tav>
                                        <p:tav tm="63000">
                                          <p:val>
                                            <p:fltVal val="0.29063"/>
                                          </p:val>
                                        </p:tav>
                                        <p:tav tm="63333">
                                          <p:val>
                                            <p:fltVal val="0.29063"/>
                                          </p:val>
                                        </p:tav>
                                        <p:tav tm="63667">
                                          <p:val>
                                            <p:fltVal val="0.29063"/>
                                          </p:val>
                                        </p:tav>
                                        <p:tav tm="64000">
                                          <p:val>
                                            <p:fltVal val="0.29063"/>
                                          </p:val>
                                        </p:tav>
                                        <p:tav tm="64333">
                                          <p:val>
                                            <p:fltVal val="0.29063"/>
                                          </p:val>
                                        </p:tav>
                                        <p:tav tm="64667">
                                          <p:val>
                                            <p:fltVal val="0.29063"/>
                                          </p:val>
                                        </p:tav>
                                        <p:tav tm="65000">
                                          <p:val>
                                            <p:fltVal val="0.29063"/>
                                          </p:val>
                                        </p:tav>
                                        <p:tav tm="65333">
                                          <p:val>
                                            <p:fltVal val="0.29063"/>
                                          </p:val>
                                        </p:tav>
                                        <p:tav tm="65667">
                                          <p:val>
                                            <p:fltVal val="0.29063"/>
                                          </p:val>
                                        </p:tav>
                                        <p:tav tm="66000">
                                          <p:val>
                                            <p:fltVal val="0.29063"/>
                                          </p:val>
                                        </p:tav>
                                        <p:tav tm="66333">
                                          <p:val>
                                            <p:fltVal val="0.29063"/>
                                          </p:val>
                                        </p:tav>
                                        <p:tav tm="66667">
                                          <p:val>
                                            <p:fltVal val="0.29063"/>
                                          </p:val>
                                        </p:tav>
                                        <p:tav tm="67000">
                                          <p:val>
                                            <p:fltVal val="0.29063"/>
                                          </p:val>
                                        </p:tav>
                                        <p:tav tm="67333">
                                          <p:val>
                                            <p:fltVal val="0.29063"/>
                                          </p:val>
                                        </p:tav>
                                        <p:tav tm="67667">
                                          <p:val>
                                            <p:fltVal val="0.29063"/>
                                          </p:val>
                                        </p:tav>
                                        <p:tav tm="68000">
                                          <p:val>
                                            <p:fltVal val="0.29063"/>
                                          </p:val>
                                        </p:tav>
                                        <p:tav tm="68333">
                                          <p:val>
                                            <p:fltVal val="0.29063"/>
                                          </p:val>
                                        </p:tav>
                                        <p:tav tm="68667">
                                          <p:val>
                                            <p:fltVal val="0.29063"/>
                                          </p:val>
                                        </p:tav>
                                        <p:tav tm="69000">
                                          <p:val>
                                            <p:fltVal val="0.29063"/>
                                          </p:val>
                                        </p:tav>
                                        <p:tav tm="69333">
                                          <p:val>
                                            <p:fltVal val="0.29063"/>
                                          </p:val>
                                        </p:tav>
                                        <p:tav tm="69667">
                                          <p:val>
                                            <p:fltVal val="0.29063"/>
                                          </p:val>
                                        </p:tav>
                                        <p:tav tm="70000">
                                          <p:val>
                                            <p:fltVal val="0.29063"/>
                                          </p:val>
                                        </p:tav>
                                        <p:tav tm="70333">
                                          <p:val>
                                            <p:fltVal val="0.29063"/>
                                          </p:val>
                                        </p:tav>
                                        <p:tav tm="70667">
                                          <p:val>
                                            <p:fltVal val="0.29063"/>
                                          </p:val>
                                        </p:tav>
                                        <p:tav tm="71000">
                                          <p:val>
                                            <p:fltVal val="0.29063"/>
                                          </p:val>
                                        </p:tav>
                                        <p:tav tm="71333">
                                          <p:val>
                                            <p:fltVal val="0.29063"/>
                                          </p:val>
                                        </p:tav>
                                        <p:tav tm="71667">
                                          <p:val>
                                            <p:fltVal val="0.29063"/>
                                          </p:val>
                                        </p:tav>
                                        <p:tav tm="72000">
                                          <p:val>
                                            <p:fltVal val="0.29063"/>
                                          </p:val>
                                        </p:tav>
                                        <p:tav tm="72333">
                                          <p:val>
                                            <p:fltVal val="0.29063"/>
                                          </p:val>
                                        </p:tav>
                                        <p:tav tm="72667">
                                          <p:val>
                                            <p:fltVal val="0.29063"/>
                                          </p:val>
                                        </p:tav>
                                        <p:tav tm="73000">
                                          <p:val>
                                            <p:fltVal val="0.29063"/>
                                          </p:val>
                                        </p:tav>
                                        <p:tav tm="73333">
                                          <p:val>
                                            <p:fltVal val="0.29063"/>
                                          </p:val>
                                        </p:tav>
                                        <p:tav tm="73667">
                                          <p:val>
                                            <p:fltVal val="0.29063"/>
                                          </p:val>
                                        </p:tav>
                                        <p:tav tm="74000">
                                          <p:val>
                                            <p:fltVal val="0.29063"/>
                                          </p:val>
                                        </p:tav>
                                        <p:tav tm="74333">
                                          <p:val>
                                            <p:fltVal val="0.29063"/>
                                          </p:val>
                                        </p:tav>
                                        <p:tav tm="74667">
                                          <p:val>
                                            <p:fltVal val="0.29063"/>
                                          </p:val>
                                        </p:tav>
                                        <p:tav tm="75000">
                                          <p:val>
                                            <p:fltVal val="0.29063"/>
                                          </p:val>
                                        </p:tav>
                                        <p:tav tm="75333">
                                          <p:val>
                                            <p:fltVal val="0.29063"/>
                                          </p:val>
                                        </p:tav>
                                        <p:tav tm="75667">
                                          <p:val>
                                            <p:fltVal val="0.29063"/>
                                          </p:val>
                                        </p:tav>
                                        <p:tav tm="76000">
                                          <p:val>
                                            <p:fltVal val="0.29063"/>
                                          </p:val>
                                        </p:tav>
                                        <p:tav tm="76333">
                                          <p:val>
                                            <p:fltVal val="0.29063"/>
                                          </p:val>
                                        </p:tav>
                                        <p:tav tm="76667">
                                          <p:val>
                                            <p:fltVal val="0.29063"/>
                                          </p:val>
                                        </p:tav>
                                        <p:tav tm="77000">
                                          <p:val>
                                            <p:fltVal val="0.29063"/>
                                          </p:val>
                                        </p:tav>
                                        <p:tav tm="77333">
                                          <p:val>
                                            <p:fltVal val="0.29063"/>
                                          </p:val>
                                        </p:tav>
                                        <p:tav tm="77667">
                                          <p:val>
                                            <p:fltVal val="0.29063"/>
                                          </p:val>
                                        </p:tav>
                                        <p:tav tm="78000">
                                          <p:val>
                                            <p:fltVal val="0.29063"/>
                                          </p:val>
                                        </p:tav>
                                        <p:tav tm="78333">
                                          <p:val>
                                            <p:fltVal val="0.29063"/>
                                          </p:val>
                                        </p:tav>
                                        <p:tav tm="78667">
                                          <p:val>
                                            <p:fltVal val="0.29063"/>
                                          </p:val>
                                        </p:tav>
                                        <p:tav tm="79000">
                                          <p:val>
                                            <p:fltVal val="0.29063"/>
                                          </p:val>
                                        </p:tav>
                                        <p:tav tm="79333">
                                          <p:val>
                                            <p:fltVal val="0.29063"/>
                                          </p:val>
                                        </p:tav>
                                        <p:tav tm="79667">
                                          <p:val>
                                            <p:fltVal val="0.29063"/>
                                          </p:val>
                                        </p:tav>
                                        <p:tav tm="80000">
                                          <p:val>
                                            <p:fltVal val="0.29063"/>
                                          </p:val>
                                        </p:tav>
                                        <p:tav tm="80333">
                                          <p:val>
                                            <p:fltVal val="0.29063"/>
                                          </p:val>
                                        </p:tav>
                                        <p:tav tm="80667">
                                          <p:val>
                                            <p:fltVal val="0.29063"/>
                                          </p:val>
                                        </p:tav>
                                        <p:tav tm="81000">
                                          <p:val>
                                            <p:fltVal val="0.29063"/>
                                          </p:val>
                                        </p:tav>
                                        <p:tav tm="81333">
                                          <p:val>
                                            <p:fltVal val="0.29063"/>
                                          </p:val>
                                        </p:tav>
                                        <p:tav tm="81667">
                                          <p:val>
                                            <p:fltVal val="0.29063"/>
                                          </p:val>
                                        </p:tav>
                                        <p:tav tm="82000">
                                          <p:val>
                                            <p:fltVal val="0.29063"/>
                                          </p:val>
                                        </p:tav>
                                        <p:tav tm="82333">
                                          <p:val>
                                            <p:fltVal val="0.29063"/>
                                          </p:val>
                                        </p:tav>
                                        <p:tav tm="82667">
                                          <p:val>
                                            <p:fltVal val="0.29063"/>
                                          </p:val>
                                        </p:tav>
                                        <p:tav tm="83000">
                                          <p:val>
                                            <p:fltVal val="0.29063"/>
                                          </p:val>
                                        </p:tav>
                                        <p:tav tm="83333">
                                          <p:val>
                                            <p:fltVal val="0.29063"/>
                                          </p:val>
                                        </p:tav>
                                        <p:tav tm="83667">
                                          <p:val>
                                            <p:fltVal val="0.29063"/>
                                          </p:val>
                                        </p:tav>
                                        <p:tav tm="84000">
                                          <p:val>
                                            <p:fltVal val="0.29063"/>
                                          </p:val>
                                        </p:tav>
                                        <p:tav tm="84333">
                                          <p:val>
                                            <p:fltVal val="0.29063"/>
                                          </p:val>
                                        </p:tav>
                                        <p:tav tm="84667">
                                          <p:val>
                                            <p:fltVal val="0.29063"/>
                                          </p:val>
                                        </p:tav>
                                        <p:tav tm="85000">
                                          <p:val>
                                            <p:fltVal val="0.29063"/>
                                          </p:val>
                                        </p:tav>
                                        <p:tav tm="85333">
                                          <p:val>
                                            <p:fltVal val="0.29063"/>
                                          </p:val>
                                        </p:tav>
                                        <p:tav tm="85667">
                                          <p:val>
                                            <p:fltVal val="0.29063"/>
                                          </p:val>
                                        </p:tav>
                                        <p:tav tm="86000">
                                          <p:val>
                                            <p:fltVal val="0.29063"/>
                                          </p:val>
                                        </p:tav>
                                        <p:tav tm="86333">
                                          <p:val>
                                            <p:fltVal val="0.29063"/>
                                          </p:val>
                                        </p:tav>
                                        <p:tav tm="86667">
                                          <p:val>
                                            <p:fltVal val="0.29063"/>
                                          </p:val>
                                        </p:tav>
                                        <p:tav tm="87000">
                                          <p:val>
                                            <p:fltVal val="0.29063"/>
                                          </p:val>
                                        </p:tav>
                                        <p:tav tm="87333">
                                          <p:val>
                                            <p:fltVal val="0.29063"/>
                                          </p:val>
                                        </p:tav>
                                        <p:tav tm="87667">
                                          <p:val>
                                            <p:fltVal val="0.29063"/>
                                          </p:val>
                                        </p:tav>
                                        <p:tav tm="88000">
                                          <p:val>
                                            <p:fltVal val="0.29063"/>
                                          </p:val>
                                        </p:tav>
                                        <p:tav tm="88333">
                                          <p:val>
                                            <p:fltVal val="0.29063"/>
                                          </p:val>
                                        </p:tav>
                                        <p:tav tm="88667">
                                          <p:val>
                                            <p:fltVal val="0.29063"/>
                                          </p:val>
                                        </p:tav>
                                        <p:tav tm="89000">
                                          <p:val>
                                            <p:fltVal val="0.29063"/>
                                          </p:val>
                                        </p:tav>
                                        <p:tav tm="89333">
                                          <p:val>
                                            <p:fltVal val="0.29063"/>
                                          </p:val>
                                        </p:tav>
                                        <p:tav tm="89667">
                                          <p:val>
                                            <p:fltVal val="0.29063"/>
                                          </p:val>
                                        </p:tav>
                                        <p:tav tm="90000">
                                          <p:val>
                                            <p:fltVal val="0.23715"/>
                                          </p:val>
                                        </p:tav>
                                        <p:tav tm="90333">
                                          <p:val>
                                            <p:fltVal val="0.23715"/>
                                          </p:val>
                                        </p:tav>
                                        <p:tav tm="90667">
                                          <p:val>
                                            <p:fltVal val="0.23715"/>
                                          </p:val>
                                        </p:tav>
                                        <p:tav tm="91000">
                                          <p:val>
                                            <p:fltVal val="0.23715"/>
                                          </p:val>
                                        </p:tav>
                                        <p:tav tm="91333">
                                          <p:val>
                                            <p:fltVal val="0.23715"/>
                                          </p:val>
                                        </p:tav>
                                        <p:tav tm="91667">
                                          <p:val>
                                            <p:fltVal val="0.23715"/>
                                          </p:val>
                                        </p:tav>
                                        <p:tav tm="92000">
                                          <p:val>
                                            <p:fltVal val="0.23715"/>
                                          </p:val>
                                        </p:tav>
                                        <p:tav tm="92333">
                                          <p:val>
                                            <p:fltVal val="0.23715"/>
                                          </p:val>
                                        </p:tav>
                                        <p:tav tm="92667">
                                          <p:val>
                                            <p:fltVal val="0.23715"/>
                                          </p:val>
                                        </p:tav>
                                        <p:tav tm="93000">
                                          <p:val>
                                            <p:fltVal val="0.23715"/>
                                          </p:val>
                                        </p:tav>
                                        <p:tav tm="93333">
                                          <p:val>
                                            <p:fltVal val="0.23715"/>
                                          </p:val>
                                        </p:tav>
                                        <p:tav tm="93667">
                                          <p:val>
                                            <p:fltVal val="0.23715"/>
                                          </p:val>
                                        </p:tav>
                                        <p:tav tm="94000">
                                          <p:val>
                                            <p:fltVal val="0.23715"/>
                                          </p:val>
                                        </p:tav>
                                        <p:tav tm="94333">
                                          <p:val>
                                            <p:fltVal val="0.23715"/>
                                          </p:val>
                                        </p:tav>
                                        <p:tav tm="94667">
                                          <p:val>
                                            <p:fltVal val="0.23715"/>
                                          </p:val>
                                        </p:tav>
                                        <p:tav tm="95000">
                                          <p:val>
                                            <p:fltVal val="0.23715"/>
                                          </p:val>
                                        </p:tav>
                                        <p:tav tm="95333">
                                          <p:val>
                                            <p:fltVal val="0.23715"/>
                                          </p:val>
                                        </p:tav>
                                        <p:tav tm="95667">
                                          <p:val>
                                            <p:fltVal val="0.23715"/>
                                          </p:val>
                                        </p:tav>
                                        <p:tav tm="96000">
                                          <p:val>
                                            <p:fltVal val="0.23715"/>
                                          </p:val>
                                        </p:tav>
                                        <p:tav tm="96333">
                                          <p:val>
                                            <p:fltVal val="0.23715"/>
                                          </p:val>
                                        </p:tav>
                                        <p:tav tm="96667">
                                          <p:val>
                                            <p:fltVal val="0.23715"/>
                                          </p:val>
                                        </p:tav>
                                        <p:tav tm="97000">
                                          <p:val>
                                            <p:fltVal val="0.23715"/>
                                          </p:val>
                                        </p:tav>
                                        <p:tav tm="97333">
                                          <p:val>
                                            <p:fltVal val="0.23715"/>
                                          </p:val>
                                        </p:tav>
                                        <p:tav tm="97667">
                                          <p:val>
                                            <p:fltVal val="0.23715"/>
                                          </p:val>
                                        </p:tav>
                                        <p:tav tm="98000">
                                          <p:val>
                                            <p:fltVal val="0.23715"/>
                                          </p:val>
                                        </p:tav>
                                        <p:tav tm="98333">
                                          <p:val>
                                            <p:fltVal val="0.23715"/>
                                          </p:val>
                                        </p:tav>
                                        <p:tav tm="98667">
                                          <p:val>
                                            <p:fltVal val="0.23715"/>
                                          </p:val>
                                        </p:tav>
                                        <p:tav tm="99000">
                                          <p:val>
                                            <p:fltVal val="0.23715"/>
                                          </p:val>
                                        </p:tav>
                                        <p:tav tm="99333">
                                          <p:val>
                                            <p:fltVal val="0.23715"/>
                                          </p:val>
                                        </p:tav>
                                        <p:tav tm="99667">
                                          <p:val>
                                            <p:fltVal val="0.23715"/>
                                          </p:val>
                                        </p:tav>
                                        <p:tav tm="100000">
                                          <p:val>
                                            <p:fltVal val="0.23715"/>
                                          </p:val>
                                        </p:tav>
                                      </p:tavLst>
                                    </p:anim>
                                    <p:anim calcmode="lin" valueType="num">
                                      <p:cBhvr additive="base">
                                        <p:cTn id="8" dur="10000" fill="hold">
                                          <p:stCondLst>
                                            <p:cond delay="0"/>
                                          </p:stCondLst>
                                        </p:cTn>
                                        <p:tgtEl>
                                          <p:spTgt spid="10002"/>
                                        </p:tgtEl>
                                        <p:attrNameLst>
                                          <p:attrName>ppt_x</p:attrName>
                                        </p:attrNameLst>
                                      </p:cBhvr>
                                      <p:tavLst>
                                        <p:tav tm="0">
                                          <p:val>
                                            <p:fltVal val="0.27369"/>
                                          </p:val>
                                        </p:tav>
                                        <p:tav tm="333">
                                          <p:val>
                                            <p:fltVal val="0.27369"/>
                                          </p:val>
                                        </p:tav>
                                        <p:tav tm="667">
                                          <p:val>
                                            <p:fltVal val="0.27369"/>
                                          </p:val>
                                        </p:tav>
                                        <p:tav tm="1000">
                                          <p:val>
                                            <p:fltVal val="0.27369"/>
                                          </p:val>
                                        </p:tav>
                                        <p:tav tm="1333">
                                          <p:val>
                                            <p:fltVal val="0.27369"/>
                                          </p:val>
                                        </p:tav>
                                        <p:tav tm="1667">
                                          <p:val>
                                            <p:fltVal val="0.27369"/>
                                          </p:val>
                                        </p:tav>
                                        <p:tav tm="2000">
                                          <p:val>
                                            <p:fltVal val="0.27369"/>
                                          </p:val>
                                        </p:tav>
                                        <p:tav tm="2333">
                                          <p:val>
                                            <p:fltVal val="0.27369"/>
                                          </p:val>
                                        </p:tav>
                                        <p:tav tm="2667">
                                          <p:val>
                                            <p:fltVal val="0.27369"/>
                                          </p:val>
                                        </p:tav>
                                        <p:tav tm="3000">
                                          <p:val>
                                            <p:fltVal val="0.27369"/>
                                          </p:val>
                                        </p:tav>
                                        <p:tav tm="3333">
                                          <p:val>
                                            <p:fltVal val="0.27369"/>
                                          </p:val>
                                        </p:tav>
                                        <p:tav tm="3667">
                                          <p:val>
                                            <p:fltVal val="0.27369"/>
                                          </p:val>
                                        </p:tav>
                                        <p:tav tm="4000">
                                          <p:val>
                                            <p:fltVal val="0.27369"/>
                                          </p:val>
                                        </p:tav>
                                        <p:tav tm="4333">
                                          <p:val>
                                            <p:fltVal val="0.27369"/>
                                          </p:val>
                                        </p:tav>
                                        <p:tav tm="4667">
                                          <p:val>
                                            <p:fltVal val="0.27369"/>
                                          </p:val>
                                        </p:tav>
                                        <p:tav tm="5000">
                                          <p:val>
                                            <p:fltVal val="0.27369"/>
                                          </p:val>
                                        </p:tav>
                                        <p:tav tm="5333">
                                          <p:val>
                                            <p:fltVal val="0.27369"/>
                                          </p:val>
                                        </p:tav>
                                        <p:tav tm="5667">
                                          <p:val>
                                            <p:fltVal val="0.27369"/>
                                          </p:val>
                                        </p:tav>
                                        <p:tav tm="6000">
                                          <p:val>
                                            <p:fltVal val="0.27369"/>
                                          </p:val>
                                        </p:tav>
                                        <p:tav tm="6333">
                                          <p:val>
                                            <p:fltVal val="0.27369"/>
                                          </p:val>
                                        </p:tav>
                                        <p:tav tm="6667">
                                          <p:val>
                                            <p:fltVal val="0.27369"/>
                                          </p:val>
                                        </p:tav>
                                        <p:tav tm="7000">
                                          <p:val>
                                            <p:fltVal val="0.27369"/>
                                          </p:val>
                                        </p:tav>
                                        <p:tav tm="7333">
                                          <p:val>
                                            <p:fltVal val="0.27369"/>
                                          </p:val>
                                        </p:tav>
                                        <p:tav tm="7667">
                                          <p:val>
                                            <p:fltVal val="0.27369"/>
                                          </p:val>
                                        </p:tav>
                                        <p:tav tm="8000">
                                          <p:val>
                                            <p:fltVal val="0.27369"/>
                                          </p:val>
                                        </p:tav>
                                        <p:tav tm="8333">
                                          <p:val>
                                            <p:fltVal val="0.27369"/>
                                          </p:val>
                                        </p:tav>
                                        <p:tav tm="8667">
                                          <p:val>
                                            <p:fltVal val="0.27369"/>
                                          </p:val>
                                        </p:tav>
                                        <p:tav tm="9000">
                                          <p:val>
                                            <p:fltVal val="0.27369"/>
                                          </p:val>
                                        </p:tav>
                                        <p:tav tm="9333">
                                          <p:val>
                                            <p:fltVal val="0.27369"/>
                                          </p:val>
                                        </p:tav>
                                        <p:tav tm="9667">
                                          <p:val>
                                            <p:fltVal val="0.27369"/>
                                          </p:val>
                                        </p:tav>
                                        <p:tav tm="10000">
                                          <p:val>
                                            <p:fltVal val="0.27369"/>
                                          </p:val>
                                        </p:tav>
                                        <p:tav tm="10333">
                                          <p:val>
                                            <p:fltVal val="0.27377"/>
                                          </p:val>
                                        </p:tav>
                                        <p:tav tm="10667">
                                          <p:val>
                                            <p:fltVal val="0.27398"/>
                                          </p:val>
                                        </p:tav>
                                        <p:tav tm="11000">
                                          <p:val>
                                            <p:fltVal val="0.27431"/>
                                          </p:val>
                                        </p:tav>
                                        <p:tav tm="11333">
                                          <p:val>
                                            <p:fltVal val="0.27475"/>
                                          </p:val>
                                        </p:tav>
                                        <p:tav tm="11667">
                                          <p:val>
                                            <p:fltVal val="0.27529"/>
                                          </p:val>
                                        </p:tav>
                                        <p:tav tm="12000">
                                          <p:val>
                                            <p:fltVal val="0.27591"/>
                                          </p:val>
                                        </p:tav>
                                        <p:tav tm="12333">
                                          <p:val>
                                            <p:fltVal val="0.27661"/>
                                          </p:val>
                                        </p:tav>
                                        <p:tav tm="12667">
                                          <p:val>
                                            <p:fltVal val="0.27737"/>
                                          </p:val>
                                        </p:tav>
                                        <p:tav tm="13000">
                                          <p:val>
                                            <p:fltVal val="0.27819"/>
                                          </p:val>
                                        </p:tav>
                                        <p:tav tm="13333">
                                          <p:val>
                                            <p:fltVal val="0.27906"/>
                                          </p:val>
                                        </p:tav>
                                        <p:tav tm="13667">
                                          <p:val>
                                            <p:fltVal val="0.27998"/>
                                          </p:val>
                                        </p:tav>
                                        <p:tav tm="14000">
                                          <p:val>
                                            <p:fltVal val="0.28092"/>
                                          </p:val>
                                        </p:tav>
                                        <p:tav tm="14333">
                                          <p:val>
                                            <p:fltVal val="0.2819"/>
                                          </p:val>
                                        </p:tav>
                                        <p:tav tm="14667">
                                          <p:val>
                                            <p:fltVal val="0.2829"/>
                                          </p:val>
                                        </p:tav>
                                        <p:tav tm="15000">
                                          <p:val>
                                            <p:fltVal val="0.28392"/>
                                          </p:val>
                                        </p:tav>
                                        <p:tav tm="15333">
                                          <p:val>
                                            <p:fltVal val="0.28495"/>
                                          </p:val>
                                        </p:tav>
                                        <p:tav tm="15667">
                                          <p:val>
                                            <p:fltVal val="0.28599"/>
                                          </p:val>
                                        </p:tav>
                                        <p:tav tm="16000">
                                          <p:val>
                                            <p:fltVal val="0.28704"/>
                                          </p:val>
                                        </p:tav>
                                        <p:tav tm="16333">
                                          <p:val>
                                            <p:fltVal val="0.28808"/>
                                          </p:val>
                                        </p:tav>
                                        <p:tav tm="16667">
                                          <p:val>
                                            <p:fltVal val="0.28913"/>
                                          </p:val>
                                        </p:tav>
                                        <p:tav tm="17000">
                                          <p:val>
                                            <p:fltVal val="0.29018"/>
                                          </p:val>
                                        </p:tav>
                                        <p:tav tm="17333">
                                          <p:val>
                                            <p:fltVal val="0.29122"/>
                                          </p:val>
                                        </p:tav>
                                        <p:tav tm="17667">
                                          <p:val>
                                            <p:fltVal val="0.29225"/>
                                          </p:val>
                                        </p:tav>
                                        <p:tav tm="18000">
                                          <p:val>
                                            <p:fltVal val="0.29327"/>
                                          </p:val>
                                        </p:tav>
                                        <p:tav tm="18333">
                                          <p:val>
                                            <p:fltVal val="0.29428"/>
                                          </p:val>
                                        </p:tav>
                                        <p:tav tm="18667">
                                          <p:val>
                                            <p:fltVal val="0.29527"/>
                                          </p:val>
                                        </p:tav>
                                        <p:tav tm="19000">
                                          <p:val>
                                            <p:fltVal val="0.29625"/>
                                          </p:val>
                                        </p:tav>
                                        <p:tav tm="19333">
                                          <p:val>
                                            <p:fltVal val="0.29722"/>
                                          </p:val>
                                        </p:tav>
                                        <p:tav tm="19667">
                                          <p:val>
                                            <p:fltVal val="0.29816"/>
                                          </p:val>
                                        </p:tav>
                                        <p:tav tm="20000">
                                          <p:val>
                                            <p:fltVal val="0.2991"/>
                                          </p:val>
                                        </p:tav>
                                        <p:tav tm="20333">
                                          <p:val>
                                            <p:fltVal val="0.30001"/>
                                          </p:val>
                                        </p:tav>
                                        <p:tav tm="20667">
                                          <p:val>
                                            <p:fltVal val="0.3009"/>
                                          </p:val>
                                        </p:tav>
                                        <p:tav tm="21000">
                                          <p:val>
                                            <p:fltVal val="0.30177"/>
                                          </p:val>
                                        </p:tav>
                                        <p:tav tm="21333">
                                          <p:val>
                                            <p:fltVal val="0.30263"/>
                                          </p:val>
                                        </p:tav>
                                        <p:tav tm="21667">
                                          <p:val>
                                            <p:fltVal val="0.30346"/>
                                          </p:val>
                                        </p:tav>
                                        <p:tav tm="22000">
                                          <p:val>
                                            <p:fltVal val="0.30427"/>
                                          </p:val>
                                        </p:tav>
                                        <p:tav tm="22333">
                                          <p:val>
                                            <p:fltVal val="0.30507"/>
                                          </p:val>
                                        </p:tav>
                                        <p:tav tm="22667">
                                          <p:val>
                                            <p:fltVal val="0.30584"/>
                                          </p:val>
                                        </p:tav>
                                        <p:tav tm="23000">
                                          <p:val>
                                            <p:fltVal val="0.30659"/>
                                          </p:val>
                                        </p:tav>
                                        <p:tav tm="23333">
                                          <p:val>
                                            <p:fltVal val="0.30732"/>
                                          </p:val>
                                        </p:tav>
                                        <p:tav tm="23667">
                                          <p:val>
                                            <p:fltVal val="0.30803"/>
                                          </p:val>
                                        </p:tav>
                                        <p:tav tm="24000">
                                          <p:val>
                                            <p:fltVal val="0.30872"/>
                                          </p:val>
                                        </p:tav>
                                        <p:tav tm="24333">
                                          <p:val>
                                            <p:fltVal val="0.30939"/>
                                          </p:val>
                                        </p:tav>
                                        <p:tav tm="24667">
                                          <p:val>
                                            <p:fltVal val="0.31004"/>
                                          </p:val>
                                        </p:tav>
                                        <p:tav tm="25000">
                                          <p:val>
                                            <p:fltVal val="0.31067"/>
                                          </p:val>
                                        </p:tav>
                                        <p:tav tm="25333">
                                          <p:val>
                                            <p:fltVal val="0.31128"/>
                                          </p:val>
                                        </p:tav>
                                        <p:tav tm="25667">
                                          <p:val>
                                            <p:fltVal val="0.31187"/>
                                          </p:val>
                                        </p:tav>
                                        <p:tav tm="26000">
                                          <p:val>
                                            <p:fltVal val="0.31245"/>
                                          </p:val>
                                        </p:tav>
                                        <p:tav tm="26333">
                                          <p:val>
                                            <p:fltVal val="0.313"/>
                                          </p:val>
                                        </p:tav>
                                        <p:tav tm="26667">
                                          <p:val>
                                            <p:fltVal val="0.31354"/>
                                          </p:val>
                                        </p:tav>
                                        <p:tav tm="27000">
                                          <p:val>
                                            <p:fltVal val="0.31406"/>
                                          </p:val>
                                        </p:tav>
                                        <p:tav tm="27333">
                                          <p:val>
                                            <p:fltVal val="0.31456"/>
                                          </p:val>
                                        </p:tav>
                                        <p:tav tm="27667">
                                          <p:val>
                                            <p:fltVal val="0.31505"/>
                                          </p:val>
                                        </p:tav>
                                        <p:tav tm="28000">
                                          <p:val>
                                            <p:fltVal val="0.31552"/>
                                          </p:val>
                                        </p:tav>
                                        <p:tav tm="28333">
                                          <p:val>
                                            <p:fltVal val="0.31597"/>
                                          </p:val>
                                        </p:tav>
                                        <p:tav tm="28667">
                                          <p:val>
                                            <p:fltVal val="0.31641"/>
                                          </p:val>
                                        </p:tav>
                                        <p:tav tm="29000">
                                          <p:val>
                                            <p:fltVal val="0.31683"/>
                                          </p:val>
                                        </p:tav>
                                        <p:tav tm="29333">
                                          <p:val>
                                            <p:fltVal val="0.31724"/>
                                          </p:val>
                                        </p:tav>
                                        <p:tav tm="29667">
                                          <p:val>
                                            <p:fltVal val="0.31763"/>
                                          </p:val>
                                        </p:tav>
                                        <p:tav tm="30000">
                                          <p:val>
                                            <p:fltVal val="0.31801"/>
                                          </p:val>
                                        </p:tav>
                                        <p:tav tm="30333">
                                          <p:val>
                                            <p:fltVal val="0.31838"/>
                                          </p:val>
                                        </p:tav>
                                        <p:tav tm="30667">
                                          <p:val>
                                            <p:fltVal val="0.31873"/>
                                          </p:val>
                                        </p:tav>
                                        <p:tav tm="31000">
                                          <p:val>
                                            <p:fltVal val="0.31907"/>
                                          </p:val>
                                        </p:tav>
                                        <p:tav tm="31333">
                                          <p:val>
                                            <p:fltVal val="0.31939"/>
                                          </p:val>
                                        </p:tav>
                                        <p:tav tm="31667">
                                          <p:val>
                                            <p:fltVal val="0.31971"/>
                                          </p:val>
                                        </p:tav>
                                        <p:tav tm="32000">
                                          <p:val>
                                            <p:fltVal val="0.32001"/>
                                          </p:val>
                                        </p:tav>
                                        <p:tav tm="32333">
                                          <p:val>
                                            <p:fltVal val="0.3203"/>
                                          </p:val>
                                        </p:tav>
                                        <p:tav tm="32667">
                                          <p:val>
                                            <p:fltVal val="0.32058"/>
                                          </p:val>
                                        </p:tav>
                                        <p:tav tm="33000">
                                          <p:val>
                                            <p:fltVal val="0.32085"/>
                                          </p:val>
                                        </p:tav>
                                        <p:tav tm="33333">
                                          <p:val>
                                            <p:fltVal val="0.32111"/>
                                          </p:val>
                                        </p:tav>
                                        <p:tav tm="33667">
                                          <p:val>
                                            <p:fltVal val="0.32136"/>
                                          </p:val>
                                        </p:tav>
                                        <p:tav tm="34000">
                                          <p:val>
                                            <p:fltVal val="0.3216"/>
                                          </p:val>
                                        </p:tav>
                                        <p:tav tm="34333">
                                          <p:val>
                                            <p:fltVal val="0.32183"/>
                                          </p:val>
                                        </p:tav>
                                        <p:tav tm="34667">
                                          <p:val>
                                            <p:fltVal val="0.32205"/>
                                          </p:val>
                                        </p:tav>
                                        <p:tav tm="35000">
                                          <p:val>
                                            <p:fltVal val="0.32227"/>
                                          </p:val>
                                        </p:tav>
                                        <p:tav tm="35333">
                                          <p:val>
                                            <p:fltVal val="0.32247"/>
                                          </p:val>
                                        </p:tav>
                                        <p:tav tm="35667">
                                          <p:val>
                                            <p:fltVal val="0.32267"/>
                                          </p:val>
                                        </p:tav>
                                        <p:tav tm="36000">
                                          <p:val>
                                            <p:fltVal val="0.32286"/>
                                          </p:val>
                                        </p:tav>
                                        <p:tav tm="36333">
                                          <p:val>
                                            <p:fltVal val="0.32304"/>
                                          </p:val>
                                        </p:tav>
                                        <p:tav tm="36667">
                                          <p:val>
                                            <p:fltVal val="0.32321"/>
                                          </p:val>
                                        </p:tav>
                                        <p:tav tm="37000">
                                          <p:val>
                                            <p:fltVal val="0.32338"/>
                                          </p:val>
                                        </p:tav>
                                        <p:tav tm="37333">
                                          <p:val>
                                            <p:fltVal val="0.32354"/>
                                          </p:val>
                                        </p:tav>
                                        <p:tav tm="37667">
                                          <p:val>
                                            <p:fltVal val="0.3237"/>
                                          </p:val>
                                        </p:tav>
                                        <p:tav tm="38000">
                                          <p:val>
                                            <p:fltVal val="0.32384"/>
                                          </p:val>
                                        </p:tav>
                                        <p:tav tm="38333">
                                          <p:val>
                                            <p:fltVal val="0.32399"/>
                                          </p:val>
                                        </p:tav>
                                        <p:tav tm="38667">
                                          <p:val>
                                            <p:fltVal val="0.32412"/>
                                          </p:val>
                                        </p:tav>
                                        <p:tav tm="39000">
                                          <p:val>
                                            <p:fltVal val="0.32425"/>
                                          </p:val>
                                        </p:tav>
                                        <p:tav tm="39333">
                                          <p:val>
                                            <p:fltVal val="0.32438"/>
                                          </p:val>
                                        </p:tav>
                                        <p:tav tm="39667">
                                          <p:val>
                                            <p:fltVal val="0.3245"/>
                                          </p:val>
                                        </p:tav>
                                        <p:tav tm="40000">
                                          <p:val>
                                            <p:fltVal val="0.32461"/>
                                          </p:val>
                                        </p:tav>
                                        <p:tav tm="40333">
                                          <p:val>
                                            <p:fltVal val="0.32472"/>
                                          </p:val>
                                        </p:tav>
                                        <p:tav tm="40667">
                                          <p:val>
                                            <p:fltVal val="0.32483"/>
                                          </p:val>
                                        </p:tav>
                                        <p:tav tm="41000">
                                          <p:val>
                                            <p:fltVal val="0.32493"/>
                                          </p:val>
                                        </p:tav>
                                        <p:tav tm="41333">
                                          <p:val>
                                            <p:fltVal val="0.32503"/>
                                          </p:val>
                                        </p:tav>
                                        <p:tav tm="41667">
                                          <p:val>
                                            <p:fltVal val="0.32512"/>
                                          </p:val>
                                        </p:tav>
                                        <p:tav tm="42000">
                                          <p:val>
                                            <p:fltVal val="0.32521"/>
                                          </p:val>
                                        </p:tav>
                                        <p:tav tm="42333">
                                          <p:val>
                                            <p:fltVal val="0.32529"/>
                                          </p:val>
                                        </p:tav>
                                        <p:tav tm="42667">
                                          <p:val>
                                            <p:fltVal val="0.32538"/>
                                          </p:val>
                                        </p:tav>
                                        <p:tav tm="43000">
                                          <p:val>
                                            <p:fltVal val="0.32545"/>
                                          </p:val>
                                        </p:tav>
                                        <p:tav tm="43333">
                                          <p:val>
                                            <p:fltVal val="0.32553"/>
                                          </p:val>
                                        </p:tav>
                                        <p:tav tm="43667">
                                          <p:val>
                                            <p:fltVal val="0.3256"/>
                                          </p:val>
                                        </p:tav>
                                        <p:tav tm="44000">
                                          <p:val>
                                            <p:fltVal val="0.32567"/>
                                          </p:val>
                                        </p:tav>
                                        <p:tav tm="44333">
                                          <p:val>
                                            <p:fltVal val="0.32574"/>
                                          </p:val>
                                        </p:tav>
                                        <p:tav tm="44667">
                                          <p:val>
                                            <p:fltVal val="0.3258"/>
                                          </p:val>
                                        </p:tav>
                                        <p:tav tm="45000">
                                          <p:val>
                                            <p:fltVal val="0.32586"/>
                                          </p:val>
                                        </p:tav>
                                        <p:tav tm="45333">
                                          <p:val>
                                            <p:fltVal val="0.32592"/>
                                          </p:val>
                                        </p:tav>
                                        <p:tav tm="45667">
                                          <p:val>
                                            <p:fltVal val="0.32597"/>
                                          </p:val>
                                        </p:tav>
                                        <p:tav tm="46000">
                                          <p:val>
                                            <p:fltVal val="0.32603"/>
                                          </p:val>
                                        </p:tav>
                                        <p:tav tm="46333">
                                          <p:val>
                                            <p:fltVal val="0.32608"/>
                                          </p:val>
                                        </p:tav>
                                        <p:tav tm="46667">
                                          <p:val>
                                            <p:fltVal val="0.32612"/>
                                          </p:val>
                                        </p:tav>
                                        <p:tav tm="47000">
                                          <p:val>
                                            <p:fltVal val="0.32617"/>
                                          </p:val>
                                        </p:tav>
                                        <p:tav tm="47333">
                                          <p:val>
                                            <p:fltVal val="0.32622"/>
                                          </p:val>
                                        </p:tav>
                                        <p:tav tm="47667">
                                          <p:val>
                                            <p:fltVal val="0.32626"/>
                                          </p:val>
                                        </p:tav>
                                        <p:tav tm="48000">
                                          <p:val>
                                            <p:fltVal val="0.3263"/>
                                          </p:val>
                                        </p:tav>
                                        <p:tav tm="48333">
                                          <p:val>
                                            <p:fltVal val="0.32634"/>
                                          </p:val>
                                        </p:tav>
                                        <p:tav tm="48667">
                                          <p:val>
                                            <p:fltVal val="0.32637"/>
                                          </p:val>
                                        </p:tav>
                                        <p:tav tm="49000">
                                          <p:val>
                                            <p:fltVal val="0.32641"/>
                                          </p:val>
                                        </p:tav>
                                        <p:tav tm="49333">
                                          <p:val>
                                            <p:fltVal val="0.32644"/>
                                          </p:val>
                                        </p:tav>
                                        <p:tav tm="49667">
                                          <p:val>
                                            <p:fltVal val="0.32648"/>
                                          </p:val>
                                        </p:tav>
                                        <p:tav tm="50000">
                                          <p:val>
                                            <p:fltVal val="0.32651"/>
                                          </p:val>
                                        </p:tav>
                                        <p:tav tm="50333">
                                          <p:val>
                                            <p:fltVal val="0.32654"/>
                                          </p:val>
                                        </p:tav>
                                        <p:tav tm="50667">
                                          <p:val>
                                            <p:fltVal val="0.32656"/>
                                          </p:val>
                                        </p:tav>
                                        <p:tav tm="51000">
                                          <p:val>
                                            <p:fltVal val="0.32659"/>
                                          </p:val>
                                        </p:tav>
                                        <p:tav tm="51333">
                                          <p:val>
                                            <p:fltVal val="0.32662"/>
                                          </p:val>
                                        </p:tav>
                                        <p:tav tm="51667">
                                          <p:val>
                                            <p:fltVal val="0.32664"/>
                                          </p:val>
                                        </p:tav>
                                        <p:tav tm="52000">
                                          <p:val>
                                            <p:fltVal val="0.32667"/>
                                          </p:val>
                                        </p:tav>
                                        <p:tav tm="52333">
                                          <p:val>
                                            <p:fltVal val="0.32669"/>
                                          </p:val>
                                        </p:tav>
                                        <p:tav tm="52667">
                                          <p:val>
                                            <p:fltVal val="0.32671"/>
                                          </p:val>
                                        </p:tav>
                                        <p:tav tm="53000">
                                          <p:val>
                                            <p:fltVal val="0.32673"/>
                                          </p:val>
                                        </p:tav>
                                        <p:tav tm="53333">
                                          <p:val>
                                            <p:fltVal val="0.32675"/>
                                          </p:val>
                                        </p:tav>
                                        <p:tav tm="53667">
                                          <p:val>
                                            <p:fltVal val="0.32677"/>
                                          </p:val>
                                        </p:tav>
                                        <p:tav tm="54000">
                                          <p:val>
                                            <p:fltVal val="0.32679"/>
                                          </p:val>
                                        </p:tav>
                                        <p:tav tm="54333">
                                          <p:val>
                                            <p:fltVal val="0.3268"/>
                                          </p:val>
                                        </p:tav>
                                        <p:tav tm="54667">
                                          <p:val>
                                            <p:fltVal val="0.32682"/>
                                          </p:val>
                                        </p:tav>
                                        <p:tav tm="55000">
                                          <p:val>
                                            <p:fltVal val="0.32684"/>
                                          </p:val>
                                        </p:tav>
                                        <p:tav tm="55333">
                                          <p:val>
                                            <p:fltVal val="0.32685"/>
                                          </p:val>
                                        </p:tav>
                                        <p:tav tm="55667">
                                          <p:val>
                                            <p:fltVal val="0.32687"/>
                                          </p:val>
                                        </p:tav>
                                        <p:tav tm="56000">
                                          <p:val>
                                            <p:fltVal val="0.32688"/>
                                          </p:val>
                                        </p:tav>
                                        <p:tav tm="56333">
                                          <p:val>
                                            <p:fltVal val="0.32689"/>
                                          </p:val>
                                        </p:tav>
                                        <p:tav tm="56667">
                                          <p:val>
                                            <p:fltVal val="0.32691"/>
                                          </p:val>
                                        </p:tav>
                                        <p:tav tm="57000">
                                          <p:val>
                                            <p:fltVal val="0.32692"/>
                                          </p:val>
                                        </p:tav>
                                        <p:tav tm="57333">
                                          <p:val>
                                            <p:fltVal val="0.32693"/>
                                          </p:val>
                                        </p:tav>
                                        <p:tav tm="57667">
                                          <p:val>
                                            <p:fltVal val="0.32694"/>
                                          </p:val>
                                        </p:tav>
                                        <p:tav tm="58000">
                                          <p:val>
                                            <p:fltVal val="0.32695"/>
                                          </p:val>
                                        </p:tav>
                                        <p:tav tm="58333">
                                          <p:val>
                                            <p:fltVal val="0.32696"/>
                                          </p:val>
                                        </p:tav>
                                        <p:tav tm="58667">
                                          <p:val>
                                            <p:fltVal val="0.32697"/>
                                          </p:val>
                                        </p:tav>
                                        <p:tav tm="59000">
                                          <p:val>
                                            <p:fltVal val="0.32698"/>
                                          </p:val>
                                        </p:tav>
                                        <p:tav tm="59333">
                                          <p:val>
                                            <p:fltVal val="0.32699"/>
                                          </p:val>
                                        </p:tav>
                                        <p:tav tm="59667">
                                          <p:val>
                                            <p:fltVal val="0.327"/>
                                          </p:val>
                                        </p:tav>
                                        <p:tav tm="60000">
                                          <p:val>
                                            <p:fltVal val="0.327"/>
                                          </p:val>
                                        </p:tav>
                                        <p:tav tm="60333">
                                          <p:val>
                                            <p:fltVal val="0.32701"/>
                                          </p:val>
                                        </p:tav>
                                        <p:tav tm="60667">
                                          <p:val>
                                            <p:fltVal val="0.32702"/>
                                          </p:val>
                                        </p:tav>
                                        <p:tav tm="61000">
                                          <p:val>
                                            <p:fltVal val="0.32702"/>
                                          </p:val>
                                        </p:tav>
                                        <p:tav tm="61333">
                                          <p:val>
                                            <p:fltVal val="0.32703"/>
                                          </p:val>
                                        </p:tav>
                                        <p:tav tm="61667">
                                          <p:val>
                                            <p:fltVal val="0.32704"/>
                                          </p:val>
                                        </p:tav>
                                        <p:tav tm="62000">
                                          <p:val>
                                            <p:fltVal val="0.32704"/>
                                          </p:val>
                                        </p:tav>
                                        <p:tav tm="62333">
                                          <p:val>
                                            <p:fltVal val="0.32705"/>
                                          </p:val>
                                        </p:tav>
                                        <p:tav tm="62667">
                                          <p:val>
                                            <p:fltVal val="0.32705"/>
                                          </p:val>
                                        </p:tav>
                                        <p:tav tm="63000">
                                          <p:val>
                                            <p:fltVal val="0.32706"/>
                                          </p:val>
                                        </p:tav>
                                        <p:tav tm="63333">
                                          <p:val>
                                            <p:fltVal val="0.32706"/>
                                          </p:val>
                                        </p:tav>
                                        <p:tav tm="63667">
                                          <p:val>
                                            <p:fltVal val="0.32707"/>
                                          </p:val>
                                        </p:tav>
                                        <p:tav tm="64000">
                                          <p:val>
                                            <p:fltVal val="0.32707"/>
                                          </p:val>
                                        </p:tav>
                                        <p:tav tm="64333">
                                          <p:val>
                                            <p:fltVal val="0.32708"/>
                                          </p:val>
                                        </p:tav>
                                        <p:tav tm="64667">
                                          <p:val>
                                            <p:fltVal val="0.32708"/>
                                          </p:val>
                                        </p:tav>
                                        <p:tav tm="65000">
                                          <p:val>
                                            <p:fltVal val="0.32709"/>
                                          </p:val>
                                        </p:tav>
                                        <p:tav tm="65333">
                                          <p:val>
                                            <p:fltVal val="0.32709"/>
                                          </p:val>
                                        </p:tav>
                                        <p:tav tm="65667">
                                          <p:val>
                                            <p:fltVal val="0.32709"/>
                                          </p:val>
                                        </p:tav>
                                        <p:tav tm="66000">
                                          <p:val>
                                            <p:fltVal val="0.3271"/>
                                          </p:val>
                                        </p:tav>
                                        <p:tav tm="66333">
                                          <p:val>
                                            <p:fltVal val="0.3271"/>
                                          </p:val>
                                        </p:tav>
                                        <p:tav tm="66667">
                                          <p:val>
                                            <p:fltVal val="0.3271"/>
                                          </p:val>
                                        </p:tav>
                                        <p:tav tm="67000">
                                          <p:val>
                                            <p:fltVal val="0.32711"/>
                                          </p:val>
                                        </p:tav>
                                        <p:tav tm="67333">
                                          <p:val>
                                            <p:fltVal val="0.32711"/>
                                          </p:val>
                                        </p:tav>
                                        <p:tav tm="67667">
                                          <p:val>
                                            <p:fltVal val="0.32711"/>
                                          </p:val>
                                        </p:tav>
                                        <p:tav tm="68000">
                                          <p:val>
                                            <p:fltVal val="0.32711"/>
                                          </p:val>
                                        </p:tav>
                                        <p:tav tm="68333">
                                          <p:val>
                                            <p:fltVal val="0.32712"/>
                                          </p:val>
                                        </p:tav>
                                        <p:tav tm="68667">
                                          <p:val>
                                            <p:fltVal val="0.32712"/>
                                          </p:val>
                                        </p:tav>
                                        <p:tav tm="69000">
                                          <p:val>
                                            <p:fltVal val="0.32712"/>
                                          </p:val>
                                        </p:tav>
                                        <p:tav tm="69333">
                                          <p:val>
                                            <p:fltVal val="0.32712"/>
                                          </p:val>
                                        </p:tav>
                                        <p:tav tm="69667">
                                          <p:val>
                                            <p:fltVal val="0.32712"/>
                                          </p:val>
                                        </p:tav>
                                        <p:tav tm="70000">
                                          <p:val>
                                            <p:fltVal val="0.32713"/>
                                          </p:val>
                                        </p:tav>
                                        <p:tav tm="70333">
                                          <p:val>
                                            <p:fltVal val="0.32713"/>
                                          </p:val>
                                        </p:tav>
                                        <p:tav tm="70667">
                                          <p:val>
                                            <p:fltVal val="0.32713"/>
                                          </p:val>
                                        </p:tav>
                                        <p:tav tm="71000">
                                          <p:val>
                                            <p:fltVal val="0.32713"/>
                                          </p:val>
                                        </p:tav>
                                        <p:tav tm="71333">
                                          <p:val>
                                            <p:fltVal val="0.32713"/>
                                          </p:val>
                                        </p:tav>
                                        <p:tav tm="71667">
                                          <p:val>
                                            <p:fltVal val="0.32713"/>
                                          </p:val>
                                        </p:tav>
                                        <p:tav tm="72000">
                                          <p:val>
                                            <p:fltVal val="0.32714"/>
                                          </p:val>
                                        </p:tav>
                                        <p:tav tm="72333">
                                          <p:val>
                                            <p:fltVal val="0.32714"/>
                                          </p:val>
                                        </p:tav>
                                        <p:tav tm="72667">
                                          <p:val>
                                            <p:fltVal val="0.32714"/>
                                          </p:val>
                                        </p:tav>
                                        <p:tav tm="73000">
                                          <p:val>
                                            <p:fltVal val="0.32714"/>
                                          </p:val>
                                        </p:tav>
                                        <p:tav tm="73333">
                                          <p:val>
                                            <p:fltVal val="0.32714"/>
                                          </p:val>
                                        </p:tav>
                                        <p:tav tm="73667">
                                          <p:val>
                                            <p:fltVal val="0.32714"/>
                                          </p:val>
                                        </p:tav>
                                        <p:tav tm="74000">
                                          <p:val>
                                            <p:fltVal val="0.32714"/>
                                          </p:val>
                                        </p:tav>
                                        <p:tav tm="74333">
                                          <p:val>
                                            <p:fltVal val="0.32714"/>
                                          </p:val>
                                        </p:tav>
                                        <p:tav tm="74667">
                                          <p:val>
                                            <p:fltVal val="0.32714"/>
                                          </p:val>
                                        </p:tav>
                                        <p:tav tm="75000">
                                          <p:val>
                                            <p:fltVal val="0.32715"/>
                                          </p:val>
                                        </p:tav>
                                        <p:tav tm="75333">
                                          <p:val>
                                            <p:fltVal val="0.32715"/>
                                          </p:val>
                                        </p:tav>
                                        <p:tav tm="75667">
                                          <p:val>
                                            <p:fltVal val="0.32715"/>
                                          </p:val>
                                        </p:tav>
                                        <p:tav tm="76000">
                                          <p:val>
                                            <p:fltVal val="0.32715"/>
                                          </p:val>
                                        </p:tav>
                                        <p:tav tm="76333">
                                          <p:val>
                                            <p:fltVal val="0.32715"/>
                                          </p:val>
                                        </p:tav>
                                        <p:tav tm="76667">
                                          <p:val>
                                            <p:fltVal val="0.32715"/>
                                          </p:val>
                                        </p:tav>
                                        <p:tav tm="77000">
                                          <p:val>
                                            <p:fltVal val="0.32715"/>
                                          </p:val>
                                        </p:tav>
                                        <p:tav tm="77333">
                                          <p:val>
                                            <p:fltVal val="0.32715"/>
                                          </p:val>
                                        </p:tav>
                                        <p:tav tm="77667">
                                          <p:val>
                                            <p:fltVal val="0.32715"/>
                                          </p:val>
                                        </p:tav>
                                        <p:tav tm="78000">
                                          <p:val>
                                            <p:fltVal val="0.32715"/>
                                          </p:val>
                                        </p:tav>
                                        <p:tav tm="78333">
                                          <p:val>
                                            <p:fltVal val="0.32715"/>
                                          </p:val>
                                        </p:tav>
                                        <p:tav tm="78667">
                                          <p:val>
                                            <p:fltVal val="0.32715"/>
                                          </p:val>
                                        </p:tav>
                                        <p:tav tm="79000">
                                          <p:val>
                                            <p:fltVal val="0.32715"/>
                                          </p:val>
                                        </p:tav>
                                        <p:tav tm="79333">
                                          <p:val>
                                            <p:fltVal val="0.32715"/>
                                          </p:val>
                                        </p:tav>
                                        <p:tav tm="79667">
                                          <p:val>
                                            <p:fltVal val="0.32715"/>
                                          </p:val>
                                        </p:tav>
                                        <p:tav tm="80000">
                                          <p:val>
                                            <p:fltVal val="0.32716"/>
                                          </p:val>
                                        </p:tav>
                                        <p:tav tm="80333">
                                          <p:val>
                                            <p:fltVal val="0.32716"/>
                                          </p:val>
                                        </p:tav>
                                        <p:tav tm="80667">
                                          <p:val>
                                            <p:fltVal val="0.32716"/>
                                          </p:val>
                                        </p:tav>
                                        <p:tav tm="81000">
                                          <p:val>
                                            <p:fltVal val="0.32716"/>
                                          </p:val>
                                        </p:tav>
                                        <p:tav tm="81333">
                                          <p:val>
                                            <p:fltVal val="0.32716"/>
                                          </p:val>
                                        </p:tav>
                                        <p:tav tm="81667">
                                          <p:val>
                                            <p:fltVal val="0.32716"/>
                                          </p:val>
                                        </p:tav>
                                        <p:tav tm="82000">
                                          <p:val>
                                            <p:fltVal val="0.32716"/>
                                          </p:val>
                                        </p:tav>
                                        <p:tav tm="82333">
                                          <p:val>
                                            <p:fltVal val="0.32716"/>
                                          </p:val>
                                        </p:tav>
                                        <p:tav tm="82667">
                                          <p:val>
                                            <p:fltVal val="0.32716"/>
                                          </p:val>
                                        </p:tav>
                                        <p:tav tm="83000">
                                          <p:val>
                                            <p:fltVal val="0.32716"/>
                                          </p:val>
                                        </p:tav>
                                        <p:tav tm="83333">
                                          <p:val>
                                            <p:fltVal val="0.32716"/>
                                          </p:val>
                                        </p:tav>
                                        <p:tav tm="83667">
                                          <p:val>
                                            <p:fltVal val="0.32716"/>
                                          </p:val>
                                        </p:tav>
                                        <p:tav tm="84000">
                                          <p:val>
                                            <p:fltVal val="0.32716"/>
                                          </p:val>
                                        </p:tav>
                                        <p:tav tm="84333">
                                          <p:val>
                                            <p:fltVal val="0.32716"/>
                                          </p:val>
                                        </p:tav>
                                        <p:tav tm="84667">
                                          <p:val>
                                            <p:fltVal val="0.32716"/>
                                          </p:val>
                                        </p:tav>
                                        <p:tav tm="85000">
                                          <p:val>
                                            <p:fltVal val="0.32716"/>
                                          </p:val>
                                        </p:tav>
                                        <p:tav tm="85333">
                                          <p:val>
                                            <p:fltVal val="0.32716"/>
                                          </p:val>
                                        </p:tav>
                                        <p:tav tm="85667">
                                          <p:val>
                                            <p:fltVal val="0.32716"/>
                                          </p:val>
                                        </p:tav>
                                        <p:tav tm="86000">
                                          <p:val>
                                            <p:fltVal val="0.32716"/>
                                          </p:val>
                                        </p:tav>
                                        <p:tav tm="86333">
                                          <p:val>
                                            <p:fltVal val="0.32716"/>
                                          </p:val>
                                        </p:tav>
                                        <p:tav tm="86667">
                                          <p:val>
                                            <p:fltVal val="0.32716"/>
                                          </p:val>
                                        </p:tav>
                                        <p:tav tm="87000">
                                          <p:val>
                                            <p:fltVal val="0.32716"/>
                                          </p:val>
                                        </p:tav>
                                        <p:tav tm="87333">
                                          <p:val>
                                            <p:fltVal val="0.32716"/>
                                          </p:val>
                                        </p:tav>
                                        <p:tav tm="87667">
                                          <p:val>
                                            <p:fltVal val="0.32716"/>
                                          </p:val>
                                        </p:tav>
                                        <p:tav tm="88000">
                                          <p:val>
                                            <p:fltVal val="0.32716"/>
                                          </p:val>
                                        </p:tav>
                                        <p:tav tm="88333">
                                          <p:val>
                                            <p:fltVal val="0.32716"/>
                                          </p:val>
                                        </p:tav>
                                        <p:tav tm="88667">
                                          <p:val>
                                            <p:fltVal val="0.32716"/>
                                          </p:val>
                                        </p:tav>
                                        <p:tav tm="89000">
                                          <p:val>
                                            <p:fltVal val="0.32716"/>
                                          </p:val>
                                        </p:tav>
                                        <p:tav tm="89333">
                                          <p:val>
                                            <p:fltVal val="0.32716"/>
                                          </p:val>
                                        </p:tav>
                                        <p:tav tm="89667">
                                          <p:val>
                                            <p:fltVal val="0.32716"/>
                                          </p:val>
                                        </p:tav>
                                        <p:tav tm="90000">
                                          <p:val>
                                            <p:fltVal val="0.32716"/>
                                          </p:val>
                                        </p:tav>
                                        <p:tav tm="90333">
                                          <p:val>
                                            <p:fltVal val="0.32478"/>
                                          </p:val>
                                        </p:tav>
                                        <p:tav tm="90667">
                                          <p:val>
                                            <p:fltVal val="0.31945"/>
                                          </p:val>
                                        </p:tav>
                                        <p:tav tm="91000">
                                          <p:val>
                                            <p:fltVal val="0.31303"/>
                                          </p:val>
                                        </p:tav>
                                        <p:tav tm="91333">
                                          <p:val>
                                            <p:fltVal val="0.30658"/>
                                          </p:val>
                                        </p:tav>
                                        <p:tav tm="91667">
                                          <p:val>
                                            <p:fltVal val="0.30062"/>
                                          </p:val>
                                        </p:tav>
                                        <p:tav tm="92000">
                                          <p:val>
                                            <p:fltVal val="0.2954"/>
                                          </p:val>
                                        </p:tav>
                                        <p:tav tm="92333">
                                          <p:val>
                                            <p:fltVal val="0.29098"/>
                                          </p:val>
                                        </p:tav>
                                        <p:tav tm="92667">
                                          <p:val>
                                            <p:fltVal val="0.28731"/>
                                          </p:val>
                                        </p:tav>
                                        <p:tav tm="93000">
                                          <p:val>
                                            <p:fltVal val="0.28434"/>
                                          </p:val>
                                        </p:tav>
                                        <p:tav tm="93333">
                                          <p:val>
                                            <p:fltVal val="0.28196"/>
                                          </p:val>
                                        </p:tav>
                                        <p:tav tm="93667">
                                          <p:val>
                                            <p:fltVal val="0.28007"/>
                                          </p:val>
                                        </p:tav>
                                        <p:tav tm="94000">
                                          <p:val>
                                            <p:fltVal val="0.27859"/>
                                          </p:val>
                                        </p:tav>
                                        <p:tav tm="94333">
                                          <p:val>
                                            <p:fltVal val="0.27743"/>
                                          </p:val>
                                        </p:tav>
                                        <p:tav tm="94667">
                                          <p:val>
                                            <p:fltVal val="0.27654"/>
                                          </p:val>
                                        </p:tav>
                                        <p:tav tm="95000">
                                          <p:val>
                                            <p:fltVal val="0.27585"/>
                                          </p:val>
                                        </p:tav>
                                        <p:tav tm="95333">
                                          <p:val>
                                            <p:fltVal val="0.27533"/>
                                          </p:val>
                                        </p:tav>
                                        <p:tav tm="95667">
                                          <p:val>
                                            <p:fltVal val="0.27493"/>
                                          </p:val>
                                        </p:tav>
                                        <p:tav tm="96000">
                                          <p:val>
                                            <p:fltVal val="0.27462"/>
                                          </p:val>
                                        </p:tav>
                                        <p:tav tm="96333">
                                          <p:val>
                                            <p:fltVal val="0.27439"/>
                                          </p:val>
                                        </p:tav>
                                        <p:tav tm="96667">
                                          <p:val>
                                            <p:fltVal val="0.27421"/>
                                          </p:val>
                                        </p:tav>
                                        <p:tav tm="97000">
                                          <p:val>
                                            <p:fltVal val="0.27408"/>
                                          </p:val>
                                        </p:tav>
                                        <p:tav tm="97333">
                                          <p:val>
                                            <p:fltVal val="0.27398"/>
                                          </p:val>
                                        </p:tav>
                                        <p:tav tm="97667">
                                          <p:val>
                                            <p:fltVal val="0.27391"/>
                                          </p:val>
                                        </p:tav>
                                        <p:tav tm="98000">
                                          <p:val>
                                            <p:fltVal val="0.27385"/>
                                          </p:val>
                                        </p:tav>
                                        <p:tav tm="98333">
                                          <p:val>
                                            <p:fltVal val="0.27381"/>
                                          </p:val>
                                        </p:tav>
                                        <p:tav tm="98667">
                                          <p:val>
                                            <p:fltVal val="0.27378"/>
                                          </p:val>
                                        </p:tav>
                                        <p:tav tm="99000">
                                          <p:val>
                                            <p:fltVal val="0.27376"/>
                                          </p:val>
                                        </p:tav>
                                        <p:tav tm="99333">
                                          <p:val>
                                            <p:fltVal val="0.27374"/>
                                          </p:val>
                                        </p:tav>
                                        <p:tav tm="99667">
                                          <p:val>
                                            <p:fltVal val="0.27373"/>
                                          </p:val>
                                        </p:tav>
                                        <p:tav tm="100000">
                                          <p:val>
                                            <p:fltVal val="0.27373"/>
                                          </p:val>
                                        </p:tav>
                                      </p:tavLst>
                                    </p:anim>
                                    <p:anim calcmode="lin" valueType="num">
                                      <p:cBhvr additive="base">
                                        <p:cTn id="9" dur="10000" fill="hold">
                                          <p:stCondLst>
                                            <p:cond delay="0"/>
                                          </p:stCondLst>
                                        </p:cTn>
                                        <p:tgtEl>
                                          <p:spTgt spid="10003"/>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3715"/>
                                          </p:val>
                                        </p:tav>
                                        <p:tav tm="10333">
                                          <p:val>
                                            <p:fltVal val="0.23723"/>
                                          </p:val>
                                        </p:tav>
                                        <p:tav tm="10667">
                                          <p:val>
                                            <p:fltVal val="0.23744"/>
                                          </p:val>
                                        </p:tav>
                                        <p:tav tm="11000">
                                          <p:val>
                                            <p:fltVal val="0.23777"/>
                                          </p:val>
                                        </p:tav>
                                        <p:tav tm="11333">
                                          <p:val>
                                            <p:fltVal val="0.23821"/>
                                          </p:val>
                                        </p:tav>
                                        <p:tav tm="11667">
                                          <p:val>
                                            <p:fltVal val="0.23875"/>
                                          </p:val>
                                        </p:tav>
                                        <p:tav tm="12000">
                                          <p:val>
                                            <p:fltVal val="0.23937"/>
                                          </p:val>
                                        </p:tav>
                                        <p:tav tm="12333">
                                          <p:val>
                                            <p:fltVal val="0.24007"/>
                                          </p:val>
                                        </p:tav>
                                        <p:tav tm="12667">
                                          <p:val>
                                            <p:fltVal val="0.24083"/>
                                          </p:val>
                                        </p:tav>
                                        <p:tav tm="13000">
                                          <p:val>
                                            <p:fltVal val="0.24166"/>
                                          </p:val>
                                        </p:tav>
                                        <p:tav tm="13333">
                                          <p:val>
                                            <p:fltVal val="0.24253"/>
                                          </p:val>
                                        </p:tav>
                                        <p:tav tm="13667">
                                          <p:val>
                                            <p:fltVal val="0.24344"/>
                                          </p:val>
                                        </p:tav>
                                        <p:tav tm="14000">
                                          <p:val>
                                            <p:fltVal val="0.24438"/>
                                          </p:val>
                                        </p:tav>
                                        <p:tav tm="14333">
                                          <p:val>
                                            <p:fltVal val="0.24536"/>
                                          </p:val>
                                        </p:tav>
                                        <p:tav tm="14667">
                                          <p:val>
                                            <p:fltVal val="0.24636"/>
                                          </p:val>
                                        </p:tav>
                                        <p:tav tm="15000">
                                          <p:val>
                                            <p:fltVal val="0.24738"/>
                                          </p:val>
                                        </p:tav>
                                        <p:tav tm="15333">
                                          <p:val>
                                            <p:fltVal val="0.24841"/>
                                          </p:val>
                                        </p:tav>
                                        <p:tav tm="15667">
                                          <p:val>
                                            <p:fltVal val="0.24945"/>
                                          </p:val>
                                        </p:tav>
                                        <p:tav tm="16000">
                                          <p:val>
                                            <p:fltVal val="0.2505"/>
                                          </p:val>
                                        </p:tav>
                                        <p:tav tm="16333">
                                          <p:val>
                                            <p:fltVal val="0.25154"/>
                                          </p:val>
                                        </p:tav>
                                        <p:tav tm="16667">
                                          <p:val>
                                            <p:fltVal val="0.25259"/>
                                          </p:val>
                                        </p:tav>
                                        <p:tav tm="17000">
                                          <p:val>
                                            <p:fltVal val="0.25364"/>
                                          </p:val>
                                        </p:tav>
                                        <p:tav tm="17333">
                                          <p:val>
                                            <p:fltVal val="0.25468"/>
                                          </p:val>
                                        </p:tav>
                                        <p:tav tm="17667">
                                          <p:val>
                                            <p:fltVal val="0.25571"/>
                                          </p:val>
                                        </p:tav>
                                        <p:tav tm="18000">
                                          <p:val>
                                            <p:fltVal val="0.25673"/>
                                          </p:val>
                                        </p:tav>
                                        <p:tav tm="18333">
                                          <p:val>
                                            <p:fltVal val="0.25774"/>
                                          </p:val>
                                        </p:tav>
                                        <p:tav tm="18667">
                                          <p:val>
                                            <p:fltVal val="0.25873"/>
                                          </p:val>
                                        </p:tav>
                                        <p:tav tm="19000">
                                          <p:val>
                                            <p:fltVal val="0.25971"/>
                                          </p:val>
                                        </p:tav>
                                        <p:tav tm="19333">
                                          <p:val>
                                            <p:fltVal val="0.26068"/>
                                          </p:val>
                                        </p:tav>
                                        <p:tav tm="19667">
                                          <p:val>
                                            <p:fltVal val="0.26163"/>
                                          </p:val>
                                        </p:tav>
                                        <p:tav tm="20000">
                                          <p:val>
                                            <p:fltVal val="0.26256"/>
                                          </p:val>
                                        </p:tav>
                                        <p:tav tm="20333">
                                          <p:val>
                                            <p:fltVal val="0.26347"/>
                                          </p:val>
                                        </p:tav>
                                        <p:tav tm="20667">
                                          <p:val>
                                            <p:fltVal val="0.26436"/>
                                          </p:val>
                                        </p:tav>
                                        <p:tav tm="21000">
                                          <p:val>
                                            <p:fltVal val="0.26523"/>
                                          </p:val>
                                        </p:tav>
                                        <p:tav tm="21333">
                                          <p:val>
                                            <p:fltVal val="0.26609"/>
                                          </p:val>
                                        </p:tav>
                                        <p:tav tm="21667">
                                          <p:val>
                                            <p:fltVal val="0.26692"/>
                                          </p:val>
                                        </p:tav>
                                        <p:tav tm="22000">
                                          <p:val>
                                            <p:fltVal val="0.26773"/>
                                          </p:val>
                                        </p:tav>
                                        <p:tav tm="22333">
                                          <p:val>
                                            <p:fltVal val="0.26853"/>
                                          </p:val>
                                        </p:tav>
                                        <p:tav tm="22667">
                                          <p:val>
                                            <p:fltVal val="0.2693"/>
                                          </p:val>
                                        </p:tav>
                                        <p:tav tm="23000">
                                          <p:val>
                                            <p:fltVal val="0.27005"/>
                                          </p:val>
                                        </p:tav>
                                        <p:tav tm="23333">
                                          <p:val>
                                            <p:fltVal val="0.27078"/>
                                          </p:val>
                                        </p:tav>
                                        <p:tav tm="23667">
                                          <p:val>
                                            <p:fltVal val="0.27149"/>
                                          </p:val>
                                        </p:tav>
                                        <p:tav tm="24000">
                                          <p:val>
                                            <p:fltVal val="0.27218"/>
                                          </p:val>
                                        </p:tav>
                                        <p:tav tm="24333">
                                          <p:val>
                                            <p:fltVal val="0.27285"/>
                                          </p:val>
                                        </p:tav>
                                        <p:tav tm="24667">
                                          <p:val>
                                            <p:fltVal val="0.2735"/>
                                          </p:val>
                                        </p:tav>
                                        <p:tav tm="25000">
                                          <p:val>
                                            <p:fltVal val="0.27413"/>
                                          </p:val>
                                        </p:tav>
                                        <p:tav tm="25333">
                                          <p:val>
                                            <p:fltVal val="0.27474"/>
                                          </p:val>
                                        </p:tav>
                                        <p:tav tm="25667">
                                          <p:val>
                                            <p:fltVal val="0.27534"/>
                                          </p:val>
                                        </p:tav>
                                        <p:tav tm="26000">
                                          <p:val>
                                            <p:fltVal val="0.27591"/>
                                          </p:val>
                                        </p:tav>
                                        <p:tav tm="26333">
                                          <p:val>
                                            <p:fltVal val="0.27646"/>
                                          </p:val>
                                        </p:tav>
                                        <p:tav tm="26667">
                                          <p:val>
                                            <p:fltVal val="0.277"/>
                                          </p:val>
                                        </p:tav>
                                        <p:tav tm="27000">
                                          <p:val>
                                            <p:fltVal val="0.27752"/>
                                          </p:val>
                                        </p:tav>
                                        <p:tav tm="27333">
                                          <p:val>
                                            <p:fltVal val="0.27802"/>
                                          </p:val>
                                        </p:tav>
                                        <p:tav tm="27667">
                                          <p:val>
                                            <p:fltVal val="0.27851"/>
                                          </p:val>
                                        </p:tav>
                                        <p:tav tm="28000">
                                          <p:val>
                                            <p:fltVal val="0.27898"/>
                                          </p:val>
                                        </p:tav>
                                        <p:tav tm="28333">
                                          <p:val>
                                            <p:fltVal val="0.27943"/>
                                          </p:val>
                                        </p:tav>
                                        <p:tav tm="28667">
                                          <p:val>
                                            <p:fltVal val="0.27987"/>
                                          </p:val>
                                        </p:tav>
                                        <p:tav tm="29000">
                                          <p:val>
                                            <p:fltVal val="0.28029"/>
                                          </p:val>
                                        </p:tav>
                                        <p:tav tm="29333">
                                          <p:val>
                                            <p:fltVal val="0.2807"/>
                                          </p:val>
                                        </p:tav>
                                        <p:tav tm="29667">
                                          <p:val>
                                            <p:fltVal val="0.28109"/>
                                          </p:val>
                                        </p:tav>
                                        <p:tav tm="30000">
                                          <p:val>
                                            <p:fltVal val="0.28147"/>
                                          </p:val>
                                        </p:tav>
                                        <p:tav tm="30333">
                                          <p:val>
                                            <p:fltVal val="0.28184"/>
                                          </p:val>
                                        </p:tav>
                                        <p:tav tm="30667">
                                          <p:val>
                                            <p:fltVal val="0.28219"/>
                                          </p:val>
                                        </p:tav>
                                        <p:tav tm="31000">
                                          <p:val>
                                            <p:fltVal val="0.28253"/>
                                          </p:val>
                                        </p:tav>
                                        <p:tav tm="31333">
                                          <p:val>
                                            <p:fltVal val="0.28285"/>
                                          </p:val>
                                        </p:tav>
                                        <p:tav tm="31667">
                                          <p:val>
                                            <p:fltVal val="0.28317"/>
                                          </p:val>
                                        </p:tav>
                                        <p:tav tm="32000">
                                          <p:val>
                                            <p:fltVal val="0.28347"/>
                                          </p:val>
                                        </p:tav>
                                        <p:tav tm="32333">
                                          <p:val>
                                            <p:fltVal val="0.28376"/>
                                          </p:val>
                                        </p:tav>
                                        <p:tav tm="32667">
                                          <p:val>
                                            <p:fltVal val="0.28404"/>
                                          </p:val>
                                        </p:tav>
                                        <p:tav tm="33000">
                                          <p:val>
                                            <p:fltVal val="0.28431"/>
                                          </p:val>
                                        </p:tav>
                                        <p:tav tm="33333">
                                          <p:val>
                                            <p:fltVal val="0.28457"/>
                                          </p:val>
                                        </p:tav>
                                        <p:tav tm="33667">
                                          <p:val>
                                            <p:fltVal val="0.28482"/>
                                          </p:val>
                                        </p:tav>
                                        <p:tav tm="34000">
                                          <p:val>
                                            <p:fltVal val="0.28506"/>
                                          </p:val>
                                        </p:tav>
                                        <p:tav tm="34333">
                                          <p:val>
                                            <p:fltVal val="0.28529"/>
                                          </p:val>
                                        </p:tav>
                                        <p:tav tm="34667">
                                          <p:val>
                                            <p:fltVal val="0.28551"/>
                                          </p:val>
                                        </p:tav>
                                        <p:tav tm="35000">
                                          <p:val>
                                            <p:fltVal val="0.28573"/>
                                          </p:val>
                                        </p:tav>
                                        <p:tav tm="35333">
                                          <p:val>
                                            <p:fltVal val="0.28593"/>
                                          </p:val>
                                        </p:tav>
                                        <p:tav tm="35667">
                                          <p:val>
                                            <p:fltVal val="0.28613"/>
                                          </p:val>
                                        </p:tav>
                                        <p:tav tm="36000">
                                          <p:val>
                                            <p:fltVal val="0.28632"/>
                                          </p:val>
                                        </p:tav>
                                        <p:tav tm="36333">
                                          <p:val>
                                            <p:fltVal val="0.2865"/>
                                          </p:val>
                                        </p:tav>
                                        <p:tav tm="36667">
                                          <p:val>
                                            <p:fltVal val="0.28667"/>
                                          </p:val>
                                        </p:tav>
                                        <p:tav tm="37000">
                                          <p:val>
                                            <p:fltVal val="0.28684"/>
                                          </p:val>
                                        </p:tav>
                                        <p:tav tm="37333">
                                          <p:val>
                                            <p:fltVal val="0.287"/>
                                          </p:val>
                                        </p:tav>
                                        <p:tav tm="37667">
                                          <p:val>
                                            <p:fltVal val="0.28716"/>
                                          </p:val>
                                        </p:tav>
                                        <p:tav tm="38000">
                                          <p:val>
                                            <p:fltVal val="0.2873"/>
                                          </p:val>
                                        </p:tav>
                                        <p:tav tm="38333">
                                          <p:val>
                                            <p:fltVal val="0.28745"/>
                                          </p:val>
                                        </p:tav>
                                        <p:tav tm="38667">
                                          <p:val>
                                            <p:fltVal val="0.28758"/>
                                          </p:val>
                                        </p:tav>
                                        <p:tav tm="39000">
                                          <p:val>
                                            <p:fltVal val="0.28771"/>
                                          </p:val>
                                        </p:tav>
                                        <p:tav tm="39333">
                                          <p:val>
                                            <p:fltVal val="0.28784"/>
                                          </p:val>
                                        </p:tav>
                                        <p:tav tm="39667">
                                          <p:val>
                                            <p:fltVal val="0.28796"/>
                                          </p:val>
                                        </p:tav>
                                        <p:tav tm="40000">
                                          <p:val>
                                            <p:fltVal val="0.28807"/>
                                          </p:val>
                                        </p:tav>
                                        <p:tav tm="40333">
                                          <p:val>
                                            <p:fltVal val="0.28818"/>
                                          </p:val>
                                        </p:tav>
                                        <p:tav tm="40667">
                                          <p:val>
                                            <p:fltVal val="0.28829"/>
                                          </p:val>
                                        </p:tav>
                                        <p:tav tm="41000">
                                          <p:val>
                                            <p:fltVal val="0.28839"/>
                                          </p:val>
                                        </p:tav>
                                        <p:tav tm="41333">
                                          <p:val>
                                            <p:fltVal val="0.28849"/>
                                          </p:val>
                                        </p:tav>
                                        <p:tav tm="41667">
                                          <p:val>
                                            <p:fltVal val="0.28858"/>
                                          </p:val>
                                        </p:tav>
                                        <p:tav tm="42000">
                                          <p:val>
                                            <p:fltVal val="0.28867"/>
                                          </p:val>
                                        </p:tav>
                                        <p:tav tm="42333">
                                          <p:val>
                                            <p:fltVal val="0.28875"/>
                                          </p:val>
                                        </p:tav>
                                        <p:tav tm="42667">
                                          <p:val>
                                            <p:fltVal val="0.28884"/>
                                          </p:val>
                                        </p:tav>
                                        <p:tav tm="43000">
                                          <p:val>
                                            <p:fltVal val="0.28891"/>
                                          </p:val>
                                        </p:tav>
                                        <p:tav tm="43333">
                                          <p:val>
                                            <p:fltVal val="0.28899"/>
                                          </p:val>
                                        </p:tav>
                                        <p:tav tm="43667">
                                          <p:val>
                                            <p:fltVal val="0.28906"/>
                                          </p:val>
                                        </p:tav>
                                        <p:tav tm="44000">
                                          <p:val>
                                            <p:fltVal val="0.28913"/>
                                          </p:val>
                                        </p:tav>
                                        <p:tav tm="44333">
                                          <p:val>
                                            <p:fltVal val="0.2892"/>
                                          </p:val>
                                        </p:tav>
                                        <p:tav tm="44667">
                                          <p:val>
                                            <p:fltVal val="0.28926"/>
                                          </p:val>
                                        </p:tav>
                                        <p:tav tm="45000">
                                          <p:val>
                                            <p:fltVal val="0.28932"/>
                                          </p:val>
                                        </p:tav>
                                        <p:tav tm="45333">
                                          <p:val>
                                            <p:fltVal val="0.28938"/>
                                          </p:val>
                                        </p:tav>
                                        <p:tav tm="45667">
                                          <p:val>
                                            <p:fltVal val="0.28943"/>
                                          </p:val>
                                        </p:tav>
                                        <p:tav tm="46000">
                                          <p:val>
                                            <p:fltVal val="0.28949"/>
                                          </p:val>
                                        </p:tav>
                                        <p:tav tm="46333">
                                          <p:val>
                                            <p:fltVal val="0.28954"/>
                                          </p:val>
                                        </p:tav>
                                        <p:tav tm="46667">
                                          <p:val>
                                            <p:fltVal val="0.28959"/>
                                          </p:val>
                                        </p:tav>
                                        <p:tav tm="47000">
                                          <p:val>
                                            <p:fltVal val="0.28963"/>
                                          </p:val>
                                        </p:tav>
                                        <p:tav tm="47333">
                                          <p:val>
                                            <p:fltVal val="0.28968"/>
                                          </p:val>
                                        </p:tav>
                                        <p:tav tm="47667">
                                          <p:val>
                                            <p:fltVal val="0.28972"/>
                                          </p:val>
                                        </p:tav>
                                        <p:tav tm="48000">
                                          <p:val>
                                            <p:fltVal val="0.28976"/>
                                          </p:val>
                                        </p:tav>
                                        <p:tav tm="48333">
                                          <p:val>
                                            <p:fltVal val="0.2898"/>
                                          </p:val>
                                        </p:tav>
                                        <p:tav tm="48667">
                                          <p:val>
                                            <p:fltVal val="0.28983"/>
                                          </p:val>
                                        </p:tav>
                                        <p:tav tm="49000">
                                          <p:val>
                                            <p:fltVal val="0.28987"/>
                                          </p:val>
                                        </p:tav>
                                        <p:tav tm="49333">
                                          <p:val>
                                            <p:fltVal val="0.2899"/>
                                          </p:val>
                                        </p:tav>
                                        <p:tav tm="49667">
                                          <p:val>
                                            <p:fltVal val="0.28994"/>
                                          </p:val>
                                        </p:tav>
                                        <p:tav tm="50000">
                                          <p:val>
                                            <p:fltVal val="0.28997"/>
                                          </p:val>
                                        </p:tav>
                                        <p:tav tm="50333">
                                          <p:val>
                                            <p:fltVal val="0.29"/>
                                          </p:val>
                                        </p:tav>
                                        <p:tav tm="50667">
                                          <p:val>
                                            <p:fltVal val="0.29003"/>
                                          </p:val>
                                        </p:tav>
                                        <p:tav tm="51000">
                                          <p:val>
                                            <p:fltVal val="0.29005"/>
                                          </p:val>
                                        </p:tav>
                                        <p:tav tm="51333">
                                          <p:val>
                                            <p:fltVal val="0.29008"/>
                                          </p:val>
                                        </p:tav>
                                        <p:tav tm="51667">
                                          <p:val>
                                            <p:fltVal val="0.2901"/>
                                          </p:val>
                                        </p:tav>
                                        <p:tav tm="52000">
                                          <p:val>
                                            <p:fltVal val="0.29013"/>
                                          </p:val>
                                        </p:tav>
                                        <p:tav tm="52333">
                                          <p:val>
                                            <p:fltVal val="0.29015"/>
                                          </p:val>
                                        </p:tav>
                                        <p:tav tm="52667">
                                          <p:val>
                                            <p:fltVal val="0.29017"/>
                                          </p:val>
                                        </p:tav>
                                        <p:tav tm="53000">
                                          <p:val>
                                            <p:fltVal val="0.29019"/>
                                          </p:val>
                                        </p:tav>
                                        <p:tav tm="53333">
                                          <p:val>
                                            <p:fltVal val="0.29021"/>
                                          </p:val>
                                        </p:tav>
                                        <p:tav tm="53667">
                                          <p:val>
                                            <p:fltVal val="0.29023"/>
                                          </p:val>
                                        </p:tav>
                                        <p:tav tm="54000">
                                          <p:val>
                                            <p:fltVal val="0.29025"/>
                                          </p:val>
                                        </p:tav>
                                        <p:tav tm="54333">
                                          <p:val>
                                            <p:fltVal val="0.29027"/>
                                          </p:val>
                                        </p:tav>
                                        <p:tav tm="54667">
                                          <p:val>
                                            <p:fltVal val="0.29028"/>
                                          </p:val>
                                        </p:tav>
                                        <p:tav tm="55000">
                                          <p:val>
                                            <p:fltVal val="0.2903"/>
                                          </p:val>
                                        </p:tav>
                                        <p:tav tm="55333">
                                          <p:val>
                                            <p:fltVal val="0.29031"/>
                                          </p:val>
                                        </p:tav>
                                        <p:tav tm="55667">
                                          <p:val>
                                            <p:fltVal val="0.29033"/>
                                          </p:val>
                                        </p:tav>
                                        <p:tav tm="56000">
                                          <p:val>
                                            <p:fltVal val="0.29034"/>
                                          </p:val>
                                        </p:tav>
                                        <p:tav tm="56333">
                                          <p:val>
                                            <p:fltVal val="0.29035"/>
                                          </p:val>
                                        </p:tav>
                                        <p:tav tm="56667">
                                          <p:val>
                                            <p:fltVal val="0.29037"/>
                                          </p:val>
                                        </p:tav>
                                        <p:tav tm="57000">
                                          <p:val>
                                            <p:fltVal val="0.29038"/>
                                          </p:val>
                                        </p:tav>
                                        <p:tav tm="57333">
                                          <p:val>
                                            <p:fltVal val="0.29039"/>
                                          </p:val>
                                        </p:tav>
                                        <p:tav tm="57667">
                                          <p:val>
                                            <p:fltVal val="0.2904"/>
                                          </p:val>
                                        </p:tav>
                                        <p:tav tm="58000">
                                          <p:val>
                                            <p:fltVal val="0.29041"/>
                                          </p:val>
                                        </p:tav>
                                        <p:tav tm="58333">
                                          <p:val>
                                            <p:fltVal val="0.29042"/>
                                          </p:val>
                                        </p:tav>
                                        <p:tav tm="58667">
                                          <p:val>
                                            <p:fltVal val="0.29043"/>
                                          </p:val>
                                        </p:tav>
                                        <p:tav tm="59000">
                                          <p:val>
                                            <p:fltVal val="0.29044"/>
                                          </p:val>
                                        </p:tav>
                                        <p:tav tm="59333">
                                          <p:val>
                                            <p:fltVal val="0.29045"/>
                                          </p:val>
                                        </p:tav>
                                        <p:tav tm="59667">
                                          <p:val>
                                            <p:fltVal val="0.29046"/>
                                          </p:val>
                                        </p:tav>
                                        <p:tav tm="60000">
                                          <p:val>
                                            <p:fltVal val="0.29046"/>
                                          </p:val>
                                        </p:tav>
                                        <p:tav tm="60333">
                                          <p:val>
                                            <p:fltVal val="0.29047"/>
                                          </p:val>
                                        </p:tav>
                                        <p:tav tm="60667">
                                          <p:val>
                                            <p:fltVal val="0.29048"/>
                                          </p:val>
                                        </p:tav>
                                        <p:tav tm="61000">
                                          <p:val>
                                            <p:fltVal val="0.29048"/>
                                          </p:val>
                                        </p:tav>
                                        <p:tav tm="61333">
                                          <p:val>
                                            <p:fltVal val="0.29049"/>
                                          </p:val>
                                        </p:tav>
                                        <p:tav tm="61667">
                                          <p:val>
                                            <p:fltVal val="0.2905"/>
                                          </p:val>
                                        </p:tav>
                                        <p:tav tm="62000">
                                          <p:val>
                                            <p:fltVal val="0.2905"/>
                                          </p:val>
                                        </p:tav>
                                        <p:tav tm="62333">
                                          <p:val>
                                            <p:fltVal val="0.29051"/>
                                          </p:val>
                                        </p:tav>
                                        <p:tav tm="62667">
                                          <p:val>
                                            <p:fltVal val="0.29051"/>
                                          </p:val>
                                        </p:tav>
                                        <p:tav tm="63000">
                                          <p:val>
                                            <p:fltVal val="0.29052"/>
                                          </p:val>
                                        </p:tav>
                                        <p:tav tm="63333">
                                          <p:val>
                                            <p:fltVal val="0.29052"/>
                                          </p:val>
                                        </p:tav>
                                        <p:tav tm="63667">
                                          <p:val>
                                            <p:fltVal val="0.29053"/>
                                          </p:val>
                                        </p:tav>
                                        <p:tav tm="64000">
                                          <p:val>
                                            <p:fltVal val="0.29053"/>
                                          </p:val>
                                        </p:tav>
                                        <p:tav tm="64333">
                                          <p:val>
                                            <p:fltVal val="0.29054"/>
                                          </p:val>
                                        </p:tav>
                                        <p:tav tm="64667">
                                          <p:val>
                                            <p:fltVal val="0.29054"/>
                                          </p:val>
                                        </p:tav>
                                        <p:tav tm="65000">
                                          <p:val>
                                            <p:fltVal val="0.29055"/>
                                          </p:val>
                                        </p:tav>
                                        <p:tav tm="65333">
                                          <p:val>
                                            <p:fltVal val="0.29055"/>
                                          </p:val>
                                        </p:tav>
                                        <p:tav tm="65667">
                                          <p:val>
                                            <p:fltVal val="0.29055"/>
                                          </p:val>
                                        </p:tav>
                                        <p:tav tm="66000">
                                          <p:val>
                                            <p:fltVal val="0.29056"/>
                                          </p:val>
                                        </p:tav>
                                        <p:tav tm="66333">
                                          <p:val>
                                            <p:fltVal val="0.29056"/>
                                          </p:val>
                                        </p:tav>
                                        <p:tav tm="66667">
                                          <p:val>
                                            <p:fltVal val="0.29056"/>
                                          </p:val>
                                        </p:tav>
                                        <p:tav tm="67000">
                                          <p:val>
                                            <p:fltVal val="0.29057"/>
                                          </p:val>
                                        </p:tav>
                                        <p:tav tm="67333">
                                          <p:val>
                                            <p:fltVal val="0.29057"/>
                                          </p:val>
                                        </p:tav>
                                        <p:tav tm="67667">
                                          <p:val>
                                            <p:fltVal val="0.29057"/>
                                          </p:val>
                                        </p:tav>
                                        <p:tav tm="68000">
                                          <p:val>
                                            <p:fltVal val="0.29057"/>
                                          </p:val>
                                        </p:tav>
                                        <p:tav tm="68333">
                                          <p:val>
                                            <p:fltVal val="0.29058"/>
                                          </p:val>
                                        </p:tav>
                                        <p:tav tm="68667">
                                          <p:val>
                                            <p:fltVal val="0.29058"/>
                                          </p:val>
                                        </p:tav>
                                        <p:tav tm="69000">
                                          <p:val>
                                            <p:fltVal val="0.29058"/>
                                          </p:val>
                                        </p:tav>
                                        <p:tav tm="69333">
                                          <p:val>
                                            <p:fltVal val="0.29058"/>
                                          </p:val>
                                        </p:tav>
                                        <p:tav tm="69667">
                                          <p:val>
                                            <p:fltVal val="0.29058"/>
                                          </p:val>
                                        </p:tav>
                                        <p:tav tm="70000">
                                          <p:val>
                                            <p:fltVal val="0.29059"/>
                                          </p:val>
                                        </p:tav>
                                        <p:tav tm="70333">
                                          <p:val>
                                            <p:fltVal val="0.29059"/>
                                          </p:val>
                                        </p:tav>
                                        <p:tav tm="70667">
                                          <p:val>
                                            <p:fltVal val="0.29059"/>
                                          </p:val>
                                        </p:tav>
                                        <p:tav tm="71000">
                                          <p:val>
                                            <p:fltVal val="0.29059"/>
                                          </p:val>
                                        </p:tav>
                                        <p:tav tm="71333">
                                          <p:val>
                                            <p:fltVal val="0.29059"/>
                                          </p:val>
                                        </p:tav>
                                        <p:tav tm="71667">
                                          <p:val>
                                            <p:fltVal val="0.29059"/>
                                          </p:val>
                                        </p:tav>
                                        <p:tav tm="72000">
                                          <p:val>
                                            <p:fltVal val="0.2906"/>
                                          </p:val>
                                        </p:tav>
                                        <p:tav tm="72333">
                                          <p:val>
                                            <p:fltVal val="0.2906"/>
                                          </p:val>
                                        </p:tav>
                                        <p:tav tm="72667">
                                          <p:val>
                                            <p:fltVal val="0.2906"/>
                                          </p:val>
                                        </p:tav>
                                        <p:tav tm="73000">
                                          <p:val>
                                            <p:fltVal val="0.2906"/>
                                          </p:val>
                                        </p:tav>
                                        <p:tav tm="73333">
                                          <p:val>
                                            <p:fltVal val="0.2906"/>
                                          </p:val>
                                        </p:tav>
                                        <p:tav tm="73667">
                                          <p:val>
                                            <p:fltVal val="0.2906"/>
                                          </p:val>
                                        </p:tav>
                                        <p:tav tm="74000">
                                          <p:val>
                                            <p:fltVal val="0.2906"/>
                                          </p:val>
                                        </p:tav>
                                        <p:tav tm="74333">
                                          <p:val>
                                            <p:fltVal val="0.2906"/>
                                          </p:val>
                                        </p:tav>
                                        <p:tav tm="74667">
                                          <p:val>
                                            <p:fltVal val="0.29061"/>
                                          </p:val>
                                        </p:tav>
                                        <p:tav tm="75000">
                                          <p:val>
                                            <p:fltVal val="0.29061"/>
                                          </p:val>
                                        </p:tav>
                                        <p:tav tm="75333">
                                          <p:val>
                                            <p:fltVal val="0.29061"/>
                                          </p:val>
                                        </p:tav>
                                        <p:tav tm="75667">
                                          <p:val>
                                            <p:fltVal val="0.29061"/>
                                          </p:val>
                                        </p:tav>
                                        <p:tav tm="76000">
                                          <p:val>
                                            <p:fltVal val="0.29061"/>
                                          </p:val>
                                        </p:tav>
                                        <p:tav tm="76333">
                                          <p:val>
                                            <p:fltVal val="0.29061"/>
                                          </p:val>
                                        </p:tav>
                                        <p:tav tm="76667">
                                          <p:val>
                                            <p:fltVal val="0.29061"/>
                                          </p:val>
                                        </p:tav>
                                        <p:tav tm="77000">
                                          <p:val>
                                            <p:fltVal val="0.29061"/>
                                          </p:val>
                                        </p:tav>
                                        <p:tav tm="77333">
                                          <p:val>
                                            <p:fltVal val="0.29061"/>
                                          </p:val>
                                        </p:tav>
                                        <p:tav tm="77667">
                                          <p:val>
                                            <p:fltVal val="0.29061"/>
                                          </p:val>
                                        </p:tav>
                                        <p:tav tm="78000">
                                          <p:val>
                                            <p:fltVal val="0.29061"/>
                                          </p:val>
                                        </p:tav>
                                        <p:tav tm="78333">
                                          <p:val>
                                            <p:fltVal val="0.29061"/>
                                          </p:val>
                                        </p:tav>
                                        <p:tav tm="78667">
                                          <p:val>
                                            <p:fltVal val="0.29061"/>
                                          </p:val>
                                        </p:tav>
                                        <p:tav tm="79000">
                                          <p:val>
                                            <p:fltVal val="0.29061"/>
                                          </p:val>
                                        </p:tav>
                                        <p:tav tm="79333">
                                          <p:val>
                                            <p:fltVal val="0.29062"/>
                                          </p:val>
                                        </p:tav>
                                        <p:tav tm="79667">
                                          <p:val>
                                            <p:fltVal val="0.29062"/>
                                          </p:val>
                                        </p:tav>
                                        <p:tav tm="80000">
                                          <p:val>
                                            <p:fltVal val="0.29062"/>
                                          </p:val>
                                        </p:tav>
                                        <p:tav tm="80333">
                                          <p:val>
                                            <p:fltVal val="0.29062"/>
                                          </p:val>
                                        </p:tav>
                                        <p:tav tm="80667">
                                          <p:val>
                                            <p:fltVal val="0.29062"/>
                                          </p:val>
                                        </p:tav>
                                        <p:tav tm="81000">
                                          <p:val>
                                            <p:fltVal val="0.29062"/>
                                          </p:val>
                                        </p:tav>
                                        <p:tav tm="81333">
                                          <p:val>
                                            <p:fltVal val="0.29062"/>
                                          </p:val>
                                        </p:tav>
                                        <p:tav tm="81667">
                                          <p:val>
                                            <p:fltVal val="0.29062"/>
                                          </p:val>
                                        </p:tav>
                                        <p:tav tm="82000">
                                          <p:val>
                                            <p:fltVal val="0.29062"/>
                                          </p:val>
                                        </p:tav>
                                        <p:tav tm="82333">
                                          <p:val>
                                            <p:fltVal val="0.29062"/>
                                          </p:val>
                                        </p:tav>
                                        <p:tav tm="82667">
                                          <p:val>
                                            <p:fltVal val="0.29062"/>
                                          </p:val>
                                        </p:tav>
                                        <p:tav tm="83000">
                                          <p:val>
                                            <p:fltVal val="0.29062"/>
                                          </p:val>
                                        </p:tav>
                                        <p:tav tm="83333">
                                          <p:val>
                                            <p:fltVal val="0.29062"/>
                                          </p:val>
                                        </p:tav>
                                        <p:tav tm="83667">
                                          <p:val>
                                            <p:fltVal val="0.29062"/>
                                          </p:val>
                                        </p:tav>
                                        <p:tav tm="84000">
                                          <p:val>
                                            <p:fltVal val="0.29062"/>
                                          </p:val>
                                        </p:tav>
                                        <p:tav tm="84333">
                                          <p:val>
                                            <p:fltVal val="0.29062"/>
                                          </p:val>
                                        </p:tav>
                                        <p:tav tm="84667">
                                          <p:val>
                                            <p:fltVal val="0.29062"/>
                                          </p:val>
                                        </p:tav>
                                        <p:tav tm="85000">
                                          <p:val>
                                            <p:fltVal val="0.29062"/>
                                          </p:val>
                                        </p:tav>
                                        <p:tav tm="85333">
                                          <p:val>
                                            <p:fltVal val="0.29062"/>
                                          </p:val>
                                        </p:tav>
                                        <p:tav tm="85667">
                                          <p:val>
                                            <p:fltVal val="0.29062"/>
                                          </p:val>
                                        </p:tav>
                                        <p:tav tm="86000">
                                          <p:val>
                                            <p:fltVal val="0.29062"/>
                                          </p:val>
                                        </p:tav>
                                        <p:tav tm="86333">
                                          <p:val>
                                            <p:fltVal val="0.29062"/>
                                          </p:val>
                                        </p:tav>
                                        <p:tav tm="86667">
                                          <p:val>
                                            <p:fltVal val="0.29062"/>
                                          </p:val>
                                        </p:tav>
                                        <p:tav tm="87000">
                                          <p:val>
                                            <p:fltVal val="0.29062"/>
                                          </p:val>
                                        </p:tav>
                                        <p:tav tm="87333">
                                          <p:val>
                                            <p:fltVal val="0.29062"/>
                                          </p:val>
                                        </p:tav>
                                        <p:tav tm="87667">
                                          <p:val>
                                            <p:fltVal val="0.29062"/>
                                          </p:val>
                                        </p:tav>
                                        <p:tav tm="88000">
                                          <p:val>
                                            <p:fltVal val="0.29062"/>
                                          </p:val>
                                        </p:tav>
                                        <p:tav tm="88333">
                                          <p:val>
                                            <p:fltVal val="0.29062"/>
                                          </p:val>
                                        </p:tav>
                                        <p:tav tm="88667">
                                          <p:val>
                                            <p:fltVal val="0.29062"/>
                                          </p:val>
                                        </p:tav>
                                        <p:tav tm="89000">
                                          <p:val>
                                            <p:fltVal val="0.29062"/>
                                          </p:val>
                                        </p:tav>
                                        <p:tav tm="89333">
                                          <p:val>
                                            <p:fltVal val="0.29062"/>
                                          </p:val>
                                        </p:tav>
                                        <p:tav tm="89667">
                                          <p:val>
                                            <p:fltVal val="0.29062"/>
                                          </p:val>
                                        </p:tav>
                                        <p:tav tm="90000">
                                          <p:val>
                                            <p:fltVal val="0.29062"/>
                                          </p:val>
                                        </p:tav>
                                        <p:tav tm="90333">
                                          <p:val>
                                            <p:fltVal val="0.28824"/>
                                          </p:val>
                                        </p:tav>
                                        <p:tav tm="90667">
                                          <p:val>
                                            <p:fltVal val="0.28291"/>
                                          </p:val>
                                        </p:tav>
                                        <p:tav tm="91000">
                                          <p:val>
                                            <p:fltVal val="0.27649"/>
                                          </p:val>
                                        </p:tav>
                                        <p:tav tm="91333">
                                          <p:val>
                                            <p:fltVal val="0.27004"/>
                                          </p:val>
                                        </p:tav>
                                        <p:tav tm="91667">
                                          <p:val>
                                            <p:fltVal val="0.26408"/>
                                          </p:val>
                                        </p:tav>
                                        <p:tav tm="92000">
                                          <p:val>
                                            <p:fltVal val="0.25886"/>
                                          </p:val>
                                        </p:tav>
                                        <p:tav tm="92333">
                                          <p:val>
                                            <p:fltVal val="0.25444"/>
                                          </p:val>
                                        </p:tav>
                                        <p:tav tm="92667">
                                          <p:val>
                                            <p:fltVal val="0.25078"/>
                                          </p:val>
                                        </p:tav>
                                        <p:tav tm="93000">
                                          <p:val>
                                            <p:fltVal val="0.2478"/>
                                          </p:val>
                                        </p:tav>
                                        <p:tav tm="93333">
                                          <p:val>
                                            <p:fltVal val="0.24542"/>
                                          </p:val>
                                        </p:tav>
                                        <p:tav tm="93667">
                                          <p:val>
                                            <p:fltVal val="0.24353"/>
                                          </p:val>
                                        </p:tav>
                                        <p:tav tm="94000">
                                          <p:val>
                                            <p:fltVal val="0.24205"/>
                                          </p:val>
                                        </p:tav>
                                        <p:tav tm="94333">
                                          <p:val>
                                            <p:fltVal val="0.2409"/>
                                          </p:val>
                                        </p:tav>
                                        <p:tav tm="94667">
                                          <p:val>
                                            <p:fltVal val="0.24"/>
                                          </p:val>
                                        </p:tav>
                                        <p:tav tm="95000">
                                          <p:val>
                                            <p:fltVal val="0.23931"/>
                                          </p:val>
                                        </p:tav>
                                        <p:tav tm="95333">
                                          <p:val>
                                            <p:fltVal val="0.23879"/>
                                          </p:val>
                                        </p:tav>
                                        <p:tav tm="95667">
                                          <p:val>
                                            <p:fltVal val="0.23839"/>
                                          </p:val>
                                        </p:tav>
                                        <p:tav tm="96000">
                                          <p:val>
                                            <p:fltVal val="0.23808"/>
                                          </p:val>
                                        </p:tav>
                                        <p:tav tm="96333">
                                          <p:val>
                                            <p:fltVal val="0.23785"/>
                                          </p:val>
                                        </p:tav>
                                        <p:tav tm="96667">
                                          <p:val>
                                            <p:fltVal val="0.23767"/>
                                          </p:val>
                                        </p:tav>
                                        <p:tav tm="97000">
                                          <p:val>
                                            <p:fltVal val="0.23754"/>
                                          </p:val>
                                        </p:tav>
                                        <p:tav tm="97333">
                                          <p:val>
                                            <p:fltVal val="0.23744"/>
                                          </p:val>
                                        </p:tav>
                                        <p:tav tm="97667">
                                          <p:val>
                                            <p:fltVal val="0.23737"/>
                                          </p:val>
                                        </p:tav>
                                        <p:tav tm="98000">
                                          <p:val>
                                            <p:fltVal val="0.23731"/>
                                          </p:val>
                                        </p:tav>
                                        <p:tav tm="98333">
                                          <p:val>
                                            <p:fltVal val="0.23727"/>
                                          </p:val>
                                        </p:tav>
                                        <p:tav tm="98667">
                                          <p:val>
                                            <p:fltVal val="0.23724"/>
                                          </p:val>
                                        </p:tav>
                                        <p:tav tm="99000">
                                          <p:val>
                                            <p:fltVal val="0.23722"/>
                                          </p:val>
                                        </p:tav>
                                        <p:tav tm="99333">
                                          <p:val>
                                            <p:fltVal val="0.2372"/>
                                          </p:val>
                                        </p:tav>
                                        <p:tav tm="99667">
                                          <p:val>
                                            <p:fltVal val="0.23719"/>
                                          </p:val>
                                        </p:tav>
                                        <p:tav tm="100000">
                                          <p:val>
                                            <p:fltVal val="0.23719"/>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nodeType="clickEffect">
                                  <p:stCondLst>
                                    <p:cond delay="0"/>
                                  </p:stCondLst>
                                  <p:childTnLst>
                                    <p:set>
                                      <p:cBhvr>
                                        <p:cTn id="13" dur="1" fill="hold">
                                          <p:stCondLst>
                                            <p:cond delay="0"/>
                                          </p:stCondLst>
                                        </p:cTn>
                                        <p:tgtEl>
                                          <p:spTgt spid="10260"/>
                                        </p:tgtEl>
                                        <p:attrNameLst>
                                          <p:attrName>style.visibility</p:attrName>
                                        </p:attrNameLst>
                                      </p:cBhvr>
                                      <p:to>
                                        <p:strVal val="visible"/>
                                      </p:to>
                                    </p:set>
                                    <p:animEffect transition="in" filter="fade">
                                      <p:cBhvr>
                                        <p:cTn id="14" dur="900"/>
                                        <p:tgtEl>
                                          <p:spTgt spid="10260"/>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0271"/>
                                        </p:tgtEl>
                                        <p:attrNameLst>
                                          <p:attrName>style.visibility</p:attrName>
                                        </p:attrNameLst>
                                      </p:cBhvr>
                                      <p:to>
                                        <p:strVal val="visible"/>
                                      </p:to>
                                    </p:set>
                                    <p:animEffect transition="in" filter="fade">
                                      <p:cBhvr>
                                        <p:cTn id="17" dur="900"/>
                                        <p:tgtEl>
                                          <p:spTgt spid="10271"/>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mediacall" presetSubtype="0" fill="hold" nodeType="clickEffect">
                                  <p:stCondLst>
                                    <p:cond delay="0"/>
                                  </p:stCondLst>
                                  <p:childTnLst>
                                    <p:cmd type="call" cmd="playFrom(0.0)">
                                      <p:cBhvr>
                                        <p:cTn id="21" dur="10000" fill="hold"/>
                                        <p:tgtEl>
                                          <p:spTgt spid="21"/>
                                        </p:tgtEl>
                                      </p:cBhvr>
                                    </p:cmd>
                                    <p:anim calcmode="lin" valueType="num">
                                      <p:cBhvr additive="base">
                                        <p:cTn id="22" dur="10000" fill="hold">
                                          <p:stCondLst>
                                            <p:cond delay="0"/>
                                          </p:stCondLst>
                                        </p:cTn>
                                        <p:tgtEl>
                                          <p:spTgt spid="10026"/>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6285"/>
                                          </p:val>
                                        </p:tav>
                                        <p:tav tm="10333">
                                          <p:val>
                                            <p:fltVal val="0.76285"/>
                                          </p:val>
                                        </p:tav>
                                        <p:tav tm="10667">
                                          <p:val>
                                            <p:fltVal val="0.76285"/>
                                          </p:val>
                                        </p:tav>
                                        <p:tav tm="11000">
                                          <p:val>
                                            <p:fltVal val="0.76285"/>
                                          </p:val>
                                        </p:tav>
                                        <p:tav tm="11333">
                                          <p:val>
                                            <p:fltVal val="0.76285"/>
                                          </p:val>
                                        </p:tav>
                                        <p:tav tm="11667">
                                          <p:val>
                                            <p:fltVal val="0.76285"/>
                                          </p:val>
                                        </p:tav>
                                        <p:tav tm="12000">
                                          <p:val>
                                            <p:fltVal val="0.76285"/>
                                          </p:val>
                                        </p:tav>
                                        <p:tav tm="12333">
                                          <p:val>
                                            <p:fltVal val="0.76285"/>
                                          </p:val>
                                        </p:tav>
                                        <p:tav tm="12667">
                                          <p:val>
                                            <p:fltVal val="0.76285"/>
                                          </p:val>
                                        </p:tav>
                                        <p:tav tm="13000">
                                          <p:val>
                                            <p:fltVal val="0.76285"/>
                                          </p:val>
                                        </p:tav>
                                        <p:tav tm="13333">
                                          <p:val>
                                            <p:fltVal val="0.76285"/>
                                          </p:val>
                                        </p:tav>
                                        <p:tav tm="13667">
                                          <p:val>
                                            <p:fltVal val="0.76285"/>
                                          </p:val>
                                        </p:tav>
                                        <p:tav tm="14000">
                                          <p:val>
                                            <p:fltVal val="0.76285"/>
                                          </p:val>
                                        </p:tav>
                                        <p:tav tm="14333">
                                          <p:val>
                                            <p:fltVal val="0.76285"/>
                                          </p:val>
                                        </p:tav>
                                        <p:tav tm="14667">
                                          <p:val>
                                            <p:fltVal val="0.76285"/>
                                          </p:val>
                                        </p:tav>
                                        <p:tav tm="15000">
                                          <p:val>
                                            <p:fltVal val="0.76285"/>
                                          </p:val>
                                        </p:tav>
                                        <p:tav tm="15333">
                                          <p:val>
                                            <p:fltVal val="0.76285"/>
                                          </p:val>
                                        </p:tav>
                                        <p:tav tm="15667">
                                          <p:val>
                                            <p:fltVal val="0.76285"/>
                                          </p:val>
                                        </p:tav>
                                        <p:tav tm="16000">
                                          <p:val>
                                            <p:fltVal val="0.76285"/>
                                          </p:val>
                                        </p:tav>
                                        <p:tav tm="16333">
                                          <p:val>
                                            <p:fltVal val="0.76285"/>
                                          </p:val>
                                        </p:tav>
                                        <p:tav tm="16667">
                                          <p:val>
                                            <p:fltVal val="0.76285"/>
                                          </p:val>
                                        </p:tav>
                                        <p:tav tm="17000">
                                          <p:val>
                                            <p:fltVal val="0.76285"/>
                                          </p:val>
                                        </p:tav>
                                        <p:tav tm="17333">
                                          <p:val>
                                            <p:fltVal val="0.76285"/>
                                          </p:val>
                                        </p:tav>
                                        <p:tav tm="17667">
                                          <p:val>
                                            <p:fltVal val="0.76285"/>
                                          </p:val>
                                        </p:tav>
                                        <p:tav tm="18000">
                                          <p:val>
                                            <p:fltVal val="0.76285"/>
                                          </p:val>
                                        </p:tav>
                                        <p:tav tm="18333">
                                          <p:val>
                                            <p:fltVal val="0.76285"/>
                                          </p:val>
                                        </p:tav>
                                        <p:tav tm="18667">
                                          <p:val>
                                            <p:fltVal val="0.76285"/>
                                          </p:val>
                                        </p:tav>
                                        <p:tav tm="19000">
                                          <p:val>
                                            <p:fltVal val="0.76285"/>
                                          </p:val>
                                        </p:tav>
                                        <p:tav tm="19333">
                                          <p:val>
                                            <p:fltVal val="0.76285"/>
                                          </p:val>
                                        </p:tav>
                                        <p:tav tm="19667">
                                          <p:val>
                                            <p:fltVal val="0.76285"/>
                                          </p:val>
                                        </p:tav>
                                        <p:tav tm="20000">
                                          <p:val>
                                            <p:fltVal val="0.76285"/>
                                          </p:val>
                                        </p:tav>
                                        <p:tav tm="20333">
                                          <p:val>
                                            <p:fltVal val="0.76285"/>
                                          </p:val>
                                        </p:tav>
                                        <p:tav tm="20667">
                                          <p:val>
                                            <p:fltVal val="0.76285"/>
                                          </p:val>
                                        </p:tav>
                                        <p:tav tm="21000">
                                          <p:val>
                                            <p:fltVal val="0.76285"/>
                                          </p:val>
                                        </p:tav>
                                        <p:tav tm="21333">
                                          <p:val>
                                            <p:fltVal val="0.76285"/>
                                          </p:val>
                                        </p:tav>
                                        <p:tav tm="21667">
                                          <p:val>
                                            <p:fltVal val="0.76285"/>
                                          </p:val>
                                        </p:tav>
                                        <p:tav tm="22000">
                                          <p:val>
                                            <p:fltVal val="0.76285"/>
                                          </p:val>
                                        </p:tav>
                                        <p:tav tm="22333">
                                          <p:val>
                                            <p:fltVal val="0.76285"/>
                                          </p:val>
                                        </p:tav>
                                        <p:tav tm="22667">
                                          <p:val>
                                            <p:fltVal val="0.76285"/>
                                          </p:val>
                                        </p:tav>
                                        <p:tav tm="23000">
                                          <p:val>
                                            <p:fltVal val="0.76285"/>
                                          </p:val>
                                        </p:tav>
                                        <p:tav tm="23333">
                                          <p:val>
                                            <p:fltVal val="0.76285"/>
                                          </p:val>
                                        </p:tav>
                                        <p:tav tm="23667">
                                          <p:val>
                                            <p:fltVal val="0.76285"/>
                                          </p:val>
                                        </p:tav>
                                        <p:tav tm="24000">
                                          <p:val>
                                            <p:fltVal val="0.76285"/>
                                          </p:val>
                                        </p:tav>
                                        <p:tav tm="24333">
                                          <p:val>
                                            <p:fltVal val="0.76285"/>
                                          </p:val>
                                        </p:tav>
                                        <p:tav tm="24667">
                                          <p:val>
                                            <p:fltVal val="0.76285"/>
                                          </p:val>
                                        </p:tav>
                                        <p:tav tm="25000">
                                          <p:val>
                                            <p:fltVal val="0.76285"/>
                                          </p:val>
                                        </p:tav>
                                        <p:tav tm="25333">
                                          <p:val>
                                            <p:fltVal val="0.76285"/>
                                          </p:val>
                                        </p:tav>
                                        <p:tav tm="25667">
                                          <p:val>
                                            <p:fltVal val="0.76285"/>
                                          </p:val>
                                        </p:tav>
                                        <p:tav tm="26000">
                                          <p:val>
                                            <p:fltVal val="0.76285"/>
                                          </p:val>
                                        </p:tav>
                                        <p:tav tm="26333">
                                          <p:val>
                                            <p:fltVal val="0.76285"/>
                                          </p:val>
                                        </p:tav>
                                        <p:tav tm="26667">
                                          <p:val>
                                            <p:fltVal val="0.76285"/>
                                          </p:val>
                                        </p:tav>
                                        <p:tav tm="27000">
                                          <p:val>
                                            <p:fltVal val="0.76285"/>
                                          </p:val>
                                        </p:tav>
                                        <p:tav tm="27333">
                                          <p:val>
                                            <p:fltVal val="0.76285"/>
                                          </p:val>
                                        </p:tav>
                                        <p:tav tm="27667">
                                          <p:val>
                                            <p:fltVal val="0.76285"/>
                                          </p:val>
                                        </p:tav>
                                        <p:tav tm="28000">
                                          <p:val>
                                            <p:fltVal val="0.76285"/>
                                          </p:val>
                                        </p:tav>
                                        <p:tav tm="28333">
                                          <p:val>
                                            <p:fltVal val="0.76285"/>
                                          </p:val>
                                        </p:tav>
                                        <p:tav tm="28667">
                                          <p:val>
                                            <p:fltVal val="0.76285"/>
                                          </p:val>
                                        </p:tav>
                                        <p:tav tm="29000">
                                          <p:val>
                                            <p:fltVal val="0.76285"/>
                                          </p:val>
                                        </p:tav>
                                        <p:tav tm="29333">
                                          <p:val>
                                            <p:fltVal val="0.76285"/>
                                          </p:val>
                                        </p:tav>
                                        <p:tav tm="29667">
                                          <p:val>
                                            <p:fltVal val="0.76285"/>
                                          </p:val>
                                        </p:tav>
                                        <p:tav tm="30000">
                                          <p:val>
                                            <p:fltVal val="0.76285"/>
                                          </p:val>
                                        </p:tav>
                                        <p:tav tm="30333">
                                          <p:val>
                                            <p:fltVal val="0.76285"/>
                                          </p:val>
                                        </p:tav>
                                        <p:tav tm="30667">
                                          <p:val>
                                            <p:fltVal val="0.76285"/>
                                          </p:val>
                                        </p:tav>
                                        <p:tav tm="31000">
                                          <p:val>
                                            <p:fltVal val="0.76285"/>
                                          </p:val>
                                        </p:tav>
                                        <p:tav tm="31333">
                                          <p:val>
                                            <p:fltVal val="0.76285"/>
                                          </p:val>
                                        </p:tav>
                                        <p:tav tm="31667">
                                          <p:val>
                                            <p:fltVal val="0.76285"/>
                                          </p:val>
                                        </p:tav>
                                        <p:tav tm="32000">
                                          <p:val>
                                            <p:fltVal val="0.76285"/>
                                          </p:val>
                                        </p:tav>
                                        <p:tav tm="32333">
                                          <p:val>
                                            <p:fltVal val="0.76285"/>
                                          </p:val>
                                        </p:tav>
                                        <p:tav tm="32667">
                                          <p:val>
                                            <p:fltVal val="0.76285"/>
                                          </p:val>
                                        </p:tav>
                                        <p:tav tm="33000">
                                          <p:val>
                                            <p:fltVal val="0.76285"/>
                                          </p:val>
                                        </p:tav>
                                        <p:tav tm="33333">
                                          <p:val>
                                            <p:fltVal val="0.76285"/>
                                          </p:val>
                                        </p:tav>
                                        <p:tav tm="33667">
                                          <p:val>
                                            <p:fltVal val="0.76285"/>
                                          </p:val>
                                        </p:tav>
                                        <p:tav tm="34000">
                                          <p:val>
                                            <p:fltVal val="0.76285"/>
                                          </p:val>
                                        </p:tav>
                                        <p:tav tm="34333">
                                          <p:val>
                                            <p:fltVal val="0.76285"/>
                                          </p:val>
                                        </p:tav>
                                        <p:tav tm="34667">
                                          <p:val>
                                            <p:fltVal val="0.76285"/>
                                          </p:val>
                                        </p:tav>
                                        <p:tav tm="35000">
                                          <p:val>
                                            <p:fltVal val="0.76285"/>
                                          </p:val>
                                        </p:tav>
                                        <p:tav tm="35333">
                                          <p:val>
                                            <p:fltVal val="0.76285"/>
                                          </p:val>
                                        </p:tav>
                                        <p:tav tm="35667">
                                          <p:val>
                                            <p:fltVal val="0.76285"/>
                                          </p:val>
                                        </p:tav>
                                        <p:tav tm="36000">
                                          <p:val>
                                            <p:fltVal val="0.76285"/>
                                          </p:val>
                                        </p:tav>
                                        <p:tav tm="36333">
                                          <p:val>
                                            <p:fltVal val="0.76285"/>
                                          </p:val>
                                        </p:tav>
                                        <p:tav tm="36667">
                                          <p:val>
                                            <p:fltVal val="0.76285"/>
                                          </p:val>
                                        </p:tav>
                                        <p:tav tm="37000">
                                          <p:val>
                                            <p:fltVal val="0.76285"/>
                                          </p:val>
                                        </p:tav>
                                        <p:tav tm="37333">
                                          <p:val>
                                            <p:fltVal val="0.76285"/>
                                          </p:val>
                                        </p:tav>
                                        <p:tav tm="37667">
                                          <p:val>
                                            <p:fltVal val="0.76285"/>
                                          </p:val>
                                        </p:tav>
                                        <p:tav tm="38000">
                                          <p:val>
                                            <p:fltVal val="0.76285"/>
                                          </p:val>
                                        </p:tav>
                                        <p:tav tm="38333">
                                          <p:val>
                                            <p:fltVal val="0.76285"/>
                                          </p:val>
                                        </p:tav>
                                        <p:tav tm="38667">
                                          <p:val>
                                            <p:fltVal val="0.76285"/>
                                          </p:val>
                                        </p:tav>
                                        <p:tav tm="39000">
                                          <p:val>
                                            <p:fltVal val="0.76285"/>
                                          </p:val>
                                        </p:tav>
                                        <p:tav tm="39333">
                                          <p:val>
                                            <p:fltVal val="0.76285"/>
                                          </p:val>
                                        </p:tav>
                                        <p:tav tm="39667">
                                          <p:val>
                                            <p:fltVal val="0.76285"/>
                                          </p:val>
                                        </p:tav>
                                        <p:tav tm="40000">
                                          <p:val>
                                            <p:fltVal val="0.76285"/>
                                          </p:val>
                                        </p:tav>
                                        <p:tav tm="40333">
                                          <p:val>
                                            <p:fltVal val="0.76285"/>
                                          </p:val>
                                        </p:tav>
                                        <p:tav tm="40667">
                                          <p:val>
                                            <p:fltVal val="0.76285"/>
                                          </p:val>
                                        </p:tav>
                                        <p:tav tm="41000">
                                          <p:val>
                                            <p:fltVal val="0.76285"/>
                                          </p:val>
                                        </p:tav>
                                        <p:tav tm="41333">
                                          <p:val>
                                            <p:fltVal val="0.76285"/>
                                          </p:val>
                                        </p:tav>
                                        <p:tav tm="41667">
                                          <p:val>
                                            <p:fltVal val="0.76285"/>
                                          </p:val>
                                        </p:tav>
                                        <p:tav tm="42000">
                                          <p:val>
                                            <p:fltVal val="0.76285"/>
                                          </p:val>
                                        </p:tav>
                                        <p:tav tm="42333">
                                          <p:val>
                                            <p:fltVal val="0.76285"/>
                                          </p:val>
                                        </p:tav>
                                        <p:tav tm="42667">
                                          <p:val>
                                            <p:fltVal val="0.76285"/>
                                          </p:val>
                                        </p:tav>
                                        <p:tav tm="43000">
                                          <p:val>
                                            <p:fltVal val="0.76285"/>
                                          </p:val>
                                        </p:tav>
                                        <p:tav tm="43333">
                                          <p:val>
                                            <p:fltVal val="0.76285"/>
                                          </p:val>
                                        </p:tav>
                                        <p:tav tm="43667">
                                          <p:val>
                                            <p:fltVal val="0.76285"/>
                                          </p:val>
                                        </p:tav>
                                        <p:tav tm="44000">
                                          <p:val>
                                            <p:fltVal val="0.76285"/>
                                          </p:val>
                                        </p:tav>
                                        <p:tav tm="44333">
                                          <p:val>
                                            <p:fltVal val="0.76285"/>
                                          </p:val>
                                        </p:tav>
                                        <p:tav tm="44667">
                                          <p:val>
                                            <p:fltVal val="0.76285"/>
                                          </p:val>
                                        </p:tav>
                                        <p:tav tm="45000">
                                          <p:val>
                                            <p:fltVal val="0.76285"/>
                                          </p:val>
                                        </p:tav>
                                        <p:tav tm="45333">
                                          <p:val>
                                            <p:fltVal val="0.76285"/>
                                          </p:val>
                                        </p:tav>
                                        <p:tav tm="45667">
                                          <p:val>
                                            <p:fltVal val="0.76285"/>
                                          </p:val>
                                        </p:tav>
                                        <p:tav tm="46000">
                                          <p:val>
                                            <p:fltVal val="0.76285"/>
                                          </p:val>
                                        </p:tav>
                                        <p:tav tm="46333">
                                          <p:val>
                                            <p:fltVal val="0.76285"/>
                                          </p:val>
                                        </p:tav>
                                        <p:tav tm="46667">
                                          <p:val>
                                            <p:fltVal val="0.76285"/>
                                          </p:val>
                                        </p:tav>
                                        <p:tav tm="47000">
                                          <p:val>
                                            <p:fltVal val="0.76285"/>
                                          </p:val>
                                        </p:tav>
                                        <p:tav tm="47333">
                                          <p:val>
                                            <p:fltVal val="0.76285"/>
                                          </p:val>
                                        </p:tav>
                                        <p:tav tm="47667">
                                          <p:val>
                                            <p:fltVal val="0.76285"/>
                                          </p:val>
                                        </p:tav>
                                        <p:tav tm="48000">
                                          <p:val>
                                            <p:fltVal val="0.76285"/>
                                          </p:val>
                                        </p:tav>
                                        <p:tav tm="48333">
                                          <p:val>
                                            <p:fltVal val="0.76285"/>
                                          </p:val>
                                        </p:tav>
                                        <p:tav tm="48667">
                                          <p:val>
                                            <p:fltVal val="0.76285"/>
                                          </p:val>
                                        </p:tav>
                                        <p:tav tm="49000">
                                          <p:val>
                                            <p:fltVal val="0.76285"/>
                                          </p:val>
                                        </p:tav>
                                        <p:tav tm="49333">
                                          <p:val>
                                            <p:fltVal val="0.76285"/>
                                          </p:val>
                                        </p:tav>
                                        <p:tav tm="49667">
                                          <p:val>
                                            <p:fltVal val="0.76285"/>
                                          </p:val>
                                        </p:tav>
                                        <p:tav tm="50000">
                                          <p:val>
                                            <p:fltVal val="0.76285"/>
                                          </p:val>
                                        </p:tav>
                                        <p:tav tm="50333">
                                          <p:val>
                                            <p:fltVal val="0.76285"/>
                                          </p:val>
                                        </p:tav>
                                        <p:tav tm="50667">
                                          <p:val>
                                            <p:fltVal val="0.76285"/>
                                          </p:val>
                                        </p:tav>
                                        <p:tav tm="51000">
                                          <p:val>
                                            <p:fltVal val="0.76285"/>
                                          </p:val>
                                        </p:tav>
                                        <p:tav tm="51333">
                                          <p:val>
                                            <p:fltVal val="0.76285"/>
                                          </p:val>
                                        </p:tav>
                                        <p:tav tm="51667">
                                          <p:val>
                                            <p:fltVal val="0.76285"/>
                                          </p:val>
                                        </p:tav>
                                        <p:tav tm="52000">
                                          <p:val>
                                            <p:fltVal val="0.76285"/>
                                          </p:val>
                                        </p:tav>
                                        <p:tav tm="52333">
                                          <p:val>
                                            <p:fltVal val="0.76285"/>
                                          </p:val>
                                        </p:tav>
                                        <p:tav tm="52667">
                                          <p:val>
                                            <p:fltVal val="0.76285"/>
                                          </p:val>
                                        </p:tav>
                                        <p:tav tm="53000">
                                          <p:val>
                                            <p:fltVal val="0.76285"/>
                                          </p:val>
                                        </p:tav>
                                        <p:tav tm="53333">
                                          <p:val>
                                            <p:fltVal val="0.76285"/>
                                          </p:val>
                                        </p:tav>
                                        <p:tav tm="53667">
                                          <p:val>
                                            <p:fltVal val="0.76285"/>
                                          </p:val>
                                        </p:tav>
                                        <p:tav tm="54000">
                                          <p:val>
                                            <p:fltVal val="0.76285"/>
                                          </p:val>
                                        </p:tav>
                                        <p:tav tm="54333">
                                          <p:val>
                                            <p:fltVal val="0.76285"/>
                                          </p:val>
                                        </p:tav>
                                        <p:tav tm="54667">
                                          <p:val>
                                            <p:fltVal val="0.76285"/>
                                          </p:val>
                                        </p:tav>
                                        <p:tav tm="55000">
                                          <p:val>
                                            <p:fltVal val="0.76285"/>
                                          </p:val>
                                        </p:tav>
                                        <p:tav tm="55333">
                                          <p:val>
                                            <p:fltVal val="0.76285"/>
                                          </p:val>
                                        </p:tav>
                                        <p:tav tm="55667">
                                          <p:val>
                                            <p:fltVal val="0.76285"/>
                                          </p:val>
                                        </p:tav>
                                        <p:tav tm="56000">
                                          <p:val>
                                            <p:fltVal val="0.76285"/>
                                          </p:val>
                                        </p:tav>
                                        <p:tav tm="56333">
                                          <p:val>
                                            <p:fltVal val="0.76285"/>
                                          </p:val>
                                        </p:tav>
                                        <p:tav tm="56667">
                                          <p:val>
                                            <p:fltVal val="0.76285"/>
                                          </p:val>
                                        </p:tav>
                                        <p:tav tm="57000">
                                          <p:val>
                                            <p:fltVal val="0.76285"/>
                                          </p:val>
                                        </p:tav>
                                        <p:tav tm="57333">
                                          <p:val>
                                            <p:fltVal val="0.76285"/>
                                          </p:val>
                                        </p:tav>
                                        <p:tav tm="57667">
                                          <p:val>
                                            <p:fltVal val="0.76285"/>
                                          </p:val>
                                        </p:tav>
                                        <p:tav tm="58000">
                                          <p:val>
                                            <p:fltVal val="0.76285"/>
                                          </p:val>
                                        </p:tav>
                                        <p:tav tm="58333">
                                          <p:val>
                                            <p:fltVal val="0.76285"/>
                                          </p:val>
                                        </p:tav>
                                        <p:tav tm="58667">
                                          <p:val>
                                            <p:fltVal val="0.76285"/>
                                          </p:val>
                                        </p:tav>
                                        <p:tav tm="59000">
                                          <p:val>
                                            <p:fltVal val="0.76285"/>
                                          </p:val>
                                        </p:tav>
                                        <p:tav tm="59333">
                                          <p:val>
                                            <p:fltVal val="0.76285"/>
                                          </p:val>
                                        </p:tav>
                                        <p:tav tm="59667">
                                          <p:val>
                                            <p:fltVal val="0.76285"/>
                                          </p:val>
                                        </p:tav>
                                        <p:tav tm="60000">
                                          <p:val>
                                            <p:fltVal val="0.76285"/>
                                          </p:val>
                                        </p:tav>
                                        <p:tav tm="60333">
                                          <p:val>
                                            <p:fltVal val="0.76285"/>
                                          </p:val>
                                        </p:tav>
                                        <p:tav tm="60667">
                                          <p:val>
                                            <p:fltVal val="0.76285"/>
                                          </p:val>
                                        </p:tav>
                                        <p:tav tm="61000">
                                          <p:val>
                                            <p:fltVal val="0.76285"/>
                                          </p:val>
                                        </p:tav>
                                        <p:tav tm="61333">
                                          <p:val>
                                            <p:fltVal val="0.76285"/>
                                          </p:val>
                                        </p:tav>
                                        <p:tav tm="61667">
                                          <p:val>
                                            <p:fltVal val="0.76285"/>
                                          </p:val>
                                        </p:tav>
                                        <p:tav tm="62000">
                                          <p:val>
                                            <p:fltVal val="0.76285"/>
                                          </p:val>
                                        </p:tav>
                                        <p:tav tm="62333">
                                          <p:val>
                                            <p:fltVal val="0.76285"/>
                                          </p:val>
                                        </p:tav>
                                        <p:tav tm="62667">
                                          <p:val>
                                            <p:fltVal val="0.76285"/>
                                          </p:val>
                                        </p:tav>
                                        <p:tav tm="63000">
                                          <p:val>
                                            <p:fltVal val="0.76285"/>
                                          </p:val>
                                        </p:tav>
                                        <p:tav tm="63333">
                                          <p:val>
                                            <p:fltVal val="0.76285"/>
                                          </p:val>
                                        </p:tav>
                                        <p:tav tm="63667">
                                          <p:val>
                                            <p:fltVal val="0.76285"/>
                                          </p:val>
                                        </p:tav>
                                        <p:tav tm="64000">
                                          <p:val>
                                            <p:fltVal val="0.76285"/>
                                          </p:val>
                                        </p:tav>
                                        <p:tav tm="64333">
                                          <p:val>
                                            <p:fltVal val="0.76285"/>
                                          </p:val>
                                        </p:tav>
                                        <p:tav tm="64667">
                                          <p:val>
                                            <p:fltVal val="0.76285"/>
                                          </p:val>
                                        </p:tav>
                                        <p:tav tm="65000">
                                          <p:val>
                                            <p:fltVal val="0.76285"/>
                                          </p:val>
                                        </p:tav>
                                        <p:tav tm="65333">
                                          <p:val>
                                            <p:fltVal val="0.76285"/>
                                          </p:val>
                                        </p:tav>
                                        <p:tav tm="65667">
                                          <p:val>
                                            <p:fltVal val="0.76285"/>
                                          </p:val>
                                        </p:tav>
                                        <p:tav tm="66000">
                                          <p:val>
                                            <p:fltVal val="0.76285"/>
                                          </p:val>
                                        </p:tav>
                                        <p:tav tm="66333">
                                          <p:val>
                                            <p:fltVal val="0.76285"/>
                                          </p:val>
                                        </p:tav>
                                        <p:tav tm="66667">
                                          <p:val>
                                            <p:fltVal val="0.76285"/>
                                          </p:val>
                                        </p:tav>
                                        <p:tav tm="67000">
                                          <p:val>
                                            <p:fltVal val="0.76285"/>
                                          </p:val>
                                        </p:tav>
                                        <p:tav tm="67333">
                                          <p:val>
                                            <p:fltVal val="0.76285"/>
                                          </p:val>
                                        </p:tav>
                                        <p:tav tm="67667">
                                          <p:val>
                                            <p:fltVal val="0.76285"/>
                                          </p:val>
                                        </p:tav>
                                        <p:tav tm="68000">
                                          <p:val>
                                            <p:fltVal val="0.76285"/>
                                          </p:val>
                                        </p:tav>
                                        <p:tav tm="68333">
                                          <p:val>
                                            <p:fltVal val="0.76285"/>
                                          </p:val>
                                        </p:tav>
                                        <p:tav tm="68667">
                                          <p:val>
                                            <p:fltVal val="0.76285"/>
                                          </p:val>
                                        </p:tav>
                                        <p:tav tm="69000">
                                          <p:val>
                                            <p:fltVal val="0.76285"/>
                                          </p:val>
                                        </p:tav>
                                        <p:tav tm="69333">
                                          <p:val>
                                            <p:fltVal val="0.76285"/>
                                          </p:val>
                                        </p:tav>
                                        <p:tav tm="69667">
                                          <p:val>
                                            <p:fltVal val="0.76285"/>
                                          </p:val>
                                        </p:tav>
                                        <p:tav tm="70000">
                                          <p:val>
                                            <p:fltVal val="0.76285"/>
                                          </p:val>
                                        </p:tav>
                                        <p:tav tm="70333">
                                          <p:val>
                                            <p:fltVal val="0.76285"/>
                                          </p:val>
                                        </p:tav>
                                        <p:tav tm="70667">
                                          <p:val>
                                            <p:fltVal val="0.76285"/>
                                          </p:val>
                                        </p:tav>
                                        <p:tav tm="71000">
                                          <p:val>
                                            <p:fltVal val="0.76285"/>
                                          </p:val>
                                        </p:tav>
                                        <p:tav tm="71333">
                                          <p:val>
                                            <p:fltVal val="0.76285"/>
                                          </p:val>
                                        </p:tav>
                                        <p:tav tm="71667">
                                          <p:val>
                                            <p:fltVal val="0.76285"/>
                                          </p:val>
                                        </p:tav>
                                        <p:tav tm="72000">
                                          <p:val>
                                            <p:fltVal val="0.76285"/>
                                          </p:val>
                                        </p:tav>
                                        <p:tav tm="72333">
                                          <p:val>
                                            <p:fltVal val="0.76285"/>
                                          </p:val>
                                        </p:tav>
                                        <p:tav tm="72667">
                                          <p:val>
                                            <p:fltVal val="0.76285"/>
                                          </p:val>
                                        </p:tav>
                                        <p:tav tm="73000">
                                          <p:val>
                                            <p:fltVal val="0.76285"/>
                                          </p:val>
                                        </p:tav>
                                        <p:tav tm="73333">
                                          <p:val>
                                            <p:fltVal val="0.76285"/>
                                          </p:val>
                                        </p:tav>
                                        <p:tav tm="73667">
                                          <p:val>
                                            <p:fltVal val="0.76285"/>
                                          </p:val>
                                        </p:tav>
                                        <p:tav tm="74000">
                                          <p:val>
                                            <p:fltVal val="0.76285"/>
                                          </p:val>
                                        </p:tav>
                                        <p:tav tm="74333">
                                          <p:val>
                                            <p:fltVal val="0.76285"/>
                                          </p:val>
                                        </p:tav>
                                        <p:tav tm="74667">
                                          <p:val>
                                            <p:fltVal val="0.76285"/>
                                          </p:val>
                                        </p:tav>
                                        <p:tav tm="75000">
                                          <p:val>
                                            <p:fltVal val="0.76285"/>
                                          </p:val>
                                        </p:tav>
                                        <p:tav tm="75333">
                                          <p:val>
                                            <p:fltVal val="0.76285"/>
                                          </p:val>
                                        </p:tav>
                                        <p:tav tm="75667">
                                          <p:val>
                                            <p:fltVal val="0.76285"/>
                                          </p:val>
                                        </p:tav>
                                        <p:tav tm="76000">
                                          <p:val>
                                            <p:fltVal val="0.76285"/>
                                          </p:val>
                                        </p:tav>
                                        <p:tav tm="76333">
                                          <p:val>
                                            <p:fltVal val="0.76285"/>
                                          </p:val>
                                        </p:tav>
                                        <p:tav tm="76667">
                                          <p:val>
                                            <p:fltVal val="0.76285"/>
                                          </p:val>
                                        </p:tav>
                                        <p:tav tm="77000">
                                          <p:val>
                                            <p:fltVal val="0.76285"/>
                                          </p:val>
                                        </p:tav>
                                        <p:tav tm="77333">
                                          <p:val>
                                            <p:fltVal val="0.76285"/>
                                          </p:val>
                                        </p:tav>
                                        <p:tav tm="77667">
                                          <p:val>
                                            <p:fltVal val="0.76285"/>
                                          </p:val>
                                        </p:tav>
                                        <p:tav tm="78000">
                                          <p:val>
                                            <p:fltVal val="0.76285"/>
                                          </p:val>
                                        </p:tav>
                                        <p:tav tm="78333">
                                          <p:val>
                                            <p:fltVal val="0.76285"/>
                                          </p:val>
                                        </p:tav>
                                        <p:tav tm="78667">
                                          <p:val>
                                            <p:fltVal val="0.76285"/>
                                          </p:val>
                                        </p:tav>
                                        <p:tav tm="79000">
                                          <p:val>
                                            <p:fltVal val="0.76285"/>
                                          </p:val>
                                        </p:tav>
                                        <p:tav tm="79333">
                                          <p:val>
                                            <p:fltVal val="0.76285"/>
                                          </p:val>
                                        </p:tav>
                                        <p:tav tm="79667">
                                          <p:val>
                                            <p:fltVal val="0.76285"/>
                                          </p:val>
                                        </p:tav>
                                        <p:tav tm="80000">
                                          <p:val>
                                            <p:fltVal val="0.76285"/>
                                          </p:val>
                                        </p:tav>
                                        <p:tav tm="80333">
                                          <p:val>
                                            <p:fltVal val="0.76285"/>
                                          </p:val>
                                        </p:tav>
                                        <p:tav tm="80667">
                                          <p:val>
                                            <p:fltVal val="0.76285"/>
                                          </p:val>
                                        </p:tav>
                                        <p:tav tm="81000">
                                          <p:val>
                                            <p:fltVal val="0.76285"/>
                                          </p:val>
                                        </p:tav>
                                        <p:tav tm="81333">
                                          <p:val>
                                            <p:fltVal val="0.76285"/>
                                          </p:val>
                                        </p:tav>
                                        <p:tav tm="81667">
                                          <p:val>
                                            <p:fltVal val="0.76285"/>
                                          </p:val>
                                        </p:tav>
                                        <p:tav tm="82000">
                                          <p:val>
                                            <p:fltVal val="0.76285"/>
                                          </p:val>
                                        </p:tav>
                                        <p:tav tm="82333">
                                          <p:val>
                                            <p:fltVal val="0.76285"/>
                                          </p:val>
                                        </p:tav>
                                        <p:tav tm="82667">
                                          <p:val>
                                            <p:fltVal val="0.76285"/>
                                          </p:val>
                                        </p:tav>
                                        <p:tav tm="83000">
                                          <p:val>
                                            <p:fltVal val="0.76285"/>
                                          </p:val>
                                        </p:tav>
                                        <p:tav tm="83333">
                                          <p:val>
                                            <p:fltVal val="0.76285"/>
                                          </p:val>
                                        </p:tav>
                                        <p:tav tm="83667">
                                          <p:val>
                                            <p:fltVal val="0.76285"/>
                                          </p:val>
                                        </p:tav>
                                        <p:tav tm="84000">
                                          <p:val>
                                            <p:fltVal val="0.76285"/>
                                          </p:val>
                                        </p:tav>
                                        <p:tav tm="84333">
                                          <p:val>
                                            <p:fltVal val="0.76285"/>
                                          </p:val>
                                        </p:tav>
                                        <p:tav tm="84667">
                                          <p:val>
                                            <p:fltVal val="0.76285"/>
                                          </p:val>
                                        </p:tav>
                                        <p:tav tm="85000">
                                          <p:val>
                                            <p:fltVal val="0.76285"/>
                                          </p:val>
                                        </p:tav>
                                        <p:tav tm="85333">
                                          <p:val>
                                            <p:fltVal val="0.76285"/>
                                          </p:val>
                                        </p:tav>
                                        <p:tav tm="85667">
                                          <p:val>
                                            <p:fltVal val="0.76285"/>
                                          </p:val>
                                        </p:tav>
                                        <p:tav tm="86000">
                                          <p:val>
                                            <p:fltVal val="0.76285"/>
                                          </p:val>
                                        </p:tav>
                                        <p:tav tm="86333">
                                          <p:val>
                                            <p:fltVal val="0.76285"/>
                                          </p:val>
                                        </p:tav>
                                        <p:tav tm="86667">
                                          <p:val>
                                            <p:fltVal val="0.76285"/>
                                          </p:val>
                                        </p:tav>
                                        <p:tav tm="87000">
                                          <p:val>
                                            <p:fltVal val="0.76285"/>
                                          </p:val>
                                        </p:tav>
                                        <p:tav tm="87333">
                                          <p:val>
                                            <p:fltVal val="0.76285"/>
                                          </p:val>
                                        </p:tav>
                                        <p:tav tm="87667">
                                          <p:val>
                                            <p:fltVal val="0.76285"/>
                                          </p:val>
                                        </p:tav>
                                        <p:tav tm="88000">
                                          <p:val>
                                            <p:fltVal val="0.76285"/>
                                          </p:val>
                                        </p:tav>
                                        <p:tav tm="88333">
                                          <p:val>
                                            <p:fltVal val="0.76285"/>
                                          </p:val>
                                        </p:tav>
                                        <p:tav tm="88667">
                                          <p:val>
                                            <p:fltVal val="0.76285"/>
                                          </p:val>
                                        </p:tav>
                                        <p:tav tm="89000">
                                          <p:val>
                                            <p:fltVal val="0.76285"/>
                                          </p:val>
                                        </p:tav>
                                        <p:tav tm="89333">
                                          <p:val>
                                            <p:fltVal val="0.76285"/>
                                          </p:val>
                                        </p:tav>
                                        <p:tav tm="89667">
                                          <p:val>
                                            <p:fltVal val="0.76285"/>
                                          </p:val>
                                        </p:tav>
                                        <p:tav tm="90000">
                                          <p:val>
                                            <p:fltVal val="0.70938"/>
                                          </p:val>
                                        </p:tav>
                                        <p:tav tm="90333">
                                          <p:val>
                                            <p:fltVal val="0.70938"/>
                                          </p:val>
                                        </p:tav>
                                        <p:tav tm="90667">
                                          <p:val>
                                            <p:fltVal val="0.70938"/>
                                          </p:val>
                                        </p:tav>
                                        <p:tav tm="91000">
                                          <p:val>
                                            <p:fltVal val="0.70938"/>
                                          </p:val>
                                        </p:tav>
                                        <p:tav tm="91333">
                                          <p:val>
                                            <p:fltVal val="0.70938"/>
                                          </p:val>
                                        </p:tav>
                                        <p:tav tm="91667">
                                          <p:val>
                                            <p:fltVal val="0.70938"/>
                                          </p:val>
                                        </p:tav>
                                        <p:tav tm="92000">
                                          <p:val>
                                            <p:fltVal val="0.70938"/>
                                          </p:val>
                                        </p:tav>
                                        <p:tav tm="92333">
                                          <p:val>
                                            <p:fltVal val="0.70938"/>
                                          </p:val>
                                        </p:tav>
                                        <p:tav tm="92667">
                                          <p:val>
                                            <p:fltVal val="0.70938"/>
                                          </p:val>
                                        </p:tav>
                                        <p:tav tm="93000">
                                          <p:val>
                                            <p:fltVal val="0.70938"/>
                                          </p:val>
                                        </p:tav>
                                        <p:tav tm="93333">
                                          <p:val>
                                            <p:fltVal val="0.70938"/>
                                          </p:val>
                                        </p:tav>
                                        <p:tav tm="93667">
                                          <p:val>
                                            <p:fltVal val="0.70938"/>
                                          </p:val>
                                        </p:tav>
                                        <p:tav tm="94000">
                                          <p:val>
                                            <p:fltVal val="0.70938"/>
                                          </p:val>
                                        </p:tav>
                                        <p:tav tm="94333">
                                          <p:val>
                                            <p:fltVal val="0.70938"/>
                                          </p:val>
                                        </p:tav>
                                        <p:tav tm="94667">
                                          <p:val>
                                            <p:fltVal val="0.70938"/>
                                          </p:val>
                                        </p:tav>
                                        <p:tav tm="95000">
                                          <p:val>
                                            <p:fltVal val="0.70938"/>
                                          </p:val>
                                        </p:tav>
                                        <p:tav tm="95333">
                                          <p:val>
                                            <p:fltVal val="0.70938"/>
                                          </p:val>
                                        </p:tav>
                                        <p:tav tm="95667">
                                          <p:val>
                                            <p:fltVal val="0.70938"/>
                                          </p:val>
                                        </p:tav>
                                        <p:tav tm="96000">
                                          <p:val>
                                            <p:fltVal val="0.70938"/>
                                          </p:val>
                                        </p:tav>
                                        <p:tav tm="96333">
                                          <p:val>
                                            <p:fltVal val="0.70938"/>
                                          </p:val>
                                        </p:tav>
                                        <p:tav tm="96667">
                                          <p:val>
                                            <p:fltVal val="0.70938"/>
                                          </p:val>
                                        </p:tav>
                                        <p:tav tm="97000">
                                          <p:val>
                                            <p:fltVal val="0.70938"/>
                                          </p:val>
                                        </p:tav>
                                        <p:tav tm="97333">
                                          <p:val>
                                            <p:fltVal val="0.70938"/>
                                          </p:val>
                                        </p:tav>
                                        <p:tav tm="97667">
                                          <p:val>
                                            <p:fltVal val="0.70938"/>
                                          </p:val>
                                        </p:tav>
                                        <p:tav tm="98000">
                                          <p:val>
                                            <p:fltVal val="0.70938"/>
                                          </p:val>
                                        </p:tav>
                                        <p:tav tm="98333">
                                          <p:val>
                                            <p:fltVal val="0.70938"/>
                                          </p:val>
                                        </p:tav>
                                        <p:tav tm="98667">
                                          <p:val>
                                            <p:fltVal val="0.70938"/>
                                          </p:val>
                                        </p:tav>
                                        <p:tav tm="99000">
                                          <p:val>
                                            <p:fltVal val="0.70938"/>
                                          </p:val>
                                        </p:tav>
                                        <p:tav tm="99333">
                                          <p:val>
                                            <p:fltVal val="0.70938"/>
                                          </p:val>
                                        </p:tav>
                                        <p:tav tm="99667">
                                          <p:val>
                                            <p:fltVal val="0.70938"/>
                                          </p:val>
                                        </p:tav>
                                        <p:tav tm="100000">
                                          <p:val>
                                            <p:fltVal val="0.70938"/>
                                          </p:val>
                                        </p:tav>
                                      </p:tavLst>
                                    </p:anim>
                                    <p:anim calcmode="lin" valueType="num">
                                      <p:cBhvr additive="base">
                                        <p:cTn id="23" dur="10000" fill="hold">
                                          <p:stCondLst>
                                            <p:cond delay="0"/>
                                          </p:stCondLst>
                                        </p:cTn>
                                        <p:tgtEl>
                                          <p:spTgt spid="10027"/>
                                        </p:tgtEl>
                                        <p:attrNameLst>
                                          <p:attrName>ppt_x</p:attrName>
                                        </p:attrNameLst>
                                      </p:cBhvr>
                                      <p:tavLst>
                                        <p:tav tm="0">
                                          <p:val>
                                            <p:fltVal val="0.77822"/>
                                          </p:val>
                                        </p:tav>
                                        <p:tav tm="333">
                                          <p:val>
                                            <p:fltVal val="0.77822"/>
                                          </p:val>
                                        </p:tav>
                                        <p:tav tm="667">
                                          <p:val>
                                            <p:fltVal val="0.77822"/>
                                          </p:val>
                                        </p:tav>
                                        <p:tav tm="1000">
                                          <p:val>
                                            <p:fltVal val="0.77822"/>
                                          </p:val>
                                        </p:tav>
                                        <p:tav tm="1333">
                                          <p:val>
                                            <p:fltVal val="0.77822"/>
                                          </p:val>
                                        </p:tav>
                                        <p:tav tm="1667">
                                          <p:val>
                                            <p:fltVal val="0.77822"/>
                                          </p:val>
                                        </p:tav>
                                        <p:tav tm="2000">
                                          <p:val>
                                            <p:fltVal val="0.77822"/>
                                          </p:val>
                                        </p:tav>
                                        <p:tav tm="2333">
                                          <p:val>
                                            <p:fltVal val="0.77822"/>
                                          </p:val>
                                        </p:tav>
                                        <p:tav tm="2667">
                                          <p:val>
                                            <p:fltVal val="0.77822"/>
                                          </p:val>
                                        </p:tav>
                                        <p:tav tm="3000">
                                          <p:val>
                                            <p:fltVal val="0.77822"/>
                                          </p:val>
                                        </p:tav>
                                        <p:tav tm="3333">
                                          <p:val>
                                            <p:fltVal val="0.77822"/>
                                          </p:val>
                                        </p:tav>
                                        <p:tav tm="3667">
                                          <p:val>
                                            <p:fltVal val="0.77822"/>
                                          </p:val>
                                        </p:tav>
                                        <p:tav tm="4000">
                                          <p:val>
                                            <p:fltVal val="0.77822"/>
                                          </p:val>
                                        </p:tav>
                                        <p:tav tm="4333">
                                          <p:val>
                                            <p:fltVal val="0.77822"/>
                                          </p:val>
                                        </p:tav>
                                        <p:tav tm="4667">
                                          <p:val>
                                            <p:fltVal val="0.77822"/>
                                          </p:val>
                                        </p:tav>
                                        <p:tav tm="5000">
                                          <p:val>
                                            <p:fltVal val="0.77822"/>
                                          </p:val>
                                        </p:tav>
                                        <p:tav tm="5333">
                                          <p:val>
                                            <p:fltVal val="0.77822"/>
                                          </p:val>
                                        </p:tav>
                                        <p:tav tm="5667">
                                          <p:val>
                                            <p:fltVal val="0.77822"/>
                                          </p:val>
                                        </p:tav>
                                        <p:tav tm="6000">
                                          <p:val>
                                            <p:fltVal val="0.77822"/>
                                          </p:val>
                                        </p:tav>
                                        <p:tav tm="6333">
                                          <p:val>
                                            <p:fltVal val="0.77822"/>
                                          </p:val>
                                        </p:tav>
                                        <p:tav tm="6667">
                                          <p:val>
                                            <p:fltVal val="0.77822"/>
                                          </p:val>
                                        </p:tav>
                                        <p:tav tm="7000">
                                          <p:val>
                                            <p:fltVal val="0.77822"/>
                                          </p:val>
                                        </p:tav>
                                        <p:tav tm="7333">
                                          <p:val>
                                            <p:fltVal val="0.77822"/>
                                          </p:val>
                                        </p:tav>
                                        <p:tav tm="7667">
                                          <p:val>
                                            <p:fltVal val="0.77822"/>
                                          </p:val>
                                        </p:tav>
                                        <p:tav tm="8000">
                                          <p:val>
                                            <p:fltVal val="0.77822"/>
                                          </p:val>
                                        </p:tav>
                                        <p:tav tm="8333">
                                          <p:val>
                                            <p:fltVal val="0.77822"/>
                                          </p:val>
                                        </p:tav>
                                        <p:tav tm="8667">
                                          <p:val>
                                            <p:fltVal val="0.77822"/>
                                          </p:val>
                                        </p:tav>
                                        <p:tav tm="9000">
                                          <p:val>
                                            <p:fltVal val="0.77822"/>
                                          </p:val>
                                        </p:tav>
                                        <p:tav tm="9333">
                                          <p:val>
                                            <p:fltVal val="0.77822"/>
                                          </p:val>
                                        </p:tav>
                                        <p:tav tm="9667">
                                          <p:val>
                                            <p:fltVal val="0.77822"/>
                                          </p:val>
                                        </p:tav>
                                        <p:tav tm="10000">
                                          <p:val>
                                            <p:fltVal val="0.77822"/>
                                          </p:val>
                                        </p:tav>
                                        <p:tav tm="10333">
                                          <p:val>
                                            <p:fltVal val="0.778"/>
                                          </p:val>
                                        </p:tav>
                                        <p:tav tm="10667">
                                          <p:val>
                                            <p:fltVal val="0.77738"/>
                                          </p:val>
                                        </p:tav>
                                        <p:tav tm="11000">
                                          <p:val>
                                            <p:fltVal val="0.77679"/>
                                          </p:val>
                                        </p:tav>
                                        <p:tav tm="11333">
                                          <p:val>
                                            <p:fltVal val="0.77664"/>
                                          </p:val>
                                        </p:tav>
                                        <p:tav tm="11667">
                                          <p:val>
                                            <p:fltVal val="0.77715"/>
                                          </p:val>
                                        </p:tav>
                                        <p:tav tm="12000">
                                          <p:val>
                                            <p:fltVal val="0.77838"/>
                                          </p:val>
                                        </p:tav>
                                        <p:tav tm="12333">
                                          <p:val>
                                            <p:fltVal val="0.78011"/>
                                          </p:val>
                                        </p:tav>
                                        <p:tav tm="12667">
                                          <p:val>
                                            <p:fltVal val="0.78199"/>
                                          </p:val>
                                        </p:tav>
                                        <p:tav tm="13000">
                                          <p:val>
                                            <p:fltVal val="0.78361"/>
                                          </p:val>
                                        </p:tav>
                                        <p:tav tm="13333">
                                          <p:val>
                                            <p:fltVal val="0.78471"/>
                                          </p:val>
                                        </p:tav>
                                        <p:tav tm="13667">
                                          <p:val>
                                            <p:fltVal val="0.78524"/>
                                          </p:val>
                                        </p:tav>
                                        <p:tav tm="14000">
                                          <p:val>
                                            <p:fltVal val="0.78538"/>
                                          </p:val>
                                        </p:tav>
                                        <p:tav tm="14333">
                                          <p:val>
                                            <p:fltVal val="0.78547"/>
                                          </p:val>
                                        </p:tav>
                                        <p:tav tm="14667">
                                          <p:val>
                                            <p:fltVal val="0.78586"/>
                                          </p:val>
                                        </p:tav>
                                        <p:tav tm="15000">
                                          <p:val>
                                            <p:fltVal val="0.78679"/>
                                          </p:val>
                                        </p:tav>
                                        <p:tav tm="15333">
                                          <p:val>
                                            <p:fltVal val="0.7883"/>
                                          </p:val>
                                        </p:tav>
                                        <p:tav tm="15667">
                                          <p:val>
                                            <p:fltVal val="0.79021"/>
                                          </p:val>
                                        </p:tav>
                                        <p:tav tm="16000">
                                          <p:val>
                                            <p:fltVal val="0.7922"/>
                                          </p:val>
                                        </p:tav>
                                        <p:tav tm="16333">
                                          <p:val>
                                            <p:fltVal val="0.79392"/>
                                          </p:val>
                                        </p:tav>
                                        <p:tav tm="16667">
                                          <p:val>
                                            <p:fltVal val="0.79513"/>
                                          </p:val>
                                        </p:tav>
                                        <p:tav tm="17000">
                                          <p:val>
                                            <p:fltVal val="0.79579"/>
                                          </p:val>
                                        </p:tav>
                                        <p:tav tm="17333">
                                          <p:val>
                                            <p:fltVal val="0.79608"/>
                                          </p:val>
                                        </p:tav>
                                        <p:tav tm="17667">
                                          <p:val>
                                            <p:fltVal val="0.79628"/>
                                          </p:val>
                                        </p:tav>
                                        <p:tav tm="18000">
                                          <p:val>
                                            <p:fltVal val="0.79672"/>
                                          </p:val>
                                        </p:tav>
                                        <p:tav tm="18333">
                                          <p:val>
                                            <p:fltVal val="0.79762"/>
                                          </p:val>
                                        </p:tav>
                                        <p:tav tm="18667">
                                          <p:val>
                                            <p:fltVal val="0.79902"/>
                                          </p:val>
                                        </p:tav>
                                        <p:tav tm="19000">
                                          <p:val>
                                            <p:fltVal val="0.80075"/>
                                          </p:val>
                                        </p:tav>
                                        <p:tav tm="19333">
                                          <p:val>
                                            <p:fltVal val="0.80253"/>
                                          </p:val>
                                        </p:tav>
                                        <p:tav tm="19667">
                                          <p:val>
                                            <p:fltVal val="0.80406"/>
                                          </p:val>
                                        </p:tav>
                                        <p:tav tm="20000">
                                          <p:val>
                                            <p:fltVal val="0.80511"/>
                                          </p:val>
                                        </p:tav>
                                        <p:tav tm="20333">
                                          <p:val>
                                            <p:fltVal val="0.80567"/>
                                          </p:val>
                                        </p:tav>
                                        <p:tav tm="20667">
                                          <p:val>
                                            <p:fltVal val="0.80587"/>
                                          </p:val>
                                        </p:tav>
                                        <p:tav tm="21000">
                                          <p:val>
                                            <p:fltVal val="0.80598"/>
                                          </p:val>
                                        </p:tav>
                                        <p:tav tm="21333">
                                          <p:val>
                                            <p:fltVal val="0.80631"/>
                                          </p:val>
                                        </p:tav>
                                        <p:tav tm="21667">
                                          <p:val>
                                            <p:fltVal val="0.80703"/>
                                          </p:val>
                                        </p:tav>
                                        <p:tav tm="22000">
                                          <p:val>
                                            <p:fltVal val="0.80819"/>
                                          </p:val>
                                        </p:tav>
                                        <p:tav tm="22333">
                                          <p:val>
                                            <p:fltVal val="0.80964"/>
                                          </p:val>
                                        </p:tav>
                                        <p:tav tm="22667">
                                          <p:val>
                                            <p:fltVal val="0.81113"/>
                                          </p:val>
                                        </p:tav>
                                        <p:tav tm="23000">
                                          <p:val>
                                            <p:fltVal val="0.81239"/>
                                          </p:val>
                                        </p:tav>
                                        <p:tav tm="23333">
                                          <p:val>
                                            <p:fltVal val="0.81322"/>
                                          </p:val>
                                        </p:tav>
                                        <p:tav tm="23667">
                                          <p:val>
                                            <p:fltVal val="0.81361"/>
                                          </p:val>
                                        </p:tav>
                                        <p:tav tm="24000">
                                          <p:val>
                                            <p:fltVal val="0.81367"/>
                                          </p:val>
                                        </p:tav>
                                        <p:tav tm="24333">
                                          <p:val>
                                            <p:fltVal val="0.81366"/>
                                          </p:val>
                                        </p:tav>
                                        <p:tav tm="24667">
                                          <p:val>
                                            <p:fltVal val="0.81383"/>
                                          </p:val>
                                        </p:tav>
                                        <p:tav tm="25000">
                                          <p:val>
                                            <p:fltVal val="0.81436"/>
                                          </p:val>
                                        </p:tav>
                                        <p:tav tm="25333">
                                          <p:val>
                                            <p:fltVal val="0.81527"/>
                                          </p:val>
                                        </p:tav>
                                        <p:tav tm="25667">
                                          <p:val>
                                            <p:fltVal val="0.81645"/>
                                          </p:val>
                                        </p:tav>
                                        <p:tav tm="26000">
                                          <p:val>
                                            <p:fltVal val="0.81766"/>
                                          </p:val>
                                        </p:tav>
                                        <p:tav tm="26333">
                                          <p:val>
                                            <p:fltVal val="0.81866"/>
                                          </p:val>
                                        </p:tav>
                                        <p:tav tm="26667">
                                          <p:val>
                                            <p:fltVal val="0.81929"/>
                                          </p:val>
                                        </p:tav>
                                        <p:tav tm="27000">
                                          <p:val>
                                            <p:fltVal val="0.81952"/>
                                          </p:val>
                                        </p:tav>
                                        <p:tav tm="27333">
                                          <p:val>
                                            <p:fltVal val="0.81946"/>
                                          </p:val>
                                        </p:tav>
                                        <p:tav tm="27667">
                                          <p:val>
                                            <p:fltVal val="0.81933"/>
                                          </p:val>
                                        </p:tav>
                                        <p:tav tm="28000">
                                          <p:val>
                                            <p:fltVal val="0.81937"/>
                                          </p:val>
                                        </p:tav>
                                        <p:tav tm="28333">
                                          <p:val>
                                            <p:fltVal val="0.81973"/>
                                          </p:val>
                                        </p:tav>
                                        <p:tav tm="28667">
                                          <p:val>
                                            <p:fltVal val="0.82043"/>
                                          </p:val>
                                        </p:tav>
                                        <p:tav tm="29000">
                                          <p:val>
                                            <p:fltVal val="0.82138"/>
                                          </p:val>
                                        </p:tav>
                                        <p:tav tm="29333">
                                          <p:val>
                                            <p:fltVal val="0.82235"/>
                                          </p:val>
                                        </p:tav>
                                        <p:tav tm="29667">
                                          <p:val>
                                            <p:fltVal val="0.82314"/>
                                          </p:val>
                                        </p:tav>
                                        <p:tav tm="30000">
                                          <p:val>
                                            <p:fltVal val="0.8236"/>
                                          </p:val>
                                        </p:tav>
                                        <p:tav tm="30333">
                                          <p:val>
                                            <p:fltVal val="0.82371"/>
                                          </p:val>
                                        </p:tav>
                                        <p:tav tm="30667">
                                          <p:val>
                                            <p:fltVal val="0.82356"/>
                                          </p:val>
                                        </p:tav>
                                        <p:tav tm="31000">
                                          <p:val>
                                            <p:fltVal val="0.82335"/>
                                          </p:val>
                                        </p:tav>
                                        <p:tav tm="31333">
                                          <p:val>
                                            <p:fltVal val="0.82329"/>
                                          </p:val>
                                        </p:tav>
                                        <p:tav tm="31667">
                                          <p:val>
                                            <p:fltVal val="0.82352"/>
                                          </p:val>
                                        </p:tav>
                                        <p:tav tm="32000">
                                          <p:val>
                                            <p:fltVal val="0.82406"/>
                                          </p:val>
                                        </p:tav>
                                        <p:tav tm="32333">
                                          <p:val>
                                            <p:fltVal val="0.82482"/>
                                          </p:val>
                                        </p:tav>
                                        <p:tav tm="32667">
                                          <p:val>
                                            <p:fltVal val="0.82561"/>
                                          </p:val>
                                        </p:tav>
                                        <p:tav tm="33000">
                                          <p:val>
                                            <p:fltVal val="0.82623"/>
                                          </p:val>
                                        </p:tav>
                                        <p:tav tm="33333">
                                          <p:val>
                                            <p:fltVal val="0.82657"/>
                                          </p:val>
                                        </p:tav>
                                        <p:tav tm="33667">
                                          <p:val>
                                            <p:fltVal val="0.82658"/>
                                          </p:val>
                                        </p:tav>
                                        <p:tav tm="34000">
                                          <p:val>
                                            <p:fltVal val="0.82637"/>
                                          </p:val>
                                        </p:tav>
                                        <p:tav tm="34333">
                                          <p:val>
                                            <p:fltVal val="0.82612"/>
                                          </p:val>
                                        </p:tav>
                                        <p:tav tm="34667">
                                          <p:val>
                                            <p:fltVal val="0.82599"/>
                                          </p:val>
                                        </p:tav>
                                        <p:tav tm="35000">
                                          <p:val>
                                            <p:fltVal val="0.82613"/>
                                          </p:val>
                                        </p:tav>
                                        <p:tav tm="35333">
                                          <p:val>
                                            <p:fltVal val="0.82655"/>
                                          </p:val>
                                        </p:tav>
                                        <p:tav tm="35667">
                                          <p:val>
                                            <p:fltVal val="0.82716"/>
                                          </p:val>
                                        </p:tav>
                                        <p:tav tm="36000">
                                          <p:val>
                                            <p:fltVal val="0.8278"/>
                                          </p:val>
                                        </p:tav>
                                        <p:tav tm="36333">
                                          <p:val>
                                            <p:fltVal val="0.82831"/>
                                          </p:val>
                                        </p:tav>
                                        <p:tav tm="36667">
                                          <p:val>
                                            <p:fltVal val="0.82855"/>
                                          </p:val>
                                        </p:tav>
                                        <p:tav tm="37000">
                                          <p:val>
                                            <p:fltVal val="0.82851"/>
                                          </p:val>
                                        </p:tav>
                                        <p:tav tm="37333">
                                          <p:val>
                                            <p:fltVal val="0.82827"/>
                                          </p:val>
                                        </p:tav>
                                        <p:tav tm="37667">
                                          <p:val>
                                            <p:fltVal val="0.82799"/>
                                          </p:val>
                                        </p:tav>
                                        <p:tav tm="38000">
                                          <p:val>
                                            <p:fltVal val="0.82783"/>
                                          </p:val>
                                        </p:tav>
                                        <p:tav tm="38333">
                                          <p:val>
                                            <p:fltVal val="0.8279"/>
                                          </p:val>
                                        </p:tav>
                                        <p:tav tm="38667">
                                          <p:val>
                                            <p:fltVal val="0.82823"/>
                                          </p:val>
                                        </p:tav>
                                        <p:tav tm="39000">
                                          <p:val>
                                            <p:fltVal val="0.82873"/>
                                          </p:val>
                                        </p:tav>
                                        <p:tav tm="39333">
                                          <p:val>
                                            <p:fltVal val="0.82926"/>
                                          </p:val>
                                        </p:tav>
                                        <p:tav tm="39667">
                                          <p:val>
                                            <p:fltVal val="0.82967"/>
                                          </p:val>
                                        </p:tav>
                                        <p:tav tm="40000">
                                          <p:val>
                                            <p:fltVal val="0.82984"/>
                                          </p:val>
                                        </p:tav>
                                        <p:tav tm="40333">
                                          <p:val>
                                            <p:fltVal val="0.82977"/>
                                          </p:val>
                                        </p:tav>
                                        <p:tav tm="40667">
                                          <p:val>
                                            <p:fltVal val="0.82952"/>
                                          </p:val>
                                        </p:tav>
                                        <p:tav tm="41000">
                                          <p:val>
                                            <p:fltVal val="0.82923"/>
                                          </p:val>
                                        </p:tav>
                                        <p:tav tm="41333">
                                          <p:val>
                                            <p:fltVal val="0.82905"/>
                                          </p:val>
                                        </p:tav>
                                        <p:tav tm="41667">
                                          <p:val>
                                            <p:fltVal val="0.82908"/>
                                          </p:val>
                                        </p:tav>
                                        <p:tav tm="42000">
                                          <p:val>
                                            <p:fltVal val="0.82934"/>
                                          </p:val>
                                        </p:tav>
                                        <p:tav tm="42333">
                                          <p:val>
                                            <p:fltVal val="0.82976"/>
                                          </p:val>
                                        </p:tav>
                                        <p:tav tm="42667">
                                          <p:val>
                                            <p:fltVal val="0.83021"/>
                                          </p:val>
                                        </p:tav>
                                        <p:tav tm="43000">
                                          <p:val>
                                            <p:fltVal val="0.83054"/>
                                          </p:val>
                                        </p:tav>
                                        <p:tav tm="43333">
                                          <p:val>
                                            <p:fltVal val="0.83067"/>
                                          </p:val>
                                        </p:tav>
                                        <p:tav tm="43667">
                                          <p:val>
                                            <p:fltVal val="0.83058"/>
                                          </p:val>
                                        </p:tav>
                                        <p:tav tm="44000">
                                          <p:val>
                                            <p:fltVal val="0.83033"/>
                                          </p:val>
                                        </p:tav>
                                        <p:tav tm="44333">
                                          <p:val>
                                            <p:fltVal val="0.83005"/>
                                          </p:val>
                                        </p:tav>
                                        <p:tav tm="44667">
                                          <p:val>
                                            <p:fltVal val="0.82987"/>
                                          </p:val>
                                        </p:tav>
                                        <p:tav tm="45000">
                                          <p:val>
                                            <p:fltVal val="0.82987"/>
                                          </p:val>
                                        </p:tav>
                                        <p:tav tm="45333">
                                          <p:val>
                                            <p:fltVal val="0.83008"/>
                                          </p:val>
                                        </p:tav>
                                        <p:tav tm="45667">
                                          <p:val>
                                            <p:fltVal val="0.83044"/>
                                          </p:val>
                                        </p:tav>
                                        <p:tav tm="46000">
                                          <p:val>
                                            <p:fltVal val="0.83081"/>
                                          </p:val>
                                        </p:tav>
                                        <p:tav tm="46333">
                                          <p:val>
                                            <p:fltVal val="0.83109"/>
                                          </p:val>
                                        </p:tav>
                                        <p:tav tm="46667">
                                          <p:val>
                                            <p:fltVal val="0.83119"/>
                                          </p:val>
                                        </p:tav>
                                        <p:tav tm="47000">
                                          <p:val>
                                            <p:fltVal val="0.83109"/>
                                          </p:val>
                                        </p:tav>
                                        <p:tav tm="47333">
                                          <p:val>
                                            <p:fltVal val="0.83085"/>
                                          </p:val>
                                        </p:tav>
                                        <p:tav tm="47667">
                                          <p:val>
                                            <p:fltVal val="0.83059"/>
                                          </p:val>
                                        </p:tav>
                                        <p:tav tm="48000">
                                          <p:val>
                                            <p:fltVal val="0.83041"/>
                                          </p:val>
                                        </p:tav>
                                        <p:tav tm="48333">
                                          <p:val>
                                            <p:fltVal val="0.8304"/>
                                          </p:val>
                                        </p:tav>
                                        <p:tav tm="48667">
                                          <p:val>
                                            <p:fltVal val="0.83057"/>
                                          </p:val>
                                        </p:tav>
                                        <p:tav tm="49000">
                                          <p:val>
                                            <p:fltVal val="0.83087"/>
                                          </p:val>
                                        </p:tav>
                                        <p:tav tm="49333">
                                          <p:val>
                                            <p:fltVal val="0.8312"/>
                                          </p:val>
                                        </p:tav>
                                        <p:tav tm="49667">
                                          <p:val>
                                            <p:fltVal val="0.83144"/>
                                          </p:val>
                                        </p:tav>
                                        <p:tav tm="50000">
                                          <p:val>
                                            <p:fltVal val="0.83151"/>
                                          </p:val>
                                        </p:tav>
                                        <p:tav tm="50333">
                                          <p:val>
                                            <p:fltVal val="0.83141"/>
                                          </p:val>
                                        </p:tav>
                                        <p:tav tm="50667">
                                          <p:val>
                                            <p:fltVal val="0.83119"/>
                                          </p:val>
                                        </p:tav>
                                        <p:tav tm="51000">
                                          <p:val>
                                            <p:fltVal val="0.83094"/>
                                          </p:val>
                                        </p:tav>
                                        <p:tav tm="51333">
                                          <p:val>
                                            <p:fltVal val="0.83077"/>
                                          </p:val>
                                        </p:tav>
                                        <p:tav tm="51667">
                                          <p:val>
                                            <p:fltVal val="0.83075"/>
                                          </p:val>
                                        </p:tav>
                                        <p:tav tm="52000">
                                          <p:val>
                                            <p:fltVal val="0.83089"/>
                                          </p:val>
                                        </p:tav>
                                        <p:tav tm="52333">
                                          <p:val>
                                            <p:fltVal val="0.83115"/>
                                          </p:val>
                                        </p:tav>
                                        <p:tav tm="52667">
                                          <p:val>
                                            <p:fltVal val="0.83144"/>
                                          </p:val>
                                        </p:tav>
                                        <p:tav tm="53000">
                                          <p:val>
                                            <p:fltVal val="0.83164"/>
                                          </p:val>
                                        </p:tav>
                                        <p:tav tm="53333">
                                          <p:val>
                                            <p:fltVal val="0.8317"/>
                                          </p:val>
                                        </p:tav>
                                        <p:tav tm="53667">
                                          <p:val>
                                            <p:fltVal val="0.8316"/>
                                          </p:val>
                                        </p:tav>
                                        <p:tav tm="54000">
                                          <p:val>
                                            <p:fltVal val="0.8314"/>
                                          </p:val>
                                        </p:tav>
                                        <p:tav tm="54333">
                                          <p:val>
                                            <p:fltVal val="0.83117"/>
                                          </p:val>
                                        </p:tav>
                                        <p:tav tm="54667">
                                          <p:val>
                                            <p:fltVal val="0.83101"/>
                                          </p:val>
                                        </p:tav>
                                        <p:tav tm="55000">
                                          <p:val>
                                            <p:fltVal val="0.83099"/>
                                          </p:val>
                                        </p:tav>
                                        <p:tav tm="55333">
                                          <p:val>
                                            <p:fltVal val="0.83111"/>
                                          </p:val>
                                        </p:tav>
                                        <p:tav tm="55667">
                                          <p:val>
                                            <p:fltVal val="0.83133"/>
                                          </p:val>
                                        </p:tav>
                                        <p:tav tm="56000">
                                          <p:val>
                                            <p:fltVal val="0.83158"/>
                                          </p:val>
                                        </p:tav>
                                        <p:tav tm="56333">
                                          <p:val>
                                            <p:fltVal val="0.83176"/>
                                          </p:val>
                                        </p:tav>
                                        <p:tav tm="56667">
                                          <p:val>
                                            <p:fltVal val="0.83181"/>
                                          </p:val>
                                        </p:tav>
                                        <p:tav tm="57000">
                                          <p:val>
                                            <p:fltVal val="0.83172"/>
                                          </p:val>
                                        </p:tav>
                                        <p:tav tm="57333">
                                          <p:val>
                                            <p:fltVal val="0.83153"/>
                                          </p:val>
                                        </p:tav>
                                        <p:tav tm="57667">
                                          <p:val>
                                            <p:fltVal val="0.83132"/>
                                          </p:val>
                                        </p:tav>
                                        <p:tav tm="58000">
                                          <p:val>
                                            <p:fltVal val="0.83117"/>
                                          </p:val>
                                        </p:tav>
                                        <p:tav tm="58333">
                                          <p:val>
                                            <p:fltVal val="0.83115"/>
                                          </p:val>
                                        </p:tav>
                                        <p:tav tm="58667">
                                          <p:val>
                                            <p:fltVal val="0.83125"/>
                                          </p:val>
                                        </p:tav>
                                        <p:tav tm="59000">
                                          <p:val>
                                            <p:fltVal val="0.83145"/>
                                          </p:val>
                                        </p:tav>
                                        <p:tav tm="59333">
                                          <p:val>
                                            <p:fltVal val="0.83167"/>
                                          </p:val>
                                        </p:tav>
                                        <p:tav tm="59667">
                                          <p:val>
                                            <p:fltVal val="0.83182"/>
                                          </p:val>
                                        </p:tav>
                                        <p:tav tm="60000">
                                          <p:val>
                                            <p:fltVal val="0.83186"/>
                                          </p:val>
                                        </p:tav>
                                        <p:tav tm="60333">
                                          <p:val>
                                            <p:fltVal val="0.83178"/>
                                          </p:val>
                                        </p:tav>
                                        <p:tav tm="60667">
                                          <p:val>
                                            <p:fltVal val="0.83161"/>
                                          </p:val>
                                        </p:tav>
                                        <p:tav tm="61000">
                                          <p:val>
                                            <p:fltVal val="0.83142"/>
                                          </p:val>
                                        </p:tav>
                                        <p:tav tm="61333">
                                          <p:val>
                                            <p:fltVal val="0.83128"/>
                                          </p:val>
                                        </p:tav>
                                        <p:tav tm="61667">
                                          <p:val>
                                            <p:fltVal val="0.83126"/>
                                          </p:val>
                                        </p:tav>
                                        <p:tav tm="62000">
                                          <p:val>
                                            <p:fltVal val="0.83135"/>
                                          </p:val>
                                        </p:tav>
                                        <p:tav tm="62333">
                                          <p:val>
                                            <p:fltVal val="0.83153"/>
                                          </p:val>
                                        </p:tav>
                                        <p:tav tm="62667">
                                          <p:val>
                                            <p:fltVal val="0.83172"/>
                                          </p:val>
                                        </p:tav>
                                        <p:tav tm="63000">
                                          <p:val>
                                            <p:fltVal val="0.83185"/>
                                          </p:val>
                                        </p:tav>
                                        <p:tav tm="63333">
                                          <p:val>
                                            <p:fltVal val="0.83189"/>
                                          </p:val>
                                        </p:tav>
                                        <p:tav tm="63667">
                                          <p:val>
                                            <p:fltVal val="0.83181"/>
                                          </p:val>
                                        </p:tav>
                                        <p:tav tm="64000">
                                          <p:val>
                                            <p:fltVal val="0.83166"/>
                                          </p:val>
                                        </p:tav>
                                        <p:tav tm="64333">
                                          <p:val>
                                            <p:fltVal val="0.83148"/>
                                          </p:val>
                                        </p:tav>
                                        <p:tav tm="64667">
                                          <p:val>
                                            <p:fltVal val="0.83136"/>
                                          </p:val>
                                        </p:tav>
                                        <p:tav tm="65000">
                                          <p:val>
                                            <p:fltVal val="0.83134"/>
                                          </p:val>
                                        </p:tav>
                                        <p:tav tm="65333">
                                          <p:val>
                                            <p:fltVal val="0.83142"/>
                                          </p:val>
                                        </p:tav>
                                        <p:tav tm="65667">
                                          <p:val>
                                            <p:fltVal val="0.83157"/>
                                          </p:val>
                                        </p:tav>
                                        <p:tav tm="66000">
                                          <p:val>
                                            <p:fltVal val="0.83174"/>
                                          </p:val>
                                        </p:tav>
                                        <p:tav tm="66333">
                                          <p:val>
                                            <p:fltVal val="0.83186"/>
                                          </p:val>
                                        </p:tav>
                                        <p:tav tm="66667">
                                          <p:val>
                                            <p:fltVal val="0.83189"/>
                                          </p:val>
                                        </p:tav>
                                        <p:tav tm="67000">
                                          <p:val>
                                            <p:fltVal val="0.83182"/>
                                          </p:val>
                                        </p:tav>
                                        <p:tav tm="67333">
                                          <p:val>
                                            <p:fltVal val="0.83168"/>
                                          </p:val>
                                        </p:tav>
                                        <p:tav tm="67667">
                                          <p:val>
                                            <p:fltVal val="0.83153"/>
                                          </p:val>
                                        </p:tav>
                                        <p:tav tm="68000">
                                          <p:val>
                                            <p:fltVal val="0.83142"/>
                                          </p:val>
                                        </p:tav>
                                        <p:tav tm="68333">
                                          <p:val>
                                            <p:fltVal val="0.8314"/>
                                          </p:val>
                                        </p:tav>
                                        <p:tav tm="68667">
                                          <p:val>
                                            <p:fltVal val="0.83147"/>
                                          </p:val>
                                        </p:tav>
                                        <p:tav tm="69000">
                                          <p:val>
                                            <p:fltVal val="0.83161"/>
                                          </p:val>
                                        </p:tav>
                                        <p:tav tm="69333">
                                          <p:val>
                                            <p:fltVal val="0.83176"/>
                                          </p:val>
                                        </p:tav>
                                        <p:tav tm="69667">
                                          <p:val>
                                            <p:fltVal val="0.83186"/>
                                          </p:val>
                                        </p:tav>
                                        <p:tav tm="70000">
                                          <p:val>
                                            <p:fltVal val="0.83189"/>
                                          </p:val>
                                        </p:tav>
                                        <p:tav tm="70333">
                                          <p:val>
                                            <p:fltVal val="0.83183"/>
                                          </p:val>
                                        </p:tav>
                                        <p:tav tm="70667">
                                          <p:val>
                                            <p:fltVal val="0.8317"/>
                                          </p:val>
                                        </p:tav>
                                        <p:tav tm="71000">
                                          <p:val>
                                            <p:fltVal val="0.83156"/>
                                          </p:val>
                                        </p:tav>
                                        <p:tav tm="71333">
                                          <p:val>
                                            <p:fltVal val="0.83146"/>
                                          </p:val>
                                        </p:tav>
                                        <p:tav tm="71667">
                                          <p:val>
                                            <p:fltVal val="0.83144"/>
                                          </p:val>
                                        </p:tav>
                                        <p:tav tm="72000">
                                          <p:val>
                                            <p:fltVal val="0.83151"/>
                                          </p:val>
                                        </p:tav>
                                        <p:tav tm="72333">
                                          <p:val>
                                            <p:fltVal val="0.83163"/>
                                          </p:val>
                                        </p:tav>
                                        <p:tav tm="72667">
                                          <p:val>
                                            <p:fltVal val="0.83176"/>
                                          </p:val>
                                        </p:tav>
                                        <p:tav tm="73000">
                                          <p:val>
                                            <p:fltVal val="0.83186"/>
                                          </p:val>
                                        </p:tav>
                                        <p:tav tm="73333">
                                          <p:val>
                                            <p:fltVal val="0.83188"/>
                                          </p:val>
                                        </p:tav>
                                        <p:tav tm="73667">
                                          <p:val>
                                            <p:fltVal val="0.83182"/>
                                          </p:val>
                                        </p:tav>
                                        <p:tav tm="74000">
                                          <p:val>
                                            <p:fltVal val="0.83171"/>
                                          </p:val>
                                        </p:tav>
                                        <p:tav tm="74333">
                                          <p:val>
                                            <p:fltVal val="0.83159"/>
                                          </p:val>
                                        </p:tav>
                                        <p:tav tm="74667">
                                          <p:val>
                                            <p:fltVal val="0.8315"/>
                                          </p:val>
                                        </p:tav>
                                        <p:tav tm="75000">
                                          <p:val>
                                            <p:fltVal val="0.83148"/>
                                          </p:val>
                                        </p:tav>
                                        <p:tav tm="75333">
                                          <p:val>
                                            <p:fltVal val="0.83153"/>
                                          </p:val>
                                        </p:tav>
                                        <p:tav tm="75667">
                                          <p:val>
                                            <p:fltVal val="0.83164"/>
                                          </p:val>
                                        </p:tav>
                                        <p:tav tm="76000">
                                          <p:val>
                                            <p:fltVal val="0.83176"/>
                                          </p:val>
                                        </p:tav>
                                        <p:tav tm="76333">
                                          <p:val>
                                            <p:fltVal val="0.83184"/>
                                          </p:val>
                                        </p:tav>
                                        <p:tav tm="76667">
                                          <p:val>
                                            <p:fltVal val="0.83186"/>
                                          </p:val>
                                        </p:tav>
                                        <p:tav tm="77000">
                                          <p:val>
                                            <p:fltVal val="0.83181"/>
                                          </p:val>
                                        </p:tav>
                                        <p:tav tm="77333">
                                          <p:val>
                                            <p:fltVal val="0.83171"/>
                                          </p:val>
                                        </p:tav>
                                        <p:tav tm="77667">
                                          <p:val>
                                            <p:fltVal val="0.8316"/>
                                          </p:val>
                                        </p:tav>
                                        <p:tav tm="78000">
                                          <p:val>
                                            <p:fltVal val="0.83152"/>
                                          </p:val>
                                        </p:tav>
                                        <p:tav tm="78333">
                                          <p:val>
                                            <p:fltVal val="0.83151"/>
                                          </p:val>
                                        </p:tav>
                                        <p:tav tm="78667">
                                          <p:val>
                                            <p:fltVal val="0.83155"/>
                                          </p:val>
                                        </p:tav>
                                        <p:tav tm="79000">
                                          <p:val>
                                            <p:fltVal val="0.83165"/>
                                          </p:val>
                                        </p:tav>
                                        <p:tav tm="79333">
                                          <p:val>
                                            <p:fltVal val="0.83176"/>
                                          </p:val>
                                        </p:tav>
                                        <p:tav tm="79667">
                                          <p:val>
                                            <p:fltVal val="0.83183"/>
                                          </p:val>
                                        </p:tav>
                                        <p:tav tm="80000">
                                          <p:val>
                                            <p:fltVal val="0.83185"/>
                                          </p:val>
                                        </p:tav>
                                        <p:tav tm="80333">
                                          <p:val>
                                            <p:fltVal val="0.8318"/>
                                          </p:val>
                                        </p:tav>
                                        <p:tav tm="80667">
                                          <p:val>
                                            <p:fltVal val="0.83171"/>
                                          </p:val>
                                        </p:tav>
                                        <p:tav tm="81000">
                                          <p:val>
                                            <p:fltVal val="0.83162"/>
                                          </p:val>
                                        </p:tav>
                                        <p:tav tm="81333">
                                          <p:val>
                                            <p:fltVal val="0.83154"/>
                                          </p:val>
                                        </p:tav>
                                        <p:tav tm="81667">
                                          <p:val>
                                            <p:fltVal val="0.83153"/>
                                          </p:val>
                                        </p:tav>
                                        <p:tav tm="82000">
                                          <p:val>
                                            <p:fltVal val="0.83157"/>
                                          </p:val>
                                        </p:tav>
                                        <p:tav tm="82333">
                                          <p:val>
                                            <p:fltVal val="0.83166"/>
                                          </p:val>
                                        </p:tav>
                                        <p:tav tm="82667">
                                          <p:val>
                                            <p:fltVal val="0.83175"/>
                                          </p:val>
                                        </p:tav>
                                        <p:tav tm="83000">
                                          <p:val>
                                            <p:fltVal val="0.83182"/>
                                          </p:val>
                                        </p:tav>
                                        <p:tav tm="83333">
                                          <p:val>
                                            <p:fltVal val="0.83184"/>
                                          </p:val>
                                        </p:tav>
                                        <p:tav tm="83667">
                                          <p:val>
                                            <p:fltVal val="0.8318"/>
                                          </p:val>
                                        </p:tav>
                                        <p:tav tm="84000">
                                          <p:val>
                                            <p:fltVal val="0.83171"/>
                                          </p:val>
                                        </p:tav>
                                        <p:tav tm="84333">
                                          <p:val>
                                            <p:fltVal val="0.83163"/>
                                          </p:val>
                                        </p:tav>
                                        <p:tav tm="84667">
                                          <p:val>
                                            <p:fltVal val="0.83156"/>
                                          </p:val>
                                        </p:tav>
                                        <p:tav tm="85000">
                                          <p:val>
                                            <p:fltVal val="0.83155"/>
                                          </p:val>
                                        </p:tav>
                                        <p:tav tm="85333">
                                          <p:val>
                                            <p:fltVal val="0.83159"/>
                                          </p:val>
                                        </p:tav>
                                        <p:tav tm="85667">
                                          <p:val>
                                            <p:fltVal val="0.83166"/>
                                          </p:val>
                                        </p:tav>
                                        <p:tav tm="86000">
                                          <p:val>
                                            <p:fltVal val="0.83175"/>
                                          </p:val>
                                        </p:tav>
                                        <p:tav tm="86333">
                                          <p:val>
                                            <p:fltVal val="0.83181"/>
                                          </p:val>
                                        </p:tav>
                                        <p:tav tm="86667">
                                          <p:val>
                                            <p:fltVal val="0.83182"/>
                                          </p:val>
                                        </p:tav>
                                        <p:tav tm="87000">
                                          <p:val>
                                            <p:fltVal val="0.83179"/>
                                          </p:val>
                                        </p:tav>
                                        <p:tav tm="87333">
                                          <p:val>
                                            <p:fltVal val="0.83171"/>
                                          </p:val>
                                        </p:tav>
                                        <p:tav tm="87667">
                                          <p:val>
                                            <p:fltVal val="0.83163"/>
                                          </p:val>
                                        </p:tav>
                                        <p:tav tm="88000">
                                          <p:val>
                                            <p:fltVal val="0.83158"/>
                                          </p:val>
                                        </p:tav>
                                        <p:tav tm="88333">
                                          <p:val>
                                            <p:fltVal val="0.83156"/>
                                          </p:val>
                                        </p:tav>
                                        <p:tav tm="88667">
                                          <p:val>
                                            <p:fltVal val="0.8316"/>
                                          </p:val>
                                        </p:tav>
                                        <p:tav tm="89000">
                                          <p:val>
                                            <p:fltVal val="0.83167"/>
                                          </p:val>
                                        </p:tav>
                                        <p:tav tm="89333">
                                          <p:val>
                                            <p:fltVal val="0.83174"/>
                                          </p:val>
                                        </p:tav>
                                        <p:tav tm="89667">
                                          <p:val>
                                            <p:fltVal val="0.8318"/>
                                          </p:val>
                                        </p:tav>
                                        <p:tav tm="90000">
                                          <p:val>
                                            <p:fltVal val="0.83181"/>
                                          </p:val>
                                        </p:tav>
                                        <p:tav tm="90333">
                                          <p:val>
                                            <p:fltVal val="0.83923"/>
                                          </p:val>
                                        </p:tav>
                                        <p:tav tm="90667">
                                          <p:val>
                                            <p:fltVal val="0.85421"/>
                                          </p:val>
                                        </p:tav>
                                        <p:tav tm="91000">
                                          <p:val>
                                            <p:fltVal val="0.86069"/>
                                          </p:val>
                                        </p:tav>
                                        <p:tav tm="91333">
                                          <p:val>
                                            <p:fltVal val="0.85017"/>
                                          </p:val>
                                        </p:tav>
                                        <p:tav tm="91667">
                                          <p:val>
                                            <p:fltVal val="0.82378"/>
                                          </p:val>
                                        </p:tav>
                                        <p:tav tm="92000">
                                          <p:val>
                                            <p:fltVal val="0.78796"/>
                                          </p:val>
                                        </p:tav>
                                        <p:tav tm="92333">
                                          <p:val>
                                            <p:fltVal val="0.75465"/>
                                          </p:val>
                                        </p:tav>
                                        <p:tav tm="92667">
                                          <p:val>
                                            <p:fltVal val="0.73486"/>
                                          </p:val>
                                        </p:tav>
                                        <p:tav tm="93000">
                                          <p:val>
                                            <p:fltVal val="0.7345"/>
                                          </p:val>
                                        </p:tav>
                                        <p:tav tm="93333">
                                          <p:val>
                                            <p:fltVal val="0.75264"/>
                                          </p:val>
                                        </p:tav>
                                        <p:tav tm="93667">
                                          <p:val>
                                            <p:fltVal val="0.78139"/>
                                          </p:val>
                                        </p:tav>
                                        <p:tav tm="94000">
                                          <p:val>
                                            <p:fltVal val="0.80926"/>
                                          </p:val>
                                        </p:tav>
                                        <p:tav tm="94333">
                                          <p:val>
                                            <p:fltVal val="0.8255"/>
                                          </p:val>
                                        </p:tav>
                                        <p:tav tm="94667">
                                          <p:val>
                                            <p:fltVal val="0.824"/>
                                          </p:val>
                                        </p:tav>
                                        <p:tav tm="95000">
                                          <p:val>
                                            <p:fltVal val="0.8056"/>
                                          </p:val>
                                        </p:tav>
                                        <p:tav tm="95333">
                                          <p:val>
                                            <p:fltVal val="0.77752"/>
                                          </p:val>
                                        </p:tav>
                                        <p:tav tm="95667">
                                          <p:val>
                                            <p:fltVal val="0.75051"/>
                                          </p:val>
                                        </p:tav>
                                        <p:tav tm="96000">
                                          <p:val>
                                            <p:fltVal val="0.7347"/>
                                          </p:val>
                                        </p:tav>
                                        <p:tav tm="96333">
                                          <p:val>
                                            <p:fltVal val="0.73577"/>
                                          </p:val>
                                        </p:tav>
                                        <p:tav tm="96667">
                                          <p:val>
                                            <p:fltVal val="0.75291"/>
                                          </p:val>
                                        </p:tav>
                                        <p:tav tm="97000">
                                          <p:val>
                                            <p:fltVal val="0.77927"/>
                                          </p:val>
                                        </p:tav>
                                        <p:tav tm="97333">
                                          <p:val>
                                            <p:fltVal val="0.80468"/>
                                          </p:val>
                                        </p:tav>
                                        <p:tav tm="97667">
                                          <p:val>
                                            <p:fltVal val="0.81955"/>
                                          </p:val>
                                        </p:tav>
                                        <p:tav tm="98000">
                                          <p:val>
                                            <p:fltVal val="0.8185"/>
                                          </p:val>
                                        </p:tav>
                                        <p:tav tm="98333">
                                          <p:val>
                                            <p:fltVal val="0.80227"/>
                                          </p:val>
                                        </p:tav>
                                        <p:tav tm="98667">
                                          <p:val>
                                            <p:fltVal val="0.77732"/>
                                          </p:val>
                                        </p:tav>
                                        <p:tav tm="99000">
                                          <p:val>
                                            <p:fltVal val="0.75328"/>
                                          </p:val>
                                        </p:tav>
                                        <p:tav tm="99333">
                                          <p:val>
                                            <p:fltVal val="0.7392"/>
                                          </p:val>
                                        </p:tav>
                                        <p:tav tm="99667">
                                          <p:val>
                                            <p:fltVal val="0.74018"/>
                                          </p:val>
                                        </p:tav>
                                        <p:tav tm="100000">
                                          <p:val>
                                            <p:fltVal val="0.74018"/>
                                          </p:val>
                                        </p:tav>
                                      </p:tavLst>
                                    </p:anim>
                                    <p:anim calcmode="lin" valueType="num">
                                      <p:cBhvr additive="base">
                                        <p:cTn id="24" dur="10000" fill="hold">
                                          <p:stCondLst>
                                            <p:cond delay="0"/>
                                          </p:stCondLst>
                                        </p:cTn>
                                        <p:tgtEl>
                                          <p:spTgt spid="10028"/>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0938"/>
                                          </p:val>
                                        </p:tav>
                                        <p:tav tm="10333">
                                          <p:val>
                                            <p:fltVal val="0.70945"/>
                                          </p:val>
                                        </p:tav>
                                        <p:tav tm="10667">
                                          <p:val>
                                            <p:fltVal val="0.70966"/>
                                          </p:val>
                                        </p:tav>
                                        <p:tav tm="11000">
                                          <p:val>
                                            <p:fltVal val="0.70999"/>
                                          </p:val>
                                        </p:tav>
                                        <p:tav tm="11333">
                                          <p:val>
                                            <p:fltVal val="0.71043"/>
                                          </p:val>
                                        </p:tav>
                                        <p:tav tm="11667">
                                          <p:val>
                                            <p:fltVal val="0.71097"/>
                                          </p:val>
                                        </p:tav>
                                        <p:tav tm="12000">
                                          <p:val>
                                            <p:fltVal val="0.71159"/>
                                          </p:val>
                                        </p:tav>
                                        <p:tav tm="12333">
                                          <p:val>
                                            <p:fltVal val="0.71229"/>
                                          </p:val>
                                        </p:tav>
                                        <p:tav tm="12667">
                                          <p:val>
                                            <p:fltVal val="0.71306"/>
                                          </p:val>
                                        </p:tav>
                                        <p:tav tm="13000">
                                          <p:val>
                                            <p:fltVal val="0.71388"/>
                                          </p:val>
                                        </p:tav>
                                        <p:tav tm="13333">
                                          <p:val>
                                            <p:fltVal val="0.71475"/>
                                          </p:val>
                                        </p:tav>
                                        <p:tav tm="13667">
                                          <p:val>
                                            <p:fltVal val="0.71566"/>
                                          </p:val>
                                        </p:tav>
                                        <p:tav tm="14000">
                                          <p:val>
                                            <p:fltVal val="0.71661"/>
                                          </p:val>
                                        </p:tav>
                                        <p:tav tm="14333">
                                          <p:val>
                                            <p:fltVal val="0.71758"/>
                                          </p:val>
                                        </p:tav>
                                        <p:tav tm="14667">
                                          <p:val>
                                            <p:fltVal val="0.71858"/>
                                          </p:val>
                                        </p:tav>
                                        <p:tav tm="15000">
                                          <p:val>
                                            <p:fltVal val="0.7196"/>
                                          </p:val>
                                        </p:tav>
                                        <p:tav tm="15333">
                                          <p:val>
                                            <p:fltVal val="0.72063"/>
                                          </p:val>
                                        </p:tav>
                                        <p:tav tm="15667">
                                          <p:val>
                                            <p:fltVal val="0.72167"/>
                                          </p:val>
                                        </p:tav>
                                        <p:tav tm="16000">
                                          <p:val>
                                            <p:fltVal val="0.72272"/>
                                          </p:val>
                                        </p:tav>
                                        <p:tav tm="16333">
                                          <p:val>
                                            <p:fltVal val="0.72377"/>
                                          </p:val>
                                        </p:tav>
                                        <p:tav tm="16667">
                                          <p:val>
                                            <p:fltVal val="0.72482"/>
                                          </p:val>
                                        </p:tav>
                                        <p:tav tm="17000">
                                          <p:val>
                                            <p:fltVal val="0.72586"/>
                                          </p:val>
                                        </p:tav>
                                        <p:tav tm="17333">
                                          <p:val>
                                            <p:fltVal val="0.7269"/>
                                          </p:val>
                                        </p:tav>
                                        <p:tav tm="17667">
                                          <p:val>
                                            <p:fltVal val="0.72793"/>
                                          </p:val>
                                        </p:tav>
                                        <p:tav tm="18000">
                                          <p:val>
                                            <p:fltVal val="0.72895"/>
                                          </p:val>
                                        </p:tav>
                                        <p:tav tm="18333">
                                          <p:val>
                                            <p:fltVal val="0.72996"/>
                                          </p:val>
                                        </p:tav>
                                        <p:tav tm="18667">
                                          <p:val>
                                            <p:fltVal val="0.73095"/>
                                          </p:val>
                                        </p:tav>
                                        <p:tav tm="19000">
                                          <p:val>
                                            <p:fltVal val="0.73193"/>
                                          </p:val>
                                        </p:tav>
                                        <p:tav tm="19333">
                                          <p:val>
                                            <p:fltVal val="0.7329"/>
                                          </p:val>
                                        </p:tav>
                                        <p:tav tm="19667">
                                          <p:val>
                                            <p:fltVal val="0.73385"/>
                                          </p:val>
                                        </p:tav>
                                        <p:tav tm="20000">
                                          <p:val>
                                            <p:fltVal val="0.73478"/>
                                          </p:val>
                                        </p:tav>
                                        <p:tav tm="20333">
                                          <p:val>
                                            <p:fltVal val="0.73569"/>
                                          </p:val>
                                        </p:tav>
                                        <p:tav tm="20667">
                                          <p:val>
                                            <p:fltVal val="0.73658"/>
                                          </p:val>
                                        </p:tav>
                                        <p:tav tm="21000">
                                          <p:val>
                                            <p:fltVal val="0.73746"/>
                                          </p:val>
                                        </p:tav>
                                        <p:tav tm="21333">
                                          <p:val>
                                            <p:fltVal val="0.73831"/>
                                          </p:val>
                                        </p:tav>
                                        <p:tav tm="21667">
                                          <p:val>
                                            <p:fltVal val="0.73914"/>
                                          </p:val>
                                        </p:tav>
                                        <p:tav tm="22000">
                                          <p:val>
                                            <p:fltVal val="0.73996"/>
                                          </p:val>
                                        </p:tav>
                                        <p:tav tm="22333">
                                          <p:val>
                                            <p:fltVal val="0.74075"/>
                                          </p:val>
                                        </p:tav>
                                        <p:tav tm="22667">
                                          <p:val>
                                            <p:fltVal val="0.74152"/>
                                          </p:val>
                                        </p:tav>
                                        <p:tav tm="23000">
                                          <p:val>
                                            <p:fltVal val="0.74227"/>
                                          </p:val>
                                        </p:tav>
                                        <p:tav tm="23333">
                                          <p:val>
                                            <p:fltVal val="0.743"/>
                                          </p:val>
                                        </p:tav>
                                        <p:tav tm="23667">
                                          <p:val>
                                            <p:fltVal val="0.74371"/>
                                          </p:val>
                                        </p:tav>
                                        <p:tav tm="24000">
                                          <p:val>
                                            <p:fltVal val="0.7444"/>
                                          </p:val>
                                        </p:tav>
                                        <p:tav tm="24333">
                                          <p:val>
                                            <p:fltVal val="0.74507"/>
                                          </p:val>
                                        </p:tav>
                                        <p:tav tm="24667">
                                          <p:val>
                                            <p:fltVal val="0.74572"/>
                                          </p:val>
                                        </p:tav>
                                        <p:tav tm="25000">
                                          <p:val>
                                            <p:fltVal val="0.74635"/>
                                          </p:val>
                                        </p:tav>
                                        <p:tav tm="25333">
                                          <p:val>
                                            <p:fltVal val="0.74697"/>
                                          </p:val>
                                        </p:tav>
                                        <p:tav tm="25667">
                                          <p:val>
                                            <p:fltVal val="0.74756"/>
                                          </p:val>
                                        </p:tav>
                                        <p:tav tm="26000">
                                          <p:val>
                                            <p:fltVal val="0.74813"/>
                                          </p:val>
                                        </p:tav>
                                        <p:tav tm="26333">
                                          <p:val>
                                            <p:fltVal val="0.74869"/>
                                          </p:val>
                                        </p:tav>
                                        <p:tav tm="26667">
                                          <p:val>
                                            <p:fltVal val="0.74922"/>
                                          </p:val>
                                        </p:tav>
                                        <p:tav tm="27000">
                                          <p:val>
                                            <p:fltVal val="0.74974"/>
                                          </p:val>
                                        </p:tav>
                                        <p:tav tm="27333">
                                          <p:val>
                                            <p:fltVal val="0.75025"/>
                                          </p:val>
                                        </p:tav>
                                        <p:tav tm="27667">
                                          <p:val>
                                            <p:fltVal val="0.75073"/>
                                          </p:val>
                                        </p:tav>
                                        <p:tav tm="28000">
                                          <p:val>
                                            <p:fltVal val="0.7512"/>
                                          </p:val>
                                        </p:tav>
                                        <p:tav tm="28333">
                                          <p:val>
                                            <p:fltVal val="0.75165"/>
                                          </p:val>
                                        </p:tav>
                                        <p:tav tm="28667">
                                          <p:val>
                                            <p:fltVal val="0.75209"/>
                                          </p:val>
                                        </p:tav>
                                        <p:tav tm="29000">
                                          <p:val>
                                            <p:fltVal val="0.75251"/>
                                          </p:val>
                                        </p:tav>
                                        <p:tav tm="29333">
                                          <p:val>
                                            <p:fltVal val="0.75292"/>
                                          </p:val>
                                        </p:tav>
                                        <p:tav tm="29667">
                                          <p:val>
                                            <p:fltVal val="0.75331"/>
                                          </p:val>
                                        </p:tav>
                                        <p:tav tm="30000">
                                          <p:val>
                                            <p:fltVal val="0.75369"/>
                                          </p:val>
                                        </p:tav>
                                        <p:tav tm="30333">
                                          <p:val>
                                            <p:fltVal val="0.75406"/>
                                          </p:val>
                                        </p:tav>
                                        <p:tav tm="30667">
                                          <p:val>
                                            <p:fltVal val="0.75441"/>
                                          </p:val>
                                        </p:tav>
                                        <p:tav tm="31000">
                                          <p:val>
                                            <p:fltVal val="0.75475"/>
                                          </p:val>
                                        </p:tav>
                                        <p:tav tm="31333">
                                          <p:val>
                                            <p:fltVal val="0.75508"/>
                                          </p:val>
                                        </p:tav>
                                        <p:tav tm="31667">
                                          <p:val>
                                            <p:fltVal val="0.75539"/>
                                          </p:val>
                                        </p:tav>
                                        <p:tav tm="32000">
                                          <p:val>
                                            <p:fltVal val="0.75569"/>
                                          </p:val>
                                        </p:tav>
                                        <p:tav tm="32333">
                                          <p:val>
                                            <p:fltVal val="0.75598"/>
                                          </p:val>
                                        </p:tav>
                                        <p:tav tm="32667">
                                          <p:val>
                                            <p:fltVal val="0.75627"/>
                                          </p:val>
                                        </p:tav>
                                        <p:tav tm="33000">
                                          <p:val>
                                            <p:fltVal val="0.75654"/>
                                          </p:val>
                                        </p:tav>
                                        <p:tav tm="33333">
                                          <p:val>
                                            <p:fltVal val="0.75679"/>
                                          </p:val>
                                        </p:tav>
                                        <p:tav tm="33667">
                                          <p:val>
                                            <p:fltVal val="0.75704"/>
                                          </p:val>
                                        </p:tav>
                                        <p:tav tm="34000">
                                          <p:val>
                                            <p:fltVal val="0.75728"/>
                                          </p:val>
                                        </p:tav>
                                        <p:tav tm="34333">
                                          <p:val>
                                            <p:fltVal val="0.75752"/>
                                          </p:val>
                                        </p:tav>
                                        <p:tav tm="34667">
                                          <p:val>
                                            <p:fltVal val="0.75774"/>
                                          </p:val>
                                        </p:tav>
                                        <p:tav tm="35000">
                                          <p:val>
                                            <p:fltVal val="0.75795"/>
                                          </p:val>
                                        </p:tav>
                                        <p:tav tm="35333">
                                          <p:val>
                                            <p:fltVal val="0.75816"/>
                                          </p:val>
                                        </p:tav>
                                        <p:tav tm="35667">
                                          <p:val>
                                            <p:fltVal val="0.75835"/>
                                          </p:val>
                                        </p:tav>
                                        <p:tav tm="36000">
                                          <p:val>
                                            <p:fltVal val="0.75854"/>
                                          </p:val>
                                        </p:tav>
                                        <p:tav tm="36333">
                                          <p:val>
                                            <p:fltVal val="0.75872"/>
                                          </p:val>
                                        </p:tav>
                                        <p:tav tm="36667">
                                          <p:val>
                                            <p:fltVal val="0.7589"/>
                                          </p:val>
                                        </p:tav>
                                        <p:tav tm="37000">
                                          <p:val>
                                            <p:fltVal val="0.75906"/>
                                          </p:val>
                                        </p:tav>
                                        <p:tav tm="37333">
                                          <p:val>
                                            <p:fltVal val="0.75922"/>
                                          </p:val>
                                        </p:tav>
                                        <p:tav tm="37667">
                                          <p:val>
                                            <p:fltVal val="0.75938"/>
                                          </p:val>
                                        </p:tav>
                                        <p:tav tm="38000">
                                          <p:val>
                                            <p:fltVal val="0.75953"/>
                                          </p:val>
                                        </p:tav>
                                        <p:tav tm="38333">
                                          <p:val>
                                            <p:fltVal val="0.75967"/>
                                          </p:val>
                                        </p:tav>
                                        <p:tav tm="38667">
                                          <p:val>
                                            <p:fltVal val="0.7598"/>
                                          </p:val>
                                        </p:tav>
                                        <p:tav tm="39000">
                                          <p:val>
                                            <p:fltVal val="0.75993"/>
                                          </p:val>
                                        </p:tav>
                                        <p:tav tm="39333">
                                          <p:val>
                                            <p:fltVal val="0.76006"/>
                                          </p:val>
                                        </p:tav>
                                        <p:tav tm="39667">
                                          <p:val>
                                            <p:fltVal val="0.76018"/>
                                          </p:val>
                                        </p:tav>
                                        <p:tav tm="40000">
                                          <p:val>
                                            <p:fltVal val="0.76029"/>
                                          </p:val>
                                        </p:tav>
                                        <p:tav tm="40333">
                                          <p:val>
                                            <p:fltVal val="0.76041"/>
                                          </p:val>
                                        </p:tav>
                                        <p:tav tm="40667">
                                          <p:val>
                                            <p:fltVal val="0.76051"/>
                                          </p:val>
                                        </p:tav>
                                        <p:tav tm="41000">
                                          <p:val>
                                            <p:fltVal val="0.76061"/>
                                          </p:val>
                                        </p:tav>
                                        <p:tav tm="41333">
                                          <p:val>
                                            <p:fltVal val="0.76071"/>
                                          </p:val>
                                        </p:tav>
                                        <p:tav tm="41667">
                                          <p:val>
                                            <p:fltVal val="0.7608"/>
                                          </p:val>
                                        </p:tav>
                                        <p:tav tm="42000">
                                          <p:val>
                                            <p:fltVal val="0.76089"/>
                                          </p:val>
                                        </p:tav>
                                        <p:tav tm="42333">
                                          <p:val>
                                            <p:fltVal val="0.76098"/>
                                          </p:val>
                                        </p:tav>
                                        <p:tav tm="42667">
                                          <p:val>
                                            <p:fltVal val="0.76106"/>
                                          </p:val>
                                        </p:tav>
                                        <p:tav tm="43000">
                                          <p:val>
                                            <p:fltVal val="0.76114"/>
                                          </p:val>
                                        </p:tav>
                                        <p:tav tm="43333">
                                          <p:val>
                                            <p:fltVal val="0.76121"/>
                                          </p:val>
                                        </p:tav>
                                        <p:tav tm="43667">
                                          <p:val>
                                            <p:fltVal val="0.76128"/>
                                          </p:val>
                                        </p:tav>
                                        <p:tav tm="44000">
                                          <p:val>
                                            <p:fltVal val="0.76135"/>
                                          </p:val>
                                        </p:tav>
                                        <p:tav tm="44333">
                                          <p:val>
                                            <p:fltVal val="0.76142"/>
                                          </p:val>
                                        </p:tav>
                                        <p:tav tm="44667">
                                          <p:val>
                                            <p:fltVal val="0.76148"/>
                                          </p:val>
                                        </p:tav>
                                        <p:tav tm="45000">
                                          <p:val>
                                            <p:fltVal val="0.76154"/>
                                          </p:val>
                                        </p:tav>
                                        <p:tav tm="45333">
                                          <p:val>
                                            <p:fltVal val="0.7616"/>
                                          </p:val>
                                        </p:tav>
                                        <p:tav tm="45667">
                                          <p:val>
                                            <p:fltVal val="0.76166"/>
                                          </p:val>
                                        </p:tav>
                                        <p:tav tm="46000">
                                          <p:val>
                                            <p:fltVal val="0.76171"/>
                                          </p:val>
                                        </p:tav>
                                        <p:tav tm="46333">
                                          <p:val>
                                            <p:fltVal val="0.76176"/>
                                          </p:val>
                                        </p:tav>
                                        <p:tav tm="46667">
                                          <p:val>
                                            <p:fltVal val="0.76181"/>
                                          </p:val>
                                        </p:tav>
                                        <p:tav tm="47000">
                                          <p:val>
                                            <p:fltVal val="0.76185"/>
                                          </p:val>
                                        </p:tav>
                                        <p:tav tm="47333">
                                          <p:val>
                                            <p:fltVal val="0.7619"/>
                                          </p:val>
                                        </p:tav>
                                        <p:tav tm="47667">
                                          <p:val>
                                            <p:fltVal val="0.76194"/>
                                          </p:val>
                                        </p:tav>
                                        <p:tav tm="48000">
                                          <p:val>
                                            <p:fltVal val="0.76198"/>
                                          </p:val>
                                        </p:tav>
                                        <p:tav tm="48333">
                                          <p:val>
                                            <p:fltVal val="0.76202"/>
                                          </p:val>
                                        </p:tav>
                                        <p:tav tm="48667">
                                          <p:val>
                                            <p:fltVal val="0.76206"/>
                                          </p:val>
                                        </p:tav>
                                        <p:tav tm="49000">
                                          <p:val>
                                            <p:fltVal val="0.76209"/>
                                          </p:val>
                                        </p:tav>
                                        <p:tav tm="49333">
                                          <p:val>
                                            <p:fltVal val="0.76213"/>
                                          </p:val>
                                        </p:tav>
                                        <p:tav tm="49667">
                                          <p:val>
                                            <p:fltVal val="0.76216"/>
                                          </p:val>
                                        </p:tav>
                                        <p:tav tm="50000">
                                          <p:val>
                                            <p:fltVal val="0.76219"/>
                                          </p:val>
                                        </p:tav>
                                        <p:tav tm="50333">
                                          <p:val>
                                            <p:fltVal val="0.76222"/>
                                          </p:val>
                                        </p:tav>
                                        <p:tav tm="50667">
                                          <p:val>
                                            <p:fltVal val="0.76225"/>
                                          </p:val>
                                        </p:tav>
                                        <p:tav tm="51000">
                                          <p:val>
                                            <p:fltVal val="0.76227"/>
                                          </p:val>
                                        </p:tav>
                                        <p:tav tm="51333">
                                          <p:val>
                                            <p:fltVal val="0.7623"/>
                                          </p:val>
                                        </p:tav>
                                        <p:tav tm="51667">
                                          <p:val>
                                            <p:fltVal val="0.76233"/>
                                          </p:val>
                                        </p:tav>
                                        <p:tav tm="52000">
                                          <p:val>
                                            <p:fltVal val="0.76235"/>
                                          </p:val>
                                        </p:tav>
                                        <p:tav tm="52333">
                                          <p:val>
                                            <p:fltVal val="0.76237"/>
                                          </p:val>
                                        </p:tav>
                                        <p:tav tm="52667">
                                          <p:val>
                                            <p:fltVal val="0.76239"/>
                                          </p:val>
                                        </p:tav>
                                        <p:tav tm="53000">
                                          <p:val>
                                            <p:fltVal val="0.76241"/>
                                          </p:val>
                                        </p:tav>
                                        <p:tav tm="53333">
                                          <p:val>
                                            <p:fltVal val="0.76243"/>
                                          </p:val>
                                        </p:tav>
                                        <p:tav tm="53667">
                                          <p:val>
                                            <p:fltVal val="0.76245"/>
                                          </p:val>
                                        </p:tav>
                                        <p:tav tm="54000">
                                          <p:val>
                                            <p:fltVal val="0.76247"/>
                                          </p:val>
                                        </p:tav>
                                        <p:tav tm="54333">
                                          <p:val>
                                            <p:fltVal val="0.76249"/>
                                          </p:val>
                                        </p:tav>
                                        <p:tav tm="54667">
                                          <p:val>
                                            <p:fltVal val="0.7625"/>
                                          </p:val>
                                        </p:tav>
                                        <p:tav tm="55000">
                                          <p:val>
                                            <p:fltVal val="0.76252"/>
                                          </p:val>
                                        </p:tav>
                                        <p:tav tm="55333">
                                          <p:val>
                                            <p:fltVal val="0.76253"/>
                                          </p:val>
                                        </p:tav>
                                        <p:tav tm="55667">
                                          <p:val>
                                            <p:fltVal val="0.76255"/>
                                          </p:val>
                                        </p:tav>
                                        <p:tav tm="56000">
                                          <p:val>
                                            <p:fltVal val="0.76256"/>
                                          </p:val>
                                        </p:tav>
                                        <p:tav tm="56333">
                                          <p:val>
                                            <p:fltVal val="0.76258"/>
                                          </p:val>
                                        </p:tav>
                                        <p:tav tm="56667">
                                          <p:val>
                                            <p:fltVal val="0.76259"/>
                                          </p:val>
                                        </p:tav>
                                        <p:tav tm="57000">
                                          <p:val>
                                            <p:fltVal val="0.7626"/>
                                          </p:val>
                                        </p:tav>
                                        <p:tav tm="57333">
                                          <p:val>
                                            <p:fltVal val="0.76261"/>
                                          </p:val>
                                        </p:tav>
                                        <p:tav tm="57667">
                                          <p:val>
                                            <p:fltVal val="0.76262"/>
                                          </p:val>
                                        </p:tav>
                                        <p:tav tm="58000">
                                          <p:val>
                                            <p:fltVal val="0.76263"/>
                                          </p:val>
                                        </p:tav>
                                        <p:tav tm="58333">
                                          <p:val>
                                            <p:fltVal val="0.76264"/>
                                          </p:val>
                                        </p:tav>
                                        <p:tav tm="58667">
                                          <p:val>
                                            <p:fltVal val="0.76265"/>
                                          </p:val>
                                        </p:tav>
                                        <p:tav tm="59000">
                                          <p:val>
                                            <p:fltVal val="0.76266"/>
                                          </p:val>
                                        </p:tav>
                                        <p:tav tm="59333">
                                          <p:val>
                                            <p:fltVal val="0.76267"/>
                                          </p:val>
                                        </p:tav>
                                        <p:tav tm="59667">
                                          <p:val>
                                            <p:fltVal val="0.76268"/>
                                          </p:val>
                                        </p:tav>
                                        <p:tav tm="60000">
                                          <p:val>
                                            <p:fltVal val="0.76269"/>
                                          </p:val>
                                        </p:tav>
                                        <p:tav tm="60333">
                                          <p:val>
                                            <p:fltVal val="0.76269"/>
                                          </p:val>
                                        </p:tav>
                                        <p:tav tm="60667">
                                          <p:val>
                                            <p:fltVal val="0.7627"/>
                                          </p:val>
                                        </p:tav>
                                        <p:tav tm="61000">
                                          <p:val>
                                            <p:fltVal val="0.76271"/>
                                          </p:val>
                                        </p:tav>
                                        <p:tav tm="61333">
                                          <p:val>
                                            <p:fltVal val="0.76271"/>
                                          </p:val>
                                        </p:tav>
                                        <p:tav tm="61667">
                                          <p:val>
                                            <p:fltVal val="0.76272"/>
                                          </p:val>
                                        </p:tav>
                                        <p:tav tm="62000">
                                          <p:val>
                                            <p:fltVal val="0.76273"/>
                                          </p:val>
                                        </p:tav>
                                        <p:tav tm="62333">
                                          <p:val>
                                            <p:fltVal val="0.76273"/>
                                          </p:val>
                                        </p:tav>
                                        <p:tav tm="62667">
                                          <p:val>
                                            <p:fltVal val="0.76274"/>
                                          </p:val>
                                        </p:tav>
                                        <p:tav tm="63000">
                                          <p:val>
                                            <p:fltVal val="0.76274"/>
                                          </p:val>
                                        </p:tav>
                                        <p:tav tm="63333">
                                          <p:val>
                                            <p:fltVal val="0.76275"/>
                                          </p:val>
                                        </p:tav>
                                        <p:tav tm="63667">
                                          <p:val>
                                            <p:fltVal val="0.76275"/>
                                          </p:val>
                                        </p:tav>
                                        <p:tav tm="64000">
                                          <p:val>
                                            <p:fltVal val="0.76276"/>
                                          </p:val>
                                        </p:tav>
                                        <p:tav tm="64333">
                                          <p:val>
                                            <p:fltVal val="0.76276"/>
                                          </p:val>
                                        </p:tav>
                                        <p:tav tm="64667">
                                          <p:val>
                                            <p:fltVal val="0.76276"/>
                                          </p:val>
                                        </p:tav>
                                        <p:tav tm="65000">
                                          <p:val>
                                            <p:fltVal val="0.76277"/>
                                          </p:val>
                                        </p:tav>
                                        <p:tav tm="65333">
                                          <p:val>
                                            <p:fltVal val="0.76277"/>
                                          </p:val>
                                        </p:tav>
                                        <p:tav tm="65667">
                                          <p:val>
                                            <p:fltVal val="0.76278"/>
                                          </p:val>
                                        </p:tav>
                                        <p:tav tm="66000">
                                          <p:val>
                                            <p:fltVal val="0.76278"/>
                                          </p:val>
                                        </p:tav>
                                        <p:tav tm="66333">
                                          <p:val>
                                            <p:fltVal val="0.76278"/>
                                          </p:val>
                                        </p:tav>
                                        <p:tav tm="66667">
                                          <p:val>
                                            <p:fltVal val="0.76279"/>
                                          </p:val>
                                        </p:tav>
                                        <p:tav tm="67000">
                                          <p:val>
                                            <p:fltVal val="0.76279"/>
                                          </p:val>
                                        </p:tav>
                                        <p:tav tm="67333">
                                          <p:val>
                                            <p:fltVal val="0.76279"/>
                                          </p:val>
                                        </p:tav>
                                        <p:tav tm="67667">
                                          <p:val>
                                            <p:fltVal val="0.76279"/>
                                          </p:val>
                                        </p:tav>
                                        <p:tav tm="68000">
                                          <p:val>
                                            <p:fltVal val="0.7628"/>
                                          </p:val>
                                        </p:tav>
                                        <p:tav tm="68333">
                                          <p:val>
                                            <p:fltVal val="0.7628"/>
                                          </p:val>
                                        </p:tav>
                                        <p:tav tm="68667">
                                          <p:val>
                                            <p:fltVal val="0.7628"/>
                                          </p:val>
                                        </p:tav>
                                        <p:tav tm="69000">
                                          <p:val>
                                            <p:fltVal val="0.7628"/>
                                          </p:val>
                                        </p:tav>
                                        <p:tav tm="69333">
                                          <p:val>
                                            <p:fltVal val="0.7628"/>
                                          </p:val>
                                        </p:tav>
                                        <p:tav tm="69667">
                                          <p:val>
                                            <p:fltVal val="0.76281"/>
                                          </p:val>
                                        </p:tav>
                                        <p:tav tm="70000">
                                          <p:val>
                                            <p:fltVal val="0.76281"/>
                                          </p:val>
                                        </p:tav>
                                        <p:tav tm="70333">
                                          <p:val>
                                            <p:fltVal val="0.76281"/>
                                          </p:val>
                                        </p:tav>
                                        <p:tav tm="70667">
                                          <p:val>
                                            <p:fltVal val="0.76281"/>
                                          </p:val>
                                        </p:tav>
                                        <p:tav tm="71000">
                                          <p:val>
                                            <p:fltVal val="0.76281"/>
                                          </p:val>
                                        </p:tav>
                                        <p:tav tm="71333">
                                          <p:val>
                                            <p:fltVal val="0.76282"/>
                                          </p:val>
                                        </p:tav>
                                        <p:tav tm="71667">
                                          <p:val>
                                            <p:fltVal val="0.76282"/>
                                          </p:val>
                                        </p:tav>
                                        <p:tav tm="72000">
                                          <p:val>
                                            <p:fltVal val="0.76282"/>
                                          </p:val>
                                        </p:tav>
                                        <p:tav tm="72333">
                                          <p:val>
                                            <p:fltVal val="0.76282"/>
                                          </p:val>
                                        </p:tav>
                                        <p:tav tm="72667">
                                          <p:val>
                                            <p:fltVal val="0.76282"/>
                                          </p:val>
                                        </p:tav>
                                        <p:tav tm="73000">
                                          <p:val>
                                            <p:fltVal val="0.76282"/>
                                          </p:val>
                                        </p:tav>
                                        <p:tav tm="73333">
                                          <p:val>
                                            <p:fltVal val="0.76282"/>
                                          </p:val>
                                        </p:tav>
                                        <p:tav tm="73667">
                                          <p:val>
                                            <p:fltVal val="0.76282"/>
                                          </p:val>
                                        </p:tav>
                                        <p:tav tm="74000">
                                          <p:val>
                                            <p:fltVal val="0.76283"/>
                                          </p:val>
                                        </p:tav>
                                        <p:tav tm="74333">
                                          <p:val>
                                            <p:fltVal val="0.76283"/>
                                          </p:val>
                                        </p:tav>
                                        <p:tav tm="74667">
                                          <p:val>
                                            <p:fltVal val="0.76283"/>
                                          </p:val>
                                        </p:tav>
                                        <p:tav tm="75000">
                                          <p:val>
                                            <p:fltVal val="0.76283"/>
                                          </p:val>
                                        </p:tav>
                                        <p:tav tm="75333">
                                          <p:val>
                                            <p:fltVal val="0.76283"/>
                                          </p:val>
                                        </p:tav>
                                        <p:tav tm="75667">
                                          <p:val>
                                            <p:fltVal val="0.76283"/>
                                          </p:val>
                                        </p:tav>
                                        <p:tav tm="76000">
                                          <p:val>
                                            <p:fltVal val="0.76283"/>
                                          </p:val>
                                        </p:tav>
                                        <p:tav tm="76333">
                                          <p:val>
                                            <p:fltVal val="0.76283"/>
                                          </p:val>
                                        </p:tav>
                                        <p:tav tm="76667">
                                          <p:val>
                                            <p:fltVal val="0.76283"/>
                                          </p:val>
                                        </p:tav>
                                        <p:tav tm="77000">
                                          <p:val>
                                            <p:fltVal val="0.76283"/>
                                          </p:val>
                                        </p:tav>
                                        <p:tav tm="77333">
                                          <p:val>
                                            <p:fltVal val="0.76283"/>
                                          </p:val>
                                        </p:tav>
                                        <p:tav tm="77667">
                                          <p:val>
                                            <p:fltVal val="0.76283"/>
                                          </p:val>
                                        </p:tav>
                                        <p:tav tm="78000">
                                          <p:val>
                                            <p:fltVal val="0.76284"/>
                                          </p:val>
                                        </p:tav>
                                        <p:tav tm="78333">
                                          <p:val>
                                            <p:fltVal val="0.76284"/>
                                          </p:val>
                                        </p:tav>
                                        <p:tav tm="78667">
                                          <p:val>
                                            <p:fltVal val="0.76284"/>
                                          </p:val>
                                        </p:tav>
                                        <p:tav tm="79000">
                                          <p:val>
                                            <p:fltVal val="0.76284"/>
                                          </p:val>
                                        </p:tav>
                                        <p:tav tm="79333">
                                          <p:val>
                                            <p:fltVal val="0.76284"/>
                                          </p:val>
                                        </p:tav>
                                        <p:tav tm="79667">
                                          <p:val>
                                            <p:fltVal val="0.76284"/>
                                          </p:val>
                                        </p:tav>
                                        <p:tav tm="80000">
                                          <p:val>
                                            <p:fltVal val="0.76284"/>
                                          </p:val>
                                        </p:tav>
                                        <p:tav tm="80333">
                                          <p:val>
                                            <p:fltVal val="0.76284"/>
                                          </p:val>
                                        </p:tav>
                                        <p:tav tm="80667">
                                          <p:val>
                                            <p:fltVal val="0.76284"/>
                                          </p:val>
                                        </p:tav>
                                        <p:tav tm="81000">
                                          <p:val>
                                            <p:fltVal val="0.76284"/>
                                          </p:val>
                                        </p:tav>
                                        <p:tav tm="81333">
                                          <p:val>
                                            <p:fltVal val="0.76284"/>
                                          </p:val>
                                        </p:tav>
                                        <p:tav tm="81667">
                                          <p:val>
                                            <p:fltVal val="0.76284"/>
                                          </p:val>
                                        </p:tav>
                                        <p:tav tm="82000">
                                          <p:val>
                                            <p:fltVal val="0.76284"/>
                                          </p:val>
                                        </p:tav>
                                        <p:tav tm="82333">
                                          <p:val>
                                            <p:fltVal val="0.76284"/>
                                          </p:val>
                                        </p:tav>
                                        <p:tav tm="82667">
                                          <p:val>
                                            <p:fltVal val="0.76284"/>
                                          </p:val>
                                        </p:tav>
                                        <p:tav tm="83000">
                                          <p:val>
                                            <p:fltVal val="0.76284"/>
                                          </p:val>
                                        </p:tav>
                                        <p:tav tm="83333">
                                          <p:val>
                                            <p:fltVal val="0.76284"/>
                                          </p:val>
                                        </p:tav>
                                        <p:tav tm="83667">
                                          <p:val>
                                            <p:fltVal val="0.76284"/>
                                          </p:val>
                                        </p:tav>
                                        <p:tav tm="84000">
                                          <p:val>
                                            <p:fltVal val="0.76284"/>
                                          </p:val>
                                        </p:tav>
                                        <p:tav tm="84333">
                                          <p:val>
                                            <p:fltVal val="0.76284"/>
                                          </p:val>
                                        </p:tav>
                                        <p:tav tm="84667">
                                          <p:val>
                                            <p:fltVal val="0.76284"/>
                                          </p:val>
                                        </p:tav>
                                        <p:tav tm="85000">
                                          <p:val>
                                            <p:fltVal val="0.76284"/>
                                          </p:val>
                                        </p:tav>
                                        <p:tav tm="85333">
                                          <p:val>
                                            <p:fltVal val="0.76284"/>
                                          </p:val>
                                        </p:tav>
                                        <p:tav tm="85667">
                                          <p:val>
                                            <p:fltVal val="0.76284"/>
                                          </p:val>
                                        </p:tav>
                                        <p:tav tm="86000">
                                          <p:val>
                                            <p:fltVal val="0.76284"/>
                                          </p:val>
                                        </p:tav>
                                        <p:tav tm="86333">
                                          <p:val>
                                            <p:fltVal val="0.76284"/>
                                          </p:val>
                                        </p:tav>
                                        <p:tav tm="86667">
                                          <p:val>
                                            <p:fltVal val="0.76284"/>
                                          </p:val>
                                        </p:tav>
                                        <p:tav tm="87000">
                                          <p:val>
                                            <p:fltVal val="0.76284"/>
                                          </p:val>
                                        </p:tav>
                                        <p:tav tm="87333">
                                          <p:val>
                                            <p:fltVal val="0.76284"/>
                                          </p:val>
                                        </p:tav>
                                        <p:tav tm="87667">
                                          <p:val>
                                            <p:fltVal val="0.76284"/>
                                          </p:val>
                                        </p:tav>
                                        <p:tav tm="88000">
                                          <p:val>
                                            <p:fltVal val="0.76284"/>
                                          </p:val>
                                        </p:tav>
                                        <p:tav tm="88333">
                                          <p:val>
                                            <p:fltVal val="0.76284"/>
                                          </p:val>
                                        </p:tav>
                                        <p:tav tm="88667">
                                          <p:val>
                                            <p:fltVal val="0.76284"/>
                                          </p:val>
                                        </p:tav>
                                        <p:tav tm="89000">
                                          <p:val>
                                            <p:fltVal val="0.76284"/>
                                          </p:val>
                                        </p:tav>
                                        <p:tav tm="89333">
                                          <p:val>
                                            <p:fltVal val="0.76284"/>
                                          </p:val>
                                        </p:tav>
                                        <p:tav tm="89667">
                                          <p:val>
                                            <p:fltVal val="0.76285"/>
                                          </p:val>
                                        </p:tav>
                                        <p:tav tm="90000">
                                          <p:val>
                                            <p:fltVal val="0.76285"/>
                                          </p:val>
                                        </p:tav>
                                        <p:tav tm="90333">
                                          <p:val>
                                            <p:fltVal val="0.76046"/>
                                          </p:val>
                                        </p:tav>
                                        <p:tav tm="90667">
                                          <p:val>
                                            <p:fltVal val="0.75513"/>
                                          </p:val>
                                        </p:tav>
                                        <p:tav tm="91000">
                                          <p:val>
                                            <p:fltVal val="0.74872"/>
                                          </p:val>
                                        </p:tav>
                                        <p:tav tm="91333">
                                          <p:val>
                                            <p:fltVal val="0.74226"/>
                                          </p:val>
                                        </p:tav>
                                        <p:tav tm="91667">
                                          <p:val>
                                            <p:fltVal val="0.73631"/>
                                          </p:val>
                                        </p:tav>
                                        <p:tav tm="92000">
                                          <p:val>
                                            <p:fltVal val="0.73108"/>
                                          </p:val>
                                        </p:tav>
                                        <p:tav tm="92333">
                                          <p:val>
                                            <p:fltVal val="0.72666"/>
                                          </p:val>
                                        </p:tav>
                                        <p:tav tm="92667">
                                          <p:val>
                                            <p:fltVal val="0.723"/>
                                          </p:val>
                                        </p:tav>
                                        <p:tav tm="93000">
                                          <p:val>
                                            <p:fltVal val="0.72002"/>
                                          </p:val>
                                        </p:tav>
                                        <p:tav tm="93333">
                                          <p:val>
                                            <p:fltVal val="0.71764"/>
                                          </p:val>
                                        </p:tav>
                                        <p:tav tm="93667">
                                          <p:val>
                                            <p:fltVal val="0.71575"/>
                                          </p:val>
                                        </p:tav>
                                        <p:tav tm="94000">
                                          <p:val>
                                            <p:fltVal val="0.71427"/>
                                          </p:val>
                                        </p:tav>
                                        <p:tav tm="94333">
                                          <p:val>
                                            <p:fltVal val="0.71312"/>
                                          </p:val>
                                        </p:tav>
                                        <p:tav tm="94667">
                                          <p:val>
                                            <p:fltVal val="0.71222"/>
                                          </p:val>
                                        </p:tav>
                                        <p:tav tm="95000">
                                          <p:val>
                                            <p:fltVal val="0.71154"/>
                                          </p:val>
                                        </p:tav>
                                        <p:tav tm="95333">
                                          <p:val>
                                            <p:fltVal val="0.71101"/>
                                          </p:val>
                                        </p:tav>
                                        <p:tav tm="95667">
                                          <p:val>
                                            <p:fltVal val="0.71061"/>
                                          </p:val>
                                        </p:tav>
                                        <p:tav tm="96000">
                                          <p:val>
                                            <p:fltVal val="0.7103"/>
                                          </p:val>
                                        </p:tav>
                                        <p:tav tm="96333">
                                          <p:val>
                                            <p:fltVal val="0.71007"/>
                                          </p:val>
                                        </p:tav>
                                        <p:tav tm="96667">
                                          <p:val>
                                            <p:fltVal val="0.7099"/>
                                          </p:val>
                                        </p:tav>
                                        <p:tav tm="97000">
                                          <p:val>
                                            <p:fltVal val="0.70977"/>
                                          </p:val>
                                        </p:tav>
                                        <p:tav tm="97333">
                                          <p:val>
                                            <p:fltVal val="0.70967"/>
                                          </p:val>
                                        </p:tav>
                                        <p:tav tm="97667">
                                          <p:val>
                                            <p:fltVal val="0.70959"/>
                                          </p:val>
                                        </p:tav>
                                        <p:tav tm="98000">
                                          <p:val>
                                            <p:fltVal val="0.70954"/>
                                          </p:val>
                                        </p:tav>
                                        <p:tav tm="98333">
                                          <p:val>
                                            <p:fltVal val="0.70949"/>
                                          </p:val>
                                        </p:tav>
                                        <p:tav tm="98667">
                                          <p:val>
                                            <p:fltVal val="0.70946"/>
                                          </p:val>
                                        </p:tav>
                                        <p:tav tm="99000">
                                          <p:val>
                                            <p:fltVal val="0.70944"/>
                                          </p:val>
                                        </p:tav>
                                        <p:tav tm="99333">
                                          <p:val>
                                            <p:fltVal val="0.70942"/>
                                          </p:val>
                                        </p:tav>
                                        <p:tav tm="99667">
                                          <p:val>
                                            <p:fltVal val="0.70941"/>
                                          </p:val>
                                        </p:tav>
                                        <p:tav tm="100000">
                                          <p:val>
                                            <p:fltVal val="0.70941"/>
                                          </p:val>
                                        </p:tav>
                                      </p:tavLst>
                                    </p:anim>
                                    <p:anim calcmode="lin" valueType="num">
                                      <p:cBhvr additive="base">
                                        <p:cTn id="25" dur="10000" fill="hold">
                                          <p:stCondLst>
                                            <p:cond delay="0"/>
                                          </p:stCondLst>
                                        </p:cTn>
                                        <p:tgtEl>
                                          <p:spTgt spid="10029"/>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anim calcmode="lin" valueType="num">
                                      <p:cBhvr additive="base">
                                        <p:cTn id="26" dur="10000" fill="hold">
                                          <p:stCondLst>
                                            <p:cond delay="0"/>
                                          </p:stCondLst>
                                        </p:cTn>
                                        <p:tgtEl>
                                          <p:spTgt spid="10134"/>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childTnLst>
                                </p:cTn>
                              </p:par>
                              <p:par>
                                <p:cTn id="27" presetID="1" presetClass="exit" presetSubtype="0" fill="hold" grpId="0" nodeType="withEffect">
                                  <p:stCondLst>
                                    <p:cond delay="0"/>
                                  </p:stCondLst>
                                  <p:childTnLst>
                                    <p:set>
                                      <p:cBhvr>
                                        <p:cTn id="28" dur="1" fill="hold">
                                          <p:stCondLst>
                                            <p:cond delay="9"/>
                                          </p:stCondLst>
                                        </p:cTn>
                                        <p:tgtEl>
                                          <p:spTgt spid="10029"/>
                                        </p:tgtEl>
                                        <p:attrNameLst>
                                          <p:attrName>style.visibility</p:attrName>
                                        </p:attrNameLst>
                                      </p:cBhvr>
                                      <p:to>
                                        <p:strVal val="hidden"/>
                                      </p:to>
                                    </p:set>
                                  </p:childTnLst>
                                </p:cTn>
                              </p:par>
                              <p:par>
                                <p:cTn id="29" presetID="10" presetClass="entr" presetSubtype="0" fill="hold" grpId="0" nodeType="withEffect">
                                  <p:stCondLst>
                                    <p:cond delay="0"/>
                                  </p:stCondLst>
                                  <p:childTnLst>
                                    <p:set>
                                      <p:cBhvr>
                                        <p:cTn id="30" dur="1" fill="hold">
                                          <p:stCondLst>
                                            <p:cond delay="0"/>
                                          </p:stCondLst>
                                        </p:cTn>
                                        <p:tgtEl>
                                          <p:spTgt spid="10134"/>
                                        </p:tgtEl>
                                        <p:attrNameLst>
                                          <p:attrName>style.visibility</p:attrName>
                                        </p:attrNameLst>
                                      </p:cBhvr>
                                      <p:to>
                                        <p:strVal val="visible"/>
                                      </p:to>
                                    </p:set>
                                    <p:animEffect transition="in" filter="fade">
                                      <p:cBhvr>
                                        <p:cTn id="31" dur="350"/>
                                        <p:tgtEl>
                                          <p:spTgt spid="10134"/>
                                        </p:tgtEl>
                                      </p:cBhvr>
                                    </p:animEffect>
                                  </p:childTnLst>
                                </p:cTn>
                              </p:par>
                              <p:par>
                                <p:cTn id="32" presetID="1" presetClass="exit" presetSubtype="0" fill="hold" grpId="0" nodeType="withEffect">
                                  <p:stCondLst>
                                    <p:cond delay="0"/>
                                  </p:stCondLst>
                                  <p:childTnLst>
                                    <p:set>
                                      <p:cBhvr>
                                        <p:cTn id="33" dur="1" fill="hold">
                                          <p:stCondLst>
                                            <p:cond delay="9"/>
                                          </p:stCondLst>
                                        </p:cTn>
                                        <p:tgtEl>
                                          <p:spTgt spid="10030"/>
                                        </p:tgtEl>
                                        <p:attrNameLst>
                                          <p:attrName>style.visibility</p:attrName>
                                        </p:attrNameLst>
                                      </p:cBhvr>
                                      <p:to>
                                        <p:strVal val="hidden"/>
                                      </p:to>
                                    </p:set>
                                  </p:childTnLst>
                                </p:cTn>
                              </p:par>
                              <p:par>
                                <p:cTn id="34" presetID="10" presetClass="entr" presetSubtype="0" fill="hold" grpId="0" nodeType="withEffect">
                                  <p:stCondLst>
                                    <p:cond delay="0"/>
                                  </p:stCondLst>
                                  <p:childTnLst>
                                    <p:set>
                                      <p:cBhvr>
                                        <p:cTn id="35" dur="1" fill="hold">
                                          <p:stCondLst>
                                            <p:cond delay="0"/>
                                          </p:stCondLst>
                                        </p:cTn>
                                        <p:tgtEl>
                                          <p:spTgt spid="10135"/>
                                        </p:tgtEl>
                                        <p:attrNameLst>
                                          <p:attrName>style.visibility</p:attrName>
                                        </p:attrNameLst>
                                      </p:cBhvr>
                                      <p:to>
                                        <p:strVal val="visible"/>
                                      </p:to>
                                    </p:set>
                                    <p:animEffect transition="in" filter="fade">
                                      <p:cBhvr>
                                        <p:cTn id="36" dur="350"/>
                                        <p:tgtEl>
                                          <p:spTgt spid="10135"/>
                                        </p:tgtEl>
                                      </p:cBhvr>
                                    </p:animEffect>
                                  </p:childTnLst>
                                </p:cTn>
                              </p:par>
                              <p:par>
                                <p:cTn id="37" presetID="1" presetClass="exit" presetSubtype="0" fill="hold" grpId="0" nodeType="withEffect">
                                  <p:stCondLst>
                                    <p:cond delay="0"/>
                                  </p:stCondLst>
                                  <p:childTnLst>
                                    <p:set>
                                      <p:cBhvr>
                                        <p:cTn id="38" dur="1" fill="hold">
                                          <p:stCondLst>
                                            <p:cond delay="9"/>
                                          </p:stCondLst>
                                        </p:cTn>
                                        <p:tgtEl>
                                          <p:spTgt spid="10031"/>
                                        </p:tgtEl>
                                        <p:attrNameLst>
                                          <p:attrName>style.visibility</p:attrName>
                                        </p:attrNameLst>
                                      </p:cBhvr>
                                      <p:to>
                                        <p:strVal val="hidden"/>
                                      </p:to>
                                    </p:set>
                                  </p:childTnLst>
                                </p:cTn>
                              </p:par>
                              <p:par>
                                <p:cTn id="39" presetID="10" presetClass="entr" presetSubtype="0" fill="hold" grpId="0" nodeType="withEffect">
                                  <p:stCondLst>
                                    <p:cond delay="0"/>
                                  </p:stCondLst>
                                  <p:childTnLst>
                                    <p:set>
                                      <p:cBhvr>
                                        <p:cTn id="40" dur="1" fill="hold">
                                          <p:stCondLst>
                                            <p:cond delay="0"/>
                                          </p:stCondLst>
                                        </p:cTn>
                                        <p:tgtEl>
                                          <p:spTgt spid="10136"/>
                                        </p:tgtEl>
                                        <p:attrNameLst>
                                          <p:attrName>style.visibility</p:attrName>
                                        </p:attrNameLst>
                                      </p:cBhvr>
                                      <p:to>
                                        <p:strVal val="visible"/>
                                      </p:to>
                                    </p:set>
                                    <p:animEffect transition="in" filter="fade">
                                      <p:cBhvr>
                                        <p:cTn id="41" dur="350"/>
                                        <p:tgtEl>
                                          <p:spTgt spid="10136"/>
                                        </p:tgtEl>
                                      </p:cBhvr>
                                    </p:animEffect>
                                  </p:childTnLst>
                                </p:cTn>
                              </p:par>
                              <p:par>
                                <p:cTn id="42" presetID="1" presetClass="exit" presetSubtype="0" fill="hold" grpId="0" nodeType="withEffect">
                                  <p:stCondLst>
                                    <p:cond delay="0"/>
                                  </p:stCondLst>
                                  <p:childTnLst>
                                    <p:set>
                                      <p:cBhvr>
                                        <p:cTn id="43" dur="1" fill="hold">
                                          <p:stCondLst>
                                            <p:cond delay="9"/>
                                          </p:stCondLst>
                                        </p:cTn>
                                        <p:tgtEl>
                                          <p:spTgt spid="10032"/>
                                        </p:tgtEl>
                                        <p:attrNameLst>
                                          <p:attrName>style.visibility</p:attrName>
                                        </p:attrNameLst>
                                      </p:cBhvr>
                                      <p:to>
                                        <p:strVal val="hidden"/>
                                      </p:to>
                                    </p:set>
                                  </p:childTnLst>
                                </p:cTn>
                              </p:par>
                              <p:par>
                                <p:cTn id="44" presetID="10" presetClass="entr" presetSubtype="0" fill="hold" grpId="0" nodeType="withEffect">
                                  <p:stCondLst>
                                    <p:cond delay="0"/>
                                  </p:stCondLst>
                                  <p:childTnLst>
                                    <p:set>
                                      <p:cBhvr>
                                        <p:cTn id="45" dur="1" fill="hold">
                                          <p:stCondLst>
                                            <p:cond delay="0"/>
                                          </p:stCondLst>
                                        </p:cTn>
                                        <p:tgtEl>
                                          <p:spTgt spid="10137"/>
                                        </p:tgtEl>
                                        <p:attrNameLst>
                                          <p:attrName>style.visibility</p:attrName>
                                        </p:attrNameLst>
                                      </p:cBhvr>
                                      <p:to>
                                        <p:strVal val="visible"/>
                                      </p:to>
                                    </p:set>
                                    <p:animEffect transition="in" filter="fade">
                                      <p:cBhvr>
                                        <p:cTn id="46" dur="350"/>
                                        <p:tgtEl>
                                          <p:spTgt spid="10137"/>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80000">
                <p:cTn id="47" fill="hold" display="0">
                  <p:stCondLst>
                    <p:cond delay="indefinite"/>
                  </p:stCondLst>
                </p:cTn>
                <p:tgtEl>
                  <p:spTgt spid="20"/>
                </p:tgtEl>
              </p:cMediaNode>
            </p:video>
            <p:seq concurrent="1" nextAc="seek">
              <p:cTn id="48" restart="whenNotActive" fill="hold" evtFilter="cancelBubble" nodeType="interactiveSeq">
                <p:stCondLst>
                  <p:cond evt="onClick" delay="0">
                    <p:tgtEl>
                      <p:spTgt spid="20"/>
                    </p:tgtEl>
                  </p:cond>
                </p:stCondLst>
                <p:endSync evt="end" delay="0">
                  <p:rtn val="all"/>
                </p:endSync>
                <p:childTnLst>
                  <p:par>
                    <p:cTn id="49" fill="hold">
                      <p:stCondLst>
                        <p:cond delay="0"/>
                      </p:stCondLst>
                      <p:childTnLst>
                        <p:par>
                          <p:cTn id="50" fill="hold">
                            <p:stCondLst>
                              <p:cond delay="0"/>
                            </p:stCondLst>
                            <p:childTnLst>
                              <p:par>
                                <p:cTn id="51" presetID="2" presetClass="mediacall" presetSubtype="0" fill="hold" nodeType="clickEffect">
                                  <p:stCondLst>
                                    <p:cond delay="0"/>
                                  </p:stCondLst>
                                  <p:childTnLst>
                                    <p:cmd type="call" cmd="togglePause">
                                      <p:cBhvr>
                                        <p:cTn id="52" dur="1" fill="hold"/>
                                        <p:tgtEl>
                                          <p:spTgt spid="20"/>
                                        </p:tgtEl>
                                      </p:cBhvr>
                                    </p:cmd>
                                  </p:childTnLst>
                                </p:cTn>
                              </p:par>
                            </p:childTnLst>
                          </p:cTn>
                        </p:par>
                      </p:childTnLst>
                    </p:cTn>
                  </p:par>
                </p:childTnLst>
              </p:cTn>
              <p:nextCondLst>
                <p:cond evt="onClick" delay="0">
                  <p:tgtEl>
                    <p:spTgt spid="20"/>
                  </p:tgtEl>
                </p:cond>
              </p:nextCondLst>
            </p:seq>
            <p:video>
              <p:cMediaNode vol="80000">
                <p:cTn id="53" fill="hold" display="0">
                  <p:stCondLst>
                    <p:cond delay="indefinite"/>
                  </p:stCondLst>
                </p:cTn>
                <p:tgtEl>
                  <p:spTgt spid="21"/>
                </p:tgtEl>
              </p:cMediaNode>
            </p:video>
            <p:seq concurrent="1" nextAc="seek">
              <p:cTn id="54" restart="whenNotActive" fill="hold" evtFilter="cancelBubble" nodeType="interactiveSeq">
                <p:stCondLst>
                  <p:cond evt="onClick" delay="0">
                    <p:tgtEl>
                      <p:spTgt spid="21"/>
                    </p:tgtEl>
                  </p:cond>
                </p:stCondLst>
                <p:endSync evt="end" delay="0">
                  <p:rtn val="all"/>
                </p:endSync>
                <p:childTnLst>
                  <p:par>
                    <p:cTn id="55" fill="hold">
                      <p:stCondLst>
                        <p:cond delay="0"/>
                      </p:stCondLst>
                      <p:childTnLst>
                        <p:par>
                          <p:cTn id="56" fill="hold">
                            <p:stCondLst>
                              <p:cond delay="0"/>
                            </p:stCondLst>
                            <p:childTnLst>
                              <p:par>
                                <p:cTn id="57" presetID="2" presetClass="mediacall" presetSubtype="0" fill="hold" nodeType="clickEffect">
                                  <p:stCondLst>
                                    <p:cond delay="0"/>
                                  </p:stCondLst>
                                  <p:childTnLst>
                                    <p:cmd type="call" cmd="togglePause">
                                      <p:cBhvr>
                                        <p:cTn id="58" dur="1" fill="hold"/>
                                        <p:tgtEl>
                                          <p:spTgt spid="21"/>
                                        </p:tgtEl>
                                      </p:cBhvr>
                                    </p:cmd>
                                  </p:childTnLst>
                                </p:cTn>
                              </p:par>
                            </p:childTnLst>
                          </p:cTn>
                        </p:par>
                      </p:childTnLst>
                    </p:cTn>
                  </p:par>
                </p:childTnLst>
              </p:cTn>
              <p:nextCondLst>
                <p:cond evt="onClick" delay="0">
                  <p:tgtEl>
                    <p:spTgt spid="21"/>
                  </p:tgtEl>
                </p:cond>
              </p:nextCondLst>
            </p:seq>
          </p:childTnLst>
        </p:cTn>
      </p:par>
    </p:tnLst>
    <p:bldLst>
      <p:bldP spid="10029" grpId="0"/>
      <p:bldP spid="10030" grpId="0"/>
      <p:bldP spid="10031" grpId="0"/>
      <p:bldP spid="10032" grpId="0"/>
      <p:bldP spid="10134" grpId="0"/>
      <p:bldP spid="10135" grpId="0"/>
      <p:bldP spid="10136" grpId="0"/>
      <p:bldP spid="10137" grpId="0"/>
      <p:bldP spid="10271" grpId="0"/>
    </p:bld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a:t>
            </a:fld>
            <a:endParaRPr lang="en-GB" sz="800" b="0" u="none" cap="none" dirty="0">
              <a:solidFill>
                <a:srgbClr val="747B82"/>
              </a:solidFill>
              <a:latin typeface="Aptos"/>
              <a:ea typeface="Aptos"/>
              <a:cs typeface="Aptos"/>
            </a:endParaRPr>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457200" y="1575657"/>
            <a:ext cx="2438400" cy="1369887"/>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4572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ASML wafer stage</a:t>
            </a:r>
            <a:endParaRPr lang="en-NL" sz="1600" b="1" u="none" cap="none" dirty="0">
              <a:solidFill>
                <a:srgbClr val="C81919"/>
              </a:solidFill>
              <a:latin typeface="Aptos"/>
              <a:ea typeface="Aptos"/>
              <a:cs typeface="Aptos"/>
            </a:endParaRPr>
          </a:p>
        </p:txBody>
      </p:sp>
      <p:sp>
        <p:nvSpPr>
          <p:cNvPr id="18" name="TextBox 17">
            <a:extLst>
              <a:ext uri="{FF2B5EF4-FFF2-40B4-BE49-F238E27FC236}">
                <a16:creationId xmlns:a16="http://schemas.microsoft.com/office/drawing/2014/main" id="{1439CADF-05D4-7D60-D962-6667713AE717}"/>
              </a:ext>
            </a:extLst>
          </p:cNvPr>
          <p:cNvSpPr txBox="1"/>
          <p:nvPr/>
        </p:nvSpPr>
        <p:spPr>
          <a:xfrm>
            <a:off x="33528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Canon Production Printing</a:t>
            </a:r>
            <a:endParaRPr lang="en-NL" sz="1600" b="1" u="none" cap="none" dirty="0">
              <a:solidFill>
                <a:srgbClr val="C81919"/>
              </a:solidFill>
              <a:latin typeface="Aptos"/>
              <a:ea typeface="Aptos"/>
              <a:cs typeface="Aptos"/>
            </a:endParaRPr>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352800" y="1332865"/>
            <a:ext cx="2438400" cy="1372870"/>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2484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Parkinsons Disease</a:t>
            </a:r>
            <a:endParaRPr lang="en-NL" sz="1600" b="1" u="none" cap="none" dirty="0">
              <a:solidFill>
                <a:srgbClr val="C81919"/>
              </a:solidFill>
              <a:latin typeface="Aptos"/>
              <a:ea typeface="Aptos"/>
              <a:cs typeface="Aptos"/>
            </a:endParaRPr>
          </a:p>
        </p:txBody>
      </p:sp>
      <p:pic>
        <p:nvPicPr>
          <p:cNvPr id="24" name="Baked figure with larger labels"/>
          <p:cNvPicPr>
            <a:picLocks noChangeAspect="1"/>
          </p:cNvPicPr>
          <p:nvPr/>
        </p:nvPicPr>
        <p:blipFill>
          <a:blip r:embed="rId5"/>
          <a:stretch>
            <a:fillRect/>
          </a:stretch>
        </p:blipFill>
        <p:spPr>
          <a:xfrm>
            <a:off x="6248400" y="1219200"/>
            <a:ext cx="2438400" cy="2438400"/>
          </a:xfrm>
          <a:prstGeom prst="rect">
            <a:avLst/>
          </a:prstGeom>
        </p:spPr>
      </p:pic>
      <p:sp>
        <p:nvSpPr>
          <p:cNvPr id="25" name="TextBox 24">
            <a:extLst>
              <a:ext uri="{FF2B5EF4-FFF2-40B4-BE49-F238E27FC236}">
                <a16:creationId xmlns:a16="http://schemas.microsoft.com/office/drawing/2014/main" id="{C8DCB431-6101-95B4-03AC-356659B97ABB}"/>
              </a:ext>
            </a:extLst>
          </p:cNvPr>
          <p:cNvSpPr txBox="1"/>
          <p:nvPr/>
        </p:nvSpPr>
        <p:spPr>
          <a:xfrm>
            <a:off x="33528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Diffusion-Reaction Equations (PDE)</a:t>
            </a:r>
            <a:endParaRPr lang="en-NL" sz="1300" b="0" u="none" cap="none" dirty="0">
              <a:solidFill>
                <a:srgbClr val="252529"/>
              </a:solidFill>
              <a:latin typeface="Aptos"/>
              <a:ea typeface="Aptos"/>
              <a:cs typeface="Aptos"/>
            </a:endParaRPr>
          </a:p>
        </p:txBody>
      </p:sp>
      <p:sp>
        <p:nvSpPr>
          <p:cNvPr id="26" name="TextBox 25">
            <a:extLst>
              <a:ext uri="{FF2B5EF4-FFF2-40B4-BE49-F238E27FC236}">
                <a16:creationId xmlns:a16="http://schemas.microsoft.com/office/drawing/2014/main" id="{2F1903D6-4357-9D9B-6625-8DD12CD399A3}"/>
              </a:ext>
            </a:extLst>
          </p:cNvPr>
          <p:cNvSpPr txBox="1"/>
          <p:nvPr/>
        </p:nvSpPr>
        <p:spPr>
          <a:xfrm>
            <a:off x="62484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Differential Delay Equations </a:t>
            </a:r>
          </a:p>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(DDE -&gt; PDE)</a:t>
            </a:r>
            <a:endParaRPr lang="en-NL" sz="1300" b="0" u="none" cap="none" dirty="0">
              <a:solidFill>
                <a:srgbClr val="252529"/>
              </a:solidFill>
              <a:latin typeface="Aptos"/>
              <a:ea typeface="Aptos"/>
              <a:cs typeface="Aptos"/>
            </a:endParaRPr>
          </a:p>
        </p:txBody>
      </p:sp>
      <p:sp>
        <p:nvSpPr>
          <p:cNvPr id="27" name="TextBox 26">
            <a:extLst>
              <a:ext uri="{FF2B5EF4-FFF2-40B4-BE49-F238E27FC236}">
                <a16:creationId xmlns:a16="http://schemas.microsoft.com/office/drawing/2014/main" id="{B3155AC1-FC2D-454D-38A1-B2C4E5F12CF3}"/>
              </a:ext>
            </a:extLst>
          </p:cNvPr>
          <p:cNvSpPr txBox="1"/>
          <p:nvPr/>
        </p:nvSpPr>
        <p:spPr>
          <a:xfrm>
            <a:off x="4572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Wave/beam equations (PDE)</a:t>
            </a:r>
            <a:endParaRPr lang="en-NL" sz="1300" b="0" u="none" cap="none" dirty="0">
              <a:solidFill>
                <a:srgbClr val="252529"/>
              </a:solidFill>
              <a:latin typeface="Aptos"/>
              <a:ea typeface="Aptos"/>
              <a:cs typeface="Aptos"/>
            </a:endParaRPr>
          </a:p>
        </p:txBody>
      </p:sp>
      <p:pic>
        <p:nvPicPr>
          <p:cNvPr id="29" name="Baked figure with larger labels"/>
          <p:cNvPicPr>
            <a:picLocks noChangeAspect="1"/>
          </p:cNvPicPr>
          <p:nvPr/>
        </p:nvPicPr>
        <p:blipFill>
          <a:blip r:embed="rId6"/>
          <a:stretch>
            <a:fillRect/>
          </a:stretch>
        </p:blipFill>
        <p:spPr>
          <a:xfrm>
            <a:off x="3352800" y="2838450"/>
            <a:ext cx="2495550" cy="814388"/>
          </a:xfrm>
          <a:prstGeom prst="rect">
            <a:avLst/>
          </a:prstGeom>
        </p:spPr>
      </p:pic>
      <p:pic>
        <p:nvPicPr>
          <p:cNvPr id="32" name="Original TUe logo"/>
          <p:cNvPicPr>
            <a:picLocks noChangeAspect="1"/>
          </p:cNvPicPr>
          <p:nvPr/>
        </p:nvPicPr>
        <p:blipFill>
          <a:blip r:embed="rId7"/>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151633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A707A7B-DF5A-2FD7-2E79-44904714E5AA}"/>
                  </a:ext>
                </a:extLst>
              </p:cNvPr>
              <p:cNvSpPr txBox="1"/>
              <p:nvPr/>
            </p:nvSpPr>
            <p:spPr>
              <a:xfrm>
                <a:off x="7461088" y="555625"/>
                <a:ext cx="1657505" cy="784830"/>
              </a:xfrm>
              <a:prstGeom prst="rect">
                <a:avLst/>
              </a:prstGeom>
              <a:noFill/>
            </p:spPr>
            <p:txBody>
              <a:bodyPr wrap="none" rtlCol="0">
                <a:spAutoFit/>
              </a:bodyPr>
              <a:lstStyle/>
              <a:p>
                <a:pPr/>
                <a14:m>
                  <m:oMathPara xmlns:m="http://schemas.openxmlformats.org/officeDocument/2006/math">
                    <m:oMath>
                      <m:r>
                        <a:rPr lang="en-US" sz="1800" b="0" i="1" smtClean="0">
                          <a:solidFill>
                            <a:srgbClr val="00B050"/>
                          </a:solidFill>
                          <a:latin typeface="Cambria Math" panose="02040503050406030204" pitchFamily="18" charset="0"/>
                        </a:rPr>
                        <m:t>𝛿</m:t>
                      </m:r>
                      <m:r>
                        <a:rPr lang="en-US" sz="1800" b="0" i="1" smtClean="0">
                          <a:solidFill>
                            <a:srgbClr val="00B050"/>
                          </a:solidFill>
                          <a:latin typeface="Cambria Math" panose="02040503050406030204" pitchFamily="18" charset="0"/>
                        </a:rPr>
                        <m:t>∈[−0.5,0.5]</m:t>
                      </m:r>
                    </m:oMath>
                  </m:oMathPara>
                </a14:m>
                <a:endParaRPr lang="en-US" b="0" dirty="0">
                  <a:solidFill>
                    <a:srgbClr val="00B050"/>
                  </a:solidFill>
                </a:endParaRPr>
              </a:p>
              <a:p>
                <a:endParaRPr lang="en-US" b="0" dirty="0"/>
              </a:p>
              <a:p>
                <a:endParaRPr lang="en-NL" dirty="0"/>
              </a:p>
            </p:txBody>
          </p:sp>
        </mc:Choice>
        <mc:Fallback xmlns="">
          <p:sp>
            <p:nvSpPr>
              <p:cNvPr id="2" name="TextBox 1">
                <a:extLst>
                  <a:ext uri="{FF2B5EF4-FFF2-40B4-BE49-F238E27FC236}">
                    <a16:creationId xmlns:a16="http://schemas.microsoft.com/office/drawing/2014/main" id="{5A707A7B-DF5A-2FD7-2E79-44904714E5AA}"/>
                  </a:ext>
                </a:extLst>
              </p:cNvPr>
              <p:cNvSpPr txBox="1">
                <a:spLocks noRot="1" noChangeAspect="1" noMove="1" noResize="1" noEditPoints="1" noAdjustHandles="1" noChangeArrowheads="1" noChangeShapeType="1" noTextEdit="1"/>
              </p:cNvSpPr>
              <p:nvPr/>
            </p:nvSpPr>
            <p:spPr>
              <a:xfrm>
                <a:off x="7461088" y="555625"/>
                <a:ext cx="1657505" cy="784830"/>
              </a:xfrm>
              <a:prstGeom prst="rect">
                <a:avLst/>
              </a:prstGeom>
              <a:blipFill>
                <a:blip r:embed="rId5"/>
                <a:stretch>
                  <a:fillRect/>
                </a:stretch>
              </a:blipFill>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4</a:t>
            </a:r>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E91D938-0D59-0E14-FC38-BDE168568AE5}"/>
                  </a:ext>
                </a:extLst>
              </p:cNvPr>
              <p:cNvSpPr txBox="1"/>
              <p:nvPr/>
            </p:nvSpPr>
            <p:spPr>
              <a:xfrm>
                <a:off x="762000" y="1854200"/>
                <a:ext cx="7620000" cy="7239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𝑡</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=0.01 </m:t>
                      </m:r>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𝑠𝑠</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d>
                        <m:dPr>
                          <m:begChr m:val="["/>
                          <m:endChr m:val="]"/>
                          <m:ctrlPr>
                            <a:rPr lang="nl-NL" sz="1800" i="1">
                              <a:latin typeface="Cambria Math" panose="02040503050406030204" pitchFamily="18" charset="0"/>
                            </a:rPr>
                          </m:ctrlPr>
                        </m:dPr>
                        <m:e>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0.25</m:t>
                                  </m:r>
                                  <m:d>
                                    <m:dPr>
                                      <m:ctrlPr>
                                        <a:rPr lang="nl-NL" sz="1800" i="1">
                                          <a:latin typeface="Cambria Math" panose="02040503050406030204" pitchFamily="18" charset="0"/>
                                        </a:rPr>
                                      </m:ctrlPr>
                                    </m:dPr>
                                    <m:e>
                                      <m:r>
                                        <a:rPr lang="nl-NL" sz="1800" i="1">
                                          <a:latin typeface="Cambria Math" panose="02040503050406030204" pitchFamily="18" charset="0"/>
                                        </a:rPr>
                                        <m:t>1+</m:t>
                                      </m:r>
                                      <m:r>
                                        <a:rPr lang="nl-NL" sz="1800" i="1" smtClean="0">
                                          <a:solidFill>
                                            <a:srgbClr val="00B050"/>
                                          </a:solidFill>
                                          <a:latin typeface="Cambria Math" panose="02040503050406030204" pitchFamily="18" charset="0"/>
                                        </a:rPr>
                                        <m:t>𝛿</m:t>
                                      </m:r>
                                    </m:e>
                                  </m:d>
                                </m:e>
                              </m:groupChr>
                            </m:e>
                            <m:lim>
                              <m:r>
                                <m:rPr>
                                  <m:nor/>
                                </m:rPr>
                                <a:rPr lang="nl-NL" sz="1800" i="0">
                                  <a:latin typeface="Cambria Math" panose="02040503050406030204" pitchFamily="18" charset="0"/>
                                </a:rPr>
                                <m:t>heat generation</m:t>
                              </m:r>
                            </m:lim>
                          </m:limLow>
                          <m:r>
                            <a:rPr lang="nl-NL" sz="1800" i="1">
                              <a:latin typeface="Cambria Math" panose="02040503050406030204" pitchFamily="18" charset="0"/>
                            </a:rPr>
                            <m:t>−</m:t>
                          </m:r>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m:t>
                                  </m:r>
                                </m:e>
                              </m:groupChr>
                            </m:e>
                            <m:lim>
                              <m:r>
                                <m:rPr>
                                  <m:nor/>
                                </m:rPr>
                                <a:rPr lang="nl-NL" sz="1800" i="0">
                                  <a:latin typeface="Cambria Math" panose="02040503050406030204" pitchFamily="18" charset="0"/>
                                </a:rPr>
                                <m:t>cooling</m:t>
                              </m:r>
                            </m:lim>
                          </m:limLow>
                        </m:e>
                      </m:d>
                      <m:r>
                        <m:rPr>
                          <m:sty m:val="p"/>
                        </m:rPr>
                        <a:rPr lang="en-US" sz="1800" b="0" i="1" smtClean="0">
                          <a:latin typeface="Cambria Math" panose="02040503050406030204" pitchFamily="18" charset="0"/>
                        </a:rPr>
                        <m:t>t</m:t>
                      </m:r>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r>
                        <a:rPr lang="nl-NL" sz="1800" i="1">
                          <a:latin typeface="Cambria Math" panose="02040503050406030204" pitchFamily="18" charset="0"/>
                        </a:rPr>
                        <m:t>𝑢</m:t>
                      </m:r>
                      <m:d>
                        <m:dPr>
                          <m:ctrlPr>
                            <a:rPr lang="nl-NL" sz="1800" i="1">
                              <a:latin typeface="Cambria Math" panose="02040503050406030204" pitchFamily="18" charset="0"/>
                            </a:rPr>
                          </m:ctrlPr>
                        </m:dPr>
                        <m:e>
                          <m:r>
                            <a:rPr lang="nl-NL" sz="1800" i="1">
                              <a:latin typeface="Cambria Math" panose="02040503050406030204" pitchFamily="18" charset="0"/>
                            </a:rPr>
                            <m:t>𝑡</m:t>
                          </m:r>
                        </m:e>
                      </m:d>
                    </m:oMath>
                  </m:oMathPara>
                </a14:m>
                <a:endParaRPr lang="en-NL" sz="1800" dirty="0"/>
              </a:p>
            </p:txBody>
          </p:sp>
        </mc:Choice>
        <mc:Fallback xmlns="" xmlns:m="http://schemas.openxmlformats.org/officeDocument/2006/math">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762000" y="1854200"/>
                <a:ext cx="7620000" cy="723900"/>
              </a:xfrm>
              <a:prstGeom prst="rect">
                <a:avLst/>
              </a:prstGeom>
              <a:blipFill>
                <a:blip r:embed="rId6"/>
                <a:stretch>
                  <a:fillRect l="-2080"/>
                </a:stretch>
              </a:blipFill>
              <a:ln>
                <a:noFill/>
              </a:ln>
            </p:spPr>
            <p:txBody>
              <a:bodyPr/>
              <a:lstStyle/>
              <a:p>
                <a:r>
                  <a:rPr lang="en-NL">
                    <a:noFill/>
                  </a:rPr>
                  <a:t> </a:t>
                </a:r>
              </a:p>
            </p:txBody>
          </p:sp>
        </mc:Fallback>
      </mc:AlternateContent>
      <p:pic>
        <p:nvPicPr>
          <p:cNvPr id="23" name="Original TUe logo"/>
          <p:cNvPicPr>
            <a:picLocks noChangeAspect="1"/>
          </p:cNvPicPr>
          <p:nvPr/>
        </p:nvPicPr>
        <p:blipFill>
          <a:blip r:embed="rId7"/>
          <a:stretch>
            <a:fillRect/>
          </a:stretch>
        </p:blipFill>
        <p:spPr>
          <a:xfrm>
            <a:off x="8458200" y="4813300"/>
            <a:ext cx="457200" cy="254000"/>
          </a:xfrm>
          <a:prstGeom prst="rect">
            <a:avLst/>
          </a:prstGeom>
        </p:spPr>
      </p:pic>
      <p:grpSp>
        <p:nvGrpSpPr>
          <p:cNvPr id="7" name="Figure with corrected editable mathematics — editable labels"/>
          <p:cNvGrpSpPr/>
          <p:nvPr/>
        </p:nvGrpSpPr>
        <p:grpSpPr>
          <a:xfrm>
            <a:off x="671561" y="231645"/>
            <a:ext cx="7202439" cy="1368555"/>
            <a:chOff x="671561" y="231645"/>
            <a:chExt cx="7202439" cy="1368555"/>
          </a:xfrm>
        </p:grpSpPr>
        <p:pic>
          <p:nvPicPr>
            <p:cNvPr id="6507" name="Figure with corrected editable mathematics">
              <a:extLst>
                <a:ext uri="{FF2B5EF4-FFF2-40B4-BE49-F238E27FC236}">
                  <a16:creationId xmlns:a16="http://schemas.microsoft.com/office/drawing/2014/main" id="{2BC0A307-D1BF-DA9F-C518-827D38C8F3C1}"/>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71561" y="231645"/>
              <a:ext cx="7202439" cy="1368555"/>
            </a:xfrm>
            <a:prstGeom prst="rect">
              <a:avLst/>
            </a:prstGeom>
          </p:spPr>
        </p:pic>
        <p:sp>
          <p:nvSpPr>
            <p:cNvPr id="6501" name="Editable label Temp in paper"/>
            <p:cNvSpPr/>
            <p:nvPr/>
          </p:nvSpPr>
          <p:spPr>
            <a:xfrm>
              <a:off x="3319964" y="543835"/>
              <a:ext cx="1905646" cy="478423"/>
            </a:xfrm>
            <a:prstGeom prst="rect">
              <a:avLst/>
            </a:prstGeom>
            <a:noFill/>
            <a:ln>
              <a:noFill/>
            </a:ln>
          </p:spPr>
          <p:txBody>
            <a:bodyPr wrap="none" lIns="0" tIns="0" rIns="0" bIns="0" anchor="ctr">
              <a:noAutofit/>
            </a:bodyPr>
            <a:lstStyle/>
            <a:p>
              <a:pPr algn="ctr">
                <a:buNone/>
              </a:pPr>
              <a:r>
                <a:rPr lang="en-GB" sz="2093" b="0" i="0" u="none" baseline="0">
                  <a:solidFill>
                    <a:srgbClr val="FFFFFF"/>
                  </a:solidFill>
                  <a:latin typeface="Arial"/>
                  <a:ea typeface="Arial"/>
                  <a:cs typeface="Arial"/>
                </a:rPr>
                <a:t>Temp in paper</a:t>
              </a:r>
              <a:endParaRPr sz="2093"/>
            </a:p>
          </p:txBody>
        </p:sp>
        <mc:AlternateContent xmlns:mc="http://schemas.openxmlformats.org/markup-compatibility/2006" xmlns:a14="http://schemas.microsoft.com/office/drawing/2010/main">
          <mc:Choice Requires="a14">
            <p:sp>
              <p:nvSpPr>
                <p:cNvPr id="6502" name="Boundary condition 0"/>
                <p:cNvSpPr/>
                <p:nvPr/>
              </p:nvSpPr>
              <p:spPr>
                <a:xfrm>
                  <a:off x="705926"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 = 0</m:t>
                        </m:r>
                      </m:oMath>
                    </m:oMathPara>
                  </a14:m>
                  <a:endParaRPr sz="1200"/>
                </a:p>
              </p:txBody>
            </p:sp>
          </mc:Choice>
          <mc:Fallback xmlns="">
            <p:sp>
              <p:nvSpPr>
                <p:cNvPr id="6502" name="Boundary condition 0"/>
                <p:cNvSpPr>
                  <a:spLocks noRot="1" noChangeAspect="1" noMove="1" noResize="1" noEditPoints="1" noAdjustHandles="1" noChangeArrowheads="1" noChangeShapeType="1" noTextEdit="1"/>
                </p:cNvSpPr>
                <p:nvPr/>
              </p:nvSpPr>
              <p:spPr>
                <a:xfrm>
                  <a:off x="705926" y="150332"/>
                  <a:ext cx="1372065" cy="54886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3" name="Boundary condition 1"/>
                <p:cNvSpPr/>
                <p:nvPr/>
              </p:nvSpPr>
              <p:spPr>
                <a:xfrm>
                  <a:off x="6467875"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,1</m:t>
                            </m:r>
                          </m:e>
                        </m:d>
                        <m:r>
                          <a:rPr sz="1200">
                            <a:solidFill>
                              <a:srgbClr val="333333"/>
                            </a:solidFill>
                            <a:latin typeface="Cambria Math"/>
                          </a:rPr>
                          <m:t> = 0</m:t>
                        </m:r>
                      </m:oMath>
                    </m:oMathPara>
                  </a14:m>
                  <a:endParaRPr sz="1200"/>
                </a:p>
              </p:txBody>
            </p:sp>
          </mc:Choice>
          <mc:Fallback xmlns="">
            <p:sp>
              <p:nvSpPr>
                <p:cNvPr id="6503" name="Boundary condition 1"/>
                <p:cNvSpPr>
                  <a:spLocks noRot="1" noChangeAspect="1" noMove="1" noResize="1" noEditPoints="1" noAdjustHandles="1" noChangeArrowheads="1" noChangeShapeType="1" noTextEdit="1"/>
                </p:cNvSpPr>
                <p:nvPr/>
              </p:nvSpPr>
              <p:spPr>
                <a:xfrm>
                  <a:off x="6467875" y="150332"/>
                  <a:ext cx="1372065" cy="5488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4" name="Spatial coordinate"/>
                <p:cNvSpPr/>
                <p:nvPr/>
              </p:nvSpPr>
              <p:spPr>
                <a:xfrm>
                  <a:off x="947308"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0</m:t>
                        </m:r>
                      </m:oMath>
                    </m:oMathPara>
                  </a14:m>
                  <a:endParaRPr sz="1701"/>
                </a:p>
              </p:txBody>
            </p:sp>
          </mc:Choice>
          <mc:Fallback xmlns="">
            <p:sp>
              <p:nvSpPr>
                <p:cNvPr id="6504" name="Spatial coordinate"/>
                <p:cNvSpPr>
                  <a:spLocks noRot="1" noChangeAspect="1" noMove="1" noResize="1" noEditPoints="1" noAdjustHandles="1" noChangeArrowheads="1" noChangeShapeType="1" noTextEdit="1"/>
                </p:cNvSpPr>
                <p:nvPr/>
              </p:nvSpPr>
              <p:spPr>
                <a:xfrm>
                  <a:off x="947308" y="1016820"/>
                  <a:ext cx="889301" cy="777552"/>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5" name="Spatial coordinate"/>
                <p:cNvSpPr/>
                <p:nvPr/>
              </p:nvSpPr>
              <p:spPr>
                <a:xfrm>
                  <a:off x="3828136"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oMath>
                    </m:oMathPara>
                  </a14:m>
                  <a:endParaRPr sz="1701"/>
                </a:p>
              </p:txBody>
            </p:sp>
          </mc:Choice>
          <mc:Fallback xmlns="">
            <p:sp>
              <p:nvSpPr>
                <p:cNvPr id="6505" name="Spatial coordinate"/>
                <p:cNvSpPr>
                  <a:spLocks noRot="1" noChangeAspect="1" noMove="1" noResize="1" noEditPoints="1" noAdjustHandles="1" noChangeArrowheads="1" noChangeShapeType="1" noTextEdit="1"/>
                </p:cNvSpPr>
                <p:nvPr/>
              </p:nvSpPr>
              <p:spPr>
                <a:xfrm>
                  <a:off x="3828136" y="1016820"/>
                  <a:ext cx="889301" cy="777552"/>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6" name="Spatial coordinate"/>
                <p:cNvSpPr/>
                <p:nvPr/>
              </p:nvSpPr>
              <p:spPr>
                <a:xfrm>
                  <a:off x="6709257"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1</m:t>
                        </m:r>
                      </m:oMath>
                    </m:oMathPara>
                  </a14:m>
                  <a:endParaRPr sz="1701"/>
                </a:p>
              </p:txBody>
            </p:sp>
          </mc:Choice>
          <mc:Fallback xmlns="">
            <p:sp>
              <p:nvSpPr>
                <p:cNvPr id="6506" name="Spatial coordinate"/>
                <p:cNvSpPr>
                  <a:spLocks noRot="1" noChangeAspect="1" noMove="1" noResize="1" noEditPoints="1" noAdjustHandles="1" noChangeArrowheads="1" noChangeShapeType="1" noTextEdit="1"/>
                </p:cNvSpPr>
                <p:nvPr/>
              </p:nvSpPr>
              <p:spPr>
                <a:xfrm>
                  <a:off x="6709257" y="1016820"/>
                  <a:ext cx="889301" cy="777552"/>
                </a:xfrm>
                <a:prstGeom prst="rect">
                  <a:avLst/>
                </a:prstGeom>
                <a:blipFill>
                  <a:blip r:embed="rId13"/>
                  <a:stretch>
                    <a:fillRect/>
                  </a:stretch>
                </a:blipFill>
                <a:ln>
                  <a:noFill/>
                </a:ln>
              </p:spPr>
              <p:txBody>
                <a:bodyPr/>
                <a:lstStyle/>
                <a:p>
                  <a:r>
                    <a:rPr lang="en-NL">
                      <a:noFill/>
                    </a:rPr>
                    <a:t> </a:t>
                  </a:r>
                </a:p>
              </p:txBody>
            </p:sp>
          </mc:Fallback>
        </mc:AlternateContent>
      </p:grpSp>
      <p:pic>
        <p:nvPicPr>
          <p:cNvPr id="4" name="Simulation - delta">
            <a:hlinkClick r:id="" action="ppaction://media"/>
            <a:extLst>
              <a:ext uri="{FF2B5EF4-FFF2-40B4-BE49-F238E27FC236}">
                <a16:creationId xmlns:a16="http://schemas.microsoft.com/office/drawing/2014/main" id="{123AECDF-756B-E292-DD26-03ABC10651A3}"/>
              </a:ext>
            </a:extLst>
          </p:cNvPr>
          <p:cNvPicPr>
            <a:picLocks noChangeAspect="1"/>
          </p:cNvPicPr>
          <p:nvPr>
            <a:videoFile r:link="rId2"/>
            <p:extLst>
              <p:ext uri="{DAA4B4D4-6D71-4841-9C94-3DE7FCFB9230}">
                <p14:media xmlns:p14="http://schemas.microsoft.com/office/powerpoint/2010/main" r:embed="rId1"/>
              </p:ext>
            </p:extLst>
          </p:nvPr>
        </p:nvPicPr>
        <p:blipFill>
          <a:blip r:embed="rId14"/>
          <a:stretch>
            <a:fillRect/>
          </a:stretch>
        </p:blipFill>
        <p:spPr>
          <a:xfrm>
            <a:off x="1016000" y="2590800"/>
            <a:ext cx="7493000" cy="2107406"/>
          </a:xfrm>
          <a:prstGeom prst="rect">
            <a:avLst/>
          </a:prstGeom>
        </p:spPr>
      </p:pic>
      <p:sp>
        <p:nvSpPr>
          <p:cNvPr id="5001" name="Editable video label: Average temperature deviation"/>
          <p:cNvSpPr/>
          <p:nvPr/>
        </p:nvSpPr>
        <p:spPr>
          <a:xfrm>
            <a:off x="1507662" y="2581824"/>
            <a:ext cx="1830454" cy="224790"/>
          </a:xfrm>
          <a:prstGeom prst="rect">
            <a:avLst/>
          </a:prstGeom>
          <a:noFill/>
          <a:ln>
            <a:noFill/>
          </a:ln>
        </p:spPr>
        <p:txBody>
          <a:bodyPr wrap="none" lIns="0" tIns="0" rIns="0" bIns="0" anchor="ctr">
            <a:noAutofit/>
          </a:bodyPr>
          <a:lstStyle/>
          <a:p>
            <a:pPr algn="ctr">
              <a:buNone/>
            </a:pPr>
            <a:r>
              <a:rPr lang="en-GB" sz="983" b="0" i="0" u="none" baseline="0">
                <a:solidFill>
                  <a:srgbClr val="252529"/>
                </a:solidFill>
                <a:latin typeface="Arial"/>
                <a:ea typeface="Arial"/>
                <a:cs typeface="Arial"/>
              </a:rPr>
              <a:t>Average temperature deviation</a:t>
            </a:r>
            <a:endParaRPr sz="983"/>
          </a:p>
        </p:txBody>
      </p:sp>
      <p:sp>
        <p:nvSpPr>
          <p:cNvPr id="5002" name="Editable video label: 0"/>
          <p:cNvSpPr/>
          <p:nvPr/>
        </p:nvSpPr>
        <p:spPr>
          <a:xfrm>
            <a:off x="1363266" y="4240821"/>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3" name="Editable video label: 20"/>
          <p:cNvSpPr/>
          <p:nvPr/>
        </p:nvSpPr>
        <p:spPr>
          <a:xfrm>
            <a:off x="1300824" y="393641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04" name="Editable video label: 40"/>
          <p:cNvSpPr/>
          <p:nvPr/>
        </p:nvSpPr>
        <p:spPr>
          <a:xfrm>
            <a:off x="1300824" y="3632015"/>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40</a:t>
            </a:r>
            <a:endParaRPr sz="860"/>
          </a:p>
        </p:txBody>
      </p:sp>
      <p:sp>
        <p:nvSpPr>
          <p:cNvPr id="5005" name="Editable video label: 60"/>
          <p:cNvSpPr/>
          <p:nvPr/>
        </p:nvSpPr>
        <p:spPr>
          <a:xfrm>
            <a:off x="1300824" y="3327612"/>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60</a:t>
            </a:r>
            <a:endParaRPr sz="860"/>
          </a:p>
        </p:txBody>
      </p:sp>
      <p:sp>
        <p:nvSpPr>
          <p:cNvPr id="5006" name="Editable video label: 80"/>
          <p:cNvSpPr/>
          <p:nvPr/>
        </p:nvSpPr>
        <p:spPr>
          <a:xfrm>
            <a:off x="1300824" y="302320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80</a:t>
            </a:r>
            <a:endParaRPr sz="860"/>
          </a:p>
        </p:txBody>
      </p:sp>
      <p:sp>
        <p:nvSpPr>
          <p:cNvPr id="5007" name="Editable video label: 100"/>
          <p:cNvSpPr/>
          <p:nvPr/>
        </p:nvSpPr>
        <p:spPr>
          <a:xfrm>
            <a:off x="1238382" y="2718805"/>
            <a:ext cx="288925"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100</a:t>
            </a:r>
            <a:endParaRPr sz="860"/>
          </a:p>
        </p:txBody>
      </p:sp>
      <p:sp>
        <p:nvSpPr>
          <p:cNvPr id="5008" name="Editable video label: 0"/>
          <p:cNvSpPr/>
          <p:nvPr/>
        </p:nvSpPr>
        <p:spPr>
          <a:xfrm>
            <a:off x="1480344"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9" name="Editable video label: 5"/>
          <p:cNvSpPr/>
          <p:nvPr/>
        </p:nvSpPr>
        <p:spPr>
          <a:xfrm>
            <a:off x="2254360"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5</a:t>
            </a:r>
            <a:endParaRPr sz="860"/>
          </a:p>
        </p:txBody>
      </p:sp>
      <p:sp>
        <p:nvSpPr>
          <p:cNvPr id="5010" name="Editable video label: 10"/>
          <p:cNvSpPr/>
          <p:nvPr/>
        </p:nvSpPr>
        <p:spPr>
          <a:xfrm>
            <a:off x="2997156"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a:t>
            </a:r>
            <a:endParaRPr sz="860"/>
          </a:p>
        </p:txBody>
      </p:sp>
      <p:sp>
        <p:nvSpPr>
          <p:cNvPr id="5011" name="Editable video label: 15"/>
          <p:cNvSpPr/>
          <p:nvPr/>
        </p:nvSpPr>
        <p:spPr>
          <a:xfrm>
            <a:off x="377117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15</a:t>
            </a:r>
            <a:endParaRPr sz="860"/>
          </a:p>
        </p:txBody>
      </p:sp>
      <p:sp>
        <p:nvSpPr>
          <p:cNvPr id="5012" name="Editable video label: 20"/>
          <p:cNvSpPr/>
          <p:nvPr/>
        </p:nvSpPr>
        <p:spPr>
          <a:xfrm>
            <a:off x="4545189"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13" name="Editable video label: 25"/>
          <p:cNvSpPr/>
          <p:nvPr/>
        </p:nvSpPr>
        <p:spPr>
          <a:xfrm>
            <a:off x="5319205"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25</a:t>
            </a:r>
            <a:endParaRPr sz="860"/>
          </a:p>
        </p:txBody>
      </p:sp>
      <p:sp>
        <p:nvSpPr>
          <p:cNvPr id="5014" name="Editable video label: 30"/>
          <p:cNvSpPr/>
          <p:nvPr/>
        </p:nvSpPr>
        <p:spPr>
          <a:xfrm>
            <a:off x="609322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30</a:t>
            </a:r>
            <a:endParaRPr sz="860"/>
          </a:p>
        </p:txBody>
      </p:sp>
      <p:sp>
        <p:nvSpPr>
          <p:cNvPr id="5015" name="Editable video label: Time (s)"/>
          <p:cNvSpPr/>
          <p:nvPr/>
        </p:nvSpPr>
        <p:spPr>
          <a:xfrm>
            <a:off x="5738085" y="4469513"/>
            <a:ext cx="519179" cy="203716"/>
          </a:xfrm>
          <a:prstGeom prst="rect">
            <a:avLst/>
          </a:prstGeom>
          <a:noFill/>
          <a:ln>
            <a:noFill/>
          </a:ln>
        </p:spPr>
        <p:txBody>
          <a:bodyPr wrap="none" lIns="0" tIns="0" rIns="0" bIns="0" anchor="ctr">
            <a:noAutofit/>
          </a:bodyPr>
          <a:lstStyle/>
          <a:p>
            <a:pPr algn="ctr">
              <a:buNone/>
            </a:pPr>
            <a:r>
              <a:rPr lang="en-GB" sz="891" b="0" i="0" u="none" baseline="0">
                <a:solidFill>
                  <a:srgbClr val="737D85"/>
                </a:solidFill>
                <a:latin typeface="Arial"/>
                <a:ea typeface="Arial"/>
                <a:cs typeface="Arial"/>
              </a:rPr>
              <a:t>Time (s)</a:t>
            </a:r>
            <a:endParaRPr sz="891"/>
          </a:p>
        </p:txBody>
      </p:sp>
      <p:sp>
        <p:nvSpPr>
          <p:cNvPr id="5016" name="Editable video label: Heater off"/>
          <p:cNvSpPr/>
          <p:nvPr/>
        </p:nvSpPr>
        <p:spPr>
          <a:xfrm>
            <a:off x="2789017" y="2819883"/>
            <a:ext cx="577718" cy="189667"/>
          </a:xfrm>
          <a:prstGeom prst="rect">
            <a:avLst/>
          </a:prstGeom>
          <a:noFill/>
          <a:ln>
            <a:noFill/>
          </a:ln>
        </p:spPr>
        <p:txBody>
          <a:bodyPr wrap="none" lIns="0" tIns="0" rIns="0" bIns="0" anchor="ctr">
            <a:noAutofit/>
          </a:bodyPr>
          <a:lstStyle/>
          <a:p>
            <a:pPr algn="ctr">
              <a:buNone/>
            </a:pPr>
            <a:r>
              <a:rPr lang="en-GB" sz="830" b="0" i="0" u="none" baseline="0">
                <a:solidFill>
                  <a:srgbClr val="737D85"/>
                </a:solidFill>
                <a:latin typeface="Arial"/>
                <a:ea typeface="Arial"/>
                <a:cs typeface="Arial"/>
              </a:rPr>
              <a:t>Heater off</a:t>
            </a:r>
            <a:endParaRPr sz="830"/>
          </a:p>
        </p:txBody>
      </p:sp>
      <mc:AlternateContent xmlns:mc="http://schemas.openxmlformats.org/markup-compatibility/2006" xmlns:a14="http://schemas.microsoft.com/office/drawing/2010/main">
        <mc:Choice Requires="a14">
          <p:sp>
            <p:nvSpPr>
              <p:cNvPr id="5017" name="Uncertainty legend +0.472"/>
              <p:cNvSpPr/>
              <p:nvPr/>
            </p:nvSpPr>
            <p:spPr>
              <a:xfrm>
                <a:off x="6552968" y="286827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+0.472</m:t>
                      </m:r>
                    </m:oMath>
                  </m:oMathPara>
                </a14:m>
                <a:endParaRPr sz="983"/>
              </a:p>
            </p:txBody>
          </p:sp>
        </mc:Choice>
        <mc:Fallback xmlns="">
          <p:sp>
            <p:nvSpPr>
              <p:cNvPr id="5017" name="Uncertainty legend +0.472"/>
              <p:cNvSpPr>
                <a:spLocks noRot="1" noChangeAspect="1" noMove="1" noResize="1" noEditPoints="1" noAdjustHandles="1" noChangeArrowheads="1" noChangeShapeType="1" noTextEdit="1"/>
              </p:cNvSpPr>
              <p:nvPr/>
            </p:nvSpPr>
            <p:spPr>
              <a:xfrm>
                <a:off x="6552968" y="2868275"/>
                <a:ext cx="1270000" cy="29972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8" name="Uncertainty legend +0.338"/>
              <p:cNvSpPr/>
              <p:nvPr/>
            </p:nvSpPr>
            <p:spPr>
              <a:xfrm>
                <a:off x="6552968" y="308291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+0.338</m:t>
                      </m:r>
                    </m:oMath>
                  </m:oMathPara>
                </a14:m>
                <a:endParaRPr sz="983"/>
              </a:p>
            </p:txBody>
          </p:sp>
        </mc:Choice>
        <mc:Fallback xmlns="">
          <p:sp>
            <p:nvSpPr>
              <p:cNvPr id="5018" name="Uncertainty legend +0.338"/>
              <p:cNvSpPr>
                <a:spLocks noRot="1" noChangeAspect="1" noMove="1" noResize="1" noEditPoints="1" noAdjustHandles="1" noChangeArrowheads="1" noChangeShapeType="1" noTextEdit="1"/>
              </p:cNvSpPr>
              <p:nvPr/>
            </p:nvSpPr>
            <p:spPr>
              <a:xfrm>
                <a:off x="6552968" y="3082918"/>
                <a:ext cx="1270000" cy="2997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9" name="Uncertainty legend +0.326"/>
              <p:cNvSpPr/>
              <p:nvPr/>
            </p:nvSpPr>
            <p:spPr>
              <a:xfrm>
                <a:off x="6552968" y="3297562"/>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+0.326</m:t>
                      </m:r>
                    </m:oMath>
                  </m:oMathPara>
                </a14:m>
                <a:endParaRPr sz="983"/>
              </a:p>
            </p:txBody>
          </p:sp>
        </mc:Choice>
        <mc:Fallback xmlns="">
          <p:sp>
            <p:nvSpPr>
              <p:cNvPr id="5019" name="Uncertainty legend +0.326"/>
              <p:cNvSpPr>
                <a:spLocks noRot="1" noChangeAspect="1" noMove="1" noResize="1" noEditPoints="1" noAdjustHandles="1" noChangeArrowheads="1" noChangeShapeType="1" noTextEdit="1"/>
              </p:cNvSpPr>
              <p:nvPr/>
            </p:nvSpPr>
            <p:spPr>
              <a:xfrm>
                <a:off x="6552968" y="3297562"/>
                <a:ext cx="1270000" cy="29972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0" name="Uncertainty legend +0.292"/>
              <p:cNvSpPr/>
              <p:nvPr/>
            </p:nvSpPr>
            <p:spPr>
              <a:xfrm>
                <a:off x="6552968" y="351220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+0.292</m:t>
                      </m:r>
                    </m:oMath>
                  </m:oMathPara>
                </a14:m>
                <a:endParaRPr sz="983"/>
              </a:p>
            </p:txBody>
          </p:sp>
        </mc:Choice>
        <mc:Fallback xmlns="">
          <p:sp>
            <p:nvSpPr>
              <p:cNvPr id="5020" name="Uncertainty legend +0.292"/>
              <p:cNvSpPr>
                <a:spLocks noRot="1" noChangeAspect="1" noMove="1" noResize="1" noEditPoints="1" noAdjustHandles="1" noChangeArrowheads="1" noChangeShapeType="1" noTextEdit="1"/>
              </p:cNvSpPr>
              <p:nvPr/>
            </p:nvSpPr>
            <p:spPr>
              <a:xfrm>
                <a:off x="6552968" y="3512205"/>
                <a:ext cx="1270000" cy="299720"/>
              </a:xfrm>
              <a:prstGeom prst="rect">
                <a:avLst/>
              </a:prstGeom>
              <a:blipFill>
                <a:blip r:embed="rId1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1" name="Uncertainty legend +0.110"/>
              <p:cNvSpPr/>
              <p:nvPr/>
            </p:nvSpPr>
            <p:spPr>
              <a:xfrm>
                <a:off x="6552968" y="372684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+0.110</m:t>
                      </m:r>
                    </m:oMath>
                  </m:oMathPara>
                </a14:m>
                <a:endParaRPr sz="983"/>
              </a:p>
            </p:txBody>
          </p:sp>
        </mc:Choice>
        <mc:Fallback xmlns="">
          <p:sp>
            <p:nvSpPr>
              <p:cNvPr id="5021" name="Uncertainty legend +0.110"/>
              <p:cNvSpPr>
                <a:spLocks noRot="1" noChangeAspect="1" noMove="1" noResize="1" noEditPoints="1" noAdjustHandles="1" noChangeArrowheads="1" noChangeShapeType="1" noTextEdit="1"/>
              </p:cNvSpPr>
              <p:nvPr/>
            </p:nvSpPr>
            <p:spPr>
              <a:xfrm>
                <a:off x="6552968" y="3726848"/>
                <a:ext cx="1270000" cy="299720"/>
              </a:xfrm>
              <a:prstGeom prst="rect">
                <a:avLst/>
              </a:prstGeom>
              <a:blipFill>
                <a:blip r:embed="rId1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2" name="Uncertainty legend −0.206"/>
              <p:cNvSpPr/>
              <p:nvPr/>
            </p:nvSpPr>
            <p:spPr>
              <a:xfrm>
                <a:off x="6537358" y="3941491"/>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−0.206</m:t>
                      </m:r>
                    </m:oMath>
                  </m:oMathPara>
                </a14:m>
                <a:endParaRPr sz="983"/>
              </a:p>
            </p:txBody>
          </p:sp>
        </mc:Choice>
        <mc:Fallback xmlns="">
          <p:sp>
            <p:nvSpPr>
              <p:cNvPr id="5022" name="Uncertainty legend −0.206"/>
              <p:cNvSpPr>
                <a:spLocks noRot="1" noChangeAspect="1" noMove="1" noResize="1" noEditPoints="1" noAdjustHandles="1" noChangeArrowheads="1" noChangeShapeType="1" noTextEdit="1"/>
              </p:cNvSpPr>
              <p:nvPr/>
            </p:nvSpPr>
            <p:spPr>
              <a:xfrm>
                <a:off x="6537358" y="3941491"/>
                <a:ext cx="1270000" cy="299720"/>
              </a:xfrm>
              <a:prstGeom prst="rect">
                <a:avLst/>
              </a:prstGeom>
              <a:blipFill>
                <a:blip r:embed="rId20"/>
                <a:stretch>
                  <a:fillRect/>
                </a:stretch>
              </a:blipFill>
              <a:ln>
                <a:noFill/>
              </a:ln>
            </p:spPr>
            <p:txBody>
              <a:bodyPr/>
              <a:lstStyle/>
              <a:p>
                <a:r>
                  <a:rPr lang="en-NL">
                    <a:noFill/>
                  </a:rPr>
                  <a:t> </a:t>
                </a:r>
              </a:p>
            </p:txBody>
          </p:sp>
        </mc:Fallback>
      </mc:AlternateContent>
      <p:sp>
        <p:nvSpPr>
          <p:cNvPr id="5023" name="Editable video label: Red: diverging"/>
          <p:cNvSpPr/>
          <p:nvPr/>
        </p:nvSpPr>
        <p:spPr>
          <a:xfrm>
            <a:off x="6584950" y="4283749"/>
            <a:ext cx="815777" cy="196691"/>
          </a:xfrm>
          <a:prstGeom prst="rect">
            <a:avLst/>
          </a:prstGeom>
          <a:noFill/>
          <a:ln>
            <a:noFill/>
          </a:ln>
        </p:spPr>
        <p:txBody>
          <a:bodyPr wrap="none" lIns="0" tIns="0" rIns="0" bIns="0" anchor="ctr">
            <a:noAutofit/>
          </a:bodyPr>
          <a:lstStyle/>
          <a:p>
            <a:pPr algn="ctr">
              <a:buNone/>
            </a:pPr>
            <a:r>
              <a:rPr lang="en-GB" sz="860" b="0" i="0" u="none" baseline="0">
                <a:solidFill>
                  <a:srgbClr val="C81919"/>
                </a:solidFill>
                <a:latin typeface="Arial"/>
                <a:ea typeface="Arial"/>
                <a:cs typeface="Arial"/>
              </a:rPr>
              <a:t>Red: diverging</a:t>
            </a:r>
            <a:endParaRPr sz="860"/>
          </a:p>
        </p:txBody>
      </p:sp>
    </p:spTree>
    <p:extLst>
      <p:ext uri="{BB962C8B-B14F-4D97-AF65-F5344CB8AC3E}">
        <p14:creationId xmlns:p14="http://schemas.microsoft.com/office/powerpoint/2010/main" val="264913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mediacall" presetSubtype="0" fill="hold" nodeType="withEffect">
                                  <p:stCondLst>
                                    <p:cond delay="0"/>
                                  </p:stCondLst>
                                  <p:childTnLst>
                                    <p:cmd type="call" cmd="playFrom(0.0)">
                                      <p:cBhvr>
                                        <p:cTn id="12" dur="18000" fill="hold"/>
                                        <p:tgtEl>
                                          <p:spTgt spid="4"/>
                                        </p:tgtEl>
                                      </p:cBhvr>
                                    </p:cmd>
                                  </p:childTnLst>
                                </p:cTn>
                              </p:par>
                              <p:par>
                                <p:cTn id="13" presetID="1" presetClass="entr" presetSubtype="0" fill="hold" nodeType="withEffect">
                                  <p:stCondLst>
                                    <p:cond delay="0"/>
                                  </p:stCondLst>
                                  <p:childTnLst>
                                    <p:set>
                                      <p:cBhvr>
                                        <p:cTn id="14" dur="1" fill="hold">
                                          <p:stCondLst>
                                            <p:cond delay="0"/>
                                          </p:stCondLst>
                                        </p:cTn>
                                        <p:tgtEl>
                                          <p:spTgt spid="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00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00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00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00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00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00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00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00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00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01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011"/>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01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501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5014"/>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5015"/>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5016"/>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5017"/>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5018"/>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5019"/>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5020"/>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502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5022"/>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50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61" repeatCount="indefinite" fill="remove" display="0">
                  <p:stCondLst>
                    <p:cond delay="indefinite"/>
                  </p:stCondLst>
                </p:cTn>
                <p:tgtEl>
                  <p:spTgt spid="4"/>
                </p:tgtEl>
              </p:cMediaNode>
            </p:video>
          </p:childTnLst>
        </p:cTn>
      </p:par>
    </p:tnLst>
    <p:bldLst>
      <p:bldP spid="14" grpId="0"/>
      <p:bldP spid="5001" grpId="0"/>
      <p:bldP spid="5002" grpId="0"/>
      <p:bldP spid="5003" grpId="0"/>
      <p:bldP spid="5004" grpId="0"/>
      <p:bldP spid="5005" grpId="0"/>
      <p:bldP spid="5006" grpId="0"/>
      <p:bldP spid="5007" grpId="0"/>
      <p:bldP spid="5008" grpId="0"/>
      <p:bldP spid="5009" grpId="0"/>
      <p:bldP spid="5010" grpId="0"/>
      <p:bldP spid="5011" grpId="0"/>
      <p:bldP spid="5012" grpId="0"/>
      <p:bldP spid="5013" grpId="0"/>
      <p:bldP spid="5014" grpId="0"/>
      <p:bldP spid="5015" grpId="0"/>
      <p:bldP spid="5016" grpId="0"/>
      <p:bldP spid="5017" grpId="0"/>
      <p:bldP spid="5018" grpId="0"/>
      <p:bldP spid="5019" grpId="0"/>
      <p:bldP spid="5020" grpId="0"/>
      <p:bldP spid="5021" grpId="0"/>
      <p:bldP spid="5022" grpId="0"/>
      <p:bldP spid="5023" grpId="0"/>
    </p:bld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254000"/>
            <a:ext cx="4445000" cy="4445000"/>
          </a:xfrm>
          <a:prstGeom prst="rect">
            <a:avLst/>
          </a:prstGeom>
        </p:spPr>
      </p:pic>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699181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A4647-B815-E9C5-2FA5-AF216549EAFF}"/>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E5E081F0-E818-3A61-F42B-64408B6C99D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7844B542-0F9F-433A-C397-AB50E1FF1112}"/>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6</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CA53A7CC-8835-4B93-58DE-5CBF9226A941}"/>
              </a:ext>
            </a:extLst>
          </p:cNvPr>
          <p:cNvPicPr>
            <a:picLocks noChangeAspect="1"/>
          </p:cNvPicPr>
          <p:nvPr/>
        </p:nvPicPr>
        <p:blipFill>
          <a:blip r:embed="rId2"/>
          <a:srcRect l="23688" t="39675" r="23916" b="33648"/>
          <a:stretch>
            <a:fillRect/>
          </a:stretch>
        </p:blipFill>
        <p:spPr>
          <a:xfrm>
            <a:off x="457200" y="513244"/>
            <a:ext cx="8238683" cy="4194442"/>
          </a:xfrm>
          <a:prstGeom prst="rect">
            <a:avLst/>
          </a:prstGeom>
        </p:spPr>
      </p:pic>
      <p:pic>
        <p:nvPicPr>
          <p:cNvPr id="9" name="Original TUe logo">
            <a:extLst>
              <a:ext uri="{FF2B5EF4-FFF2-40B4-BE49-F238E27FC236}">
                <a16:creationId xmlns:a16="http://schemas.microsoft.com/office/drawing/2014/main" id="{F423FBD4-CE2F-F4E4-605C-26531813F230}"/>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148256197"/>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7</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8C7EF67-BB4A-F683-C28D-D5A8BAFBA5AD}"/>
                  </a:ext>
                </a:extLst>
              </p:cNvPr>
              <p:cNvSpPr txBox="1"/>
              <p:nvPr/>
            </p:nvSpPr>
            <p:spPr>
              <a:xfrm>
                <a:off x="1295400" y="32639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1295400" y="32639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6" name="Figure with corrected editable mathematics — editable labels"/>
          <p:cNvGrpSpPr/>
          <p:nvPr/>
        </p:nvGrpSpPr>
        <p:grpSpPr>
          <a:xfrm>
            <a:off x="1879600" y="419100"/>
            <a:ext cx="5384799" cy="2692400"/>
            <a:chOff x="1879600" y="419100"/>
            <a:chExt cx="5384799" cy="2692400"/>
          </a:xfrm>
        </p:grpSpPr>
        <p:pic>
          <p:nvPicPr>
            <p:cNvPr id="6009" name="Figure with corrected editable mathematics">
              <a:extLst>
                <a:ext uri="{FF2B5EF4-FFF2-40B4-BE49-F238E27FC236}">
                  <a16:creationId xmlns:a16="http://schemas.microsoft.com/office/drawing/2014/main" id="{A0437D6B-690D-B962-050A-C998FB5BECB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419100"/>
              <a:ext cx="5384799" cy="2692400"/>
            </a:xfrm>
            <a:prstGeom prst="rect">
              <a:avLst/>
            </a:prstGeom>
          </p:spPr>
        </p:pic>
        <p:sp>
          <p:nvSpPr>
            <p:cNvPr id="6001" name="Editable label Proto"/>
            <p:cNvSpPr/>
            <p:nvPr/>
          </p:nvSpPr>
          <p:spPr>
            <a:xfrm>
              <a:off x="2597573" y="16281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6281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9640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9640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6820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6820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5623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5623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ummation operator"/>
                <p:cNvSpPr/>
                <p:nvPr/>
              </p:nvSpPr>
              <p:spPr>
                <a:xfrm>
                  <a:off x="4168140" y="177292"/>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6" name="Summation operator"/>
                <p:cNvSpPr>
                  <a:spLocks noRot="1" noChangeAspect="1" noMove="1" noResize="1" noEditPoints="1" noAdjustHandles="1" noChangeArrowheads="1" noChangeShapeType="1" noTextEdit="1"/>
                </p:cNvSpPr>
                <p:nvPr/>
              </p:nvSpPr>
              <p:spPr>
                <a:xfrm>
                  <a:off x="4168140" y="177292"/>
                  <a:ext cx="299155" cy="914400"/>
                </a:xfrm>
                <a:prstGeom prst="rect">
                  <a:avLst/>
                </a:prstGeom>
                <a:blipFill>
                  <a:blip r:embed="rId8"/>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Summation operator"/>
                <p:cNvSpPr/>
                <p:nvPr/>
              </p:nvSpPr>
              <p:spPr>
                <a:xfrm>
                  <a:off x="4168140" y="1852563"/>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7" name="Summation operator"/>
                <p:cNvSpPr>
                  <a:spLocks noRot="1" noChangeAspect="1" noMove="1" noResize="1" noEditPoints="1" noAdjustHandles="1" noChangeArrowheads="1" noChangeShapeType="1" noTextEdit="1"/>
                </p:cNvSpPr>
                <p:nvPr/>
              </p:nvSpPr>
              <p:spPr>
                <a:xfrm>
                  <a:off x="4168140" y="1852563"/>
                  <a:ext cx="299155" cy="914400"/>
                </a:xfrm>
                <a:prstGeom prst="rect">
                  <a:avLst/>
                </a:prstGeom>
                <a:blipFill>
                  <a:blip r:embed="rId9"/>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ummation operator"/>
                <p:cNvSpPr/>
                <p:nvPr/>
              </p:nvSpPr>
              <p:spPr>
                <a:xfrm>
                  <a:off x="1909516" y="1807690"/>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8" name="Summation operator"/>
                <p:cNvSpPr>
                  <a:spLocks noRot="1" noChangeAspect="1" noMove="1" noResize="1" noEditPoints="1" noAdjustHandles="1" noChangeArrowheads="1" noChangeShapeType="1" noTextEdit="1"/>
                </p:cNvSpPr>
                <p:nvPr/>
              </p:nvSpPr>
              <p:spPr>
                <a:xfrm>
                  <a:off x="1909516" y="1807690"/>
                  <a:ext cx="299155" cy="914400"/>
                </a:xfrm>
                <a:prstGeom prst="rect">
                  <a:avLst/>
                </a:prstGeom>
                <a:blipFill>
                  <a:blip r:embed="rId10"/>
                  <a:stretch>
                    <a:fillRect l="-26531" r="-14286"/>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46F948EF-FE1D-50AB-EDCD-15C12269BE1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0D55E98-9D19-4C86-FAFE-5E1AC73F146C}"/>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2" name="Figure with corrected editable mathematics — editable labels"/>
          <p:cNvGrpSpPr/>
          <p:nvPr/>
        </p:nvGrpSpPr>
        <p:grpSpPr>
          <a:xfrm>
            <a:off x="1879600" y="241300"/>
            <a:ext cx="5384799" cy="2692400"/>
            <a:chOff x="1879600" y="241300"/>
            <a:chExt cx="5384799" cy="2692400"/>
          </a:xfrm>
        </p:grpSpPr>
        <p:pic>
          <p:nvPicPr>
            <p:cNvPr id="6011" name="Figure with corrected editable mathematics">
              <a:extLst>
                <a:ext uri="{FF2B5EF4-FFF2-40B4-BE49-F238E27FC236}">
                  <a16:creationId xmlns:a16="http://schemas.microsoft.com/office/drawing/2014/main" id="{217FFABE-4965-400E-98AE-95B556B0044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Delay SG"/>
                <p:cNvSpPr/>
                <p:nvPr/>
              </p:nvSpPr>
              <p:spPr>
                <a:xfrm>
                  <a:off x="4272844" y="191347"/>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𝜏</m:t>
                            </m:r>
                          </m:e>
                          <m:sub>
                            <m:r>
                              <m:rPr>
                                <m:sty m:val="p"/>
                              </m:rPr>
                              <a:rPr sz="1200">
                                <a:solidFill>
                                  <a:srgbClr val="174A80"/>
                                </a:solidFill>
                                <a:latin typeface="Cambria Math"/>
                              </a:rPr>
                              <m:t>SG</m:t>
                            </m:r>
                          </m:sub>
                        </m:sSub>
                        <m:r>
                          <a:rPr sz="1200">
                            <a:solidFill>
                              <a:srgbClr val="174A80"/>
                            </a:solidFill>
                            <a:latin typeface="Cambria Math"/>
                          </a:rPr>
                          <m:t> = 6 </m:t>
                        </m:r>
                        <m:r>
                          <m:rPr>
                            <m:sty m:val="p"/>
                          </m:rPr>
                          <a:rPr sz="1200">
                            <a:solidFill>
                              <a:srgbClr val="174A80"/>
                            </a:solidFill>
                            <a:latin typeface="Cambria Math"/>
                          </a:rPr>
                          <m:t>ms</m:t>
                        </m:r>
                      </m:oMath>
                    </m:oMathPara>
                  </a14:m>
                  <a:endParaRPr sz="1200"/>
                </a:p>
              </p:txBody>
            </p:sp>
          </mc:Choice>
          <mc:Fallback xmlns="">
            <p:sp>
              <p:nvSpPr>
                <p:cNvPr id="6006" name="Delay SG"/>
                <p:cNvSpPr>
                  <a:spLocks noRot="1" noChangeAspect="1" noMove="1" noResize="1" noEditPoints="1" noAdjustHandles="1" noChangeArrowheads="1" noChangeShapeType="1" noTextEdit="1"/>
                </p:cNvSpPr>
                <p:nvPr/>
              </p:nvSpPr>
              <p:spPr>
                <a:xfrm>
                  <a:off x="4272844" y="191347"/>
                  <a:ext cx="1196622"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Delay GS"/>
                <p:cNvSpPr/>
                <p:nvPr/>
              </p:nvSpPr>
              <p:spPr>
                <a:xfrm>
                  <a:off x="4153182" y="2270478"/>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GS</m:t>
                            </m:r>
                          </m:sub>
                        </m:sSub>
                        <m:r>
                          <a:rPr sz="1200">
                            <a:solidFill>
                              <a:srgbClr val="FF484D"/>
                            </a:solidFill>
                            <a:latin typeface="Cambria Math"/>
                          </a:rPr>
                          <m:t> = 6 </m:t>
                        </m:r>
                        <m:r>
                          <m:rPr>
                            <m:sty m:val="p"/>
                          </m:rPr>
                          <a:rPr sz="1200">
                            <a:solidFill>
                              <a:srgbClr val="FF484D"/>
                            </a:solidFill>
                            <a:latin typeface="Cambria Math"/>
                          </a:rPr>
                          <m:t>ms</m:t>
                        </m:r>
                      </m:oMath>
                    </m:oMathPara>
                  </a14:m>
                  <a:endParaRPr sz="1200" dirty="0"/>
                </a:p>
              </p:txBody>
            </p:sp>
          </mc:Choice>
          <mc:Fallback xmlns="">
            <p:sp>
              <p:nvSpPr>
                <p:cNvPr id="6007" name="Delay GS"/>
                <p:cNvSpPr>
                  <a:spLocks noRot="1" noChangeAspect="1" noMove="1" noResize="1" noEditPoints="1" noAdjustHandles="1" noChangeArrowheads="1" noChangeShapeType="1" noTextEdit="1"/>
                </p:cNvSpPr>
                <p:nvPr/>
              </p:nvSpPr>
              <p:spPr>
                <a:xfrm>
                  <a:off x="4153182" y="2270478"/>
                  <a:ext cx="1196622"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elf delay"/>
                <p:cNvSpPr/>
                <p:nvPr/>
              </p:nvSpPr>
              <p:spPr>
                <a:xfrm>
                  <a:off x="1819769" y="1268307"/>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GG</m:t>
                            </m:r>
                          </m:sub>
                        </m:sSub>
                      </m:oMath>
                    </m:oMathPara>
                  </a14:m>
                  <a:endParaRPr sz="1200"/>
                </a:p>
              </p:txBody>
            </p:sp>
          </mc:Choice>
          <mc:Fallback xmlns="">
            <p:sp>
              <p:nvSpPr>
                <p:cNvPr id="6008" name="Self delay"/>
                <p:cNvSpPr>
                  <a:spLocks noRot="1" noChangeAspect="1" noMove="1" noResize="1" noEditPoints="1" noAdjustHandles="1" noChangeArrowheads="1" noChangeShapeType="1" noTextEdit="1"/>
                </p:cNvSpPr>
                <p:nvPr/>
              </p:nvSpPr>
              <p:spPr>
                <a:xfrm>
                  <a:off x="1819769" y="1268307"/>
                  <a:ext cx="598311"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Self delay value"/>
                <p:cNvSpPr/>
                <p:nvPr/>
              </p:nvSpPr>
              <p:spPr>
                <a:xfrm>
                  <a:off x="1819769" y="1470660"/>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00">
                            <a:solidFill>
                              <a:srgbClr val="FF484D"/>
                            </a:solidFill>
                            <a:latin typeface="Cambria Math"/>
                          </a:rPr>
                          <m:t>= 4 </m:t>
                        </m:r>
                        <m:r>
                          <m:rPr>
                            <m:sty m:val="p"/>
                          </m:rPr>
                          <a:rPr sz="1100">
                            <a:solidFill>
                              <a:srgbClr val="FF484D"/>
                            </a:solidFill>
                            <a:latin typeface="Cambria Math"/>
                          </a:rPr>
                          <m:t>ms</m:t>
                        </m:r>
                      </m:oMath>
                    </m:oMathPara>
                  </a14:m>
                  <a:endParaRPr sz="1100"/>
                </a:p>
              </p:txBody>
            </p:sp>
          </mc:Choice>
          <mc:Fallback xmlns="">
            <p:sp>
              <p:nvSpPr>
                <p:cNvPr id="6009" name="Self delay value"/>
                <p:cNvSpPr>
                  <a:spLocks noRot="1" noChangeAspect="1" noMove="1" noResize="1" noEditPoints="1" noAdjustHandles="1" noChangeArrowheads="1" noChangeShapeType="1" noTextEdit="1"/>
                </p:cNvSpPr>
                <p:nvPr/>
              </p:nvSpPr>
              <p:spPr>
                <a:xfrm>
                  <a:off x="1819769" y="1470660"/>
                  <a:ext cx="598311" cy="5029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10" name="Delay interval"/>
                <p:cNvSpPr/>
                <p:nvPr/>
              </p:nvSpPr>
              <p:spPr>
                <a:xfrm>
                  <a:off x="4180106" y="887307"/>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𝜏</m:t>
                            </m:r>
                          </m:e>
                          <m:sub>
                            <m:r>
                              <a:rPr sz="1100">
                                <a:solidFill>
                                  <a:srgbClr val="747B82"/>
                                </a:solidFill>
                                <a:latin typeface="Cambria Math"/>
                              </a:rPr>
                              <m:t>𝑖𝑗</m:t>
                            </m:r>
                          </m:sub>
                        </m:sSub>
                      </m:oMath>
                    </m:oMathPara>
                  </a14:m>
                  <a:endParaRPr sz="1100"/>
                </a:p>
              </p:txBody>
            </p:sp>
          </mc:Choice>
          <mc:Fallback xmlns="">
            <p:sp>
              <p:nvSpPr>
                <p:cNvPr id="6010" name="Delay interval"/>
                <p:cNvSpPr>
                  <a:spLocks noRot="1" noChangeAspect="1" noMove="1" noResize="1" noEditPoints="1" noAdjustHandles="1" noChangeArrowheads="1" noChangeShapeType="1" noTextEdit="1"/>
                </p:cNvSpPr>
                <p:nvPr/>
              </p:nvSpPr>
              <p:spPr>
                <a:xfrm>
                  <a:off x="4180106" y="887307"/>
                  <a:ext cx="598311" cy="502920"/>
                </a:xfrm>
                <a:prstGeom prst="rect">
                  <a:avLst/>
                </a:prstGeom>
                <a:blipFill>
                  <a:blip r:embed="rId12"/>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3"/>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1E08E4E5-4D18-888A-F985-6F3A5B5DA0A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9</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EA4E13B-D65C-4F93-08F7-A77D18F6681B}"/>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B9CD20A1-6BEB-6EA2-2BBF-9A6F621E6D1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5462D6B0-B975-E4E8-43A7-522FFD76CEC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A6300-73ED-2644-1A7A-8419470E6037}"/>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69185F86-CE68-EF7C-3018-1A5BA597229D}"/>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DFA80B0-0AED-415B-179D-B7D5FA103C78}"/>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10</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39174E3A-315D-35D2-1FD7-0F9A6A8B57A3}"/>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GS</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solidFill>
                                <a:srgbClr val="C81919"/>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SG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SG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e>
                        <m:e>
                          <m:acc>
                            <m:accPr>
                              <m:chr m:val="̇"/>
                              <m:ctrlPr>
                                <a:rPr lang="en-US" sz="1800" b="0" i="1" smtClean="0">
                                  <a:solidFill>
                                    <a:srgbClr val="C81919"/>
                                  </a:solidFill>
                                  <a:latin typeface="Cambria Math" panose="02040503050406030204" pitchFamily="18" charset="0"/>
                                </a:rPr>
                              </m:ctrlPr>
                            </m:accPr>
                            <m:e>
                              <m:r>
                                <a:rPr lang="en-US" sz="1800" b="0" i="1" smtClean="0">
                                  <a:solidFill>
                                    <a:srgbClr val="C81919"/>
                                  </a:solidFill>
                                  <a:latin typeface="Cambria Math" panose="02040503050406030204" pitchFamily="18" charset="0"/>
                                </a:rPr>
                                <m:t>𝜙</m:t>
                              </m:r>
                            </m:e>
                          </m:acc>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f>
                            <m:fPr>
                              <m:ctrlPr>
                                <a:rPr lang="en-US" sz="1800" b="0" i="1" smtClean="0">
                                  <a:solidFill>
                                    <a:srgbClr val="C81919"/>
                                  </a:solidFill>
                                  <a:latin typeface="Cambria Math" panose="02040503050406030204" pitchFamily="18" charset="0"/>
                                </a:rPr>
                              </m:ctrlPr>
                            </m:fPr>
                            <m:num>
                              <m:r>
                                <a:rPr lang="en-US" sz="1800" b="0" i="1" smtClean="0">
                                  <a:solidFill>
                                    <a:srgbClr val="C81919"/>
                                  </a:solidFill>
                                  <a:latin typeface="Cambria Math" panose="02040503050406030204" pitchFamily="18" charset="0"/>
                                </a:rPr>
                                <m:t>1</m:t>
                              </m:r>
                            </m:num>
                            <m:den>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a:rPr lang="en-US" sz="1800" b="0" i="1" smtClean="0">
                                      <a:solidFill>
                                        <a:srgbClr val="C81919"/>
                                      </a:solidFill>
                                      <a:latin typeface="Cambria Math" panose="02040503050406030204" pitchFamily="18" charset="0"/>
                                    </a:rPr>
                                    <m:t>𝑖𝑗</m:t>
                                  </m:r>
                                </m:sub>
                              </m:sSub>
                            </m:den>
                          </m:f>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e>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,0</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𝑥</m:t>
                              </m:r>
                            </m:e>
                            <m:sub>
                              <m:r>
                                <a:rPr lang="en-US" sz="1800" b="0" i="1" smtClean="0">
                                  <a:solidFill>
                                    <a:srgbClr val="C81919"/>
                                  </a:solidFill>
                                  <a:latin typeface="Cambria Math" panose="02040503050406030204" pitchFamily="18" charset="0"/>
                                </a:rPr>
                                <m:t>𝑖</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r>
                            <a:rPr lang="en-US" sz="1800" b="0" i="1" smtClean="0">
                              <a:solidFill>
                                <a:srgbClr val="C81919"/>
                              </a:solidFill>
                              <a:latin typeface="Cambria Math" panose="02040503050406030204" pitchFamily="18" charset="0"/>
                            </a:rPr>
                            <m:t>, </m:t>
                          </m:r>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𝑖</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𝑗</m:t>
                              </m:r>
                            </m:e>
                          </m:d>
                          <m:r>
                            <a:rPr lang="en-US" sz="1800" b="0" i="1" smtClean="0">
                              <a:solidFill>
                                <a:srgbClr val="C81919"/>
                              </a:solidFill>
                              <a:latin typeface="Cambria Math" panose="02040503050406030204" pitchFamily="18" charset="0"/>
                            </a:rPr>
                            <m:t>∈</m:t>
                          </m:r>
                          <m:d>
                            <m:dPr>
                              <m:begChr m:val="{"/>
                              <m:endChr m:val="}"/>
                              <m:ctrlPr>
                                <a:rPr lang="en-US" sz="1800" b="0" i="1" smtClean="0">
                                  <a:solidFill>
                                    <a:srgbClr val="C81919"/>
                                  </a:solidFill>
                                  <a:latin typeface="Cambria Math" panose="02040503050406030204" pitchFamily="18" charset="0"/>
                                </a:rPr>
                              </m:ctrlPr>
                            </m:dPr>
                            <m:e>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S</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S</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e>
                          </m:d>
                        </m:e>
                      </m:eqArr>
                    </m:oMath>
                  </m:oMathPara>
                </a14:m>
                <a:endParaRPr lang="en-NL" sz="1800" dirty="0"/>
              </a:p>
            </p:txBody>
          </p:sp>
        </mc:Choice>
        <mc:Fallback xmlns="">
          <p:sp>
            <p:nvSpPr>
              <p:cNvPr id="42" name="TextBox 41">
                <a:extLst>
                  <a:ext uri="{FF2B5EF4-FFF2-40B4-BE49-F238E27FC236}">
                    <a16:creationId xmlns:a16="http://schemas.microsoft.com/office/drawing/2014/main" id="{39174E3A-315D-35D2-1FD7-0F9A6A8B57A3}"/>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b="-20188"/>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D01E83B4-2395-9177-359A-842E29A8C3B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DE5ACBCD-6245-5808-3E38-E90CD319A76E}"/>
              </a:ext>
            </a:extLst>
          </p:cNvPr>
          <p:cNvSpPr txBox="1"/>
          <p:nvPr/>
        </p:nvSpPr>
        <p:spPr>
          <a:xfrm>
            <a:off x="438528" y="46228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F67D798B-913D-1D0F-B06B-81BE8DE6D5C1}"/>
              </a:ext>
            </a:extLst>
          </p:cNvPr>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E5C3A566-31B3-55FE-6911-9A1EF6E8B3F7}"/>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3828170243"/>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11</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B74D79A-5656-C6E4-5507-C6A41446797A}"/>
                  </a:ext>
                </a:extLst>
              </p:cNvPr>
              <p:cNvSpPr txBox="1"/>
              <p:nvPr/>
            </p:nvSpPr>
            <p:spPr>
              <a:xfrm>
                <a:off x="1295400" y="2806700"/>
                <a:ext cx="6553200" cy="13716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GS</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SG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SG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qArr>
                    </m:oMath>
                  </m:oMathPara>
                </a14:m>
                <a:endParaRPr lang="en-NL" sz="1800" dirty="0"/>
              </a:p>
            </p:txBody>
          </p:sp>
        </mc:Choice>
        <mc:Fallback xmlns="">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295400" y="2806700"/>
                <a:ext cx="6553200" cy="1371600"/>
              </a:xfrm>
              <a:prstGeom prst="rect">
                <a:avLst/>
              </a:prstGeom>
              <a:blipFill>
                <a:blip r:embed="rId3"/>
                <a:stretch>
                  <a:fillRect/>
                </a:stretch>
              </a:blipFill>
              <a:ln>
                <a:noFill/>
              </a:ln>
            </p:spPr>
            <p:txBody>
              <a:bodyPr/>
              <a:lstStyle/>
              <a:p>
                <a:r>
                  <a:rPr lang="en-NL">
                    <a:noFill/>
                  </a:rPr>
                  <a:t> </a:t>
                </a:r>
              </a:p>
            </p:txBody>
          </p:sp>
        </mc:Fallback>
      </mc:AlternateContent>
      <p:grpSp>
        <p:nvGrpSpPr>
          <p:cNvPr id="58" name="Figure with corrected editable mathematics — editable labels"/>
          <p:cNvGrpSpPr/>
          <p:nvPr/>
        </p:nvGrpSpPr>
        <p:grpSpPr>
          <a:xfrm>
            <a:off x="1993900" y="241300"/>
            <a:ext cx="5156200" cy="2578100"/>
            <a:chOff x="1993900" y="241300"/>
            <a:chExt cx="5156200" cy="2578100"/>
          </a:xfrm>
        </p:grpSpPr>
        <p:pic>
          <p:nvPicPr>
            <p:cNvPr id="6010" name="Figure with corrected editable mathematics">
              <a:extLst>
                <a:ext uri="{FF2B5EF4-FFF2-40B4-BE49-F238E27FC236}">
                  <a16:creationId xmlns:a16="http://schemas.microsoft.com/office/drawing/2014/main" id="{1101D39B-E912-2D21-F890-7BB31C6B45F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6001" name="Editable label Proto"/>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Activation G"/>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Activation input G"/>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Activation S"/>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Activation input S"/>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1"/>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sp>
        <p:nvSpPr>
          <p:cNvPr id="81" name="TextBox 80">
            <a:extLst>
              <a:ext uri="{FF2B5EF4-FFF2-40B4-BE49-F238E27FC236}">
                <a16:creationId xmlns:a16="http://schemas.microsoft.com/office/drawing/2014/main" id="{BB047B88-FD1C-8DA5-3449-A3624FB9C737}"/>
              </a:ext>
            </a:extLst>
          </p:cNvPr>
          <p:cNvSpPr txBox="1"/>
          <p:nvPr/>
        </p:nvSpPr>
        <p:spPr>
          <a:xfrm>
            <a:off x="787400" y="4203700"/>
            <a:ext cx="7569200" cy="279400"/>
          </a:xfrm>
          <a:prstGeom prst="rect">
            <a:avLst/>
          </a:prstGeom>
          <a:noFill/>
          <a:ln>
            <a:noFill/>
          </a:ln>
        </p:spPr>
        <p:txBody>
          <a:bodyPr wrap="square" lIns="0" tIns="0" rIns="0" bIns="0" rtlCol="0" anchor="t">
            <a:noAutofit/>
          </a:bodyPr>
          <a:lstStyle/>
          <a:p>
            <a:pPr marL="0" indent="0" algn="ctr" defTabSz="1">
              <a:lnSpc>
                <a:spcPct val="110000"/>
              </a:lnSpc>
              <a:spcAft>
                <a:spcPts val="0"/>
              </a:spcAft>
              <a:buNone/>
              <a:defRPr sz="1300" b="1" u="none" cap="none">
                <a:solidFill>
                  <a:srgbClr val="C81919"/>
                </a:solidFill>
                <a:latin typeface="Aptos"/>
                <a:ea typeface="Aptos"/>
                <a:cs typeface="Aptos"/>
              </a:defRPr>
            </a:pPr>
            <a:r>
              <a:rPr lang="en-US" sz="1300" b="1" u="none" cap="none" dirty="0">
                <a:solidFill>
                  <a:srgbClr val="C81919"/>
                </a:solidFill>
                <a:latin typeface="Aptos"/>
                <a:ea typeface="Aptos"/>
                <a:cs typeface="Aptos"/>
              </a:rPr>
              <a:t>Model contains PDEs and nonlinear activation functions!</a:t>
            </a:r>
            <a:endParaRPr lang="en-NL" sz="1300" b="1" u="none" cap="none" dirty="0">
              <a:solidFill>
                <a:srgbClr val="C81919"/>
              </a:solidFill>
              <a:latin typeface="Aptos"/>
              <a:ea typeface="Aptos"/>
              <a:cs typeface="Aptos"/>
            </a:endParaRPr>
          </a:p>
        </p:txBody>
      </p:sp>
      <p:pic>
        <p:nvPicPr>
          <p:cNvPr id="82" name="Original TUe logo"/>
          <p:cNvPicPr>
            <a:picLocks noChangeAspect="1"/>
          </p:cNvPicPr>
          <p:nvPr/>
        </p:nvPicPr>
        <p:blipFill>
          <a:blip r:embed="rId12"/>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364ED054-BA3C-3ACC-F1C5-4EE4D1346E0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12</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926C627-9E23-2EDD-F91F-30B0EF9B97BE}"/>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GS</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e>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SG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SG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rgbClr val="C81919"/>
                              </a:solidFill>
                              <a:latin typeface="Cambria Math" panose="02040503050406030204" pitchFamily="18" charset="0"/>
                            </a:rPr>
                            <m:t>𝑢</m:t>
                          </m:r>
                          <m:d>
                            <m:dPr>
                              <m:ctrlPr>
                                <a:rPr lang="en-US" sz="1700" b="0" i="1" smtClean="0">
                                  <a:solidFill>
                                    <a:srgbClr val="C81919"/>
                                  </a:solidFill>
                                  <a:latin typeface="Cambria Math" panose="02040503050406030204" pitchFamily="18" charset="0"/>
                                </a:rPr>
                              </m:ctrlPr>
                            </m:dPr>
                            <m:e>
                              <m:r>
                                <a:rPr lang="en-US" sz="1700" b="0" i="1" smtClean="0">
                                  <a:solidFill>
                                    <a:srgbClr val="C81919"/>
                                  </a:solidFill>
                                  <a:latin typeface="Cambria Math" panose="02040503050406030204" pitchFamily="18" charset="0"/>
                                </a:rPr>
                                <m:t>𝑡</m:t>
                              </m:r>
                            </m:e>
                          </m:d>
                          <m:r>
                            <a:rPr lang="en-US" sz="1700" b="0" i="1" smtClean="0">
                              <a:solidFill>
                                <a:srgbClr val="C81919"/>
                              </a:solidFill>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4" name="Figure with corrected editable mathematics — editable labels"/>
          <p:cNvGrpSpPr/>
          <p:nvPr/>
        </p:nvGrpSpPr>
        <p:grpSpPr>
          <a:xfrm>
            <a:off x="1879600" y="241300"/>
            <a:ext cx="5597595" cy="2692400"/>
            <a:chOff x="1879600" y="241300"/>
            <a:chExt cx="5597595" cy="2692400"/>
          </a:xfrm>
        </p:grpSpPr>
        <p:pic>
          <p:nvPicPr>
            <p:cNvPr id="6007" name="Figure with corrected editable mathematics">
              <a:extLst>
                <a:ext uri="{FF2B5EF4-FFF2-40B4-BE49-F238E27FC236}">
                  <a16:creationId xmlns:a16="http://schemas.microsoft.com/office/drawing/2014/main" id="{BF35C9FF-9988-E0C7-FA0A-D263F9A46A4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timulation input"/>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6006" name="Stimulation input"/>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8"/>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9"/>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2EE4EDA8-0F9A-EB4C-558C-BEC37746EDE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
        <p:nvSpPr>
          <p:cNvPr id="2" name="Rectangle 1">
            <a:extLst>
              <a:ext uri="{FF2B5EF4-FFF2-40B4-BE49-F238E27FC236}">
                <a16:creationId xmlns:a16="http://schemas.microsoft.com/office/drawing/2014/main" id="{11BCD9E8-054B-2537-ABA2-B607CD95260B}"/>
              </a:ext>
            </a:extLst>
          </p:cNvPr>
          <p:cNvSpPr/>
          <p:nvPr/>
        </p:nvSpPr>
        <p:spPr>
          <a:xfrm>
            <a:off x="6337017" y="294968"/>
            <a:ext cx="1190560" cy="12092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13</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7"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C2296C69-0A75-0F87-DAFB-367E6713983C}"/>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Brain Stimulation</a:t>
            </a:r>
            <a:endParaRPr lang="en-NL" sz="2500" b="1" u="none" cap="none" dirty="0">
              <a:solidFill>
                <a:srgbClr val="252529"/>
              </a:solidFill>
              <a:latin typeface="Aptos"/>
              <a:ea typeface="Aptos"/>
              <a:cs typeface="Aptos"/>
            </a:endParaRPr>
          </a:p>
        </p:txBody>
      </p:sp>
      <p:pic>
        <p:nvPicPr>
          <p:cNvPr id="3" name="Simulation - healthy">
            <a:hlinkClick r:id="" action="ppaction://media"/>
            <a:extLst>
              <a:ext uri="{FF2B5EF4-FFF2-40B4-BE49-F238E27FC236}">
                <a16:creationId xmlns:a16="http://schemas.microsoft.com/office/drawing/2014/main" id="{3901610A-701E-19E0-16DA-87D6F92C8051}"/>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u(t)"/>
          <p:cNvSpPr/>
          <p:nvPr/>
        </p:nvSpPr>
        <p:spPr>
          <a:xfrm>
            <a:off x="4162703" y="1333461"/>
            <a:ext cx="299839" cy="237887"/>
          </a:xfrm>
          <a:prstGeom prst="rect">
            <a:avLst/>
          </a:prstGeom>
          <a:noFill/>
          <a:ln>
            <a:noFill/>
          </a:ln>
        </p:spPr>
        <p:txBody>
          <a:bodyPr wrap="none" lIns="0" tIns="0" rIns="0" bIns="0" anchor="ctr">
            <a:noAutofit/>
          </a:bodyPr>
          <a:lstStyle/>
          <a:p>
            <a:pPr algn="ctr">
              <a:buNone/>
            </a:pPr>
            <a:r>
              <a:rPr lang="en-GB" sz="1041" b="0" i="0" u="none" baseline="0">
                <a:solidFill>
                  <a:srgbClr val="252529"/>
                </a:solidFill>
                <a:latin typeface="Arial"/>
                <a:ea typeface="Arial"/>
                <a:cs typeface="Arial"/>
              </a:rPr>
              <a:t>u(t)</a:t>
            </a:r>
            <a:endParaRPr sz="1041"/>
          </a:p>
        </p:txBody>
      </p:sp>
      <p:sp>
        <p:nvSpPr>
          <p:cNvPr id="1006" name="Editable video label: Stimulation (spikes/s)"/>
          <p:cNvSpPr/>
          <p:nvPr/>
        </p:nvSpPr>
        <p:spPr>
          <a:xfrm>
            <a:off x="5034955" y="1209231"/>
            <a:ext cx="128222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Stimulation (spikes/s)</a:t>
            </a:r>
            <a:endParaRPr sz="971"/>
          </a:p>
        </p:txBody>
      </p:sp>
      <p:sp>
        <p:nvSpPr>
          <p:cNvPr id="1007" name="Editable video label: 0"/>
          <p:cNvSpPr/>
          <p:nvPr/>
        </p:nvSpPr>
        <p:spPr>
          <a:xfrm>
            <a:off x="4907201" y="2024655"/>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500"/>
          <p:cNvSpPr/>
          <p:nvPr/>
        </p:nvSpPr>
        <p:spPr>
          <a:xfrm>
            <a:off x="4792662" y="1676635"/>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500</a:t>
            </a:r>
            <a:endParaRPr sz="832"/>
          </a:p>
        </p:txBody>
      </p:sp>
      <p:sp>
        <p:nvSpPr>
          <p:cNvPr id="1009" name="Editable video label: 1000"/>
          <p:cNvSpPr/>
          <p:nvPr/>
        </p:nvSpPr>
        <p:spPr>
          <a:xfrm>
            <a:off x="4735393" y="1328615"/>
            <a:ext cx="33067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1000</a:t>
            </a:r>
            <a:endParaRPr sz="832"/>
          </a:p>
        </p:txBody>
      </p:sp>
      <p:sp>
        <p:nvSpPr>
          <p:cNvPr id="1010" name="Editable video label: Deviation (spikes/s)"/>
          <p:cNvSpPr/>
          <p:nvPr/>
        </p:nvSpPr>
        <p:spPr>
          <a:xfrm>
            <a:off x="5034955" y="246034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1" name="Editable video label: -20"/>
          <p:cNvSpPr/>
          <p:nvPr/>
        </p:nvSpPr>
        <p:spPr>
          <a:xfrm>
            <a:off x="4814689" y="375729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2" name="Editable video label: 0"/>
          <p:cNvSpPr/>
          <p:nvPr/>
        </p:nvSpPr>
        <p:spPr>
          <a:xfrm>
            <a:off x="4907201" y="3568886"/>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3" name="Editable video label: 50"/>
          <p:cNvSpPr/>
          <p:nvPr/>
        </p:nvSpPr>
        <p:spPr>
          <a:xfrm>
            <a:off x="4849932" y="3097857"/>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4" name="Editable video label: 100"/>
          <p:cNvSpPr/>
          <p:nvPr/>
        </p:nvSpPr>
        <p:spPr>
          <a:xfrm>
            <a:off x="4792662" y="2626827"/>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5" name="Editable video label: 0.0"/>
          <p:cNvSpPr/>
          <p:nvPr/>
        </p:nvSpPr>
        <p:spPr>
          <a:xfrm>
            <a:off x="496006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6" name="Editable video label: 0.1"/>
          <p:cNvSpPr/>
          <p:nvPr/>
        </p:nvSpPr>
        <p:spPr>
          <a:xfrm>
            <a:off x="584663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7" name="Editable video label: 0.2"/>
          <p:cNvSpPr/>
          <p:nvPr/>
        </p:nvSpPr>
        <p:spPr>
          <a:xfrm>
            <a:off x="6733203"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8" name="Editable video label: 0.3"/>
          <p:cNvSpPr/>
          <p:nvPr/>
        </p:nvSpPr>
        <p:spPr>
          <a:xfrm>
            <a:off x="7619772"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9" name="Editable video label: 0.4"/>
          <p:cNvSpPr/>
          <p:nvPr/>
        </p:nvSpPr>
        <p:spPr>
          <a:xfrm>
            <a:off x="8506341"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0" name="Editable video label: Time (s)"/>
          <p:cNvSpPr/>
          <p:nvPr/>
        </p:nvSpPr>
        <p:spPr>
          <a:xfrm>
            <a:off x="8193564" y="4031274"/>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21" name="Editable video label: STN"/>
          <p:cNvSpPr/>
          <p:nvPr/>
        </p:nvSpPr>
        <p:spPr>
          <a:xfrm>
            <a:off x="6462276"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2" name="Editable video label: GPe"/>
          <p:cNvSpPr/>
          <p:nvPr/>
        </p:nvSpPr>
        <p:spPr>
          <a:xfrm>
            <a:off x="7211179"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19.0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1.12</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6.60</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Healthy</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a:solidFill>
                  <a:srgbClr val="252529"/>
                </a:solidFill>
                <a:latin typeface="Arial"/>
                <a:ea typeface="Arial"/>
                <a:cs typeface="Arial"/>
              </a:rPr>
              <a:t>Stimulation response returns to equilibrium.</a:t>
            </a:r>
            <a:endParaRPr sz="115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14</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Beta-oscillations</a:t>
            </a:r>
            <a:endParaRPr lang="en-NL" sz="2500" b="1" u="none" cap="none" dirty="0">
              <a:solidFill>
                <a:srgbClr val="252529"/>
              </a:solidFill>
              <a:latin typeface="Aptos"/>
              <a:ea typeface="Aptos"/>
              <a:cs typeface="Aptos"/>
            </a:endParaRPr>
          </a:p>
        </p:txBody>
      </p:sp>
      <p:pic>
        <p:nvPicPr>
          <p:cNvPr id="3" name="Simulation - parkinsonian">
            <a:hlinkClick r:id="" action="ppaction://media"/>
            <a:extLst>
              <a:ext uri="{FF2B5EF4-FFF2-40B4-BE49-F238E27FC236}">
                <a16:creationId xmlns:a16="http://schemas.microsoft.com/office/drawing/2014/main" id="{9786003D-A801-DCF2-2C76-475D33864856}"/>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Deviation (spikes/s)"/>
          <p:cNvSpPr/>
          <p:nvPr/>
        </p:nvSpPr>
        <p:spPr>
          <a:xfrm>
            <a:off x="5034955" y="1297338"/>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06" name="Editable video label: -20"/>
          <p:cNvSpPr/>
          <p:nvPr/>
        </p:nvSpPr>
        <p:spPr>
          <a:xfrm>
            <a:off x="4814689" y="361937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7" name="Editable video label: 0"/>
          <p:cNvSpPr/>
          <p:nvPr/>
        </p:nvSpPr>
        <p:spPr>
          <a:xfrm>
            <a:off x="4907201" y="3266953"/>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20"/>
          <p:cNvSpPr/>
          <p:nvPr/>
        </p:nvSpPr>
        <p:spPr>
          <a:xfrm>
            <a:off x="4849932" y="291452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9" name="Editable video label: 40"/>
          <p:cNvSpPr/>
          <p:nvPr/>
        </p:nvSpPr>
        <p:spPr>
          <a:xfrm>
            <a:off x="4849932" y="256210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40</a:t>
            </a:r>
            <a:endParaRPr sz="832"/>
          </a:p>
        </p:txBody>
      </p:sp>
      <p:sp>
        <p:nvSpPr>
          <p:cNvPr id="1010" name="Editable video label: 60"/>
          <p:cNvSpPr/>
          <p:nvPr/>
        </p:nvSpPr>
        <p:spPr>
          <a:xfrm>
            <a:off x="4849932" y="220967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60</a:t>
            </a:r>
            <a:endParaRPr sz="832"/>
          </a:p>
        </p:txBody>
      </p:sp>
      <p:sp>
        <p:nvSpPr>
          <p:cNvPr id="1011" name="Editable video label: 80"/>
          <p:cNvSpPr/>
          <p:nvPr/>
        </p:nvSpPr>
        <p:spPr>
          <a:xfrm>
            <a:off x="4849932" y="185725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80</a:t>
            </a:r>
            <a:endParaRPr sz="832"/>
          </a:p>
        </p:txBody>
      </p:sp>
      <p:sp>
        <p:nvSpPr>
          <p:cNvPr id="1012" name="Editable video label: 100"/>
          <p:cNvSpPr/>
          <p:nvPr/>
        </p:nvSpPr>
        <p:spPr>
          <a:xfrm>
            <a:off x="4792662" y="150482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3" name="Editable video label: 0.0"/>
          <p:cNvSpPr/>
          <p:nvPr/>
        </p:nvSpPr>
        <p:spPr>
          <a:xfrm>
            <a:off x="496006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4" name="Editable video label: 0.1"/>
          <p:cNvSpPr/>
          <p:nvPr/>
        </p:nvSpPr>
        <p:spPr>
          <a:xfrm>
            <a:off x="584663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5" name="Editable video label: 0.2"/>
          <p:cNvSpPr/>
          <p:nvPr/>
        </p:nvSpPr>
        <p:spPr>
          <a:xfrm>
            <a:off x="6733203"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6" name="Editable video label: 0.3"/>
          <p:cNvSpPr/>
          <p:nvPr/>
        </p:nvSpPr>
        <p:spPr>
          <a:xfrm>
            <a:off x="7619772"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7" name="Editable video label: 0.4"/>
          <p:cNvSpPr/>
          <p:nvPr/>
        </p:nvSpPr>
        <p:spPr>
          <a:xfrm>
            <a:off x="8506341"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18" name="Editable video label: Time (s)"/>
          <p:cNvSpPr/>
          <p:nvPr/>
        </p:nvSpPr>
        <p:spPr>
          <a:xfrm>
            <a:off x="8193564" y="3934358"/>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19" name="Editable video label: STN"/>
          <p:cNvSpPr/>
          <p:nvPr/>
        </p:nvSpPr>
        <p:spPr>
          <a:xfrm>
            <a:off x="7343338"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0" name="Editable video label: GPe"/>
          <p:cNvSpPr/>
          <p:nvPr/>
        </p:nvSpPr>
        <p:spPr>
          <a:xfrm>
            <a:off x="8004135"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A small perturbation grows into oscillations.</a:t>
            </a:r>
            <a:endParaRPr sz="1150" dirty="0"/>
          </a:p>
        </p:txBody>
      </p:sp>
      <p:pic>
        <p:nvPicPr>
          <p:cNvPr id="7" name="Picture 6">
            <a:extLst>
              <a:ext uri="{FF2B5EF4-FFF2-40B4-BE49-F238E27FC236}">
                <a16:creationId xmlns:a16="http://schemas.microsoft.com/office/drawing/2014/main" id="{1C220292-2A29-A3FD-4B25-EEA96E9C7AE4}"/>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701997" y="982934"/>
            <a:ext cx="5330750" cy="2665375"/>
          </a:xfrm>
          <a:prstGeom prst="rect">
            <a:avLst/>
          </a:prstGeom>
        </p:spPr>
      </p:pic>
      <p:sp>
        <p:nvSpPr>
          <p:cNvPr id="9" name="Controller K block">
            <a:extLst>
              <a:ext uri="{FF2B5EF4-FFF2-40B4-BE49-F238E27FC236}">
                <a16:creationId xmlns:a16="http://schemas.microsoft.com/office/drawing/2014/main" id="{D2B0F3B8-932B-1688-3C45-731CB1647514}"/>
              </a:ext>
            </a:extLst>
          </p:cNvPr>
          <p:cNvSpPr/>
          <p:nvPr/>
        </p:nvSpPr>
        <p:spPr>
          <a:xfrm>
            <a:off x="4219575" y="1080453"/>
            <a:ext cx="352425" cy="352425"/>
          </a:xfrm>
          <a:prstGeom prst="roundRect">
            <a:avLst>
              <a:gd name="adj" fmla="val 5000"/>
            </a:avLst>
          </a:prstGeom>
          <a:solidFill>
            <a:srgbClr val="FFFFFF"/>
          </a:solidFill>
          <a:ln w="10795">
            <a:solidFill>
              <a:srgbClr val="C81919"/>
            </a:solidFill>
          </a:ln>
        </p:spPr>
        <p:txBody>
          <a:bodyPr/>
          <a:lstStyle/>
          <a:p>
            <a:r>
              <a:rPr lang="en-US" dirty="0">
                <a:solidFill>
                  <a:srgbClr val="C81919"/>
                </a:solidFill>
              </a:rPr>
              <a:t>?</a:t>
            </a:r>
            <a:endParaRPr lang="en-NL" dirty="0">
              <a:solidFill>
                <a:srgbClr val="C81919"/>
              </a:solidFill>
            </a:endParaRPr>
          </a:p>
        </p:txBody>
      </p:sp>
      <p:sp>
        <p:nvSpPr>
          <p:cNvPr id="11" name="Population response description">
            <a:extLst>
              <a:ext uri="{FF2B5EF4-FFF2-40B4-BE49-F238E27FC236}">
                <a16:creationId xmlns:a16="http://schemas.microsoft.com/office/drawing/2014/main" id="{205B1B21-8C28-6953-B168-35AE8B83362E}"/>
              </a:ext>
            </a:extLst>
          </p:cNvPr>
          <p:cNvSpPr/>
          <p:nvPr/>
        </p:nvSpPr>
        <p:spPr>
          <a:xfrm>
            <a:off x="510295" y="3516864"/>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Can we stimulate the brain to cancel </a:t>
            </a:r>
            <a:r>
              <a:rPr lang="en-GB" sz="1150" b="0" i="0" u="none" baseline="0" dirty="0" err="1">
                <a:solidFill>
                  <a:srgbClr val="252529"/>
                </a:solidFill>
                <a:latin typeface="Arial"/>
                <a:ea typeface="Arial"/>
                <a:cs typeface="Arial"/>
              </a:rPr>
              <a:t>oscilations</a:t>
            </a:r>
            <a:r>
              <a:rPr lang="en-GB" sz="1150" b="0" i="0" u="none" baseline="0" dirty="0">
                <a:solidFill>
                  <a:srgbClr val="252529"/>
                </a:solidFill>
                <a:latin typeface="Arial"/>
                <a:ea typeface="Arial"/>
                <a:cs typeface="Arial"/>
              </a:rPr>
              <a:t>?</a:t>
            </a:r>
            <a:endParaRPr sz="1150" dirty="0"/>
          </a:p>
        </p:txBody>
      </p:sp>
      <p:pic>
        <p:nvPicPr>
          <p:cNvPr id="4" name="Picture 3">
            <a:extLst>
              <a:ext uri="{FF2B5EF4-FFF2-40B4-BE49-F238E27FC236}">
                <a16:creationId xmlns:a16="http://schemas.microsoft.com/office/drawing/2014/main" id="{EDE727F2-4DB9-475F-E8AA-CEB72263AE0A}"/>
              </a:ext>
            </a:extLst>
          </p:cNvPr>
          <p:cNvPicPr>
            <a:picLocks noChangeAspect="1"/>
          </p:cNvPicPr>
          <p:nvPr/>
        </p:nvPicPr>
        <p:blipFill>
          <a:blip r:embed="rId15" cstate="print">
            <a:extLst>
              <a:ext uri="{28A0092B-C50C-407E-A947-70E740481C1C}">
                <a14:useLocalDpi xmlns:a14="http://schemas.microsoft.com/office/drawing/2010/main" val="0"/>
              </a:ext>
            </a:extLst>
          </a:blip>
          <a:srcRect l="15942" r="17681"/>
          <a:stretch>
            <a:fillRect/>
          </a:stretch>
        </p:blipFill>
        <p:spPr>
          <a:xfrm>
            <a:off x="7991175" y="0"/>
            <a:ext cx="1152825" cy="967898"/>
          </a:xfrm>
          <a:prstGeom prst="rect">
            <a:avLst/>
          </a:prstGeom>
        </p:spPr>
      </p:pic>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xit" presetSubtype="0" fill="hold" grpId="0" nodeType="withEffect">
                                  <p:stCondLst>
                                    <p:cond delay="0"/>
                                  </p:stCondLst>
                                  <p:childTnLst>
                                    <p:set>
                                      <p:cBhvr>
                                        <p:cTn id="16" dur="1" fill="hold">
                                          <p:stCondLst>
                                            <p:cond delay="0"/>
                                          </p:stCondLst>
                                        </p:cTn>
                                        <p:tgtEl>
                                          <p:spTgt spid="5009"/>
                                        </p:tgtEl>
                                        <p:attrNameLst>
                                          <p:attrName>style.visibility</p:attrName>
                                        </p:attrNameLst>
                                      </p:cBhvr>
                                      <p:to>
                                        <p:strVal val="hidden"/>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9" fill="remove" display="0">
                  <p:stCondLst>
                    <p:cond delay="indefinite"/>
                  </p:stCondLst>
                </p:cTn>
                <p:tgtEl>
                  <p:spTgt spid="3"/>
                </p:tgtEl>
              </p:cMediaNode>
            </p:video>
          </p:childTnLst>
        </p:cTn>
      </p:par>
    </p:tnLst>
    <p:bldLst>
      <p:bldP spid="5009" grpId="0"/>
      <p:bldP spid="9" grpId="0" animBg="1"/>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15</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412D5D6-0185-91C2-2A41-6C3B78B8A65C}"/>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4073738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2E11E-AC15-DEDD-2F3F-FA10E35BD36B}"/>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DC661F-163E-72A2-1F17-48008C51752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4A14C0E-ABF8-57B3-AE1F-AFA8A3B49613}"/>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16</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D3924097-4D2E-7DFC-BEF5-815A11E26CA1}"/>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a:extLst>
              <a:ext uri="{FF2B5EF4-FFF2-40B4-BE49-F238E27FC236}">
                <a16:creationId xmlns:a16="http://schemas.microsoft.com/office/drawing/2014/main" id="{10F617F4-DD74-F4ED-EDB3-5BCB6DF53D63}"/>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5096546-CDFC-86F9-BE0D-1DED12BD265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5096546-CDFC-86F9-BE0D-1DED12BD265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0F40FF8-CC97-382F-6D49-8865C421BE5A}"/>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3" name="TextBox 2">
                <a:extLst>
                  <a:ext uri="{FF2B5EF4-FFF2-40B4-BE49-F238E27FC236}">
                    <a16:creationId xmlns:a16="http://schemas.microsoft.com/office/drawing/2014/main" id="{C0F40FF8-CC97-382F-6D49-8865C421BE5A}"/>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439392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222F3-2902-EE64-3F18-2CF696303324}"/>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EC5870-AD12-F945-2940-63AA2A9780F2}"/>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ED15BBD6-F513-E3F0-C305-FC1FDC2BFC56}"/>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17</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F4AEE8C-50D7-3551-C27A-435BF4991E50}"/>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9098AACC-DBB4-1BDC-7DCA-CB113DE1FA5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b="1" dirty="0">
                <a:solidFill>
                  <a:srgbClr val="C81919">
                    <a:alpha val="10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Convex state feedback synthesis</a:t>
            </a:r>
            <a:endParaRPr lang="en-NL" sz="1600" dirty="0">
              <a:solidFill>
                <a:srgbClr val="252529">
                  <a:alpha val="30000"/>
                </a:srgbClr>
              </a:solidFill>
              <a:latin typeface="Aptos"/>
            </a:endParaRPr>
          </a:p>
        </p:txBody>
      </p:sp>
      <p:pic>
        <p:nvPicPr>
          <p:cNvPr id="8" name="Original TUe logo">
            <a:extLst>
              <a:ext uri="{FF2B5EF4-FFF2-40B4-BE49-F238E27FC236}">
                <a16:creationId xmlns:a16="http://schemas.microsoft.com/office/drawing/2014/main" id="{671FB93D-7FBA-91C0-3273-68E3A59C6270}"/>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8058A94-DD0F-4A1B-B9B2-BA25D0CFDFA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8058A94-DD0F-4A1B-B9B2-BA25D0CFDFA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8E1E06B-E87F-2E0E-5367-1570C03E29D3}"/>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38E1E06B-E87F-2E0E-5367-1570C03E29D3}"/>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7020959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13ED3-7838-C2D8-0E63-530C5D96924E}"/>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E4FFC0C5-ECD5-0233-C844-1E04D44E28C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049F2B31-B9A0-FA26-E775-389805C648C5}"/>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18</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90B07186-CB37-2E1E-C9E4-F61AED1E6674}"/>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CAA51A3-F0DE-6EC9-020E-057DE4E0832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dirty="0">
                    <a:solidFill>
                      <a:srgbClr val="252529">
                        <a:alpha val="30000"/>
                      </a:srgbClr>
                    </a:solidFill>
                    <a:latin typeface="Aptos"/>
                  </a:rPr>
                  <a:t>Analysis</a:t>
                </a:r>
                <a:r>
                  <a:rPr lang="en-US" sz="1600" b="1" dirty="0">
                    <a:solidFill>
                      <a:srgbClr val="C81919">
                        <a:alpha val="100000"/>
                      </a:srgbClr>
                    </a:solidFill>
                    <a:latin typeface="Aptos"/>
                  </a:rPr>
                  <a:t> </a:t>
                </a:r>
                <a:r>
                  <a:rPr lang="en-US" sz="1600" dirty="0">
                    <a:solidFill>
                      <a:srgbClr val="252529">
                        <a:alpha val="30000"/>
                      </a:srgbClr>
                    </a:solidFill>
                    <a:latin typeface="Aptos"/>
                  </a:rPr>
                  <a:t>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b="1" dirty="0">
                    <a:solidFill>
                      <a:srgbClr val="C81919">
                        <a:alpha val="100000"/>
                      </a:srgbClr>
                    </a:solidFill>
                    <a:latin typeface="Aptos"/>
                  </a:rPr>
                  <a:t>Convex state feedback synthesis				 				                    </a:t>
                </a:r>
                <a14:m>
                  <m:oMath xmlns:m="http://schemas.openxmlformats.org/officeDocument/2006/math">
                    <m:r>
                      <a:rPr lang="en-US" sz="1600" b="1" i="1" smtClean="0">
                        <a:solidFill>
                          <a:srgbClr val="C81919">
                            <a:alpha val="100000"/>
                          </a:srgbClr>
                        </a:solidFill>
                        <a:latin typeface="Cambria Math" panose="02040503050406030204" pitchFamily="18" charset="0"/>
                        <a:ea typeface="Cambria Math" panose="02040503050406030204" pitchFamily="18" charset="0"/>
                      </a:rPr>
                      <m:t>↔             </m:t>
                    </m:r>
                  </m:oMath>
                </a14:m>
                <a:r>
                  <a:rPr lang="en-US" sz="1600" b="1" dirty="0">
                    <a:solidFill>
                      <a:srgbClr val="C81919">
                        <a:alpha val="100000"/>
                      </a:srgbClr>
                    </a:solidFill>
                    <a:latin typeface="Aptos"/>
                  </a:rPr>
                  <a:t>      Main contribution		</a:t>
                </a:r>
                <a:endParaRPr lang="en-NL" sz="1600" b="1" dirty="0">
                  <a:solidFill>
                    <a:srgbClr val="C81919">
                      <a:alpha val="100000"/>
                    </a:srgbClr>
                  </a:solidFill>
                  <a:latin typeface="Aptos"/>
                </a:endParaRPr>
              </a:p>
            </p:txBody>
          </p:sp>
        </mc:Choice>
        <mc:Fallback xmlns="">
          <p:sp>
            <p:nvSpPr>
              <p:cNvPr id="7" name="TextBox 6">
                <a:extLst>
                  <a:ext uri="{FF2B5EF4-FFF2-40B4-BE49-F238E27FC236}">
                    <a16:creationId xmlns:a16="http://schemas.microsoft.com/office/drawing/2014/main" id="{1CAA51A3-F0DE-6EC9-020E-057DE4E08324}"/>
                  </a:ext>
                </a:extLst>
              </p:cNvPr>
              <p:cNvSpPr txBox="1">
                <a:spLocks noRot="1" noChangeAspect="1" noMove="1" noResize="1" noEditPoints="1" noAdjustHandles="1" noChangeArrowheads="1" noChangeShapeType="1" noTextEdit="1"/>
              </p:cNvSpPr>
              <p:nvPr/>
            </p:nvSpPr>
            <p:spPr>
              <a:xfrm>
                <a:off x="457200" y="2939599"/>
                <a:ext cx="8229600" cy="898177"/>
              </a:xfrm>
              <a:prstGeom prst="rect">
                <a:avLst/>
              </a:prstGeom>
              <a:blipFill>
                <a:blip r:embed="rId2"/>
                <a:stretch>
                  <a:fillRect l="-1481" t="-3378" b="-2027"/>
                </a:stretch>
              </a:blipFill>
              <a:ln>
                <a:noFill/>
              </a:ln>
            </p:spPr>
            <p:txBody>
              <a:bodyPr/>
              <a:lstStyle/>
              <a:p>
                <a:r>
                  <a:rPr lang="en-NL">
                    <a:noFill/>
                  </a:rPr>
                  <a:t> </a:t>
                </a:r>
              </a:p>
            </p:txBody>
          </p:sp>
        </mc:Fallback>
      </mc:AlternateContent>
      <p:pic>
        <p:nvPicPr>
          <p:cNvPr id="8" name="Original TUe logo">
            <a:extLst>
              <a:ext uri="{FF2B5EF4-FFF2-40B4-BE49-F238E27FC236}">
                <a16:creationId xmlns:a16="http://schemas.microsoft.com/office/drawing/2014/main" id="{F1734A48-F0B7-E4D0-6BC7-A1F184F34074}"/>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C2019542-110A-9A07-186B-E1C54CB5A9B5}"/>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C2019542-110A-9A07-186B-E1C54CB5A9B5}"/>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4"/>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96929D4-F2D5-1373-45AF-B8E96DD20EFD}"/>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C96929D4-F2D5-1373-45AF-B8E96DD20EFD}"/>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2"/>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5325093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D2DB8-00FA-FDF9-506C-D56CA3B571FB}"/>
            </a:ext>
          </a:extLst>
        </p:cNvPr>
        <p:cNvGrpSpPr/>
        <p:nvPr/>
      </p:nvGrpSpPr>
      <p:grpSpPr>
        <a:xfrm>
          <a:off x="0" y="0"/>
          <a:ext cx="0" cy="0"/>
          <a:chOff x="0" y="0"/>
          <a:chExt cx="0" cy="0"/>
        </a:xfrm>
      </p:grpSpPr>
      <p:pic>
        <p:nvPicPr>
          <p:cNvPr id="20080" name="Canon image"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3"/>
          <a:stretch>
            <a:fillRect/>
          </a:stretch>
        </p:blipFill>
        <p:spPr>
          <a:xfrm>
            <a:off x="6896100" y="3302000"/>
            <a:ext cx="1778000" cy="871220"/>
          </a:xfrm>
          <a:prstGeom prst="rect">
            <a:avLst/>
          </a:prstGeom>
        </p:spPr>
      </p:pic>
      <p:pic>
        <p:nvPicPr>
          <p:cNvPr id="20079" name="ASML image">
            <a:extLst>
              <a:ext uri="{FF2B5EF4-FFF2-40B4-BE49-F238E27FC236}">
                <a16:creationId xmlns:a16="http://schemas.microsoft.com/office/drawing/2014/main" id="{B400E0AB-D61D-0722-09F6-12DB2BB3E8EF}"/>
              </a:ext>
            </a:extLst>
          </p:cNvPr>
          <p:cNvPicPr>
            <a:picLocks noChangeAspect="1"/>
          </p:cNvPicPr>
          <p:nvPr/>
        </p:nvPicPr>
        <p:blipFill>
          <a:blip r:embed="rId4" cstate="print">
            <a:extLst>
              <a:ext uri="{28A0092B-C50C-407E-A947-70E740481C1C}">
                <a14:useLocalDpi xmlns:a14="http://schemas.microsoft.com/office/drawing/2010/main" val="0"/>
              </a:ext>
            </a:extLst>
          </a:blip>
          <a:srcRect l="6208" r="6507" b="12822"/>
          <a:stretch>
            <a:fillRect/>
          </a:stretch>
        </p:blipFill>
        <p:spPr>
          <a:xfrm>
            <a:off x="4775200" y="3263900"/>
            <a:ext cx="1778000" cy="924560"/>
          </a:xfrm>
          <a:prstGeom prst="rect">
            <a:avLst/>
          </a:prstGeom>
        </p:spPr>
      </p:pic>
      <p:sp>
        <p:nvSpPr>
          <p:cNvPr id="5" name="Footer Placeholder 4">
            <a:extLst>
              <a:ext uri="{FF2B5EF4-FFF2-40B4-BE49-F238E27FC236}">
                <a16:creationId xmlns:a16="http://schemas.microsoft.com/office/drawing/2014/main" id="{2B739A91-DA0C-239B-0D3C-C44A8D003CC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5DA60EE-FFD8-9731-DC2C-4826D021149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19</a:t>
            </a:fld>
            <a:endParaRPr lang="en-GB" sz="8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E761ECDB-5F77-8AEF-E200-AF286A759135}"/>
              </a:ext>
            </a:extLst>
          </p:cNvPr>
          <p:cNvPicPr>
            <a:picLocks noChangeAspect="1"/>
          </p:cNvPicPr>
          <p:nvPr/>
        </p:nvPicPr>
        <p:blipFill>
          <a:blip r:embed="rId5"/>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3FBB81EA-EDE0-EF70-15AD-A31F374BCA24}"/>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grpSp>
        <p:nvGrpSpPr>
          <p:cNvPr id="20001" name="Original neural schematic">
            <a:extLst>
              <a:ext uri="{FF2B5EF4-FFF2-40B4-BE49-F238E27FC236}">
                <a16:creationId xmlns:a16="http://schemas.microsoft.com/office/drawing/2014/main" id="{C1E5EDF8-39B7-BFFC-C737-CA4AA387F766}"/>
              </a:ext>
            </a:extLst>
          </p:cNvPr>
          <p:cNvGrpSpPr/>
          <p:nvPr/>
        </p:nvGrpSpPr>
        <p:grpSpPr>
          <a:xfrm>
            <a:off x="1879600" y="241300"/>
            <a:ext cx="5597595" cy="2692400"/>
            <a:chOff x="1879600" y="241300"/>
            <a:chExt cx="5597595" cy="2692400"/>
          </a:xfrm>
        </p:grpSpPr>
        <p:pic>
          <p:nvPicPr>
            <p:cNvPr id="20002"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20003"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20004"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005"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m="http://schemas.openxmlformats.org/officeDocument/2006/math" xmlns="">
            <p:sp>
              <p:nvSpPr>
                <p:cNvPr id="20005"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RevisedLFR1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6"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20006"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RevisedLFR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7"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20007"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RevisedLFR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8"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xmlns:m="http://schemas.openxmlformats.org/officeDocument/2006/math">
            <p:sp>
              <p:nvSpPr>
                <p:cNvPr id="20008"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RevisedLFR108"/>
                  <a:stretch>
                    <a:fillRect/>
                  </a:stretch>
                </a:blipFill>
                <a:ln>
                  <a:noFill/>
                </a:ln>
              </p:spPr>
              <p:txBody>
                <a:bodyPr/>
                <a:lstStyle/>
                <a:p>
                  <a:r>
                    <a:rPr lang="en-NL">
                      <a:noFill/>
                    </a:rPr>
                    <a:t> </a:t>
                  </a:r>
                </a:p>
              </p:txBody>
            </p:sp>
          </mc:Fallback>
        </mc:AlternateContent>
      </p:grpSp>
      <p:grpSp>
        <p:nvGrpSpPr>
          <p:cNvPr id="20009" name="Original model equations"/>
          <p:cNvGrpSpPr/>
          <p:nvPr/>
        </p:nvGrpSpPr>
        <p:grpSpPr>
          <a:xfrm>
            <a:off x="895350" y="2719505"/>
            <a:ext cx="7541252" cy="1505785"/>
            <a:chOff x="895350" y="2719505"/>
            <a:chExt cx="7541252" cy="1505785"/>
          </a:xfrm>
        </p:grpSpPr>
        <mc:AlternateContent xmlns:mc="http://schemas.openxmlformats.org/markup-compatibility/2006" xmlns:a14="http://schemas.microsoft.com/office/drawing/2010/main">
          <mc:Choice Requires="a14">
            <p:sp>
              <p:nvSpPr>
                <p:cNvPr id="20010" name="Delay dynamics S"/>
                <p:cNvSpPr/>
                <p:nvPr/>
              </p:nvSpPr>
              <p:spPr>
                <a:xfrm>
                  <a:off x="895350" y="2719505"/>
                  <a:ext cx="6477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GS</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GS</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dirty="0"/>
                </a:p>
              </p:txBody>
            </p:sp>
          </mc:Choice>
          <mc:Fallback xmlns="">
            <p:sp>
              <p:nvSpPr>
                <p:cNvPr id="20010" name="Delay dynamics S"/>
                <p:cNvSpPr>
                  <a:spLocks noRot="1" noChangeAspect="1" noMove="1" noResize="1" noEditPoints="1" noAdjustHandles="1" noChangeArrowheads="1" noChangeShapeType="1" noTextEdit="1"/>
                </p:cNvSpPr>
                <p:nvPr/>
              </p:nvSpPr>
              <p:spPr>
                <a:xfrm>
                  <a:off x="895350" y="2719505"/>
                  <a:ext cx="6477000" cy="5257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1" name="Delay dynamics G"/>
                <p:cNvSpPr/>
                <p:nvPr/>
              </p:nvSpPr>
              <p:spPr>
                <a:xfrm>
                  <a:off x="1197602" y="3031090"/>
                  <a:ext cx="723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SG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SG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dirty="0"/>
                </a:p>
              </p:txBody>
            </p:sp>
          </mc:Choice>
          <mc:Fallback xmlns="">
            <p:sp>
              <p:nvSpPr>
                <p:cNvPr id="20011" name="Delay dynamics G"/>
                <p:cNvSpPr>
                  <a:spLocks noRot="1" noChangeAspect="1" noMove="1" noResize="1" noEditPoints="1" noAdjustHandles="1" noChangeArrowheads="1" noChangeShapeType="1" noTextEdit="1"/>
                </p:cNvSpPr>
                <p:nvPr/>
              </p:nvSpPr>
              <p:spPr>
                <a:xfrm>
                  <a:off x="1197602" y="3031090"/>
                  <a:ext cx="7239000" cy="5257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2" name="State dynamics left S"/>
                <p:cNvSpPr/>
                <p:nvPr/>
              </p:nvSpPr>
              <p:spPr>
                <a:xfrm>
                  <a:off x="2578100" y="33566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S</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a:p>
              </p:txBody>
            </p:sp>
          </mc:Choice>
          <mc:Fallback xmlns:m="http://schemas.openxmlformats.org/officeDocument/2006/math" xmlns="">
            <p:sp>
              <p:nvSpPr>
                <p:cNvPr id="20012" name="State dynamics left S"/>
                <p:cNvSpPr>
                  <a:spLocks noRot="1" noChangeAspect="1" noMove="1" noResize="1" noEditPoints="1" noAdjustHandles="1" noChangeArrowheads="1" noChangeShapeType="1" noTextEdit="1"/>
                </p:cNvSpPr>
                <p:nvPr/>
              </p:nvSpPr>
              <p:spPr>
                <a:xfrm>
                  <a:off x="2578100" y="3356610"/>
                  <a:ext cx="1371600" cy="525780"/>
                </a:xfrm>
                <a:prstGeom prst="rect">
                  <a:avLst/>
                </a:prstGeom>
                <a:blipFill>
                  <a:blip r:embed="rIdRevisedLFR1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3" name="State dynamics right S"/>
                <p:cNvSpPr/>
                <p:nvPr/>
              </p:nvSpPr>
              <p:spPr>
                <a:xfrm>
                  <a:off x="5029200" y="3356610"/>
                  <a:ext cx="15494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r>
                          <a:rPr sz="1800">
                            <a:solidFill>
                              <a:srgbClr val="252529"/>
                            </a:solidFill>
                            <a:latin typeface="Cambria Math"/>
                          </a:rPr>
                          <m:t>𝑢</m:t>
                        </m:r>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m="http://schemas.openxmlformats.org/officeDocument/2006/math" xmlns="">
            <p:sp>
              <p:nvSpPr>
                <p:cNvPr id="20013" name="State dynamics right S"/>
                <p:cNvSpPr>
                  <a:spLocks noRot="1" noChangeAspect="1" noMove="1" noResize="1" noEditPoints="1" noAdjustHandles="1" noChangeArrowheads="1" noChangeShapeType="1" noTextEdit="1"/>
                </p:cNvSpPr>
                <p:nvPr/>
              </p:nvSpPr>
              <p:spPr>
                <a:xfrm>
                  <a:off x="5029200" y="3356610"/>
                  <a:ext cx="1549400" cy="525780"/>
                </a:xfrm>
                <a:prstGeom prst="rect">
                  <a:avLst/>
                </a:prstGeom>
                <a:blipFill>
                  <a:blip r:embed="rIdRevisedLFR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4" name="State dynamics left G"/>
                <p:cNvSpPr/>
                <p:nvPr/>
              </p:nvSpPr>
              <p:spPr>
                <a:xfrm>
                  <a:off x="2546350" y="36995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G</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dirty="0"/>
                </a:p>
              </p:txBody>
            </p:sp>
          </mc:Choice>
          <mc:Fallback xmlns="">
            <p:sp>
              <p:nvSpPr>
                <p:cNvPr id="20014" name="State dynamics left G"/>
                <p:cNvSpPr>
                  <a:spLocks noRot="1" noChangeAspect="1" noMove="1" noResize="1" noEditPoints="1" noAdjustHandles="1" noChangeArrowheads="1" noChangeShapeType="1" noTextEdit="1"/>
                </p:cNvSpPr>
                <p:nvPr/>
              </p:nvSpPr>
              <p:spPr>
                <a:xfrm>
                  <a:off x="2546350" y="3699510"/>
                  <a:ext cx="1371600" cy="5257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5" name="State dynamics right G"/>
                <p:cNvSpPr/>
                <p:nvPr/>
              </p:nvSpPr>
              <p:spPr>
                <a:xfrm>
                  <a:off x="5041900" y="3699510"/>
                  <a:ext cx="88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m="http://schemas.openxmlformats.org/officeDocument/2006/math" xmlns="">
            <p:sp>
              <p:nvSpPr>
                <p:cNvPr id="20015" name="State dynamics right G"/>
                <p:cNvSpPr>
                  <a:spLocks noRot="1" noChangeAspect="1" noMove="1" noResize="1" noEditPoints="1" noAdjustHandles="1" noChangeArrowheads="1" noChangeShapeType="1" noTextEdit="1"/>
                </p:cNvSpPr>
                <p:nvPr/>
              </p:nvSpPr>
              <p:spPr>
                <a:xfrm>
                  <a:off x="5041900" y="3699510"/>
                  <a:ext cx="889000" cy="525780"/>
                </a:xfrm>
                <a:prstGeom prst="rect">
                  <a:avLst/>
                </a:prstGeom>
                <a:blipFill>
                  <a:blip r:embed="rIdRevisedLFR106"/>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20016" name="Moving nonlinearity S"/>
              <p:cNvSpPr/>
              <p:nvPr/>
            </p:nvSpPr>
            <p:spPr>
              <a:xfrm>
                <a:off x="3873500" y="33566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S</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S</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dirty="0"/>
              </a:p>
            </p:txBody>
          </p:sp>
        </mc:Choice>
        <mc:Fallback xmlns:m="http://schemas.openxmlformats.org/officeDocument/2006/math" xmlns="">
          <p:sp>
            <p:nvSpPr>
              <p:cNvPr id="20016" name="Moving nonlinearity S"/>
              <p:cNvSpPr>
                <a:spLocks noRot="1" noChangeAspect="1" noMove="1" noResize="1" noEditPoints="1" noAdjustHandles="1" noChangeArrowheads="1" noChangeShapeType="1" noTextEdit="1"/>
              </p:cNvSpPr>
              <p:nvPr/>
            </p:nvSpPr>
            <p:spPr>
              <a:xfrm>
                <a:off x="3873500" y="3356610"/>
                <a:ext cx="1244600" cy="525780"/>
              </a:xfrm>
              <a:prstGeom prst="rect">
                <a:avLst/>
              </a:prstGeom>
              <a:blipFill>
                <a:blip r:embed="rIdRevisedLFR12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7" name="Moving nonlinearity G"/>
              <p:cNvSpPr/>
              <p:nvPr/>
            </p:nvSpPr>
            <p:spPr>
              <a:xfrm>
                <a:off x="3873500" y="36995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G</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G</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a:p>
            </p:txBody>
          </p:sp>
        </mc:Choice>
        <mc:Fallback xmlns:m="http://schemas.openxmlformats.org/officeDocument/2006/math" xmlns="">
          <p:sp>
            <p:nvSpPr>
              <p:cNvPr id="20017" name="Moving nonlinearity G"/>
              <p:cNvSpPr>
                <a:spLocks noRot="1" noChangeAspect="1" noMove="1" noResize="1" noEditPoints="1" noAdjustHandles="1" noChangeArrowheads="1" noChangeShapeType="1" noTextEdit="1"/>
              </p:cNvSpPr>
              <p:nvPr/>
            </p:nvSpPr>
            <p:spPr>
              <a:xfrm>
                <a:off x="3873500" y="3699510"/>
                <a:ext cx="1244600" cy="525780"/>
              </a:xfrm>
              <a:prstGeom prst="rect">
                <a:avLst/>
              </a:prstGeom>
              <a:blipFill>
                <a:blip r:embed="rIdRevisedLFR118"/>
                <a:stretch>
                  <a:fillRect/>
                </a:stretch>
              </a:blipFill>
              <a:ln>
                <a:noFill/>
              </a:ln>
            </p:spPr>
            <p:txBody>
              <a:bodyPr/>
              <a:lstStyle/>
              <a:p>
                <a:r>
                  <a:rPr lang="en-NL">
                    <a:noFill/>
                  </a:rPr>
                  <a:t> </a:t>
                </a:r>
              </a:p>
            </p:txBody>
          </p:sp>
        </mc:Fallback>
      </mc:AlternateContent>
      <p:grpSp>
        <p:nvGrpSpPr>
          <p:cNvPr id="20018" name="Moving nominal dynamics"/>
          <p:cNvGrpSpPr/>
          <p:nvPr/>
        </p:nvGrpSpPr>
        <p:grpSpPr>
          <a:xfrm>
            <a:off x="4133850" y="3099735"/>
            <a:ext cx="4500187" cy="1131823"/>
            <a:chOff x="-247650" y="3061635"/>
            <a:chExt cx="4500187" cy="1131823"/>
          </a:xfrm>
        </p:grpSpPr>
        <mc:AlternateContent xmlns:mc="http://schemas.openxmlformats.org/markup-compatibility/2006" xmlns:a14="http://schemas.microsoft.com/office/drawing/2010/main">
          <mc:Choice Requires="a14">
            <p:sp>
              <p:nvSpPr>
                <p:cNvPr id="20019" name="Nominal delay relation S"/>
                <p:cNvSpPr/>
                <p:nvPr/>
              </p:nvSpPr>
              <p:spPr>
                <a:xfrm>
                  <a:off x="-131077" y="3061635"/>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GS</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GS</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dirty="0"/>
                </a:p>
              </p:txBody>
            </p:sp>
          </mc:Choice>
          <mc:Fallback xmlns="">
            <p:sp>
              <p:nvSpPr>
                <p:cNvPr id="20019" name="Nominal delay relation S"/>
                <p:cNvSpPr>
                  <a:spLocks noRot="1" noChangeAspect="1" noMove="1" noResize="1" noEditPoints="1" noAdjustHandles="1" noChangeArrowheads="1" noChangeShapeType="1" noTextEdit="1"/>
                </p:cNvSpPr>
                <p:nvPr/>
              </p:nvSpPr>
              <p:spPr>
                <a:xfrm>
                  <a:off x="-131077" y="3061635"/>
                  <a:ext cx="3937000" cy="3505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0" name="Nominal delay relation G"/>
                <p:cNvSpPr/>
                <p:nvPr/>
              </p:nvSpPr>
              <p:spPr>
                <a:xfrm>
                  <a:off x="315537" y="3292557"/>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SG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dirty="0"/>
                </a:p>
              </p:txBody>
            </p:sp>
          </mc:Choice>
          <mc:Fallback xmlns="">
            <p:sp>
              <p:nvSpPr>
                <p:cNvPr id="20020" name="Nominal delay relation G"/>
                <p:cNvSpPr>
                  <a:spLocks noRot="1" noChangeAspect="1" noMove="1" noResize="1" noEditPoints="1" noAdjustHandles="1" noChangeArrowheads="1" noChangeShapeType="1" noTextEdit="1"/>
                </p:cNvSpPr>
                <p:nvPr/>
              </p:nvSpPr>
              <p:spPr>
                <a:xfrm>
                  <a:off x="315537" y="3292557"/>
                  <a:ext cx="3937000" cy="3505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1" name="Nominal state equation S"/>
                <p:cNvSpPr/>
                <p:nvPr/>
              </p:nvSpPr>
              <p:spPr>
                <a:xfrm>
                  <a:off x="-15309" y="357973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S</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20021" name="Nominal state equation S"/>
                <p:cNvSpPr>
                  <a:spLocks noRot="1" noChangeAspect="1" noMove="1" noResize="1" noEditPoints="1" noAdjustHandles="1" noChangeArrowheads="1" noChangeShapeType="1" noTextEdit="1"/>
                </p:cNvSpPr>
                <p:nvPr/>
              </p:nvSpPr>
              <p:spPr>
                <a:xfrm>
                  <a:off x="-15309" y="3579730"/>
                  <a:ext cx="3937000" cy="35052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2" name="Nominal state equation G"/>
                <p:cNvSpPr/>
                <p:nvPr/>
              </p:nvSpPr>
              <p:spPr>
                <a:xfrm>
                  <a:off x="-247650" y="3842938"/>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G</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20022" name="Nominal state equation G"/>
                <p:cNvSpPr>
                  <a:spLocks noRot="1" noChangeAspect="1" noMove="1" noResize="1" noEditPoints="1" noAdjustHandles="1" noChangeArrowheads="1" noChangeShapeType="1" noTextEdit="1"/>
                </p:cNvSpPr>
                <p:nvPr/>
              </p:nvSpPr>
              <p:spPr>
                <a:xfrm>
                  <a:off x="-247650" y="3842938"/>
                  <a:ext cx="3937000" cy="350520"/>
                </a:xfrm>
                <a:prstGeom prst="rect">
                  <a:avLst/>
                </a:prstGeom>
                <a:blipFill>
                  <a:blip r:embed="rId13"/>
                  <a:stretch>
                    <a:fillRect/>
                  </a:stretch>
                </a:blipFill>
                <a:ln>
                  <a:noFill/>
                </a:ln>
              </p:spPr>
              <p:txBody>
                <a:bodyPr/>
                <a:lstStyle/>
                <a:p>
                  <a:r>
                    <a:rPr lang="en-NL">
                      <a:noFill/>
                    </a:rPr>
                    <a:t> </a:t>
                  </a:r>
                </a:p>
              </p:txBody>
            </p:sp>
          </mc:Fallback>
        </mc:AlternateContent>
      </p:grpSp>
      <p:grpSp>
        <p:nvGrpSpPr>
          <p:cNvPr id="20023" name="Delta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4"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25"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20026"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20027" name="G block">
            <a:extLst>
              <a:ext uri="{FF2B5EF4-FFF2-40B4-BE49-F238E27FC236}">
                <a16:creationId xmlns:a16="http://schemas.microsoft.com/office/drawing/2014/main" id="{BEEA59A6-286F-A2D2-D96E-07B7D80854DA}"/>
              </a:ext>
            </a:extLst>
          </p:cNvPr>
          <p:cNvGrpSpPr/>
          <p:nvPr/>
        </p:nvGrpSpPr>
        <p:grpSpPr>
          <a:xfrm>
            <a:off x="1730319" y="1994356"/>
            <a:ext cx="1064671" cy="1064671"/>
            <a:chOff x="3086100" y="2514599"/>
            <a:chExt cx="939800" cy="939800"/>
          </a:xfrm>
        </p:grpSpPr>
        <p:sp>
          <p:nvSpPr>
            <p:cNvPr id="20028" name="Plant">
              <a:extLst>
                <a:ext uri="{FF2B5EF4-FFF2-40B4-BE49-F238E27FC236}">
                  <a16:creationId xmlns:a16="http://schemas.microsoft.com/office/drawing/2014/main" id="{EE52FAAF-F0AA-9AC4-5AE7-4C32123B36AE}"/>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29"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0" smtClean="0">
                            <a:solidFill>
                              <a:srgbClr val="252529"/>
                            </a:solidFill>
                            <a:latin typeface="Cambria Math" panose="02040503050406030204" pitchFamily="18" charset="0"/>
                          </a:rPr>
                          <m:t>PDE</m:t>
                        </m:r>
                      </m:oMath>
                    </m:oMathPara>
                  </a14:m>
                  <a:endParaRPr sz="2590" dirty="0"/>
                </a:p>
              </p:txBody>
            </p:sp>
          </mc:Choice>
          <mc:Fallback xmlns="">
            <p:sp>
              <p:nvSpPr>
                <p:cNvPr id="20029"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4"/>
                  <a:stretch>
                    <a:fillRect/>
                  </a:stretch>
                </a:blipFill>
                <a:ln>
                  <a:noFill/>
                </a:ln>
              </p:spPr>
              <p:txBody>
                <a:bodyPr/>
                <a:lstStyle/>
                <a:p>
                  <a:r>
                    <a:rPr lang="en-NL">
                      <a:noFill/>
                    </a:rPr>
                    <a:t> </a:t>
                  </a:r>
                </a:p>
              </p:txBody>
            </p:sp>
          </mc:Fallback>
        </mc:AlternateContent>
      </p:grpSp>
      <p:grpSp>
        <p:nvGrpSpPr>
          <p:cNvPr id="20031" name="Uncertainty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3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3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0034"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20035"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36"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20037"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grpSp>
      <p:grpSp>
        <p:nvGrpSpPr>
          <p:cNvPr id="20038" name="Control signal label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mc:AlternateContent xmlns:mc="http://schemas.openxmlformats.org/markup-compatibility/2006" xmlns:a14="http://schemas.microsoft.com/office/drawing/2010/main">
          <mc:Choice Requires="a14">
            <p:sp>
              <p:nvSpPr>
                <p:cNvPr id="2003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2004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4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2004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p:grpSp>
      <p:grpSp>
        <p:nvGrpSpPr>
          <p:cNvPr id="20042" name="Controller 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3"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44"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20045"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p:grpSp>
      <p:grpSp>
        <p:nvGrpSpPr>
          <p:cNvPr id="20046" name="Controller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7"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48"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grpSp>
      <p:grpSp>
        <p:nvGrpSpPr>
          <p:cNvPr id="20054" name="Open control ports"/>
          <p:cNvGrpSpPr/>
          <p:nvPr/>
        </p:nvGrpSpPr>
        <p:grpSpPr>
          <a:xfrm>
            <a:off x="495300" y="1206500"/>
            <a:ext cx="3556000" cy="2725557"/>
            <a:chOff x="495300" y="1206500"/>
            <a:chExt cx="3556000" cy="2725557"/>
          </a:xfrm>
        </p:grpSpPr>
        <p:sp>
          <p:nvSpPr>
            <p:cNvPr id="20055" name="Open u port"/>
            <p:cNvSpPr/>
            <p:nvPr/>
          </p:nvSpPr>
          <p:spPr>
            <a:xfrm>
              <a:off x="1057522"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sp>
          <p:nvSpPr>
            <p:cNvPr id="20056" name="Open y port"/>
            <p:cNvSpPr/>
            <p:nvPr/>
          </p:nvSpPr>
          <p:spPr>
            <a:xfrm>
              <a:off x="2782289"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grpSp>
      <p:grpSp>
        <p:nvGrpSpPr>
          <p:cNvPr id="20057" name="Complete LFR">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58"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59"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0060"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61"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0062"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63"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20064"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5"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20066"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7"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20067"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8"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20069"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70"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20071"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sp>
          <p:nvSpPr>
            <p:cNvPr id="20072"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73"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2007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sp>
          <p:nvSpPr>
            <p:cNvPr id="20075" name="Plant">
              <a:extLst>
                <a:ext uri="{FF2B5EF4-FFF2-40B4-BE49-F238E27FC236}">
                  <a16:creationId xmlns:a16="http://schemas.microsoft.com/office/drawing/2014/main" id="{EE52FAAF-F0AA-9AC4-5AE7-4C32123B36AE}"/>
                </a:ext>
              </a:extLst>
            </p:cNvPr>
            <p:cNvSpPr/>
            <p:nvPr/>
          </p:nvSpPr>
          <p:spPr>
            <a:xfrm>
              <a:off x="3089402" y="2516016"/>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20076" name="Plant label">
                  <a:extLst>
                    <a:ext uri="{FF2B5EF4-FFF2-40B4-BE49-F238E27FC236}">
                      <a16:creationId xmlns:a16="http://schemas.microsoft.com/office/drawing/2014/main" id="{E9017BEF-531A-2E73-BFDF-F4B1A9C8A3EC}"/>
                    </a:ext>
                  </a:extLst>
                </p:cNvPr>
                <p:cNvSpPr/>
                <p:nvPr/>
              </p:nvSpPr>
              <p:spPr>
                <a:xfrm>
                  <a:off x="3084945" y="2736229"/>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p:sp>
              <p:nvSpPr>
                <p:cNvPr id="20076"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4945" y="2736229"/>
                  <a:ext cx="939800" cy="493395"/>
                </a:xfrm>
                <a:prstGeom prst="rect">
                  <a:avLst/>
                </a:prstGeom>
                <a:blipFill>
                  <a:blip r:embed="rId15"/>
                  <a:stretch>
                    <a:fillRect/>
                  </a:stretch>
                </a:blipFill>
                <a:ln>
                  <a:noFill/>
                </a:ln>
              </p:spPr>
              <p:txBody>
                <a:bodyPr/>
                <a:lstStyle/>
                <a:p>
                  <a:r>
                    <a:rPr lang="en-NL">
                      <a:noFill/>
                    </a:rPr>
                    <a:t> </a:t>
                  </a:r>
                </a:p>
              </p:txBody>
            </p:sp>
          </mc:Fallback>
        </mc:AlternateContent>
      </p:grpSp>
      <p:sp>
        <p:nvSpPr>
          <p:cNvPr id="20078" name="Final LFR title"/>
          <p:cNvSpPr/>
          <p:nvPr/>
        </p:nvSpPr>
        <p:spPr>
          <a:xfrm>
            <a:off x="457200" y="314325"/>
            <a:ext cx="8229600" cy="5397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Linear fractional representation (LFR)</a:t>
            </a:r>
            <a:endParaRPr sz="2500" dirty="0"/>
          </a:p>
        </p:txBody>
      </p:sp>
      <p:sp>
        <p:nvSpPr>
          <p:cNvPr id="20081" name="ASML caption"/>
          <p:cNvSpPr/>
          <p:nvPr/>
        </p:nvSpPr>
        <p:spPr>
          <a:xfrm>
            <a:off x="47752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ASML</a:t>
            </a:r>
            <a:endParaRPr sz="1400"/>
          </a:p>
        </p:txBody>
      </p:sp>
      <p:sp>
        <p:nvSpPr>
          <p:cNvPr id="20082" name="Canon caption"/>
          <p:cNvSpPr/>
          <p:nvPr/>
        </p:nvSpPr>
        <p:spPr>
          <a:xfrm>
            <a:off x="68961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Canon</a:t>
            </a:r>
            <a:endParaRPr sz="1400"/>
          </a:p>
        </p:txBody>
      </p:sp>
      <p:sp>
        <p:nvSpPr>
          <p:cNvPr id="20083" name="Additional models heading"/>
          <p:cNvSpPr/>
          <p:nvPr/>
        </p:nvSpPr>
        <p:spPr>
          <a:xfrm>
            <a:off x="4775200" y="2871470"/>
            <a:ext cx="3860800" cy="302260"/>
          </a:xfrm>
          <a:prstGeom prst="rect">
            <a:avLst/>
          </a:prstGeom>
          <a:noFill/>
          <a:ln>
            <a:noFill/>
          </a:ln>
        </p:spPr>
        <p:txBody>
          <a:bodyPr wrap="none" lIns="0" tIns="0" rIns="0" bIns="0" anchor="ctr">
            <a:noAutofit/>
          </a:bodyPr>
          <a:lstStyle/>
          <a:p>
            <a:pPr algn="ctr">
              <a:buNone/>
            </a:pPr>
            <a:r>
              <a:rPr lang="en-GB" sz="1400" b="0" i="0" u="none" baseline="0">
                <a:solidFill>
                  <a:srgbClr val="747B82"/>
                </a:solidFill>
                <a:latin typeface="Aptos"/>
                <a:ea typeface="Aptos"/>
                <a:cs typeface="Aptos"/>
              </a:rPr>
              <a:t>Other distributed models</a:t>
            </a:r>
            <a:endParaRPr sz="1400"/>
          </a:p>
        </p:txBody>
      </p:sp>
      <p:grpSp>
        <p:nvGrpSpPr>
          <p:cNvPr id="20088" name="Industrial model arrow"/>
          <p:cNvGrpSpPr/>
          <p:nvPr/>
        </p:nvGrpSpPr>
        <p:grpSpPr>
          <a:xfrm>
            <a:off x="3987800" y="2667000"/>
            <a:ext cx="584200" cy="1028700"/>
            <a:chOff x="3987800" y="2667000"/>
            <a:chExt cx="584200" cy="1028700"/>
          </a:xfrm>
        </p:grpSpPr>
        <p:sp>
          <p:nvSpPr>
            <p:cNvPr id="20089" name="Models to LFR"/>
            <p:cNvSpPr/>
            <p:nvPr/>
          </p:nvSpPr>
          <p:spPr>
            <a:xfrm>
              <a:off x="3987800" y="2667000"/>
              <a:ext cx="584200" cy="1028700"/>
            </a:xfrm>
            <a:custGeom>
              <a:avLst/>
              <a:gdLst/>
              <a:ahLst/>
              <a:cxnLst/>
              <a:rect l="0" t="0" r="r" b="b"/>
              <a:pathLst>
                <a:path w="584200" h="1028700" fill="none">
                  <a:moveTo>
                    <a:pt x="571500" y="1016000"/>
                  </a:moveTo>
                  <a:lnTo>
                    <a:pt x="228600" y="1016000"/>
                  </a:lnTo>
                  <a:lnTo>
                    <a:pt x="228600" y="12700"/>
                  </a:lnTo>
                  <a:lnTo>
                    <a:pt x="12700" y="12700"/>
                  </a:lnTo>
                </a:path>
              </a:pathLst>
            </a:custGeom>
            <a:noFill/>
            <a:ln w="12700">
              <a:solidFill>
                <a:srgbClr val="252529"/>
              </a:solidFill>
              <a:round/>
              <a:tailEnd type="triangle" w="sm" len="sm"/>
            </a:ln>
          </p:spPr>
          <p:txBody>
            <a:bodyPr/>
            <a:lstStyle/>
            <a:p>
              <a:endParaRPr lang="en-NL"/>
            </a:p>
          </p:txBody>
        </p:sp>
      </p:grpSp>
      <p:grpSp>
        <p:nvGrpSpPr>
          <p:cNvPr id="20094" name="Neural equivalence"/>
          <p:cNvGrpSpPr/>
          <p:nvPr/>
        </p:nvGrpSpPr>
        <p:grpSpPr>
          <a:xfrm>
            <a:off x="4127500" y="1841500"/>
            <a:ext cx="584200" cy="508000"/>
            <a:chOff x="4127500" y="1841500"/>
            <a:chExt cx="584200" cy="508000"/>
          </a:xfrm>
        </p:grpSpPr>
        <mc:AlternateContent xmlns:mc="http://schemas.openxmlformats.org/markup-compatibility/2006" xmlns:a14="http://schemas.microsoft.com/office/drawing/2010/main">
          <mc:Choice Requires="a14">
            <p:sp>
              <p:nvSpPr>
                <p:cNvPr id="20095" name="Same neural dynamics"/>
                <p:cNvSpPr/>
                <p:nvPr/>
              </p:nvSpPr>
              <p:spPr>
                <a:xfrm>
                  <a:off x="4133850" y="1775460"/>
                  <a:ext cx="571500" cy="6146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252529"/>
                            </a:solidFill>
                            <a:latin typeface="Cambria Math"/>
                          </a:rPr>
                          <m:t>⇔</m:t>
                        </m:r>
                      </m:oMath>
                    </m:oMathPara>
                  </a14:m>
                  <a:endParaRPr sz="2200"/>
                </a:p>
              </p:txBody>
            </p:sp>
          </mc:Choice>
          <mc:Fallback xmlns:m="http://schemas.openxmlformats.org/officeDocument/2006/math" xmlns="">
            <p:sp>
              <p:nvSpPr>
                <p:cNvPr id="20095" name="Same neural dynamics"/>
                <p:cNvSpPr>
                  <a:spLocks noRot="1" noChangeAspect="1" noMove="1" noResize="1" noEditPoints="1" noAdjustHandles="1" noChangeArrowheads="1" noChangeShapeType="1" noTextEdit="1"/>
                </p:cNvSpPr>
                <p:nvPr/>
              </p:nvSpPr>
              <p:spPr>
                <a:xfrm>
                  <a:off x="4133850" y="1775460"/>
                  <a:ext cx="571500" cy="614680"/>
                </a:xfrm>
                <a:prstGeom prst="rect">
                  <a:avLst/>
                </a:prstGeom>
                <a:blipFill>
                  <a:blip r:embed="rIdRevisedLFR104"/>
                  <a:stretch>
                    <a:fillRect/>
                  </a:stretch>
                </a:blipFill>
                <a:ln>
                  <a:noFill/>
                </a:ln>
              </p:spPr>
              <p:txBody>
                <a:bodyPr/>
                <a:lstStyle/>
                <a:p>
                  <a:r>
                    <a:rPr lang="en-NL">
                      <a:noFill/>
                    </a:rPr>
                    <a:t> </a:t>
                  </a:r>
                </a:p>
              </p:txBody>
            </p:sp>
          </mc:Fallback>
        </mc:AlternateContent>
      </p:grpSp>
      <p:sp>
        <p:nvSpPr>
          <p:cNvPr id="20096" name="Stage 1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nonlinearities in Δ.</a:t>
            </a:r>
            <a:endParaRPr sz="1500"/>
          </a:p>
        </p:txBody>
      </p:sp>
      <p:sp>
        <p:nvSpPr>
          <p:cNvPr id="20097" name="Stage 2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linear dynamics and delays in G.</a:t>
            </a:r>
            <a:endParaRPr sz="1500"/>
          </a:p>
        </p:txBody>
      </p:sp>
      <p:sp>
        <p:nvSpPr>
          <p:cNvPr id="20098" name="Stage 3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dirty="0">
                <a:solidFill>
                  <a:srgbClr val="252529"/>
                </a:solidFill>
                <a:latin typeface="Aptos"/>
                <a:ea typeface="Aptos"/>
                <a:cs typeface="Aptos"/>
              </a:rPr>
              <a:t>Connect the controller K.</a:t>
            </a:r>
            <a:endParaRPr sz="1500" dirty="0"/>
          </a:p>
        </p:txBody>
      </p:sp>
    </p:spTree>
    <p:extLst>
      <p:ext uri="{BB962C8B-B14F-4D97-AF65-F5344CB8AC3E}">
        <p14:creationId xmlns:p14="http://schemas.microsoft.com/office/powerpoint/2010/main" val="680626255"/>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set>
                                      <p:cBhvr>
                                        <p:cTn id="6" dur="1" fill="hold">
                                          <p:stCondLst>
                                            <p:cond delay="1099"/>
                                          </p:stCondLst>
                                        </p:cTn>
                                        <p:tgtEl>
                                          <p:spTgt spid="20001"/>
                                        </p:tgtEl>
                                        <p:attrNameLst>
                                          <p:attrName>style.visibility</p:attrName>
                                        </p:attrNameLst>
                                      </p:cBhvr>
                                      <p:to>
                                        <p:strVal val="visible"/>
                                      </p:to>
                                    </p:set>
                                    <p:animMotion origin="layout" path="M 0 0 L 0.21982685 0.09881481 E" pathEditMode="relative">
                                      <p:cBhvr from="" to="">
                                        <p:cTn id="7" dur="1100" fill="hold">
                                          <p:stCondLst>
                                            <p:cond delay="0"/>
                                          </p:stCondLst>
                                        </p:cTn>
                                        <p:tgtEl>
                                          <p:spTgt spid="20001"/>
                                        </p:tgtEl>
                                        <p:attrNameLst>
                                          <p:attrName>ppt_x</p:attrName>
                                          <p:attrName>ppt_y</p:attrName>
                                        </p:attrNameLst>
                                      </p:cBhvr>
                                    </p:animMotion>
                                    <p:animScale>
                                      <p:cBhvr>
                                        <p:cTn id="8" dur="1100" fill="hold">
                                          <p:stCondLst>
                                            <p:cond delay="0"/>
                                          </p:stCondLst>
                                        </p:cTn>
                                        <p:tgtEl>
                                          <p:spTgt spid="20001"/>
                                        </p:tgtEl>
                                      </p:cBhvr>
                                      <p:from x="100000" y="100000"/>
                                      <p:to x="67000" y="67000"/>
                                    </p:animScale>
                                  </p:childTnLst>
                                </p:cTn>
                              </p:par>
                              <p:par>
                                <p:cTn id="9" presetID="0" presetClass="path" presetSubtype="0" accel="50000" decel="50000" fill="hold" grpId="0" nodeType="withEffect">
                                  <p:stCondLst>
                                    <p:cond delay="0"/>
                                  </p:stCondLst>
                                  <p:childTnLst>
                                    <p:set>
                                      <p:cBhvr>
                                        <p:cTn id="10" dur="1" fill="hold">
                                          <p:stCondLst>
                                            <p:cond delay="1099"/>
                                          </p:stCondLst>
                                        </p:cTn>
                                        <p:tgtEl>
                                          <p:spTgt spid="20016"/>
                                        </p:tgtEl>
                                        <p:attrNameLst>
                                          <p:attrName>style.visibility</p:attrName>
                                        </p:attrNameLst>
                                      </p:cBhvr>
                                      <p:to>
                                        <p:strVal val="visible"/>
                                      </p:to>
                                    </p:set>
                                    <p:animMotion origin="layout" path="M 0 0 L -0.255331 -0.41938343 E" pathEditMode="relative">
                                      <p:cBhvr from="" to="">
                                        <p:cTn id="11" dur="1100" fill="hold">
                                          <p:stCondLst>
                                            <p:cond delay="0"/>
                                          </p:stCondLst>
                                        </p:cTn>
                                        <p:tgtEl>
                                          <p:spTgt spid="20016"/>
                                        </p:tgtEl>
                                        <p:attrNameLst>
                                          <p:attrName>ppt_x</p:attrName>
                                          <p:attrName>ppt_y</p:attrName>
                                        </p:attrNameLst>
                                      </p:cBhvr>
                                    </p:animMotion>
                                    <p:animScale>
                                      <p:cBhvr>
                                        <p:cTn id="12" dur="1100" fill="hold">
                                          <p:stCondLst>
                                            <p:cond delay="0"/>
                                          </p:stCondLst>
                                        </p:cTn>
                                        <p:tgtEl>
                                          <p:spTgt spid="20016"/>
                                        </p:tgtEl>
                                      </p:cBhvr>
                                      <p:from x="100000" y="100000"/>
                                      <p:to x="60000" y="60000"/>
                                    </p:animScale>
                                  </p:childTnLst>
                                </p:cTn>
                              </p:par>
                              <p:par>
                                <p:cTn id="13" presetID="0" presetClass="path" presetSubtype="0" accel="50000" decel="50000" fill="hold" grpId="0" nodeType="withEffect">
                                  <p:stCondLst>
                                    <p:cond delay="0"/>
                                  </p:stCondLst>
                                  <p:childTnLst>
                                    <p:set>
                                      <p:cBhvr>
                                        <p:cTn id="14" dur="1" fill="hold">
                                          <p:stCondLst>
                                            <p:cond delay="1099"/>
                                          </p:stCondLst>
                                        </p:cTn>
                                        <p:tgtEl>
                                          <p:spTgt spid="20017"/>
                                        </p:tgtEl>
                                        <p:attrNameLst>
                                          <p:attrName>style.visibility</p:attrName>
                                        </p:attrNameLst>
                                      </p:cBhvr>
                                      <p:to>
                                        <p:strVal val="visible"/>
                                      </p:to>
                                    </p:set>
                                    <p:animMotion origin="layout" path="M 0 0 L -0.23310878 -0.46135874 E" pathEditMode="relative">
                                      <p:cBhvr from="" to="">
                                        <p:cTn id="15" dur="1100" fill="hold">
                                          <p:stCondLst>
                                            <p:cond delay="0"/>
                                          </p:stCondLst>
                                        </p:cTn>
                                        <p:tgtEl>
                                          <p:spTgt spid="20017"/>
                                        </p:tgtEl>
                                        <p:attrNameLst>
                                          <p:attrName>ppt_x</p:attrName>
                                          <p:attrName>ppt_y</p:attrName>
                                        </p:attrNameLst>
                                      </p:cBhvr>
                                    </p:animMotion>
                                    <p:animScale>
                                      <p:cBhvr>
                                        <p:cTn id="16" dur="1100" fill="hold">
                                          <p:stCondLst>
                                            <p:cond delay="0"/>
                                          </p:stCondLst>
                                        </p:cTn>
                                        <p:tgtEl>
                                          <p:spTgt spid="20017"/>
                                        </p:tgtEl>
                                      </p:cBhvr>
                                      <p:from x="100000" y="100000"/>
                                      <p:to x="60000" y="60000"/>
                                    </p:animScale>
                                  </p:childTnLst>
                                </p:cTn>
                              </p:par>
                              <p:par>
                                <p:cTn id="17" presetID="10" presetClass="exit" presetSubtype="0" fill="hold" nodeType="withEffect">
                                  <p:stCondLst>
                                    <p:cond delay="450"/>
                                  </p:stCondLst>
                                  <p:childTnLst>
                                    <p:animEffect transition="out" filter="fade">
                                      <p:cBhvr>
                                        <p:cTn id="18" dur="400"/>
                                        <p:tgtEl>
                                          <p:spTgt spid="20009"/>
                                        </p:tgtEl>
                                      </p:cBhvr>
                                    </p:animEffect>
                                    <p:set>
                                      <p:cBhvr>
                                        <p:cTn id="19" dur="1" fill="hold">
                                          <p:stCondLst>
                                            <p:cond delay="399"/>
                                          </p:stCondLst>
                                        </p:cTn>
                                        <p:tgtEl>
                                          <p:spTgt spid="20009"/>
                                        </p:tgtEl>
                                        <p:attrNameLst>
                                          <p:attrName>style.visibility</p:attrName>
                                        </p:attrNameLst>
                                      </p:cBhvr>
                                      <p:to>
                                        <p:strVal val="hidden"/>
                                      </p:to>
                                    </p:set>
                                  </p:childTnLst>
                                </p:cTn>
                              </p:par>
                              <p:par>
                                <p:cTn id="20" presetID="10" presetClass="exit" presetSubtype="0" fill="hold" grpId="1" nodeType="withEffect">
                                  <p:stCondLst>
                                    <p:cond delay="950"/>
                                  </p:stCondLst>
                                  <p:childTnLst>
                                    <p:animEffect transition="out" filter="fade">
                                      <p:cBhvr>
                                        <p:cTn id="21" dur="300"/>
                                        <p:tgtEl>
                                          <p:spTgt spid="20016"/>
                                        </p:tgtEl>
                                      </p:cBhvr>
                                    </p:animEffect>
                                    <p:set>
                                      <p:cBhvr>
                                        <p:cTn id="22" dur="1" fill="hold">
                                          <p:stCondLst>
                                            <p:cond delay="299"/>
                                          </p:stCondLst>
                                        </p:cTn>
                                        <p:tgtEl>
                                          <p:spTgt spid="20016"/>
                                        </p:tgtEl>
                                        <p:attrNameLst>
                                          <p:attrName>style.visibility</p:attrName>
                                        </p:attrNameLst>
                                      </p:cBhvr>
                                      <p:to>
                                        <p:strVal val="hidden"/>
                                      </p:to>
                                    </p:set>
                                  </p:childTnLst>
                                </p:cTn>
                              </p:par>
                              <p:par>
                                <p:cTn id="23" presetID="10" presetClass="exit" presetSubtype="0" fill="hold" grpId="1" nodeType="withEffect">
                                  <p:stCondLst>
                                    <p:cond delay="950"/>
                                  </p:stCondLst>
                                  <p:childTnLst>
                                    <p:animEffect transition="out" filter="fade">
                                      <p:cBhvr>
                                        <p:cTn id="24" dur="300"/>
                                        <p:tgtEl>
                                          <p:spTgt spid="20017"/>
                                        </p:tgtEl>
                                      </p:cBhvr>
                                    </p:animEffect>
                                    <p:set>
                                      <p:cBhvr>
                                        <p:cTn id="25" dur="1" fill="hold">
                                          <p:stCondLst>
                                            <p:cond delay="299"/>
                                          </p:stCondLst>
                                        </p:cTn>
                                        <p:tgtEl>
                                          <p:spTgt spid="20017"/>
                                        </p:tgtEl>
                                        <p:attrNameLst>
                                          <p:attrName>style.visibility</p:attrName>
                                        </p:attrNameLst>
                                      </p:cBhvr>
                                      <p:to>
                                        <p:strVal val="hidden"/>
                                      </p:to>
                                    </p:set>
                                  </p:childTnLst>
                                </p:cTn>
                              </p:par>
                              <p:par>
                                <p:cTn id="26" presetID="10" presetClass="entr" presetSubtype="0" fill="hold" nodeType="withEffect">
                                  <p:stCondLst>
                                    <p:cond delay="950"/>
                                  </p:stCondLst>
                                  <p:childTnLst>
                                    <p:set>
                                      <p:cBhvr>
                                        <p:cTn id="27" dur="1" fill="hold">
                                          <p:stCondLst>
                                            <p:cond delay="0"/>
                                          </p:stCondLst>
                                        </p:cTn>
                                        <p:tgtEl>
                                          <p:spTgt spid="20023"/>
                                        </p:tgtEl>
                                        <p:attrNameLst>
                                          <p:attrName>style.visibility</p:attrName>
                                        </p:attrNameLst>
                                      </p:cBhvr>
                                      <p:to>
                                        <p:strVal val="visible"/>
                                      </p:to>
                                    </p:set>
                                    <p:animEffect transition="in" filter="fade">
                                      <p:cBhvr>
                                        <p:cTn id="28" dur="400"/>
                                        <p:tgtEl>
                                          <p:spTgt spid="20023"/>
                                        </p:tgtEl>
                                      </p:cBhvr>
                                    </p:animEffect>
                                  </p:childTnLst>
                                </p:cTn>
                              </p:par>
                              <p:par>
                                <p:cTn id="29" presetID="10" presetClass="entr" presetSubtype="0" fill="hold" nodeType="withEffect">
                                  <p:stCondLst>
                                    <p:cond delay="850"/>
                                  </p:stCondLst>
                                  <p:childTnLst>
                                    <p:set>
                                      <p:cBhvr>
                                        <p:cTn id="30" dur="1" fill="hold">
                                          <p:stCondLst>
                                            <p:cond delay="0"/>
                                          </p:stCondLst>
                                        </p:cTn>
                                        <p:tgtEl>
                                          <p:spTgt spid="20018"/>
                                        </p:tgtEl>
                                        <p:attrNameLst>
                                          <p:attrName>style.visibility</p:attrName>
                                        </p:attrNameLst>
                                      </p:cBhvr>
                                      <p:to>
                                        <p:strVal val="visible"/>
                                      </p:to>
                                    </p:set>
                                    <p:animEffect transition="in" filter="fade">
                                      <p:cBhvr>
                                        <p:cTn id="31" dur="400"/>
                                        <p:tgtEl>
                                          <p:spTgt spid="20018"/>
                                        </p:tgtEl>
                                      </p:cBhvr>
                                    </p:animEffect>
                                  </p:childTnLst>
                                </p:cTn>
                              </p:par>
                              <p:par>
                                <p:cTn id="32" presetID="10" presetClass="entr" presetSubtype="0" fill="hold" grpId="0" nodeType="withEffect">
                                  <p:stCondLst>
                                    <p:cond delay="800"/>
                                  </p:stCondLst>
                                  <p:childTnLst>
                                    <p:set>
                                      <p:cBhvr>
                                        <p:cTn id="33" dur="1" fill="hold">
                                          <p:stCondLst>
                                            <p:cond delay="0"/>
                                          </p:stCondLst>
                                        </p:cTn>
                                        <p:tgtEl>
                                          <p:spTgt spid="20096"/>
                                        </p:tgtEl>
                                        <p:attrNameLst>
                                          <p:attrName>style.visibility</p:attrName>
                                        </p:attrNameLst>
                                      </p:cBhvr>
                                      <p:to>
                                        <p:strVal val="visible"/>
                                      </p:to>
                                    </p:set>
                                    <p:animEffect transition="in" filter="fade">
                                      <p:cBhvr>
                                        <p:cTn id="34" dur="300"/>
                                        <p:tgtEl>
                                          <p:spTgt spid="20096"/>
                                        </p:tgtEl>
                                      </p:cBhvr>
                                    </p:animEffect>
                                  </p:childTnLst>
                                </p:cTn>
                              </p:par>
                            </p:childTnLst>
                          </p:cTn>
                        </p:par>
                      </p:childTnLst>
                    </p:cTn>
                  </p:par>
                  <p:par>
                    <p:cTn id="35" fill="hold">
                      <p:stCondLst>
                        <p:cond delay="indefinite"/>
                      </p:stCondLst>
                      <p:childTnLst>
                        <p:par>
                          <p:cTn id="36" fill="hold">
                            <p:stCondLst>
                              <p:cond delay="0"/>
                            </p:stCondLst>
                            <p:childTnLst>
                              <p:par>
                                <p:cTn id="37" presetID="0" presetClass="path" presetSubtype="0" accel="50000" decel="50000" fill="hold" nodeType="clickEffect">
                                  <p:stCondLst>
                                    <p:cond delay="0"/>
                                  </p:stCondLst>
                                  <p:childTnLst>
                                    <p:set>
                                      <p:cBhvr>
                                        <p:cTn id="38" dur="1" fill="hold">
                                          <p:stCondLst>
                                            <p:cond delay="1099"/>
                                          </p:stCondLst>
                                        </p:cTn>
                                        <p:tgtEl>
                                          <p:spTgt spid="20018"/>
                                        </p:tgtEl>
                                        <p:attrNameLst>
                                          <p:attrName>style.visibility</p:attrName>
                                        </p:attrNameLst>
                                      </p:cBhvr>
                                      <p:to>
                                        <p:strVal val="visible"/>
                                      </p:to>
                                    </p:set>
                                    <p:animMotion origin="layout" path="M 0 0 L -0.48310878 -0.21740223 E" pathEditMode="relative">
                                      <p:cBhvr from="" to="">
                                        <p:cTn id="39" dur="1100" fill="hold">
                                          <p:stCondLst>
                                            <p:cond delay="0"/>
                                          </p:stCondLst>
                                        </p:cTn>
                                        <p:tgtEl>
                                          <p:spTgt spid="20018"/>
                                        </p:tgtEl>
                                        <p:attrNameLst>
                                          <p:attrName>ppt_x</p:attrName>
                                          <p:attrName>ppt_y</p:attrName>
                                        </p:attrNameLst>
                                      </p:cBhvr>
                                    </p:animMotion>
                                    <p:animScale>
                                      <p:cBhvr>
                                        <p:cTn id="40" dur="1100" fill="hold">
                                          <p:stCondLst>
                                            <p:cond delay="0"/>
                                          </p:stCondLst>
                                        </p:cTn>
                                        <p:tgtEl>
                                          <p:spTgt spid="20018"/>
                                        </p:tgtEl>
                                      </p:cBhvr>
                                      <p:from x="100000" y="100000"/>
                                      <p:to x="25000" y="25000"/>
                                    </p:animScale>
                                  </p:childTnLst>
                                </p:cTn>
                              </p:par>
                              <p:par>
                                <p:cTn id="41" presetID="10" presetClass="exit" presetSubtype="0" fill="hold" nodeType="withEffect">
                                  <p:stCondLst>
                                    <p:cond delay="850"/>
                                  </p:stCondLst>
                                  <p:childTnLst>
                                    <p:animEffect transition="out" filter="fade">
                                      <p:cBhvr>
                                        <p:cTn id="42" dur="350"/>
                                        <p:tgtEl>
                                          <p:spTgt spid="20018"/>
                                        </p:tgtEl>
                                      </p:cBhvr>
                                    </p:animEffect>
                                    <p:set>
                                      <p:cBhvr>
                                        <p:cTn id="43" dur="1" fill="hold">
                                          <p:stCondLst>
                                            <p:cond delay="349"/>
                                          </p:stCondLst>
                                        </p:cTn>
                                        <p:tgtEl>
                                          <p:spTgt spid="20018"/>
                                        </p:tgtEl>
                                        <p:attrNameLst>
                                          <p:attrName>style.visibility</p:attrName>
                                        </p:attrNameLst>
                                      </p:cBhvr>
                                      <p:to>
                                        <p:strVal val="hidden"/>
                                      </p:to>
                                    </p:set>
                                  </p:childTnLst>
                                </p:cTn>
                              </p:par>
                              <p:par>
                                <p:cTn id="44" presetID="10" presetClass="entr" presetSubtype="0" fill="hold" nodeType="withEffect">
                                  <p:stCondLst>
                                    <p:cond delay="850"/>
                                  </p:stCondLst>
                                  <p:childTnLst>
                                    <p:set>
                                      <p:cBhvr>
                                        <p:cTn id="45" dur="1" fill="hold">
                                          <p:stCondLst>
                                            <p:cond delay="0"/>
                                          </p:stCondLst>
                                        </p:cTn>
                                        <p:tgtEl>
                                          <p:spTgt spid="20027"/>
                                        </p:tgtEl>
                                        <p:attrNameLst>
                                          <p:attrName>style.visibility</p:attrName>
                                        </p:attrNameLst>
                                      </p:cBhvr>
                                      <p:to>
                                        <p:strVal val="visible"/>
                                      </p:to>
                                    </p:set>
                                    <p:animEffect transition="in" filter="fade">
                                      <p:cBhvr>
                                        <p:cTn id="46" dur="400"/>
                                        <p:tgtEl>
                                          <p:spTgt spid="20027"/>
                                        </p:tgtEl>
                                      </p:cBhvr>
                                    </p:animEffect>
                                  </p:childTnLst>
                                </p:cTn>
                              </p:par>
                              <p:par>
                                <p:cTn id="47" presetID="10" presetClass="entr" presetSubtype="0" fill="hold" nodeType="withEffect">
                                  <p:stCondLst>
                                    <p:cond delay="1050"/>
                                  </p:stCondLst>
                                  <p:childTnLst>
                                    <p:set>
                                      <p:cBhvr>
                                        <p:cTn id="48" dur="1" fill="hold">
                                          <p:stCondLst>
                                            <p:cond delay="0"/>
                                          </p:stCondLst>
                                        </p:cTn>
                                        <p:tgtEl>
                                          <p:spTgt spid="20031"/>
                                        </p:tgtEl>
                                        <p:attrNameLst>
                                          <p:attrName>style.visibility</p:attrName>
                                        </p:attrNameLst>
                                      </p:cBhvr>
                                      <p:to>
                                        <p:strVal val="visible"/>
                                      </p:to>
                                    </p:set>
                                    <p:animEffect transition="in" filter="fade">
                                      <p:cBhvr>
                                        <p:cTn id="49" dur="400"/>
                                        <p:tgtEl>
                                          <p:spTgt spid="20031"/>
                                        </p:tgtEl>
                                      </p:cBhvr>
                                    </p:animEffect>
                                  </p:childTnLst>
                                </p:cTn>
                              </p:par>
                              <p:par>
                                <p:cTn id="50" presetID="10" presetClass="entr" presetSubtype="0" fill="hold" nodeType="withEffect">
                                  <p:stCondLst>
                                    <p:cond delay="1050"/>
                                  </p:stCondLst>
                                  <p:childTnLst>
                                    <p:set>
                                      <p:cBhvr>
                                        <p:cTn id="51" dur="1" fill="hold">
                                          <p:stCondLst>
                                            <p:cond delay="0"/>
                                          </p:stCondLst>
                                        </p:cTn>
                                        <p:tgtEl>
                                          <p:spTgt spid="20038"/>
                                        </p:tgtEl>
                                        <p:attrNameLst>
                                          <p:attrName>style.visibility</p:attrName>
                                        </p:attrNameLst>
                                      </p:cBhvr>
                                      <p:to>
                                        <p:strVal val="visible"/>
                                      </p:to>
                                    </p:set>
                                    <p:animEffect transition="in" filter="fade">
                                      <p:cBhvr>
                                        <p:cTn id="52" dur="400"/>
                                        <p:tgtEl>
                                          <p:spTgt spid="20038"/>
                                        </p:tgtEl>
                                      </p:cBhvr>
                                    </p:animEffect>
                                  </p:childTnLst>
                                </p:cTn>
                              </p:par>
                              <p:par>
                                <p:cTn id="53" presetID="10" presetClass="entr" presetSubtype="0" fill="hold" nodeType="withEffect">
                                  <p:stCondLst>
                                    <p:cond delay="1050"/>
                                  </p:stCondLst>
                                  <p:childTnLst>
                                    <p:set>
                                      <p:cBhvr>
                                        <p:cTn id="54" dur="1" fill="hold">
                                          <p:stCondLst>
                                            <p:cond delay="0"/>
                                          </p:stCondLst>
                                        </p:cTn>
                                        <p:tgtEl>
                                          <p:spTgt spid="20054"/>
                                        </p:tgtEl>
                                        <p:attrNameLst>
                                          <p:attrName>style.visibility</p:attrName>
                                        </p:attrNameLst>
                                      </p:cBhvr>
                                      <p:to>
                                        <p:strVal val="visible"/>
                                      </p:to>
                                    </p:set>
                                    <p:animEffect transition="in" filter="fade">
                                      <p:cBhvr>
                                        <p:cTn id="55" dur="400"/>
                                        <p:tgtEl>
                                          <p:spTgt spid="20054"/>
                                        </p:tgtEl>
                                      </p:cBhvr>
                                    </p:animEffect>
                                  </p:childTnLst>
                                </p:cTn>
                              </p:par>
                              <p:par>
                                <p:cTn id="56" presetID="10" presetClass="exit" presetSubtype="0" fill="hold" grpId="1" nodeType="withEffect">
                                  <p:stCondLst>
                                    <p:cond delay="0"/>
                                  </p:stCondLst>
                                  <p:childTnLst>
                                    <p:animEffect transition="out" filter="fade">
                                      <p:cBhvr>
                                        <p:cTn id="57" dur="200"/>
                                        <p:tgtEl>
                                          <p:spTgt spid="20096"/>
                                        </p:tgtEl>
                                      </p:cBhvr>
                                    </p:animEffect>
                                    <p:set>
                                      <p:cBhvr>
                                        <p:cTn id="58" dur="1" fill="hold">
                                          <p:stCondLst>
                                            <p:cond delay="199"/>
                                          </p:stCondLst>
                                        </p:cTn>
                                        <p:tgtEl>
                                          <p:spTgt spid="20096"/>
                                        </p:tgtEl>
                                        <p:attrNameLst>
                                          <p:attrName>style.visibility</p:attrName>
                                        </p:attrNameLst>
                                      </p:cBhvr>
                                      <p:to>
                                        <p:strVal val="hidden"/>
                                      </p:to>
                                    </p:set>
                                  </p:childTnLst>
                                </p:cTn>
                              </p:par>
                              <p:par>
                                <p:cTn id="59" presetID="10" presetClass="entr" presetSubtype="0" fill="hold" grpId="0" nodeType="withEffect">
                                  <p:stCondLst>
                                    <p:cond delay="300"/>
                                  </p:stCondLst>
                                  <p:childTnLst>
                                    <p:set>
                                      <p:cBhvr>
                                        <p:cTn id="60" dur="1" fill="hold">
                                          <p:stCondLst>
                                            <p:cond delay="0"/>
                                          </p:stCondLst>
                                        </p:cTn>
                                        <p:tgtEl>
                                          <p:spTgt spid="20097"/>
                                        </p:tgtEl>
                                        <p:attrNameLst>
                                          <p:attrName>style.visibility</p:attrName>
                                        </p:attrNameLst>
                                      </p:cBhvr>
                                      <p:to>
                                        <p:strVal val="visible"/>
                                      </p:to>
                                    </p:set>
                                    <p:animEffect transition="in" filter="fade">
                                      <p:cBhvr>
                                        <p:cTn id="61" dur="300"/>
                                        <p:tgtEl>
                                          <p:spTgt spid="20097"/>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20042"/>
                                        </p:tgtEl>
                                        <p:attrNameLst>
                                          <p:attrName>style.visibility</p:attrName>
                                        </p:attrNameLst>
                                      </p:cBhvr>
                                      <p:to>
                                        <p:strVal val="visible"/>
                                      </p:to>
                                    </p:set>
                                    <p:animEffect transition="in" filter="fade">
                                      <p:cBhvr>
                                        <p:cTn id="66" dur="600"/>
                                        <p:tgtEl>
                                          <p:spTgt spid="20042"/>
                                        </p:tgtEl>
                                      </p:cBhvr>
                                    </p:animEffect>
                                  </p:childTnLst>
                                </p:cTn>
                              </p:par>
                              <p:par>
                                <p:cTn id="67" presetID="10" presetClass="exit" presetSubtype="0" fill="hold" nodeType="withEffect">
                                  <p:stCondLst>
                                    <p:cond delay="300"/>
                                  </p:stCondLst>
                                  <p:childTnLst>
                                    <p:animEffect transition="out" filter="fade">
                                      <p:cBhvr>
                                        <p:cTn id="68" dur="200"/>
                                        <p:tgtEl>
                                          <p:spTgt spid="20054"/>
                                        </p:tgtEl>
                                      </p:cBhvr>
                                    </p:animEffect>
                                    <p:set>
                                      <p:cBhvr>
                                        <p:cTn id="69" dur="1" fill="hold">
                                          <p:stCondLst>
                                            <p:cond delay="199"/>
                                          </p:stCondLst>
                                        </p:cTn>
                                        <p:tgtEl>
                                          <p:spTgt spid="20054"/>
                                        </p:tgtEl>
                                        <p:attrNameLst>
                                          <p:attrName>style.visibility</p:attrName>
                                        </p:attrNameLst>
                                      </p:cBhvr>
                                      <p:to>
                                        <p:strVal val="hidden"/>
                                      </p:to>
                                    </p:set>
                                  </p:childTnLst>
                                </p:cTn>
                              </p:par>
                              <p:par>
                                <p:cTn id="70" presetID="10" presetClass="entr" presetSubtype="0" fill="hold" nodeType="withEffect">
                                  <p:stCondLst>
                                    <p:cond delay="300"/>
                                  </p:stCondLst>
                                  <p:childTnLst>
                                    <p:set>
                                      <p:cBhvr>
                                        <p:cTn id="71" dur="1" fill="hold">
                                          <p:stCondLst>
                                            <p:cond delay="0"/>
                                          </p:stCondLst>
                                        </p:cTn>
                                        <p:tgtEl>
                                          <p:spTgt spid="20046"/>
                                        </p:tgtEl>
                                        <p:attrNameLst>
                                          <p:attrName>style.visibility</p:attrName>
                                        </p:attrNameLst>
                                      </p:cBhvr>
                                      <p:to>
                                        <p:strVal val="visible"/>
                                      </p:to>
                                    </p:set>
                                    <p:animEffect transition="in" filter="fade">
                                      <p:cBhvr>
                                        <p:cTn id="72" dur="600"/>
                                        <p:tgtEl>
                                          <p:spTgt spid="20046"/>
                                        </p:tgtEl>
                                      </p:cBhvr>
                                    </p:animEffect>
                                  </p:childTnLst>
                                </p:cTn>
                              </p:par>
                              <p:par>
                                <p:cTn id="73" presetID="10" presetClass="entr" presetSubtype="0" fill="hold" nodeType="withEffect">
                                  <p:stCondLst>
                                    <p:cond delay="600"/>
                                  </p:stCondLst>
                                  <p:childTnLst>
                                    <p:set>
                                      <p:cBhvr>
                                        <p:cTn id="74" dur="1" fill="hold">
                                          <p:stCondLst>
                                            <p:cond delay="0"/>
                                          </p:stCondLst>
                                        </p:cTn>
                                        <p:tgtEl>
                                          <p:spTgt spid="20094"/>
                                        </p:tgtEl>
                                        <p:attrNameLst>
                                          <p:attrName>style.visibility</p:attrName>
                                        </p:attrNameLst>
                                      </p:cBhvr>
                                      <p:to>
                                        <p:strVal val="visible"/>
                                      </p:to>
                                    </p:set>
                                    <p:animEffect transition="in" filter="fade">
                                      <p:cBhvr>
                                        <p:cTn id="75" dur="400"/>
                                        <p:tgtEl>
                                          <p:spTgt spid="20094"/>
                                        </p:tgtEl>
                                      </p:cBhvr>
                                    </p:animEffect>
                                  </p:childTnLst>
                                </p:cTn>
                              </p:par>
                              <p:par>
                                <p:cTn id="76" presetID="10" presetClass="exit" presetSubtype="0" fill="hold" grpId="1" nodeType="withEffect">
                                  <p:stCondLst>
                                    <p:cond delay="0"/>
                                  </p:stCondLst>
                                  <p:childTnLst>
                                    <p:animEffect transition="out" filter="fade">
                                      <p:cBhvr>
                                        <p:cTn id="77" dur="200"/>
                                        <p:tgtEl>
                                          <p:spTgt spid="20097"/>
                                        </p:tgtEl>
                                      </p:cBhvr>
                                    </p:animEffect>
                                    <p:set>
                                      <p:cBhvr>
                                        <p:cTn id="78" dur="1" fill="hold">
                                          <p:stCondLst>
                                            <p:cond delay="199"/>
                                          </p:stCondLst>
                                        </p:cTn>
                                        <p:tgtEl>
                                          <p:spTgt spid="20097"/>
                                        </p:tgtEl>
                                        <p:attrNameLst>
                                          <p:attrName>style.visibility</p:attrName>
                                        </p:attrNameLst>
                                      </p:cBhvr>
                                      <p:to>
                                        <p:strVal val="hidden"/>
                                      </p:to>
                                    </p:set>
                                  </p:childTnLst>
                                </p:cTn>
                              </p:par>
                              <p:par>
                                <p:cTn id="79" presetID="10" presetClass="entr" presetSubtype="0" fill="hold" grpId="0" nodeType="withEffect">
                                  <p:stCondLst>
                                    <p:cond delay="300"/>
                                  </p:stCondLst>
                                  <p:childTnLst>
                                    <p:set>
                                      <p:cBhvr>
                                        <p:cTn id="80" dur="1" fill="hold">
                                          <p:stCondLst>
                                            <p:cond delay="0"/>
                                          </p:stCondLst>
                                        </p:cTn>
                                        <p:tgtEl>
                                          <p:spTgt spid="20098"/>
                                        </p:tgtEl>
                                        <p:attrNameLst>
                                          <p:attrName>style.visibility</p:attrName>
                                        </p:attrNameLst>
                                      </p:cBhvr>
                                      <p:to>
                                        <p:strVal val="visible"/>
                                      </p:to>
                                    </p:set>
                                    <p:animEffect transition="in" filter="fade">
                                      <p:cBhvr>
                                        <p:cTn id="81" dur="300"/>
                                        <p:tgtEl>
                                          <p:spTgt spid="20098"/>
                                        </p:tgtEl>
                                      </p:cBhvr>
                                    </p:animEffect>
                                  </p:childTnLst>
                                </p:cTn>
                              </p:par>
                            </p:childTnLst>
                          </p:cTn>
                        </p:par>
                      </p:childTnLst>
                    </p:cTn>
                  </p:par>
                  <p:par>
                    <p:cTn id="82" fill="hold">
                      <p:stCondLst>
                        <p:cond delay="indefinite"/>
                      </p:stCondLst>
                      <p:childTnLst>
                        <p:par>
                          <p:cTn id="83" fill="hold">
                            <p:stCondLst>
                              <p:cond delay="0"/>
                            </p:stCondLst>
                            <p:childTnLst>
                              <p:par>
                                <p:cTn id="84" presetID="1" presetClass="entr" presetSubtype="0" fill="hold" nodeType="clickEffect">
                                  <p:stCondLst>
                                    <p:cond delay="0"/>
                                  </p:stCondLst>
                                  <p:childTnLst>
                                    <p:set>
                                      <p:cBhvr>
                                        <p:cTn id="85" dur="1" fill="hold">
                                          <p:stCondLst>
                                            <p:cond delay="0"/>
                                          </p:stCondLst>
                                        </p:cTn>
                                        <p:tgtEl>
                                          <p:spTgt spid="20079"/>
                                        </p:tgtEl>
                                        <p:attrNameLst>
                                          <p:attrName>style.visibility</p:attrName>
                                        </p:attrNameLst>
                                      </p:cBhvr>
                                      <p:to>
                                        <p:strVal val="visible"/>
                                      </p:to>
                                    </p:set>
                                  </p:childTnLst>
                                </p:cTn>
                              </p:par>
                              <p:par>
                                <p:cTn id="86" presetID="1" presetClass="entr" presetSubtype="0" fill="hold" nodeType="withEffect">
                                  <p:stCondLst>
                                    <p:cond delay="150"/>
                                  </p:stCondLst>
                                  <p:childTnLst>
                                    <p:set>
                                      <p:cBhvr>
                                        <p:cTn id="87" dur="1" fill="hold">
                                          <p:stCondLst>
                                            <p:cond delay="0"/>
                                          </p:stCondLst>
                                        </p:cTn>
                                        <p:tgtEl>
                                          <p:spTgt spid="20080"/>
                                        </p:tgtEl>
                                        <p:attrNameLst>
                                          <p:attrName>style.visibility</p:attrName>
                                        </p:attrNameLst>
                                      </p:cBhvr>
                                      <p:to>
                                        <p:strVal val="visible"/>
                                      </p:to>
                                    </p:set>
                                  </p:childTnLst>
                                </p:cTn>
                              </p:par>
                              <p:par>
                                <p:cTn id="88" presetID="1" presetClass="entr" presetSubtype="0" fill="hold" grpId="0" nodeType="withEffect">
                                  <p:stCondLst>
                                    <p:cond delay="150"/>
                                  </p:stCondLst>
                                  <p:childTnLst>
                                    <p:set>
                                      <p:cBhvr>
                                        <p:cTn id="89" dur="1" fill="hold">
                                          <p:stCondLst>
                                            <p:cond delay="0"/>
                                          </p:stCondLst>
                                        </p:cTn>
                                        <p:tgtEl>
                                          <p:spTgt spid="20081"/>
                                        </p:tgtEl>
                                        <p:attrNameLst>
                                          <p:attrName>style.visibility</p:attrName>
                                        </p:attrNameLst>
                                      </p:cBhvr>
                                      <p:to>
                                        <p:strVal val="visible"/>
                                      </p:to>
                                    </p:set>
                                  </p:childTnLst>
                                </p:cTn>
                              </p:par>
                              <p:par>
                                <p:cTn id="90" presetID="1" presetClass="entr" presetSubtype="0" fill="hold" grpId="0" nodeType="withEffect">
                                  <p:stCondLst>
                                    <p:cond delay="150"/>
                                  </p:stCondLst>
                                  <p:childTnLst>
                                    <p:set>
                                      <p:cBhvr>
                                        <p:cTn id="91" dur="1" fill="hold">
                                          <p:stCondLst>
                                            <p:cond delay="0"/>
                                          </p:stCondLst>
                                        </p:cTn>
                                        <p:tgtEl>
                                          <p:spTgt spid="20082"/>
                                        </p:tgtEl>
                                        <p:attrNameLst>
                                          <p:attrName>style.visibility</p:attrName>
                                        </p:attrNameLst>
                                      </p:cBhvr>
                                      <p:to>
                                        <p:strVal val="visible"/>
                                      </p:to>
                                    </p:set>
                                  </p:childTnLst>
                                </p:cTn>
                              </p:par>
                              <p:par>
                                <p:cTn id="92" presetID="1" presetClass="entr" presetSubtype="0" fill="hold" grpId="0" nodeType="withEffect">
                                  <p:stCondLst>
                                    <p:cond delay="150"/>
                                  </p:stCondLst>
                                  <p:childTnLst>
                                    <p:set>
                                      <p:cBhvr>
                                        <p:cTn id="93" dur="1" fill="hold">
                                          <p:stCondLst>
                                            <p:cond delay="0"/>
                                          </p:stCondLst>
                                        </p:cTn>
                                        <p:tgtEl>
                                          <p:spTgt spid="20083"/>
                                        </p:tgtEl>
                                        <p:attrNameLst>
                                          <p:attrName>style.visibility</p:attrName>
                                        </p:attrNameLst>
                                      </p:cBhvr>
                                      <p:to>
                                        <p:strVal val="visible"/>
                                      </p:to>
                                    </p:set>
                                  </p:childTnLst>
                                </p:cTn>
                              </p:par>
                              <p:par>
                                <p:cTn id="94" presetID="1" presetClass="entr" presetSubtype="0" fill="hold" nodeType="withEffect">
                                  <p:stCondLst>
                                    <p:cond delay="150"/>
                                  </p:stCondLst>
                                  <p:childTnLst>
                                    <p:set>
                                      <p:cBhvr>
                                        <p:cTn id="95" dur="1" fill="hold">
                                          <p:stCondLst>
                                            <p:cond delay="0"/>
                                          </p:stCondLst>
                                        </p:cTn>
                                        <p:tgtEl>
                                          <p:spTgt spid="20088"/>
                                        </p:tgtEl>
                                        <p:attrNameLst>
                                          <p:attrName>style.visibility</p:attrName>
                                        </p:attrNameLst>
                                      </p:cBhvr>
                                      <p:to>
                                        <p:strVal val="visible"/>
                                      </p:to>
                                    </p:set>
                                  </p:childTnLst>
                                </p:cTn>
                              </p:par>
                              <p:par>
                                <p:cTn id="96" presetID="10" presetClass="exit" presetSubtype="0" fill="hold" grpId="1" nodeType="withEffect">
                                  <p:stCondLst>
                                    <p:cond delay="0"/>
                                  </p:stCondLst>
                                  <p:childTnLst>
                                    <p:animEffect transition="out" filter="fade">
                                      <p:cBhvr>
                                        <p:cTn id="97" dur="300"/>
                                        <p:tgtEl>
                                          <p:spTgt spid="20098"/>
                                        </p:tgtEl>
                                      </p:cBhvr>
                                    </p:animEffect>
                                    <p:set>
                                      <p:cBhvr>
                                        <p:cTn id="98" dur="1" fill="hold">
                                          <p:stCondLst>
                                            <p:cond delay="299"/>
                                          </p:stCondLst>
                                        </p:cTn>
                                        <p:tgtEl>
                                          <p:spTgt spid="20098"/>
                                        </p:tgtEl>
                                        <p:attrNameLst>
                                          <p:attrName>style.visibility</p:attrName>
                                        </p:attrNameLst>
                                      </p:cBhvr>
                                      <p:to>
                                        <p:strVal val="hidden"/>
                                      </p:to>
                                    </p:set>
                                  </p:childTnLst>
                                </p:cTn>
                              </p:par>
                            </p:childTnLst>
                          </p:cTn>
                        </p:par>
                      </p:childTnLst>
                    </p:cTn>
                  </p:par>
                  <p:par>
                    <p:cTn id="99" fill="hold">
                      <p:stCondLst>
                        <p:cond delay="indefinite"/>
                      </p:stCondLst>
                      <p:childTnLst>
                        <p:par>
                          <p:cTn id="100" fill="hold">
                            <p:stCondLst>
                              <p:cond delay="0"/>
                            </p:stCondLst>
                            <p:childTnLst>
                              <p:par>
                                <p:cTn id="101" presetID="1" presetClass="exit" presetSubtype="0" fill="hold" nodeType="clickEffect">
                                  <p:stCondLst>
                                    <p:cond delay="0"/>
                                  </p:stCondLst>
                                  <p:childTnLst>
                                    <p:set>
                                      <p:cBhvr>
                                        <p:cTn id="102" dur="1" fill="hold">
                                          <p:stCondLst>
                                            <p:cond delay="0"/>
                                          </p:stCondLst>
                                        </p:cTn>
                                        <p:tgtEl>
                                          <p:spTgt spid="20001"/>
                                        </p:tgtEl>
                                        <p:attrNameLst>
                                          <p:attrName>style.visibility</p:attrName>
                                        </p:attrNameLst>
                                      </p:cBhvr>
                                      <p:to>
                                        <p:strVal val="hidden"/>
                                      </p:to>
                                    </p:set>
                                  </p:childTnLst>
                                </p:cTn>
                              </p:par>
                              <p:par>
                                <p:cTn id="103" presetID="1" presetClass="exit" presetSubtype="0" fill="hold" nodeType="withEffect">
                                  <p:stCondLst>
                                    <p:cond delay="0"/>
                                  </p:stCondLst>
                                  <p:childTnLst>
                                    <p:set>
                                      <p:cBhvr>
                                        <p:cTn id="104" dur="1" fill="hold">
                                          <p:stCondLst>
                                            <p:cond delay="0"/>
                                          </p:stCondLst>
                                        </p:cTn>
                                        <p:tgtEl>
                                          <p:spTgt spid="20079"/>
                                        </p:tgtEl>
                                        <p:attrNameLst>
                                          <p:attrName>style.visibility</p:attrName>
                                        </p:attrNameLst>
                                      </p:cBhvr>
                                      <p:to>
                                        <p:strVal val="hidden"/>
                                      </p:to>
                                    </p:set>
                                  </p:childTnLst>
                                </p:cTn>
                              </p:par>
                              <p:par>
                                <p:cTn id="105" presetID="1" presetClass="exit" presetSubtype="0" fill="hold" nodeType="withEffect">
                                  <p:stCondLst>
                                    <p:cond delay="0"/>
                                  </p:stCondLst>
                                  <p:childTnLst>
                                    <p:set>
                                      <p:cBhvr>
                                        <p:cTn id="106" dur="1" fill="hold">
                                          <p:stCondLst>
                                            <p:cond delay="0"/>
                                          </p:stCondLst>
                                        </p:cTn>
                                        <p:tgtEl>
                                          <p:spTgt spid="20080"/>
                                        </p:tgtEl>
                                        <p:attrNameLst>
                                          <p:attrName>style.visibility</p:attrName>
                                        </p:attrNameLst>
                                      </p:cBhvr>
                                      <p:to>
                                        <p:strVal val="hidden"/>
                                      </p:to>
                                    </p:set>
                                  </p:childTnLst>
                                </p:cTn>
                              </p:par>
                              <p:par>
                                <p:cTn id="107" presetID="1" presetClass="exit" presetSubtype="0" fill="hold" grpId="1" nodeType="withEffect">
                                  <p:stCondLst>
                                    <p:cond delay="0"/>
                                  </p:stCondLst>
                                  <p:childTnLst>
                                    <p:set>
                                      <p:cBhvr>
                                        <p:cTn id="108" dur="1" fill="hold">
                                          <p:stCondLst>
                                            <p:cond delay="0"/>
                                          </p:stCondLst>
                                        </p:cTn>
                                        <p:tgtEl>
                                          <p:spTgt spid="20081"/>
                                        </p:tgtEl>
                                        <p:attrNameLst>
                                          <p:attrName>style.visibility</p:attrName>
                                        </p:attrNameLst>
                                      </p:cBhvr>
                                      <p:to>
                                        <p:strVal val="hidden"/>
                                      </p:to>
                                    </p:set>
                                  </p:childTnLst>
                                </p:cTn>
                              </p:par>
                              <p:par>
                                <p:cTn id="109" presetID="1" presetClass="exit" presetSubtype="0" fill="hold" grpId="1" nodeType="withEffect">
                                  <p:stCondLst>
                                    <p:cond delay="0"/>
                                  </p:stCondLst>
                                  <p:childTnLst>
                                    <p:set>
                                      <p:cBhvr>
                                        <p:cTn id="110" dur="1" fill="hold">
                                          <p:stCondLst>
                                            <p:cond delay="0"/>
                                          </p:stCondLst>
                                        </p:cTn>
                                        <p:tgtEl>
                                          <p:spTgt spid="20082"/>
                                        </p:tgtEl>
                                        <p:attrNameLst>
                                          <p:attrName>style.visibility</p:attrName>
                                        </p:attrNameLst>
                                      </p:cBhvr>
                                      <p:to>
                                        <p:strVal val="hidden"/>
                                      </p:to>
                                    </p:set>
                                  </p:childTnLst>
                                </p:cTn>
                              </p:par>
                              <p:par>
                                <p:cTn id="111" presetID="1" presetClass="exit" presetSubtype="0" fill="hold" grpId="1" nodeType="withEffect">
                                  <p:stCondLst>
                                    <p:cond delay="0"/>
                                  </p:stCondLst>
                                  <p:childTnLst>
                                    <p:set>
                                      <p:cBhvr>
                                        <p:cTn id="112" dur="1" fill="hold">
                                          <p:stCondLst>
                                            <p:cond delay="0"/>
                                          </p:stCondLst>
                                        </p:cTn>
                                        <p:tgtEl>
                                          <p:spTgt spid="20083"/>
                                        </p:tgtEl>
                                        <p:attrNameLst>
                                          <p:attrName>style.visibility</p:attrName>
                                        </p:attrNameLst>
                                      </p:cBhvr>
                                      <p:to>
                                        <p:strVal val="hidden"/>
                                      </p:to>
                                    </p:set>
                                  </p:childTnLst>
                                </p:cTn>
                              </p:par>
                              <p:par>
                                <p:cTn id="113" presetID="1" presetClass="exit" presetSubtype="0" fill="hold" nodeType="withEffect">
                                  <p:stCondLst>
                                    <p:cond delay="0"/>
                                  </p:stCondLst>
                                  <p:childTnLst>
                                    <p:set>
                                      <p:cBhvr>
                                        <p:cTn id="114" dur="1" fill="hold">
                                          <p:stCondLst>
                                            <p:cond delay="0"/>
                                          </p:stCondLst>
                                        </p:cTn>
                                        <p:tgtEl>
                                          <p:spTgt spid="20088"/>
                                        </p:tgtEl>
                                        <p:attrNameLst>
                                          <p:attrName>style.visibility</p:attrName>
                                        </p:attrNameLst>
                                      </p:cBhvr>
                                      <p:to>
                                        <p:strVal val="hidden"/>
                                      </p:to>
                                    </p:set>
                                  </p:childTnLst>
                                </p:cTn>
                              </p:par>
                              <p:par>
                                <p:cTn id="115" presetID="1" presetClass="exit" presetSubtype="0" fill="hold" nodeType="withEffect">
                                  <p:stCondLst>
                                    <p:cond delay="0"/>
                                  </p:stCondLst>
                                  <p:childTnLst>
                                    <p:set>
                                      <p:cBhvr>
                                        <p:cTn id="116" dur="1" fill="hold">
                                          <p:stCondLst>
                                            <p:cond delay="0"/>
                                          </p:stCondLst>
                                        </p:cTn>
                                        <p:tgtEl>
                                          <p:spTgt spid="20094"/>
                                        </p:tgtEl>
                                        <p:attrNameLst>
                                          <p:attrName>style.visibility</p:attrName>
                                        </p:attrNameLst>
                                      </p:cBhvr>
                                      <p:to>
                                        <p:strVal val="hidden"/>
                                      </p:to>
                                    </p:set>
                                  </p:childTnLst>
                                </p:cTn>
                              </p:par>
                              <p:par>
                                <p:cTn id="117" presetID="1" presetClass="exit" presetSubtype="0" fill="hold" grpId="0" nodeType="withEffect">
                                  <p:stCondLst>
                                    <p:cond delay="0"/>
                                  </p:stCondLst>
                                  <p:childTnLst>
                                    <p:set>
                                      <p:cBhvr>
                                        <p:cTn id="118" dur="1" fill="hold">
                                          <p:stCondLst>
                                            <p:cond delay="0"/>
                                          </p:stCondLst>
                                        </p:cTn>
                                        <p:tgtEl>
                                          <p:spTgt spid="3"/>
                                        </p:tgtEl>
                                        <p:attrNameLst>
                                          <p:attrName>style.visibility</p:attrName>
                                        </p:attrNameLst>
                                      </p:cBhvr>
                                      <p:to>
                                        <p:strVal val="hidden"/>
                                      </p:to>
                                    </p:set>
                                  </p:childTnLst>
                                </p:cTn>
                              </p:par>
                              <p:par>
                                <p:cTn id="119" presetID="10" presetClass="exit" presetSubtype="0" fill="hold" nodeType="withEffect">
                                  <p:stCondLst>
                                    <p:cond delay="50"/>
                                  </p:stCondLst>
                                  <p:childTnLst>
                                    <p:animEffect transition="out" filter="fade">
                                      <p:cBhvr>
                                        <p:cTn id="120" dur="50"/>
                                        <p:tgtEl>
                                          <p:spTgt spid="20023"/>
                                        </p:tgtEl>
                                      </p:cBhvr>
                                    </p:animEffect>
                                    <p:set>
                                      <p:cBhvr>
                                        <p:cTn id="121" dur="1" fill="hold">
                                          <p:stCondLst>
                                            <p:cond delay="49"/>
                                          </p:stCondLst>
                                        </p:cTn>
                                        <p:tgtEl>
                                          <p:spTgt spid="20023"/>
                                        </p:tgtEl>
                                        <p:attrNameLst>
                                          <p:attrName>style.visibility</p:attrName>
                                        </p:attrNameLst>
                                      </p:cBhvr>
                                      <p:to>
                                        <p:strVal val="hidden"/>
                                      </p:to>
                                    </p:set>
                                  </p:childTnLst>
                                </p:cTn>
                              </p:par>
                              <p:par>
                                <p:cTn id="122" presetID="10" presetClass="exit" presetSubtype="0" fill="hold" nodeType="withEffect">
                                  <p:stCondLst>
                                    <p:cond delay="50"/>
                                  </p:stCondLst>
                                  <p:childTnLst>
                                    <p:animEffect transition="out" filter="fade">
                                      <p:cBhvr>
                                        <p:cTn id="123" dur="50"/>
                                        <p:tgtEl>
                                          <p:spTgt spid="20027"/>
                                        </p:tgtEl>
                                      </p:cBhvr>
                                    </p:animEffect>
                                    <p:set>
                                      <p:cBhvr>
                                        <p:cTn id="124" dur="1" fill="hold">
                                          <p:stCondLst>
                                            <p:cond delay="49"/>
                                          </p:stCondLst>
                                        </p:cTn>
                                        <p:tgtEl>
                                          <p:spTgt spid="20027"/>
                                        </p:tgtEl>
                                        <p:attrNameLst>
                                          <p:attrName>style.visibility</p:attrName>
                                        </p:attrNameLst>
                                      </p:cBhvr>
                                      <p:to>
                                        <p:strVal val="hidden"/>
                                      </p:to>
                                    </p:set>
                                  </p:childTnLst>
                                </p:cTn>
                              </p:par>
                              <p:par>
                                <p:cTn id="125" presetID="10" presetClass="exit" presetSubtype="0" fill="hold" nodeType="withEffect">
                                  <p:stCondLst>
                                    <p:cond delay="50"/>
                                  </p:stCondLst>
                                  <p:childTnLst>
                                    <p:animEffect transition="out" filter="fade">
                                      <p:cBhvr>
                                        <p:cTn id="126" dur="50"/>
                                        <p:tgtEl>
                                          <p:spTgt spid="20031"/>
                                        </p:tgtEl>
                                      </p:cBhvr>
                                    </p:animEffect>
                                    <p:set>
                                      <p:cBhvr>
                                        <p:cTn id="127" dur="1" fill="hold">
                                          <p:stCondLst>
                                            <p:cond delay="49"/>
                                          </p:stCondLst>
                                        </p:cTn>
                                        <p:tgtEl>
                                          <p:spTgt spid="20031"/>
                                        </p:tgtEl>
                                        <p:attrNameLst>
                                          <p:attrName>style.visibility</p:attrName>
                                        </p:attrNameLst>
                                      </p:cBhvr>
                                      <p:to>
                                        <p:strVal val="hidden"/>
                                      </p:to>
                                    </p:set>
                                  </p:childTnLst>
                                </p:cTn>
                              </p:par>
                              <p:par>
                                <p:cTn id="128" presetID="10" presetClass="exit" presetSubtype="0" fill="hold" nodeType="withEffect">
                                  <p:stCondLst>
                                    <p:cond delay="50"/>
                                  </p:stCondLst>
                                  <p:childTnLst>
                                    <p:animEffect transition="out" filter="fade">
                                      <p:cBhvr>
                                        <p:cTn id="129" dur="50"/>
                                        <p:tgtEl>
                                          <p:spTgt spid="20038"/>
                                        </p:tgtEl>
                                      </p:cBhvr>
                                    </p:animEffect>
                                    <p:set>
                                      <p:cBhvr>
                                        <p:cTn id="130" dur="1" fill="hold">
                                          <p:stCondLst>
                                            <p:cond delay="49"/>
                                          </p:stCondLst>
                                        </p:cTn>
                                        <p:tgtEl>
                                          <p:spTgt spid="20038"/>
                                        </p:tgtEl>
                                        <p:attrNameLst>
                                          <p:attrName>style.visibility</p:attrName>
                                        </p:attrNameLst>
                                      </p:cBhvr>
                                      <p:to>
                                        <p:strVal val="hidden"/>
                                      </p:to>
                                    </p:set>
                                  </p:childTnLst>
                                </p:cTn>
                              </p:par>
                              <p:par>
                                <p:cTn id="131" presetID="10" presetClass="exit" presetSubtype="0" fill="hold" nodeType="withEffect">
                                  <p:stCondLst>
                                    <p:cond delay="50"/>
                                  </p:stCondLst>
                                  <p:childTnLst>
                                    <p:animEffect transition="out" filter="fade">
                                      <p:cBhvr>
                                        <p:cTn id="132" dur="50"/>
                                        <p:tgtEl>
                                          <p:spTgt spid="20042"/>
                                        </p:tgtEl>
                                      </p:cBhvr>
                                    </p:animEffect>
                                    <p:set>
                                      <p:cBhvr>
                                        <p:cTn id="133" dur="1" fill="hold">
                                          <p:stCondLst>
                                            <p:cond delay="49"/>
                                          </p:stCondLst>
                                        </p:cTn>
                                        <p:tgtEl>
                                          <p:spTgt spid="20042"/>
                                        </p:tgtEl>
                                        <p:attrNameLst>
                                          <p:attrName>style.visibility</p:attrName>
                                        </p:attrNameLst>
                                      </p:cBhvr>
                                      <p:to>
                                        <p:strVal val="hidden"/>
                                      </p:to>
                                    </p:set>
                                  </p:childTnLst>
                                </p:cTn>
                              </p:par>
                              <p:par>
                                <p:cTn id="134" presetID="10" presetClass="exit" presetSubtype="0" fill="hold" nodeType="withEffect">
                                  <p:stCondLst>
                                    <p:cond delay="50"/>
                                  </p:stCondLst>
                                  <p:childTnLst>
                                    <p:animEffect transition="out" filter="fade">
                                      <p:cBhvr>
                                        <p:cTn id="135" dur="50"/>
                                        <p:tgtEl>
                                          <p:spTgt spid="20046"/>
                                        </p:tgtEl>
                                      </p:cBhvr>
                                    </p:animEffect>
                                    <p:set>
                                      <p:cBhvr>
                                        <p:cTn id="136" dur="1" fill="hold">
                                          <p:stCondLst>
                                            <p:cond delay="49"/>
                                          </p:stCondLst>
                                        </p:cTn>
                                        <p:tgtEl>
                                          <p:spTgt spid="20046"/>
                                        </p:tgtEl>
                                        <p:attrNameLst>
                                          <p:attrName>style.visibility</p:attrName>
                                        </p:attrNameLst>
                                      </p:cBhvr>
                                      <p:to>
                                        <p:strVal val="hidden"/>
                                      </p:to>
                                    </p:set>
                                  </p:childTnLst>
                                </p:cTn>
                              </p:par>
                              <p:par>
                                <p:cTn id="137" presetID="10" presetClass="entr" presetSubtype="0" fill="hold" nodeType="withEffect">
                                  <p:stCondLst>
                                    <p:cond delay="0"/>
                                  </p:stCondLst>
                                  <p:childTnLst>
                                    <p:set>
                                      <p:cBhvr>
                                        <p:cTn id="138" dur="1" fill="hold">
                                          <p:stCondLst>
                                            <p:cond delay="0"/>
                                          </p:stCondLst>
                                        </p:cTn>
                                        <p:tgtEl>
                                          <p:spTgt spid="20057"/>
                                        </p:tgtEl>
                                        <p:attrNameLst>
                                          <p:attrName>style.visibility</p:attrName>
                                        </p:attrNameLst>
                                      </p:cBhvr>
                                      <p:to>
                                        <p:strVal val="visible"/>
                                      </p:to>
                                    </p:set>
                                    <p:animEffect transition="in" filter="fade">
                                      <p:cBhvr>
                                        <p:cTn id="139" dur="50"/>
                                        <p:tgtEl>
                                          <p:spTgt spid="20057"/>
                                        </p:tgtEl>
                                      </p:cBhvr>
                                    </p:animEffect>
                                  </p:childTnLst>
                                </p:cTn>
                              </p:par>
                              <p:par>
                                <p:cTn id="140" presetID="1" presetClass="entr" presetSubtype="0" fill="hold" grpId="0" nodeType="withEffect">
                                  <p:stCondLst>
                                    <p:cond delay="0"/>
                                  </p:stCondLst>
                                  <p:childTnLst>
                                    <p:set>
                                      <p:cBhvr>
                                        <p:cTn id="141" dur="1" fill="hold">
                                          <p:stCondLst>
                                            <p:cond delay="0"/>
                                          </p:stCondLst>
                                        </p:cTn>
                                        <p:tgtEl>
                                          <p:spTgt spid="20078"/>
                                        </p:tgtEl>
                                        <p:attrNameLst>
                                          <p:attrName>style.visibility</p:attrName>
                                        </p:attrNameLst>
                                      </p:cBhvr>
                                      <p:to>
                                        <p:strVal val="visible"/>
                                      </p:to>
                                    </p:set>
                                  </p:childTnLst>
                                </p:cTn>
                              </p:par>
                              <p:par>
                                <p:cTn id="142" presetID="0" presetClass="path" presetSubtype="0" accel="50000" decel="50000" fill="hold" nodeType="withEffect">
                                  <p:stCondLst>
                                    <p:cond delay="0"/>
                                  </p:stCondLst>
                                  <p:childTnLst>
                                    <p:set>
                                      <p:cBhvr>
                                        <p:cTn id="143" dur="1" fill="hold">
                                          <p:stCondLst>
                                            <p:cond delay="399"/>
                                          </p:stCondLst>
                                        </p:cTn>
                                        <p:tgtEl>
                                          <p:spTgt spid="20057"/>
                                        </p:tgtEl>
                                        <p:attrNameLst>
                                          <p:attrName>style.visibility</p:attrName>
                                        </p:attrNameLst>
                                      </p:cBhvr>
                                      <p:to>
                                        <p:strVal val="visible"/>
                                      </p:to>
                                    </p:set>
                                    <p:animMotion origin="layout" path="M 0 0 L 0.25138889 0.05109779 E" pathEditMode="relative">
                                      <p:cBhvr from="" to="">
                                        <p:cTn id="144" dur="400" fill="hold">
                                          <p:stCondLst>
                                            <p:cond delay="0"/>
                                          </p:stCondLst>
                                        </p:cTn>
                                        <p:tgtEl>
                                          <p:spTgt spid="20057"/>
                                        </p:tgtEl>
                                        <p:attrNameLst>
                                          <p:attrName>ppt_x</p:attrName>
                                          <p:attrName>ppt_y</p:attrName>
                                        </p:attrNameLst>
                                      </p:cBhvr>
                                    </p:animMotion>
                                    <p:animScale>
                                      <p:cBhvr>
                                        <p:cTn id="145" dur="400" fill="hold">
                                          <p:stCondLst>
                                            <p:cond delay="0"/>
                                          </p:stCondLst>
                                        </p:cTn>
                                        <p:tgtEl>
                                          <p:spTgt spid="20057"/>
                                        </p:tgtEl>
                                      </p:cBhvr>
                                      <p:from x="100000" y="100000"/>
                                      <p:to x="112000" y="112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0016" grpId="0"/>
      <p:bldP spid="20016" grpId="1"/>
      <p:bldP spid="20017" grpId="0"/>
      <p:bldP spid="20017" grpId="1"/>
      <p:bldP spid="20078" grpId="0"/>
      <p:bldP spid="20081" grpId="0"/>
      <p:bldP spid="20081" grpId="1"/>
      <p:bldP spid="20082" grpId="0"/>
      <p:bldP spid="20082" grpId="1"/>
      <p:bldP spid="20083" grpId="0"/>
      <p:bldP spid="20083" grpId="1"/>
      <p:bldP spid="20096" grpId="0"/>
      <p:bldP spid="20096" grpId="1"/>
      <p:bldP spid="20097" grpId="0"/>
      <p:bldP spid="20097" grpId="1"/>
      <p:bldP spid="20098" grpId="0"/>
      <p:bldP spid="20098" grpId="1"/>
    </p:bldLst>
  </p:timing>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Property list">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20</a:t>
            </a:fld>
            <a:endParaRPr lang="en-GB" sz="800" b="0" u="none" cap="none" dirty="0">
              <a:solidFill>
                <a:srgbClr val="747B82"/>
              </a:solidFill>
              <a:latin typeface="Aptos"/>
              <a:ea typeface="Aptos"/>
              <a:cs typeface="Aptos"/>
            </a:endParaRPr>
          </a:p>
        </p:txBody>
      </p:sp>
      <p:sp>
        <p:nvSpPr>
          <p:cNvPr id="14" name="Equivalence arrow">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Exact label">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grpSp>
        <p:nvGrpSpPr>
          <p:cNvPr id="5001" name="Surrounding LFR">
            <a:extLst>
              <a:ext uri="{FF2B5EF4-FFF2-40B4-BE49-F238E27FC236}">
                <a16:creationId xmlns:a16="http://schemas.microsoft.com/office/drawing/2014/main" id="{BEEA59A6-286F-A2D2-D96E-07B7D80854DA}"/>
              </a:ext>
            </a:extLst>
          </p:cNvPr>
          <p:cNvGrpSpPr/>
          <p:nvPr/>
        </p:nvGrpSpPr>
        <p:grpSpPr>
          <a:xfrm>
            <a:off x="2580640" y="1305960"/>
            <a:ext cx="3982720" cy="3052280"/>
            <a:chOff x="1995932" y="1819148"/>
            <a:chExt cx="3138932" cy="2405888"/>
          </a:xfrm>
        </p:grpSpPr>
        <p:sp>
          <p:nvSpPr>
            <p:cNvPr id="500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005"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5006"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07"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5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BlockMorph20_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501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BlockMorph20_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501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BlockMorph20_7"/>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2"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5013"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BlockMorph20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4"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5015"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BlockMorph20_1"/>
                  <a:stretch>
                    <a:fillRect/>
                  </a:stretch>
                </a:blipFill>
                <a:ln>
                  <a:noFill/>
                </a:ln>
              </p:spPr>
              <p:txBody>
                <a:bodyPr/>
                <a:lstStyle/>
                <a:p>
                  <a:r>
                    <a:rPr lang="en-NL">
                      <a:noFill/>
                    </a:rPr>
                    <a:t> </a:t>
                  </a:r>
                </a:p>
              </p:txBody>
            </p:sp>
          </mc:Fallback>
        </mc:AlternateContent>
        <p:sp>
          <p:nvSpPr>
            <p:cNvPr id="5016"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5017"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5018"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BlockMorph20_19"/>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9" name="PDE dynamics">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 xmlns:m="http://schemas.openxmlformats.org/officeDocument/2006/math">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0_17"/>
                <a:stretch>
                  <a:fillRect/>
                </a:stretch>
              </a:blipFill>
            </p:spPr>
            <p:txBody>
              <a:bodyPr/>
              <a:lstStyle/>
              <a:p>
                <a:r>
                  <a:rPr lang="en-NL">
                    <a:noFill/>
                  </a:rPr>
                  <a:t> </a:t>
                </a:r>
              </a:p>
            </p:txBody>
          </p:sp>
        </mc:Fallback>
      </mc:AlternateContent>
      <p:grpSp>
        <p:nvGrpSpPr>
          <p:cNvPr id="10001" name="!!PDE block"/>
          <p:cNvGrpSpPr/>
          <p:nvPr/>
        </p:nvGrpSpPr>
        <p:grpSpPr>
          <a:xfrm>
            <a:off x="3963860" y="2188260"/>
            <a:ext cx="1192431" cy="1192297"/>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2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15"/>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0_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0_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0_23"/>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0_21"/>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0_16"/>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0_9"/>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0_3"/>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0_24"/>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0_18"/>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0_13"/>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0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CCB4E38E-454B-8A1A-AA4D-8FA0AE639C4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0"/>
                                  </p:stCondLst>
                                  <p:childTnLst>
                                    <p:set>
                                      <p:cBhvr>
                                        <p:cTn id="6" dur="1" fill="hold">
                                          <p:stCondLst>
                                            <p:cond delay="1049"/>
                                          </p:stCondLst>
                                        </p:cTn>
                                        <p:tgtEl>
                                          <p:spTgt spid="10001"/>
                                        </p:tgtEl>
                                        <p:attrNameLst>
                                          <p:attrName>style.visibility</p:attrName>
                                        </p:attrNameLst>
                                      </p:cBhvr>
                                      <p:to>
                                        <p:strVal val="visible"/>
                                      </p:to>
                                    </p:set>
                                    <p:animMotion origin="layout" path="M 0 0 L -0.0014737 -0.24751794 E" pathEditMode="relative">
                                      <p:cBhvr from="" to="">
                                        <p:cTn id="7" dur="1050" fill="hold">
                                          <p:stCondLst>
                                            <p:cond delay="0"/>
                                          </p:stCondLst>
                                        </p:cTn>
                                        <p:tgtEl>
                                          <p:spTgt spid="10001"/>
                                        </p:tgtEl>
                                        <p:attrNameLst>
                                          <p:attrName>ppt_x</p:attrName>
                                          <p:attrName>ppt_y</p:attrName>
                                        </p:attrNameLst>
                                      </p:cBhvr>
                                    </p:animMotion>
                                    <p:animScale>
                                      <p:cBhvr>
                                        <p:cTn id="8" dur="1050" fill="hold">
                                          <p:stCondLst>
                                            <p:cond delay="0"/>
                                          </p:stCondLst>
                                        </p:cTn>
                                        <p:tgtEl>
                                          <p:spTgt spid="10001"/>
                                        </p:tgtEl>
                                      </p:cBhvr>
                                      <p:from x="100000" y="100000"/>
                                      <p:to x="74554" y="74554"/>
                                    </p:animScale>
                                  </p:childTnLst>
                                </p:cTn>
                              </p:par>
                              <p:par>
                                <p:cTn id="9" presetID="10" presetClass="exit" presetSubtype="0" fill="hold" nodeType="withEffect">
                                  <p:stCondLst>
                                    <p:cond delay="0"/>
                                  </p:stCondLst>
                                  <p:childTnLst>
                                    <p:animEffect transition="out" filter="fade">
                                      <p:cBhvr>
                                        <p:cTn id="10" dur="600"/>
                                        <p:tgtEl>
                                          <p:spTgt spid="5001"/>
                                        </p:tgtEl>
                                      </p:cBhvr>
                                    </p:animEffect>
                                    <p:set>
                                      <p:cBhvr>
                                        <p:cTn id="11" dur="1" fill="hold">
                                          <p:stCondLst>
                                            <p:cond delay="599"/>
                                          </p:stCondLst>
                                        </p:cTn>
                                        <p:tgtEl>
                                          <p:spTgt spid="5001"/>
                                        </p:tgtEl>
                                        <p:attrNameLst>
                                          <p:attrName>style.visibility</p:attrName>
                                        </p:attrNameLst>
                                      </p:cBhvr>
                                      <p:to>
                                        <p:strVal val="hidden"/>
                                      </p:to>
                                    </p:set>
                                  </p:childTnLst>
                                </p:cTn>
                              </p:par>
                              <p:par>
                                <p:cTn id="12" presetID="10" presetClass="entr" presetSubtype="0" fill="hold" grpId="0" nodeType="withEffect">
                                  <p:stCondLst>
                                    <p:cond delay="50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400"/>
                                        <p:tgtEl>
                                          <p:spTgt spid="3"/>
                                        </p:tgtEl>
                                      </p:cBhvr>
                                    </p:animEffect>
                                  </p:childTnLst>
                                </p:cTn>
                              </p:par>
                              <p:par>
                                <p:cTn id="15" presetID="10" presetClass="entr" presetSubtype="0" fill="hold" nodeType="withEffect">
                                  <p:stCondLst>
                                    <p:cond delay="700"/>
                                  </p:stCondLst>
                                  <p:childTnLst>
                                    <p:set>
                                      <p:cBhvr>
                                        <p:cTn id="16" dur="1" fill="hold">
                                          <p:stCondLst>
                                            <p:cond delay="0"/>
                                          </p:stCondLst>
                                        </p:cTn>
                                        <p:tgtEl>
                                          <p:spTgt spid="10004"/>
                                        </p:tgtEl>
                                        <p:attrNameLst>
                                          <p:attrName>style.visibility</p:attrName>
                                        </p:attrNameLst>
                                      </p:cBhvr>
                                      <p:to>
                                        <p:strVal val="visible"/>
                                      </p:to>
                                    </p:set>
                                    <p:animEffect transition="in" filter="fade">
                                      <p:cBhvr>
                                        <p:cTn id="17" dur="450"/>
                                        <p:tgtEl>
                                          <p:spTgt spid="10004"/>
                                        </p:tgtEl>
                                      </p:cBhvr>
                                    </p:animEffect>
                                  </p:childTnLst>
                                </p:cTn>
                              </p:par>
                              <p:par>
                                <p:cTn id="18" presetID="10" presetClass="entr" presetSubtype="0" fill="hold" grpId="0" nodeType="withEffect">
                                  <p:stCondLst>
                                    <p:cond delay="70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450"/>
                                        <p:tgtEl>
                                          <p:spTgt spid="14"/>
                                        </p:tgtEl>
                                      </p:cBhvr>
                                    </p:animEffect>
                                  </p:childTnLst>
                                </p:cTn>
                              </p:par>
                              <p:par>
                                <p:cTn id="21" presetID="10" presetClass="entr" presetSubtype="0" fill="hold" grpId="0" nodeType="withEffect">
                                  <p:stCondLst>
                                    <p:cond delay="70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450"/>
                                        <p:tgtEl>
                                          <p:spTgt spid="15"/>
                                        </p:tgtEl>
                                      </p:cBhvr>
                                    </p:animEffect>
                                  </p:childTnLst>
                                </p:cTn>
                              </p:par>
                              <p:par>
                                <p:cTn id="24" presetID="10" presetClass="entr" presetSubtype="0" fill="hold" grpId="0" nodeType="withEffect">
                                  <p:stCondLst>
                                    <p:cond delay="100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par>
                                <p:cTn id="27" presetID="10" presetClass="entr" presetSubtype="0" fill="hold" nodeType="withEffect">
                                  <p:stCondLst>
                                    <p:cond delay="1000"/>
                                  </p:stCondLst>
                                  <p:childTnLst>
                                    <p:set>
                                      <p:cBhvr>
                                        <p:cTn id="28" dur="1" fill="hold">
                                          <p:stCondLst>
                                            <p:cond delay="0"/>
                                          </p:stCondLst>
                                        </p:cTn>
                                        <p:tgtEl>
                                          <p:spTgt spid="40015"/>
                                        </p:tgtEl>
                                        <p:attrNameLst>
                                          <p:attrName>style.visibility</p:attrName>
                                        </p:attrNameLst>
                                      </p:cBhvr>
                                      <p:to>
                                        <p:strVal val="visible"/>
                                      </p:to>
                                    </p:set>
                                    <p:animEffect transition="in" filter="fade">
                                      <p:cBhvr>
                                        <p:cTn id="29" dur="500"/>
                                        <p:tgtEl>
                                          <p:spTgt spid="40015"/>
                                        </p:tgtEl>
                                      </p:cBhvr>
                                    </p:animEffect>
                                  </p:childTnLst>
                                </p:cTn>
                              </p:par>
                              <p:par>
                                <p:cTn id="30" presetID="10" presetClass="entr" presetSubtype="0" fill="hold" nodeType="withEffect">
                                  <p:stCondLst>
                                    <p:cond delay="1000"/>
                                  </p:stCondLst>
                                  <p:childTnLst>
                                    <p:set>
                                      <p:cBhvr>
                                        <p:cTn id="31" dur="1" fill="hold">
                                          <p:stCondLst>
                                            <p:cond delay="0"/>
                                          </p:stCondLst>
                                        </p:cTn>
                                        <p:tgtEl>
                                          <p:spTgt spid="40115"/>
                                        </p:tgtEl>
                                        <p:attrNameLst>
                                          <p:attrName>style.visibility</p:attrName>
                                        </p:attrNameLst>
                                      </p:cBhvr>
                                      <p:to>
                                        <p:strVal val="visible"/>
                                      </p:to>
                                    </p:set>
                                    <p:animEffect transition="in" filter="fade">
                                      <p:cBhvr>
                                        <p:cTn id="32" dur="500"/>
                                        <p:tgtEl>
                                          <p:spTgt spid="40115"/>
                                        </p:tgtEl>
                                      </p:cBhvr>
                                    </p:animEffect>
                                  </p:childTnLst>
                                </p:cTn>
                              </p:par>
                              <p:par>
                                <p:cTn id="33" presetID="10" presetClass="entr" presetSubtype="0" fill="hold" nodeType="withEffect">
                                  <p:stCondLst>
                                    <p:cond delay="1000"/>
                                  </p:stCondLst>
                                  <p:childTnLst>
                                    <p:set>
                                      <p:cBhvr>
                                        <p:cTn id="34" dur="1" fill="hold">
                                          <p:stCondLst>
                                            <p:cond delay="0"/>
                                          </p:stCondLst>
                                        </p:cTn>
                                        <p:tgtEl>
                                          <p:spTgt spid="40215"/>
                                        </p:tgtEl>
                                        <p:attrNameLst>
                                          <p:attrName>style.visibility</p:attrName>
                                        </p:attrNameLst>
                                      </p:cBhvr>
                                      <p:to>
                                        <p:strVal val="visible"/>
                                      </p:to>
                                    </p:set>
                                    <p:animEffect transition="in" filter="fade">
                                      <p:cBhvr>
                                        <p:cTn id="35" dur="500"/>
                                        <p:tgtEl>
                                          <p:spTgt spid="40215"/>
                                        </p:tgtEl>
                                      </p:cBhvr>
                                    </p:animEffect>
                                  </p:childTnLst>
                                </p:cTn>
                              </p:par>
                              <p:par>
                                <p:cTn id="36" presetID="1" presetClass="entr" presetSubtype="0" fill="hold" grpId="0" nodeType="withEffect">
                                  <p:stCondLst>
                                    <p:cond delay="1000"/>
                                  </p:stCondLst>
                                  <p:childTnLst>
                                    <p:set>
                                      <p:cBhvr>
                                        <p:cTn id="37"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4" grpId="0" animBg="1"/>
      <p:bldP spid="15" grpId="0"/>
      <p:bldP spid="9" grpId="0"/>
      <p:bldP spid="7" grpId="0"/>
    </p:bldLst>
  </p:timing>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21</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0558B"/>
                          </a:solidFill>
                          <a:latin typeface="Cambria Math"/>
                        </a:rPr>
                        <m:t>𝒯</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A82222"/>
                          </a:solidFill>
                          <a:latin typeface="Cambria Math"/>
                        </a:rPr>
                        <m:t>𝒜</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ℬ</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xmlns:m="http://schemas.openxmlformats.org/officeDocument/2006/math">
          <p:sp>
            <p:nvSpPr>
              <p:cNvPr id="1001" name="PIE dynamics"/>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𝒞</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𝒟</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a:p>
            </p:txBody>
          </p:sp>
        </mc:Choice>
        <mc:Fallback xmlns="" xmlns:m="http://schemas.openxmlformats.org/officeDocument/2006/math">
          <p:sp>
            <p:nvSpPr>
              <p:cNvPr id="1002" name="PIE output"/>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BlockMorph21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𝒯</m:t>
                      </m:r>
                      <m:r>
                        <a:rPr sz="2100">
                          <a:solidFill>
                            <a:srgbClr val="252529"/>
                          </a:solidFill>
                          <a:latin typeface="Cambria Math"/>
                        </a:rPr>
                        <m:t>,</m:t>
                      </m:r>
                      <m:r>
                        <a:rPr sz="2100">
                          <a:solidFill>
                            <a:srgbClr val="252529"/>
                          </a:solidFill>
                          <a:latin typeface="Cambria Math"/>
                        </a:rPr>
                        <m:t>𝒜</m:t>
                      </m:r>
                      <m:r>
                        <a:rPr sz="2100">
                          <a:solidFill>
                            <a:srgbClr val="252529"/>
                          </a:solidFill>
                          <a:latin typeface="Cambria Math"/>
                        </a:rPr>
                        <m:t>,</m:t>
                      </m:r>
                      <m:r>
                        <a:rPr sz="2100">
                          <a:solidFill>
                            <a:srgbClr val="252529"/>
                          </a:solidFill>
                          <a:latin typeface="Cambria Math"/>
                        </a:rPr>
                        <m:t>ℬ</m:t>
                      </m:r>
                      <m:r>
                        <a:rPr sz="2100">
                          <a:solidFill>
                            <a:srgbClr val="252529"/>
                          </a:solidFill>
                          <a:latin typeface="Cambria Math"/>
                        </a:rPr>
                        <m:t>,</m:t>
                      </m:r>
                      <m:r>
                        <a:rPr sz="2100">
                          <a:solidFill>
                            <a:srgbClr val="252529"/>
                          </a:solidFill>
                          <a:latin typeface="Cambria Math"/>
                        </a:rPr>
                        <m:t>𝒞</m:t>
                      </m:r>
                      <m:r>
                        <a:rPr sz="2100">
                          <a:solidFill>
                            <a:srgbClr val="252529"/>
                          </a:solidFill>
                          <a:latin typeface="Cambria Math"/>
                        </a:rPr>
                        <m:t>,</m:t>
                      </m:r>
                      <m:r>
                        <a:rPr sz="2100">
                          <a:solidFill>
                            <a:srgbClr val="252529"/>
                          </a:solidFill>
                          <a:latin typeface="Cambria Math"/>
                        </a:rPr>
                        <m:t>𝒟</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a:p>
            </p:txBody>
          </p:sp>
        </mc:Choice>
        <mc:Fallback xmlns="" xmlns:m="http://schemas.openxmlformats.org/officeDocument/2006/math">
          <p:sp>
            <p:nvSpPr>
              <p:cNvPr id="1003" name="PI operator class"/>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BlockMorph21_9"/>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1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1_12"/>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1_9"/>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1_0"/>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1_16"/>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1_14"/>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1_11"/>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1_5"/>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1_1"/>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1_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0999" name="PDE dynamics leaving">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 xmlns:m="http://schemas.openxmlformats.org/officeDocument/2006/math">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1_12"/>
                <a:stretch>
                  <a:fillRect/>
                </a:stretch>
              </a:blipFill>
            </p:spPr>
            <p:txBody>
              <a:bodyPr/>
              <a:lstStyle/>
              <a:p>
                <a:r>
                  <a:rPr lang="en-NL">
                    <a:noFill/>
                  </a:rPr>
                  <a:t> </a:t>
                </a:r>
              </a:p>
            </p:txBody>
          </p:sp>
        </mc:Fallback>
      </mc:AlternateContent>
      <p:sp>
        <p:nvSpPr>
          <p:cNvPr id="7" name="TextBox 6">
            <a:extLst>
              <a:ext uri="{FF2B5EF4-FFF2-40B4-BE49-F238E27FC236}">
                <a16:creationId xmlns:a16="http://schemas.microsoft.com/office/drawing/2014/main" id="{D294C78E-1C7A-ACC8-BB43-020F1994F96F}"/>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150"/>
                                  </p:stCondLst>
                                  <p:childTnLst>
                                    <p:set>
                                      <p:cBhvr>
                                        <p:cTn id="6" dur="1" fill="hold">
                                          <p:stCondLst>
                                            <p:cond delay="1149"/>
                                          </p:stCondLst>
                                        </p:cTn>
                                        <p:tgtEl>
                                          <p:spTgt spid="40015"/>
                                        </p:tgtEl>
                                        <p:attrNameLst>
                                          <p:attrName>style.visibility</p:attrName>
                                        </p:attrNameLst>
                                      </p:cBhvr>
                                      <p:to>
                                        <p:strVal val="visible"/>
                                      </p:to>
                                    </p:set>
                                    <p:animMotion origin="layout" path="M 0 0 L -0.24027778 -0.1382716 E" pathEditMode="relative">
                                      <p:cBhvr from="" to="">
                                        <p:cTn id="7" dur="1150" fill="hold">
                                          <p:stCondLst>
                                            <p:cond delay="0"/>
                                          </p:stCondLst>
                                        </p:cTn>
                                        <p:tgtEl>
                                          <p:spTgt spid="40015"/>
                                        </p:tgtEl>
                                        <p:attrNameLst>
                                          <p:attrName>ppt_x</p:attrName>
                                          <p:attrName>ppt_y</p:attrName>
                                        </p:attrNameLst>
                                      </p:cBhvr>
                                    </p:animMotion>
                                    <p:animScale>
                                      <p:cBhvr>
                                        <p:cTn id="8" dur="1150" fill="hold">
                                          <p:stCondLst>
                                            <p:cond delay="0"/>
                                          </p:stCondLst>
                                        </p:cTn>
                                        <p:tgtEl>
                                          <p:spTgt spid="40015"/>
                                        </p:tgtEl>
                                      </p:cBhvr>
                                      <p:from x="100000" y="100000"/>
                                      <p:to x="15000" y="15000"/>
                                    </p:animScale>
                                  </p:childTnLst>
                                </p:cTn>
                              </p:par>
                              <p:par>
                                <p:cTn id="9" presetID="0" presetClass="path" presetSubtype="0" accel="50000" decel="50000" fill="hold" nodeType="withEffect">
                                  <p:stCondLst>
                                    <p:cond delay="150"/>
                                  </p:stCondLst>
                                  <p:childTnLst>
                                    <p:set>
                                      <p:cBhvr>
                                        <p:cTn id="10" dur="1" fill="hold">
                                          <p:stCondLst>
                                            <p:cond delay="1149"/>
                                          </p:stCondLst>
                                        </p:cTn>
                                        <p:tgtEl>
                                          <p:spTgt spid="40115"/>
                                        </p:tgtEl>
                                        <p:attrNameLst>
                                          <p:attrName>style.visibility</p:attrName>
                                        </p:attrNameLst>
                                      </p:cBhvr>
                                      <p:to>
                                        <p:strVal val="visible"/>
                                      </p:to>
                                    </p:set>
                                    <p:animMotion origin="layout" path="M 0 0 L -0.27638889 -0.1382716 E" pathEditMode="relative">
                                      <p:cBhvr from="" to="">
                                        <p:cTn id="11" dur="1150" fill="hold">
                                          <p:stCondLst>
                                            <p:cond delay="0"/>
                                          </p:stCondLst>
                                        </p:cTn>
                                        <p:tgtEl>
                                          <p:spTgt spid="40115"/>
                                        </p:tgtEl>
                                        <p:attrNameLst>
                                          <p:attrName>ppt_x</p:attrName>
                                          <p:attrName>ppt_y</p:attrName>
                                        </p:attrNameLst>
                                      </p:cBhvr>
                                    </p:animMotion>
                                    <p:animScale>
                                      <p:cBhvr>
                                        <p:cTn id="12" dur="1150" fill="hold">
                                          <p:stCondLst>
                                            <p:cond delay="0"/>
                                          </p:stCondLst>
                                        </p:cTn>
                                        <p:tgtEl>
                                          <p:spTgt spid="40115"/>
                                        </p:tgtEl>
                                      </p:cBhvr>
                                      <p:from x="100000" y="100000"/>
                                      <p:to x="15000" y="15000"/>
                                    </p:animScale>
                                  </p:childTnLst>
                                </p:cTn>
                              </p:par>
                              <p:par>
                                <p:cTn id="13" presetID="10" presetClass="exit" presetSubtype="0" fill="hold" grpId="0" nodeType="withEffect">
                                  <p:stCondLst>
                                    <p:cond delay="0"/>
                                  </p:stCondLst>
                                  <p:childTnLst>
                                    <p:animEffect transition="out" filter="fade">
                                      <p:cBhvr>
                                        <p:cTn id="14" dur="500"/>
                                        <p:tgtEl>
                                          <p:spTgt spid="40999"/>
                                        </p:tgtEl>
                                      </p:cBhvr>
                                    </p:animEffect>
                                    <p:set>
                                      <p:cBhvr>
                                        <p:cTn id="15" dur="1" fill="hold">
                                          <p:stCondLst>
                                            <p:cond delay="499"/>
                                          </p:stCondLst>
                                        </p:cTn>
                                        <p:tgtEl>
                                          <p:spTgt spid="40999"/>
                                        </p:tgtEl>
                                        <p:attrNameLst>
                                          <p:attrName>style.visibility</p:attrName>
                                        </p:attrNameLst>
                                      </p:cBhvr>
                                      <p:to>
                                        <p:strVal val="hidden"/>
                                      </p:to>
                                    </p:set>
                                  </p:childTnLst>
                                </p:cTn>
                              </p:par>
                              <p:par>
                                <p:cTn id="16" presetID="10" presetClass="exit" presetSubtype="0" fill="hold" nodeType="withEffect">
                                  <p:stCondLst>
                                    <p:cond delay="0"/>
                                  </p:stCondLst>
                                  <p:childTnLst>
                                    <p:animEffect transition="out" filter="fade">
                                      <p:cBhvr>
                                        <p:cTn id="17" dur="400"/>
                                        <p:tgtEl>
                                          <p:spTgt spid="40215"/>
                                        </p:tgtEl>
                                      </p:cBhvr>
                                    </p:animEffect>
                                    <p:set>
                                      <p:cBhvr>
                                        <p:cTn id="18" dur="1" fill="hold">
                                          <p:stCondLst>
                                            <p:cond delay="399"/>
                                          </p:stCondLst>
                                        </p:cTn>
                                        <p:tgtEl>
                                          <p:spTgt spid="40215"/>
                                        </p:tgtEl>
                                        <p:attrNameLst>
                                          <p:attrName>style.visibility</p:attrName>
                                        </p:attrNameLst>
                                      </p:cBhvr>
                                      <p:to>
                                        <p:strVal val="hidden"/>
                                      </p:to>
                                    </p:set>
                                  </p:childTnLst>
                                </p:cTn>
                              </p:par>
                              <p:par>
                                <p:cTn id="19" presetID="10" presetClass="exit" presetSubtype="0" fill="hold" nodeType="withEffect">
                                  <p:stCondLst>
                                    <p:cond delay="1080"/>
                                  </p:stCondLst>
                                  <p:childTnLst>
                                    <p:animEffect transition="out" filter="fade">
                                      <p:cBhvr>
                                        <p:cTn id="20" dur="300"/>
                                        <p:tgtEl>
                                          <p:spTgt spid="40015"/>
                                        </p:tgtEl>
                                      </p:cBhvr>
                                    </p:animEffect>
                                    <p:set>
                                      <p:cBhvr>
                                        <p:cTn id="21" dur="1" fill="hold">
                                          <p:stCondLst>
                                            <p:cond delay="299"/>
                                          </p:stCondLst>
                                        </p:cTn>
                                        <p:tgtEl>
                                          <p:spTgt spid="40015"/>
                                        </p:tgtEl>
                                        <p:attrNameLst>
                                          <p:attrName>style.visibility</p:attrName>
                                        </p:attrNameLst>
                                      </p:cBhvr>
                                      <p:to>
                                        <p:strVal val="hidden"/>
                                      </p:to>
                                    </p:set>
                                  </p:childTnLst>
                                </p:cTn>
                              </p:par>
                              <p:par>
                                <p:cTn id="22" presetID="10" presetClass="exit" presetSubtype="0" fill="hold" nodeType="withEffect">
                                  <p:stCondLst>
                                    <p:cond delay="1080"/>
                                  </p:stCondLst>
                                  <p:childTnLst>
                                    <p:animEffect transition="out" filter="fade">
                                      <p:cBhvr>
                                        <p:cTn id="23" dur="300"/>
                                        <p:tgtEl>
                                          <p:spTgt spid="40115"/>
                                        </p:tgtEl>
                                      </p:cBhvr>
                                    </p:animEffect>
                                    <p:set>
                                      <p:cBhvr>
                                        <p:cTn id="24" dur="1" fill="hold">
                                          <p:stCondLst>
                                            <p:cond delay="299"/>
                                          </p:stCondLst>
                                        </p:cTn>
                                        <p:tgtEl>
                                          <p:spTgt spid="40115"/>
                                        </p:tgtEl>
                                        <p:attrNameLst>
                                          <p:attrName>style.visibility</p:attrName>
                                        </p:attrNameLst>
                                      </p:cBhvr>
                                      <p:to>
                                        <p:strVal val="hidden"/>
                                      </p:to>
                                    </p:set>
                                  </p:childTnLst>
                                </p:cTn>
                              </p:par>
                              <p:par>
                                <p:cTn id="25" presetID="10" presetClass="entr" presetSubtype="0" fill="hold" grpId="0" nodeType="withEffect">
                                  <p:stCondLst>
                                    <p:cond delay="1120"/>
                                  </p:stCondLst>
                                  <p:childTnLst>
                                    <p:set>
                                      <p:cBhvr>
                                        <p:cTn id="26" dur="1" fill="hold">
                                          <p:stCondLst>
                                            <p:cond delay="0"/>
                                          </p:stCondLst>
                                        </p:cTn>
                                        <p:tgtEl>
                                          <p:spTgt spid="1001"/>
                                        </p:tgtEl>
                                        <p:attrNameLst>
                                          <p:attrName>style.visibility</p:attrName>
                                        </p:attrNameLst>
                                      </p:cBhvr>
                                      <p:to>
                                        <p:strVal val="visible"/>
                                      </p:to>
                                    </p:set>
                                    <p:animEffect transition="in" filter="fade">
                                      <p:cBhvr>
                                        <p:cTn id="27" dur="500"/>
                                        <p:tgtEl>
                                          <p:spTgt spid="1001"/>
                                        </p:tgtEl>
                                      </p:cBhvr>
                                    </p:animEffect>
                                  </p:childTnLst>
                                </p:cTn>
                              </p:par>
                              <p:par>
                                <p:cTn id="28" presetID="10" presetClass="entr" presetSubtype="0" fill="hold" grpId="0" nodeType="withEffect">
                                  <p:stCondLst>
                                    <p:cond delay="1500"/>
                                  </p:stCondLst>
                                  <p:childTnLst>
                                    <p:set>
                                      <p:cBhvr>
                                        <p:cTn id="29" dur="1" fill="hold">
                                          <p:stCondLst>
                                            <p:cond delay="0"/>
                                          </p:stCondLst>
                                        </p:cTn>
                                        <p:tgtEl>
                                          <p:spTgt spid="1002"/>
                                        </p:tgtEl>
                                        <p:attrNameLst>
                                          <p:attrName>style.visibility</p:attrName>
                                        </p:attrNameLst>
                                      </p:cBhvr>
                                      <p:to>
                                        <p:strVal val="visible"/>
                                      </p:to>
                                    </p:set>
                                    <p:animEffect transition="in" filter="fade">
                                      <p:cBhvr>
                                        <p:cTn id="30" dur="400"/>
                                        <p:tgtEl>
                                          <p:spTgt spid="1002"/>
                                        </p:tgtEl>
                                      </p:cBhvr>
                                    </p:animEffect>
                                  </p:childTnLst>
                                </p:cTn>
                              </p:par>
                              <p:par>
                                <p:cTn id="31" presetID="10" presetClass="entr" presetSubtype="0" fill="hold" grpId="0" nodeType="withEffect">
                                  <p:stCondLst>
                                    <p:cond delay="1700"/>
                                  </p:stCondLst>
                                  <p:childTnLst>
                                    <p:set>
                                      <p:cBhvr>
                                        <p:cTn id="32" dur="1" fill="hold">
                                          <p:stCondLst>
                                            <p:cond delay="0"/>
                                          </p:stCondLst>
                                        </p:cTn>
                                        <p:tgtEl>
                                          <p:spTgt spid="1003"/>
                                        </p:tgtEl>
                                        <p:attrNameLst>
                                          <p:attrName>style.visibility</p:attrName>
                                        </p:attrNameLst>
                                      </p:cBhvr>
                                      <p:to>
                                        <p:strVal val="visible"/>
                                      </p:to>
                                    </p:set>
                                    <p:animEffect transition="in" filter="fade">
                                      <p:cBhvr>
                                        <p:cTn id="33" dur="400"/>
                                        <p:tgtEl>
                                          <p:spTgt spid="10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1" grpId="0"/>
      <p:bldP spid="1002" grpId="0"/>
      <p:bldP spid="1003" grpId="0"/>
      <p:bldP spid="40999"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5CDE13-A061-7CB4-3A44-A748B43571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BBE51A-BC04-890D-3165-355F4186D3BE}"/>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A9C1B120-D9F2-AC36-BB8B-B1F6831F5CA5}"/>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5168ED1B-F620-D767-0876-4B6442D840D3}"/>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05C7FDF-1704-F2A2-4B9E-9EAAFB13C0EA}"/>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22</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5ECA7971-53A7-D7CB-B477-B805EC47E47F}"/>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5ECDAFE3-043E-502F-92F7-D4E2FC211313}"/>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a:extLst>
              <a:ext uri="{FF2B5EF4-FFF2-40B4-BE49-F238E27FC236}">
                <a16:creationId xmlns:a16="http://schemas.microsoft.com/office/drawing/2014/main" id="{89CDDAB8-1BFB-9D2C-6370-F87D7BC13B4D}"/>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a:extLst>
                  <a:ext uri="{FF2B5EF4-FFF2-40B4-BE49-F238E27FC236}">
                    <a16:creationId xmlns:a16="http://schemas.microsoft.com/office/drawing/2014/main" id="{86F6AED8-7392-17F4-B11C-4806E6410519}"/>
                  </a:ext>
                </a:extLst>
              </p:cNvPr>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300" b="0" i="0" smtClean="0">
                          <a:solidFill>
                            <a:schemeClr val="tx1"/>
                          </a:solidFill>
                          <a:latin typeface="Cambria Math" panose="02040503050406030204" pitchFamily="18" charset="0"/>
                        </a:rPr>
                        <m:t>T</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A</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B</m:t>
                      </m:r>
                      <m:r>
                        <a:rPr sz="2300" smtClean="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1" name="PIE dynamics">
                <a:extLst>
                  <a:ext uri="{FF2B5EF4-FFF2-40B4-BE49-F238E27FC236}">
                    <a16:creationId xmlns:a16="http://schemas.microsoft.com/office/drawing/2014/main" id="{86F6AED8-7392-17F4-B11C-4806E6410519}"/>
                  </a:ext>
                </a:extLst>
              </p:cNvPr>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a:extLst>
                  <a:ext uri="{FF2B5EF4-FFF2-40B4-BE49-F238E27FC236}">
                    <a16:creationId xmlns:a16="http://schemas.microsoft.com/office/drawing/2014/main" id="{BAB9D6F2-6CAD-FA8C-BFBE-FFE75D1E3770}"/>
                  </a:ext>
                </a:extLst>
              </p:cNvPr>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C</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D</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2" name="PIE output">
                <a:extLst>
                  <a:ext uri="{FF2B5EF4-FFF2-40B4-BE49-F238E27FC236}">
                    <a16:creationId xmlns:a16="http://schemas.microsoft.com/office/drawing/2014/main" id="{BAB9D6F2-6CAD-FA8C-BFBE-FFE75D1E3770}"/>
                  </a:ext>
                </a:extLst>
              </p:cNvPr>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a:extLst>
                  <a:ext uri="{FF2B5EF4-FFF2-40B4-BE49-F238E27FC236}">
                    <a16:creationId xmlns:a16="http://schemas.microsoft.com/office/drawing/2014/main" id="{4462988A-FC6D-9637-9872-9EB3D5335B4B}"/>
                  </a:ext>
                </a:extLst>
              </p:cNvPr>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100" b="0" i="0" smtClean="0">
                          <a:solidFill>
                            <a:srgbClr val="252529"/>
                          </a:solidFill>
                          <a:latin typeface="Cambria Math" panose="02040503050406030204" pitchFamily="18" charset="0"/>
                        </a:rPr>
                        <m:t>T</m:t>
                      </m:r>
                      <m:r>
                        <a:rPr lang="en-US" sz="2100" b="0" i="0" smtClean="0">
                          <a:solidFill>
                            <a:srgbClr val="252529"/>
                          </a:solidFill>
                          <a:latin typeface="Cambria Math" panose="02040503050406030204" pitchFamily="18" charset="0"/>
                        </a:rPr>
                        <m:t>,</m:t>
                      </m:r>
                      <m:r>
                        <m:rPr>
                          <m:sty m:val="p"/>
                        </m:rPr>
                        <a:rPr lang="en-US" sz="2100" b="0" i="0" smtClean="0">
                          <a:solidFill>
                            <a:srgbClr val="252529"/>
                          </a:solidFill>
                          <a:latin typeface="Cambria Math" panose="02040503050406030204" pitchFamily="18" charset="0"/>
                        </a:rPr>
                        <m:t>A</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B</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C</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D</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dirty="0"/>
              </a:p>
            </p:txBody>
          </p:sp>
        </mc:Choice>
        <mc:Fallback xmlns="">
          <p:sp>
            <p:nvSpPr>
              <p:cNvPr id="1003" name="PI operator class">
                <a:extLst>
                  <a:ext uri="{FF2B5EF4-FFF2-40B4-BE49-F238E27FC236}">
                    <a16:creationId xmlns:a16="http://schemas.microsoft.com/office/drawing/2014/main" id="{4462988A-FC6D-9637-9872-9EB3D5335B4B}"/>
                  </a:ext>
                </a:extLst>
              </p:cNvPr>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6"/>
                <a:stretch>
                  <a:fillRect/>
                </a:stretch>
              </a:blipFill>
              <a:ln>
                <a:noFill/>
              </a:ln>
            </p:spPr>
            <p:txBody>
              <a:bodyPr/>
              <a:lstStyle/>
              <a:p>
                <a:r>
                  <a:rPr lang="en-NL">
                    <a:noFill/>
                  </a:rPr>
                  <a:t> </a:t>
                </a:r>
              </a:p>
            </p:txBody>
          </p:sp>
        </mc:Fallback>
      </mc:AlternateContent>
      <p:grpSp>
        <p:nvGrpSpPr>
          <p:cNvPr id="10001" name="!!PDE block">
            <a:extLst>
              <a:ext uri="{FF2B5EF4-FFF2-40B4-BE49-F238E27FC236}">
                <a16:creationId xmlns:a16="http://schemas.microsoft.com/office/drawing/2014/main" id="{9D4D03F3-C28F-10D8-D6A6-39F0C882189F}"/>
              </a:ext>
            </a:extLst>
          </p:cNvPr>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D9E334EA-B751-6035-BF8A-A8675D6F954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668073C0-537D-7F43-2BE4-E546FCF59B8B}"/>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523FE0DA-AFB0-525C-E77A-DCA5D3EEC582}"/>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A0F62A5-E79D-91A0-7979-4E5A47C41158}"/>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F7414072-AFC4-E380-6FBD-B54A4281F23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5FAC8A70-2170-E4F8-E787-28D0ADBE40BE}"/>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4225290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23</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Addition"/>
              <p:cNvSpPr/>
              <p:nvPr/>
            </p:nvSpPr>
            <p:spPr>
              <a:xfrm>
                <a:off x="34988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m:t>
                      </m:r>
                      <m:r>
                        <a:rPr lang="en-US" sz="2400" b="0" i="0" smtClean="0">
                          <a:solidFill>
                            <a:srgbClr val="252529"/>
                          </a:solidFill>
                          <a:latin typeface="Cambria Math" panose="02040503050406030204" pitchFamily="18" charset="0"/>
                        </a:rPr>
                        <m:t>+</m:t>
                      </m:r>
                      <m:r>
                        <m:rPr>
                          <m:sty m:val="p"/>
                        </m:rPr>
                        <a:rPr lang="en-US" sz="2400" b="0" i="0" smtClean="0">
                          <a:solidFill>
                            <a:srgbClr val="252529"/>
                          </a:solidFill>
                          <a:latin typeface="Cambria Math" panose="02040503050406030204" pitchFamily="18" charset="0"/>
                        </a:rPr>
                        <m:t>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1" name="Addition"/>
              <p:cNvSpPr>
                <a:spLocks noRot="1" noChangeAspect="1" noMove="1" noResize="1" noEditPoints="1" noAdjustHandles="1" noChangeArrowheads="1" noChangeShapeType="1" noTextEdit="1"/>
              </p:cNvSpPr>
              <p:nvPr/>
            </p:nvSpPr>
            <p:spPr>
              <a:xfrm>
                <a:off x="3498850" y="2687320"/>
                <a:ext cx="2603500" cy="67056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Composition"/>
              <p:cNvSpPr/>
              <p:nvPr/>
            </p:nvSpPr>
            <p:spPr>
              <a:xfrm>
                <a:off x="62039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2" name="Composition"/>
              <p:cNvSpPr>
                <a:spLocks noRot="1" noChangeAspect="1" noMove="1" noResize="1" noEditPoints="1" noAdjustHandles="1" noChangeArrowheads="1" noChangeShapeType="1" noTextEdit="1"/>
              </p:cNvSpPr>
              <p:nvPr/>
            </p:nvSpPr>
            <p:spPr>
              <a:xfrm>
                <a:off x="6203950" y="2687320"/>
                <a:ext cx="2603500" cy="67056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Adjoint"/>
              <p:cNvSpPr/>
              <p:nvPr/>
            </p:nvSpPr>
            <p:spPr>
              <a:xfrm>
                <a:off x="34988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400" b="0" i="1" smtClean="0">
                              <a:solidFill>
                                <a:srgbClr val="252529"/>
                              </a:solidFill>
                              <a:latin typeface="Cambria Math" panose="02040503050406030204" pitchFamily="18" charset="0"/>
                            </a:rPr>
                          </m:ctrlPr>
                        </m:sSupPr>
                        <m:e>
                          <m:r>
                            <m:rPr>
                              <m:sty m:val="p"/>
                            </m:rPr>
                            <a:rPr lang="en-US" sz="2400" b="0" i="1" smtClean="0">
                              <a:solidFill>
                                <a:srgbClr val="252529"/>
                              </a:solidFill>
                              <a:latin typeface="Cambria Math" panose="02040503050406030204" pitchFamily="18" charset="0"/>
                            </a:rPr>
                            <m:t>A</m:t>
                          </m:r>
                        </m:e>
                        <m:sup>
                          <m:r>
                            <a:rPr sz="2400">
                              <a:solidFill>
                                <a:srgbClr val="252529"/>
                              </a:solidFill>
                              <a:latin typeface="Cambria Math"/>
                            </a:rPr>
                            <m:t>⊤</m:t>
                          </m:r>
                        </m:sup>
                      </m:sSup>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3" name="Adjoint"/>
              <p:cNvSpPr>
                <a:spLocks noRot="1" noChangeAspect="1" noMove="1" noResize="1" noEditPoints="1" noAdjustHandles="1" noChangeArrowheads="1" noChangeShapeType="1" noTextEdit="1"/>
              </p:cNvSpPr>
              <p:nvPr/>
            </p:nvSpPr>
            <p:spPr>
              <a:xfrm>
                <a:off x="3498850" y="3373120"/>
                <a:ext cx="2603500" cy="67056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4" name="Concatenation"/>
              <p:cNvSpPr/>
              <p:nvPr/>
            </p:nvSpPr>
            <p:spPr>
              <a:xfrm>
                <a:off x="62039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lang="en-US" sz="2400" b="0" i="0" smtClean="0">
                              <a:solidFill>
                                <a:srgbClr val="252529"/>
                              </a:solidFill>
                              <a:latin typeface="Cambria Math" panose="02040503050406030204" pitchFamily="18" charset="0"/>
                            </a:rPr>
                          </m:ctrlPr>
                        </m:dPr>
                        <m:e>
                          <m:r>
                            <m:rPr>
                              <m:sty m:val="p"/>
                            </m:rPr>
                            <a:rPr lang="en-US" sz="2400" b="0" i="0" smtClean="0">
                              <a:solidFill>
                                <a:srgbClr val="252529"/>
                              </a:solidFill>
                              <a:latin typeface="Cambria Math" panose="02040503050406030204" pitchFamily="18" charset="0"/>
                            </a:rPr>
                            <m:t>A</m:t>
                          </m:r>
                          <m:r>
                            <a:rPr sz="2400" smtClean="0">
                              <a:solidFill>
                                <a:srgbClr val="252529"/>
                              </a:solidFill>
                              <a:latin typeface="Cambria Math"/>
                            </a:rPr>
                            <m:t>  </m:t>
                          </m:r>
                          <m:r>
                            <m:rPr>
                              <m:sty m:val="p"/>
                            </m:rPr>
                            <a:rPr lang="en-US" sz="2400" b="0" i="1" smtClean="0">
                              <a:solidFill>
                                <a:srgbClr val="252529"/>
                              </a:solidFill>
                              <a:latin typeface="Cambria Math" panose="02040503050406030204" pitchFamily="18" charset="0"/>
                            </a:rPr>
                            <m:t>B</m:t>
                          </m:r>
                        </m:e>
                      </m:d>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4" name="Concatenation"/>
              <p:cNvSpPr>
                <a:spLocks noRot="1" noChangeAspect="1" noMove="1" noResize="1" noEditPoints="1" noAdjustHandles="1" noChangeArrowheads="1" noChangeShapeType="1" noTextEdit="1"/>
              </p:cNvSpPr>
              <p:nvPr/>
            </p:nvSpPr>
            <p:spPr>
              <a:xfrm>
                <a:off x="6203950" y="3373120"/>
                <a:ext cx="2603500" cy="670560"/>
              </a:xfrm>
              <a:prstGeom prst="rect">
                <a:avLst/>
              </a:prstGeom>
              <a:blipFill>
                <a:blip r:embed="rId7"/>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7"/>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8"/>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FEF45263-6F75-43C9-6F8B-04DFD4403D9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LMI-like computations</a:t>
            </a: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24</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1001" name="Stability statement"/>
          <p:cNvSpPr/>
          <p:nvPr/>
        </p:nvSpPr>
        <p:spPr>
          <a:xfrm>
            <a:off x="3543300" y="2441575"/>
            <a:ext cx="5207000" cy="323850"/>
          </a:xfrm>
          <a:prstGeom prst="rect">
            <a:avLst/>
          </a:prstGeom>
          <a:noFill/>
          <a:ln>
            <a:noFill/>
          </a:ln>
        </p:spPr>
        <p:txBody>
          <a:bodyPr wrap="none" lIns="0" tIns="0" rIns="0" bIns="0" anchor="ctr">
            <a:noAutofit/>
          </a:bodyPr>
          <a:lstStyle/>
          <a:p>
            <a:pPr algn="ctr">
              <a:buNone/>
            </a:pPr>
            <a:r>
              <a:rPr lang="en-GB" sz="1700" b="0" i="0" u="none" baseline="0">
                <a:solidFill>
                  <a:srgbClr val="252529"/>
                </a:solidFill>
                <a:latin typeface="Aptos"/>
                <a:ea typeface="Aptos"/>
                <a:cs typeface="Aptos"/>
              </a:rPr>
              <a:t>Exponential stability of the PDE</a:t>
            </a:r>
            <a:endParaRPr sz="1700"/>
          </a:p>
        </p:txBody>
      </p:sp>
      <mc:AlternateContent xmlns:mc="http://schemas.openxmlformats.org/markup-compatibility/2006" xmlns:a14="http://schemas.microsoft.com/office/drawing/2010/main">
        <mc:Choice Requires="a14">
          <p:sp>
            <p:nvSpPr>
              <p:cNvPr id="1002" name="Coercive certificate"/>
              <p:cNvSpPr/>
              <p:nvPr/>
            </p:nvSpPr>
            <p:spPr>
              <a:xfrm>
                <a:off x="3543300" y="2806700"/>
                <a:ext cx="5207000" cy="558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2000" b="0" i="1" smtClean="0">
                          <a:solidFill>
                            <a:srgbClr val="252529"/>
                          </a:solidFill>
                          <a:latin typeface="Cambria Math" panose="02040503050406030204" pitchFamily="18" charset="0"/>
                        </a:rPr>
                        <m:t>∃</m:t>
                      </m:r>
                      <m:r>
                        <m:rPr>
                          <m:sty m:val="p"/>
                        </m:rPr>
                        <a:rPr lang="en-US" sz="2000" b="0" i="1" smtClean="0">
                          <a:solidFill>
                            <a:srgbClr val="252529"/>
                          </a:solidFill>
                          <a:latin typeface="Cambria Math" panose="02040503050406030204" pitchFamily="18" charset="0"/>
                        </a:rPr>
                        <m:t>P</m:t>
                      </m:r>
                      <m:r>
                        <a:rPr lang="en-US" sz="2000" b="0" i="1" smtClean="0">
                          <a:solidFill>
                            <a:srgbClr val="252529"/>
                          </a:solidFill>
                          <a:latin typeface="Cambria Math" panose="02040503050406030204" pitchFamily="18" charset="0"/>
                        </a:rPr>
                        <m:t>≽</m:t>
                      </m:r>
                      <m:r>
                        <a:rPr lang="en-US" sz="2000" b="0" i="1" smtClean="0">
                          <a:solidFill>
                            <a:srgbClr val="252529"/>
                          </a:solidFill>
                          <a:latin typeface="Cambria Math" panose="02040503050406030204" pitchFamily="18" charset="0"/>
                        </a:rPr>
                        <m:t>𝜀</m:t>
                      </m:r>
                      <m:r>
                        <m:rPr>
                          <m:sty m:val="p"/>
                        </m:rPr>
                        <a:rPr lang="en-US" sz="2000" b="0" i="1" smtClean="0">
                          <a:solidFill>
                            <a:srgbClr val="252529"/>
                          </a:solidFill>
                          <a:latin typeface="Cambria Math" panose="02040503050406030204" pitchFamily="18" charset="0"/>
                        </a:rPr>
                        <m:t>I</m:t>
                      </m:r>
                      <m:r>
                        <a:rPr lang="en-US" sz="2000" b="0" i="1" smtClean="0">
                          <a:solidFill>
                            <a:srgbClr val="252529"/>
                          </a:solidFill>
                          <a:latin typeface="Cambria Math" panose="02040503050406030204" pitchFamily="18" charset="0"/>
                        </a:rPr>
                        <m:t>,   </m:t>
                      </m:r>
                      <m:r>
                        <a:rPr lang="en-US" sz="2000" b="0" i="1" smtClean="0">
                          <a:solidFill>
                            <a:srgbClr val="252529"/>
                          </a:solidFill>
                          <a:latin typeface="Cambria Math" panose="02040503050406030204" pitchFamily="18" charset="0"/>
                        </a:rPr>
                        <m:t>𝜀</m:t>
                      </m:r>
                      <m:r>
                        <a:rPr lang="en-US" sz="2000" b="0" i="1" smtClean="0">
                          <a:solidFill>
                            <a:srgbClr val="252529"/>
                          </a:solidFill>
                          <a:latin typeface="Cambria Math" panose="02040503050406030204" pitchFamily="18" charset="0"/>
                        </a:rPr>
                        <m:t>&gt;0</m:t>
                      </m:r>
                    </m:oMath>
                  </m:oMathPara>
                </a14:m>
                <a:endParaRPr sz="2000" dirty="0"/>
              </a:p>
            </p:txBody>
          </p:sp>
        </mc:Choice>
        <mc:Fallback xmlns="">
          <p:sp>
            <p:nvSpPr>
              <p:cNvPr id="1002" name="Coercive certificate"/>
              <p:cNvSpPr>
                <a:spLocks noRot="1" noChangeAspect="1" noMove="1" noResize="1" noEditPoints="1" noAdjustHandles="1" noChangeArrowheads="1" noChangeShapeType="1" noTextEdit="1"/>
              </p:cNvSpPr>
              <p:nvPr/>
            </p:nvSpPr>
            <p:spPr>
              <a:xfrm>
                <a:off x="3543300" y="2806700"/>
                <a:ext cx="5207000" cy="55880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Stability LPI"/>
              <p:cNvSpPr/>
              <p:nvPr/>
            </p:nvSpPr>
            <p:spPr>
              <a:xfrm>
                <a:off x="3543300" y="3328670"/>
                <a:ext cx="5207000" cy="530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PA</m:t>
                      </m:r>
                      <m:r>
                        <a:rPr sz="1900">
                          <a:solidFill>
                            <a:srgbClr val="252529"/>
                          </a:solidFill>
                          <a:latin typeface="Cambria Math"/>
                        </a:rPr>
                        <m:t>+</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A</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PT</m:t>
                      </m:r>
                      <m:r>
                        <a:rPr sz="1900">
                          <a:solidFill>
                            <a:srgbClr val="252529"/>
                          </a:solidFill>
                          <a:latin typeface="Cambria Math"/>
                        </a:rPr>
                        <m:t>≼−</m:t>
                      </m:r>
                      <m:r>
                        <a:rPr sz="1900">
                          <a:solidFill>
                            <a:srgbClr val="252529"/>
                          </a:solidFill>
                          <a:latin typeface="Cambria Math"/>
                        </a:rPr>
                        <m:t>𝛼</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1" smtClean="0">
                          <a:solidFill>
                            <a:srgbClr val="252529"/>
                          </a:solidFill>
                          <a:latin typeface="Cambria Math" panose="02040503050406030204" pitchFamily="18" charset="0"/>
                        </a:rPr>
                        <m:t>PT</m:t>
                      </m:r>
                    </m:oMath>
                  </m:oMathPara>
                </a14:m>
                <a:endParaRPr sz="1900" dirty="0"/>
              </a:p>
            </p:txBody>
          </p:sp>
        </mc:Choice>
        <mc:Fallback xmlns="">
          <p:sp>
            <p:nvSpPr>
              <p:cNvPr id="1003" name="Stability LPI"/>
              <p:cNvSpPr>
                <a:spLocks noRot="1" noChangeAspect="1" noMove="1" noResize="1" noEditPoints="1" noAdjustHandles="1" noChangeArrowheads="1" noChangeShapeType="1" noTextEdit="1"/>
              </p:cNvSpPr>
              <p:nvPr/>
            </p:nvSpPr>
            <p:spPr>
              <a:xfrm>
                <a:off x="3543300" y="3328670"/>
                <a:ext cx="5207000" cy="530860"/>
              </a:xfrm>
              <a:prstGeom prst="rect">
                <a:avLst/>
              </a:prstGeom>
              <a:blipFill>
                <a:blip r:embed="rId5"/>
                <a:stretch>
                  <a:fillRect/>
                </a:stretch>
              </a:blipFill>
              <a:ln>
                <a:noFill/>
              </a:ln>
            </p:spPr>
            <p:txBody>
              <a:bodyPr/>
              <a:lstStyle/>
              <a:p>
                <a:r>
                  <a:rPr lang="en-NL">
                    <a:noFill/>
                  </a:rPr>
                  <a:t> </a:t>
                </a:r>
              </a:p>
            </p:txBody>
          </p:sp>
        </mc:Fallback>
      </mc:AlternateContent>
      <p:sp>
        <p:nvSpPr>
          <p:cNvPr id="1004" name="Computation"/>
          <p:cNvSpPr/>
          <p:nvPr/>
        </p:nvSpPr>
        <p:spPr>
          <a:xfrm>
            <a:off x="3543300" y="4057650"/>
            <a:ext cx="5207000" cy="266700"/>
          </a:xfrm>
          <a:prstGeom prst="rect">
            <a:avLst/>
          </a:prstGeom>
          <a:noFill/>
          <a:ln>
            <a:noFill/>
          </a:ln>
        </p:spPr>
        <p:txBody>
          <a:bodyPr wrap="none" lIns="0" tIns="0" rIns="0" bIns="0" anchor="ctr">
            <a:noAutofit/>
          </a:bodyPr>
          <a:lstStyle/>
          <a:p>
            <a:pPr algn="ctr">
              <a:buNone/>
            </a:pPr>
            <a:r>
              <a:rPr lang="en-GB" sz="1400" b="0" i="0" u="none" baseline="0" dirty="0">
                <a:solidFill>
                  <a:srgbClr val="747B82"/>
                </a:solidFill>
                <a:latin typeface="Aptos"/>
                <a:ea typeface="Aptos"/>
                <a:cs typeface="Aptos"/>
              </a:rPr>
              <a:t>Linear PI Inequalities → LMIs</a:t>
            </a:r>
            <a:endParaRPr sz="1400" dirty="0"/>
          </a:p>
        </p:txBody>
      </p:sp>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5"/>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6"/>
                  <a:stretch>
                    <a:fillRect/>
                  </a:stretch>
                </a:blipFill>
                <a:ln>
                  <a:noFill/>
                </a:ln>
              </p:spPr>
              <p:txBody>
                <a:bodyPr/>
                <a:lstStyle/>
                <a:p>
                  <a:r>
                    <a:rPr lang="en-NL">
                      <a:noFill/>
                    </a:rPr>
                    <a:t> </a:t>
                  </a:r>
                </a:p>
              </p:txBody>
            </p:sp>
          </mc:Fallback>
        </mc:AlternateContent>
      </p:grpSp>
      <p:sp>
        <p:nvSpPr>
          <p:cNvPr id="6" name="TextBox 5">
            <a:extLst>
              <a:ext uri="{FF2B5EF4-FFF2-40B4-BE49-F238E27FC236}">
                <a16:creationId xmlns:a16="http://schemas.microsoft.com/office/drawing/2014/main" id="{49435EAF-EFBD-67F6-558D-A0B32647DBB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01" name="!!Physical pilla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2" name="!!PIE pilla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3" name="Physical heading"/>
          <p:cNvSpPr/>
          <p:nvPr/>
        </p:nvSpPr>
        <p:spPr>
          <a:xfrm>
            <a:off x="127000" y="361950"/>
            <a:ext cx="3352800" cy="419100"/>
          </a:xfrm>
          <a:prstGeom prst="rect">
            <a:avLst/>
          </a:prstGeom>
          <a:noFill/>
          <a:ln>
            <a:noFill/>
          </a:ln>
        </p:spPr>
        <p:txBody>
          <a:bodyPr wrap="none" lIns="0" tIns="0" rIns="0" bIns="0" anchor="ctr">
            <a:noAutofit/>
          </a:bodyPr>
          <a:lstStyle/>
          <a:p>
            <a:pPr algn="ctr">
              <a:buNone/>
            </a:pPr>
            <a:r>
              <a:rPr lang="en-GB" sz="2200" b="1" i="0" u="none" baseline="0">
                <a:solidFill>
                  <a:srgbClr val="252529"/>
                </a:solidFill>
                <a:latin typeface="Aptos"/>
                <a:ea typeface="Aptos"/>
                <a:cs typeface="Aptos"/>
              </a:rPr>
              <a:t>Distributed models</a:t>
            </a:r>
            <a:endParaRPr sz="2200"/>
          </a:p>
        </p:txBody>
      </p:sp>
      <p:sp>
        <p:nvSpPr>
          <p:cNvPr id="20005" name="PIE heading"/>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6" name="Physical subtitle"/>
          <p:cNvSpPr/>
          <p:nvPr/>
        </p:nvSpPr>
        <p:spPr>
          <a:xfrm>
            <a:off x="203200" y="854075"/>
            <a:ext cx="32004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Original dynamics</a:t>
            </a:r>
            <a:endParaRPr sz="1300"/>
          </a:p>
        </p:txBody>
      </p:sp>
      <p:sp>
        <p:nvSpPr>
          <p:cNvPr id="20007" name="PIE subtitle"/>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08" name="Tractability arrow"/>
          <p:cNvSpPr/>
          <p:nvPr/>
        </p:nvSpPr>
        <p:spPr>
          <a:xfrm>
            <a:off x="3860800" y="2324100"/>
            <a:ext cx="1422400" cy="25400"/>
          </a:xfrm>
          <a:custGeom>
            <a:avLst/>
            <a:gdLst/>
            <a:ahLst/>
            <a:cxnLst/>
            <a:rect l="0" t="0" r="r" b="b"/>
            <a:pathLst>
              <a:path w="1422400" h="25400" fill="none">
                <a:moveTo>
                  <a:pt x="12700" y="12700"/>
                </a:moveTo>
                <a:lnTo>
                  <a:pt x="1409700" y="12700"/>
                </a:lnTo>
              </a:path>
            </a:pathLst>
          </a:custGeom>
          <a:noFill/>
          <a:ln w="13970">
            <a:solidFill>
              <a:srgbClr val="000000"/>
            </a:solidFill>
            <a:round/>
            <a:tailEnd type="triangle" w="sm" len="sm"/>
          </a:ln>
        </p:spPr>
        <p:txBody>
          <a:bodyPr/>
          <a:lstStyle/>
          <a:p>
            <a:endParaRPr lang="en-NL"/>
          </a:p>
        </p:txBody>
      </p:sp>
      <p:sp>
        <p:nvSpPr>
          <p:cNvPr id="20009" name="Tractability"/>
          <p:cNvSpPr/>
          <p:nvPr/>
        </p:nvSpPr>
        <p:spPr>
          <a:xfrm>
            <a:off x="3683000" y="19494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PDE conversion</a:t>
            </a:r>
            <a:endParaRPr sz="1400" dirty="0"/>
          </a:p>
        </p:txBody>
      </p:sp>
      <p:sp>
        <p:nvSpPr>
          <p:cNvPr id="20010" name="Solutions arrow"/>
          <p:cNvSpPr/>
          <p:nvPr/>
        </p:nvSpPr>
        <p:spPr>
          <a:xfrm>
            <a:off x="3860800" y="3263900"/>
            <a:ext cx="1422400" cy="25400"/>
          </a:xfrm>
          <a:custGeom>
            <a:avLst/>
            <a:gdLst/>
            <a:ahLst/>
            <a:cxnLst/>
            <a:rect l="0" t="0" r="r" b="b"/>
            <a:pathLst>
              <a:path w="1422400" h="25400" fill="none">
                <a:moveTo>
                  <a:pt x="1409700" y="12700"/>
                </a:moveTo>
                <a:lnTo>
                  <a:pt x="12700" y="12700"/>
                </a:lnTo>
              </a:path>
            </a:pathLst>
          </a:custGeom>
          <a:noFill/>
          <a:ln w="13970">
            <a:solidFill>
              <a:srgbClr val="000000"/>
            </a:solidFill>
            <a:round/>
            <a:tailEnd type="triangle" w="sm" len="sm"/>
          </a:ln>
        </p:spPr>
        <p:txBody>
          <a:bodyPr/>
          <a:lstStyle/>
          <a:p>
            <a:endParaRPr lang="en-NL"/>
          </a:p>
        </p:txBody>
      </p:sp>
      <p:sp>
        <p:nvSpPr>
          <p:cNvPr id="20011" name="Solutions"/>
          <p:cNvSpPr/>
          <p:nvPr/>
        </p:nvSpPr>
        <p:spPr>
          <a:xfrm>
            <a:off x="3683000" y="34353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Solutions</a:t>
            </a:r>
            <a:endParaRPr sz="1400" dirty="0"/>
          </a:p>
        </p:txBody>
      </p:sp>
      <p:sp>
        <p:nvSpPr>
          <p:cNvPr id="20012" name="PIE result"/>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06A3EE8-C301-4BFD-7D71-FE57F2B0C6F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8530D6BE-0848-218F-8E91-68781FAA94D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25</a:t>
            </a:fld>
            <a:endParaRPr lang="en-GB"/>
          </a:p>
        </p:txBody>
      </p:sp>
      <p:pic>
        <p:nvPicPr>
          <p:cNvPr id="6039" name="Original TUe logo"/>
          <p:cNvPicPr>
            <a:picLocks noChangeAspect="1"/>
          </p:cNvPicPr>
          <p:nvPr/>
        </p:nvPicPr>
        <p:blipFill>
          <a:blip r:embed="rId4"/>
          <a:stretch>
            <a:fillRect/>
          </a:stretch>
        </p:blipFill>
        <p:spPr>
          <a:xfrm>
            <a:off x="8458200" y="4813300"/>
            <a:ext cx="457200" cy="254000"/>
          </a:xfrm>
          <a:prstGeom prst="rect">
            <a:avLst/>
          </a:prstGeom>
        </p:spPr>
      </p:pic>
      <p:grpSp>
        <p:nvGrpSpPr>
          <p:cNvPr id="30001" name="Restored Physical PDE LFR connections">
            <a:extLst>
              <a:ext uri="{FF2B5EF4-FFF2-40B4-BE49-F238E27FC236}">
                <a16:creationId xmlns:a16="http://schemas.microsoft.com/office/drawing/2014/main" id="{9ABA1CC7-950B-27AA-22AE-FF6B70D69927}"/>
              </a:ext>
            </a:extLst>
          </p:cNvPr>
          <p:cNvGrpSpPr/>
          <p:nvPr/>
        </p:nvGrpSpPr>
        <p:grpSpPr>
          <a:xfrm>
            <a:off x="393700" y="1574800"/>
            <a:ext cx="2921000" cy="2239010"/>
            <a:chOff x="1995932" y="1819148"/>
            <a:chExt cx="3138932" cy="2405888"/>
          </a:xfrm>
        </p:grpSpPr>
        <p:sp>
          <p:nvSpPr>
            <p:cNvPr id="30002" name="Plant to uncertainty">
              <a:extLst>
                <a:ext uri="{FF2B5EF4-FFF2-40B4-BE49-F238E27FC236}">
                  <a16:creationId xmlns:a16="http://schemas.microsoft.com/office/drawing/2014/main" id="{2754DD32-274F-27F4-BE1B-8224B879735F}"/>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03" name="Uncertainty to plant">
              <a:extLst>
                <a:ext uri="{FF2B5EF4-FFF2-40B4-BE49-F238E27FC236}">
                  <a16:creationId xmlns:a16="http://schemas.microsoft.com/office/drawing/2014/main" id="{DD486A82-55E8-023E-8F9F-9A58EE0B963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04" name="Controller plant channel">
              <a:extLst>
                <a:ext uri="{FF2B5EF4-FFF2-40B4-BE49-F238E27FC236}">
                  <a16:creationId xmlns:a16="http://schemas.microsoft.com/office/drawing/2014/main" id="{BBD3AD23-2DB0-9695-CFA3-614AC55030B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05" name="Plant controller channel">
              <a:extLst>
                <a:ext uri="{FF2B5EF4-FFF2-40B4-BE49-F238E27FC236}">
                  <a16:creationId xmlns:a16="http://schemas.microsoft.com/office/drawing/2014/main" id="{9BA68EB3-5092-AA08-227D-411D2BE3EB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06" name="Controller">
              <a:extLst>
                <a:ext uri="{FF2B5EF4-FFF2-40B4-BE49-F238E27FC236}">
                  <a16:creationId xmlns:a16="http://schemas.microsoft.com/office/drawing/2014/main" id="{4076BFC3-C92C-AA03-D998-37D40BDA98F8}"/>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07" name="Controller label">
                  <a:extLst>
                    <a:ext uri="{FF2B5EF4-FFF2-40B4-BE49-F238E27FC236}">
                      <a16:creationId xmlns:a16="http://schemas.microsoft.com/office/drawing/2014/main" id="{113D66BD-EDAB-11DF-4D77-824952767822}"/>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09" name="Controller external channel">
                  <a:extLst>
                    <a:ext uri="{FF2B5EF4-FFF2-40B4-BE49-F238E27FC236}">
                      <a16:creationId xmlns:a16="http://schemas.microsoft.com/office/drawing/2014/main" id="{86069990-84DE-8960-B5EB-3B1E2CBA1E65}"/>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lang="en-NL" sz="1998" dirty="0">
                    <a:solidFill>
                      <a:srgbClr val="252529"/>
                    </a:solidFill>
                  </a:endParaRPr>
                </a:p>
              </p:txBody>
            </p:sp>
          </mc:Choice>
          <mc:Fallback xmlns="" xmlns:m="http://schemas.openxmlformats.org/officeDocument/2006/math">
            <p:sp>
              <p:nvSpPr>
                <p:cNvPr id="30009" name="Controller external channel">
                  <a:extLst>
                    <a:ext uri="{FF2B5EF4-FFF2-40B4-BE49-F238E27FC236}">
                      <a16:creationId xmlns:a16="http://schemas.microsoft.com/office/drawing/2014/main" id="{86069990-84DE-8960-B5EB-3B1E2CBA1E65}"/>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0" name="Plant measured channel">
                  <a:extLst>
                    <a:ext uri="{FF2B5EF4-FFF2-40B4-BE49-F238E27FC236}">
                      <a16:creationId xmlns:a16="http://schemas.microsoft.com/office/drawing/2014/main" id="{6C860631-F861-5AA0-C820-47AAEDD0E86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en-NL" sz="1998" i="1" smtClean="0">
                            <a:solidFill>
                              <a:srgbClr val="252529"/>
                            </a:solidFill>
                            <a:latin typeface="Cambria Math" panose="02040503050406030204" pitchFamily="18" charset="0"/>
                          </a:rPr>
                          <m:t>𝑦</m:t>
                        </m:r>
                      </m:oMath>
                    </m:oMathPara>
                  </a14:m>
                  <a:endParaRPr sz="1998" dirty="0"/>
                </a:p>
              </p:txBody>
            </p:sp>
          </mc:Choice>
          <mc:Fallback xmlns="">
            <p:sp>
              <p:nvSpPr>
                <p:cNvPr id="30010" name="Plant measured channel">
                  <a:extLst>
                    <a:ext uri="{FF2B5EF4-FFF2-40B4-BE49-F238E27FC236}">
                      <a16:creationId xmlns:a16="http://schemas.microsoft.com/office/drawing/2014/main" id="{6C860631-F861-5AA0-C820-47AAEDD0E86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6"/>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1" name="Uncertainty output channel">
                  <a:extLst>
                    <a:ext uri="{FF2B5EF4-FFF2-40B4-BE49-F238E27FC236}">
                      <a16:creationId xmlns:a16="http://schemas.microsoft.com/office/drawing/2014/main" id="{C5B022E9-CA0A-7768-3150-8C47EB7D8CAF}"/>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11" name="Uncertainty output channel">
                  <a:extLst>
                    <a:ext uri="{FF2B5EF4-FFF2-40B4-BE49-F238E27FC236}">
                      <a16:creationId xmlns:a16="http://schemas.microsoft.com/office/drawing/2014/main" id="{C5B022E9-CA0A-7768-3150-8C47EB7D8CAF}"/>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2" name="Uncertainty input channel">
                  <a:extLst>
                    <a:ext uri="{FF2B5EF4-FFF2-40B4-BE49-F238E27FC236}">
                      <a16:creationId xmlns:a16="http://schemas.microsoft.com/office/drawing/2014/main" id="{CB1119A7-6DF6-5F17-4C2D-8A9ECE6BAAF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lang="en-NL" sz="1998" dirty="0">
                    <a:solidFill>
                      <a:srgbClr val="252529"/>
                    </a:solidFill>
                  </a:endParaRPr>
                </a:p>
              </p:txBody>
            </p:sp>
          </mc:Choice>
          <mc:Fallback xmlns="" xmlns:m="http://schemas.openxmlformats.org/officeDocument/2006/math">
            <p:sp>
              <p:nvSpPr>
                <p:cNvPr id="30012" name="Uncertainty input channel">
                  <a:extLst>
                    <a:ext uri="{FF2B5EF4-FFF2-40B4-BE49-F238E27FC236}">
                      <a16:creationId xmlns:a16="http://schemas.microsoft.com/office/drawing/2014/main" id="{CB1119A7-6DF6-5F17-4C2D-8A9ECE6BAAF7}"/>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8"/>
                  <a:stretch>
                    <a:fillRect/>
                  </a:stretch>
                </a:blipFill>
                <a:ln>
                  <a:noFill/>
                </a:ln>
              </p:spPr>
              <p:txBody>
                <a:bodyPr/>
                <a:lstStyle/>
                <a:p>
                  <a:r>
                    <a:rPr lang="en-NL">
                      <a:noFill/>
                    </a:rPr>
                    <a:t> </a:t>
                  </a:r>
                </a:p>
              </p:txBody>
            </p:sp>
          </mc:Fallback>
        </mc:AlternateContent>
        <p:sp>
          <p:nvSpPr>
            <p:cNvPr id="30013" name="Uncertainty">
              <a:extLst>
                <a:ext uri="{FF2B5EF4-FFF2-40B4-BE49-F238E27FC236}">
                  <a16:creationId xmlns:a16="http://schemas.microsoft.com/office/drawing/2014/main" id="{723B27D2-989F-F6E9-8A40-02455ECDA079}"/>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14" name="Uncertainty label">
                  <a:extLst>
                    <a:ext uri="{FF2B5EF4-FFF2-40B4-BE49-F238E27FC236}">
                      <a16:creationId xmlns:a16="http://schemas.microsoft.com/office/drawing/2014/main" id="{DD90AEC3-C76B-D6C9-EBBB-D15C21AF7DC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15"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16" name="!!PDE block"/>
          <p:cNvGrpSpPr/>
          <p:nvPr/>
        </p:nvGrpSpPr>
        <p:grpSpPr>
          <a:xfrm>
            <a:off x="1408179" y="2222014"/>
            <a:ext cx="874551" cy="874613"/>
            <a:chOff x="3086100" y="2514600"/>
            <a:chExt cx="939800" cy="939800"/>
          </a:xfrm>
        </p:grpSpPr>
        <p:sp>
          <p:nvSpPr>
            <p:cNvPr id="30017"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18"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30018"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8"/>
                  <a:stretch>
                    <a:fillRect/>
                  </a:stretch>
                </a:blipFill>
                <a:ln>
                  <a:noFill/>
                </a:ln>
              </p:spPr>
              <p:txBody>
                <a:bodyPr/>
                <a:lstStyle/>
                <a:p>
                  <a:r>
                    <a:rPr lang="en-NL">
                      <a:noFill/>
                    </a:rPr>
                    <a:t> </a:t>
                  </a:r>
                </a:p>
              </p:txBody>
            </p:sp>
          </mc:Fallback>
        </mc:AlternateContent>
      </p:grpSp>
      <p:grpSp>
        <p:nvGrpSpPr>
          <p:cNvPr id="30019" name="Restored PIE LFR connections">
            <a:extLst>
              <a:ext uri="{FF2B5EF4-FFF2-40B4-BE49-F238E27FC236}">
                <a16:creationId xmlns:a16="http://schemas.microsoft.com/office/drawing/2014/main" id="{694DB2D1-3979-BD73-6C1C-EDA0A861169B}"/>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387EA069-E6BC-C65C-43B0-149CA3F4359A}"/>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F18621C0-B8ED-2D32-2341-BCF0945FCBC8}"/>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8950E2F4-0E62-277B-B968-BA60FABDD891}"/>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A12ECBC4-0979-25DD-46C7-E67B95A9ABD9}"/>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A3420DEE-315E-01A8-C879-515EF382562A}"/>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14E9C315-7C94-2977-F53E-52572AAE79A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4A8DD3D-4068-1AD3-523A-5AB1CA8481FA}"/>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AFDCDE03-861F-098E-6F23-DAF70D871FD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0"/>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9FB3CB1E-34C4-70A1-FB70-355902F72FDD}"/>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E17DEA41-36FC-EE0F-1A58-86C5B1FE1000}"/>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FFE97ECE-6100-2200-CD8F-E23AEC0EC7E8}"/>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99A2BA32-00F4-FE3C-8037-DEA6AE2610B4}"/>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FFDF9EE7-CC94-EDDC-598C-7CAEF898B70B}"/>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39990" name="Neural image backing"/>
          <p:cNvSpPr/>
          <p:nvPr/>
        </p:nvSpPr>
        <p:spPr>
          <a:xfrm>
            <a:off x="152400" y="4203700"/>
            <a:ext cx="1066800" cy="584200"/>
          </a:xfrm>
          <a:prstGeom prst="rect">
            <a:avLst/>
          </a:prstGeom>
          <a:solidFill>
            <a:srgbClr val="FFFFFF"/>
          </a:solidFill>
          <a:ln>
            <a:noFill/>
          </a:ln>
        </p:spPr>
        <p:txBody>
          <a:bodyPr/>
          <a:lstStyle/>
          <a:p>
            <a:endParaRPr lang="en-NL"/>
          </a:p>
        </p:txBody>
      </p:sp>
      <p:grpSp>
        <p:nvGrpSpPr>
          <p:cNvPr id="30037" name="STN-GPe image">
            <a:extLst>
              <a:ext uri="{FF2B5EF4-FFF2-40B4-BE49-F238E27FC236}">
                <a16:creationId xmlns:a16="http://schemas.microsoft.com/office/drawing/2014/main" id="{C1E5EDF8-39B7-BFFC-C737-CA4AA387F766}"/>
              </a:ext>
            </a:extLst>
          </p:cNvPr>
          <p:cNvGrpSpPr/>
          <p:nvPr/>
        </p:nvGrpSpPr>
        <p:grpSpPr>
          <a:xfrm>
            <a:off x="190500" y="4254500"/>
            <a:ext cx="990600" cy="476250"/>
            <a:chOff x="1879600" y="241300"/>
            <a:chExt cx="5597595" cy="2692400"/>
          </a:xfrm>
        </p:grpSpPr>
        <p:pic>
          <p:nvPicPr>
            <p:cNvPr id="30038"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grpSp>
      <p:pic>
        <p:nvPicPr>
          <p:cNvPr id="30039" name="ASML image">
            <a:extLst>
              <a:ext uri="{FF2B5EF4-FFF2-40B4-BE49-F238E27FC236}">
                <a16:creationId xmlns:a16="http://schemas.microsoft.com/office/drawing/2014/main" id="{64CB8C8F-9F39-474B-5CE8-8336FF80DF46}"/>
              </a:ext>
            </a:extLst>
          </p:cNvPr>
          <p:cNvPicPr>
            <a:picLocks noChangeAspect="1"/>
          </p:cNvPicPr>
          <p:nvPr/>
        </p:nvPicPr>
        <p:blipFill>
          <a:blip r:embed="rId14" cstate="print">
            <a:extLst>
              <a:ext uri="{28A0092B-C50C-407E-A947-70E740481C1C}">
                <a14:useLocalDpi xmlns:a14="http://schemas.microsoft.com/office/drawing/2010/main" val="0"/>
              </a:ext>
            </a:extLst>
          </a:blip>
          <a:srcRect l="6208" r="6507" b="12822"/>
          <a:stretch>
            <a:fillRect/>
          </a:stretch>
        </p:blipFill>
        <p:spPr>
          <a:xfrm>
            <a:off x="1320800" y="4241800"/>
            <a:ext cx="977900" cy="508000"/>
          </a:xfrm>
          <a:prstGeom prst="rect">
            <a:avLst/>
          </a:prstGeom>
        </p:spPr>
      </p:pic>
      <p:pic>
        <p:nvPicPr>
          <p:cNvPr id="30040" name="Canon image" descr="Products and Technologies - Canon Production Printing">
            <a:extLst>
              <a:ext uri="{FF2B5EF4-FFF2-40B4-BE49-F238E27FC236}">
                <a16:creationId xmlns:a16="http://schemas.microsoft.com/office/drawing/2014/main" id="{EFE606BB-AB45-9BBC-8CC9-D48E326E0A7F}"/>
              </a:ext>
            </a:extLst>
          </p:cNvPr>
          <p:cNvPicPr>
            <a:picLocks noChangeAspect="1"/>
          </p:cNvPicPr>
          <p:nvPr/>
        </p:nvPicPr>
        <p:blipFill>
          <a:blip r:embed="rId15"/>
          <a:stretch>
            <a:fillRect/>
          </a:stretch>
        </p:blipFill>
        <p:spPr>
          <a:xfrm>
            <a:off x="2438400" y="4254500"/>
            <a:ext cx="977900" cy="478790"/>
          </a:xfrm>
          <a:prstGeom prst="rect">
            <a:avLst/>
          </a:prstGeom>
        </p:spPr>
      </p:pic>
      <p:sp>
        <p:nvSpPr>
          <p:cNvPr id="39991" name="Application names"/>
          <p:cNvSpPr/>
          <p:nvPr/>
        </p:nvSpPr>
        <p:spPr>
          <a:xfrm>
            <a:off x="152400" y="3924300"/>
            <a:ext cx="3302000" cy="254000"/>
          </a:xfrm>
          <a:prstGeom prst="rect">
            <a:avLst/>
          </a:prstGeom>
          <a:noFill/>
          <a:ln>
            <a:noFill/>
          </a:ln>
        </p:spPr>
        <p:txBody>
          <a:bodyPr wrap="none" lIns="0" tIns="0" rIns="0" bIns="0" anchor="ctr">
            <a:noAutofit/>
          </a:bodyPr>
          <a:lstStyle/>
          <a:p>
            <a:pPr algn="ctr">
              <a:buNone/>
            </a:pPr>
            <a:r>
              <a:rPr lang="en-GB" sz="1200" b="0" i="0" u="none" baseline="0">
                <a:solidFill>
                  <a:srgbClr val="633434"/>
                </a:solidFill>
                <a:latin typeface="Aptos"/>
                <a:ea typeface="Aptos"/>
                <a:cs typeface="Aptos"/>
              </a:rPr>
              <a:t>STN–GPe · ASML · Canon</a:t>
            </a:r>
            <a:endParaRPr sz="1200"/>
          </a:p>
        </p:txBody>
      </p:sp>
    </p:spTree>
    <p:extLst>
      <p:ext uri="{BB962C8B-B14F-4D97-AF65-F5344CB8AC3E}">
        <p14:creationId xmlns:p14="http://schemas.microsoft.com/office/powerpoint/2010/main" val="9094517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p14="http://schemas.microsoft.com/office/powerpoint/2010/main" xmlns:a14="http://schemas.microsoft.com/office/drawing/2010/main" xmlns:m="http://schemas.openxmlformats.org/officeDocument/2006/math" xmlns="">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36B85E-8EBC-6D29-0FDA-AA5187FC4187}"/>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4698336-BF91-DB55-3BD2-E127BEF8A18C}"/>
              </a:ext>
            </a:extLst>
          </p:cNvP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93840A3D-915A-E685-769F-CDEEEEEEDAF6}"/>
              </a:ext>
            </a:extLst>
          </p:cNvPr>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1D3A16E4-29B3-A85B-15C7-6B4E228E5B14}"/>
              </a:ext>
            </a:extLst>
          </p:cNvPr>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D15496F2-52A5-B283-CCCE-3EB14FCE3EF1}"/>
              </a:ext>
            </a:extLst>
          </p:cNvPr>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3D3002C9-DE67-1FEB-A6DD-464ACDCA655C}"/>
                  </a:ext>
                </a:extLst>
              </p:cNvPr>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3D3002C9-DE67-1FEB-A6DD-464ACDCA655C}"/>
                  </a:ext>
                </a:extLst>
              </p:cNvPr>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26D61F8-3A52-5561-17BA-6F16952AE180}"/>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472D5A79-96DE-FC18-720A-3D9E6923027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26</a:t>
            </a:fld>
            <a:endParaRPr lang="en-GB"/>
          </a:p>
        </p:txBody>
      </p:sp>
      <p:pic>
        <p:nvPicPr>
          <p:cNvPr id="6039" name="Original TUe logo">
            <a:extLst>
              <a:ext uri="{FF2B5EF4-FFF2-40B4-BE49-F238E27FC236}">
                <a16:creationId xmlns:a16="http://schemas.microsoft.com/office/drawing/2014/main" id="{C0360608-84AF-9DB3-C78F-DFA10F4E4028}"/>
              </a:ext>
            </a:extLst>
          </p:cNvPr>
          <p:cNvPicPr>
            <a:picLocks noChangeAspect="1"/>
          </p:cNvPicPr>
          <p:nvPr/>
        </p:nvPicPr>
        <p:blipFill>
          <a:blip r:embed="rId4"/>
          <a:stretch>
            <a:fillRect/>
          </a:stretch>
        </p:blipFill>
        <p:spPr>
          <a:xfrm>
            <a:off x="8458200" y="4813300"/>
            <a:ext cx="457200" cy="254000"/>
          </a:xfrm>
          <a:prstGeom prst="rect">
            <a:avLst/>
          </a:prstGeom>
        </p:spPr>
      </p:pic>
      <p:grpSp>
        <p:nvGrpSpPr>
          <p:cNvPr id="30019" name="Restored PIE LFR connections">
            <a:extLst>
              <a:ext uri="{FF2B5EF4-FFF2-40B4-BE49-F238E27FC236}">
                <a16:creationId xmlns:a16="http://schemas.microsoft.com/office/drawing/2014/main" id="{CE0377EF-DD04-5A5E-BA83-1C0D9D2BEE4C}"/>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E701967C-E64B-9C5D-5B85-DDD85042E8ED}"/>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3238746E-F7F0-C8D9-2691-31EFA24FAAE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E910A34F-FB13-09D2-7A2F-B4BB0A44AD96}"/>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CD492750-E976-8EF9-87A6-95E13896DA40}"/>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0E501BF4-474C-947E-9CCB-E8F52AC248CB}"/>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8D720DE9-AE80-A4AD-6F80-C4375624A1CA}"/>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AEAD45B-D103-A661-4607-8330A55CCE0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EBB2E0C7-B846-0C43-2F4F-A63CD7FBA13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30028" name="Plant measured channel">
                  <a:extLst>
                    <a:ext uri="{FF2B5EF4-FFF2-40B4-BE49-F238E27FC236}">
                      <a16:creationId xmlns:a16="http://schemas.microsoft.com/office/drawing/2014/main" id="{EBB2E0C7-B846-0C43-2F4F-A63CD7FBA13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65EE4D95-27CB-2D16-23ED-C69E7C984BB5}"/>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D1E546FC-6995-EB66-2774-7CEA32C02199}"/>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A03660DC-DA9C-D605-5820-CF57913124B3}"/>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6129C4FD-759A-4762-43B6-F2D87E161ECD}"/>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CF6A7A5E-8154-A0D1-5FD6-F142EA581C8E}"/>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780D11FD-BFE5-2DF2-A145-64D1095B286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948A0D4B-535C-5123-E0CD-F471370BF40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2094491916"/>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C90D49-0F65-1A13-4393-0F1C93D50C69}"/>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E46F5E2-617F-6107-20CA-BF23AA7953A1}"/>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8B336113-0615-36F1-934A-E86CB2A59281}"/>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F532584E-ADAE-F182-6E28-FE7792B9B4B3}"/>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A356D866-A98C-CBA7-94A8-F2548985275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8D755658-55D4-C5C9-CF56-6C60BDD18891}"/>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8D755658-55D4-C5C9-CF56-6C60BDD18891}"/>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FE2C9EEB-F126-3E4C-699B-87F75359D03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5B8BA736-1DA6-67F5-F9D3-024FC29B24CA}"/>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5BBAE909-1B64-F0F2-560E-3F8618AE11F6}"/>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6936EBF2-D3C0-204A-3E1A-C4C3C4188C44}"/>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A296786E-898A-523B-861C-ADEB6346AE8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89DD3B2B-DF5A-E92E-EE09-F42698923425}"/>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606D14A0-289B-B01B-0979-01FCFB014E22}"/>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BA0C2320-CEF9-32AF-16DC-2C0207EB9A4F}"/>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B44F2291-9667-B430-D08E-9977A2D4DEEE}"/>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5FB66B55-E547-644D-A2F9-B28ED698846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11B568C4-5300-4601-8484-6CC6E4EF3FE3}"/>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77371944-0F54-1538-5A76-C6A0950CDDE2}"/>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92EC4FB5-4A08-CE20-2130-82EDC1E871B4}"/>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799E27D6-C952-0517-D634-6583B01A406E}"/>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BB998F68-DD87-08F6-AB36-2819CA17B8C2}"/>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F22295C-299D-C5C7-C1EA-0CB43431FDDD}"/>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B4A53036-38C1-2F3F-34D8-4BB38E24DC7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1696729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advClick="0" advTm="0">
        <p159:morph option="byObject"/>
      </p:transition>
    </mc:Choice>
    <mc:Fallback xmlns="">
      <p:transition spd="slow" advClick="0" advTm="0">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E2FC0-931D-B1E4-BD1F-4086D1CDD948}"/>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CBFBE29D-35ED-6839-5887-DFDE7B62B1FC}"/>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BE81C29F-3D86-2249-B68B-96859661D845}"/>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76A281BF-4F1F-0E3C-743B-DF6D0A16CC17}"/>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4278627A-B34F-9C37-0395-A5539082008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D5D1B5C5-ED15-8296-FAD7-7A014F1AABAC}"/>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D5D1B5C5-ED15-8296-FAD7-7A014F1AABAC}"/>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8286BB4D-FABB-FD80-EEE2-FEF5A9D0D30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85D30BDE-DC7E-8A68-CE82-B9B14734C288}"/>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41E1C6B2-89C9-EB66-86F0-12D618BC684C}"/>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DCC94323-B313-9586-AD80-770711AAEB26}"/>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1E56C316-882F-E448-8EB6-852B864DE103}"/>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6C00E8FF-8059-42D1-FA8B-A8F24F17EFA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3A1A5E8D-D866-6F0D-7488-A7AFD77F843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48DCF169-958F-88A3-71E0-3C91A5C3B2E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7CCCC213-3F8C-3BC6-D002-FA9F80201342}"/>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7E528080-D5D4-B074-88D7-E3F1C32FFC79}"/>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BC0E4CBF-B13F-B51A-926B-3CE5A2B9180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C66052AC-7141-F3EF-9E9B-2E8CBD99E481}"/>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8C9BEA1B-7967-881E-D899-55284145FC9D}"/>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A9589A3E-591D-DA41-A3C6-514613165F5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236B89FF-92FC-622D-9F62-4914D571AC15}"/>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7B1A17D-DD73-ADA9-D24F-A4E2BE261F4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6EC84373-A6DD-412A-D345-46C57C2816BD}"/>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pic>
        <p:nvPicPr>
          <p:cNvPr id="30" name="Picture 29">
            <a:extLst>
              <a:ext uri="{FF2B5EF4-FFF2-40B4-BE49-F238E27FC236}">
                <a16:creationId xmlns:a16="http://schemas.microsoft.com/office/drawing/2014/main" id="{DEB3A916-0217-85EC-C836-45524E6D4AD2}"/>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pic>
        <p:nvPicPr>
          <p:cNvPr id="34" name="Picture 33">
            <a:extLst>
              <a:ext uri="{FF2B5EF4-FFF2-40B4-BE49-F238E27FC236}">
                <a16:creationId xmlns:a16="http://schemas.microsoft.com/office/drawing/2014/main" id="{1C0DEAEE-73FE-3112-C8C5-D8488D6024D7}"/>
              </a:ext>
            </a:extLst>
          </p:cNvPr>
          <p:cNvPicPr>
            <a:picLocks noChangeAspect="1"/>
          </p:cNvPicPr>
          <p:nvPr/>
        </p:nvPicPr>
        <p:blipFill>
          <a:blip r:embed="rId1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Tree>
    <p:extLst>
      <p:ext uri="{BB962C8B-B14F-4D97-AF65-F5344CB8AC3E}">
        <p14:creationId xmlns:p14="http://schemas.microsoft.com/office/powerpoint/2010/main" val="2250996665"/>
      </p:ext>
    </p:extLst>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F8ED4D-4467-737D-CA6F-A3D0649580D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5FECD0A9-FF17-8E99-3456-B3DA4577EB1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47BF8996-9678-1EF3-79A4-EC0BB112B63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spTree>
    <p:extLst>
      <p:ext uri="{BB962C8B-B14F-4D97-AF65-F5344CB8AC3E}">
        <p14:creationId xmlns:p14="http://schemas.microsoft.com/office/powerpoint/2010/main" val="2061225351"/>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C5FA59-6B54-84A3-1654-E347C2D4167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7A1E981B-ED53-F5A0-09F3-6B44D2769A13}"/>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AFDF8DBE-1B05-A76C-AACE-DD5B00C4E2C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1245076"/>
            <a:ext cx="3612571" cy="5149713"/>
          </a:xfrm>
          <a:prstGeom prst="rect">
            <a:avLst/>
          </a:prstGeom>
        </p:spPr>
      </p:pic>
      <p:grpSp>
        <p:nvGrpSpPr>
          <p:cNvPr id="2" name="Restored PIE LFR connections">
            <a:extLst>
              <a:ext uri="{FF2B5EF4-FFF2-40B4-BE49-F238E27FC236}">
                <a16:creationId xmlns:a16="http://schemas.microsoft.com/office/drawing/2014/main" id="{A3E50CC6-7310-29B5-2CCB-BBA5D91D55E8}"/>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7571E4FA-973A-FB5F-A9B3-FB65BFE8DE2D}"/>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51E8D348-F78C-7637-A9CB-8BEE8B6982B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BAFD17CA-9BC5-E215-DC8E-44835128535C}"/>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7F2D38EF-A4AA-58DD-DC10-8E5A3F988F74}"/>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35A0584-2EFA-5A90-99B4-BC5ED24E569F}"/>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A364187D-4B82-58E0-3B1A-4C330DA6AC6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31BCB98E-0F81-9C17-EDAF-D8A91851CC06}"/>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D9415886-8D2E-3385-09EA-1EEF92015DD6}"/>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CD0BE6BC-C560-44B8-D1D9-E74F1B5A450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385717017"/>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0" presetClass="exit" presetSubtype="0" fill="hold" nodeType="withEffect">
                                  <p:stCondLst>
                                    <p:cond delay="0"/>
                                  </p:stCondLst>
                                  <p:childTnLst>
                                    <p:animEffect transition="out" filter="fade">
                                      <p:cBhvr>
                                        <p:cTn id="10" dur="500"/>
                                        <p:tgtEl>
                                          <p:spTgt spid="30"/>
                                        </p:tgtEl>
                                      </p:cBhvr>
                                    </p:animEffect>
                                    <p:set>
                                      <p:cBhvr>
                                        <p:cTn id="11" dur="1" fill="hold">
                                          <p:stCondLst>
                                            <p:cond delay="499"/>
                                          </p:stCondLst>
                                        </p:cTn>
                                        <p:tgtEl>
                                          <p:spTgt spid="3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0D5290-E1E9-FEAF-5709-2C072629257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BFFD0C47-822F-5C39-4D97-85A53E265C82}"/>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2" name="Restored PIE LFR connections">
            <a:extLst>
              <a:ext uri="{FF2B5EF4-FFF2-40B4-BE49-F238E27FC236}">
                <a16:creationId xmlns:a16="http://schemas.microsoft.com/office/drawing/2014/main" id="{346920C8-D88B-0EBC-A6CD-29758430EDEB}"/>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064144FE-E075-9190-663B-AEDCE5C8520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74D461FB-D0D5-38E9-ED71-F49737E6567A}"/>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898A751F-D4BA-C592-7998-68B9ABA93E4F}"/>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93C17898-F4E3-D30E-F8ED-DC7D2B51CDB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92C94441-16CE-B7C3-C679-B20920F432DD}"/>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6E32296F-D4FB-F34F-26C8-9049B3D8E4EE}"/>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11" name="Plant measured channel">
                  <a:extLst>
                    <a:ext uri="{FF2B5EF4-FFF2-40B4-BE49-F238E27FC236}">
                      <a16:creationId xmlns:a16="http://schemas.microsoft.com/office/drawing/2014/main" id="{6E32296F-D4FB-F34F-26C8-9049B3D8E4EE}"/>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254"/>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E05FF3EB-E7B0-6125-08D9-79DA21B2D75F}"/>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43FC7C50-0C15-AE49-C250-5B1B031B47C2}"/>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64D15DBD-CD7F-07F7-1378-61A325B74FEF}"/>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21" name="Title 20">
            <a:extLst>
              <a:ext uri="{FF2B5EF4-FFF2-40B4-BE49-F238E27FC236}">
                <a16:creationId xmlns:a16="http://schemas.microsoft.com/office/drawing/2014/main" id="{E6DAB6F5-BC08-65B8-B230-8012355710AD}"/>
              </a:ext>
            </a:extLst>
          </p:cNvPr>
          <p:cNvSpPr>
            <a:spLocks noGrp="1"/>
          </p:cNvSpPr>
          <p:nvPr>
            <p:ph type="title"/>
          </p:nvPr>
        </p:nvSpPr>
        <p:spPr/>
        <p:txBody>
          <a:bodyPr/>
          <a:lstStyle/>
          <a:p>
            <a:r>
              <a:rPr lang="en-US" dirty="0"/>
              <a:t>Nominal Controller Synthesis</a:t>
            </a:r>
            <a:endParaRPr lang="en-NL" dirty="0"/>
          </a:p>
        </p:txBody>
      </p:sp>
      <p:sp>
        <p:nvSpPr>
          <p:cNvPr id="3" name="TextBox 2">
            <a:extLst>
              <a:ext uri="{FF2B5EF4-FFF2-40B4-BE49-F238E27FC236}">
                <a16:creationId xmlns:a16="http://schemas.microsoft.com/office/drawing/2014/main" id="{39B32BE5-4318-3FF9-6B03-28721E31B190}"/>
              </a:ext>
            </a:extLst>
          </p:cNvPr>
          <p:cNvSpPr txBox="1"/>
          <p:nvPr/>
        </p:nvSpPr>
        <p:spPr>
          <a:xfrm>
            <a:off x="393700"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087E4624-29EB-05F1-E29E-4E5D299CFF5B}"/>
                  </a:ext>
                </a:extLst>
              </p:cNvPr>
              <p:cNvSpPr txBox="1"/>
              <p:nvPr/>
            </p:nvSpPr>
            <p:spPr>
              <a:xfrm>
                <a:off x="442470" y="3841110"/>
                <a:ext cx="2693814" cy="454355"/>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𝐾</m:t>
                          </m:r>
                        </m:e>
                        <m:e>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𝑃𝑇</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4" name="TextBox 3">
                <a:extLst>
                  <a:ext uri="{FF2B5EF4-FFF2-40B4-BE49-F238E27FC236}">
                    <a16:creationId xmlns:a16="http://schemas.microsoft.com/office/drawing/2014/main" id="{087E4624-29EB-05F1-E29E-4E5D299CFF5B}"/>
                  </a:ext>
                </a:extLst>
              </p:cNvPr>
              <p:cNvSpPr txBox="1">
                <a:spLocks noRot="1" noChangeAspect="1" noMove="1" noResize="1" noEditPoints="1" noAdjustHandles="1" noChangeArrowheads="1" noChangeShapeType="1" noTextEdit="1"/>
              </p:cNvSpPr>
              <p:nvPr/>
            </p:nvSpPr>
            <p:spPr>
              <a:xfrm>
                <a:off x="442470" y="3841110"/>
                <a:ext cx="2693814" cy="454355"/>
              </a:xfrm>
              <a:prstGeom prst="rect">
                <a:avLst/>
              </a:prstGeom>
              <a:blipFill>
                <a:blip r:embed="rId10"/>
                <a:stretch>
                  <a:fillRect t="-8000" r="-1361" b="-6667"/>
                </a:stretch>
              </a:blipFill>
            </p:spPr>
            <p:txBody>
              <a:bodyPr/>
              <a:lstStyle/>
              <a:p>
                <a:r>
                  <a:rPr lang="en-NL">
                    <a:noFill/>
                  </a:rPr>
                  <a:t> </a:t>
                </a:r>
              </a:p>
            </p:txBody>
          </p:sp>
        </mc:Fallback>
      </mc:AlternateContent>
      <p:sp>
        <p:nvSpPr>
          <p:cNvPr id="12" name="TextBox 11">
            <a:extLst>
              <a:ext uri="{FF2B5EF4-FFF2-40B4-BE49-F238E27FC236}">
                <a16:creationId xmlns:a16="http://schemas.microsoft.com/office/drawing/2014/main" id="{B1F10BD5-F648-BDAA-C5CE-75D3A70F5916}"/>
              </a:ext>
            </a:extLst>
          </p:cNvPr>
          <p:cNvSpPr txBox="1"/>
          <p:nvPr/>
        </p:nvSpPr>
        <p:spPr>
          <a:xfrm>
            <a:off x="446469"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8F889C7B-CA6B-5A13-867E-679EA822E0E0}"/>
                  </a:ext>
                </a:extLst>
              </p:cNvPr>
              <p:cNvSpPr txBox="1"/>
              <p:nvPr/>
            </p:nvSpPr>
            <p:spPr>
              <a:xfrm>
                <a:off x="442470" y="2964664"/>
                <a:ext cx="1955855" cy="30008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𝑇</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𝑥</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13" name="TextBox 12">
                <a:extLst>
                  <a:ext uri="{FF2B5EF4-FFF2-40B4-BE49-F238E27FC236}">
                    <a16:creationId xmlns:a16="http://schemas.microsoft.com/office/drawing/2014/main" id="{8F889C7B-CA6B-5A13-867E-679EA822E0E0}"/>
                  </a:ext>
                </a:extLst>
              </p:cNvPr>
              <p:cNvSpPr txBox="1">
                <a:spLocks noRot="1" noChangeAspect="1" noMove="1" noResize="1" noEditPoints="1" noAdjustHandles="1" noChangeArrowheads="1" noChangeShapeType="1" noTextEdit="1"/>
              </p:cNvSpPr>
              <p:nvPr/>
            </p:nvSpPr>
            <p:spPr>
              <a:xfrm>
                <a:off x="442470" y="2964664"/>
                <a:ext cx="1955855" cy="300082"/>
              </a:xfrm>
              <a:prstGeom prst="rect">
                <a:avLst/>
              </a:prstGeom>
              <a:blipFill>
                <a:blip r:embed="rId11"/>
                <a:stretch>
                  <a:fillRect/>
                </a:stretch>
              </a:blipFill>
            </p:spPr>
            <p:txBody>
              <a:bodyPr/>
              <a:lstStyle/>
              <a:p>
                <a:r>
                  <a:rPr lang="en-NL">
                    <a:noFill/>
                  </a:rPr>
                  <a:t> </a:t>
                </a:r>
              </a:p>
            </p:txBody>
          </p:sp>
        </mc:Fallback>
      </mc:AlternateContent>
      <p:sp>
        <p:nvSpPr>
          <p:cNvPr id="15" name="Rectangle 14">
            <a:extLst>
              <a:ext uri="{FF2B5EF4-FFF2-40B4-BE49-F238E27FC236}">
                <a16:creationId xmlns:a16="http://schemas.microsoft.com/office/drawing/2014/main" id="{3D44F392-425E-3418-BCB1-CCEEBB227836}"/>
              </a:ext>
            </a:extLst>
          </p:cNvPr>
          <p:cNvSpPr/>
          <p:nvPr/>
        </p:nvSpPr>
        <p:spPr>
          <a:xfrm>
            <a:off x="1864196" y="4091914"/>
            <a:ext cx="188779"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0" name="Rectangle 19">
            <a:extLst>
              <a:ext uri="{FF2B5EF4-FFF2-40B4-BE49-F238E27FC236}">
                <a16:creationId xmlns:a16="http://schemas.microsoft.com/office/drawing/2014/main" id="{1100BE20-AEEE-80D8-BB77-5CE5E788E19B}"/>
              </a:ext>
            </a:extLst>
          </p:cNvPr>
          <p:cNvSpPr/>
          <p:nvPr/>
        </p:nvSpPr>
        <p:spPr>
          <a:xfrm>
            <a:off x="2329158" y="4091914"/>
            <a:ext cx="478508"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2" name="TextBox 21">
            <a:extLst>
              <a:ext uri="{FF2B5EF4-FFF2-40B4-BE49-F238E27FC236}">
                <a16:creationId xmlns:a16="http://schemas.microsoft.com/office/drawing/2014/main" id="{2738B5D1-1EA8-22F6-8340-8B33B104C8B9}"/>
              </a:ext>
            </a:extLst>
          </p:cNvPr>
          <p:cNvSpPr txBox="1"/>
          <p:nvPr/>
        </p:nvSpPr>
        <p:spPr>
          <a:xfrm>
            <a:off x="1789377" y="4421345"/>
            <a:ext cx="1010213" cy="300082"/>
          </a:xfrm>
          <a:prstGeom prst="rect">
            <a:avLst/>
          </a:prstGeom>
          <a:noFill/>
        </p:spPr>
        <p:txBody>
          <a:bodyPr wrap="none" rtlCol="0">
            <a:spAutoFit/>
          </a:bodyPr>
          <a:lstStyle/>
          <a:p>
            <a:r>
              <a:rPr lang="en-US" dirty="0">
                <a:solidFill>
                  <a:srgbClr val="C81919"/>
                </a:solidFill>
              </a:rPr>
              <a:t>Not Linear!</a:t>
            </a:r>
            <a:endParaRPr lang="en-NL" dirty="0">
              <a:solidFill>
                <a:srgbClr val="C81919"/>
              </a:solidFill>
            </a:endParaRPr>
          </a:p>
        </p:txBody>
      </p:sp>
      <p:grpSp>
        <p:nvGrpSpPr>
          <p:cNvPr id="23" name="Restored PIE LFR connections">
            <a:extLst>
              <a:ext uri="{FF2B5EF4-FFF2-40B4-BE49-F238E27FC236}">
                <a16:creationId xmlns:a16="http://schemas.microsoft.com/office/drawing/2014/main" id="{C58D937D-5E7D-A0E3-F403-D6515B9631E4}"/>
              </a:ext>
            </a:extLst>
          </p:cNvPr>
          <p:cNvGrpSpPr/>
          <p:nvPr/>
        </p:nvGrpSpPr>
        <p:grpSpPr>
          <a:xfrm>
            <a:off x="4569071" y="1627291"/>
            <a:ext cx="2921000" cy="947655"/>
            <a:chOff x="1995932" y="3206750"/>
            <a:chExt cx="3138932" cy="1018286"/>
          </a:xfrm>
        </p:grpSpPr>
        <p:sp>
          <p:nvSpPr>
            <p:cNvPr id="24" name="Controller plant channel">
              <a:extLst>
                <a:ext uri="{FF2B5EF4-FFF2-40B4-BE49-F238E27FC236}">
                  <a16:creationId xmlns:a16="http://schemas.microsoft.com/office/drawing/2014/main" id="{212177EC-FEE6-9DA5-06CD-E1C6642FFAC5}"/>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5" name="Plant controller channel">
              <a:extLst>
                <a:ext uri="{FF2B5EF4-FFF2-40B4-BE49-F238E27FC236}">
                  <a16:creationId xmlns:a16="http://schemas.microsoft.com/office/drawing/2014/main" id="{43DABC10-0CDF-0D29-4750-61FF0ABBE81C}"/>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6" name="Controller">
              <a:extLst>
                <a:ext uri="{FF2B5EF4-FFF2-40B4-BE49-F238E27FC236}">
                  <a16:creationId xmlns:a16="http://schemas.microsoft.com/office/drawing/2014/main" id="{111D8370-C9ED-52DF-E234-2E48ADD9628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Controller label">
                  <a:extLst>
                    <a:ext uri="{FF2B5EF4-FFF2-40B4-BE49-F238E27FC236}">
                      <a16:creationId xmlns:a16="http://schemas.microsoft.com/office/drawing/2014/main" id="{3E12BF9E-91EF-5AAC-FFD7-79465167D44E}"/>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p:sp>
              <p:nvSpPr>
                <p:cNvPr id="27" name="Controller label">
                  <a:extLst>
                    <a:ext uri="{FF2B5EF4-FFF2-40B4-BE49-F238E27FC236}">
                      <a16:creationId xmlns:a16="http://schemas.microsoft.com/office/drawing/2014/main" id="{3E12BF9E-91EF-5AAC-FFD7-79465167D44E}"/>
                    </a:ext>
                  </a:extLst>
                </p:cNvPr>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12"/>
                  <a:stretch>
                    <a:fillRect l="-77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Controller external channel">
                  <a:extLst>
                    <a:ext uri="{FF2B5EF4-FFF2-40B4-BE49-F238E27FC236}">
                      <a16:creationId xmlns:a16="http://schemas.microsoft.com/office/drawing/2014/main" id="{9F11EB2F-6F29-4DA1-E898-79FA76374DE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p:sp>
              <p:nvSpPr>
                <p:cNvPr id="28" name="Controller external channel">
                  <a:extLst>
                    <a:ext uri="{FF2B5EF4-FFF2-40B4-BE49-F238E27FC236}">
                      <a16:creationId xmlns:a16="http://schemas.microsoft.com/office/drawing/2014/main" id="{9F11EB2F-6F29-4DA1-E898-79FA76374DE9}"/>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Plant measured channel">
                  <a:extLst>
                    <a:ext uri="{FF2B5EF4-FFF2-40B4-BE49-F238E27FC236}">
                      <a16:creationId xmlns:a16="http://schemas.microsoft.com/office/drawing/2014/main" id="{D0139CE8-79B7-9753-87D7-72356D8A9D7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𝑦</m:t>
                            </m:r>
                          </m:e>
                        </m:bar>
                      </m:oMath>
                    </m:oMathPara>
                  </a14:m>
                  <a:endParaRPr sz="1998" dirty="0"/>
                </a:p>
              </p:txBody>
            </p:sp>
          </mc:Choice>
          <mc:Fallback xmlns="">
            <p:sp>
              <p:nvSpPr>
                <p:cNvPr id="29" name="Plant measured channel">
                  <a:extLst>
                    <a:ext uri="{FF2B5EF4-FFF2-40B4-BE49-F238E27FC236}">
                      <a16:creationId xmlns:a16="http://schemas.microsoft.com/office/drawing/2014/main" id="{D0139CE8-79B7-9753-87D7-72356D8A9D7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4"/>
                  <a:stretch>
                    <a:fillRect b="-6780"/>
                  </a:stretch>
                </a:blipFill>
                <a:ln>
                  <a:noFill/>
                </a:ln>
              </p:spPr>
              <p:txBody>
                <a:bodyPr/>
                <a:lstStyle/>
                <a:p>
                  <a:r>
                    <a:rPr lang="en-NL">
                      <a:noFill/>
                    </a:rPr>
                    <a:t> </a:t>
                  </a:r>
                </a:p>
              </p:txBody>
            </p:sp>
          </mc:Fallback>
        </mc:AlternateContent>
      </p:grpSp>
      <p:grpSp>
        <p:nvGrpSpPr>
          <p:cNvPr id="31" name="!!PIE block">
            <a:extLst>
              <a:ext uri="{FF2B5EF4-FFF2-40B4-BE49-F238E27FC236}">
                <a16:creationId xmlns:a16="http://schemas.microsoft.com/office/drawing/2014/main" id="{1C7E5565-3BC8-EB46-A801-32218DB15ACB}"/>
              </a:ext>
            </a:extLst>
          </p:cNvPr>
          <p:cNvGrpSpPr/>
          <p:nvPr/>
        </p:nvGrpSpPr>
        <p:grpSpPr>
          <a:xfrm>
            <a:off x="5583550" y="983151"/>
            <a:ext cx="874551" cy="874613"/>
            <a:chOff x="3086100" y="2514599"/>
            <a:chExt cx="939800" cy="939800"/>
          </a:xfrm>
        </p:grpSpPr>
        <p:sp>
          <p:nvSpPr>
            <p:cNvPr id="32" name="Plant">
              <a:extLst>
                <a:ext uri="{FF2B5EF4-FFF2-40B4-BE49-F238E27FC236}">
                  <a16:creationId xmlns:a16="http://schemas.microsoft.com/office/drawing/2014/main" id="{D127692F-AC1B-49DA-CEAF-03B6CE5AD74E}"/>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3" name="Plant label">
                  <a:extLst>
                    <a:ext uri="{FF2B5EF4-FFF2-40B4-BE49-F238E27FC236}">
                      <a16:creationId xmlns:a16="http://schemas.microsoft.com/office/drawing/2014/main" id="{91884C0A-0819-B295-7387-3A8FB8A73F64}"/>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590" b="0" i="1" smtClean="0">
                                <a:latin typeface="Cambria Math" panose="02040503050406030204" pitchFamily="18" charset="0"/>
                              </a:rPr>
                            </m:ctrlPr>
                          </m:sSupPr>
                          <m:e>
                            <m:r>
                              <m:rPr>
                                <m:sty m:val="p"/>
                              </m:rPr>
                              <a:rPr lang="en-US" sz="2590" b="0" i="1" smtClean="0">
                                <a:latin typeface="Cambria Math" panose="02040503050406030204" pitchFamily="18" charset="0"/>
                              </a:rPr>
                              <m:t>PIE</m:t>
                            </m:r>
                          </m:e>
                          <m:sup>
                            <m:r>
                              <a:rPr lang="en-US" sz="2590" b="0" i="1" smtClean="0">
                                <a:latin typeface="Cambria Math" panose="02040503050406030204" pitchFamily="18" charset="0"/>
                              </a:rPr>
                              <m:t>⊤</m:t>
                            </m:r>
                          </m:sup>
                        </m:sSup>
                      </m:oMath>
                    </m:oMathPara>
                  </a14:m>
                  <a:endParaRPr sz="2590" dirty="0"/>
                </a:p>
              </p:txBody>
            </p:sp>
          </mc:Choice>
          <mc:Fallback xmlns="">
            <p:sp>
              <p:nvSpPr>
                <p:cNvPr id="33" name="Plant label">
                  <a:extLst>
                    <a:ext uri="{FF2B5EF4-FFF2-40B4-BE49-F238E27FC236}">
                      <a16:creationId xmlns:a16="http://schemas.microsoft.com/office/drawing/2014/main" id="{91884C0A-0819-B295-7387-3A8FB8A73F64}"/>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5"/>
                  <a:stretch>
                    <a:fillRect l="-5594"/>
                  </a:stretch>
                </a:blipFill>
                <a:ln>
                  <a:noFill/>
                </a:ln>
              </p:spPr>
              <p:txBody>
                <a:bodyPr/>
                <a:lstStyle/>
                <a:p>
                  <a:r>
                    <a:rPr lang="en-NL">
                      <a:noFill/>
                    </a:rPr>
                    <a:t> </a:t>
                  </a:r>
                </a:p>
              </p:txBody>
            </p:sp>
          </mc:Fallback>
        </mc:AlternateContent>
      </p:grpSp>
      <p:sp>
        <p:nvSpPr>
          <p:cNvPr id="34" name="TextBox 33">
            <a:extLst>
              <a:ext uri="{FF2B5EF4-FFF2-40B4-BE49-F238E27FC236}">
                <a16:creationId xmlns:a16="http://schemas.microsoft.com/office/drawing/2014/main" id="{3A405501-9709-F5BC-56F0-7D3AA0D4BF13}"/>
              </a:ext>
            </a:extLst>
          </p:cNvPr>
          <p:cNvSpPr txBox="1"/>
          <p:nvPr/>
        </p:nvSpPr>
        <p:spPr>
          <a:xfrm>
            <a:off x="4569071"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767C2D5F-5DD8-6170-60B6-72DB08E71392}"/>
                  </a:ext>
                </a:extLst>
              </p:cNvPr>
              <p:cNvSpPr txBox="1"/>
              <p:nvPr/>
            </p:nvSpPr>
            <p:spPr>
              <a:xfrm>
                <a:off x="4617841" y="3841110"/>
                <a:ext cx="2694264" cy="207749"/>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35" name="TextBox 34">
                <a:extLst>
                  <a:ext uri="{FF2B5EF4-FFF2-40B4-BE49-F238E27FC236}">
                    <a16:creationId xmlns:a16="http://schemas.microsoft.com/office/drawing/2014/main" id="{767C2D5F-5DD8-6170-60B6-72DB08E71392}"/>
                  </a:ext>
                </a:extLst>
              </p:cNvPr>
              <p:cNvSpPr txBox="1">
                <a:spLocks noRot="1" noChangeAspect="1" noMove="1" noResize="1" noEditPoints="1" noAdjustHandles="1" noChangeArrowheads="1" noChangeShapeType="1" noTextEdit="1"/>
              </p:cNvSpPr>
              <p:nvPr/>
            </p:nvSpPr>
            <p:spPr>
              <a:xfrm>
                <a:off x="4617841" y="3841110"/>
                <a:ext cx="2694264" cy="207749"/>
              </a:xfrm>
              <a:prstGeom prst="rect">
                <a:avLst/>
              </a:prstGeom>
              <a:blipFill>
                <a:blip r:embed="rId16"/>
                <a:stretch>
                  <a:fillRect r="-1361" b="-14706"/>
                </a:stretch>
              </a:blipFill>
            </p:spPr>
            <p:txBody>
              <a:bodyPr/>
              <a:lstStyle/>
              <a:p>
                <a:r>
                  <a:rPr lang="en-NL">
                    <a:noFill/>
                  </a:rPr>
                  <a:t> </a:t>
                </a:r>
              </a:p>
            </p:txBody>
          </p:sp>
        </mc:Fallback>
      </mc:AlternateContent>
      <p:sp>
        <p:nvSpPr>
          <p:cNvPr id="36" name="TextBox 35">
            <a:extLst>
              <a:ext uri="{FF2B5EF4-FFF2-40B4-BE49-F238E27FC236}">
                <a16:creationId xmlns:a16="http://schemas.microsoft.com/office/drawing/2014/main" id="{10BBF6A1-49E7-A13B-A54C-AC9A367673CB}"/>
              </a:ext>
            </a:extLst>
          </p:cNvPr>
          <p:cNvSpPr txBox="1"/>
          <p:nvPr/>
        </p:nvSpPr>
        <p:spPr>
          <a:xfrm>
            <a:off x="4621840"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41F4FFF0-5D1C-ACA1-1D40-4D7B1C3D2F97}"/>
                  </a:ext>
                </a:extLst>
              </p:cNvPr>
              <p:cNvSpPr txBox="1"/>
              <p:nvPr/>
            </p:nvSpPr>
            <p:spPr>
              <a:xfrm>
                <a:off x="4617841" y="2964664"/>
                <a:ext cx="2166042" cy="309765"/>
              </a:xfrm>
              <a:prstGeom prst="rect">
                <a:avLst/>
              </a:prstGeom>
              <a:noFill/>
            </p:spPr>
            <p:txBody>
              <a:bodyPr wrap="none" rtlCol="0">
                <a:spAutoFit/>
              </a:bodyPr>
              <a:lstStyle/>
              <a:p>
                <a:pPr/>
                <a14:m>
                  <m:oMathPara xmlns:m="http://schemas.openxmlformats.org/officeDocument/2006/math">
                    <m:o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bar>
                        <m:barPr>
                          <m:pos m:val="bot"/>
                          <m:ctrlPr>
                            <a:rPr lang="en-US" b="0" i="1" smtClean="0">
                              <a:latin typeface="Cambria Math" panose="02040503050406030204" pitchFamily="18" charset="0"/>
                            </a:rPr>
                          </m:ctrlPr>
                        </m:bar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𝐵</m:t>
                              </m:r>
                            </m:e>
                            <m:sub>
                              <m:r>
                                <a:rPr lang="en-US" b="0" i="1" smtClean="0">
                                  <a:latin typeface="Cambria Math" panose="02040503050406030204" pitchFamily="18" charset="0"/>
                                </a:rPr>
                                <m:t>𝑢</m:t>
                              </m:r>
                            </m:sub>
                            <m:sup>
                              <m:r>
                                <a:rPr lang="en-US" b="0" i="1" smtClean="0">
                                  <a:latin typeface="Cambria Math" panose="02040503050406030204" pitchFamily="18" charset="0"/>
                                </a:rPr>
                                <m:t>⊤</m:t>
                              </m:r>
                            </m:sup>
                          </m:sSubSup>
                        </m:e>
                      </m:d>
                      <m:bar>
                        <m:barPr>
                          <m:pos m:val="bot"/>
                          <m:ctrlPr>
                            <a:rPr lang="en-US" b="0" i="1" smtClean="0">
                              <a:latin typeface="Cambria Math" panose="02040503050406030204" pitchFamily="18" charset="0"/>
                            </a:rPr>
                          </m:ctrlPr>
                        </m:barPr>
                        <m:e>
                          <m:r>
                            <a:rPr lang="en-US" b="0" i="1" smtClean="0">
                              <a:latin typeface="Cambria Math" panose="02040503050406030204" pitchFamily="18" charset="0"/>
                            </a:rPr>
                            <m:t>𝑥</m:t>
                          </m:r>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37" name="TextBox 36">
                <a:extLst>
                  <a:ext uri="{FF2B5EF4-FFF2-40B4-BE49-F238E27FC236}">
                    <a16:creationId xmlns:a16="http://schemas.microsoft.com/office/drawing/2014/main" id="{41F4FFF0-5D1C-ACA1-1D40-4D7B1C3D2F97}"/>
                  </a:ext>
                </a:extLst>
              </p:cNvPr>
              <p:cNvSpPr txBox="1">
                <a:spLocks noRot="1" noChangeAspect="1" noMove="1" noResize="1" noEditPoints="1" noAdjustHandles="1" noChangeArrowheads="1" noChangeShapeType="1" noTextEdit="1"/>
              </p:cNvSpPr>
              <p:nvPr/>
            </p:nvSpPr>
            <p:spPr>
              <a:xfrm>
                <a:off x="4617841" y="2964664"/>
                <a:ext cx="2166042" cy="309765"/>
              </a:xfrm>
              <a:prstGeom prst="rect">
                <a:avLst/>
              </a:prstGeom>
              <a:blipFill>
                <a:blip r:embed="rId17"/>
                <a:stretch>
                  <a:fillRect/>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4541B4E6-8F58-3EAA-E5B6-23EDA1F98D7E}"/>
                  </a:ext>
                </a:extLst>
              </p:cNvPr>
              <p:cNvSpPr txBox="1"/>
              <p:nvPr/>
            </p:nvSpPr>
            <p:spPr>
              <a:xfrm>
                <a:off x="4632899" y="4137635"/>
                <a:ext cx="777521" cy="207749"/>
              </a:xfrm>
              <a:prstGeom prst="rect">
                <a:avLst/>
              </a:prstGeom>
              <a:noFill/>
            </p:spPr>
            <p:txBody>
              <a:bodyPr wrap="none" lIns="0" tIns="0" rIns="0" bIns="0" rtlCol="0">
                <a:spAutoFit/>
              </a:bodyPr>
              <a:lstStyle/>
              <a:p>
                <a:pPr/>
                <a14:m>
                  <m:oMathPara xmlns:m="http://schemas.openxmlformats.org/officeDocument/2006/math">
                    <m:oMath>
                      <m:r>
                        <a:rPr lang="en-US" b="0" i="1" smtClean="0">
                          <a:latin typeface="Cambria Math" panose="02040503050406030204" pitchFamily="18" charset="0"/>
                        </a:rPr>
                        <m:t>𝐾</m:t>
                      </m:r>
                      <m:r>
                        <a:rPr lang="en-US" b="0" i="1" smtClean="0">
                          <a:latin typeface="Cambria Math" panose="02040503050406030204" pitchFamily="18" charset="0"/>
                        </a:rPr>
                        <m:t>=</m:t>
                      </m:r>
                      <m:r>
                        <a:rPr lang="en-US" b="0" i="1" smtClean="0">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−1</m:t>
                          </m:r>
                        </m:sup>
                      </m:sSup>
                    </m:oMath>
                  </m:oMathPara>
                </a14:m>
                <a:endParaRPr lang="en-NL" dirty="0"/>
              </a:p>
            </p:txBody>
          </p:sp>
        </mc:Choice>
        <mc:Fallback xmlns="">
          <p:sp>
            <p:nvSpPr>
              <p:cNvPr id="41" name="TextBox 40">
                <a:extLst>
                  <a:ext uri="{FF2B5EF4-FFF2-40B4-BE49-F238E27FC236}">
                    <a16:creationId xmlns:a16="http://schemas.microsoft.com/office/drawing/2014/main" id="{4541B4E6-8F58-3EAA-E5B6-23EDA1F98D7E}"/>
                  </a:ext>
                </a:extLst>
              </p:cNvPr>
              <p:cNvSpPr txBox="1">
                <a:spLocks noRot="1" noChangeAspect="1" noMove="1" noResize="1" noEditPoints="1" noAdjustHandles="1" noChangeArrowheads="1" noChangeShapeType="1" noTextEdit="1"/>
              </p:cNvSpPr>
              <p:nvPr/>
            </p:nvSpPr>
            <p:spPr>
              <a:xfrm>
                <a:off x="4632899" y="4137635"/>
                <a:ext cx="777521" cy="207749"/>
              </a:xfrm>
              <a:prstGeom prst="rect">
                <a:avLst/>
              </a:prstGeom>
              <a:blipFill>
                <a:blip r:embed="rId18"/>
                <a:stretch>
                  <a:fillRect l="-5469" t="-2941" r="-1563" b="-5882"/>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4009C174-0D98-DB92-EEFB-8D992B1795D2}"/>
                  </a:ext>
                </a:extLst>
              </p:cNvPr>
              <p:cNvSpPr txBox="1"/>
              <p:nvPr/>
            </p:nvSpPr>
            <p:spPr>
              <a:xfrm>
                <a:off x="4620601" y="4324958"/>
                <a:ext cx="2715359" cy="447623"/>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𝑍</m:t>
                          </m:r>
                        </m:e>
                        <m:e>
                          <m:r>
                            <a:rPr lang="en-US" b="0" i="1" smtClean="0">
                              <a:latin typeface="Cambria Math" panose="02040503050406030204" pitchFamily="18" charset="0"/>
                            </a:rPr>
                            <m:t>𝐴</m:t>
                          </m:r>
                          <m:r>
                            <a:rPr lang="en-US" b="0" i="1" smtClean="0">
                              <a:solidFill>
                                <a:srgbClr val="C81919"/>
                              </a:solidFill>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solidFill>
                                <a:srgbClr val="C81919"/>
                              </a:solidFill>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m:t>
                          </m:r>
                          <m:sSup>
                            <m:sSupPr>
                              <m:ctrlPr>
                                <a:rPr lang="en-US" b="0" i="1" smtClean="0">
                                  <a:solidFill>
                                    <a:srgbClr val="C81919"/>
                                  </a:solidFill>
                                  <a:latin typeface="Cambria Math" panose="02040503050406030204" pitchFamily="18" charset="0"/>
                                </a:rPr>
                              </m:ctrlPr>
                            </m:sSupPr>
                            <m:e>
                              <m:r>
                                <a:rPr lang="en-US" b="0" i="1" smtClean="0">
                                  <a:solidFill>
                                    <a:srgbClr val="C81919"/>
                                  </a:solidFill>
                                  <a:latin typeface="Cambria Math" panose="02040503050406030204" pitchFamily="18" charset="0"/>
                                </a:rPr>
                                <m:t>𝑍</m:t>
                              </m:r>
                            </m:e>
                            <m:sup>
                              <m:r>
                                <a:rPr lang="en-US" b="0" i="1" smtClean="0">
                                  <a:solidFill>
                                    <a:srgbClr val="C81919"/>
                                  </a:solidFill>
                                  <a:latin typeface="Cambria Math" panose="02040503050406030204" pitchFamily="18" charset="0"/>
                                </a:rPr>
                                <m:t>⊤</m:t>
                              </m:r>
                            </m:sup>
                          </m:sSup>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≻0</m:t>
                          </m:r>
                        </m:e>
                      </m:eqArr>
                    </m:oMath>
                  </m:oMathPara>
                </a14:m>
                <a:endParaRPr lang="en-NL" dirty="0"/>
              </a:p>
            </p:txBody>
          </p:sp>
        </mc:Choice>
        <mc:Fallback xmlns="">
          <p:sp>
            <p:nvSpPr>
              <p:cNvPr id="42" name="TextBox 41">
                <a:extLst>
                  <a:ext uri="{FF2B5EF4-FFF2-40B4-BE49-F238E27FC236}">
                    <a16:creationId xmlns:a16="http://schemas.microsoft.com/office/drawing/2014/main" id="{4009C174-0D98-DB92-EEFB-8D992B1795D2}"/>
                  </a:ext>
                </a:extLst>
              </p:cNvPr>
              <p:cNvSpPr txBox="1">
                <a:spLocks noRot="1" noChangeAspect="1" noMove="1" noResize="1" noEditPoints="1" noAdjustHandles="1" noChangeArrowheads="1" noChangeShapeType="1" noTextEdit="1"/>
              </p:cNvSpPr>
              <p:nvPr/>
            </p:nvSpPr>
            <p:spPr>
              <a:xfrm>
                <a:off x="4620601" y="4324958"/>
                <a:ext cx="2715359" cy="447623"/>
              </a:xfrm>
              <a:prstGeom prst="rect">
                <a:avLst/>
              </a:prstGeom>
              <a:blipFill>
                <a:blip r:embed="rId19"/>
                <a:stretch>
                  <a:fillRect l="-1124" t="-8108" r="-1348" b="-5405"/>
                </a:stretch>
              </a:blipFill>
            </p:spPr>
            <p:txBody>
              <a:bodyPr/>
              <a:lstStyle/>
              <a:p>
                <a:r>
                  <a:rPr lang="en-NL">
                    <a:noFill/>
                  </a:rPr>
                  <a:t> </a:t>
                </a:r>
              </a:p>
            </p:txBody>
          </p:sp>
        </mc:Fallback>
      </mc:AlternateContent>
      <p:sp>
        <p:nvSpPr>
          <p:cNvPr id="43" name="TextBox 42">
            <a:extLst>
              <a:ext uri="{FF2B5EF4-FFF2-40B4-BE49-F238E27FC236}">
                <a16:creationId xmlns:a16="http://schemas.microsoft.com/office/drawing/2014/main" id="{E1890B28-F6CC-6B66-B8FC-269E96D6847B}"/>
              </a:ext>
            </a:extLst>
          </p:cNvPr>
          <p:cNvSpPr txBox="1"/>
          <p:nvPr/>
        </p:nvSpPr>
        <p:spPr>
          <a:xfrm>
            <a:off x="4566581" y="4530910"/>
            <a:ext cx="1454244" cy="300082"/>
          </a:xfrm>
          <a:prstGeom prst="rect">
            <a:avLst/>
          </a:prstGeom>
          <a:noFill/>
        </p:spPr>
        <p:txBody>
          <a:bodyPr wrap="none" rtlCol="0">
            <a:spAutoFit/>
          </a:bodyPr>
          <a:lstStyle/>
          <a:p>
            <a:r>
              <a:rPr lang="en-US" dirty="0">
                <a:solidFill>
                  <a:srgbClr val="C81919"/>
                </a:solidFill>
              </a:rPr>
              <a:t>Linear in Z and P!</a:t>
            </a:r>
            <a:endParaRPr lang="en-NL" dirty="0">
              <a:solidFill>
                <a:srgbClr val="C81919"/>
              </a:solidFill>
            </a:endParaRPr>
          </a:p>
        </p:txBody>
      </p:sp>
    </p:spTree>
    <p:extLst>
      <p:ext uri="{BB962C8B-B14F-4D97-AF65-F5344CB8AC3E}">
        <p14:creationId xmlns:p14="http://schemas.microsoft.com/office/powerpoint/2010/main" val="343054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4"/>
                                        </p:tgtEl>
                                        <p:attrNameLst>
                                          <p:attrName>style.visibility</p:attrName>
                                        </p:attrNameLst>
                                      </p:cBhvr>
                                      <p:to>
                                        <p:strVal val="visible"/>
                                      </p:to>
                                    </p:set>
                                  </p:childTnLst>
                                </p:cTn>
                              </p:par>
                              <p:par>
                                <p:cTn id="45" presetID="1" presetClass="entr" presetSubtype="0" fill="hold" grpId="1" nodeType="withEffect">
                                  <p:stCondLst>
                                    <p:cond delay="0"/>
                                  </p:stCondLst>
                                  <p:childTnLst>
                                    <p:set>
                                      <p:cBhvr>
                                        <p:cTn id="46" dur="1" fill="hold">
                                          <p:stCondLst>
                                            <p:cond delay="0"/>
                                          </p:stCondLst>
                                        </p:cTn>
                                        <p:tgtEl>
                                          <p:spTgt spid="3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1" nodeType="clickEffect">
                                  <p:stCondLst>
                                    <p:cond delay="0"/>
                                  </p:stCondLst>
                                  <p:childTnLst>
                                    <p:set>
                                      <p:cBhvr>
                                        <p:cTn id="50" dur="1" fill="hold">
                                          <p:stCondLst>
                                            <p:cond delay="0"/>
                                          </p:stCondLst>
                                        </p:cTn>
                                        <p:tgtEl>
                                          <p:spTgt spid="4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1" nodeType="clickEffect">
                                  <p:stCondLst>
                                    <p:cond delay="0"/>
                                  </p:stCondLst>
                                  <p:childTnLst>
                                    <p:set>
                                      <p:cBhvr>
                                        <p:cTn id="54" dur="1" fill="hold">
                                          <p:stCondLst>
                                            <p:cond delay="0"/>
                                          </p:stCondLst>
                                        </p:cTn>
                                        <p:tgtEl>
                                          <p:spTgt spid="42"/>
                                        </p:tgtEl>
                                        <p:attrNameLst>
                                          <p:attrName>style.visibility</p:attrName>
                                        </p:attrNameLst>
                                      </p:cBhvr>
                                      <p:to>
                                        <p:strVal val="visible"/>
                                      </p:to>
                                    </p:set>
                                  </p:childTnLst>
                                </p:cTn>
                              </p:par>
                              <p:par>
                                <p:cTn id="55" presetID="42" presetClass="path" presetSubtype="0" accel="50000" decel="50000" fill="hold" grpId="0" nodeType="withEffect">
                                  <p:stCondLst>
                                    <p:cond delay="0"/>
                                  </p:stCondLst>
                                  <p:childTnLst>
                                    <p:animMotion origin="layout" path="M -1.94444E-6 -2.71605E-6 L -0.00035 -0.0574 " pathEditMode="relative" rAng="0" ptsTypes="AA">
                                      <p:cBhvr>
                                        <p:cTn id="56" dur="200" fill="hold"/>
                                        <p:tgtEl>
                                          <p:spTgt spid="41"/>
                                        </p:tgtEl>
                                        <p:attrNameLst>
                                          <p:attrName>ppt_x</p:attrName>
                                          <p:attrName>ppt_y</p:attrName>
                                        </p:attrNameLst>
                                      </p:cBhvr>
                                      <p:rCtr x="-17" y="-2870"/>
                                    </p:animMotion>
                                  </p:childTnLst>
                                </p:cTn>
                              </p:par>
                              <p:par>
                                <p:cTn id="57" presetID="42" presetClass="path" presetSubtype="0" accel="50000" decel="50000" fill="hold" grpId="0" nodeType="withEffect">
                                  <p:stCondLst>
                                    <p:cond delay="0"/>
                                  </p:stCondLst>
                                  <p:childTnLst>
                                    <p:animMotion origin="layout" path="M 5.55556E-7 7.40741E-7 L -0.00017 -0.04907 " pathEditMode="relative" rAng="0" ptsTypes="AA">
                                      <p:cBhvr>
                                        <p:cTn id="58" dur="200" fill="hold"/>
                                        <p:tgtEl>
                                          <p:spTgt spid="42"/>
                                        </p:tgtEl>
                                        <p:attrNameLst>
                                          <p:attrName>ppt_x</p:attrName>
                                          <p:attrName>ppt_y</p:attrName>
                                        </p:attrNameLst>
                                      </p:cBhvr>
                                      <p:rCtr x="-17" y="-2469"/>
                                    </p:animMotion>
                                  </p:childTnLst>
                                </p:cTn>
                              </p:par>
                              <p:par>
                                <p:cTn id="59" presetID="1" presetClass="exit" presetSubtype="0" fill="hold" grpId="0" nodeType="withEffect">
                                  <p:stCondLst>
                                    <p:cond delay="0"/>
                                  </p:stCondLst>
                                  <p:childTnLst>
                                    <p:set>
                                      <p:cBhvr>
                                        <p:cTn id="60" dur="1" fill="hold">
                                          <p:stCondLst>
                                            <p:cond delay="0"/>
                                          </p:stCondLst>
                                        </p:cTn>
                                        <p:tgtEl>
                                          <p:spTgt spid="35"/>
                                        </p:tgtEl>
                                        <p:attrNameLst>
                                          <p:attrName>style.visibility</p:attrName>
                                        </p:attrNameLst>
                                      </p:cBhvr>
                                      <p:to>
                                        <p:strVal val="hidden"/>
                                      </p:to>
                                    </p:set>
                                  </p:childTnLst>
                                </p:cTn>
                              </p:par>
                            </p:childTnLst>
                          </p:cTn>
                        </p:par>
                        <p:par>
                          <p:cTn id="61" fill="hold">
                            <p:stCondLst>
                              <p:cond delay="200"/>
                            </p:stCondLst>
                            <p:childTnLst>
                              <p:par>
                                <p:cTn id="62" presetID="1" presetClass="entr" presetSubtype="0" fill="hold" grpId="0" nodeType="afterEffect">
                                  <p:stCondLst>
                                    <p:cond delay="0"/>
                                  </p:stCondLst>
                                  <p:childTnLst>
                                    <p:set>
                                      <p:cBhvr>
                                        <p:cTn id="63"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12" grpId="0"/>
      <p:bldP spid="13" grpId="0"/>
      <p:bldP spid="15" grpId="0" animBg="1"/>
      <p:bldP spid="20" grpId="0" animBg="1"/>
      <p:bldP spid="22" grpId="0"/>
      <p:bldP spid="34" grpId="0"/>
      <p:bldP spid="35" grpId="0"/>
      <p:bldP spid="35" grpId="1"/>
      <p:bldP spid="36" grpId="0"/>
      <p:bldP spid="37" grpId="0"/>
      <p:bldP spid="41" grpId="0"/>
      <p:bldP spid="41" grpId="1"/>
      <p:bldP spid="42" grpId="0"/>
      <p:bldP spid="42" grpId="1"/>
      <p:bldP spid="4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992219-C396-AA27-6339-85F0C81991B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A74FCFB9-48C4-EC38-2BCE-E8EE2EEA3D17}"/>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05B47F60-62FB-9324-1406-3C3088D75FC5}"/>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4172022" y="-1235081"/>
            <a:ext cx="3604988" cy="5142857"/>
          </a:xfrm>
          <a:prstGeom prst="rect">
            <a:avLst/>
          </a:prstGeom>
        </p:spPr>
      </p:pic>
    </p:spTree>
    <p:extLst>
      <p:ext uri="{BB962C8B-B14F-4D97-AF65-F5344CB8AC3E}">
        <p14:creationId xmlns:p14="http://schemas.microsoft.com/office/powerpoint/2010/main" val="3550703130"/>
      </p:ext>
    </p:extLst>
  </p:cSld>
  <p:clrMapOvr>
    <a:masterClrMapping/>
  </p:clrMapOvr>
  <mc:AlternateContent xmlns:mc="http://schemas.openxmlformats.org/markup-compatibility/2006" xmlns:p14="http://schemas.microsoft.com/office/powerpoint/2010/main">
    <mc:Choice Requires="p14">
      <p:transition p14:dur="10" advClick="0" advTm="0"/>
    </mc:Choice>
    <mc:Fallback xmlns="">
      <p:transition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321C82-1EE1-054E-5DB7-AC0D8200CCAE}"/>
            </a:ext>
          </a:extLst>
        </p:cNvPr>
        <p:cNvGrpSpPr/>
        <p:nvPr/>
      </p:nvGrpSpPr>
      <p:grpSpPr>
        <a:xfrm>
          <a:off x="0" y="0"/>
          <a:ext cx="0" cy="0"/>
          <a:chOff x="0" y="0"/>
          <a:chExt cx="0" cy="0"/>
        </a:xfrm>
      </p:grpSpPr>
      <p:pic>
        <p:nvPicPr>
          <p:cNvPr id="36" name="Picture 35">
            <a:extLst>
              <a:ext uri="{FF2B5EF4-FFF2-40B4-BE49-F238E27FC236}">
                <a16:creationId xmlns:a16="http://schemas.microsoft.com/office/drawing/2014/main" id="{0FA4BCD9-0193-2F2B-9C3D-766436DA2699}"/>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
        <p:nvSpPr>
          <p:cNvPr id="5" name="Footer Placeholder 4">
            <a:extLst>
              <a:ext uri="{FF2B5EF4-FFF2-40B4-BE49-F238E27FC236}">
                <a16:creationId xmlns:a16="http://schemas.microsoft.com/office/drawing/2014/main" id="{C40E7F83-62BE-A3D6-9785-52306BEF4B4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27A75516-7287-8597-75D8-6304A2082B8E}"/>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5190276" y="2570632"/>
            <a:ext cx="1808057" cy="2579366"/>
          </a:xfrm>
          <a:prstGeom prst="rect">
            <a:avLst/>
          </a:prstGeom>
        </p:spPr>
      </p:pic>
      <p:sp>
        <p:nvSpPr>
          <p:cNvPr id="2" name="!!PIE pillar">
            <a:extLst>
              <a:ext uri="{FF2B5EF4-FFF2-40B4-BE49-F238E27FC236}">
                <a16:creationId xmlns:a16="http://schemas.microsoft.com/office/drawing/2014/main" id="{8050A96E-ED94-ACCC-C82F-3B50296B7E44}"/>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PIE heading">
            <a:extLst>
              <a:ext uri="{FF2B5EF4-FFF2-40B4-BE49-F238E27FC236}">
                <a16:creationId xmlns:a16="http://schemas.microsoft.com/office/drawing/2014/main" id="{6E6EA3F3-BFD9-8C9C-F3F8-24A7B189A613}"/>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7E2575EE-1F96-EDBC-72EA-39B38402FFE2}"/>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E148D39D-F88B-11EC-ED09-E06ED40DE94A}"/>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7" name="PIE method">
                <a:extLst>
                  <a:ext uri="{FF2B5EF4-FFF2-40B4-BE49-F238E27FC236}">
                    <a16:creationId xmlns:a16="http://schemas.microsoft.com/office/drawing/2014/main" id="{7138375C-38C7-922E-2F1E-C7F6A4FE2F40}"/>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xmlns:m="http://schemas.openxmlformats.org/officeDocument/2006/math">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F72ED600-5697-DE79-AC92-474B45E4F7CE}"/>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DCBCCBD4-9FFA-3ECA-7C98-BC3C2A7C3998}"/>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7C542074-B9E7-AD05-4C97-E6EFD5816A0E}"/>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1" name="Uncertainty to plant">
              <a:extLst>
                <a:ext uri="{FF2B5EF4-FFF2-40B4-BE49-F238E27FC236}">
                  <a16:creationId xmlns:a16="http://schemas.microsoft.com/office/drawing/2014/main" id="{6C611A91-475D-0C49-B19B-97663C93E569}"/>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C86D7701-1C05-78AA-9366-EBAAEAAB3352}"/>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9E5A9FB3-198D-16AB-FBA7-A9B8705A983D}"/>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39A9A93D-9870-049A-B3DB-50E26078FF14}"/>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53439FD5-0DB3-4D60-B685-1A965489C1C9}"/>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FECB77E2-0C3A-87A6-02DD-4D37CE1E4113}"/>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 name="Plant measured channel">
                  <a:extLst>
                    <a:ext uri="{FF2B5EF4-FFF2-40B4-BE49-F238E27FC236}">
                      <a16:creationId xmlns:a16="http://schemas.microsoft.com/office/drawing/2014/main" id="{B1F0B6BC-B6C4-B039-E797-4EF4C0C8FCE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17" name="Plant measured channel">
                  <a:extLst>
                    <a:ext uri="{FF2B5EF4-FFF2-40B4-BE49-F238E27FC236}">
                      <a16:creationId xmlns:a16="http://schemas.microsoft.com/office/drawing/2014/main" id="{B1F0B6BC-B6C4-B039-E797-4EF4C0C8FCEA}"/>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E562CD64-794F-6243-7CE0-063831C96A81}"/>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BBB05AED-A6AE-E784-2C6C-567417AF828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B846FEA5-0E35-62D8-3CEE-AE1278E6EDE4}"/>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308A3D1A-6450-1AF2-8F7C-6B8219AF727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A0F78390-D184-EFAE-46E6-8DD8272306A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grpSp>
        <p:nvGrpSpPr>
          <p:cNvPr id="10001" name="!!Delta focus"/>
          <p:cNvGrpSpPr/>
          <p:nvPr/>
        </p:nvGrpSpPr>
        <p:grpSpPr>
          <a:xfrm>
            <a:off x="1583089" y="1574800"/>
            <a:ext cx="524731" cy="524768"/>
            <a:chOff x="3274060" y="1819148"/>
            <a:chExt cx="563880" cy="563880"/>
          </a:xfrm>
        </p:grpSpPr>
        <p:sp>
          <p:nvSpPr>
            <p:cNvPr id="10002" name="Uncertainty">
              <a:extLst>
                <a:ext uri="{FF2B5EF4-FFF2-40B4-BE49-F238E27FC236}">
                  <a16:creationId xmlns:a16="http://schemas.microsoft.com/office/drawing/2014/main" id="{C4CC0593-5B17-7C06-B797-445AF0990F62}"/>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003" name="Uncertainty label">
                  <a:extLst>
                    <a:ext uri="{FF2B5EF4-FFF2-40B4-BE49-F238E27FC236}">
                      <a16:creationId xmlns:a16="http://schemas.microsoft.com/office/drawing/2014/main" id="{79EE80DF-8087-0596-A21D-ADCD4B538F90}"/>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100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394110763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7DC287-A2DB-8EE3-A084-FFD329101A75}"/>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899230D0-2CE6-92C0-9BAC-987DC688271D}"/>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8" name="Footer Placeholder 4">
            <a:extLst>
              <a:ext uri="{FF2B5EF4-FFF2-40B4-BE49-F238E27FC236}">
                <a16:creationId xmlns:a16="http://schemas.microsoft.com/office/drawing/2014/main" id="{C3CD0352-D0EF-3CE5-A6ED-E089FD9C5065}"/>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20" name="!!Delta focus">
            <a:extLst>
              <a:ext uri="{FF2B5EF4-FFF2-40B4-BE49-F238E27FC236}">
                <a16:creationId xmlns:a16="http://schemas.microsoft.com/office/drawing/2014/main" id="{B0E20DEB-37B9-460B-FC30-349657C7288C}"/>
              </a:ext>
            </a:extLst>
          </p:cNvPr>
          <p:cNvGrpSpPr/>
          <p:nvPr/>
        </p:nvGrpSpPr>
        <p:grpSpPr>
          <a:xfrm>
            <a:off x="5979171" y="785460"/>
            <a:ext cx="262285" cy="262752"/>
            <a:chOff x="3274060" y="1819146"/>
            <a:chExt cx="563880" cy="563879"/>
          </a:xfrm>
        </p:grpSpPr>
        <p:sp>
          <p:nvSpPr>
            <p:cNvPr id="21" name="Uncertainty">
              <a:extLst>
                <a:ext uri="{FF2B5EF4-FFF2-40B4-BE49-F238E27FC236}">
                  <a16:creationId xmlns:a16="http://schemas.microsoft.com/office/drawing/2014/main" id="{59903BC7-2561-EE93-1E41-DA8E23398F51}"/>
                </a:ext>
              </a:extLst>
            </p:cNvPr>
            <p:cNvSpPr/>
            <p:nvPr/>
          </p:nvSpPr>
          <p:spPr>
            <a:xfrm>
              <a:off x="3274060" y="1819146"/>
              <a:ext cx="563880" cy="563879"/>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23" name="Uncertainty label">
                  <a:extLst>
                    <a:ext uri="{FF2B5EF4-FFF2-40B4-BE49-F238E27FC236}">
                      <a16:creationId xmlns:a16="http://schemas.microsoft.com/office/drawing/2014/main" id="{92613ED2-156A-040B-BFF1-368DF8282A89}"/>
                    </a:ext>
                  </a:extLst>
                </p:cNvPr>
                <p:cNvSpPr/>
                <p:nvPr/>
              </p:nvSpPr>
              <p:spPr>
                <a:xfrm>
                  <a:off x="3274060" y="1854390"/>
                  <a:ext cx="563880" cy="493395"/>
                </a:xfrm>
                <a:prstGeom prst="rect">
                  <a:avLst/>
                </a:prstGeom>
                <a:noFill/>
                <a:ln>
                  <a:noFill/>
                  <a:prstDash val="solid"/>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1200" smtClean="0">
                            <a:solidFill>
                              <a:schemeClr val="tx1"/>
                            </a:solidFill>
                            <a:latin typeface="Cambria Math"/>
                          </a:rPr>
                          <m:t>Δ</m:t>
                        </m:r>
                      </m:oMath>
                    </m:oMathPara>
                  </a14:m>
                  <a:endParaRPr sz="2590" dirty="0"/>
                </a:p>
              </p:txBody>
            </p:sp>
          </mc:Choice>
          <mc:Fallback xmlns="">
            <p:sp>
              <p:nvSpPr>
                <p:cNvPr id="23" name="Uncertainty label">
                  <a:extLst>
                    <a:ext uri="{FF2B5EF4-FFF2-40B4-BE49-F238E27FC236}">
                      <a16:creationId xmlns:a16="http://schemas.microsoft.com/office/drawing/2014/main" id="{92613ED2-156A-040B-BFF1-368DF8282A89}"/>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3"/>
                  <a:stretch>
                    <a:fillRect/>
                  </a:stretch>
                </a:blipFill>
                <a:ln>
                  <a:noFill/>
                  <a:prstDash val="solid"/>
                </a:ln>
              </p:spPr>
              <p:txBody>
                <a:bodyPr/>
                <a:lstStyle/>
                <a:p>
                  <a:r>
                    <a:rPr lang="en-NL">
                      <a:noFill/>
                    </a:rPr>
                    <a:t> </a:t>
                  </a:r>
                </a:p>
              </p:txBody>
            </p:sp>
          </mc:Fallback>
        </mc:AlternateContent>
      </p:grpSp>
      <p:cxnSp>
        <p:nvCxnSpPr>
          <p:cNvPr id="24" name="Straight Arrow Connector 23">
            <a:extLst>
              <a:ext uri="{FF2B5EF4-FFF2-40B4-BE49-F238E27FC236}">
                <a16:creationId xmlns:a16="http://schemas.microsoft.com/office/drawing/2014/main" id="{F3095E5B-5129-11A9-9AAA-FF13ED148A0F}"/>
              </a:ext>
            </a:extLst>
          </p:cNvPr>
          <p:cNvCxnSpPr>
            <a:cxnSpLocks/>
            <a:endCxn id="21" idx="1"/>
          </p:cNvCxnSpPr>
          <p:nvPr/>
        </p:nvCxnSpPr>
        <p:spPr>
          <a:xfrm>
            <a:off x="5635625" y="916835"/>
            <a:ext cx="343546" cy="1"/>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1F35EE39-51E3-3250-E12C-6696F14A3121}"/>
              </a:ext>
            </a:extLst>
          </p:cNvPr>
          <p:cNvCxnSpPr>
            <a:cxnSpLocks/>
            <a:stCxn id="23" idx="3"/>
          </p:cNvCxnSpPr>
          <p:nvPr/>
        </p:nvCxnSpPr>
        <p:spPr>
          <a:xfrm>
            <a:off x="6241455" y="916835"/>
            <a:ext cx="359370"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18787445"/>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Describe the nonlinearity Δ</a:t>
            </a:r>
            <a:endParaRPr sz="2500" dirty="0"/>
          </a:p>
        </p:txBody>
      </p:sp>
      <p:sp>
        <p:nvSpPr>
          <p:cNvPr id="1201" name="Sector bounds Sector region"/>
          <p:cNvSpPr/>
          <p:nvPr/>
        </p:nvSpPr>
        <p:spPr>
          <a:xfrm>
            <a:off x="660400" y="2400300"/>
            <a:ext cx="1739900" cy="958103"/>
          </a:xfrm>
          <a:custGeom>
            <a:avLst/>
            <a:gdLst/>
            <a:ahLst/>
            <a:cxnLst/>
            <a:rect l="0" t="0" r="r" b="b"/>
            <a:pathLst>
              <a:path w="1739900" h="958103">
                <a:moveTo>
                  <a:pt x="1727200" y="12700"/>
                </a:moveTo>
                <a:lnTo>
                  <a:pt x="12700" y="12700"/>
                </a:lnTo>
                <a:lnTo>
                  <a:pt x="12700" y="945403"/>
                </a:lnTo>
                <a:close/>
              </a:path>
            </a:pathLst>
          </a:custGeom>
          <a:solidFill>
            <a:srgbClr val="EDF2F5"/>
          </a:solidFill>
          <a:ln w="0">
            <a:noFill/>
          </a:ln>
        </p:spPr>
        <p:txBody>
          <a:bodyPr/>
          <a:lstStyle/>
          <a:p>
            <a:endParaRPr lang="en-NL"/>
          </a:p>
        </p:txBody>
      </p:sp>
      <p:sp>
        <p:nvSpPr>
          <p:cNvPr id="1202" name="Sector bounds Sector region"/>
          <p:cNvSpPr/>
          <p:nvPr/>
        </p:nvSpPr>
        <p:spPr>
          <a:xfrm>
            <a:off x="2374900" y="1467597"/>
            <a:ext cx="1739900" cy="958103"/>
          </a:xfrm>
          <a:custGeom>
            <a:avLst/>
            <a:gdLst/>
            <a:ahLst/>
            <a:cxnLst/>
            <a:rect l="0" t="0" r="r" b="b"/>
            <a:pathLst>
              <a:path w="1739900" h="958103">
                <a:moveTo>
                  <a:pt x="12700" y="945403"/>
                </a:moveTo>
                <a:lnTo>
                  <a:pt x="1727200" y="945403"/>
                </a:lnTo>
                <a:lnTo>
                  <a:pt x="1727200" y="12700"/>
                </a:lnTo>
                <a:close/>
              </a:path>
            </a:pathLst>
          </a:custGeom>
          <a:solidFill>
            <a:srgbClr val="EDF2F5"/>
          </a:solidFill>
          <a:ln w="0">
            <a:noFill/>
          </a:ln>
        </p:spPr>
        <p:txBody>
          <a:bodyPr/>
          <a:lstStyle/>
          <a:p>
            <a:endParaRPr lang="en-NL"/>
          </a:p>
        </p:txBody>
      </p:sp>
      <p:sp>
        <p:nvSpPr>
          <p:cNvPr id="1206" name="Sector bounds Lower sector line"/>
          <p:cNvSpPr/>
          <p:nvPr/>
        </p:nvSpPr>
        <p:spPr>
          <a:xfrm>
            <a:off x="660400" y="2400300"/>
            <a:ext cx="3454400" cy="25400"/>
          </a:xfrm>
          <a:custGeom>
            <a:avLst/>
            <a:gdLst/>
            <a:ahLst/>
            <a:cxnLst/>
            <a:rect l="0" t="0" r="r" b="b"/>
            <a:pathLst>
              <a:path w="3454400" h="25400" fill="none">
                <a:moveTo>
                  <a:pt x="12700" y="12700"/>
                </a:moveTo>
                <a:lnTo>
                  <a:pt x="3441700" y="12700"/>
                </a:lnTo>
              </a:path>
            </a:pathLst>
          </a:custGeom>
          <a:noFill/>
          <a:ln w="40640">
            <a:solidFill>
              <a:srgbClr val="747B82"/>
            </a:solidFill>
          </a:ln>
        </p:spPr>
        <p:txBody>
          <a:bodyPr/>
          <a:lstStyle/>
          <a:p>
            <a:endParaRPr lang="en-NL"/>
          </a:p>
        </p:txBody>
      </p:sp>
      <mc:AlternateContent xmlns:mc="http://schemas.openxmlformats.org/markup-compatibility/2006" xmlns:a14="http://schemas.microsoft.com/office/drawing/2010/main">
        <mc:Choice Requires="a14">
          <p:sp>
            <p:nvSpPr>
              <p:cNvPr id="1401" name="Graph input"/>
              <p:cNvSpPr/>
              <p:nvPr/>
            </p:nvSpPr>
            <p:spPr>
              <a:xfrm>
                <a:off x="4197350" y="2219960"/>
                <a:ext cx="317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𝑧</m:t>
                      </m:r>
                    </m:oMath>
                  </m:oMathPara>
                </a14:m>
                <a:endParaRPr sz="1300" dirty="0"/>
              </a:p>
            </p:txBody>
          </p:sp>
        </mc:Choice>
        <mc:Fallback xmlns:m="http://schemas.openxmlformats.org/officeDocument/2006/math" xmlns="">
          <p:sp>
            <p:nvSpPr>
              <p:cNvPr id="1401" name="Graph input"/>
              <p:cNvSpPr>
                <a:spLocks noRot="1" noChangeAspect="1" noMove="1" noResize="1" noEditPoints="1" noAdjustHandles="1" noChangeArrowheads="1" noChangeShapeType="1" noTextEdit="1"/>
              </p:cNvSpPr>
              <p:nvPr/>
            </p:nvSpPr>
            <p:spPr>
              <a:xfrm>
                <a:off x="4197350" y="2219960"/>
                <a:ext cx="317500" cy="462280"/>
              </a:xfrm>
              <a:prstGeom prst="rect">
                <a:avLst/>
              </a:prstGeom>
              <a:blipFill>
                <a:blip r:embed="rIdSectorRefinement34_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 name="Graph output"/>
              <p:cNvSpPr/>
              <p:nvPr/>
            </p:nvSpPr>
            <p:spPr>
              <a:xfrm>
                <a:off x="2197100" y="924560"/>
                <a:ext cx="381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𝑤</m:t>
                      </m:r>
                    </m:oMath>
                  </m:oMathPara>
                </a14:m>
                <a:endParaRPr sz="1300"/>
              </a:p>
            </p:txBody>
          </p:sp>
        </mc:Choice>
        <mc:Fallback xmlns:m="http://schemas.openxmlformats.org/officeDocument/2006/math" xmlns="">
          <p:sp>
            <p:nvSpPr>
              <p:cNvPr id="1402" name="Graph output"/>
              <p:cNvSpPr>
                <a:spLocks noRot="1" noChangeAspect="1" noMove="1" noResize="1" noEditPoints="1" noAdjustHandles="1" noChangeArrowheads="1" noChangeShapeType="1" noTextEdit="1"/>
              </p:cNvSpPr>
              <p:nvPr/>
            </p:nvSpPr>
            <p:spPr>
              <a:xfrm>
                <a:off x="2197100" y="924560"/>
                <a:ext cx="381000" cy="462280"/>
              </a:xfrm>
              <a:prstGeom prst="rect">
                <a:avLst/>
              </a:prstGeom>
              <a:blipFill>
                <a:blip r:embed="rIdSectorRefinement34_16"/>
                <a:stretch>
                  <a:fillRect/>
                </a:stretch>
              </a:blipFill>
              <a:ln>
                <a:noFill/>
              </a:ln>
            </p:spPr>
            <p:txBody>
              <a:bodyPr/>
              <a:lstStyle/>
              <a:p>
                <a:r>
                  <a:rPr lang="en-NL">
                    <a:noFill/>
                  </a:rPr>
                  <a:t> </a:t>
                </a:r>
              </a:p>
            </p:txBody>
          </p:sp>
        </mc:Fallback>
      </mc:AlternateContent>
      <p:sp>
        <p:nvSpPr>
          <p:cNvPr id="1403" name="Input tick -400"/>
          <p:cNvSpPr/>
          <p:nvPr/>
        </p:nvSpPr>
        <p:spPr>
          <a:xfrm>
            <a:off x="7493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4" name="Input tick 400"/>
          <p:cNvSpPr/>
          <p:nvPr/>
        </p:nvSpPr>
        <p:spPr>
          <a:xfrm>
            <a:off x="34925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5" name="Origin"/>
          <p:cNvSpPr/>
          <p:nvPr/>
        </p:nvSpPr>
        <p:spPr>
          <a:xfrm>
            <a:off x="2146300" y="2489200"/>
            <a:ext cx="228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0</a:t>
            </a:r>
            <a:endParaRPr sz="800"/>
          </a:p>
        </p:txBody>
      </p:sp>
      <mc:AlternateContent xmlns:mc="http://schemas.openxmlformats.org/markup-compatibility/2006" xmlns:a14="http://schemas.microsoft.com/office/drawing/2010/main">
        <mc:Choice Requires="a14">
          <p:sp>
            <p:nvSpPr>
              <p:cNvPr id="1406" name="Upper boundary label"/>
              <p:cNvSpPr/>
              <p:nvPr/>
            </p:nvSpPr>
            <p:spPr>
              <a:xfrm>
                <a:off x="3467100" y="1115060"/>
                <a:ext cx="889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𝛽</m:t>
                      </m:r>
                      <m:r>
                        <a:rPr sz="1300">
                          <a:solidFill>
                            <a:srgbClr val="252529"/>
                          </a:solidFill>
                          <a:latin typeface="Cambria Math"/>
                        </a:rPr>
                        <m:t>𝑧</m:t>
                      </m:r>
                      <m:r>
                        <a:rPr lang="en-US" sz="1300" b="0" i="0" smtClean="0">
                          <a:solidFill>
                            <a:srgbClr val="252529"/>
                          </a:solidFill>
                          <a:latin typeface="Cambria Math" panose="02040503050406030204" pitchFamily="18" charset="0"/>
                        </a:rPr>
                        <m:t> = 0.735</m:t>
                      </m:r>
                      <m:r>
                        <m:rPr>
                          <m:sty m:val="p"/>
                        </m:rPr>
                        <a:rPr lang="en-US" sz="1300" b="0" i="0" smtClean="0">
                          <a:solidFill>
                            <a:srgbClr val="252529"/>
                          </a:solidFill>
                          <a:latin typeface="Cambria Math" panose="02040503050406030204" pitchFamily="18" charset="0"/>
                        </a:rPr>
                        <m:t>z</m:t>
                      </m:r>
                    </m:oMath>
                  </m:oMathPara>
                </a14:m>
                <a:endParaRPr sz="1300" dirty="0"/>
              </a:p>
            </p:txBody>
          </p:sp>
        </mc:Choice>
        <mc:Fallback xmlns="">
          <p:sp>
            <p:nvSpPr>
              <p:cNvPr id="1406" name="Upper boundary label"/>
              <p:cNvSpPr>
                <a:spLocks noRot="1" noChangeAspect="1" noMove="1" noResize="1" noEditPoints="1" noAdjustHandles="1" noChangeArrowheads="1" noChangeShapeType="1" noTextEdit="1"/>
              </p:cNvSpPr>
              <p:nvPr/>
            </p:nvSpPr>
            <p:spPr>
              <a:xfrm>
                <a:off x="3467100" y="1115060"/>
                <a:ext cx="889000" cy="462280"/>
              </a:xfrm>
              <a:prstGeom prst="rect">
                <a:avLst/>
              </a:prstGeom>
              <a:blipFill>
                <a:blip r:embed="rId3"/>
                <a:stretch>
                  <a:fillRect l="-14384" r="-5479"/>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7" name="Lower boundary label"/>
              <p:cNvSpPr/>
              <p:nvPr/>
            </p:nvSpPr>
            <p:spPr>
              <a:xfrm>
                <a:off x="3162300" y="2707640"/>
                <a:ext cx="1143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𝛼</m:t>
                      </m:r>
                      <m:r>
                        <a:rPr sz="1200">
                          <a:solidFill>
                            <a:srgbClr val="252529"/>
                          </a:solidFill>
                          <a:latin typeface="Cambria Math"/>
                        </a:rPr>
                        <m:t>𝑧</m:t>
                      </m:r>
                      <m:r>
                        <a:rPr sz="1200">
                          <a:solidFill>
                            <a:srgbClr val="252529"/>
                          </a:solidFill>
                          <a:latin typeface="Cambria Math"/>
                        </a:rPr>
                        <m:t>=0</m:t>
                      </m:r>
                    </m:oMath>
                  </m:oMathPara>
                </a14:m>
                <a:endParaRPr sz="1200"/>
              </a:p>
            </p:txBody>
          </p:sp>
        </mc:Choice>
        <mc:Fallback xmlns:m="http://schemas.openxmlformats.org/officeDocument/2006/math" xmlns="">
          <p:sp>
            <p:nvSpPr>
              <p:cNvPr id="1407" name="Lower boundary label"/>
              <p:cNvSpPr>
                <a:spLocks noRot="1" noChangeAspect="1" noMove="1" noResize="1" noEditPoints="1" noAdjustHandles="1" noChangeArrowheads="1" noChangeShapeType="1" noTextEdit="1"/>
              </p:cNvSpPr>
              <p:nvPr/>
            </p:nvSpPr>
            <p:spPr>
              <a:xfrm>
                <a:off x="3162300" y="2707640"/>
                <a:ext cx="1143000" cy="426720"/>
              </a:xfrm>
              <a:prstGeom prst="rect">
                <a:avLst/>
              </a:prstGeom>
              <a:blipFill>
                <a:blip r:embed="rIdSectorRefinement34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10" name="Introduce Theta"/>
              <p:cNvSpPr/>
              <p:nvPr/>
            </p:nvSpPr>
            <p:spPr>
              <a:xfrm>
                <a:off x="6329030" y="458375"/>
                <a:ext cx="3937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acc>
                                  <m:accPr>
                                    <m:chr m:val="̃"/>
                                    <m:ctrlPr>
                                      <a:rPr sz="1900">
                                        <a:solidFill>
                                          <a:srgbClr val="252529"/>
                                        </a:solidFill>
                                        <a:latin typeface="Cambria Math"/>
                                      </a:rPr>
                                    </m:ctrlPr>
                                  </m:accPr>
                                  <m:e>
                                    <m:r>
                                      <a:rPr sz="1900">
                                        <a:solidFill>
                                          <a:srgbClr val="252529"/>
                                        </a:solidFill>
                                        <a:latin typeface="Cambria Math"/>
                                      </a:rPr>
                                      <m:t>𝑧</m:t>
                                    </m:r>
                                  </m:e>
                                </m:acc>
                              </m:e>
                            </m:mr>
                            <m:mr>
                              <m:e>
                                <m:acc>
                                  <m:accPr>
                                    <m:chr m:val="̃"/>
                                    <m:ctrlPr>
                                      <a:rPr sz="1900">
                                        <a:solidFill>
                                          <a:srgbClr val="252529"/>
                                        </a:solidFill>
                                        <a:latin typeface="Cambria Math"/>
                                      </a:rPr>
                                    </m:ctrlPr>
                                  </m:accPr>
                                  <m:e>
                                    <m:r>
                                      <a:rPr sz="1900">
                                        <a:solidFill>
                                          <a:srgbClr val="252529"/>
                                        </a:solidFill>
                                        <a:latin typeface="Cambria Math"/>
                                      </a:rPr>
                                      <m:t>𝑤</m:t>
                                    </m:r>
                                  </m:e>
                                </m:acc>
                              </m:e>
                            </m:mr>
                          </m:m>
                        </m:e>
                      </m:d>
                      <m:r>
                        <a:rPr sz="1900">
                          <a:solidFill>
                            <a:srgbClr val="252529"/>
                          </a:solidFill>
                          <a:latin typeface="Cambria Math"/>
                        </a:rPr>
                        <m:t>=</m:t>
                      </m:r>
                      <m:r>
                        <a:rPr sz="1900">
                          <a:solidFill>
                            <a:srgbClr val="252529"/>
                          </a:solidFill>
                          <a:latin typeface="Cambria Math"/>
                        </a:rPr>
                        <m:t>𝛩</m:t>
                      </m:r>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r>
                                  <a:rPr sz="1900">
                                    <a:solidFill>
                                      <a:srgbClr val="252529"/>
                                    </a:solidFill>
                                    <a:latin typeface="Cambria Math"/>
                                  </a:rPr>
                                  <m:t>𝑧</m:t>
                                </m:r>
                              </m:e>
                            </m:mr>
                            <m:mr>
                              <m:e>
                                <m:r>
                                  <a:rPr sz="1900">
                                    <a:solidFill>
                                      <a:srgbClr val="252529"/>
                                    </a:solidFill>
                                    <a:latin typeface="Cambria Math"/>
                                  </a:rPr>
                                  <m:t>𝑤</m:t>
                                </m:r>
                              </m:e>
                            </m:mr>
                          </m:m>
                        </m:e>
                      </m:d>
                    </m:oMath>
                  </m:oMathPara>
                </a14:m>
                <a:endParaRPr sz="1900" dirty="0"/>
              </a:p>
            </p:txBody>
          </p:sp>
        </mc:Choice>
        <mc:Fallback xmlns="">
          <p:sp>
            <p:nvSpPr>
              <p:cNvPr id="1410" name="Introduce Theta"/>
              <p:cNvSpPr>
                <a:spLocks noRot="1" noChangeAspect="1" noMove="1" noResize="1" noEditPoints="1" noAdjustHandles="1" noChangeArrowheads="1" noChangeShapeType="1" noTextEdit="1"/>
              </p:cNvSpPr>
              <p:nvPr/>
            </p:nvSpPr>
            <p:spPr>
              <a:xfrm>
                <a:off x="6329030" y="458375"/>
                <a:ext cx="3937000" cy="675640"/>
              </a:xfrm>
              <a:prstGeom prst="rect">
                <a:avLst/>
              </a:prstGeom>
              <a:blipFill>
                <a:blip r:embed="rId4"/>
                <a:stretch>
                  <a:fillRect/>
                </a:stretch>
              </a:blipFill>
              <a:ln>
                <a:noFill/>
              </a:ln>
            </p:spPr>
            <p:txBody>
              <a:bodyPr/>
              <a:lstStyle/>
              <a:p>
                <a:r>
                  <a:rPr lang="en-NL">
                    <a:noFill/>
                  </a:rPr>
                  <a:t> </a:t>
                </a:r>
              </a:p>
            </p:txBody>
          </p:sp>
        </mc:Fallback>
      </mc:AlternateContent>
      <p:sp>
        <p:nvSpPr>
          <p:cNvPr id="14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4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34</a:t>
            </a:r>
            <a:endParaRPr sz="800"/>
          </a:p>
        </p:txBody>
      </p:sp>
      <p:grpSp>
        <p:nvGrpSpPr>
          <p:cNvPr id="1300" name="!!Sector plot"/>
          <p:cNvGrpSpPr/>
          <p:nvPr/>
        </p:nvGrpSpPr>
        <p:grpSpPr>
          <a:xfrm>
            <a:off x="482600" y="1011237"/>
            <a:ext cx="3810000" cy="2794000"/>
            <a:chOff x="482600" y="1016000"/>
            <a:chExt cx="3810000" cy="2794000"/>
          </a:xfrm>
        </p:grpSpPr>
        <p:sp>
          <p:nvSpPr>
            <p:cNvPr id="1203" name="Input axis"/>
            <p:cNvSpPr/>
            <p:nvPr/>
          </p:nvSpPr>
          <p:spPr>
            <a:xfrm>
              <a:off x="574675" y="2400300"/>
              <a:ext cx="3677285" cy="25400"/>
            </a:xfrm>
            <a:custGeom>
              <a:avLst/>
              <a:gdLst/>
              <a:ahLst/>
              <a:cxnLst/>
              <a:rect l="0" t="0" r="r" b="b"/>
              <a:pathLst>
                <a:path w="3677285" h="25400" fill="none">
                  <a:moveTo>
                    <a:pt x="12700" y="12700"/>
                  </a:moveTo>
                  <a:lnTo>
                    <a:pt x="3664585" y="12700"/>
                  </a:lnTo>
                </a:path>
              </a:pathLst>
            </a:custGeom>
            <a:noFill/>
            <a:ln w="8890">
              <a:solidFill>
                <a:srgbClr val="A9ADB2"/>
              </a:solidFill>
              <a:round/>
              <a:tailEnd type="triangle" w="sm" len="sm"/>
            </a:ln>
          </p:spPr>
          <p:txBody>
            <a:bodyPr/>
            <a:lstStyle/>
            <a:p>
              <a:endParaRPr lang="en-NL" dirty="0"/>
            </a:p>
          </p:txBody>
        </p:sp>
        <p:sp>
          <p:nvSpPr>
            <p:cNvPr id="1204" name="Output axis"/>
            <p:cNvSpPr/>
            <p:nvPr/>
          </p:nvSpPr>
          <p:spPr>
            <a:xfrm>
              <a:off x="2374900" y="1333500"/>
              <a:ext cx="25400" cy="2146300"/>
            </a:xfrm>
            <a:custGeom>
              <a:avLst/>
              <a:gdLst/>
              <a:ahLst/>
              <a:cxnLst/>
              <a:rect l="0" t="0" r="r" b="b"/>
              <a:pathLst>
                <a:path w="25400" h="2146300" fill="none">
                  <a:moveTo>
                    <a:pt x="12700" y="2133600"/>
                  </a:moveTo>
                  <a:lnTo>
                    <a:pt x="12700" y="12700"/>
                  </a:lnTo>
                </a:path>
              </a:pathLst>
            </a:custGeom>
            <a:noFill/>
            <a:ln w="8890">
              <a:solidFill>
                <a:srgbClr val="A9ADB2"/>
              </a:solidFill>
              <a:round/>
              <a:tailEnd type="triangle" w="sm" len="sm"/>
            </a:ln>
          </p:spPr>
          <p:txBody>
            <a:bodyPr/>
            <a:lstStyle/>
            <a:p>
              <a:endParaRPr lang="en-NL"/>
            </a:p>
          </p:txBody>
        </p:sp>
        <p:sp>
          <p:nvSpPr>
            <p:cNvPr id="1207" name="Shifted sigmoid curve"/>
            <p:cNvSpPr/>
            <p:nvPr/>
          </p:nvSpPr>
          <p:spPr>
            <a:xfrm>
              <a:off x="660400" y="1703259"/>
              <a:ext cx="3454400" cy="774294"/>
            </a:xfrm>
            <a:custGeom>
              <a:avLst/>
              <a:gdLst/>
              <a:ahLst/>
              <a:cxnLst/>
              <a:rect l="0" t="0" r="r" b="b"/>
              <a:pathLst>
                <a:path w="3454400" h="774294" fill="none">
                  <a:moveTo>
                    <a:pt x="12700" y="761594"/>
                  </a:moveTo>
                  <a:lnTo>
                    <a:pt x="24130" y="761591"/>
                  </a:lnTo>
                  <a:lnTo>
                    <a:pt x="35560" y="761588"/>
                  </a:lnTo>
                  <a:lnTo>
                    <a:pt x="46990" y="761584"/>
                  </a:lnTo>
                  <a:lnTo>
                    <a:pt x="58420" y="761581"/>
                  </a:lnTo>
                  <a:lnTo>
                    <a:pt x="69850" y="761577"/>
                  </a:lnTo>
                  <a:lnTo>
                    <a:pt x="81280" y="761573"/>
                  </a:lnTo>
                  <a:lnTo>
                    <a:pt x="92710" y="761568"/>
                  </a:lnTo>
                  <a:lnTo>
                    <a:pt x="104140" y="761564"/>
                  </a:lnTo>
                  <a:lnTo>
                    <a:pt x="115570" y="761559"/>
                  </a:lnTo>
                  <a:lnTo>
                    <a:pt x="127000" y="761555"/>
                  </a:lnTo>
                  <a:lnTo>
                    <a:pt x="138430" y="761550"/>
                  </a:lnTo>
                  <a:lnTo>
                    <a:pt x="149860" y="761544"/>
                  </a:lnTo>
                  <a:lnTo>
                    <a:pt x="161290" y="761539"/>
                  </a:lnTo>
                  <a:lnTo>
                    <a:pt x="172720" y="761533"/>
                  </a:lnTo>
                  <a:lnTo>
                    <a:pt x="184150" y="761527"/>
                  </a:lnTo>
                  <a:lnTo>
                    <a:pt x="195580" y="761521"/>
                  </a:lnTo>
                  <a:lnTo>
                    <a:pt x="207010" y="761514"/>
                  </a:lnTo>
                  <a:lnTo>
                    <a:pt x="218440" y="761507"/>
                  </a:lnTo>
                  <a:lnTo>
                    <a:pt x="229870" y="761500"/>
                  </a:lnTo>
                  <a:lnTo>
                    <a:pt x="241300" y="761493"/>
                  </a:lnTo>
                  <a:lnTo>
                    <a:pt x="252730" y="761485"/>
                  </a:lnTo>
                  <a:lnTo>
                    <a:pt x="264160" y="761477"/>
                  </a:lnTo>
                  <a:lnTo>
                    <a:pt x="275590" y="761468"/>
                  </a:lnTo>
                  <a:lnTo>
                    <a:pt x="287020" y="761459"/>
                  </a:lnTo>
                  <a:lnTo>
                    <a:pt x="298450" y="761450"/>
                  </a:lnTo>
                  <a:lnTo>
                    <a:pt x="309880" y="761440"/>
                  </a:lnTo>
                  <a:lnTo>
                    <a:pt x="321310" y="761430"/>
                  </a:lnTo>
                  <a:lnTo>
                    <a:pt x="332740" y="761419"/>
                  </a:lnTo>
                  <a:lnTo>
                    <a:pt x="344170" y="761408"/>
                  </a:lnTo>
                  <a:lnTo>
                    <a:pt x="355600" y="761396"/>
                  </a:lnTo>
                  <a:lnTo>
                    <a:pt x="367030" y="761384"/>
                  </a:lnTo>
                  <a:lnTo>
                    <a:pt x="378460" y="761371"/>
                  </a:lnTo>
                  <a:lnTo>
                    <a:pt x="389890" y="761358"/>
                  </a:lnTo>
                  <a:lnTo>
                    <a:pt x="401320" y="761344"/>
                  </a:lnTo>
                  <a:lnTo>
                    <a:pt x="412750" y="761329"/>
                  </a:lnTo>
                  <a:lnTo>
                    <a:pt x="424180" y="761314"/>
                  </a:lnTo>
                  <a:lnTo>
                    <a:pt x="435610" y="761298"/>
                  </a:lnTo>
                  <a:lnTo>
                    <a:pt x="447040" y="761282"/>
                  </a:lnTo>
                  <a:lnTo>
                    <a:pt x="458470" y="761264"/>
                  </a:lnTo>
                  <a:lnTo>
                    <a:pt x="469900" y="761246"/>
                  </a:lnTo>
                  <a:lnTo>
                    <a:pt x="481330" y="761227"/>
                  </a:lnTo>
                  <a:lnTo>
                    <a:pt x="492760" y="761207"/>
                  </a:lnTo>
                  <a:lnTo>
                    <a:pt x="504190" y="761186"/>
                  </a:lnTo>
                  <a:lnTo>
                    <a:pt x="515620" y="761164"/>
                  </a:lnTo>
                  <a:lnTo>
                    <a:pt x="527050" y="761142"/>
                  </a:lnTo>
                  <a:lnTo>
                    <a:pt x="538480" y="761118"/>
                  </a:lnTo>
                  <a:lnTo>
                    <a:pt x="549910" y="761093"/>
                  </a:lnTo>
                  <a:lnTo>
                    <a:pt x="561340" y="761067"/>
                  </a:lnTo>
                  <a:lnTo>
                    <a:pt x="572770" y="761040"/>
                  </a:lnTo>
                  <a:lnTo>
                    <a:pt x="584200" y="761011"/>
                  </a:lnTo>
                  <a:lnTo>
                    <a:pt x="595630" y="760982"/>
                  </a:lnTo>
                  <a:lnTo>
                    <a:pt x="607060" y="760951"/>
                  </a:lnTo>
                  <a:lnTo>
                    <a:pt x="618490" y="760918"/>
                  </a:lnTo>
                  <a:lnTo>
                    <a:pt x="629920" y="760884"/>
                  </a:lnTo>
                  <a:lnTo>
                    <a:pt x="641350" y="760849"/>
                  </a:lnTo>
                  <a:lnTo>
                    <a:pt x="652780" y="760812"/>
                  </a:lnTo>
                  <a:lnTo>
                    <a:pt x="664210" y="760773"/>
                  </a:lnTo>
                  <a:lnTo>
                    <a:pt x="675640" y="760733"/>
                  </a:lnTo>
                  <a:lnTo>
                    <a:pt x="687070" y="760690"/>
                  </a:lnTo>
                  <a:lnTo>
                    <a:pt x="698500" y="760646"/>
                  </a:lnTo>
                  <a:lnTo>
                    <a:pt x="709930" y="760600"/>
                  </a:lnTo>
                  <a:lnTo>
                    <a:pt x="721360" y="760551"/>
                  </a:lnTo>
                  <a:lnTo>
                    <a:pt x="732790" y="760501"/>
                  </a:lnTo>
                  <a:lnTo>
                    <a:pt x="744220" y="760448"/>
                  </a:lnTo>
                  <a:lnTo>
                    <a:pt x="755650" y="760393"/>
                  </a:lnTo>
                  <a:lnTo>
                    <a:pt x="767080" y="760335"/>
                  </a:lnTo>
                  <a:lnTo>
                    <a:pt x="778510" y="760275"/>
                  </a:lnTo>
                  <a:lnTo>
                    <a:pt x="789940" y="760212"/>
                  </a:lnTo>
                  <a:lnTo>
                    <a:pt x="801370" y="760146"/>
                  </a:lnTo>
                  <a:lnTo>
                    <a:pt x="812800" y="760077"/>
                  </a:lnTo>
                  <a:lnTo>
                    <a:pt x="824230" y="760005"/>
                  </a:lnTo>
                  <a:lnTo>
                    <a:pt x="835660" y="759930"/>
                  </a:lnTo>
                  <a:lnTo>
                    <a:pt x="847090" y="759851"/>
                  </a:lnTo>
                  <a:lnTo>
                    <a:pt x="858520" y="759769"/>
                  </a:lnTo>
                  <a:lnTo>
                    <a:pt x="869950" y="759683"/>
                  </a:lnTo>
                  <a:lnTo>
                    <a:pt x="881380" y="759593"/>
                  </a:lnTo>
                  <a:lnTo>
                    <a:pt x="892810" y="759499"/>
                  </a:lnTo>
                  <a:lnTo>
                    <a:pt x="904240" y="759401"/>
                  </a:lnTo>
                  <a:lnTo>
                    <a:pt x="915670" y="759298"/>
                  </a:lnTo>
                  <a:lnTo>
                    <a:pt x="927100" y="759191"/>
                  </a:lnTo>
                  <a:lnTo>
                    <a:pt x="938530" y="759079"/>
                  </a:lnTo>
                  <a:lnTo>
                    <a:pt x="949960" y="758962"/>
                  </a:lnTo>
                  <a:lnTo>
                    <a:pt x="961390" y="758839"/>
                  </a:lnTo>
                  <a:lnTo>
                    <a:pt x="972820" y="758711"/>
                  </a:lnTo>
                  <a:lnTo>
                    <a:pt x="984250" y="758578"/>
                  </a:lnTo>
                  <a:lnTo>
                    <a:pt x="995680" y="758438"/>
                  </a:lnTo>
                  <a:lnTo>
                    <a:pt x="1007110" y="758292"/>
                  </a:lnTo>
                  <a:lnTo>
                    <a:pt x="1018540" y="758139"/>
                  </a:lnTo>
                  <a:lnTo>
                    <a:pt x="1029970" y="757980"/>
                  </a:lnTo>
                  <a:lnTo>
                    <a:pt x="1041400" y="757813"/>
                  </a:lnTo>
                  <a:lnTo>
                    <a:pt x="1052830" y="757639"/>
                  </a:lnTo>
                  <a:lnTo>
                    <a:pt x="1064260" y="757457"/>
                  </a:lnTo>
                  <a:lnTo>
                    <a:pt x="1075690" y="757267"/>
                  </a:lnTo>
                  <a:lnTo>
                    <a:pt x="1087120" y="757068"/>
                  </a:lnTo>
                  <a:lnTo>
                    <a:pt x="1098550" y="756861"/>
                  </a:lnTo>
                  <a:lnTo>
                    <a:pt x="1109980" y="756644"/>
                  </a:lnTo>
                  <a:lnTo>
                    <a:pt x="1121410" y="756417"/>
                  </a:lnTo>
                  <a:lnTo>
                    <a:pt x="1132840" y="756180"/>
                  </a:lnTo>
                  <a:lnTo>
                    <a:pt x="1144270" y="755933"/>
                  </a:lnTo>
                  <a:lnTo>
                    <a:pt x="1155700" y="755674"/>
                  </a:lnTo>
                  <a:lnTo>
                    <a:pt x="1167130" y="755404"/>
                  </a:lnTo>
                  <a:lnTo>
                    <a:pt x="1178560" y="755122"/>
                  </a:lnTo>
                  <a:lnTo>
                    <a:pt x="1189990" y="754828"/>
                  </a:lnTo>
                  <a:lnTo>
                    <a:pt x="1201420" y="754520"/>
                  </a:lnTo>
                  <a:lnTo>
                    <a:pt x="1212850" y="754198"/>
                  </a:lnTo>
                  <a:lnTo>
                    <a:pt x="1224280" y="753862"/>
                  </a:lnTo>
                  <a:lnTo>
                    <a:pt x="1235710" y="753511"/>
                  </a:lnTo>
                  <a:lnTo>
                    <a:pt x="1247140" y="753145"/>
                  </a:lnTo>
                  <a:lnTo>
                    <a:pt x="1258570" y="752762"/>
                  </a:lnTo>
                  <a:lnTo>
                    <a:pt x="1270000" y="752363"/>
                  </a:lnTo>
                  <a:lnTo>
                    <a:pt x="1281430" y="751945"/>
                  </a:lnTo>
                  <a:lnTo>
                    <a:pt x="1292860" y="751509"/>
                  </a:lnTo>
                  <a:lnTo>
                    <a:pt x="1304290" y="751054"/>
                  </a:lnTo>
                  <a:lnTo>
                    <a:pt x="1315720" y="750579"/>
                  </a:lnTo>
                  <a:lnTo>
                    <a:pt x="1327150" y="750083"/>
                  </a:lnTo>
                  <a:lnTo>
                    <a:pt x="1338580" y="749565"/>
                  </a:lnTo>
                  <a:lnTo>
                    <a:pt x="1350010" y="749024"/>
                  </a:lnTo>
                  <a:lnTo>
                    <a:pt x="1361440" y="748460"/>
                  </a:lnTo>
                  <a:lnTo>
                    <a:pt x="1372870" y="747870"/>
                  </a:lnTo>
                  <a:lnTo>
                    <a:pt x="1384300" y="747255"/>
                  </a:lnTo>
                  <a:lnTo>
                    <a:pt x="1395730" y="746613"/>
                  </a:lnTo>
                  <a:lnTo>
                    <a:pt x="1407160" y="745943"/>
                  </a:lnTo>
                  <a:lnTo>
                    <a:pt x="1418590" y="745244"/>
                  </a:lnTo>
                  <a:lnTo>
                    <a:pt x="1430020" y="744515"/>
                  </a:lnTo>
                  <a:lnTo>
                    <a:pt x="1441450" y="743754"/>
                  </a:lnTo>
                  <a:lnTo>
                    <a:pt x="1452880" y="742959"/>
                  </a:lnTo>
                  <a:lnTo>
                    <a:pt x="1464310" y="742131"/>
                  </a:lnTo>
                  <a:lnTo>
                    <a:pt x="1475740" y="741267"/>
                  </a:lnTo>
                  <a:lnTo>
                    <a:pt x="1487170" y="740366"/>
                  </a:lnTo>
                  <a:lnTo>
                    <a:pt x="1498600" y="739426"/>
                  </a:lnTo>
                  <a:lnTo>
                    <a:pt x="1510030" y="738446"/>
                  </a:lnTo>
                  <a:lnTo>
                    <a:pt x="1521460" y="737425"/>
                  </a:lnTo>
                  <a:lnTo>
                    <a:pt x="1532890" y="736360"/>
                  </a:lnTo>
                  <a:lnTo>
                    <a:pt x="1544320" y="735249"/>
                  </a:lnTo>
                  <a:lnTo>
                    <a:pt x="1555750" y="734092"/>
                  </a:lnTo>
                  <a:lnTo>
                    <a:pt x="1567180" y="732887"/>
                  </a:lnTo>
                  <a:lnTo>
                    <a:pt x="1578610" y="731630"/>
                  </a:lnTo>
                  <a:lnTo>
                    <a:pt x="1590040" y="730321"/>
                  </a:lnTo>
                  <a:lnTo>
                    <a:pt x="1601470" y="728958"/>
                  </a:lnTo>
                  <a:lnTo>
                    <a:pt x="1612900" y="727538"/>
                  </a:lnTo>
                  <a:lnTo>
                    <a:pt x="1624330" y="726060"/>
                  </a:lnTo>
                  <a:lnTo>
                    <a:pt x="1635760" y="724520"/>
                  </a:lnTo>
                  <a:lnTo>
                    <a:pt x="1647190" y="722918"/>
                  </a:lnTo>
                  <a:lnTo>
                    <a:pt x="1658620" y="721251"/>
                  </a:lnTo>
                  <a:lnTo>
                    <a:pt x="1670050" y="719515"/>
                  </a:lnTo>
                  <a:lnTo>
                    <a:pt x="1681480" y="717710"/>
                  </a:lnTo>
                  <a:lnTo>
                    <a:pt x="1692910" y="715833"/>
                  </a:lnTo>
                  <a:lnTo>
                    <a:pt x="1704340" y="713881"/>
                  </a:lnTo>
                  <a:lnTo>
                    <a:pt x="1715770" y="711851"/>
                  </a:lnTo>
                  <a:lnTo>
                    <a:pt x="1727200" y="709741"/>
                  </a:lnTo>
                  <a:lnTo>
                    <a:pt x="1738630" y="707549"/>
                  </a:lnTo>
                  <a:lnTo>
                    <a:pt x="1750060" y="705272"/>
                  </a:lnTo>
                  <a:lnTo>
                    <a:pt x="1761490" y="702906"/>
                  </a:lnTo>
                  <a:lnTo>
                    <a:pt x="1772920" y="700451"/>
                  </a:lnTo>
                  <a:lnTo>
                    <a:pt x="1784350" y="697901"/>
                  </a:lnTo>
                  <a:lnTo>
                    <a:pt x="1795780" y="695256"/>
                  </a:lnTo>
                  <a:lnTo>
                    <a:pt x="1807210" y="692512"/>
                  </a:lnTo>
                  <a:lnTo>
                    <a:pt x="1818640" y="689666"/>
                  </a:lnTo>
                  <a:lnTo>
                    <a:pt x="1830070" y="686716"/>
                  </a:lnTo>
                  <a:lnTo>
                    <a:pt x="1841500" y="683658"/>
                  </a:lnTo>
                  <a:lnTo>
                    <a:pt x="1852930" y="680491"/>
                  </a:lnTo>
                  <a:lnTo>
                    <a:pt x="1864360" y="677210"/>
                  </a:lnTo>
                  <a:lnTo>
                    <a:pt x="1875790" y="673815"/>
                  </a:lnTo>
                  <a:lnTo>
                    <a:pt x="1887220" y="670301"/>
                  </a:lnTo>
                  <a:lnTo>
                    <a:pt x="1898650" y="666666"/>
                  </a:lnTo>
                  <a:lnTo>
                    <a:pt x="1910080" y="662908"/>
                  </a:lnTo>
                  <a:lnTo>
                    <a:pt x="1921510" y="659025"/>
                  </a:lnTo>
                  <a:lnTo>
                    <a:pt x="1932940" y="655013"/>
                  </a:lnTo>
                  <a:lnTo>
                    <a:pt x="1944370" y="650871"/>
                  </a:lnTo>
                  <a:lnTo>
                    <a:pt x="1955800" y="646596"/>
                  </a:lnTo>
                  <a:lnTo>
                    <a:pt x="1967230" y="642186"/>
                  </a:lnTo>
                  <a:lnTo>
                    <a:pt x="1978660" y="637640"/>
                  </a:lnTo>
                  <a:lnTo>
                    <a:pt x="1990090" y="632956"/>
                  </a:lnTo>
                  <a:lnTo>
                    <a:pt x="2001520" y="628131"/>
                  </a:lnTo>
                  <a:lnTo>
                    <a:pt x="2012950" y="623165"/>
                  </a:lnTo>
                  <a:lnTo>
                    <a:pt x="2024380" y="618057"/>
                  </a:lnTo>
                  <a:lnTo>
                    <a:pt x="2035810" y="612806"/>
                  </a:lnTo>
                  <a:lnTo>
                    <a:pt x="2047240" y="607410"/>
                  </a:lnTo>
                  <a:lnTo>
                    <a:pt x="2058670" y="601870"/>
                  </a:lnTo>
                  <a:lnTo>
                    <a:pt x="2070100" y="596185"/>
                  </a:lnTo>
                  <a:lnTo>
                    <a:pt x="2081530" y="590355"/>
                  </a:lnTo>
                  <a:lnTo>
                    <a:pt x="2092960" y="584381"/>
                  </a:lnTo>
                  <a:lnTo>
                    <a:pt x="2104390" y="578263"/>
                  </a:lnTo>
                  <a:lnTo>
                    <a:pt x="2115820" y="572002"/>
                  </a:lnTo>
                  <a:lnTo>
                    <a:pt x="2127250" y="565601"/>
                  </a:lnTo>
                  <a:lnTo>
                    <a:pt x="2138680" y="559059"/>
                  </a:lnTo>
                  <a:lnTo>
                    <a:pt x="2150110" y="552380"/>
                  </a:lnTo>
                  <a:lnTo>
                    <a:pt x="2161540" y="545566"/>
                  </a:lnTo>
                  <a:lnTo>
                    <a:pt x="2172970" y="538620"/>
                  </a:lnTo>
                  <a:lnTo>
                    <a:pt x="2184400" y="531545"/>
                  </a:lnTo>
                  <a:lnTo>
                    <a:pt x="2195830" y="524344"/>
                  </a:lnTo>
                  <a:lnTo>
                    <a:pt x="2207260" y="517021"/>
                  </a:lnTo>
                  <a:lnTo>
                    <a:pt x="2218690" y="509581"/>
                  </a:lnTo>
                  <a:lnTo>
                    <a:pt x="2230120" y="502028"/>
                  </a:lnTo>
                  <a:lnTo>
                    <a:pt x="2241550" y="494367"/>
                  </a:lnTo>
                  <a:lnTo>
                    <a:pt x="2252980" y="486604"/>
                  </a:lnTo>
                  <a:lnTo>
                    <a:pt x="2264410" y="478745"/>
                  </a:lnTo>
                  <a:lnTo>
                    <a:pt x="2275840" y="470795"/>
                  </a:lnTo>
                  <a:lnTo>
                    <a:pt x="2287270" y="462762"/>
                  </a:lnTo>
                  <a:lnTo>
                    <a:pt x="2298700" y="454650"/>
                  </a:lnTo>
                  <a:lnTo>
                    <a:pt x="2310130" y="446469"/>
                  </a:lnTo>
                  <a:lnTo>
                    <a:pt x="2321560" y="438225"/>
                  </a:lnTo>
                  <a:lnTo>
                    <a:pt x="2332990" y="429925"/>
                  </a:lnTo>
                  <a:lnTo>
                    <a:pt x="2344420" y="421577"/>
                  </a:lnTo>
                  <a:lnTo>
                    <a:pt x="2355850" y="413189"/>
                  </a:lnTo>
                  <a:lnTo>
                    <a:pt x="2367280" y="404770"/>
                  </a:lnTo>
                  <a:lnTo>
                    <a:pt x="2378710" y="396327"/>
                  </a:lnTo>
                  <a:lnTo>
                    <a:pt x="2390140" y="387868"/>
                  </a:lnTo>
                  <a:lnTo>
                    <a:pt x="2401570" y="379402"/>
                  </a:lnTo>
                  <a:lnTo>
                    <a:pt x="2413000" y="370937"/>
                  </a:lnTo>
                  <a:lnTo>
                    <a:pt x="2424430" y="362483"/>
                  </a:lnTo>
                  <a:lnTo>
                    <a:pt x="2435860" y="354045"/>
                  </a:lnTo>
                  <a:lnTo>
                    <a:pt x="2447290" y="345635"/>
                  </a:lnTo>
                  <a:lnTo>
                    <a:pt x="2458720" y="337258"/>
                  </a:lnTo>
                  <a:lnTo>
                    <a:pt x="2470150" y="328924"/>
                  </a:lnTo>
                  <a:lnTo>
                    <a:pt x="2481580" y="320640"/>
                  </a:lnTo>
                  <a:lnTo>
                    <a:pt x="2493010" y="312413"/>
                  </a:lnTo>
                  <a:lnTo>
                    <a:pt x="2504440" y="304252"/>
                  </a:lnTo>
                  <a:lnTo>
                    <a:pt x="2515870" y="296163"/>
                  </a:lnTo>
                  <a:lnTo>
                    <a:pt x="2527300" y="288154"/>
                  </a:lnTo>
                  <a:lnTo>
                    <a:pt x="2538730" y="280231"/>
                  </a:lnTo>
                  <a:lnTo>
                    <a:pt x="2550160" y="272399"/>
                  </a:lnTo>
                  <a:lnTo>
                    <a:pt x="2561590" y="264666"/>
                  </a:lnTo>
                  <a:lnTo>
                    <a:pt x="2573020" y="257037"/>
                  </a:lnTo>
                  <a:lnTo>
                    <a:pt x="2584450" y="249518"/>
                  </a:lnTo>
                  <a:lnTo>
                    <a:pt x="2595880" y="242112"/>
                  </a:lnTo>
                  <a:lnTo>
                    <a:pt x="2607310" y="234825"/>
                  </a:lnTo>
                  <a:lnTo>
                    <a:pt x="2618740" y="227661"/>
                  </a:lnTo>
                  <a:lnTo>
                    <a:pt x="2630170" y="220624"/>
                  </a:lnTo>
                  <a:lnTo>
                    <a:pt x="2641600" y="213717"/>
                  </a:lnTo>
                  <a:lnTo>
                    <a:pt x="2653030" y="206943"/>
                  </a:lnTo>
                  <a:lnTo>
                    <a:pt x="2664460" y="200305"/>
                  </a:lnTo>
                  <a:lnTo>
                    <a:pt x="2675890" y="193805"/>
                  </a:lnTo>
                  <a:lnTo>
                    <a:pt x="2687320" y="187445"/>
                  </a:lnTo>
                  <a:lnTo>
                    <a:pt x="2698750" y="181227"/>
                  </a:lnTo>
                  <a:lnTo>
                    <a:pt x="2710180" y="175152"/>
                  </a:lnTo>
                  <a:lnTo>
                    <a:pt x="2721610" y="169221"/>
                  </a:lnTo>
                  <a:lnTo>
                    <a:pt x="2733040" y="163434"/>
                  </a:lnTo>
                  <a:lnTo>
                    <a:pt x="2744470" y="157792"/>
                  </a:lnTo>
                  <a:lnTo>
                    <a:pt x="2755900" y="152295"/>
                  </a:lnTo>
                  <a:lnTo>
                    <a:pt x="2767330" y="146943"/>
                  </a:lnTo>
                  <a:lnTo>
                    <a:pt x="2778760" y="141734"/>
                  </a:lnTo>
                  <a:lnTo>
                    <a:pt x="2790190" y="136668"/>
                  </a:lnTo>
                  <a:lnTo>
                    <a:pt x="2801620" y="131745"/>
                  </a:lnTo>
                  <a:lnTo>
                    <a:pt x="2813050" y="126963"/>
                  </a:lnTo>
                  <a:lnTo>
                    <a:pt x="2824480" y="122320"/>
                  </a:lnTo>
                  <a:lnTo>
                    <a:pt x="2835910" y="117814"/>
                  </a:lnTo>
                  <a:lnTo>
                    <a:pt x="2847340" y="113445"/>
                  </a:lnTo>
                  <a:lnTo>
                    <a:pt x="2858770" y="109210"/>
                  </a:lnTo>
                  <a:lnTo>
                    <a:pt x="2870200" y="105107"/>
                  </a:lnTo>
                  <a:lnTo>
                    <a:pt x="2881630" y="101134"/>
                  </a:lnTo>
                  <a:lnTo>
                    <a:pt x="2893060" y="97288"/>
                  </a:lnTo>
                  <a:lnTo>
                    <a:pt x="2904490" y="93567"/>
                  </a:lnTo>
                  <a:lnTo>
                    <a:pt x="2915920" y="89969"/>
                  </a:lnTo>
                  <a:lnTo>
                    <a:pt x="2927350" y="86490"/>
                  </a:lnTo>
                  <a:lnTo>
                    <a:pt x="2938780" y="83129"/>
                  </a:lnTo>
                  <a:lnTo>
                    <a:pt x="2950210" y="79883"/>
                  </a:lnTo>
                  <a:lnTo>
                    <a:pt x="2961640" y="76749"/>
                  </a:lnTo>
                  <a:lnTo>
                    <a:pt x="2973070" y="73723"/>
                  </a:lnTo>
                  <a:lnTo>
                    <a:pt x="2984500" y="70805"/>
                  </a:lnTo>
                  <a:lnTo>
                    <a:pt x="2995930" y="67989"/>
                  </a:lnTo>
                  <a:lnTo>
                    <a:pt x="3007360" y="65275"/>
                  </a:lnTo>
                  <a:lnTo>
                    <a:pt x="3018790" y="62659"/>
                  </a:lnTo>
                  <a:lnTo>
                    <a:pt x="3030220" y="60138"/>
                  </a:lnTo>
                  <a:lnTo>
                    <a:pt x="3041650" y="57709"/>
                  </a:lnTo>
                  <a:lnTo>
                    <a:pt x="3053080" y="55370"/>
                  </a:lnTo>
                  <a:lnTo>
                    <a:pt x="3064510" y="53119"/>
                  </a:lnTo>
                  <a:lnTo>
                    <a:pt x="3075940" y="50951"/>
                  </a:lnTo>
                  <a:lnTo>
                    <a:pt x="3087370" y="48866"/>
                  </a:lnTo>
                  <a:lnTo>
                    <a:pt x="3098800" y="46859"/>
                  </a:lnTo>
                  <a:lnTo>
                    <a:pt x="3110230" y="44930"/>
                  </a:lnTo>
                  <a:lnTo>
                    <a:pt x="3121660" y="43074"/>
                  </a:lnTo>
                  <a:lnTo>
                    <a:pt x="3133090" y="41290"/>
                  </a:lnTo>
                  <a:lnTo>
                    <a:pt x="3144520" y="39575"/>
                  </a:lnTo>
                  <a:lnTo>
                    <a:pt x="3155950" y="37928"/>
                  </a:lnTo>
                  <a:lnTo>
                    <a:pt x="3167380" y="36344"/>
                  </a:lnTo>
                  <a:lnTo>
                    <a:pt x="3178810" y="34823"/>
                  </a:lnTo>
                  <a:lnTo>
                    <a:pt x="3190240" y="33363"/>
                  </a:lnTo>
                  <a:lnTo>
                    <a:pt x="3201670" y="31960"/>
                  </a:lnTo>
                  <a:lnTo>
                    <a:pt x="3213100" y="30613"/>
                  </a:lnTo>
                  <a:lnTo>
                    <a:pt x="3224530" y="29320"/>
                  </a:lnTo>
                  <a:lnTo>
                    <a:pt x="3235960" y="28079"/>
                  </a:lnTo>
                  <a:lnTo>
                    <a:pt x="3247390" y="26888"/>
                  </a:lnTo>
                  <a:lnTo>
                    <a:pt x="3258820" y="25745"/>
                  </a:lnTo>
                  <a:lnTo>
                    <a:pt x="3270250" y="24648"/>
                  </a:lnTo>
                  <a:lnTo>
                    <a:pt x="3281680" y="23596"/>
                  </a:lnTo>
                  <a:lnTo>
                    <a:pt x="3293110" y="22587"/>
                  </a:lnTo>
                  <a:lnTo>
                    <a:pt x="3304540" y="21620"/>
                  </a:lnTo>
                  <a:lnTo>
                    <a:pt x="3315970" y="20692"/>
                  </a:lnTo>
                  <a:lnTo>
                    <a:pt x="3327400" y="19802"/>
                  </a:lnTo>
                  <a:lnTo>
                    <a:pt x="3338830" y="18949"/>
                  </a:lnTo>
                  <a:lnTo>
                    <a:pt x="3350260" y="18131"/>
                  </a:lnTo>
                  <a:lnTo>
                    <a:pt x="3361690" y="17347"/>
                  </a:lnTo>
                  <a:lnTo>
                    <a:pt x="3373120" y="16595"/>
                  </a:lnTo>
                  <a:lnTo>
                    <a:pt x="3384550" y="15875"/>
                  </a:lnTo>
                  <a:lnTo>
                    <a:pt x="3395980" y="15184"/>
                  </a:lnTo>
                  <a:lnTo>
                    <a:pt x="3407410" y="14523"/>
                  </a:lnTo>
                  <a:lnTo>
                    <a:pt x="3418840" y="13889"/>
                  </a:lnTo>
                  <a:lnTo>
                    <a:pt x="3430270" y="13282"/>
                  </a:lnTo>
                  <a:lnTo>
                    <a:pt x="3441700" y="12700"/>
                  </a:lnTo>
                </a:path>
              </a:pathLst>
            </a:custGeom>
            <a:noFill/>
            <a:ln w="22860">
              <a:solidFill>
                <a:srgbClr val="D61016"/>
              </a:solidFill>
            </a:ln>
          </p:spPr>
          <p:txBody>
            <a:bodyPr/>
            <a:lstStyle/>
            <a:p>
              <a:endParaRPr lang="en-NL"/>
            </a:p>
          </p:txBody>
        </p:sp>
      </p:grpSp>
      <p:grpSp>
        <p:nvGrpSpPr>
          <p:cNvPr id="7001" name="!!Delta focus"/>
          <p:cNvGrpSpPr/>
          <p:nvPr/>
        </p:nvGrpSpPr>
        <p:grpSpPr>
          <a:xfrm>
            <a:off x="5906685" y="1647825"/>
            <a:ext cx="429504" cy="430267"/>
            <a:chOff x="3274060" y="1819148"/>
            <a:chExt cx="563880" cy="563880"/>
          </a:xfrm>
        </p:grpSpPr>
        <p:sp>
          <p:nvSpPr>
            <p:cNvPr id="700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700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700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4_1"/>
                  <a:stretch>
                    <a:fillRect l="-7143" b="-9836"/>
                  </a:stretch>
                </a:blipFill>
                <a:ln>
                  <a:noFill/>
                </a:ln>
              </p:spPr>
              <p:txBody>
                <a:bodyPr/>
                <a:lstStyle/>
                <a:p>
                  <a:r>
                    <a:rPr lang="en-NL">
                      <a:noFill/>
                    </a:rPr>
                    <a:t> </a:t>
                  </a:r>
                </a:p>
              </p:txBody>
            </p:sp>
          </mc:Fallback>
        </mc:AlternateContent>
      </p:gr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5524774" y="1231901"/>
            <a:ext cx="3098526" cy="717112"/>
            <a:chOff x="2772664" y="1274064"/>
            <a:chExt cx="4067940" cy="939800"/>
          </a:xfrm>
        </p:grpSpPr>
        <p:sp>
          <p:nvSpPr>
            <p:cNvPr id="5004" name="z filter input">
              <a:extLst>
                <a:ext uri="{FF2B5EF4-FFF2-40B4-BE49-F238E27FC236}">
                  <a16:creationId xmlns:a16="http://schemas.microsoft.com/office/drawing/2014/main" id="{6C077BE1-CA1D-D5A1-FDE8-1AE89BA21002}"/>
                </a:ext>
              </a:extLst>
            </p:cNvPr>
            <p:cNvSpPr/>
            <p:nvPr/>
          </p:nvSpPr>
          <p:spPr>
            <a:xfrm>
              <a:off x="2772664" y="1543303"/>
              <a:ext cx="2111757"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dirty="0"/>
            </a:p>
          </p:txBody>
        </p:sp>
        <p:sp>
          <p:nvSpPr>
            <p:cNvPr id="5005" name="w filter input">
              <a:extLst>
                <a:ext uri="{FF2B5EF4-FFF2-40B4-BE49-F238E27FC236}">
                  <a16:creationId xmlns:a16="http://schemas.microsoft.com/office/drawing/2014/main" id="{BB7A3CAC-9A8E-8832-ED3F-D43DAEDC8BC1}"/>
                </a:ext>
              </a:extLst>
            </p:cNvPr>
            <p:cNvSpPr/>
            <p:nvPr/>
          </p:nvSpPr>
          <p:spPr>
            <a:xfrm>
              <a:off x="4313938" y="1919223"/>
              <a:ext cx="570485" cy="194565"/>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2" y="1543303"/>
              <a:ext cx="608076" cy="25399"/>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7" name="Filtered z">
                  <a:extLst>
                    <a:ext uri="{FF2B5EF4-FFF2-40B4-BE49-F238E27FC236}">
                      <a16:creationId xmlns:a16="http://schemas.microsoft.com/office/drawing/2014/main" id="{F383059B-78DF-7867-E81B-D804AC9B2C81}"/>
                    </a:ext>
                  </a:extLst>
                </p:cNvPr>
                <p:cNvSpPr/>
                <p:nvPr/>
              </p:nvSpPr>
              <p:spPr>
                <a:xfrm>
                  <a:off x="6417694" y="1365693"/>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4" y="1365693"/>
                  <a:ext cx="422910" cy="380619"/>
                </a:xfrm>
                <a:prstGeom prst="rect">
                  <a:avLst/>
                </a:prstGeom>
                <a:blipFill>
                  <a:blip r:embed="rId5"/>
                  <a:stretch>
                    <a:fillRect t="-6383" r="-77358" b="-2128"/>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2" y="1919223"/>
              <a:ext cx="608076" cy="25399"/>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9" name="Filtered w">
                  <a:extLst>
                    <a:ext uri="{FF2B5EF4-FFF2-40B4-BE49-F238E27FC236}">
                      <a16:creationId xmlns:a16="http://schemas.microsoft.com/office/drawing/2014/main" id="{D07C0B8E-1BCA-7188-3574-2F25277AC64E}"/>
                    </a:ext>
                  </a:extLst>
                </p:cNvPr>
                <p:cNvSpPr/>
                <p:nvPr/>
              </p:nvSpPr>
              <p:spPr>
                <a:xfrm>
                  <a:off x="6417694" y="1741613"/>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4" y="1741613"/>
                  <a:ext cx="422910" cy="380619"/>
                </a:xfrm>
                <a:prstGeom prst="rect">
                  <a:avLst/>
                </a:prstGeom>
                <a:blipFill>
                  <a:blip r:embed="rId6"/>
                  <a:stretch>
                    <a:fillRect l="-9434" t="-21277" r="-45283" b="-2128"/>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3" y="1274064"/>
              <a:ext cx="939801"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017" name="Original filter label"/>
                <p:cNvSpPr/>
                <p:nvPr/>
              </p:nvSpPr>
              <p:spPr>
                <a:xfrm>
                  <a:off x="4897120" y="1299463"/>
                  <a:ext cx="889001"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xmlns="">
            <p:sp>
              <p:nvSpPr>
                <p:cNvPr id="5017" name="Original filter label"/>
                <p:cNvSpPr>
                  <a:spLocks noRot="1" noChangeAspect="1" noMove="1" noResize="1" noEditPoints="1" noAdjustHandles="1" noChangeArrowheads="1" noChangeShapeType="1" noTextEdit="1"/>
                </p:cNvSpPr>
                <p:nvPr/>
              </p:nvSpPr>
              <p:spPr>
                <a:xfrm>
                  <a:off x="4897120" y="1299463"/>
                  <a:ext cx="889001" cy="889000"/>
                </a:xfrm>
                <a:prstGeom prst="rect">
                  <a:avLst/>
                </a:prstGeom>
                <a:blipFill>
                  <a:blip r:embed="rId7"/>
                  <a:stretch>
                    <a:fillRect/>
                  </a:stretch>
                </a:blipFill>
                <a:ln>
                  <a:noFill/>
                </a:ln>
              </p:spPr>
              <p:txBody>
                <a:bodyPr/>
                <a:lstStyle/>
                <a:p>
                  <a:r>
                    <a:rPr lang="en-NL">
                      <a:noFill/>
                    </a:rPr>
                    <a:t> </a:t>
                  </a:r>
                </a:p>
              </p:txBody>
            </p:sp>
          </mc:Fallback>
        </mc:AlternateContent>
      </p:grpSp>
      <p:sp>
        <p:nvSpPr>
          <p:cNvPr id="1205" name="Sector bounds Upper sector line"/>
          <p:cNvSpPr/>
          <p:nvPr/>
        </p:nvSpPr>
        <p:spPr>
          <a:xfrm>
            <a:off x="660400" y="1467597"/>
            <a:ext cx="3454400" cy="1890807"/>
          </a:xfrm>
          <a:custGeom>
            <a:avLst/>
            <a:gdLst/>
            <a:ahLst/>
            <a:cxnLst/>
            <a:rect l="0" t="0" r="r" b="b"/>
            <a:pathLst>
              <a:path w="3454400" h="1890807" fill="none">
                <a:moveTo>
                  <a:pt x="12700" y="1878107"/>
                </a:moveTo>
                <a:lnTo>
                  <a:pt x="3441700" y="12700"/>
                </a:lnTo>
              </a:path>
            </a:pathLst>
          </a:custGeom>
          <a:noFill/>
          <a:ln w="40640">
            <a:solidFill>
              <a:srgbClr val="747B82"/>
            </a:solidFill>
          </a:ln>
        </p:spPr>
        <p:txBody>
          <a:bodyPr/>
          <a:lstStyle/>
          <a:p>
            <a:endParaRPr lang="en-NL"/>
          </a:p>
        </p:txBody>
      </p:sp>
      <p:grpSp>
        <p:nvGrpSpPr>
          <p:cNvPr id="4" name="!!Delta focus">
            <a:extLst>
              <a:ext uri="{FF2B5EF4-FFF2-40B4-BE49-F238E27FC236}">
                <a16:creationId xmlns:a16="http://schemas.microsoft.com/office/drawing/2014/main" id="{E378A1A2-BF9D-9D6A-1E18-A701A25A2D9C}"/>
              </a:ext>
            </a:extLst>
          </p:cNvPr>
          <p:cNvGrpSpPr/>
          <p:nvPr/>
        </p:nvGrpSpPr>
        <p:grpSpPr>
          <a:xfrm>
            <a:off x="5906685" y="1646029"/>
            <a:ext cx="429504" cy="430267"/>
            <a:chOff x="3274060" y="1819148"/>
            <a:chExt cx="563880" cy="563880"/>
          </a:xfrm>
        </p:grpSpPr>
        <p:sp>
          <p:nvSpPr>
            <p:cNvPr id="5" name="Uncertainty">
              <a:extLst>
                <a:ext uri="{FF2B5EF4-FFF2-40B4-BE49-F238E27FC236}">
                  <a16:creationId xmlns:a16="http://schemas.microsoft.com/office/drawing/2014/main" id="{548E5BE6-7B12-8DFF-0C0F-05F21838D3AC}"/>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6" name="Uncertainty label">
                  <a:extLst>
                    <a:ext uri="{FF2B5EF4-FFF2-40B4-BE49-F238E27FC236}">
                      <a16:creationId xmlns:a16="http://schemas.microsoft.com/office/drawing/2014/main" id="{E1F26C50-24BE-40DF-C0DD-D03FAD0D3BB6}"/>
                    </a:ext>
                  </a:extLst>
                </p:cNvPr>
                <p:cNvSpPr/>
                <p:nvPr/>
              </p:nvSpPr>
              <p:spPr>
                <a:xfrm>
                  <a:off x="3274060" y="1854390"/>
                  <a:ext cx="563880" cy="493395"/>
                </a:xfrm>
                <a:prstGeom prst="rect">
                  <a:avLst/>
                </a:prstGeom>
                <a:noFill/>
                <a:ln>
                  <a:noFill/>
                  <a:prstDash val="solid"/>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p:sp>
              <p:nvSpPr>
                <p:cNvPr id="6" name="Uncertainty label">
                  <a:extLst>
                    <a:ext uri="{FF2B5EF4-FFF2-40B4-BE49-F238E27FC236}">
                      <a16:creationId xmlns:a16="http://schemas.microsoft.com/office/drawing/2014/main" id="{E1F26C50-24BE-40DF-C0DD-D03FAD0D3BB6}"/>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8"/>
                  <a:stretch>
                    <a:fillRect l="-7143" b="-8065"/>
                  </a:stretch>
                </a:blipFill>
                <a:ln>
                  <a:noFill/>
                  <a:prstDash val="solid"/>
                </a:ln>
              </p:spPr>
              <p:txBody>
                <a:bodyPr/>
                <a:lstStyle/>
                <a:p>
                  <a:r>
                    <a:rPr lang="en-NL">
                      <a:noFill/>
                    </a:rPr>
                    <a:t> </a:t>
                  </a:r>
                </a:p>
              </p:txBody>
            </p:sp>
          </mc:Fallback>
        </mc:AlternateContent>
      </p:grpSp>
      <p:cxnSp>
        <p:nvCxnSpPr>
          <p:cNvPr id="3" name="Straight Arrow Connector 2">
            <a:extLst>
              <a:ext uri="{FF2B5EF4-FFF2-40B4-BE49-F238E27FC236}">
                <a16:creationId xmlns:a16="http://schemas.microsoft.com/office/drawing/2014/main" id="{4BB4D905-12A7-95ED-5DFB-12E7C6318F8B}"/>
              </a:ext>
            </a:extLst>
          </p:cNvPr>
          <p:cNvCxnSpPr>
            <a:cxnSpLocks/>
            <a:endCxn id="5" idx="1"/>
          </p:cNvCxnSpPr>
          <p:nvPr/>
        </p:nvCxnSpPr>
        <p:spPr>
          <a:xfrm>
            <a:off x="5129213" y="1861163"/>
            <a:ext cx="777472"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D0B0DE09-717D-7B7C-E04D-93D1E5BBD3F9}"/>
              </a:ext>
            </a:extLst>
          </p:cNvPr>
          <p:cNvCxnSpPr>
            <a:cxnSpLocks/>
            <a:stCxn id="6" idx="3"/>
          </p:cNvCxnSpPr>
          <p:nvPr/>
        </p:nvCxnSpPr>
        <p:spPr>
          <a:xfrm>
            <a:off x="6336189" y="1861162"/>
            <a:ext cx="588486"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Uncertainty output channel">
                <a:extLst>
                  <a:ext uri="{FF2B5EF4-FFF2-40B4-BE49-F238E27FC236}">
                    <a16:creationId xmlns:a16="http://schemas.microsoft.com/office/drawing/2014/main" id="{0A5E233A-8AFB-E1E0-E3EB-00C63D4578AD}"/>
                  </a:ext>
                </a:extLst>
              </p:cNvPr>
              <p:cNvSpPr/>
              <p:nvPr/>
            </p:nvSpPr>
            <p:spPr>
              <a:xfrm>
                <a:off x="5269176" y="1857928"/>
                <a:ext cx="429504" cy="2904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dirty="0"/>
              </a:p>
            </p:txBody>
          </p:sp>
        </mc:Choice>
        <mc:Fallback xmlns="">
          <p:sp>
            <p:nvSpPr>
              <p:cNvPr id="13" name="Uncertainty output channel">
                <a:extLst>
                  <a:ext uri="{FF2B5EF4-FFF2-40B4-BE49-F238E27FC236}">
                    <a16:creationId xmlns:a16="http://schemas.microsoft.com/office/drawing/2014/main" id="{0A5E233A-8AFB-E1E0-E3EB-00C63D4578AD}"/>
                  </a:ext>
                </a:extLst>
              </p:cNvPr>
              <p:cNvSpPr>
                <a:spLocks noRot="1" noChangeAspect="1" noMove="1" noResize="1" noEditPoints="1" noAdjustHandles="1" noChangeArrowheads="1" noChangeShapeType="1" noTextEdit="1"/>
              </p:cNvSpPr>
              <p:nvPr/>
            </p:nvSpPr>
            <p:spPr>
              <a:xfrm>
                <a:off x="5269176" y="1857928"/>
                <a:ext cx="429504" cy="290430"/>
              </a:xfrm>
              <a:prstGeom prst="rect">
                <a:avLst/>
              </a:prstGeom>
              <a:blipFill>
                <a:blip r:embed="rId9"/>
                <a:stretch>
                  <a:fillRect b="-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 name="Uncertainty input channel">
                <a:extLst>
                  <a:ext uri="{FF2B5EF4-FFF2-40B4-BE49-F238E27FC236}">
                    <a16:creationId xmlns:a16="http://schemas.microsoft.com/office/drawing/2014/main" id="{C87E56E4-09E3-2392-4E63-1509214553E8}"/>
                  </a:ext>
                </a:extLst>
              </p:cNvPr>
              <p:cNvSpPr/>
              <p:nvPr/>
            </p:nvSpPr>
            <p:spPr>
              <a:xfrm>
                <a:off x="6481681" y="1861161"/>
                <a:ext cx="429504" cy="2904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dirty="0"/>
              </a:p>
            </p:txBody>
          </p:sp>
        </mc:Choice>
        <mc:Fallback xmlns="">
          <p:sp>
            <p:nvSpPr>
              <p:cNvPr id="15" name="Uncertainty input channel">
                <a:extLst>
                  <a:ext uri="{FF2B5EF4-FFF2-40B4-BE49-F238E27FC236}">
                    <a16:creationId xmlns:a16="http://schemas.microsoft.com/office/drawing/2014/main" id="{C87E56E4-09E3-2392-4E63-1509214553E8}"/>
                  </a:ext>
                </a:extLst>
              </p:cNvPr>
              <p:cNvSpPr>
                <a:spLocks noRot="1" noChangeAspect="1" noMove="1" noResize="1" noEditPoints="1" noAdjustHandles="1" noChangeArrowheads="1" noChangeShapeType="1" noTextEdit="1"/>
              </p:cNvSpPr>
              <p:nvPr/>
            </p:nvSpPr>
            <p:spPr>
              <a:xfrm>
                <a:off x="6481681" y="1861161"/>
                <a:ext cx="429504" cy="290430"/>
              </a:xfrm>
              <a:prstGeom prst="rect">
                <a:avLst/>
              </a:prstGeom>
              <a:blipFill>
                <a:blip r:embed="rId10"/>
                <a:stretch>
                  <a:fillRect b="-2083"/>
                </a:stretch>
              </a:blipFill>
              <a:ln>
                <a:noFill/>
              </a:ln>
            </p:spPr>
            <p:txBody>
              <a:bodyPr/>
              <a:lstStyle/>
              <a:p>
                <a:r>
                  <a:rPr lang="en-NL">
                    <a:noFill/>
                  </a:rPr>
                  <a:t> </a:t>
                </a:r>
              </a:p>
            </p:txBody>
          </p:sp>
        </mc:Fallback>
      </mc:AlternateContent>
      <p:grpSp>
        <p:nvGrpSpPr>
          <p:cNvPr id="16" name="Figure with corrected editable mathematics — editable labels">
            <a:extLst>
              <a:ext uri="{FF2B5EF4-FFF2-40B4-BE49-F238E27FC236}">
                <a16:creationId xmlns:a16="http://schemas.microsoft.com/office/drawing/2014/main" id="{70BB7587-C739-9F82-7FDA-BE9AA71A9241}"/>
              </a:ext>
            </a:extLst>
          </p:cNvPr>
          <p:cNvGrpSpPr/>
          <p:nvPr/>
        </p:nvGrpSpPr>
        <p:grpSpPr>
          <a:xfrm>
            <a:off x="4051300" y="2416294"/>
            <a:ext cx="5156200" cy="2578100"/>
            <a:chOff x="1993900" y="241300"/>
            <a:chExt cx="5156200" cy="2578100"/>
          </a:xfrm>
        </p:grpSpPr>
        <p:pic>
          <p:nvPicPr>
            <p:cNvPr id="17" name="Figure with corrected editable mathematics">
              <a:extLst>
                <a:ext uri="{FF2B5EF4-FFF2-40B4-BE49-F238E27FC236}">
                  <a16:creationId xmlns:a16="http://schemas.microsoft.com/office/drawing/2014/main" id="{04FD6BC8-E6F7-83BD-34E6-D006F8AA316A}"/>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18" name="Editable label Proto">
              <a:extLst>
                <a:ext uri="{FF2B5EF4-FFF2-40B4-BE49-F238E27FC236}">
                  <a16:creationId xmlns:a16="http://schemas.microsoft.com/office/drawing/2014/main" id="{65A47F65-9B9F-22E2-567C-9DE8DEA12AC0}"/>
                </a:ext>
              </a:extLst>
            </p:cNvPr>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9" name="Editable label STN">
              <a:extLst>
                <a:ext uri="{FF2B5EF4-FFF2-40B4-BE49-F238E27FC236}">
                  <a16:creationId xmlns:a16="http://schemas.microsoft.com/office/drawing/2014/main" id="{C18761C6-73BB-CBE2-2F79-78E9780E9340}"/>
                </a:ext>
              </a:extLst>
            </p:cNvPr>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 name="Synaptic sign +">
                  <a:extLst>
                    <a:ext uri="{FF2B5EF4-FFF2-40B4-BE49-F238E27FC236}">
                      <a16:creationId xmlns:a16="http://schemas.microsoft.com/office/drawing/2014/main" id="{2AC7D8AA-955B-B8CA-82A7-219E829B67B9}"/>
                    </a:ext>
                  </a:extLst>
                </p:cNvPr>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1" name="Synaptic sign −">
                  <a:extLst>
                    <a:ext uri="{FF2B5EF4-FFF2-40B4-BE49-F238E27FC236}">
                      <a16:creationId xmlns:a16="http://schemas.microsoft.com/office/drawing/2014/main" id="{24DEDC8E-0F04-1197-C563-181D02B5E247}"/>
                    </a:ext>
                  </a:extLst>
                </p:cNvPr>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 name="Synaptic sign −">
                  <a:extLst>
                    <a:ext uri="{FF2B5EF4-FFF2-40B4-BE49-F238E27FC236}">
                      <a16:creationId xmlns:a16="http://schemas.microsoft.com/office/drawing/2014/main" id="{E42F7303-F977-07E8-B964-863936F2964E}"/>
                    </a:ext>
                  </a:extLst>
                </p:cNvPr>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3" name="Activation G">
                  <a:extLst>
                    <a:ext uri="{FF2B5EF4-FFF2-40B4-BE49-F238E27FC236}">
                      <a16:creationId xmlns:a16="http://schemas.microsoft.com/office/drawing/2014/main" id="{34B43371-34C6-A7E1-C74A-CE5ABAF6CAD5}"/>
                    </a:ext>
                  </a:extLst>
                </p:cNvPr>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4" name="Activation input G">
                  <a:extLst>
                    <a:ext uri="{FF2B5EF4-FFF2-40B4-BE49-F238E27FC236}">
                      <a16:creationId xmlns:a16="http://schemas.microsoft.com/office/drawing/2014/main" id="{B3F29919-30AB-24F6-9103-3BA022F43151}"/>
                    </a:ext>
                  </a:extLst>
                </p:cNvPr>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5" name="Activation S">
                  <a:extLst>
                    <a:ext uri="{FF2B5EF4-FFF2-40B4-BE49-F238E27FC236}">
                      <a16:creationId xmlns:a16="http://schemas.microsoft.com/office/drawing/2014/main" id="{C79854D8-87E0-7663-1ABF-FAE9D648899F}"/>
                    </a:ext>
                  </a:extLst>
                </p:cNvPr>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6" name="Activation input S">
                  <a:extLst>
                    <a:ext uri="{FF2B5EF4-FFF2-40B4-BE49-F238E27FC236}">
                      <a16:creationId xmlns:a16="http://schemas.microsoft.com/office/drawing/2014/main" id="{57EB35B1-5B2B-4371-0FDB-E34C2AEFDB61}"/>
                    </a:ext>
                  </a:extLst>
                </p:cNvPr>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8"/>
                  <a:stretch>
                    <a:fillRect/>
                  </a:stretch>
                </a:blipFill>
                <a:ln>
                  <a:noFill/>
                </a:ln>
              </p:spPr>
              <p:txBody>
                <a:bodyPr/>
                <a:lstStyle/>
                <a:p>
                  <a:r>
                    <a:rPr lang="en-NL">
                      <a:noFill/>
                    </a:rPr>
                    <a:t> </a:t>
                  </a:r>
                </a:p>
              </p:txBody>
            </p:sp>
          </mc:Fallback>
        </mc:AlternateContent>
      </p:grpSp>
      <p:sp>
        <p:nvSpPr>
          <p:cNvPr id="34" name="Rectangle 33">
            <a:extLst>
              <a:ext uri="{FF2B5EF4-FFF2-40B4-BE49-F238E27FC236}">
                <a16:creationId xmlns:a16="http://schemas.microsoft.com/office/drawing/2014/main" id="{9E43A81B-9B52-A0B8-6284-77456851C378}"/>
              </a:ext>
            </a:extLst>
          </p:cNvPr>
          <p:cNvSpPr/>
          <p:nvPr/>
        </p:nvSpPr>
        <p:spPr>
          <a:xfrm>
            <a:off x="5397218" y="3134360"/>
            <a:ext cx="827899" cy="838006"/>
          </a:xfrm>
          <a:prstGeom prst="rect">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6" name="Rectangle 35">
            <a:extLst>
              <a:ext uri="{FF2B5EF4-FFF2-40B4-BE49-F238E27FC236}">
                <a16:creationId xmlns:a16="http://schemas.microsoft.com/office/drawing/2014/main" id="{C6688966-C519-6C38-6E77-770BE5218EC7}"/>
              </a:ext>
            </a:extLst>
          </p:cNvPr>
          <p:cNvSpPr/>
          <p:nvPr/>
        </p:nvSpPr>
        <p:spPr>
          <a:xfrm>
            <a:off x="7164494" y="3202494"/>
            <a:ext cx="827899" cy="838006"/>
          </a:xfrm>
          <a:prstGeom prst="rect">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38" name="Straight Connector 37">
            <a:extLst>
              <a:ext uri="{FF2B5EF4-FFF2-40B4-BE49-F238E27FC236}">
                <a16:creationId xmlns:a16="http://schemas.microsoft.com/office/drawing/2014/main" id="{5A77709F-AB50-81E8-173F-FF01D8987020}"/>
              </a:ext>
            </a:extLst>
          </p:cNvPr>
          <p:cNvCxnSpPr>
            <a:stCxn id="34" idx="0"/>
            <a:endCxn id="7002" idx="2"/>
          </p:cNvCxnSpPr>
          <p:nvPr/>
        </p:nvCxnSpPr>
        <p:spPr>
          <a:xfrm flipV="1">
            <a:off x="5811168" y="2078092"/>
            <a:ext cx="310269" cy="1056268"/>
          </a:xfrm>
          <a:prstGeom prst="line">
            <a:avLst/>
          </a:prstGeom>
          <a:ln w="28575">
            <a:solidFill>
              <a:srgbClr val="000000"/>
            </a:solidFill>
          </a:ln>
        </p:spPr>
        <p:style>
          <a:lnRef idx="1">
            <a:schemeClr val="dk1"/>
          </a:lnRef>
          <a:fillRef idx="0">
            <a:schemeClr val="dk1"/>
          </a:fillRef>
          <a:effectRef idx="0">
            <a:schemeClr val="dk1"/>
          </a:effectRef>
          <a:fontRef idx="minor">
            <a:schemeClr val="tx1"/>
          </a:fontRef>
        </p:style>
      </p:cxnSp>
      <p:cxnSp>
        <p:nvCxnSpPr>
          <p:cNvPr id="40" name="Straight Connector 39">
            <a:extLst>
              <a:ext uri="{FF2B5EF4-FFF2-40B4-BE49-F238E27FC236}">
                <a16:creationId xmlns:a16="http://schemas.microsoft.com/office/drawing/2014/main" id="{F0E604FB-4F4B-4AB9-B186-1A02E99B55BB}"/>
              </a:ext>
            </a:extLst>
          </p:cNvPr>
          <p:cNvCxnSpPr>
            <a:stCxn id="36" idx="0"/>
            <a:endCxn id="7002" idx="2"/>
          </p:cNvCxnSpPr>
          <p:nvPr/>
        </p:nvCxnSpPr>
        <p:spPr>
          <a:xfrm flipH="1" flipV="1">
            <a:off x="6121437" y="2078092"/>
            <a:ext cx="1457007" cy="1124402"/>
          </a:xfrm>
          <a:prstGeom prst="line">
            <a:avLst/>
          </a:prstGeom>
          <a:ln w="28575">
            <a:solidFill>
              <a:srgbClr val="00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60FB63A8-F91E-82A0-2104-2E3294463163}"/>
                  </a:ext>
                </a:extLst>
              </p:cNvPr>
              <p:cNvSpPr txBox="1"/>
              <p:nvPr/>
            </p:nvSpPr>
            <p:spPr>
              <a:xfrm>
                <a:off x="4514850" y="570341"/>
                <a:ext cx="3069686" cy="559640"/>
              </a:xfrm>
              <a:prstGeom prst="rect">
                <a:avLst/>
              </a:prstGeom>
              <a:noFill/>
            </p:spPr>
            <p:txBody>
              <a:bodyPr wrap="none" rtlCol="0">
                <a:spAutoFit/>
              </a:bodyPr>
              <a:lstStyle/>
              <a:p>
                <a:pPr/>
                <a14:m>
                  <m:oMathPara xmlns:m="http://schemas.openxmlformats.org/officeDocument/2006/math">
                    <m:oMath>
                      <m:nary>
                        <m:naryPr>
                          <m:limLoc m:val="subSup"/>
                          <m:ctrlPr>
                            <a:rPr lang="en-US" b="0" i="1" smtClean="0">
                              <a:latin typeface="Cambria Math" panose="02040503050406030204" pitchFamily="18" charset="0"/>
                            </a:rPr>
                          </m:ctrlPr>
                        </m:naryPr>
                        <m:sub>
                          <m:r>
                            <a:rPr lang="en-US" b="0" i="1" smtClean="0">
                              <a:latin typeface="Cambria Math" panose="02040503050406030204" pitchFamily="18" charset="0"/>
                            </a:rPr>
                            <m:t>0</m:t>
                          </m:r>
                        </m:sub>
                        <m:sup>
                          <m:r>
                            <a:rPr lang="en-US" b="0" i="1"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𝑤</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e>
                            <m:sup>
                              <m:r>
                                <a:rPr lang="en-US" b="0" i="1" smtClean="0">
                                  <a:latin typeface="Cambria Math" panose="02040503050406030204" pitchFamily="18" charset="0"/>
                                </a:rPr>
                                <m:t>2</m:t>
                              </m:r>
                            </m:sup>
                          </m:sSup>
                        </m:e>
                      </m:nary>
                      <m:r>
                        <a:rPr lang="en-US" b="0" i="1" smtClean="0">
                          <a:latin typeface="Cambria Math" panose="02040503050406030204" pitchFamily="18" charset="0"/>
                        </a:rPr>
                        <m:t>𝑑𝑡</m:t>
                      </m:r>
                      <m:r>
                        <a:rPr lang="en-US" b="0" i="1" smtClean="0">
                          <a:latin typeface="Cambria Math" panose="02040503050406030204" pitchFamily="18" charset="0"/>
                        </a:rPr>
                        <m:t>≤</m:t>
                      </m:r>
                      <m:nary>
                        <m:naryPr>
                          <m:limLoc m:val="subSup"/>
                          <m:ctrlPr>
                            <a:rPr lang="en-US" b="0" i="1" smtClean="0">
                              <a:latin typeface="Cambria Math" panose="02040503050406030204" pitchFamily="18" charset="0"/>
                            </a:rPr>
                          </m:ctrlPr>
                        </m:naryPr>
                        <m:sub>
                          <m:r>
                            <a:rPr lang="en-US" b="0" i="1" smtClean="0">
                              <a:latin typeface="Cambria Math" panose="02040503050406030204" pitchFamily="18" charset="0"/>
                            </a:rPr>
                            <m:t>0</m:t>
                          </m:r>
                        </m:sub>
                        <m:sup>
                          <m:r>
                            <a:rPr lang="en-US" b="0" i="1"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𝑧</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e>
                            <m:sup>
                              <m:r>
                                <a:rPr lang="en-US" b="0" i="1" smtClean="0">
                                  <a:latin typeface="Cambria Math" panose="02040503050406030204" pitchFamily="18" charset="0"/>
                                </a:rPr>
                                <m:t>2</m:t>
                              </m:r>
                            </m:sup>
                          </m:sSup>
                        </m:e>
                      </m:nary>
                      <m:r>
                        <a:rPr lang="en-US" b="0" i="1" smtClean="0">
                          <a:latin typeface="Cambria Math" panose="02040503050406030204" pitchFamily="18" charset="0"/>
                        </a:rPr>
                        <m:t>𝑑𝑡</m:t>
                      </m:r>
                      <m:r>
                        <a:rPr lang="en-US" b="0" i="1" smtClean="0">
                          <a:latin typeface="Cambria Math" panose="02040503050406030204" pitchFamily="18" charset="0"/>
                        </a:rPr>
                        <m:t> ∀ </m:t>
                      </m:r>
                      <m:r>
                        <a:rPr lang="en-US" b="0" i="1" smtClean="0">
                          <a:latin typeface="Cambria Math" panose="02040503050406030204" pitchFamily="18" charset="0"/>
                        </a:rPr>
                        <m:t>𝑇</m:t>
                      </m:r>
                      <m:r>
                        <a:rPr lang="en-US" b="0" i="1" smtClean="0">
                          <a:latin typeface="Cambria Math" panose="02040503050406030204" pitchFamily="18" charset="0"/>
                        </a:rPr>
                        <m:t>&gt;0</m:t>
                      </m:r>
                    </m:oMath>
                  </m:oMathPara>
                </a14:m>
                <a:endParaRPr lang="en-NL" dirty="0"/>
              </a:p>
            </p:txBody>
          </p:sp>
        </mc:Choice>
        <mc:Fallback xmlns="">
          <p:sp>
            <p:nvSpPr>
              <p:cNvPr id="2" name="TextBox 1">
                <a:extLst>
                  <a:ext uri="{FF2B5EF4-FFF2-40B4-BE49-F238E27FC236}">
                    <a16:creationId xmlns:a16="http://schemas.microsoft.com/office/drawing/2014/main" id="{60FB63A8-F91E-82A0-2104-2E3294463163}"/>
                  </a:ext>
                </a:extLst>
              </p:cNvPr>
              <p:cNvSpPr txBox="1">
                <a:spLocks noRot="1" noChangeAspect="1" noMove="1" noResize="1" noEditPoints="1" noAdjustHandles="1" noChangeArrowheads="1" noChangeShapeType="1" noTextEdit="1"/>
              </p:cNvSpPr>
              <p:nvPr/>
            </p:nvSpPr>
            <p:spPr>
              <a:xfrm>
                <a:off x="4514850" y="570341"/>
                <a:ext cx="3069686" cy="559640"/>
              </a:xfrm>
              <a:prstGeom prst="rect">
                <a:avLst/>
              </a:prstGeom>
              <a:blipFill>
                <a:blip r:embed="rId19"/>
                <a:stretch>
                  <a:fillRect l="-20080" t="-145055" b="-217582"/>
                </a:stretch>
              </a:blipFill>
            </p:spPr>
            <p:txBody>
              <a:bodyPr/>
              <a:lstStyle/>
              <a:p>
                <a:r>
                  <a:rPr lang="en-NL">
                    <a:noFill/>
                  </a:rPr>
                  <a:t> </a:t>
                </a:r>
              </a:p>
            </p:txBody>
          </p:sp>
        </mc:Fallback>
      </mc:AlternateContent>
      <p:sp>
        <p:nvSpPr>
          <p:cNvPr id="7" name="TextBox 6">
            <a:extLst>
              <a:ext uri="{FF2B5EF4-FFF2-40B4-BE49-F238E27FC236}">
                <a16:creationId xmlns:a16="http://schemas.microsoft.com/office/drawing/2014/main" id="{822CA000-9E64-D9DE-899B-05979CC7D4F9}"/>
              </a:ext>
            </a:extLst>
          </p:cNvPr>
          <p:cNvSpPr txBox="1"/>
          <p:nvPr/>
        </p:nvSpPr>
        <p:spPr>
          <a:xfrm>
            <a:off x="4683261" y="262262"/>
            <a:ext cx="1553182" cy="300082"/>
          </a:xfrm>
          <a:prstGeom prst="rect">
            <a:avLst/>
          </a:prstGeom>
          <a:noFill/>
        </p:spPr>
        <p:txBody>
          <a:bodyPr wrap="none" rtlCol="0">
            <a:spAutoFit/>
          </a:bodyPr>
          <a:lstStyle/>
          <a:p>
            <a:r>
              <a:rPr lang="en-US" dirty="0"/>
              <a:t>Delta loses energy</a:t>
            </a:r>
            <a:endParaRPr lang="en-NL" dirty="0"/>
          </a:p>
        </p:txBody>
      </p:sp>
      <p:sp>
        <p:nvSpPr>
          <p:cNvPr id="8" name="Rectangle 7">
            <a:extLst>
              <a:ext uri="{FF2B5EF4-FFF2-40B4-BE49-F238E27FC236}">
                <a16:creationId xmlns:a16="http://schemas.microsoft.com/office/drawing/2014/main" id="{389E3BD7-9B7A-1002-42C4-D0401AB5A3B6}"/>
              </a:ext>
            </a:extLst>
          </p:cNvPr>
          <p:cNvSpPr/>
          <p:nvPr/>
        </p:nvSpPr>
        <p:spPr>
          <a:xfrm>
            <a:off x="4609888" y="562344"/>
            <a:ext cx="2968556" cy="55964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100">
        <p159:morph option="byObject"/>
      </p:transition>
    </mc:Choice>
    <mc:Fallback xmlns="" xmlns:m="http://schemas.openxmlformats.org/officeDocument/2006/math" xmlns:a14="http://schemas.microsoft.com/office/drawing/2010/main" xmlns:p14="http://schemas.microsoft.com/office/powerpoint/2010/main">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0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0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0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0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0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0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001"/>
                                        </p:tgtEl>
                                        <p:attrNameLst>
                                          <p:attrName>style.visibility</p:attrName>
                                        </p:attrNameLst>
                                      </p:cBhvr>
                                      <p:to>
                                        <p:strVal val="visible"/>
                                      </p:to>
                                    </p:set>
                                  </p:childTnLst>
                                </p:cTn>
                              </p:par>
                              <p:par>
                                <p:cTn id="21" presetID="1" presetClass="exit" presetSubtype="0" fill="hold" nodeType="withEffect">
                                  <p:stCondLst>
                                    <p:cond delay="0"/>
                                  </p:stCondLst>
                                  <p:childTnLst>
                                    <p:set>
                                      <p:cBhvr>
                                        <p:cTn id="22" dur="1" fill="hold">
                                          <p:stCondLst>
                                            <p:cond delay="0"/>
                                          </p:stCondLst>
                                        </p:cTn>
                                        <p:tgtEl>
                                          <p:spTgt spid="4"/>
                                        </p:tgtEl>
                                        <p:attrNameLst>
                                          <p:attrName>style.visibility</p:attrName>
                                        </p:attrNameLst>
                                      </p:cBhvr>
                                      <p:to>
                                        <p:strVal val="hidden"/>
                                      </p:to>
                                    </p:set>
                                  </p:childTnLst>
                                </p:cTn>
                              </p:par>
                              <p:par>
                                <p:cTn id="23" presetID="1" presetClass="entr" presetSubtype="0" fill="hold" nodeType="withEffect">
                                  <p:stCondLst>
                                    <p:cond delay="0"/>
                                  </p:stCondLst>
                                  <p:childTnLst>
                                    <p:set>
                                      <p:cBhvr>
                                        <p:cTn id="24" dur="1" fill="hold">
                                          <p:stCondLst>
                                            <p:cond delay="0"/>
                                          </p:stCondLst>
                                        </p:cTn>
                                        <p:tgtEl>
                                          <p:spTgt spid="700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0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202"/>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205"/>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20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40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40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7"/>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8"/>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1" grpId="0"/>
      <p:bldP spid="1402" grpId="0"/>
      <p:bldP spid="1403" grpId="0"/>
      <p:bldP spid="1404" grpId="0"/>
      <p:bldP spid="1405" grpId="0"/>
      <p:bldP spid="1406" grpId="0"/>
      <p:bldP spid="1407" grpId="0"/>
      <p:bldP spid="1410" grpId="0"/>
      <p:bldP spid="2" grpId="0"/>
      <p:bldP spid="7" grpId="0"/>
      <p:bldP spid="8"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mooth sector gaps - click to play">
            <a:hlinkClick r:id="" action="ppaction://media"/>
            <a:extLst>
              <a:ext uri="{FF2B5EF4-FFF2-40B4-BE49-F238E27FC236}">
                <a16:creationId xmlns:a16="http://schemas.microsoft.com/office/drawing/2014/main" id="{7D595140-159F-D08C-FE56-AACD7E33AE4A}"/>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44501" y="812800"/>
            <a:ext cx="8381183" cy="4064000"/>
          </a:xfrm>
          <a:prstGeom prst="rect">
            <a:avLst/>
          </a:prstGeom>
        </p:spPr>
      </p:pic>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The gaps between the curve and its sector</a:t>
            </a:r>
            <a:endParaRPr sz="2500"/>
          </a:p>
        </p:txBody>
      </p:sp>
      <mc:AlternateContent xmlns:mc="http://schemas.openxmlformats.org/markup-compatibility/2006" xmlns:a14="http://schemas.microsoft.com/office/drawing/2010/main">
        <mc:Choice Requires="a14">
          <p:sp>
            <p:nvSpPr>
              <p:cNvPr id="2201" name="Graph input"/>
              <p:cNvSpPr/>
              <p:nvPr/>
            </p:nvSpPr>
            <p:spPr>
              <a:xfrm>
                <a:off x="8502650" y="21463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𝑧</m:t>
                      </m:r>
                    </m:oMath>
                  </m:oMathPara>
                </a14:m>
                <a:endParaRPr sz="1500"/>
              </a:p>
            </p:txBody>
          </p:sp>
        </mc:Choice>
        <mc:Fallback xmlns:m="http://schemas.openxmlformats.org/officeDocument/2006/math" xmlns="">
          <p:sp>
            <p:nvSpPr>
              <p:cNvPr id="2201" name="Graph input"/>
              <p:cNvSpPr>
                <a:spLocks noRot="1" noChangeAspect="1" noMove="1" noResize="1" noEditPoints="1" noAdjustHandles="1" noChangeArrowheads="1" noChangeShapeType="1" noTextEdit="1"/>
              </p:cNvSpPr>
              <p:nvPr/>
            </p:nvSpPr>
            <p:spPr>
              <a:xfrm>
                <a:off x="8502650" y="2146300"/>
                <a:ext cx="317500" cy="533400"/>
              </a:xfrm>
              <a:prstGeom prst="rect">
                <a:avLst/>
              </a:prstGeom>
              <a:blipFill>
                <a:blip r:embed="rIdSectorRefinement35_3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2" name="Graph output"/>
              <p:cNvSpPr/>
              <p:nvPr/>
            </p:nvSpPr>
            <p:spPr>
              <a:xfrm>
                <a:off x="4413250" y="6477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𝑤</m:t>
                      </m:r>
                    </m:oMath>
                  </m:oMathPara>
                </a14:m>
                <a:endParaRPr sz="1500"/>
              </a:p>
            </p:txBody>
          </p:sp>
        </mc:Choice>
        <mc:Fallback xmlns:m="http://schemas.openxmlformats.org/officeDocument/2006/math" xmlns="">
          <p:sp>
            <p:nvSpPr>
              <p:cNvPr id="2202" name="Graph output"/>
              <p:cNvSpPr>
                <a:spLocks noRot="1" noChangeAspect="1" noMove="1" noResize="1" noEditPoints="1" noAdjustHandles="1" noChangeArrowheads="1" noChangeShapeType="1" noTextEdit="1"/>
              </p:cNvSpPr>
              <p:nvPr/>
            </p:nvSpPr>
            <p:spPr>
              <a:xfrm>
                <a:off x="4413250" y="647700"/>
                <a:ext cx="317500" cy="533400"/>
              </a:xfrm>
              <a:prstGeom prst="rect">
                <a:avLst/>
              </a:prstGeom>
              <a:blipFill>
                <a:blip r:embed="rIdSectorRefinement35_6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3" name="Upper boundary label"/>
              <p:cNvSpPr/>
              <p:nvPr/>
            </p:nvSpPr>
            <p:spPr>
              <a:xfrm>
                <a:off x="7721600" y="1046480"/>
                <a:ext cx="762000" cy="4978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400" b="0" i="0" smtClean="0">
                          <a:solidFill>
                            <a:srgbClr val="252529"/>
                          </a:solidFill>
                          <a:latin typeface="Cambria Math" panose="02040503050406030204" pitchFamily="18" charset="0"/>
                        </a:rPr>
                        <m:t>0.735</m:t>
                      </m:r>
                      <m:r>
                        <a:rPr lang="en-US" sz="1400">
                          <a:solidFill>
                            <a:srgbClr val="252529"/>
                          </a:solidFill>
                          <a:latin typeface="Cambria Math"/>
                        </a:rPr>
                        <m:t>𝑧</m:t>
                      </m:r>
                    </m:oMath>
                  </m:oMathPara>
                </a14:m>
                <a:endParaRPr sz="1400" dirty="0"/>
              </a:p>
            </p:txBody>
          </p:sp>
        </mc:Choice>
        <mc:Fallback xmlns="">
          <p:sp>
            <p:nvSpPr>
              <p:cNvPr id="2203" name="Upper boundary label"/>
              <p:cNvSpPr>
                <a:spLocks noRot="1" noChangeAspect="1" noMove="1" noResize="1" noEditPoints="1" noAdjustHandles="1" noChangeArrowheads="1" noChangeShapeType="1" noTextEdit="1"/>
              </p:cNvSpPr>
              <p:nvPr/>
            </p:nvSpPr>
            <p:spPr>
              <a:xfrm>
                <a:off x="7721600" y="1046480"/>
                <a:ext cx="762000" cy="49784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4" name="Lower boundary label"/>
              <p:cNvSpPr/>
              <p:nvPr/>
            </p:nvSpPr>
            <p:spPr>
              <a:xfrm>
                <a:off x="7461250" y="2562860"/>
                <a:ext cx="1079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𝛼</m:t>
                      </m:r>
                      <m:r>
                        <a:rPr sz="1300">
                          <a:solidFill>
                            <a:srgbClr val="252529"/>
                          </a:solidFill>
                          <a:latin typeface="Cambria Math"/>
                        </a:rPr>
                        <m:t>𝑧</m:t>
                      </m:r>
                      <m:r>
                        <a:rPr sz="1300">
                          <a:solidFill>
                            <a:srgbClr val="252529"/>
                          </a:solidFill>
                          <a:latin typeface="Cambria Math"/>
                        </a:rPr>
                        <m:t>=0</m:t>
                      </m:r>
                    </m:oMath>
                  </m:oMathPara>
                </a14:m>
                <a:endParaRPr sz="1300"/>
              </a:p>
            </p:txBody>
          </p:sp>
        </mc:Choice>
        <mc:Fallback xmlns:m="http://schemas.openxmlformats.org/officeDocument/2006/math" xmlns="">
          <p:sp>
            <p:nvSpPr>
              <p:cNvPr id="2204" name="Lower boundary label"/>
              <p:cNvSpPr>
                <a:spLocks noRot="1" noChangeAspect="1" noMove="1" noResize="1" noEditPoints="1" noAdjustHandles="1" noChangeArrowheads="1" noChangeShapeType="1" noTextEdit="1"/>
              </p:cNvSpPr>
              <p:nvPr/>
            </p:nvSpPr>
            <p:spPr>
              <a:xfrm>
                <a:off x="7461250" y="2562860"/>
                <a:ext cx="1079500" cy="462280"/>
              </a:xfrm>
              <a:prstGeom prst="rect">
                <a:avLst/>
              </a:prstGeom>
              <a:blipFill>
                <a:blip r:embed="rIdSectorRefinement35_105"/>
                <a:stretch>
                  <a:fillRect/>
                </a:stretch>
              </a:blipFill>
              <a:ln>
                <a:noFill/>
              </a:ln>
            </p:spPr>
            <p:txBody>
              <a:bodyPr/>
              <a:lstStyle/>
              <a:p>
                <a:r>
                  <a:rPr lang="en-NL">
                    <a:noFill/>
                  </a:rPr>
                  <a:t> </a:t>
                </a:r>
              </a:p>
            </p:txBody>
          </p:sp>
        </mc:Fallback>
      </mc:AlternateContent>
      <p:sp>
        <p:nvSpPr>
          <p:cNvPr id="2205" name="Input tick -400"/>
          <p:cNvSpPr/>
          <p:nvPr/>
        </p:nvSpPr>
        <p:spPr>
          <a:xfrm>
            <a:off x="145161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6" name="Input tick 400"/>
          <p:cNvSpPr/>
          <p:nvPr/>
        </p:nvSpPr>
        <p:spPr>
          <a:xfrm>
            <a:off x="712089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7" name="Origin"/>
          <p:cNvSpPr/>
          <p:nvPr/>
        </p:nvSpPr>
        <p:spPr>
          <a:xfrm>
            <a:off x="4292600" y="2492375"/>
            <a:ext cx="2540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0</a:t>
            </a:r>
            <a:endParaRPr sz="900"/>
          </a:p>
        </p:txBody>
      </p:sp>
      <mc:AlternateContent xmlns:mc="http://schemas.openxmlformats.org/markup-compatibility/2006" xmlns:a14="http://schemas.microsoft.com/office/drawing/2010/main">
        <mc:Choice Requires="a14">
          <p:sp>
            <p:nvSpPr>
              <p:cNvPr id="2208" name="Upper gap definition"/>
              <p:cNvSpPr/>
              <p:nvPr/>
            </p:nvSpPr>
            <p:spPr>
              <a:xfrm>
                <a:off x="6223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400" smtClean="0">
                          <a:solidFill>
                            <a:srgbClr val="216F9C"/>
                          </a:solidFill>
                          <a:latin typeface="Cambria Math"/>
                        </a:rPr>
                        <m:t>𝑎</m:t>
                      </m:r>
                      <m:r>
                        <a:rPr lang="en-NL" sz="2400" smtClean="0">
                          <a:solidFill>
                            <a:srgbClr val="216F9C"/>
                          </a:solidFill>
                          <a:latin typeface="Cambria Math"/>
                        </a:rPr>
                        <m:t>=0.735</m:t>
                      </m:r>
                      <m:r>
                        <a:rPr lang="en-NL" sz="2400">
                          <a:solidFill>
                            <a:srgbClr val="216F9C"/>
                          </a:solidFill>
                          <a:latin typeface="Cambria Math"/>
                        </a:rPr>
                        <m:t>𝑧</m:t>
                      </m:r>
                      <m:r>
                        <a:rPr lang="en-NL" sz="2400">
                          <a:solidFill>
                            <a:srgbClr val="216F9C"/>
                          </a:solidFill>
                          <a:latin typeface="Cambria Math"/>
                        </a:rPr>
                        <m:t>−</m:t>
                      </m:r>
                      <m:r>
                        <a:rPr lang="en-NL" sz="2400">
                          <a:solidFill>
                            <a:srgbClr val="216F9C"/>
                          </a:solidFill>
                          <a:latin typeface="Cambria Math"/>
                        </a:rPr>
                        <m:t>𝑤</m:t>
                      </m:r>
                    </m:oMath>
                  </m:oMathPara>
                </a14:m>
                <a:endParaRPr sz="2400" dirty="0"/>
              </a:p>
            </p:txBody>
          </p:sp>
        </mc:Choice>
        <mc:Fallback xmlns="">
          <p:sp>
            <p:nvSpPr>
              <p:cNvPr id="2208" name="Upper gap definition"/>
              <p:cNvSpPr>
                <a:spLocks noRot="1" noChangeAspect="1" noMove="1" noResize="1" noEditPoints="1" noAdjustHandles="1" noChangeArrowheads="1" noChangeShapeType="1" noTextEdit="1"/>
              </p:cNvSpPr>
              <p:nvPr/>
            </p:nvSpPr>
            <p:spPr>
              <a:xfrm>
                <a:off x="622300" y="3764280"/>
                <a:ext cx="3937000" cy="8534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9" name="Lower gap definition"/>
              <p:cNvSpPr/>
              <p:nvPr/>
            </p:nvSpPr>
            <p:spPr>
              <a:xfrm>
                <a:off x="46609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400">
                          <a:solidFill>
                            <a:srgbClr val="147C60"/>
                          </a:solidFill>
                          <a:latin typeface="Cambria Math"/>
                        </a:rPr>
                        <m:t>𝑏</m:t>
                      </m:r>
                      <m:r>
                        <a:rPr sz="2400">
                          <a:solidFill>
                            <a:srgbClr val="147C60"/>
                          </a:solidFill>
                          <a:latin typeface="Cambria Math"/>
                        </a:rPr>
                        <m:t>=</m:t>
                      </m:r>
                      <m:r>
                        <a:rPr sz="2400">
                          <a:solidFill>
                            <a:srgbClr val="147C60"/>
                          </a:solidFill>
                          <a:latin typeface="Cambria Math"/>
                        </a:rPr>
                        <m:t>𝑤</m:t>
                      </m:r>
                    </m:oMath>
                  </m:oMathPara>
                </a14:m>
                <a:endParaRPr sz="2400" dirty="0"/>
              </a:p>
            </p:txBody>
          </p:sp>
        </mc:Choice>
        <mc:Fallback xmlns="">
          <p:sp>
            <p:nvSpPr>
              <p:cNvPr id="2209" name="Lower gap definition"/>
              <p:cNvSpPr>
                <a:spLocks noRot="1" noChangeAspect="1" noMove="1" noResize="1" noEditPoints="1" noAdjustHandles="1" noChangeArrowheads="1" noChangeShapeType="1" noTextEdit="1"/>
              </p:cNvSpPr>
              <p:nvPr/>
            </p:nvSpPr>
            <p:spPr>
              <a:xfrm>
                <a:off x="4660900" y="3764280"/>
                <a:ext cx="3937000" cy="853440"/>
              </a:xfrm>
              <a:prstGeom prst="rect">
                <a:avLst/>
              </a:prstGeom>
              <a:blipFill>
                <a:blip r:embed="rId8"/>
                <a:stretch>
                  <a:fillRect/>
                </a:stretch>
              </a:blipFill>
              <a:ln>
                <a:noFill/>
              </a:ln>
            </p:spPr>
            <p:txBody>
              <a:bodyPr/>
              <a:lstStyle/>
              <a:p>
                <a:r>
                  <a:rPr lang="en-NL">
                    <a:noFill/>
                  </a:rPr>
                  <a:t> </a:t>
                </a:r>
              </a:p>
            </p:txBody>
          </p:sp>
        </mc:Fallback>
      </mc:AlternateContent>
      <p:sp>
        <p:nvSpPr>
          <p:cNvPr id="3074"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3075"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35</a:t>
            </a:r>
            <a:endParaRPr sz="800"/>
          </a:p>
        </p:txBody>
      </p:sp>
      <p:cxnSp>
        <p:nvCxnSpPr>
          <p:cNvPr id="4" name="Straight Arrow Connector 3">
            <a:extLst>
              <a:ext uri="{FF2B5EF4-FFF2-40B4-BE49-F238E27FC236}">
                <a16:creationId xmlns:a16="http://schemas.microsoft.com/office/drawing/2014/main" id="{2AFAC9C1-BA4C-0392-2530-C82AA717C5CE}"/>
              </a:ext>
            </a:extLst>
          </p:cNvPr>
          <p:cNvCxnSpPr>
            <a:cxnSpLocks/>
          </p:cNvCxnSpPr>
          <p:nvPr/>
        </p:nvCxnSpPr>
        <p:spPr>
          <a:xfrm>
            <a:off x="5163671" y="1851852"/>
            <a:ext cx="238205" cy="2944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C4E2A270-9487-8E52-BA43-C03FF523E99F}"/>
              </a:ext>
            </a:extLst>
          </p:cNvPr>
          <p:cNvCxnSpPr>
            <a:cxnSpLocks/>
          </p:cNvCxnSpPr>
          <p:nvPr/>
        </p:nvCxnSpPr>
        <p:spPr>
          <a:xfrm flipV="1">
            <a:off x="5253449" y="2427605"/>
            <a:ext cx="212252" cy="4578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2000" fill="hold"/>
                                        <p:tgtEl>
                                          <p:spTgt spid="2"/>
                                        </p:tgtEl>
                                      </p:cBhvr>
                                    </p:cmd>
                                  </p:childTnLst>
                                </p:cTn>
                              </p:par>
                              <p:par>
                                <p:cTn id="7" presetID="1" presetClass="exit" presetSubtype="0" fill="hold" nodeType="withEffect">
                                  <p:stCondLst>
                                    <p:cond delay="0"/>
                                  </p:stCondLst>
                                  <p:childTnLst>
                                    <p:set>
                                      <p:cBhvr>
                                        <p:cTn id="8" dur="1" fill="hold">
                                          <p:stCondLst>
                                            <p:cond delay="0"/>
                                          </p:stCondLst>
                                        </p:cTn>
                                        <p:tgtEl>
                                          <p:spTgt spid="7"/>
                                        </p:tgtEl>
                                        <p:attrNameLst>
                                          <p:attrName>style.visibility</p:attrName>
                                        </p:attrNameLst>
                                      </p:cBhvr>
                                      <p:to>
                                        <p:strVal val="hidden"/>
                                      </p:to>
                                    </p:set>
                                  </p:childTnLst>
                                </p:cTn>
                              </p:par>
                              <p:par>
                                <p:cTn id="9" presetID="1" presetClass="exit" presetSubtype="0" fill="hold" nodeType="withEffect">
                                  <p:stCondLst>
                                    <p:cond delay="0"/>
                                  </p:stCondLst>
                                  <p:childTnLst>
                                    <p:set>
                                      <p:cBhvr>
                                        <p:cTn id="10" dur="1" fill="hold">
                                          <p:stCondLst>
                                            <p:cond delay="0"/>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fill="hold" display="0">
                  <p:stCondLst>
                    <p:cond delay="indefinite"/>
                  </p:stCondLst>
                </p:cTn>
                <p:tgtEl>
                  <p:spTgt spid="2"/>
                </p:tgtEl>
              </p:cMediaNode>
            </p:video>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Turn the gap product into an energy inequality</a:t>
            </a:r>
            <a:endParaRPr sz="2500"/>
          </a:p>
        </p:txBody>
      </p:sp>
      <mc:AlternateContent xmlns:mc="http://schemas.openxmlformats.org/markup-compatibility/2006" xmlns:a14="http://schemas.microsoft.com/office/drawing/2010/main">
        <mc:Choice Requires="a14">
          <p:sp>
            <p:nvSpPr>
              <p:cNvPr id="8002" name="Known product"/>
              <p:cNvSpPr/>
              <p:nvPr/>
            </p:nvSpPr>
            <p:spPr>
              <a:xfrm>
                <a:off x="2032000" y="721360"/>
                <a:ext cx="5080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C81919"/>
                          </a:solidFill>
                          <a:latin typeface="Cambria Math"/>
                        </a:rPr>
                        <m:t>𝑎𝑏</m:t>
                      </m:r>
                      <m:r>
                        <a:rPr lang="en-NL" sz="1800" smtClean="0">
                          <a:solidFill>
                            <a:srgbClr val="C00000"/>
                          </a:solidFill>
                          <a:latin typeface="Cambria Math"/>
                        </a:rPr>
                        <m:t>≥0</m:t>
                      </m:r>
                    </m:oMath>
                  </m:oMathPara>
                </a14:m>
                <a:endParaRPr sz="1800" dirty="0"/>
              </a:p>
            </p:txBody>
          </p:sp>
        </mc:Choice>
        <mc:Fallback xmlns="">
          <p:sp>
            <p:nvSpPr>
              <p:cNvPr id="8002" name="Known product"/>
              <p:cNvSpPr>
                <a:spLocks noRot="1" noChangeAspect="1" noMove="1" noResize="1" noEditPoints="1" noAdjustHandles="1" noChangeArrowheads="1" noChangeShapeType="1" noTextEdit="1"/>
              </p:cNvSpPr>
              <p:nvPr/>
            </p:nvSpPr>
            <p:spPr>
              <a:xfrm>
                <a:off x="2032000" y="721360"/>
                <a:ext cx="5080000" cy="640080"/>
              </a:xfrm>
              <a:prstGeom prst="rect">
                <a:avLst/>
              </a:prstGeom>
              <a:blipFill>
                <a:blip r:embed="rId3"/>
                <a:stretch>
                  <a:fillRect/>
                </a:stretch>
              </a:blipFill>
              <a:ln>
                <a:noFill/>
              </a:ln>
            </p:spPr>
            <p:txBody>
              <a:bodyPr/>
              <a:lstStyle/>
              <a:p>
                <a:r>
                  <a:rPr lang="en-NL">
                    <a:noFill/>
                  </a:rPr>
                  <a:t> </a:t>
                </a:r>
              </a:p>
            </p:txBody>
          </p:sp>
        </mc:Fallback>
      </mc:AlternateContent>
      <p:sp>
        <p:nvSpPr>
          <p:cNvPr id="8003" name="Scale explanation"/>
          <p:cNvSpPr/>
          <p:nvPr/>
        </p:nvSpPr>
        <p:spPr>
          <a:xfrm>
            <a:off x="457200" y="1349375"/>
            <a:ext cx="2971800" cy="323850"/>
          </a:xfrm>
          <a:prstGeom prst="rect">
            <a:avLst/>
          </a:prstGeom>
          <a:noFill/>
          <a:ln>
            <a:noFill/>
          </a:ln>
        </p:spPr>
        <p:txBody>
          <a:bodyPr wrap="none" lIns="0" tIns="0" rIns="0" bIns="0" anchor="ctr">
            <a:noAutofit/>
          </a:bodyPr>
          <a:lstStyle/>
          <a:p>
            <a:pPr algn="l">
              <a:buNone/>
            </a:pPr>
            <a:r>
              <a:rPr lang="en-GB" sz="1700" b="0" i="0" u="none" baseline="0">
                <a:solidFill>
                  <a:srgbClr val="252529"/>
                </a:solidFill>
                <a:latin typeface="Aptos"/>
                <a:ea typeface="Aptos"/>
                <a:cs typeface="Aptos"/>
              </a:rPr>
              <a:t>1  Scale a</a:t>
            </a:r>
            <a:endParaRPr sz="1700"/>
          </a:p>
        </p:txBody>
      </p:sp>
      <mc:AlternateContent xmlns:mc="http://schemas.openxmlformats.org/markup-compatibility/2006" xmlns:a14="http://schemas.microsoft.com/office/drawing/2010/main">
        <mc:Choice Requires="a14">
          <p:sp>
            <p:nvSpPr>
              <p:cNvPr id="8004" name="Positive scaling"/>
              <p:cNvSpPr/>
              <p:nvPr/>
            </p:nvSpPr>
            <p:spPr>
              <a:xfrm>
                <a:off x="3562350" y="1120140"/>
                <a:ext cx="51435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200" smtClean="0">
                          <a:solidFill>
                            <a:srgbClr val="216F9C"/>
                          </a:solidFill>
                          <a:latin typeface="Cambria Math"/>
                        </a:rPr>
                        <m:t>𝑣</m:t>
                      </m:r>
                      <m:r>
                        <a:rPr lang="en-NL" sz="2200" smtClean="0">
                          <a:solidFill>
                            <a:srgbClr val="000000"/>
                          </a:solidFill>
                          <a:latin typeface="Cambria Math"/>
                        </a:rPr>
                        <m:t>𝑎</m:t>
                      </m:r>
                      <m:r>
                        <a:rPr sz="2200">
                          <a:solidFill>
                            <a:srgbClr val="252529"/>
                          </a:solidFill>
                          <a:latin typeface="Cambria Math"/>
                        </a:rPr>
                        <m:t>,   </m:t>
                      </m:r>
                      <m:r>
                        <a:rPr sz="2200">
                          <a:solidFill>
                            <a:srgbClr val="252529"/>
                          </a:solidFill>
                          <a:latin typeface="Cambria Math"/>
                        </a:rPr>
                        <m:t>𝑣</m:t>
                      </m:r>
                      <m:r>
                        <a:rPr sz="2200">
                          <a:solidFill>
                            <a:srgbClr val="252529"/>
                          </a:solidFill>
                          <a:latin typeface="Cambria Math"/>
                        </a:rPr>
                        <m:t>&gt;0</m:t>
                      </m:r>
                    </m:oMath>
                  </m:oMathPara>
                </a14:m>
                <a:endParaRPr sz="2200" dirty="0"/>
              </a:p>
            </p:txBody>
          </p:sp>
        </mc:Choice>
        <mc:Fallback xmlns="">
          <p:sp>
            <p:nvSpPr>
              <p:cNvPr id="8004" name="Positive scaling"/>
              <p:cNvSpPr>
                <a:spLocks noRot="1" noChangeAspect="1" noMove="1" noResize="1" noEditPoints="1" noAdjustHandles="1" noChangeArrowheads="1" noChangeShapeType="1" noTextEdit="1"/>
              </p:cNvSpPr>
              <p:nvPr/>
            </p:nvSpPr>
            <p:spPr>
              <a:xfrm>
                <a:off x="3562350" y="1120140"/>
                <a:ext cx="5143500" cy="782320"/>
              </a:xfrm>
              <a:prstGeom prst="rect">
                <a:avLst/>
              </a:prstGeom>
              <a:blipFill>
                <a:blip r:embed="rId4"/>
                <a:stretch>
                  <a:fillRect/>
                </a:stretch>
              </a:blipFill>
              <a:ln>
                <a:noFill/>
              </a:ln>
            </p:spPr>
            <p:txBody>
              <a:bodyPr/>
              <a:lstStyle/>
              <a:p>
                <a:r>
                  <a:rPr lang="en-NL">
                    <a:noFill/>
                  </a:rPr>
                  <a:t> </a:t>
                </a:r>
              </a:p>
            </p:txBody>
          </p:sp>
        </mc:Fallback>
      </mc:AlternateContent>
      <p:sp>
        <p:nvSpPr>
          <p:cNvPr id="8005" name="Sum difference explanation"/>
          <p:cNvSpPr/>
          <p:nvPr/>
        </p:nvSpPr>
        <p:spPr>
          <a:xfrm>
            <a:off x="457200" y="1895475"/>
            <a:ext cx="2971800" cy="323850"/>
          </a:xfrm>
          <a:prstGeom prst="rect">
            <a:avLst/>
          </a:prstGeom>
          <a:noFill/>
          <a:ln>
            <a:noFill/>
          </a:ln>
        </p:spPr>
        <p:txBody>
          <a:bodyPr wrap="none" lIns="0" tIns="0" rIns="0" bIns="0" anchor="ctr">
            <a:noAutofit/>
          </a:bodyPr>
          <a:lstStyle/>
          <a:p>
            <a:pPr algn="l">
              <a:buNone/>
            </a:pPr>
            <a:r>
              <a:rPr lang="en-GB" sz="1700" b="0" i="0" u="none" baseline="0">
                <a:solidFill>
                  <a:srgbClr val="252529"/>
                </a:solidFill>
                <a:latin typeface="Aptos"/>
                <a:ea typeface="Aptos"/>
                <a:cs typeface="Aptos"/>
              </a:rPr>
              <a:t>2  Add and subtract b</a:t>
            </a:r>
            <a:endParaRPr sz="1700"/>
          </a:p>
        </p:txBody>
      </p:sp>
      <mc:AlternateContent xmlns:mc="http://schemas.openxmlformats.org/markup-compatibility/2006" xmlns:a14="http://schemas.microsoft.com/office/drawing/2010/main">
        <mc:Choice Requires="a14">
          <p:sp>
            <p:nvSpPr>
              <p:cNvPr id="8006" name="Transformed gaps"/>
              <p:cNvSpPr/>
              <p:nvPr/>
            </p:nvSpPr>
            <p:spPr>
              <a:xfrm>
                <a:off x="3562350" y="1666240"/>
                <a:ext cx="51435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200">
                              <a:solidFill>
                                <a:srgbClr val="252529"/>
                              </a:solidFill>
                              <a:latin typeface="Cambria Math"/>
                            </a:rPr>
                          </m:ctrlPr>
                        </m:accPr>
                        <m:e>
                          <m:r>
                            <a:rPr sz="2200">
                              <a:solidFill>
                                <a:srgbClr val="252529"/>
                              </a:solidFill>
                              <a:latin typeface="Cambria Math"/>
                            </a:rPr>
                            <m:t>𝑧</m:t>
                          </m:r>
                        </m:e>
                      </m:acc>
                      <m:r>
                        <a:rPr sz="2200">
                          <a:solidFill>
                            <a:srgbClr val="252529"/>
                          </a:solidFill>
                          <a:latin typeface="Cambria Math"/>
                        </a:rPr>
                        <m:t>=</m:t>
                      </m:r>
                      <m:r>
                        <a:rPr sz="2200">
                          <a:solidFill>
                            <a:srgbClr val="252529"/>
                          </a:solidFill>
                          <a:latin typeface="Cambria Math"/>
                        </a:rPr>
                        <m:t>𝑣𝑎</m:t>
                      </m:r>
                      <m:r>
                        <a:rPr sz="2200">
                          <a:solidFill>
                            <a:srgbClr val="252529"/>
                          </a:solidFill>
                          <a:latin typeface="Cambria Math"/>
                        </a:rPr>
                        <m:t>+</m:t>
                      </m:r>
                      <m:r>
                        <a:rPr sz="2200">
                          <a:solidFill>
                            <a:srgbClr val="252529"/>
                          </a:solidFill>
                          <a:latin typeface="Cambria Math"/>
                        </a:rPr>
                        <m:t>𝑏</m:t>
                      </m:r>
                      <m:r>
                        <a:rPr sz="2200">
                          <a:solidFill>
                            <a:srgbClr val="252529"/>
                          </a:solidFill>
                          <a:latin typeface="Cambria Math"/>
                        </a:rPr>
                        <m:t>,   </m:t>
                      </m:r>
                      <m:acc>
                        <m:accPr>
                          <m:chr m:val="̃"/>
                          <m:ctrlPr>
                            <a:rPr sz="2200">
                              <a:solidFill>
                                <a:srgbClr val="252529"/>
                              </a:solidFill>
                              <a:latin typeface="Cambria Math"/>
                            </a:rPr>
                          </m:ctrlPr>
                        </m:accPr>
                        <m:e>
                          <m:r>
                            <a:rPr sz="2200">
                              <a:solidFill>
                                <a:srgbClr val="252529"/>
                              </a:solidFill>
                              <a:latin typeface="Cambria Math"/>
                            </a:rPr>
                            <m:t>𝑤</m:t>
                          </m:r>
                        </m:e>
                      </m:acc>
                      <m:r>
                        <a:rPr sz="2200">
                          <a:solidFill>
                            <a:srgbClr val="252529"/>
                          </a:solidFill>
                          <a:latin typeface="Cambria Math"/>
                        </a:rPr>
                        <m:t>=</m:t>
                      </m:r>
                      <m:r>
                        <a:rPr sz="2200">
                          <a:solidFill>
                            <a:srgbClr val="252529"/>
                          </a:solidFill>
                          <a:latin typeface="Cambria Math"/>
                        </a:rPr>
                        <m:t>𝑣𝑎</m:t>
                      </m:r>
                      <m:r>
                        <a:rPr sz="2200">
                          <a:solidFill>
                            <a:srgbClr val="252529"/>
                          </a:solidFill>
                          <a:latin typeface="Cambria Math"/>
                        </a:rPr>
                        <m:t>−</m:t>
                      </m:r>
                      <m:r>
                        <a:rPr sz="2200">
                          <a:solidFill>
                            <a:srgbClr val="252529"/>
                          </a:solidFill>
                          <a:latin typeface="Cambria Math"/>
                        </a:rPr>
                        <m:t>𝑏</m:t>
                      </m:r>
                    </m:oMath>
                  </m:oMathPara>
                </a14:m>
                <a:endParaRPr sz="2200"/>
              </a:p>
            </p:txBody>
          </p:sp>
        </mc:Choice>
        <mc:Fallback xmlns:m="http://schemas.openxmlformats.org/officeDocument/2006/math" xmlns="">
          <p:sp>
            <p:nvSpPr>
              <p:cNvPr id="8006" name="Transformed gaps"/>
              <p:cNvSpPr>
                <a:spLocks noRot="1" noChangeAspect="1" noMove="1" noResize="1" noEditPoints="1" noAdjustHandles="1" noChangeArrowheads="1" noChangeShapeType="1" noTextEdit="1"/>
              </p:cNvSpPr>
              <p:nvPr/>
            </p:nvSpPr>
            <p:spPr>
              <a:xfrm>
                <a:off x="3562350" y="1666240"/>
                <a:ext cx="5143500" cy="782320"/>
              </a:xfrm>
              <a:prstGeom prst="rect">
                <a:avLst/>
              </a:prstGeom>
              <a:blipFill>
                <a:blip r:embed="rId5"/>
                <a:stretch>
                  <a:fillRect/>
                </a:stretch>
              </a:blipFill>
              <a:ln>
                <a:noFill/>
              </a:ln>
            </p:spPr>
            <p:txBody>
              <a:bodyPr/>
              <a:lstStyle/>
              <a:p>
                <a:r>
                  <a:rPr lang="en-NL">
                    <a:noFill/>
                  </a:rPr>
                  <a:t> </a:t>
                </a:r>
              </a:p>
            </p:txBody>
          </p:sp>
        </mc:Fallback>
      </mc:AlternateContent>
      <p:sp>
        <p:nvSpPr>
          <p:cNvPr id="1007"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08"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36</a:t>
            </a:r>
            <a:endParaRPr sz="800"/>
          </a:p>
        </p:txBody>
      </p:sp>
      <p:sp>
        <p:nvSpPr>
          <p:cNvPr id="5" name="TextBox 4">
            <a:extLst>
              <a:ext uri="{FF2B5EF4-FFF2-40B4-BE49-F238E27FC236}">
                <a16:creationId xmlns:a16="http://schemas.microsoft.com/office/drawing/2014/main" id="{DBD1DF88-1BF5-B206-CE20-ABD8BBBD94D1}"/>
              </a:ext>
            </a:extLst>
          </p:cNvPr>
          <p:cNvSpPr txBox="1"/>
          <p:nvPr/>
        </p:nvSpPr>
        <p:spPr>
          <a:xfrm>
            <a:off x="3683000" y="2692400"/>
            <a:ext cx="184731" cy="300082"/>
          </a:xfrm>
          <a:prstGeom prst="rect">
            <a:avLst/>
          </a:prstGeom>
          <a:noFill/>
        </p:spPr>
        <p:txBody>
          <a:bodyPr wrap="none" rtlCol="0">
            <a:spAutoFit/>
          </a:bodyPr>
          <a:lstStyle/>
          <a:p>
            <a:endParaRPr lang="en-NL" dirty="0"/>
          </a:p>
        </p:txBody>
      </p:sp>
      <mc:AlternateContent xmlns:mc="http://schemas.openxmlformats.org/markup-compatibility/2006" xmlns:a14="http://schemas.microsoft.com/office/drawing/2010/main">
        <mc:Choice Requires="a14">
          <p:sp>
            <p:nvSpPr>
              <p:cNvPr id="8023" name="Energy inequality"/>
              <p:cNvSpPr/>
              <p:nvPr/>
            </p:nvSpPr>
            <p:spPr>
              <a:xfrm>
                <a:off x="444500" y="3891280"/>
                <a:ext cx="8255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1900">
                              <a:solidFill>
                                <a:srgbClr val="147C60"/>
                              </a:solidFill>
                              <a:latin typeface="Cambria Math"/>
                            </a:rPr>
                          </m:ctrlPr>
                        </m:naryPr>
                        <m:sub>
                          <m:r>
                            <a:rPr sz="1900">
                              <a:solidFill>
                                <a:srgbClr val="147C60"/>
                              </a:solidFill>
                              <a:latin typeface="Cambria Math"/>
                            </a:rPr>
                            <m:t>0</m:t>
                          </m:r>
                        </m:sub>
                        <m:sup>
                          <m:r>
                            <a:rPr sz="1900">
                              <a:solidFill>
                                <a:srgbClr val="147C60"/>
                              </a:solidFill>
                              <a:latin typeface="Cambria Math"/>
                            </a:rPr>
                            <m:t>𝑇</m:t>
                          </m:r>
                        </m:sup>
                        <m:e>
                          <m:sSup>
                            <m:sSupPr>
                              <m:ctrlPr>
                                <a:rPr sz="1900" i="1">
                                  <a:solidFill>
                                    <a:srgbClr val="147C60"/>
                                  </a:solidFill>
                                  <a:latin typeface="Cambria Math" panose="02040503050406030204" pitchFamily="18" charset="0"/>
                                </a:rPr>
                              </m:ctrlPr>
                            </m:sSupPr>
                            <m:e>
                              <m:d>
                                <m:dPr>
                                  <m:begChr m:val="‖"/>
                                  <m:endChr m:val="‖"/>
                                  <m:ctrlPr>
                                    <a:rPr sz="1900" i="1">
                                      <a:solidFill>
                                        <a:srgbClr val="147C60"/>
                                      </a:solidFill>
                                      <a:latin typeface="Cambria Math" panose="02040503050406030204" pitchFamily="18" charset="0"/>
                                    </a:rPr>
                                  </m:ctrlPr>
                                </m:dPr>
                                <m:e>
                                  <m:acc>
                                    <m:accPr>
                                      <m:chr m:val="̃"/>
                                      <m:ctrlPr>
                                        <a:rPr sz="1900">
                                          <a:solidFill>
                                            <a:srgbClr val="147C60"/>
                                          </a:solidFill>
                                          <a:latin typeface="Cambria Math"/>
                                        </a:rPr>
                                      </m:ctrlPr>
                                    </m:accPr>
                                    <m:e>
                                      <m:r>
                                        <a:rPr sz="1900">
                                          <a:solidFill>
                                            <a:srgbClr val="147C60"/>
                                          </a:solidFill>
                                          <a:latin typeface="Cambria Math"/>
                                        </a:rPr>
                                        <m:t>𝑤</m:t>
                                      </m:r>
                                    </m:e>
                                  </m:acc>
                                  <m:d>
                                    <m:dPr>
                                      <m:ctrlPr>
                                        <a:rPr sz="1900">
                                          <a:solidFill>
                                            <a:srgbClr val="147C60"/>
                                          </a:solidFill>
                                          <a:latin typeface="Cambria Math"/>
                                        </a:rPr>
                                      </m:ctrlPr>
                                    </m:dPr>
                                    <m:e>
                                      <m:r>
                                        <a:rPr sz="1900">
                                          <a:solidFill>
                                            <a:srgbClr val="147C60"/>
                                          </a:solidFill>
                                          <a:latin typeface="Cambria Math"/>
                                        </a:rPr>
                                        <m:t>𝑡</m:t>
                                      </m:r>
                                    </m:e>
                                  </m:d>
                                </m:e>
                              </m:d>
                            </m:e>
                            <m:sup>
                              <m:r>
                                <a:rPr sz="1900">
                                  <a:solidFill>
                                    <a:srgbClr val="147C60"/>
                                  </a:solidFill>
                                  <a:latin typeface="Cambria Math"/>
                                </a:rPr>
                                <m:t>2</m:t>
                              </m:r>
                            </m:sup>
                          </m:sSup>
                          <m:r>
                            <a:rPr sz="1900">
                              <a:solidFill>
                                <a:srgbClr val="147C60"/>
                              </a:solidFill>
                              <a:latin typeface="Cambria Math"/>
                            </a:rPr>
                            <m:t>𝑑𝑡</m:t>
                          </m:r>
                        </m:e>
                      </m:nary>
                      <m:r>
                        <a:rPr sz="1900">
                          <a:solidFill>
                            <a:srgbClr val="147C60"/>
                          </a:solidFill>
                          <a:latin typeface="Cambria Math"/>
                        </a:rPr>
                        <m:t>≤</m:t>
                      </m:r>
                      <m:nary>
                        <m:naryPr>
                          <m:limLoc m:val="subSup"/>
                          <m:ctrlPr>
                            <a:rPr sz="1900">
                              <a:solidFill>
                                <a:srgbClr val="147C60"/>
                              </a:solidFill>
                              <a:latin typeface="Cambria Math"/>
                            </a:rPr>
                          </m:ctrlPr>
                        </m:naryPr>
                        <m:sub>
                          <m:r>
                            <a:rPr sz="1900">
                              <a:solidFill>
                                <a:srgbClr val="147C60"/>
                              </a:solidFill>
                              <a:latin typeface="Cambria Math"/>
                            </a:rPr>
                            <m:t>0</m:t>
                          </m:r>
                        </m:sub>
                        <m:sup>
                          <m:r>
                            <a:rPr sz="1900">
                              <a:solidFill>
                                <a:srgbClr val="147C60"/>
                              </a:solidFill>
                              <a:latin typeface="Cambria Math"/>
                            </a:rPr>
                            <m:t>𝑇</m:t>
                          </m:r>
                        </m:sup>
                        <m:e>
                          <m:sSup>
                            <m:sSupPr>
                              <m:ctrlPr>
                                <a:rPr sz="1900" i="1">
                                  <a:solidFill>
                                    <a:srgbClr val="147C60"/>
                                  </a:solidFill>
                                  <a:latin typeface="Cambria Math" panose="02040503050406030204" pitchFamily="18" charset="0"/>
                                </a:rPr>
                              </m:ctrlPr>
                            </m:sSupPr>
                            <m:e>
                              <m:d>
                                <m:dPr>
                                  <m:begChr m:val="‖"/>
                                  <m:endChr m:val="‖"/>
                                  <m:ctrlPr>
                                    <a:rPr sz="1900" i="1">
                                      <a:solidFill>
                                        <a:srgbClr val="147C60"/>
                                      </a:solidFill>
                                      <a:latin typeface="Cambria Math" panose="02040503050406030204" pitchFamily="18" charset="0"/>
                                    </a:rPr>
                                  </m:ctrlPr>
                                </m:dPr>
                                <m:e>
                                  <m:acc>
                                    <m:accPr>
                                      <m:chr m:val="̃"/>
                                      <m:ctrlPr>
                                        <a:rPr sz="1900">
                                          <a:solidFill>
                                            <a:srgbClr val="147C60"/>
                                          </a:solidFill>
                                          <a:latin typeface="Cambria Math"/>
                                        </a:rPr>
                                      </m:ctrlPr>
                                    </m:accPr>
                                    <m:e>
                                      <m:r>
                                        <a:rPr sz="1900">
                                          <a:solidFill>
                                            <a:srgbClr val="147C60"/>
                                          </a:solidFill>
                                          <a:latin typeface="Cambria Math"/>
                                        </a:rPr>
                                        <m:t>𝑧</m:t>
                                      </m:r>
                                    </m:e>
                                  </m:acc>
                                  <m:d>
                                    <m:dPr>
                                      <m:ctrlPr>
                                        <a:rPr sz="1900">
                                          <a:solidFill>
                                            <a:srgbClr val="147C60"/>
                                          </a:solidFill>
                                          <a:latin typeface="Cambria Math"/>
                                        </a:rPr>
                                      </m:ctrlPr>
                                    </m:dPr>
                                    <m:e>
                                      <m:r>
                                        <a:rPr sz="1900">
                                          <a:solidFill>
                                            <a:srgbClr val="147C60"/>
                                          </a:solidFill>
                                          <a:latin typeface="Cambria Math"/>
                                        </a:rPr>
                                        <m:t>𝑡</m:t>
                                      </m:r>
                                    </m:e>
                                  </m:d>
                                </m:e>
                              </m:d>
                            </m:e>
                            <m:sup>
                              <m:r>
                                <a:rPr sz="1900">
                                  <a:solidFill>
                                    <a:srgbClr val="147C60"/>
                                  </a:solidFill>
                                  <a:latin typeface="Cambria Math"/>
                                </a:rPr>
                                <m:t>2</m:t>
                              </m:r>
                            </m:sup>
                          </m:sSup>
                          <m:r>
                            <a:rPr sz="1900">
                              <a:solidFill>
                                <a:srgbClr val="147C60"/>
                              </a:solidFill>
                              <a:latin typeface="Cambria Math"/>
                            </a:rPr>
                            <m:t>𝑑𝑡</m:t>
                          </m:r>
                        </m:e>
                      </m:nary>
                      <m:r>
                        <a:rPr sz="1900">
                          <a:solidFill>
                            <a:srgbClr val="147C60"/>
                          </a:solidFill>
                          <a:latin typeface="Cambria Math"/>
                        </a:rPr>
                        <m:t>,   ∀</m:t>
                      </m:r>
                      <m:r>
                        <a:rPr sz="1900">
                          <a:solidFill>
                            <a:srgbClr val="147C60"/>
                          </a:solidFill>
                          <a:latin typeface="Cambria Math"/>
                        </a:rPr>
                        <m:t>𝑇</m:t>
                      </m:r>
                      <m:r>
                        <a:rPr sz="1900">
                          <a:solidFill>
                            <a:srgbClr val="147C60"/>
                          </a:solidFill>
                          <a:latin typeface="Cambria Math"/>
                        </a:rPr>
                        <m:t>≥0</m:t>
                      </m:r>
                    </m:oMath>
                  </m:oMathPara>
                </a14:m>
                <a:endParaRPr sz="1900"/>
              </a:p>
            </p:txBody>
          </p:sp>
        </mc:Choice>
        <mc:Fallback xmlns:m="http://schemas.openxmlformats.org/officeDocument/2006/math" xmlns="">
          <p:sp>
            <p:nvSpPr>
              <p:cNvPr id="8023" name="Energy inequality"/>
              <p:cNvSpPr>
                <a:spLocks noRot="1" noChangeAspect="1" noMove="1" noResize="1" noEditPoints="1" noAdjustHandles="1" noChangeArrowheads="1" noChangeShapeType="1" noTextEdit="1"/>
              </p:cNvSpPr>
              <p:nvPr/>
            </p:nvSpPr>
            <p:spPr>
              <a:xfrm>
                <a:off x="444500" y="3891280"/>
                <a:ext cx="8255000" cy="675640"/>
              </a:xfrm>
              <a:prstGeom prst="rect">
                <a:avLst/>
              </a:prstGeom>
              <a:blipFill>
                <a:blip r:embed="rId7"/>
                <a:stretch>
                  <a:fillRect/>
                </a:stretch>
              </a:blipFill>
              <a:ln>
                <a:noFill/>
              </a:ln>
            </p:spPr>
            <p:txBody>
              <a:bodyPr/>
              <a:lstStyle/>
              <a:p>
                <a:r>
                  <a:rPr lang="en-NL">
                    <a:noFill/>
                  </a:rPr>
                  <a:t> </a:t>
                </a:r>
              </a:p>
            </p:txBody>
          </p:sp>
        </mc:Fallback>
      </mc:AlternateContent>
      <p:sp>
        <p:nvSpPr>
          <p:cNvPr id="8024" name="Energy interpretation"/>
          <p:cNvSpPr/>
          <p:nvPr/>
        </p:nvSpPr>
        <p:spPr>
          <a:xfrm>
            <a:off x="317500" y="4552950"/>
            <a:ext cx="8509000" cy="266700"/>
          </a:xfrm>
          <a:prstGeom prst="rect">
            <a:avLst/>
          </a:prstGeom>
          <a:noFill/>
          <a:ln>
            <a:noFill/>
          </a:ln>
        </p:spPr>
        <p:txBody>
          <a:bodyPr wrap="none" lIns="0" tIns="0" rIns="0" bIns="0" anchor="ctr">
            <a:noAutofit/>
          </a:bodyPr>
          <a:lstStyle/>
          <a:p>
            <a:pPr algn="ctr">
              <a:buNone/>
            </a:pPr>
            <a:r>
              <a:rPr lang="en-GB" sz="1400" b="0" i="0" u="none" baseline="0">
                <a:solidFill>
                  <a:srgbClr val="147C60"/>
                </a:solidFill>
                <a:latin typeface="Aptos"/>
                <a:ea typeface="Aptos"/>
                <a:cs typeface="Aptos"/>
              </a:rPr>
              <a:t>The transformed output energy cannot exceed the input energy.</a:t>
            </a:r>
            <a:endParaRPr sz="1400"/>
          </a:p>
        </p:txBody>
      </p:sp>
      <mc:AlternateContent xmlns:mc="http://schemas.openxmlformats.org/markup-compatibility/2006" xmlns:a14="http://schemas.microsoft.com/office/drawing/2010/main">
        <mc:Choice Requires="a14">
          <p:sp>
            <p:nvSpPr>
              <p:cNvPr id="8035" name="Substitute signals"/>
              <p:cNvSpPr/>
              <p:nvPr/>
            </p:nvSpPr>
            <p:spPr>
              <a:xfrm>
                <a:off x="317500" y="2252980"/>
                <a:ext cx="8509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900" i="1">
                              <a:solidFill>
                                <a:srgbClr val="252529"/>
                              </a:solidFill>
                              <a:latin typeface="Cambria Math" panose="02040503050406030204" pitchFamily="18" charset="0"/>
                            </a:rPr>
                          </m:ctrlPr>
                        </m:sSupPr>
                        <m:e>
                          <m:d>
                            <m:dPr>
                              <m:begChr m:val="‖"/>
                              <m:endChr m:val="‖"/>
                              <m:ctrlPr>
                                <a:rPr sz="1900" i="1">
                                  <a:solidFill>
                                    <a:srgbClr val="252529"/>
                                  </a:solidFill>
                                  <a:latin typeface="Cambria Math" panose="02040503050406030204" pitchFamily="18" charset="0"/>
                                </a:rPr>
                              </m:ctrlPr>
                            </m:dPr>
                            <m:e>
                              <m:acc>
                                <m:accPr>
                                  <m:chr m:val="̃"/>
                                  <m:ctrlPr>
                                    <a:rPr sz="1900">
                                      <a:solidFill>
                                        <a:srgbClr val="252529"/>
                                      </a:solidFill>
                                      <a:latin typeface="Cambria Math"/>
                                    </a:rPr>
                                  </m:ctrlPr>
                                </m:accPr>
                                <m:e>
                                  <m:r>
                                    <a:rPr sz="1900">
                                      <a:solidFill>
                                        <a:srgbClr val="252529"/>
                                      </a:solidFill>
                                      <a:latin typeface="Cambria Math"/>
                                    </a:rPr>
                                    <m:t>𝑧</m:t>
                                  </m:r>
                                </m:e>
                              </m:acc>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begChr m:val="‖"/>
                              <m:endChr m:val="‖"/>
                              <m:ctrlPr>
                                <a:rPr sz="1900" i="1">
                                  <a:solidFill>
                                    <a:srgbClr val="252529"/>
                                  </a:solidFill>
                                  <a:latin typeface="Cambria Math" panose="02040503050406030204" pitchFamily="18" charset="0"/>
                                </a:rPr>
                              </m:ctrlPr>
                            </m:dPr>
                            <m:e>
                              <m:acc>
                                <m:accPr>
                                  <m:chr m:val="̃"/>
                                  <m:ctrlPr>
                                    <a:rPr sz="1900">
                                      <a:solidFill>
                                        <a:srgbClr val="252529"/>
                                      </a:solidFill>
                                      <a:latin typeface="Cambria Math"/>
                                    </a:rPr>
                                  </m:ctrlPr>
                                </m:accPr>
                                <m:e>
                                  <m:r>
                                    <a:rPr sz="1900">
                                      <a:solidFill>
                                        <a:srgbClr val="252529"/>
                                      </a:solidFill>
                                      <a:latin typeface="Cambria Math"/>
                                    </a:rPr>
                                    <m:t>𝑤</m:t>
                                  </m:r>
                                </m:e>
                              </m:acc>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ctrlPr>
                                <a:rPr sz="1900">
                                  <a:solidFill>
                                    <a:srgbClr val="252529"/>
                                  </a:solidFill>
                                  <a:latin typeface="Cambria Math"/>
                                </a:rPr>
                              </m:ctrlPr>
                            </m:dPr>
                            <m:e>
                              <m:r>
                                <a:rPr sz="1900">
                                  <a:solidFill>
                                    <a:srgbClr val="252529"/>
                                  </a:solidFill>
                                  <a:latin typeface="Cambria Math"/>
                                </a:rPr>
                                <m:t>𝑣𝑎</m:t>
                              </m:r>
                              <m:r>
                                <a:rPr sz="1900">
                                  <a:solidFill>
                                    <a:srgbClr val="252529"/>
                                  </a:solidFill>
                                  <a:latin typeface="Cambria Math"/>
                                </a:rPr>
                                <m:t>+</m:t>
                              </m:r>
                              <m:r>
                                <a:rPr sz="1900">
                                  <a:solidFill>
                                    <a:srgbClr val="252529"/>
                                  </a:solidFill>
                                  <a:latin typeface="Cambria Math"/>
                                </a:rPr>
                                <m:t>𝑏</m:t>
                              </m:r>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ctrlPr>
                                <a:rPr sz="1900">
                                  <a:solidFill>
                                    <a:srgbClr val="252529"/>
                                  </a:solidFill>
                                  <a:latin typeface="Cambria Math"/>
                                </a:rPr>
                              </m:ctrlPr>
                            </m:dPr>
                            <m:e>
                              <m:r>
                                <a:rPr sz="1900">
                                  <a:solidFill>
                                    <a:srgbClr val="252529"/>
                                  </a:solidFill>
                                  <a:latin typeface="Cambria Math"/>
                                </a:rPr>
                                <m:t>𝑣𝑎</m:t>
                              </m:r>
                              <m:r>
                                <a:rPr sz="1900">
                                  <a:solidFill>
                                    <a:srgbClr val="252529"/>
                                  </a:solidFill>
                                  <a:latin typeface="Cambria Math"/>
                                </a:rPr>
                                <m:t>−</m:t>
                              </m:r>
                              <m:r>
                                <a:rPr sz="1900">
                                  <a:solidFill>
                                    <a:srgbClr val="252529"/>
                                  </a:solidFill>
                                  <a:latin typeface="Cambria Math"/>
                                </a:rPr>
                                <m:t>𝑏</m:t>
                              </m:r>
                            </m:e>
                          </m:d>
                        </m:e>
                        <m:sup>
                          <m:r>
                            <a:rPr sz="1900">
                              <a:solidFill>
                                <a:srgbClr val="252529"/>
                              </a:solidFill>
                              <a:latin typeface="Cambria Math"/>
                            </a:rPr>
                            <m:t>2</m:t>
                          </m:r>
                        </m:sup>
                      </m:sSup>
                    </m:oMath>
                  </m:oMathPara>
                </a14:m>
                <a:endParaRPr sz="1900" dirty="0"/>
              </a:p>
            </p:txBody>
          </p:sp>
        </mc:Choice>
        <mc:Fallback xmlns="">
          <p:sp>
            <p:nvSpPr>
              <p:cNvPr id="8035" name="Substitute signals"/>
              <p:cNvSpPr>
                <a:spLocks noRot="1" noChangeAspect="1" noMove="1" noResize="1" noEditPoints="1" noAdjustHandles="1" noChangeArrowheads="1" noChangeShapeType="1" noTextEdit="1"/>
              </p:cNvSpPr>
              <p:nvPr/>
            </p:nvSpPr>
            <p:spPr>
              <a:xfrm>
                <a:off x="317500" y="2252980"/>
                <a:ext cx="8509000" cy="675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6" name="Expand squares"/>
              <p:cNvSpPr/>
              <p:nvPr/>
            </p:nvSpPr>
            <p:spPr>
              <a:xfrm>
                <a:off x="317500" y="2621280"/>
                <a:ext cx="8509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00">
                          <a:solidFill>
                            <a:srgbClr val="252529"/>
                          </a:solidFill>
                          <a:latin typeface="Cambria Math"/>
                        </a:rPr>
                        <m:t>=</m:t>
                      </m:r>
                      <m:d>
                        <m:dPr>
                          <m:ctrlPr>
                            <a:rPr sz="1900" i="1">
                              <a:solidFill>
                                <a:srgbClr val="252529"/>
                              </a:solidFill>
                              <a:latin typeface="Cambria Math" panose="02040503050406030204" pitchFamily="18" charset="0"/>
                            </a:rPr>
                          </m:ctrlPr>
                        </m:dPr>
                        <m:e>
                          <m:sSup>
                            <m:sSupPr>
                              <m:ctrlPr>
                                <a:rPr sz="1900">
                                  <a:solidFill>
                                    <a:srgbClr val="252529"/>
                                  </a:solidFill>
                                  <a:latin typeface="Cambria Math"/>
                                </a:rPr>
                              </m:ctrlPr>
                            </m:sSupPr>
                            <m:e>
                              <m:r>
                                <a:rPr sz="1900">
                                  <a:solidFill>
                                    <a:srgbClr val="252529"/>
                                  </a:solidFill>
                                  <a:latin typeface="Cambria Math"/>
                                </a:rPr>
                                <m:t>𝑣</m:t>
                              </m:r>
                            </m:e>
                            <m:sup>
                              <m:r>
                                <a:rPr sz="1900">
                                  <a:solidFill>
                                    <a:srgbClr val="252529"/>
                                  </a:solidFill>
                                  <a:latin typeface="Cambria Math"/>
                                </a:rPr>
                                <m:t>2</m:t>
                              </m:r>
                            </m:sup>
                          </m:sSup>
                          <m:sSup>
                            <m:sSupPr>
                              <m:ctrlPr>
                                <a:rPr sz="1900">
                                  <a:solidFill>
                                    <a:srgbClr val="252529"/>
                                  </a:solidFill>
                                  <a:latin typeface="Cambria Math"/>
                                </a:rPr>
                              </m:ctrlPr>
                            </m:sSupPr>
                            <m:e>
                              <m:r>
                                <a:rPr sz="1900">
                                  <a:solidFill>
                                    <a:srgbClr val="252529"/>
                                  </a:solidFill>
                                  <a:latin typeface="Cambria Math"/>
                                </a:rPr>
                                <m:t>𝑎</m:t>
                              </m:r>
                            </m:e>
                            <m:sup>
                              <m:r>
                                <a:rPr sz="1900">
                                  <a:solidFill>
                                    <a:srgbClr val="252529"/>
                                  </a:solidFill>
                                  <a:latin typeface="Cambria Math"/>
                                </a:rPr>
                                <m:t>2</m:t>
                              </m:r>
                            </m:sup>
                          </m:sSup>
                          <m:r>
                            <a:rPr sz="1900">
                              <a:solidFill>
                                <a:srgbClr val="252529"/>
                              </a:solidFill>
                              <a:latin typeface="Cambria Math"/>
                            </a:rPr>
                            <m:t>+2</m:t>
                          </m:r>
                          <m:r>
                            <a:rPr lang="en-NL" sz="1900" smtClean="0">
                              <a:solidFill>
                                <a:srgbClr val="216F9C"/>
                              </a:solidFill>
                              <a:latin typeface="Cambria Math"/>
                            </a:rPr>
                            <m:t>𝑣</m:t>
                          </m:r>
                          <m:r>
                            <a:rPr sz="1900">
                              <a:solidFill>
                                <a:srgbClr val="C81919"/>
                              </a:solidFill>
                              <a:latin typeface="Cambria Math"/>
                            </a:rPr>
                            <m:t>𝑎𝑏</m:t>
                          </m:r>
                          <m:r>
                            <a:rPr sz="1900">
                              <a:solidFill>
                                <a:srgbClr val="252529"/>
                              </a:solidFill>
                              <a:latin typeface="Cambria Math"/>
                            </a:rPr>
                            <m:t>+</m:t>
                          </m:r>
                          <m:sSup>
                            <m:sSupPr>
                              <m:ctrlPr>
                                <a:rPr sz="1900">
                                  <a:solidFill>
                                    <a:srgbClr val="252529"/>
                                  </a:solidFill>
                                  <a:latin typeface="Cambria Math"/>
                                </a:rPr>
                              </m:ctrlPr>
                            </m:sSupPr>
                            <m:e>
                              <m:r>
                                <a:rPr sz="1900">
                                  <a:solidFill>
                                    <a:srgbClr val="252529"/>
                                  </a:solidFill>
                                  <a:latin typeface="Cambria Math"/>
                                </a:rPr>
                                <m:t>𝑏</m:t>
                              </m:r>
                            </m:e>
                            <m:sup>
                              <m:r>
                                <a:rPr sz="1900">
                                  <a:solidFill>
                                    <a:srgbClr val="252529"/>
                                  </a:solidFill>
                                  <a:latin typeface="Cambria Math"/>
                                </a:rPr>
                                <m:t>2</m:t>
                              </m:r>
                            </m:sup>
                          </m:sSup>
                        </m:e>
                      </m:d>
                      <m:r>
                        <a:rPr sz="1900">
                          <a:solidFill>
                            <a:srgbClr val="252529"/>
                          </a:solidFill>
                          <a:latin typeface="Cambria Math"/>
                        </a:rPr>
                        <m:t>−</m:t>
                      </m:r>
                      <m:d>
                        <m:dPr>
                          <m:ctrlPr>
                            <a:rPr sz="1900" i="1">
                              <a:solidFill>
                                <a:srgbClr val="252529"/>
                              </a:solidFill>
                              <a:latin typeface="Cambria Math" panose="02040503050406030204" pitchFamily="18" charset="0"/>
                            </a:rPr>
                          </m:ctrlPr>
                        </m:dPr>
                        <m:e>
                          <m:sSup>
                            <m:sSupPr>
                              <m:ctrlPr>
                                <a:rPr sz="1900">
                                  <a:solidFill>
                                    <a:srgbClr val="252529"/>
                                  </a:solidFill>
                                  <a:latin typeface="Cambria Math"/>
                                </a:rPr>
                              </m:ctrlPr>
                            </m:sSupPr>
                            <m:e>
                              <m:r>
                                <a:rPr sz="1900">
                                  <a:solidFill>
                                    <a:srgbClr val="252529"/>
                                  </a:solidFill>
                                  <a:latin typeface="Cambria Math"/>
                                </a:rPr>
                                <m:t>𝑣</m:t>
                              </m:r>
                            </m:e>
                            <m:sup>
                              <m:r>
                                <a:rPr sz="1900">
                                  <a:solidFill>
                                    <a:srgbClr val="252529"/>
                                  </a:solidFill>
                                  <a:latin typeface="Cambria Math"/>
                                </a:rPr>
                                <m:t>2</m:t>
                              </m:r>
                            </m:sup>
                          </m:sSup>
                          <m:sSup>
                            <m:sSupPr>
                              <m:ctrlPr>
                                <a:rPr sz="1900">
                                  <a:solidFill>
                                    <a:srgbClr val="252529"/>
                                  </a:solidFill>
                                  <a:latin typeface="Cambria Math"/>
                                </a:rPr>
                              </m:ctrlPr>
                            </m:sSupPr>
                            <m:e>
                              <m:r>
                                <a:rPr sz="1900">
                                  <a:solidFill>
                                    <a:srgbClr val="252529"/>
                                  </a:solidFill>
                                  <a:latin typeface="Cambria Math"/>
                                </a:rPr>
                                <m:t>𝑎</m:t>
                              </m:r>
                            </m:e>
                            <m:sup>
                              <m:r>
                                <a:rPr sz="1900">
                                  <a:solidFill>
                                    <a:srgbClr val="252529"/>
                                  </a:solidFill>
                                  <a:latin typeface="Cambria Math"/>
                                </a:rPr>
                                <m:t>2</m:t>
                              </m:r>
                            </m:sup>
                          </m:sSup>
                          <m:r>
                            <a:rPr sz="1900">
                              <a:solidFill>
                                <a:srgbClr val="252529"/>
                              </a:solidFill>
                              <a:latin typeface="Cambria Math"/>
                            </a:rPr>
                            <m:t>−2</m:t>
                          </m:r>
                          <m:r>
                            <a:rPr lang="en-NL" sz="1900" smtClean="0">
                              <a:solidFill>
                                <a:srgbClr val="216F9C"/>
                              </a:solidFill>
                              <a:latin typeface="Cambria Math"/>
                            </a:rPr>
                            <m:t>𝑣</m:t>
                          </m:r>
                          <m:r>
                            <a:rPr sz="1900">
                              <a:solidFill>
                                <a:srgbClr val="C81919"/>
                              </a:solidFill>
                              <a:latin typeface="Cambria Math"/>
                            </a:rPr>
                            <m:t>𝑎𝑏</m:t>
                          </m:r>
                          <m:r>
                            <a:rPr sz="1900">
                              <a:solidFill>
                                <a:srgbClr val="252529"/>
                              </a:solidFill>
                              <a:latin typeface="Cambria Math"/>
                            </a:rPr>
                            <m:t>+</m:t>
                          </m:r>
                          <m:sSup>
                            <m:sSupPr>
                              <m:ctrlPr>
                                <a:rPr sz="1900">
                                  <a:solidFill>
                                    <a:srgbClr val="252529"/>
                                  </a:solidFill>
                                  <a:latin typeface="Cambria Math"/>
                                </a:rPr>
                              </m:ctrlPr>
                            </m:sSupPr>
                            <m:e>
                              <m:r>
                                <a:rPr sz="1900">
                                  <a:solidFill>
                                    <a:srgbClr val="252529"/>
                                  </a:solidFill>
                                  <a:latin typeface="Cambria Math"/>
                                </a:rPr>
                                <m:t>𝑏</m:t>
                              </m:r>
                            </m:e>
                            <m:sup>
                              <m:r>
                                <a:rPr sz="1900">
                                  <a:solidFill>
                                    <a:srgbClr val="252529"/>
                                  </a:solidFill>
                                  <a:latin typeface="Cambria Math"/>
                                </a:rPr>
                                <m:t>2</m:t>
                              </m:r>
                            </m:sup>
                          </m:sSup>
                        </m:e>
                      </m:d>
                    </m:oMath>
                  </m:oMathPara>
                </a14:m>
                <a:endParaRPr sz="1900" dirty="0"/>
              </a:p>
            </p:txBody>
          </p:sp>
        </mc:Choice>
        <mc:Fallback xmlns="">
          <p:sp>
            <p:nvSpPr>
              <p:cNvPr id="8036" name="Expand squares"/>
              <p:cNvSpPr>
                <a:spLocks noRot="1" noChangeAspect="1" noMove="1" noResize="1" noEditPoints="1" noAdjustHandles="1" noChangeArrowheads="1" noChangeShapeType="1" noTextEdit="1"/>
              </p:cNvSpPr>
              <p:nvPr/>
            </p:nvSpPr>
            <p:spPr>
              <a:xfrm>
                <a:off x="317500" y="2621280"/>
                <a:ext cx="8509000" cy="675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7" name="Cancel matching terms"/>
              <p:cNvSpPr/>
              <p:nvPr/>
            </p:nvSpPr>
            <p:spPr>
              <a:xfrm>
                <a:off x="444500" y="2910840"/>
                <a:ext cx="82550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200" smtClean="0">
                          <a:solidFill>
                            <a:srgbClr val="000000"/>
                          </a:solidFill>
                          <a:latin typeface="Cambria Math"/>
                        </a:rPr>
                        <m:t>=4</m:t>
                      </m:r>
                      <m:r>
                        <a:rPr lang="en-NL" sz="2200" smtClean="0">
                          <a:solidFill>
                            <a:srgbClr val="216F9C"/>
                          </a:solidFill>
                          <a:latin typeface="Cambria Math"/>
                        </a:rPr>
                        <m:t>𝑣</m:t>
                      </m:r>
                      <m:r>
                        <a:rPr sz="2200">
                          <a:solidFill>
                            <a:srgbClr val="C81919"/>
                          </a:solidFill>
                          <a:latin typeface="Cambria Math"/>
                        </a:rPr>
                        <m:t>𝑎𝑏</m:t>
                      </m:r>
                      <m:r>
                        <a:rPr lang="en-NL" sz="2200" smtClean="0">
                          <a:solidFill>
                            <a:srgbClr val="C81919"/>
                          </a:solidFill>
                          <a:latin typeface="Cambria Math"/>
                        </a:rPr>
                        <m:t>≥0</m:t>
                      </m:r>
                    </m:oMath>
                  </m:oMathPara>
                </a14:m>
                <a:endParaRPr sz="2200" dirty="0"/>
              </a:p>
            </p:txBody>
          </p:sp>
        </mc:Choice>
        <mc:Fallback xmlns="">
          <p:sp>
            <p:nvSpPr>
              <p:cNvPr id="8037" name="Cancel matching terms"/>
              <p:cNvSpPr>
                <a:spLocks noRot="1" noChangeAspect="1" noMove="1" noResize="1" noEditPoints="1" noAdjustHandles="1" noChangeArrowheads="1" noChangeShapeType="1" noTextEdit="1"/>
              </p:cNvSpPr>
              <p:nvPr/>
            </p:nvSpPr>
            <p:spPr>
              <a:xfrm>
                <a:off x="444500" y="2910840"/>
                <a:ext cx="8255000" cy="7823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8" name="Pointwise inequality"/>
              <p:cNvSpPr/>
              <p:nvPr/>
            </p:nvSpPr>
            <p:spPr>
              <a:xfrm>
                <a:off x="444500" y="3296920"/>
                <a:ext cx="8255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  </m:t>
                      </m:r>
                    </m:oMath>
                  </m:oMathPara>
                </a14:m>
                <a:endParaRPr sz="2100" dirty="0"/>
              </a:p>
            </p:txBody>
          </p:sp>
        </mc:Choice>
        <mc:Fallback xmlns="">
          <p:sp>
            <p:nvSpPr>
              <p:cNvPr id="8038" name="Pointwise inequality"/>
              <p:cNvSpPr>
                <a:spLocks noRot="1" noChangeAspect="1" noMove="1" noResize="1" noEditPoints="1" noAdjustHandles="1" noChangeArrowheads="1" noChangeShapeType="1" noTextEdit="1"/>
              </p:cNvSpPr>
              <p:nvPr/>
            </p:nvSpPr>
            <p:spPr>
              <a:xfrm>
                <a:off x="444500" y="3296920"/>
                <a:ext cx="8255000" cy="746760"/>
              </a:xfrm>
              <a:prstGeom prst="rect">
                <a:avLst/>
              </a:prstGeom>
              <a:blipFill>
                <a:blip r:embed="rId11"/>
                <a:stretch>
                  <a:fillRect/>
                </a:stretch>
              </a:blipFill>
              <a:ln>
                <a:noFill/>
              </a:ln>
            </p:spPr>
            <p:txBody>
              <a:bodyPr/>
              <a:lstStyle/>
              <a:p>
                <a:r>
                  <a:rPr lang="en-NL">
                    <a:noFill/>
                  </a:rPr>
                  <a:t> </a:t>
                </a:r>
              </a:p>
            </p:txBody>
          </p:sp>
        </mc:Fallback>
      </mc:AlternateContent>
      <p:cxnSp>
        <p:nvCxnSpPr>
          <p:cNvPr id="3" name="Straight Connector 2">
            <a:extLst>
              <a:ext uri="{FF2B5EF4-FFF2-40B4-BE49-F238E27FC236}">
                <a16:creationId xmlns:a16="http://schemas.microsoft.com/office/drawing/2014/main" id="{4B946411-B4B0-963C-A4CC-503799D58626}"/>
              </a:ext>
            </a:extLst>
          </p:cNvPr>
          <p:cNvCxnSpPr/>
          <p:nvPr/>
        </p:nvCxnSpPr>
        <p:spPr>
          <a:xfrm flipV="1">
            <a:off x="2558783" y="2812356"/>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E922C065-CA68-07AE-AFA7-086A366DA5A2}"/>
              </a:ext>
            </a:extLst>
          </p:cNvPr>
          <p:cNvCxnSpPr/>
          <p:nvPr/>
        </p:nvCxnSpPr>
        <p:spPr>
          <a:xfrm flipV="1">
            <a:off x="3962288" y="2772132"/>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DD0B255A-6B55-DD1F-63C0-BF8C36906F6F}"/>
              </a:ext>
            </a:extLst>
          </p:cNvPr>
          <p:cNvCxnSpPr/>
          <p:nvPr/>
        </p:nvCxnSpPr>
        <p:spPr>
          <a:xfrm flipV="1">
            <a:off x="4850963" y="2787650"/>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42D1D1A8-1891-3555-7348-935980BE09F1}"/>
              </a:ext>
            </a:extLst>
          </p:cNvPr>
          <p:cNvCxnSpPr/>
          <p:nvPr/>
        </p:nvCxnSpPr>
        <p:spPr>
          <a:xfrm flipV="1">
            <a:off x="6323901" y="2811945"/>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00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00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03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03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03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803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802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80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05" grpId="0"/>
      <p:bldP spid="8006" grpId="0"/>
      <p:bldP spid="8023" grpId="0"/>
      <p:bldP spid="8024" grpId="0"/>
      <p:bldP spid="8035" grpId="0"/>
      <p:bldP spid="8036" grpId="0"/>
      <p:bldP spid="8037" grpId="0"/>
      <p:bldP spid="8038"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C639A1-BB0D-D9F3-82EC-C8B6E7E3F099}"/>
              </a:ext>
            </a:extLst>
          </p:cNvPr>
          <p:cNvSpPr>
            <a:spLocks noGrp="1"/>
          </p:cNvSpPr>
          <p:nvPr>
            <p:ph type="title"/>
          </p:nvPr>
        </p:nvSpPr>
        <p:spPr/>
        <p:txBody>
          <a:bodyPr/>
          <a:lstStyle/>
          <a:p>
            <a:endParaRPr lang="en-NL" dirty="0"/>
          </a:p>
        </p:txBody>
      </p:sp>
      <p:sp>
        <p:nvSpPr>
          <p:cNvPr id="3" name="Footer Placeholder 2">
            <a:extLst>
              <a:ext uri="{FF2B5EF4-FFF2-40B4-BE49-F238E27FC236}">
                <a16:creationId xmlns:a16="http://schemas.microsoft.com/office/drawing/2014/main" id="{E4E197F6-7BCB-9F91-3A53-E3EA1F27D4E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en-US"/>
              <a:t>Msc Defence T.M. Lenssen</a:t>
            </a:r>
          </a:p>
        </p:txBody>
      </p:sp>
      <p:sp>
        <p:nvSpPr>
          <p:cNvPr id="4" name="Slide Number Placeholder 3">
            <a:extLst>
              <a:ext uri="{FF2B5EF4-FFF2-40B4-BE49-F238E27FC236}">
                <a16:creationId xmlns:a16="http://schemas.microsoft.com/office/drawing/2014/main" id="{9352A203-D4AC-63FE-8CE8-C2F0C98D0C90}"/>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38</a:t>
            </a:fld>
            <a:endParaRPr lang="en-GB"/>
          </a:p>
        </p:txBody>
      </p:sp>
      <p:pic>
        <p:nvPicPr>
          <p:cNvPr id="6" name="Picture 5">
            <a:extLst>
              <a:ext uri="{FF2B5EF4-FFF2-40B4-BE49-F238E27FC236}">
                <a16:creationId xmlns:a16="http://schemas.microsoft.com/office/drawing/2014/main" id="{21C80356-5C34-A16F-FE0F-F516A800C1D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3607759" cy="5142857"/>
          </a:xfrm>
          <a:prstGeom prst="rect">
            <a:avLst/>
          </a:prstGeom>
        </p:spPr>
      </p:pic>
      <p:sp>
        <p:nvSpPr>
          <p:cNvPr id="107" name="Theta summary title"/>
          <p:cNvSpPr/>
          <p:nvPr/>
        </p:nvSpPr>
        <p:spPr>
          <a:xfrm>
            <a:off x="3911600" y="374650"/>
            <a:ext cx="4775200" cy="419100"/>
          </a:xfrm>
          <a:prstGeom prst="rect">
            <a:avLst/>
          </a:prstGeom>
          <a:noFill/>
          <a:ln>
            <a:noFill/>
          </a:ln>
        </p:spPr>
        <p:txBody>
          <a:bodyPr wrap="none" lIns="0" tIns="0" rIns="0" bIns="0" anchor="ctr">
            <a:noAutofit/>
          </a:bodyPr>
          <a:lstStyle/>
          <a:p>
            <a:pPr algn="l">
              <a:buNone/>
            </a:pPr>
            <a:r>
              <a:rPr lang="en-GB" sz="2200" b="1" i="0" u="none" baseline="0">
                <a:solidFill>
                  <a:srgbClr val="252529"/>
                </a:solidFill>
                <a:latin typeface="Aptos"/>
                <a:ea typeface="Aptos"/>
                <a:cs typeface="Aptos"/>
              </a:rPr>
              <a:t>A suitable Θ depends on Δ</a:t>
            </a:r>
            <a:endParaRPr sz="2200"/>
          </a:p>
        </p:txBody>
      </p:sp>
      <p:sp>
        <p:nvSpPr>
          <p:cNvPr id="108" name="Theta example caption"/>
          <p:cNvSpPr/>
          <p:nvPr/>
        </p:nvSpPr>
        <p:spPr>
          <a:xfrm>
            <a:off x="3911600" y="965200"/>
            <a:ext cx="4775200" cy="304800"/>
          </a:xfrm>
          <a:prstGeom prst="rect">
            <a:avLst/>
          </a:prstGeom>
          <a:noFill/>
          <a:ln>
            <a:noFill/>
          </a:ln>
        </p:spPr>
        <p:txBody>
          <a:bodyPr wrap="none" lIns="0" tIns="0" rIns="0" bIns="0" anchor="ctr">
            <a:noAutofit/>
          </a:bodyPr>
          <a:lstStyle/>
          <a:p>
            <a:pPr algn="l">
              <a:buNone/>
            </a:pPr>
            <a:r>
              <a:rPr lang="en-GB" sz="1600" b="0" i="0" u="none" baseline="0">
                <a:solidFill>
                  <a:srgbClr val="747B82"/>
                </a:solidFill>
                <a:latin typeface="Aptos"/>
                <a:ea typeface="Aptos"/>
                <a:cs typeface="Aptos"/>
              </a:rPr>
              <a:t>For the sector we just analysed:</a:t>
            </a:r>
            <a:endParaRPr sz="1600"/>
          </a:p>
        </p:txBody>
      </p:sp>
      <mc:AlternateContent xmlns:mc="http://schemas.openxmlformats.org/markup-compatibility/2006" xmlns:a14="http://schemas.microsoft.com/office/drawing/2010/main">
        <mc:Choice Requires="a14">
          <p:sp>
            <p:nvSpPr>
              <p:cNvPr id="109" name="Derived static Theta"/>
              <p:cNvSpPr/>
              <p:nvPr/>
            </p:nvSpPr>
            <p:spPr>
              <a:xfrm>
                <a:off x="3886200" y="1277620"/>
                <a:ext cx="4826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100">
                          <a:solidFill>
                            <a:srgbClr val="252529"/>
                          </a:solidFill>
                          <a:latin typeface="Cambria Math"/>
                        </a:rPr>
                        <m:t>Θ</m:t>
                      </m:r>
                      <m:d>
                        <m:dPr>
                          <m:ctrlPr>
                            <a:rPr sz="2100">
                              <a:solidFill>
                                <a:srgbClr val="252529"/>
                              </a:solidFill>
                              <a:latin typeface="Cambria Math"/>
                            </a:rPr>
                          </m:ctrlPr>
                        </m:dPr>
                        <m:e>
                          <m:r>
                            <a:rPr sz="2100">
                              <a:solidFill>
                                <a:srgbClr val="252529"/>
                              </a:solidFill>
                              <a:latin typeface="Cambria Math"/>
                            </a:rPr>
                            <m:t>𝑣</m:t>
                          </m:r>
                        </m:e>
                      </m:d>
                      <m:r>
                        <a:rPr sz="2100">
                          <a:solidFill>
                            <a:srgbClr val="252529"/>
                          </a:solidFill>
                          <a:latin typeface="Cambria Math"/>
                        </a:rPr>
                        <m:t>=</m:t>
                      </m:r>
                      <m:d>
                        <m:dPr>
                          <m:begChr m:val="["/>
                          <m:endChr m:val="]"/>
                          <m:ctrlPr>
                            <a:rPr sz="2100" i="1">
                              <a:solidFill>
                                <a:srgbClr val="252529"/>
                              </a:solidFill>
                              <a:latin typeface="Cambria Math" panose="02040503050406030204" pitchFamily="18" charset="0"/>
                            </a:rPr>
                          </m:ctrlPr>
                        </m:dPr>
                        <m:e>
                          <m:m>
                            <m:mPr>
                              <m:mcs>
                                <m:mc>
                                  <m:mcPr>
                                    <m:count m:val="2"/>
                                    <m:mcJc m:val="center"/>
                                  </m:mcPr>
                                </m:mc>
                              </m:mcs>
                              <m:ctrlPr>
                                <a:rPr sz="2100" i="1">
                                  <a:solidFill>
                                    <a:srgbClr val="252529"/>
                                  </a:solidFill>
                                  <a:latin typeface="Cambria Math" panose="02040503050406030204" pitchFamily="18" charset="0"/>
                                </a:rPr>
                              </m:ctrlPr>
                            </m:mPr>
                            <m:mr>
                              <m:e>
                                <m:r>
                                  <a:rPr sz="2100">
                                    <a:solidFill>
                                      <a:srgbClr val="252529"/>
                                    </a:solidFill>
                                    <a:latin typeface="Cambria Math"/>
                                  </a:rPr>
                                  <m:t>𝑣</m:t>
                                </m:r>
                              </m:e>
                              <m:e>
                                <m:r>
                                  <a:rPr sz="2100">
                                    <a:solidFill>
                                      <a:srgbClr val="252529"/>
                                    </a:solidFill>
                                    <a:latin typeface="Cambria Math"/>
                                  </a:rPr>
                                  <m:t>1</m:t>
                                </m:r>
                              </m:e>
                            </m:mr>
                            <m:mr>
                              <m:e>
                                <m:r>
                                  <a:rPr sz="2100">
                                    <a:solidFill>
                                      <a:srgbClr val="252529"/>
                                    </a:solidFill>
                                    <a:latin typeface="Cambria Math"/>
                                  </a:rPr>
                                  <m:t>𝑣</m:t>
                                </m:r>
                              </m:e>
                              <m:e>
                                <m:r>
                                  <a:rPr sz="2100">
                                    <a:solidFill>
                                      <a:srgbClr val="252529"/>
                                    </a:solidFill>
                                    <a:latin typeface="Cambria Math"/>
                                  </a:rPr>
                                  <m:t>−1</m:t>
                                </m:r>
                              </m:e>
                            </m:mr>
                          </m:m>
                        </m:e>
                      </m:d>
                      <m:d>
                        <m:dPr>
                          <m:begChr m:val="["/>
                          <m:endChr m:val="]"/>
                          <m:ctrlPr>
                            <a:rPr sz="2100" i="1">
                              <a:solidFill>
                                <a:srgbClr val="252529"/>
                              </a:solidFill>
                              <a:latin typeface="Cambria Math" panose="02040503050406030204" pitchFamily="18" charset="0"/>
                            </a:rPr>
                          </m:ctrlPr>
                        </m:dPr>
                        <m:e>
                          <m:m>
                            <m:mPr>
                              <m:mcs>
                                <m:mc>
                                  <m:mcPr>
                                    <m:count m:val="2"/>
                                    <m:mcJc m:val="center"/>
                                  </m:mcPr>
                                </m:mc>
                              </m:mcs>
                              <m:ctrlPr>
                                <a:rPr sz="2100" i="1">
                                  <a:solidFill>
                                    <a:srgbClr val="252529"/>
                                  </a:solidFill>
                                  <a:latin typeface="Cambria Math" panose="02040503050406030204" pitchFamily="18" charset="0"/>
                                </a:rPr>
                              </m:ctrlPr>
                            </m:mPr>
                            <m:mr>
                              <m:e>
                                <m:r>
                                  <a:rPr sz="2100">
                                    <a:solidFill>
                                      <a:srgbClr val="252529"/>
                                    </a:solidFill>
                                    <a:latin typeface="Cambria Math"/>
                                  </a:rPr>
                                  <m:t>0.735</m:t>
                                </m:r>
                              </m:e>
                              <m:e>
                                <m:r>
                                  <a:rPr sz="2100">
                                    <a:solidFill>
                                      <a:srgbClr val="252529"/>
                                    </a:solidFill>
                                    <a:latin typeface="Cambria Math"/>
                                  </a:rPr>
                                  <m:t>−1</m:t>
                                </m:r>
                              </m:e>
                            </m:mr>
                            <m:mr>
                              <m:e>
                                <m:r>
                                  <a:rPr sz="2100">
                                    <a:solidFill>
                                      <a:srgbClr val="252529"/>
                                    </a:solidFill>
                                    <a:latin typeface="Cambria Math"/>
                                  </a:rPr>
                                  <m:t>0</m:t>
                                </m:r>
                              </m:e>
                              <m:e>
                                <m:r>
                                  <a:rPr sz="2100">
                                    <a:solidFill>
                                      <a:srgbClr val="252529"/>
                                    </a:solidFill>
                                    <a:latin typeface="Cambria Math"/>
                                  </a:rPr>
                                  <m:t>1</m:t>
                                </m:r>
                              </m:e>
                            </m:mr>
                          </m:m>
                        </m:e>
                      </m:d>
                    </m:oMath>
                  </m:oMathPara>
                </a14:m>
                <a:endParaRPr sz="2100"/>
              </a:p>
            </p:txBody>
          </p:sp>
        </mc:Choice>
        <mc:Fallback xmlns="">
          <p:sp>
            <p:nvSpPr>
              <p:cNvPr id="109" name="Derived static Theta"/>
              <p:cNvSpPr>
                <a:spLocks noRot="1" noChangeAspect="1" noMove="1" noResize="1" noEditPoints="1" noAdjustHandles="1" noChangeArrowheads="1" noChangeShapeType="1" noTextEdit="1"/>
              </p:cNvSpPr>
              <p:nvPr/>
            </p:nvSpPr>
            <p:spPr>
              <a:xfrm>
                <a:off x="3886200" y="1277620"/>
                <a:ext cx="4826000" cy="74676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0" name="Positive Theta parameter"/>
              <p:cNvSpPr/>
              <p:nvPr/>
            </p:nvSpPr>
            <p:spPr>
              <a:xfrm>
                <a:off x="3981450" y="1927860"/>
                <a:ext cx="46355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𝑣</m:t>
                      </m:r>
                      <m:r>
                        <a:rPr sz="1800">
                          <a:solidFill>
                            <a:srgbClr val="252529"/>
                          </a:solidFill>
                          <a:latin typeface="Cambria Math"/>
                        </a:rPr>
                        <m:t>&gt;0</m:t>
                      </m:r>
                    </m:oMath>
                  </m:oMathPara>
                </a14:m>
                <a:endParaRPr sz="1800"/>
              </a:p>
            </p:txBody>
          </p:sp>
        </mc:Choice>
        <mc:Fallback xmlns="">
          <p:sp>
            <p:nvSpPr>
              <p:cNvPr id="110" name="Positive Theta parameter"/>
              <p:cNvSpPr>
                <a:spLocks noRot="1" noChangeAspect="1" noMove="1" noResize="1" noEditPoints="1" noAdjustHandles="1" noChangeArrowheads="1" noChangeShapeType="1" noTextEdit="1"/>
              </p:cNvSpPr>
              <p:nvPr/>
            </p:nvSpPr>
            <p:spPr>
              <a:xfrm>
                <a:off x="3981450" y="1927860"/>
                <a:ext cx="4635500" cy="640080"/>
              </a:xfrm>
              <a:prstGeom prst="rect">
                <a:avLst/>
              </a:prstGeom>
              <a:blipFill>
                <a:blip r:embed="rId4"/>
                <a:stretch>
                  <a:fillRect/>
                </a:stretch>
              </a:blipFill>
              <a:ln>
                <a:noFill/>
              </a:ln>
            </p:spPr>
            <p:txBody>
              <a:bodyPr/>
              <a:lstStyle/>
              <a:p>
                <a:r>
                  <a:rPr lang="en-NL">
                    <a:noFill/>
                  </a:rPr>
                  <a:t> </a:t>
                </a:r>
              </a:p>
            </p:txBody>
          </p:sp>
        </mc:Fallback>
      </mc:AlternateContent>
      <p:sp>
        <p:nvSpPr>
          <p:cNvPr id="111" name="Specific uncertainty bullet"/>
          <p:cNvSpPr/>
          <p:nvPr/>
        </p:nvSpPr>
        <p:spPr>
          <a:xfrm>
            <a:off x="3937000" y="2622550"/>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xmlns:a14="http://schemas.microsoft.com/office/drawing/2010/main">
        <mc:Choice Requires="a14">
          <p:sp>
            <p:nvSpPr>
              <p:cNvPr id="112" name="Specific uncertainty"/>
              <p:cNvSpPr/>
              <p:nvPr/>
            </p:nvSpPr>
            <p:spPr>
              <a:xfrm>
                <a:off x="4178300" y="2632075"/>
                <a:ext cx="4572000" cy="323850"/>
              </a:xfrm>
              <a:prstGeom prst="rect">
                <a:avLst/>
              </a:prstGeom>
              <a:noFill/>
              <a:ln>
                <a:noFill/>
              </a:ln>
            </p:spPr>
            <p:txBody>
              <a:bodyPr wrap="none" lIns="0" tIns="0" rIns="0" bIns="0" anchor="ctr">
                <a:noAutofit/>
              </a:bodyPr>
              <a:lstStyle/>
              <a:p>
                <a:pPr algn="l">
                  <a:buNone/>
                </a:pPr>
                <a:r>
                  <a:rPr lang="en-GB" sz="1700" b="0" i="0" u="none" baseline="0" dirty="0">
                    <a:solidFill>
                      <a:srgbClr val="252529"/>
                    </a:solidFill>
                    <a:latin typeface="Aptos"/>
                    <a:ea typeface="Aptos"/>
                    <a:cs typeface="Aptos"/>
                  </a:rPr>
                  <a:t>This static </a:t>
                </a: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Θ</m:t>
                    </m:r>
                  </m:oMath>
                </a14:m>
                <a:r>
                  <a:rPr lang="en-GB" sz="1700" b="0" i="0" u="none" baseline="0" dirty="0">
                    <a:solidFill>
                      <a:srgbClr val="252529"/>
                    </a:solidFill>
                    <a:latin typeface="Aptos"/>
                    <a:ea typeface="Aptos"/>
                    <a:cs typeface="Aptos"/>
                  </a:rPr>
                  <a:t> is specific for </a:t>
                </a: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Δ</m:t>
                    </m:r>
                  </m:oMath>
                </a14:m>
                <a:endParaRPr sz="1700" dirty="0"/>
              </a:p>
            </p:txBody>
          </p:sp>
        </mc:Choice>
        <mc:Fallback xmlns="">
          <p:sp>
            <p:nvSpPr>
              <p:cNvPr id="112" name="Specific uncertainty"/>
              <p:cNvSpPr>
                <a:spLocks noRot="1" noChangeAspect="1" noMove="1" noResize="1" noEditPoints="1" noAdjustHandles="1" noChangeArrowheads="1" noChangeShapeType="1" noTextEdit="1"/>
              </p:cNvSpPr>
              <p:nvPr/>
            </p:nvSpPr>
            <p:spPr>
              <a:xfrm>
                <a:off x="4178300" y="2632075"/>
                <a:ext cx="4572000" cy="323850"/>
              </a:xfrm>
              <a:prstGeom prst="rect">
                <a:avLst/>
              </a:prstGeom>
              <a:blipFill>
                <a:blip r:embed="rId5"/>
                <a:stretch>
                  <a:fillRect l="-2800" t="-9434" b="-32075"/>
                </a:stretch>
              </a:blipFill>
              <a:ln>
                <a:noFill/>
              </a:ln>
            </p:spPr>
            <p:txBody>
              <a:bodyPr/>
              <a:lstStyle/>
              <a:p>
                <a:r>
                  <a:rPr lang="en-NL">
                    <a:noFill/>
                  </a:rPr>
                  <a:t> </a:t>
                </a:r>
              </a:p>
            </p:txBody>
          </p:sp>
        </mc:Fallback>
      </mc:AlternateContent>
      <p:sp>
        <p:nvSpPr>
          <p:cNvPr id="114" name="Analyse uncertainty bullet"/>
          <p:cNvSpPr/>
          <p:nvPr/>
        </p:nvSpPr>
        <p:spPr>
          <a:xfrm>
            <a:off x="3937000" y="3180715"/>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xmlns:a14="http://schemas.microsoft.com/office/drawing/2010/main">
        <mc:Choice Requires="a14">
          <p:sp>
            <p:nvSpPr>
              <p:cNvPr id="115" name="Analyse uncertainty"/>
              <p:cNvSpPr/>
              <p:nvPr/>
            </p:nvSpPr>
            <p:spPr>
              <a:xfrm>
                <a:off x="4178300" y="3190240"/>
                <a:ext cx="4572000" cy="323850"/>
              </a:xfrm>
              <a:prstGeom prst="rect">
                <a:avLst/>
              </a:prstGeom>
              <a:noFill/>
              <a:ln>
                <a:noFill/>
              </a:ln>
            </p:spPr>
            <p:txBody>
              <a:bodyPr wrap="none" lIns="0" tIns="0" rIns="0" bIns="0" anchor="ctr">
                <a:noAutofit/>
              </a:bodyPr>
              <a:lstStyle/>
              <a:p>
                <a:pPr algn="l">
                  <a:buNone/>
                </a:pPr>
                <a:r>
                  <a:rPr lang="en-GB" sz="1700" dirty="0">
                    <a:solidFill>
                      <a:srgbClr val="252529"/>
                    </a:solidFill>
                    <a:latin typeface="Aptos"/>
                    <a:ea typeface="Aptos"/>
                    <a:cs typeface="Aptos"/>
                  </a:rPr>
                  <a:t>Parameterization of </a:t>
                </a:r>
                <a14:m>
                  <m:oMath xmlns:m="http://schemas.openxmlformats.org/officeDocument/2006/math">
                    <m:r>
                      <m:rPr>
                        <m:sty m:val="p"/>
                      </m:rPr>
                      <a:rPr lang="el-GR" sz="1700" i="1" smtClean="0">
                        <a:solidFill>
                          <a:srgbClr val="252529"/>
                        </a:solidFill>
                        <a:latin typeface="Cambria Math" panose="02040503050406030204" pitchFamily="18" charset="0"/>
                        <a:ea typeface="Cambria Math" panose="02040503050406030204" pitchFamily="18" charset="0"/>
                        <a:cs typeface="Aptos"/>
                      </a:rPr>
                      <m:t>Θ</m:t>
                    </m:r>
                  </m:oMath>
                </a14:m>
                <a:r>
                  <a:rPr lang="en-US" sz="1700" dirty="0"/>
                  <a:t> depends on properties of </a:t>
                </a:r>
                <a14:m>
                  <m:oMath xmlns:m="http://schemas.openxmlformats.org/officeDocument/2006/math">
                    <m:r>
                      <m:rPr>
                        <m:sty m:val="p"/>
                      </m:rPr>
                      <a:rPr lang="el-GR" sz="1700" i="1" smtClean="0">
                        <a:latin typeface="Cambria Math" panose="02040503050406030204" pitchFamily="18" charset="0"/>
                        <a:ea typeface="Cambria Math" panose="02040503050406030204" pitchFamily="18" charset="0"/>
                      </a:rPr>
                      <m:t>Δ</m:t>
                    </m:r>
                  </m:oMath>
                </a14:m>
                <a:endParaRPr sz="1700" dirty="0"/>
              </a:p>
            </p:txBody>
          </p:sp>
        </mc:Choice>
        <mc:Fallback xmlns="">
          <p:sp>
            <p:nvSpPr>
              <p:cNvPr id="115" name="Analyse uncertainty"/>
              <p:cNvSpPr>
                <a:spLocks noRot="1" noChangeAspect="1" noMove="1" noResize="1" noEditPoints="1" noAdjustHandles="1" noChangeArrowheads="1" noChangeShapeType="1" noTextEdit="1"/>
              </p:cNvSpPr>
              <p:nvPr/>
            </p:nvSpPr>
            <p:spPr>
              <a:xfrm>
                <a:off x="4178300" y="3190240"/>
                <a:ext cx="4572000" cy="323850"/>
              </a:xfrm>
              <a:prstGeom prst="rect">
                <a:avLst/>
              </a:prstGeom>
              <a:blipFill>
                <a:blip r:embed="rId6"/>
                <a:stretch>
                  <a:fillRect l="-2800" t="-7547" r="-933" b="-32075"/>
                </a:stretch>
              </a:blipFill>
              <a:ln>
                <a:noFill/>
              </a:ln>
            </p:spPr>
            <p:txBody>
              <a:bodyPr/>
              <a:lstStyle/>
              <a:p>
                <a:r>
                  <a:rPr lang="en-NL">
                    <a:noFill/>
                  </a:rPr>
                  <a:t> </a:t>
                </a:r>
              </a:p>
            </p:txBody>
          </p:sp>
        </mc:Fallback>
      </mc:AlternateContent>
      <p:sp>
        <p:nvSpPr>
          <p:cNvPr id="117" name="Dynamic Theta bullet"/>
          <p:cNvSpPr/>
          <p:nvPr/>
        </p:nvSpPr>
        <p:spPr>
          <a:xfrm>
            <a:off x="3937000" y="3730625"/>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xmlns:a14="http://schemas.microsoft.com/office/drawing/2010/main">
        <mc:Choice Requires="a14">
          <p:sp>
            <p:nvSpPr>
              <p:cNvPr id="118" name="Dynamic Theta"/>
              <p:cNvSpPr/>
              <p:nvPr/>
            </p:nvSpPr>
            <p:spPr>
              <a:xfrm>
                <a:off x="4178300" y="3740150"/>
                <a:ext cx="4572000" cy="323850"/>
              </a:xfrm>
              <a:prstGeom prst="rect">
                <a:avLst/>
              </a:prstGeom>
              <a:noFill/>
              <a:ln>
                <a:noFill/>
              </a:ln>
            </p:spPr>
            <p:txBody>
              <a:bodyPr wrap="none" lIns="0" tIns="0" rIns="0" bIns="0" anchor="ctr">
                <a:noAutofit/>
              </a:bodyPr>
              <a:lstStyle/>
              <a:p>
                <a:pPr algn="l">
                  <a:buNone/>
                </a:pP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Θ</m:t>
                    </m:r>
                  </m:oMath>
                </a14:m>
                <a:r>
                  <a:rPr lang="en-GB" sz="1700" b="0" i="0" u="none" baseline="0" dirty="0">
                    <a:solidFill>
                      <a:srgbClr val="252529"/>
                    </a:solidFill>
                    <a:latin typeface="Aptos"/>
                    <a:ea typeface="Aptos"/>
                    <a:cs typeface="Aptos"/>
                  </a:rPr>
                  <a:t> can also be dynamic, with its own internal states</a:t>
                </a:r>
                <a:endParaRPr sz="1700" dirty="0"/>
              </a:p>
            </p:txBody>
          </p:sp>
        </mc:Choice>
        <mc:Fallback xmlns="">
          <p:sp>
            <p:nvSpPr>
              <p:cNvPr id="118" name="Dynamic Theta"/>
              <p:cNvSpPr>
                <a:spLocks noRot="1" noChangeAspect="1" noMove="1" noResize="1" noEditPoints="1" noAdjustHandles="1" noChangeArrowheads="1" noChangeShapeType="1" noTextEdit="1"/>
              </p:cNvSpPr>
              <p:nvPr/>
            </p:nvSpPr>
            <p:spPr>
              <a:xfrm>
                <a:off x="4178300" y="3740150"/>
                <a:ext cx="4572000" cy="323850"/>
              </a:xfrm>
              <a:prstGeom prst="rect">
                <a:avLst/>
              </a:prstGeom>
              <a:blipFill>
                <a:blip r:embed="rId7"/>
                <a:stretch>
                  <a:fillRect l="-1600" t="-9434" r="-4800" b="-30189"/>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12022653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 grpId="0"/>
      <p:bldP spid="112" grpId="0"/>
      <p:bldP spid="114" grpId="0"/>
      <p:bldP spid="115" grpId="0"/>
      <p:bldP spid="117" grpId="0"/>
      <p:bldP spid="118"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983292-7C9C-BBE8-7D16-D4D7FFA95FD8}"/>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C8583AE7-980A-B274-BF8A-98AE416A28A6}"/>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48A40356-44DC-E002-D6E7-A363BA5162EB}"/>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190276" y="2564134"/>
            <a:ext cx="1808057" cy="2579366"/>
          </a:xfrm>
          <a:prstGeom prst="rect">
            <a:avLst/>
          </a:prstGeom>
        </p:spPr>
      </p:pic>
      <p:sp>
        <p:nvSpPr>
          <p:cNvPr id="2" name="!!PIE pillar">
            <a:extLst>
              <a:ext uri="{FF2B5EF4-FFF2-40B4-BE49-F238E27FC236}">
                <a16:creationId xmlns:a16="http://schemas.microsoft.com/office/drawing/2014/main" id="{C9FDFCC6-581B-6F05-DBA2-958168BC74C1}"/>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PIE heading">
            <a:extLst>
              <a:ext uri="{FF2B5EF4-FFF2-40B4-BE49-F238E27FC236}">
                <a16:creationId xmlns:a16="http://schemas.microsoft.com/office/drawing/2014/main" id="{66699817-B641-8594-0757-87368D5A5ACD}"/>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9F6E168C-2A3F-3C81-24A0-9B3BABC2DEFE}"/>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7692B316-032F-5988-A21D-29098A68E96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7" name="PIE method">
                <a:extLst>
                  <a:ext uri="{FF2B5EF4-FFF2-40B4-BE49-F238E27FC236}">
                    <a16:creationId xmlns:a16="http://schemas.microsoft.com/office/drawing/2014/main" id="{9846B291-3F21-67B4-6E36-5118A2BF85F1}"/>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xmlns:m="http://schemas.openxmlformats.org/officeDocument/2006/math">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250C7B19-6A14-68C1-20F3-C8F3F669021A}"/>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72939C1D-4F40-45C6-1406-ECE2DB489480}"/>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226BAE28-B4F4-A106-6781-98C7D2574989}"/>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1" name="Uncertainty to plant">
              <a:extLst>
                <a:ext uri="{FF2B5EF4-FFF2-40B4-BE49-F238E27FC236}">
                  <a16:creationId xmlns:a16="http://schemas.microsoft.com/office/drawing/2014/main" id="{43314A6A-420C-69FF-89F6-490B15F41A01}"/>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8100C3A0-B145-F48B-F347-2D1EB29E995F}"/>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21A458C1-1247-BA8B-B29F-E6A776113A8A}"/>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ABEFFDC3-A3C9-3F09-D45A-E7BF57464A2B}"/>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EEAC7A4D-A0A7-A9E9-332F-49332FE41824}"/>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A5C5D313-B85E-B84F-5930-AFC728E27086}"/>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 name="Plant measured channel">
                  <a:extLst>
                    <a:ext uri="{FF2B5EF4-FFF2-40B4-BE49-F238E27FC236}">
                      <a16:creationId xmlns:a16="http://schemas.microsoft.com/office/drawing/2014/main" id="{EA8844E4-35D8-F67B-9D90-EC59E3CD1508}"/>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70DA3884-EB37-A827-3455-761F6BC765A1}"/>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F88D4A53-1944-4CFC-4024-8334D68690E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2007646B-D7D2-6903-6A36-5759227F04EE}"/>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24647194-C53A-8728-B07A-373EE7537C19}"/>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0533EA20-673B-A537-F68E-843367A311AA}"/>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grpSp>
        <p:nvGrpSpPr>
          <p:cNvPr id="10001" name="!!Delta focus">
            <a:extLst>
              <a:ext uri="{FF2B5EF4-FFF2-40B4-BE49-F238E27FC236}">
                <a16:creationId xmlns:a16="http://schemas.microsoft.com/office/drawing/2014/main" id="{611506F1-0942-2AE5-0C5F-D1CD64916629}"/>
              </a:ext>
            </a:extLst>
          </p:cNvPr>
          <p:cNvGrpSpPr/>
          <p:nvPr/>
        </p:nvGrpSpPr>
        <p:grpSpPr>
          <a:xfrm>
            <a:off x="1583089" y="1574800"/>
            <a:ext cx="524731" cy="524768"/>
            <a:chOff x="3274060" y="1819148"/>
            <a:chExt cx="563880" cy="563880"/>
          </a:xfrm>
        </p:grpSpPr>
        <p:sp>
          <p:nvSpPr>
            <p:cNvPr id="10002" name="Uncertainty">
              <a:extLst>
                <a:ext uri="{FF2B5EF4-FFF2-40B4-BE49-F238E27FC236}">
                  <a16:creationId xmlns:a16="http://schemas.microsoft.com/office/drawing/2014/main" id="{AE141B1F-1AE1-BCCC-C74E-A57B24DE0631}"/>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003" name="Uncertainty label">
                  <a:extLst>
                    <a:ext uri="{FF2B5EF4-FFF2-40B4-BE49-F238E27FC236}">
                      <a16:creationId xmlns:a16="http://schemas.microsoft.com/office/drawing/2014/main" id="{ED7F966F-DE78-F60E-1EDC-14693E31916A}"/>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100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pic>
        <p:nvPicPr>
          <p:cNvPr id="27" name="Picture 26">
            <a:extLst>
              <a:ext uri="{FF2B5EF4-FFF2-40B4-BE49-F238E27FC236}">
                <a16:creationId xmlns:a16="http://schemas.microsoft.com/office/drawing/2014/main" id="{691AC1AB-A104-93A6-F34F-3F313D93167F}"/>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89581" y="-15232"/>
            <a:ext cx="1809448" cy="2579366"/>
          </a:xfrm>
          <a:prstGeom prst="rect">
            <a:avLst/>
          </a:prstGeom>
        </p:spPr>
      </p:pic>
    </p:spTree>
    <p:extLst>
      <p:ext uri="{BB962C8B-B14F-4D97-AF65-F5344CB8AC3E}">
        <p14:creationId xmlns:p14="http://schemas.microsoft.com/office/powerpoint/2010/main" val="20436403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CD66DD-9777-B66E-31EE-9407E39C086C}"/>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8FBFC054-2ADC-5E5C-339A-E9D1B5D65A39}"/>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4ECC35B5-3AE2-CA4E-CA09-27259520D12C}"/>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1740145" y="2579366"/>
            <a:ext cx="1808057" cy="2579366"/>
          </a:xfrm>
          <a:prstGeom prst="rect">
            <a:avLst/>
          </a:prstGeom>
        </p:spPr>
      </p:pic>
      <p:sp>
        <p:nvSpPr>
          <p:cNvPr id="8" name="Footer Placeholder 4">
            <a:extLst>
              <a:ext uri="{FF2B5EF4-FFF2-40B4-BE49-F238E27FC236}">
                <a16:creationId xmlns:a16="http://schemas.microsoft.com/office/drawing/2014/main" id="{9029E7E1-ABAA-3362-E60A-DC1A3DB99018}"/>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pic>
        <p:nvPicPr>
          <p:cNvPr id="27" name="Picture 26">
            <a:extLst>
              <a:ext uri="{FF2B5EF4-FFF2-40B4-BE49-F238E27FC236}">
                <a16:creationId xmlns:a16="http://schemas.microsoft.com/office/drawing/2014/main" id="{534105F3-6516-466D-17B5-3A25729B59C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738814" y="0"/>
            <a:ext cx="1809448" cy="2579366"/>
          </a:xfrm>
          <a:prstGeom prst="rect">
            <a:avLst/>
          </a:prstGeom>
        </p:spPr>
      </p:pic>
      <p:sp>
        <p:nvSpPr>
          <p:cNvPr id="20" name="TextBox 19">
            <a:extLst>
              <a:ext uri="{FF2B5EF4-FFF2-40B4-BE49-F238E27FC236}">
                <a16:creationId xmlns:a16="http://schemas.microsoft.com/office/drawing/2014/main" id="{40E1DE1C-3803-5654-29AF-434FA754F6CB}"/>
              </a:ext>
            </a:extLst>
          </p:cNvPr>
          <p:cNvSpPr txBox="1"/>
          <p:nvPr/>
        </p:nvSpPr>
        <p:spPr>
          <a:xfrm>
            <a:off x="3704434" y="111899"/>
            <a:ext cx="5439566" cy="300082"/>
          </a:xfrm>
          <a:prstGeom prst="rect">
            <a:avLst/>
          </a:prstGeom>
          <a:noFill/>
        </p:spPr>
        <p:txBody>
          <a:bodyPr wrap="none" rtlCol="0">
            <a:spAutoFit/>
          </a:bodyPr>
          <a:lstStyle/>
          <a:p>
            <a:r>
              <a:rPr lang="en-US" b="1" dirty="0"/>
              <a:t>How do we combine the controller and uncertainty representation?</a:t>
            </a:r>
            <a:endParaRPr lang="en-NL" b="1" dirty="0"/>
          </a:p>
        </p:txBody>
      </p:sp>
      <p:grpSp>
        <p:nvGrpSpPr>
          <p:cNvPr id="51" name="Group 50">
            <a:extLst>
              <a:ext uri="{FF2B5EF4-FFF2-40B4-BE49-F238E27FC236}">
                <a16:creationId xmlns:a16="http://schemas.microsoft.com/office/drawing/2014/main" id="{DD874342-70A1-0148-18AE-D70BEB90561F}"/>
              </a:ext>
            </a:extLst>
          </p:cNvPr>
          <p:cNvGrpSpPr/>
          <p:nvPr/>
        </p:nvGrpSpPr>
        <p:grpSpPr>
          <a:xfrm>
            <a:off x="4001882" y="1168904"/>
            <a:ext cx="4844669" cy="2950972"/>
            <a:chOff x="1995932" y="1274064"/>
            <a:chExt cx="4844669" cy="2950972"/>
          </a:xfrm>
        </p:grpSpPr>
        <p:grpSp>
          <p:nvGrpSpPr>
            <p:cNvPr id="21" name="Editable paper diagram">
              <a:extLst>
                <a:ext uri="{FF2B5EF4-FFF2-40B4-BE49-F238E27FC236}">
                  <a16:creationId xmlns:a16="http://schemas.microsoft.com/office/drawing/2014/main" id="{E0B58715-2347-DF41-6E45-F7C31F2878D4}"/>
                </a:ext>
              </a:extLst>
            </p:cNvPr>
            <p:cNvGrpSpPr/>
            <p:nvPr/>
          </p:nvGrpSpPr>
          <p:grpSpPr>
            <a:xfrm>
              <a:off x="1995932" y="1274064"/>
              <a:ext cx="4844669" cy="2950972"/>
              <a:chOff x="1995932" y="1274064"/>
              <a:chExt cx="4844669" cy="2950972"/>
            </a:xfrm>
          </p:grpSpPr>
          <p:sp>
            <p:nvSpPr>
              <p:cNvPr id="23" name="Plant to uncertainty">
                <a:extLst>
                  <a:ext uri="{FF2B5EF4-FFF2-40B4-BE49-F238E27FC236}">
                    <a16:creationId xmlns:a16="http://schemas.microsoft.com/office/drawing/2014/main" id="{E070B619-C840-121F-C0E9-7B552AE1CA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4" name="Uncertainty to plant">
                <a:extLst>
                  <a:ext uri="{FF2B5EF4-FFF2-40B4-BE49-F238E27FC236}">
                    <a16:creationId xmlns:a16="http://schemas.microsoft.com/office/drawing/2014/main" id="{AE6437F5-10BC-7548-F272-C88EFD36928B}"/>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5" name="z filter input">
                <a:extLst>
                  <a:ext uri="{FF2B5EF4-FFF2-40B4-BE49-F238E27FC236}">
                    <a16:creationId xmlns:a16="http://schemas.microsoft.com/office/drawing/2014/main" id="{3253F797-DEA6-F337-0911-F46FBC09730F}"/>
                  </a:ext>
                </a:extLst>
              </p:cNvPr>
              <p:cNvSpPr/>
              <p:nvPr/>
            </p:nvSpPr>
            <p:spPr>
              <a:xfrm>
                <a:off x="2772664" y="1543304"/>
                <a:ext cx="2111756"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a:p>
            </p:txBody>
          </p:sp>
          <p:sp>
            <p:nvSpPr>
              <p:cNvPr id="26" name="w filter input">
                <a:extLst>
                  <a:ext uri="{FF2B5EF4-FFF2-40B4-BE49-F238E27FC236}">
                    <a16:creationId xmlns:a16="http://schemas.microsoft.com/office/drawing/2014/main" id="{7A191E2E-6AAD-6191-A51A-16D35C6B41DB}"/>
                  </a:ext>
                </a:extLst>
              </p:cNvPr>
              <p:cNvSpPr/>
              <p:nvPr/>
            </p:nvSpPr>
            <p:spPr>
              <a:xfrm>
                <a:off x="4313936" y="1919224"/>
                <a:ext cx="570484" cy="194564"/>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28" name="z filtered output">
                <a:extLst>
                  <a:ext uri="{FF2B5EF4-FFF2-40B4-BE49-F238E27FC236}">
                    <a16:creationId xmlns:a16="http://schemas.microsoft.com/office/drawing/2014/main" id="{796A0B54-3C80-2BFD-6488-A253F71D266A}"/>
                  </a:ext>
                </a:extLst>
              </p:cNvPr>
              <p:cNvSpPr/>
              <p:nvPr/>
            </p:nvSpPr>
            <p:spPr>
              <a:xfrm>
                <a:off x="5798820" y="154330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9" name="Filtered z">
                    <a:extLst>
                      <a:ext uri="{FF2B5EF4-FFF2-40B4-BE49-F238E27FC236}">
                        <a16:creationId xmlns:a16="http://schemas.microsoft.com/office/drawing/2014/main" id="{EF2053B9-6602-1742-73D9-05E836A0977D}"/>
                      </a:ext>
                    </a:extLst>
                  </p:cNvPr>
                  <p:cNvSpPr/>
                  <p:nvPr/>
                </p:nvSpPr>
                <p:spPr>
                  <a:xfrm>
                    <a:off x="6417691" y="136569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p:sp>
                <p:nvSpPr>
                  <p:cNvPr id="106" name="Filtered z"/>
                  <p:cNvSpPr>
                    <a:spLocks noRot="1" noChangeAspect="1" noMove="1" noResize="1" noEditPoints="1" noAdjustHandles="1" noChangeArrowheads="1" noChangeShapeType="1" noTextEdit="1"/>
                  </p:cNvSpPr>
                  <p:nvPr/>
                </p:nvSpPr>
                <p:spPr>
                  <a:xfrm>
                    <a:off x="6417691" y="1365694"/>
                    <a:ext cx="422910" cy="380619"/>
                  </a:xfrm>
                  <a:prstGeom prst="rect">
                    <a:avLst/>
                  </a:prstGeom>
                  <a:blipFill>
                    <a:blip r:embed="rId5"/>
                    <a:stretch>
                      <a:fillRect r="-52174"/>
                    </a:stretch>
                  </a:blipFill>
                  <a:ln>
                    <a:noFill/>
                  </a:ln>
                </p:spPr>
                <p:txBody>
                  <a:bodyPr/>
                  <a:lstStyle/>
                  <a:p>
                    <a:r>
                      <a:rPr lang="en-NL">
                        <a:noFill/>
                      </a:rPr>
                      <a:t> </a:t>
                    </a:r>
                  </a:p>
                </p:txBody>
              </p:sp>
            </mc:Fallback>
          </mc:AlternateContent>
          <p:sp>
            <p:nvSpPr>
              <p:cNvPr id="31" name="w filtered output">
                <a:extLst>
                  <a:ext uri="{FF2B5EF4-FFF2-40B4-BE49-F238E27FC236}">
                    <a16:creationId xmlns:a16="http://schemas.microsoft.com/office/drawing/2014/main" id="{CA7BE8B2-A5F4-9984-36FB-516A1B6C9B0B}"/>
                  </a:ext>
                </a:extLst>
              </p:cNvPr>
              <p:cNvSpPr/>
              <p:nvPr/>
            </p:nvSpPr>
            <p:spPr>
              <a:xfrm>
                <a:off x="5798820" y="191922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2" name="Filtered w">
                    <a:extLst>
                      <a:ext uri="{FF2B5EF4-FFF2-40B4-BE49-F238E27FC236}">
                        <a16:creationId xmlns:a16="http://schemas.microsoft.com/office/drawing/2014/main" id="{A265A9EC-93CB-6D10-AF6F-349BBF03DEA2}"/>
                      </a:ext>
                    </a:extLst>
                  </p:cNvPr>
                  <p:cNvSpPr/>
                  <p:nvPr/>
                </p:nvSpPr>
                <p:spPr>
                  <a:xfrm>
                    <a:off x="6417691" y="174161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p:sp>
                <p:nvSpPr>
                  <p:cNvPr id="108" name="Filtered w"/>
                  <p:cNvSpPr>
                    <a:spLocks noRot="1" noChangeAspect="1" noMove="1" noResize="1" noEditPoints="1" noAdjustHandles="1" noChangeArrowheads="1" noChangeShapeType="1" noTextEdit="1"/>
                  </p:cNvSpPr>
                  <p:nvPr/>
                </p:nvSpPr>
                <p:spPr>
                  <a:xfrm>
                    <a:off x="6417691" y="1741614"/>
                    <a:ext cx="422910" cy="380619"/>
                  </a:xfrm>
                  <a:prstGeom prst="rect">
                    <a:avLst/>
                  </a:prstGeom>
                  <a:blipFill>
                    <a:blip r:embed="rId6"/>
                    <a:stretch>
                      <a:fillRect t="-4839" r="-47826"/>
                    </a:stretch>
                  </a:blipFill>
                  <a:ln>
                    <a:noFill/>
                  </a:ln>
                </p:spPr>
                <p:txBody>
                  <a:bodyPr/>
                  <a:lstStyle/>
                  <a:p>
                    <a:r>
                      <a:rPr lang="en-NL">
                        <a:noFill/>
                      </a:rPr>
                      <a:t> </a:t>
                    </a:r>
                  </a:p>
                </p:txBody>
              </p:sp>
            </mc:Fallback>
          </mc:AlternateContent>
          <p:sp>
            <p:nvSpPr>
              <p:cNvPr id="33" name="Controller plant channel">
                <a:extLst>
                  <a:ext uri="{FF2B5EF4-FFF2-40B4-BE49-F238E27FC236}">
                    <a16:creationId xmlns:a16="http://schemas.microsoft.com/office/drawing/2014/main" id="{0371A7F8-BE08-B763-0EBF-18F2B4A3A5F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5" name="Plant controller channel">
                <a:extLst>
                  <a:ext uri="{FF2B5EF4-FFF2-40B4-BE49-F238E27FC236}">
                    <a16:creationId xmlns:a16="http://schemas.microsoft.com/office/drawing/2014/main" id="{A3B30156-06F2-0962-C50E-5CC4267D36C4}"/>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6" name="Filter controller channel">
                <a:extLst>
                  <a:ext uri="{FF2B5EF4-FFF2-40B4-BE49-F238E27FC236}">
                    <a16:creationId xmlns:a16="http://schemas.microsoft.com/office/drawing/2014/main" id="{D4241819-D673-6496-FA12-1F4559C2733F}"/>
                  </a:ext>
                </a:extLst>
              </p:cNvPr>
              <p:cNvSpPr/>
              <p:nvPr/>
            </p:nvSpPr>
            <p:spPr>
              <a:xfrm>
                <a:off x="3881628" y="2201164"/>
                <a:ext cx="1472692" cy="1820418"/>
              </a:xfrm>
              <a:custGeom>
                <a:avLst/>
                <a:gdLst/>
                <a:ahLst/>
                <a:cxnLst/>
                <a:rect l="0" t="0" r="r" b="b"/>
                <a:pathLst>
                  <a:path w="1472692" h="1820418" fill="none">
                    <a:moveTo>
                      <a:pt x="1459992" y="12700"/>
                    </a:moveTo>
                    <a:lnTo>
                      <a:pt x="1459992" y="1807718"/>
                    </a:lnTo>
                    <a:lnTo>
                      <a:pt x="12700" y="1807718"/>
                    </a:lnTo>
                  </a:path>
                </a:pathLst>
              </a:custGeom>
              <a:noFill/>
              <a:ln w="12531">
                <a:solidFill>
                  <a:srgbClr val="252529"/>
                </a:solidFill>
                <a:round/>
                <a:tailEnd type="triangle" w="sm" len="sm"/>
              </a:ln>
            </p:spPr>
            <p:txBody>
              <a:bodyPr/>
              <a:lstStyle/>
              <a:p>
                <a:endParaRPr lang="en-NL"/>
              </a:p>
            </p:txBody>
          </p:sp>
          <p:sp>
            <p:nvSpPr>
              <p:cNvPr id="37" name="Controller">
                <a:extLst>
                  <a:ext uri="{FF2B5EF4-FFF2-40B4-BE49-F238E27FC236}">
                    <a16:creationId xmlns:a16="http://schemas.microsoft.com/office/drawing/2014/main" id="{1A709AC1-7280-5EF5-7C06-5BB15728E601}"/>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9" name="Controller label">
                    <a:extLst>
                      <a:ext uri="{FF2B5EF4-FFF2-40B4-BE49-F238E27FC236}">
                        <a16:creationId xmlns:a16="http://schemas.microsoft.com/office/drawing/2014/main" id="{0940FA43-6AF8-5989-7F4F-02DA950E81C3}"/>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p:sp>
                <p:nvSpPr>
                  <p:cNvPr id="113"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 name="Controller external channel">
                    <a:extLst>
                      <a:ext uri="{FF2B5EF4-FFF2-40B4-BE49-F238E27FC236}">
                        <a16:creationId xmlns:a16="http://schemas.microsoft.com/office/drawing/2014/main" id="{71000EC0-D3C8-883F-7ED6-06E253CC7622}"/>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p:sp>
                <p:nvSpPr>
                  <p:cNvPr id="114"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1" name="Plant measured channel">
                    <a:extLst>
                      <a:ext uri="{FF2B5EF4-FFF2-40B4-BE49-F238E27FC236}">
                        <a16:creationId xmlns:a16="http://schemas.microsoft.com/office/drawing/2014/main" id="{AAB5D9A6-07F8-0C91-3B1C-FC9D46F8586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r>
                                <m:rPr>
                                  <m:sty m:val="p"/>
                                </m:rPr>
                                <a:rPr sz="1998">
                                  <a:solidFill>
                                    <a:srgbClr val="252529"/>
                                  </a:solidFill>
                                  <a:latin typeface="Cambria Math"/>
                                </a:rPr>
                                <m:t>G</m:t>
                              </m:r>
                            </m:sub>
                          </m:sSub>
                        </m:oMath>
                      </m:oMathPara>
                    </a14:m>
                    <a:endParaRPr sz="1998"/>
                  </a:p>
                </p:txBody>
              </p:sp>
            </mc:Choice>
            <mc:Fallback xmlns="">
              <p:sp>
                <p:nvSpPr>
                  <p:cNvPr id="115" name="Plant measured channel"/>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2" name="Filter measured channel">
                    <a:extLst>
                      <a:ext uri="{FF2B5EF4-FFF2-40B4-BE49-F238E27FC236}">
                        <a16:creationId xmlns:a16="http://schemas.microsoft.com/office/drawing/2014/main" id="{94E6682C-D297-0AFB-BF49-66D4D9A56385}"/>
                      </a:ext>
                    </a:extLst>
                  </p:cNvPr>
                  <p:cNvSpPr/>
                  <p:nvPr/>
                </p:nvSpPr>
                <p:spPr>
                  <a:xfrm>
                    <a:off x="6005576" y="302857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en-US" sz="1998" i="1" smtClean="0">
                                  <a:solidFill>
                                    <a:srgbClr val="252529"/>
                                  </a:solidFill>
                                  <a:latin typeface="Cambria Math" panose="02040503050406030204" pitchFamily="18" charset="0"/>
                                </a:rPr>
                              </m:ctrlPr>
                            </m:sSubPr>
                            <m:e>
                              <m:r>
                                <a:rPr lang="en-US" sz="1998" i="1" smtClean="0">
                                  <a:solidFill>
                                    <a:srgbClr val="252529"/>
                                  </a:solidFill>
                                  <a:latin typeface="Cambria Math" panose="02040503050406030204" pitchFamily="18" charset="0"/>
                                </a:rPr>
                                <m:t>𝑦</m:t>
                              </m:r>
                            </m:e>
                            <m:sub>
                              <m:r>
                                <a:rPr lang="en-US" sz="1998" i="1" smtClean="0">
                                  <a:solidFill>
                                    <a:srgbClr val="252529"/>
                                  </a:solidFill>
                                  <a:latin typeface="Cambria Math" panose="02040503050406030204" pitchFamily="18" charset="0"/>
                                </a:rPr>
                                <m:t>𝛹</m:t>
                              </m:r>
                            </m:sub>
                          </m:sSub>
                          <m:d>
                            <m:dPr>
                              <m:ctrlPr>
                                <a:rPr lang="en-US" sz="1998" i="1" smtClean="0">
                                  <a:solidFill>
                                    <a:srgbClr val="252529"/>
                                  </a:solidFill>
                                  <a:latin typeface="Cambria Math" panose="02040503050406030204" pitchFamily="18" charset="0"/>
                                </a:rPr>
                              </m:ctrlPr>
                            </m:dPr>
                            <m:e>
                              <m:r>
                                <m:rPr>
                                  <m:sty m:val="p"/>
                                </m:rPr>
                                <a:rPr lang="en-US" sz="1998" i="1" smtClean="0">
                                  <a:solidFill>
                                    <a:srgbClr val="252529"/>
                                  </a:solidFill>
                                  <a:latin typeface="Cambria Math" panose="02040503050406030204" pitchFamily="18" charset="0"/>
                                </a:rPr>
                                <m:t>t</m:t>
                              </m:r>
                            </m:e>
                          </m:d>
                          <m:r>
                            <a:rPr lang="en-US" sz="1998" i="1" smtClean="0">
                              <a:solidFill>
                                <a:srgbClr val="252529"/>
                              </a:solidFill>
                              <a:latin typeface="Cambria Math" panose="02040503050406030204" pitchFamily="18" charset="0"/>
                            </a:rPr>
                            <m:t>=</m:t>
                          </m:r>
                          <m:sSub>
                            <m:sSubPr>
                              <m:ctrlPr>
                                <a:rPr lang="en-US" sz="1998" i="1" smtClean="0">
                                  <a:solidFill>
                                    <a:srgbClr val="252529"/>
                                  </a:solidFill>
                                  <a:latin typeface="Cambria Math" panose="02040503050406030204" pitchFamily="18" charset="0"/>
                                </a:rPr>
                              </m:ctrlPr>
                            </m:sSubPr>
                            <m:e>
                              <m:r>
                                <a:rPr lang="en-US" sz="1998" i="1" smtClean="0">
                                  <a:solidFill>
                                    <a:srgbClr val="252529"/>
                                  </a:solidFill>
                                  <a:latin typeface="Cambria Math" panose="02040503050406030204" pitchFamily="18" charset="0"/>
                                </a:rPr>
                                <m:t>𝑥</m:t>
                              </m:r>
                            </m:e>
                            <m:sub>
                              <m:r>
                                <m:rPr>
                                  <m:sty m:val="p"/>
                                </m:rPr>
                                <a:rPr lang="en-US" sz="1998" i="1" smtClean="0">
                                  <a:solidFill>
                                    <a:srgbClr val="252529"/>
                                  </a:solidFill>
                                  <a:latin typeface="Cambria Math" panose="02040503050406030204" pitchFamily="18" charset="0"/>
                                </a:rPr>
                                <m:t>Ψ</m:t>
                              </m:r>
                            </m:sub>
                          </m:sSub>
                          <m:d>
                            <m:dPr>
                              <m:ctrlPr>
                                <a:rPr lang="en-US" sz="1998" i="1" smtClean="0">
                                  <a:solidFill>
                                    <a:srgbClr val="252529"/>
                                  </a:solidFill>
                                  <a:latin typeface="Cambria Math" panose="02040503050406030204" pitchFamily="18" charset="0"/>
                                </a:rPr>
                              </m:ctrlPr>
                            </m:dPr>
                            <m:e>
                              <m:r>
                                <a:rPr lang="en-US" sz="1998" i="1" smtClean="0">
                                  <a:solidFill>
                                    <a:srgbClr val="252529"/>
                                  </a:solidFill>
                                  <a:latin typeface="Cambria Math" panose="02040503050406030204" pitchFamily="18" charset="0"/>
                                </a:rPr>
                                <m:t>𝑡</m:t>
                              </m:r>
                            </m:e>
                          </m:d>
                        </m:oMath>
                      </m:oMathPara>
                    </a14:m>
                    <a:endParaRPr sz="1998" dirty="0"/>
                  </a:p>
                </p:txBody>
              </p:sp>
            </mc:Choice>
            <mc:Fallback xmlns="">
              <p:sp>
                <p:nvSpPr>
                  <p:cNvPr id="42" name="Filter measured channel">
                    <a:extLst>
                      <a:ext uri="{FF2B5EF4-FFF2-40B4-BE49-F238E27FC236}">
                        <a16:creationId xmlns:a16="http://schemas.microsoft.com/office/drawing/2014/main" id="{94E6682C-D297-0AFB-BF49-66D4D9A56385}"/>
                      </a:ext>
                    </a:extLst>
                  </p:cNvPr>
                  <p:cNvSpPr>
                    <a:spLocks noRot="1" noChangeAspect="1" noMove="1" noResize="1" noEditPoints="1" noAdjustHandles="1" noChangeArrowheads="1" noChangeShapeType="1" noTextEdit="1"/>
                  </p:cNvSpPr>
                  <p:nvPr/>
                </p:nvSpPr>
                <p:spPr>
                  <a:xfrm>
                    <a:off x="6005576" y="3028578"/>
                    <a:ext cx="563880" cy="380619"/>
                  </a:xfrm>
                  <a:prstGeom prst="rect">
                    <a:avLst/>
                  </a:prstGeom>
                  <a:blipFill>
                    <a:blip r:embed="rId10"/>
                    <a:stretch>
                      <a:fillRect l="-107527" r="-79570"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3" name="Uncertainty output channel">
                    <a:extLst>
                      <a:ext uri="{FF2B5EF4-FFF2-40B4-BE49-F238E27FC236}">
                        <a16:creationId xmlns:a16="http://schemas.microsoft.com/office/drawing/2014/main" id="{4F9CE56C-EF1B-68B7-BC60-58CC8C111C65}"/>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p:sp>
                <p:nvSpPr>
                  <p:cNvPr id="117"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4" name="Uncertainty input channel">
                    <a:extLst>
                      <a:ext uri="{FF2B5EF4-FFF2-40B4-BE49-F238E27FC236}">
                        <a16:creationId xmlns:a16="http://schemas.microsoft.com/office/drawing/2014/main" id="{8E6D0592-21CF-212C-18C9-0D0919070D12}"/>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p:sp>
                <p:nvSpPr>
                  <p:cNvPr id="118"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45" name="Uncertainty">
                <a:extLst>
                  <a:ext uri="{FF2B5EF4-FFF2-40B4-BE49-F238E27FC236}">
                    <a16:creationId xmlns:a16="http://schemas.microsoft.com/office/drawing/2014/main" id="{384EB0BA-0F81-03ED-96F2-882EEE57F6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46" name="Uncertainty label">
                    <a:extLst>
                      <a:ext uri="{FF2B5EF4-FFF2-40B4-BE49-F238E27FC236}">
                        <a16:creationId xmlns:a16="http://schemas.microsoft.com/office/drawing/2014/main" id="{B879E973-C3DA-89CA-3C87-52C5D0E88F0B}"/>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p:sp>
                <p:nvSpPr>
                  <p:cNvPr id="120"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13"/>
                    <a:stretch>
                      <a:fillRect/>
                    </a:stretch>
                  </a:blipFill>
                  <a:ln>
                    <a:noFill/>
                  </a:ln>
                </p:spPr>
                <p:txBody>
                  <a:bodyPr/>
                  <a:lstStyle/>
                  <a:p>
                    <a:r>
                      <a:rPr lang="en-NL">
                        <a:noFill/>
                      </a:rPr>
                      <a:t> </a:t>
                    </a:r>
                  </a:p>
                </p:txBody>
              </p:sp>
            </mc:Fallback>
          </mc:AlternateContent>
          <p:sp>
            <p:nvSpPr>
              <p:cNvPr id="47" name="Plant">
                <a:extLst>
                  <a:ext uri="{FF2B5EF4-FFF2-40B4-BE49-F238E27FC236}">
                    <a16:creationId xmlns:a16="http://schemas.microsoft.com/office/drawing/2014/main" id="{244987C8-7DC7-1A26-D97F-10721AFF46E9}"/>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48" name="Plant label">
                    <a:extLst>
                      <a:ext uri="{FF2B5EF4-FFF2-40B4-BE49-F238E27FC236}">
                        <a16:creationId xmlns:a16="http://schemas.microsoft.com/office/drawing/2014/main" id="{E002ADCE-6C1C-CA2E-87B5-0AB79AE54D5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0" smtClean="0">
                              <a:solidFill>
                                <a:srgbClr val="252529"/>
                              </a:solidFill>
                              <a:latin typeface="Cambria Math" panose="02040503050406030204" pitchFamily="18" charset="0"/>
                            </a:rPr>
                            <m:t>PIE</m:t>
                          </m:r>
                        </m:oMath>
                      </m:oMathPara>
                    </a14:m>
                    <a:endParaRPr sz="2590" dirty="0"/>
                  </a:p>
                </p:txBody>
              </p:sp>
            </mc:Choice>
            <mc:Fallback xmlns="">
              <p:sp>
                <p:nvSpPr>
                  <p:cNvPr id="48" name="Plant label">
                    <a:extLst>
                      <a:ext uri="{FF2B5EF4-FFF2-40B4-BE49-F238E27FC236}">
                        <a16:creationId xmlns:a16="http://schemas.microsoft.com/office/drawing/2014/main" id="{E002ADCE-6C1C-CA2E-87B5-0AB79AE54D56}"/>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4"/>
                    <a:stretch>
                      <a:fillRect/>
                    </a:stretch>
                  </a:blipFill>
                  <a:ln>
                    <a:noFill/>
                  </a:ln>
                </p:spPr>
                <p:txBody>
                  <a:bodyPr/>
                  <a:lstStyle/>
                  <a:p>
                    <a:r>
                      <a:rPr lang="en-NL">
                        <a:noFill/>
                      </a:rPr>
                      <a:t> </a:t>
                    </a:r>
                  </a:p>
                </p:txBody>
              </p:sp>
            </mc:Fallback>
          </mc:AlternateContent>
          <p:sp>
            <p:nvSpPr>
              <p:cNvPr id="49" name="Dynamic filter">
                <a:extLst>
                  <a:ext uri="{FF2B5EF4-FFF2-40B4-BE49-F238E27FC236}">
                    <a16:creationId xmlns:a16="http://schemas.microsoft.com/office/drawing/2014/main" id="{C596A1DE-86A7-96F1-040F-E650DE0661D3}"/>
                  </a:ext>
                </a:extLst>
              </p:cNvPr>
              <p:cNvSpPr/>
              <p:nvPr/>
            </p:nvSpPr>
            <p:spPr>
              <a:xfrm>
                <a:off x="4871720" y="1274064"/>
                <a:ext cx="939800" cy="939800"/>
              </a:xfrm>
              <a:prstGeom prst="roundRect">
                <a:avLst>
                  <a:gd name="adj" fmla="val 5000"/>
                </a:avLst>
              </a:prstGeom>
              <a:solidFill>
                <a:srgbClr val="FFFFFF"/>
              </a:solidFill>
              <a:ln w="10795">
                <a:solidFill>
                  <a:srgbClr val="252529"/>
                </a:solidFill>
              </a:ln>
            </p:spPr>
            <p:txBody>
              <a:bodyPr/>
              <a:lstStyle/>
              <a:p>
                <a:endParaRPr lang="en-NL" dirty="0"/>
              </a:p>
            </p:txBody>
          </p:sp>
        </p:grpSp>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ED853334-71C6-A9E5-CE78-8161005827D2}"/>
                    </a:ext>
                  </a:extLst>
                </p:cNvPr>
                <p:cNvSpPr txBox="1"/>
                <p:nvPr/>
              </p:nvSpPr>
              <p:spPr>
                <a:xfrm>
                  <a:off x="5206104" y="1528260"/>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p:sp>
              <p:nvSpPr>
                <p:cNvPr id="50" name="TextBox 49">
                  <a:extLst>
                    <a:ext uri="{FF2B5EF4-FFF2-40B4-BE49-F238E27FC236}">
                      <a16:creationId xmlns:a16="http://schemas.microsoft.com/office/drawing/2014/main" id="{ED853334-71C6-A9E5-CE78-8161005827D2}"/>
                    </a:ext>
                  </a:extLst>
                </p:cNvPr>
                <p:cNvSpPr txBox="1">
                  <a:spLocks noRot="1" noChangeAspect="1" noMove="1" noResize="1" noEditPoints="1" noAdjustHandles="1" noChangeArrowheads="1" noChangeShapeType="1" noTextEdit="1"/>
                </p:cNvSpPr>
                <p:nvPr/>
              </p:nvSpPr>
              <p:spPr>
                <a:xfrm>
                  <a:off x="5206104" y="1528260"/>
                  <a:ext cx="283732" cy="398571"/>
                </a:xfrm>
                <a:prstGeom prst="rect">
                  <a:avLst/>
                </a:prstGeom>
                <a:blipFill>
                  <a:blip r:embed="rId15"/>
                  <a:stretch>
                    <a:fillRect l="-25532" r="-27660" b="-4545"/>
                  </a:stretch>
                </a:blipFill>
              </p:spPr>
              <p:txBody>
                <a:bodyPr/>
                <a:lstStyle/>
                <a:p>
                  <a:r>
                    <a:rPr lang="en-NL">
                      <a:noFill/>
                    </a:rPr>
                    <a:t> </a:t>
                  </a:r>
                </a:p>
              </p:txBody>
            </p:sp>
          </mc:Fallback>
        </mc:AlternateContent>
      </p:grpSp>
      <p:sp>
        <p:nvSpPr>
          <p:cNvPr id="52" name="Rectangle 51">
            <a:extLst>
              <a:ext uri="{FF2B5EF4-FFF2-40B4-BE49-F238E27FC236}">
                <a16:creationId xmlns:a16="http://schemas.microsoft.com/office/drawing/2014/main" id="{B25B199D-AB38-D132-01FF-EAE6C3401CE4}"/>
              </a:ext>
            </a:extLst>
          </p:cNvPr>
          <p:cNvSpPr/>
          <p:nvPr/>
        </p:nvSpPr>
        <p:spPr>
          <a:xfrm>
            <a:off x="5037542" y="2369497"/>
            <a:ext cx="1050696" cy="1035821"/>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53" name="Rectangle 52">
            <a:extLst>
              <a:ext uri="{FF2B5EF4-FFF2-40B4-BE49-F238E27FC236}">
                <a16:creationId xmlns:a16="http://schemas.microsoft.com/office/drawing/2014/main" id="{E01F2840-62A1-B237-6EBA-DEAAC011B8BA}"/>
              </a:ext>
            </a:extLst>
          </p:cNvPr>
          <p:cNvSpPr/>
          <p:nvPr/>
        </p:nvSpPr>
        <p:spPr>
          <a:xfrm>
            <a:off x="5154534" y="3405317"/>
            <a:ext cx="800592" cy="784597"/>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55" name="Straight Connector 54">
            <a:extLst>
              <a:ext uri="{FF2B5EF4-FFF2-40B4-BE49-F238E27FC236}">
                <a16:creationId xmlns:a16="http://schemas.microsoft.com/office/drawing/2014/main" id="{5C94046B-3E23-7BC3-6483-4B9CB43110BC}"/>
              </a:ext>
            </a:extLst>
          </p:cNvPr>
          <p:cNvCxnSpPr>
            <a:stCxn id="52" idx="1"/>
            <a:endCxn id="38" idx="3"/>
          </p:cNvCxnSpPr>
          <p:nvPr/>
        </p:nvCxnSpPr>
        <p:spPr>
          <a:xfrm flipH="1">
            <a:off x="3548898" y="2887408"/>
            <a:ext cx="1488644" cy="981641"/>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835C5FF9-6836-6AB7-DC15-450886E834E4}"/>
              </a:ext>
            </a:extLst>
          </p:cNvPr>
          <p:cNvCxnSpPr>
            <a:stCxn id="53" idx="1"/>
            <a:endCxn id="38" idx="3"/>
          </p:cNvCxnSpPr>
          <p:nvPr/>
        </p:nvCxnSpPr>
        <p:spPr>
          <a:xfrm flipH="1">
            <a:off x="3548898" y="3797616"/>
            <a:ext cx="1605636" cy="71433"/>
          </a:xfrm>
          <a:prstGeom prst="line">
            <a:avLst/>
          </a:prstGeom>
          <a:ln w="381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37D8784B-F491-619E-C482-825E36DA0D3A}"/>
                  </a:ext>
                </a:extLst>
              </p:cNvPr>
              <p:cNvSpPr txBox="1"/>
              <p:nvPr/>
            </p:nvSpPr>
            <p:spPr>
              <a:xfrm>
                <a:off x="4424074" y="4404374"/>
                <a:ext cx="2275751" cy="300082"/>
              </a:xfrm>
              <a:prstGeom prst="rect">
                <a:avLst/>
              </a:prstGeom>
              <a:noFill/>
            </p:spPr>
            <p:txBody>
              <a:bodyPr wrap="none" rtlCol="0">
                <a:spAutoFit/>
              </a:bodyPr>
              <a:lstStyle/>
              <a:p>
                <a:r>
                  <a:rPr lang="en-US" dirty="0">
                    <a:solidFill>
                      <a:srgbClr val="C81919"/>
                    </a:solidFill>
                  </a:rPr>
                  <a:t>We can transpose </a:t>
                </a:r>
                <a14:m>
                  <m:oMath xmlns:m="http://schemas.openxmlformats.org/officeDocument/2006/math">
                    <m:r>
                      <m:rPr>
                        <m:sty m:val="p"/>
                      </m:rPr>
                      <a:rPr lang="en-US" b="0" i="1" smtClean="0">
                        <a:solidFill>
                          <a:srgbClr val="C81919"/>
                        </a:solidFill>
                        <a:latin typeface="Cambria Math" panose="02040503050406030204" pitchFamily="18" charset="0"/>
                      </a:rPr>
                      <m:t>PIE</m:t>
                    </m:r>
                  </m:oMath>
                </a14:m>
                <a:r>
                  <a:rPr lang="en-US" dirty="0">
                    <a:solidFill>
                      <a:srgbClr val="C81919"/>
                    </a:solidFill>
                  </a:rPr>
                  <a:t> and </a:t>
                </a:r>
                <a14:m>
                  <m:oMath xmlns:m="http://schemas.openxmlformats.org/officeDocument/2006/math">
                    <m:r>
                      <m:rPr>
                        <m:sty m:val="p"/>
                      </m:rPr>
                      <a:rPr lang="en-US" b="0" i="1" smtClean="0">
                        <a:solidFill>
                          <a:srgbClr val="C81919"/>
                        </a:solidFill>
                        <a:latin typeface="Cambria Math" panose="02040503050406030204" pitchFamily="18" charset="0"/>
                      </a:rPr>
                      <m:t>K</m:t>
                    </m:r>
                  </m:oMath>
                </a14:m>
                <a:endParaRPr lang="en-NL" dirty="0">
                  <a:solidFill>
                    <a:srgbClr val="C81919"/>
                  </a:solidFill>
                </a:endParaRPr>
              </a:p>
            </p:txBody>
          </p:sp>
        </mc:Choice>
        <mc:Fallback xmlns="">
          <p:sp>
            <p:nvSpPr>
              <p:cNvPr id="58" name="TextBox 57">
                <a:extLst>
                  <a:ext uri="{FF2B5EF4-FFF2-40B4-BE49-F238E27FC236}">
                    <a16:creationId xmlns:a16="http://schemas.microsoft.com/office/drawing/2014/main" id="{37D8784B-F491-619E-C482-825E36DA0D3A}"/>
                  </a:ext>
                </a:extLst>
              </p:cNvPr>
              <p:cNvSpPr txBox="1">
                <a:spLocks noRot="1" noChangeAspect="1" noMove="1" noResize="1" noEditPoints="1" noAdjustHandles="1" noChangeArrowheads="1" noChangeShapeType="1" noTextEdit="1"/>
              </p:cNvSpPr>
              <p:nvPr/>
            </p:nvSpPr>
            <p:spPr>
              <a:xfrm>
                <a:off x="4424074" y="4404374"/>
                <a:ext cx="2275751" cy="300082"/>
              </a:xfrm>
              <a:prstGeom prst="rect">
                <a:avLst/>
              </a:prstGeom>
              <a:blipFill>
                <a:blip r:embed="rId16"/>
                <a:stretch>
                  <a:fillRect l="-804" t="-4082" b="-20408"/>
                </a:stretch>
              </a:blipFill>
            </p:spPr>
            <p:txBody>
              <a:bodyPr/>
              <a:lstStyle/>
              <a:p>
                <a:r>
                  <a:rPr lang="en-NL">
                    <a:noFill/>
                  </a:rPr>
                  <a:t> </a:t>
                </a:r>
              </a:p>
            </p:txBody>
          </p:sp>
        </mc:Fallback>
      </mc:AlternateContent>
      <p:sp>
        <p:nvSpPr>
          <p:cNvPr id="59" name="Rectangle 58">
            <a:extLst>
              <a:ext uri="{FF2B5EF4-FFF2-40B4-BE49-F238E27FC236}">
                <a16:creationId xmlns:a16="http://schemas.microsoft.com/office/drawing/2014/main" id="{65D5C11C-74EB-1DF2-28D9-2AC12041BA92}"/>
              </a:ext>
            </a:extLst>
          </p:cNvPr>
          <p:cNvSpPr/>
          <p:nvPr/>
        </p:nvSpPr>
        <p:spPr>
          <a:xfrm>
            <a:off x="6831106" y="1121869"/>
            <a:ext cx="1012844" cy="1030715"/>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50A038AA-40EE-3354-D570-D2C573A99F19}"/>
                  </a:ext>
                </a:extLst>
              </p:cNvPr>
              <p:cNvSpPr txBox="1"/>
              <p:nvPr/>
            </p:nvSpPr>
            <p:spPr>
              <a:xfrm>
                <a:off x="6494946" y="745371"/>
                <a:ext cx="1761636" cy="300082"/>
              </a:xfrm>
              <a:prstGeom prst="rect">
                <a:avLst/>
              </a:prstGeom>
              <a:noFill/>
            </p:spPr>
            <p:txBody>
              <a:bodyPr wrap="none" rtlCol="0">
                <a:spAutoFit/>
              </a:bodyPr>
              <a:lstStyle/>
              <a:p>
                <a:r>
                  <a:rPr lang="en-US" dirty="0">
                    <a:solidFill>
                      <a:srgbClr val="C81919"/>
                    </a:solidFill>
                  </a:rPr>
                  <a:t>Can we transpose </a:t>
                </a:r>
                <a14:m>
                  <m:oMath xmlns:m="http://schemas.openxmlformats.org/officeDocument/2006/math">
                    <m:r>
                      <m:rPr>
                        <m:sty m:val="p"/>
                      </m:rPr>
                      <a:rPr lang="el-GR" i="1" smtClean="0">
                        <a:solidFill>
                          <a:srgbClr val="C81919"/>
                        </a:solidFill>
                        <a:latin typeface="Cambria Math" panose="02040503050406030204" pitchFamily="18" charset="0"/>
                        <a:ea typeface="Cambria Math" panose="02040503050406030204" pitchFamily="18" charset="0"/>
                      </a:rPr>
                      <m:t>Θ</m:t>
                    </m:r>
                  </m:oMath>
                </a14:m>
                <a:r>
                  <a:rPr lang="en-US" dirty="0">
                    <a:solidFill>
                      <a:srgbClr val="C81919"/>
                    </a:solidFill>
                  </a:rPr>
                  <a:t>?</a:t>
                </a:r>
                <a:endParaRPr lang="en-NL" dirty="0">
                  <a:solidFill>
                    <a:srgbClr val="C81919"/>
                  </a:solidFill>
                </a:endParaRPr>
              </a:p>
            </p:txBody>
          </p:sp>
        </mc:Choice>
        <mc:Fallback xmlns="">
          <p:sp>
            <p:nvSpPr>
              <p:cNvPr id="60" name="TextBox 59">
                <a:extLst>
                  <a:ext uri="{FF2B5EF4-FFF2-40B4-BE49-F238E27FC236}">
                    <a16:creationId xmlns:a16="http://schemas.microsoft.com/office/drawing/2014/main" id="{50A038AA-40EE-3354-D570-D2C573A99F19}"/>
                  </a:ext>
                </a:extLst>
              </p:cNvPr>
              <p:cNvSpPr txBox="1">
                <a:spLocks noRot="1" noChangeAspect="1" noMove="1" noResize="1" noEditPoints="1" noAdjustHandles="1" noChangeArrowheads="1" noChangeShapeType="1" noTextEdit="1"/>
              </p:cNvSpPr>
              <p:nvPr/>
            </p:nvSpPr>
            <p:spPr>
              <a:xfrm>
                <a:off x="6494946" y="745371"/>
                <a:ext cx="1761636" cy="300082"/>
              </a:xfrm>
              <a:prstGeom prst="rect">
                <a:avLst/>
              </a:prstGeom>
              <a:blipFill>
                <a:blip r:embed="rId17"/>
                <a:stretch>
                  <a:fillRect l="-692" t="-2041" b="-20408"/>
                </a:stretch>
              </a:blipFill>
            </p:spPr>
            <p:txBody>
              <a:bodyPr/>
              <a:lstStyle/>
              <a:p>
                <a:r>
                  <a:rPr lang="en-NL">
                    <a:noFill/>
                  </a:rPr>
                  <a:t> </a:t>
                </a:r>
              </a:p>
            </p:txBody>
          </p:sp>
        </mc:Fallback>
      </mc:AlternateContent>
      <p:sp>
        <p:nvSpPr>
          <p:cNvPr id="61" name="Rectangle 60">
            <a:extLst>
              <a:ext uri="{FF2B5EF4-FFF2-40B4-BE49-F238E27FC236}">
                <a16:creationId xmlns:a16="http://schemas.microsoft.com/office/drawing/2014/main" id="{60E2E4C1-3F6A-AE62-792C-1D3F71B05A4B}"/>
              </a:ext>
            </a:extLst>
          </p:cNvPr>
          <p:cNvSpPr/>
          <p:nvPr/>
        </p:nvSpPr>
        <p:spPr>
          <a:xfrm>
            <a:off x="7416658" y="2856961"/>
            <a:ext cx="1665870" cy="555812"/>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626AFA70-FA89-061B-694B-D6C86610FC59}"/>
                  </a:ext>
                </a:extLst>
              </p:cNvPr>
              <p:cNvSpPr txBox="1"/>
              <p:nvPr/>
            </p:nvSpPr>
            <p:spPr>
              <a:xfrm>
                <a:off x="7416658" y="3460323"/>
                <a:ext cx="1545680" cy="715581"/>
              </a:xfrm>
              <a:prstGeom prst="rect">
                <a:avLst/>
              </a:prstGeom>
              <a:noFill/>
            </p:spPr>
            <p:txBody>
              <a:bodyPr wrap="none" rtlCol="0">
                <a:spAutoFit/>
              </a:bodyPr>
              <a:lstStyle/>
              <a:p>
                <a:r>
                  <a:rPr lang="en-US" dirty="0">
                    <a:solidFill>
                      <a:srgbClr val="C81919"/>
                    </a:solidFill>
                  </a:rPr>
                  <a:t>If </a:t>
                </a:r>
                <a14:m>
                  <m:oMath xmlns:m="http://schemas.openxmlformats.org/officeDocument/2006/math">
                    <m:r>
                      <m:rPr>
                        <m:lit/>
                      </m:rPr>
                      <a:rPr lang="el-GR" i="1" smtClean="0">
                        <a:solidFill>
                          <a:srgbClr val="C81919"/>
                        </a:solidFill>
                        <a:latin typeface="Cambria Math" panose="02040503050406030204" pitchFamily="18" charset="0"/>
                        <a:ea typeface="Cambria Math" panose="02040503050406030204" pitchFamily="18" charset="0"/>
                      </a:rPr>
                      <m:t>𝛩</m:t>
                    </m:r>
                  </m:oMath>
                </a14:m>
                <a:r>
                  <a:rPr lang="en-US" dirty="0">
                    <a:solidFill>
                      <a:srgbClr val="C81919"/>
                    </a:solidFill>
                  </a:rPr>
                  <a:t> is dynamic,</a:t>
                </a:r>
              </a:p>
              <a:p>
                <a:r>
                  <a:rPr lang="en-US" dirty="0">
                    <a:solidFill>
                      <a:srgbClr val="C81919"/>
                    </a:solidFill>
                  </a:rPr>
                  <a:t>assume that </a:t>
                </a:r>
                <a14:m>
                  <m:oMath xmlns:m="http://schemas.openxmlformats.org/officeDocument/2006/math">
                    <m:r>
                      <m:rPr>
                        <m:sty m:val="p"/>
                      </m:rPr>
                      <a:rPr lang="en-US" b="0" i="1" smtClean="0">
                        <a:solidFill>
                          <a:srgbClr val="C81919"/>
                        </a:solidFill>
                        <a:latin typeface="Cambria Math" panose="02040503050406030204" pitchFamily="18" charset="0"/>
                      </a:rPr>
                      <m:t>z</m:t>
                    </m:r>
                  </m:oMath>
                </a14:m>
                <a:r>
                  <a:rPr lang="en-US" dirty="0">
                    <a:solidFill>
                      <a:srgbClr val="C81919"/>
                    </a:solidFill>
                  </a:rPr>
                  <a:t> and</a:t>
                </a:r>
              </a:p>
              <a:p>
                <a14:m>
                  <m:oMath xmlns:m="http://schemas.openxmlformats.org/officeDocument/2006/math">
                    <m:r>
                      <m:rPr>
                        <m:sty m:val="p"/>
                      </m:rPr>
                      <a:rPr lang="en-US" b="0" i="1" smtClean="0">
                        <a:solidFill>
                          <a:srgbClr val="C81919"/>
                        </a:solidFill>
                        <a:latin typeface="Cambria Math" panose="02040503050406030204" pitchFamily="18" charset="0"/>
                      </a:rPr>
                      <m:t>w</m:t>
                    </m:r>
                  </m:oMath>
                </a14:m>
                <a:r>
                  <a:rPr lang="en-US" dirty="0">
                    <a:solidFill>
                      <a:srgbClr val="C81919"/>
                    </a:solidFill>
                  </a:rPr>
                  <a:t> are known.</a:t>
                </a:r>
                <a:endParaRPr lang="en-NL" dirty="0">
                  <a:solidFill>
                    <a:srgbClr val="C81919"/>
                  </a:solidFill>
                </a:endParaRPr>
              </a:p>
            </p:txBody>
          </p:sp>
        </mc:Choice>
        <mc:Fallback xmlns="">
          <p:sp>
            <p:nvSpPr>
              <p:cNvPr id="62" name="TextBox 61">
                <a:extLst>
                  <a:ext uri="{FF2B5EF4-FFF2-40B4-BE49-F238E27FC236}">
                    <a16:creationId xmlns:a16="http://schemas.microsoft.com/office/drawing/2014/main" id="{626AFA70-FA89-061B-694B-D6C86610FC59}"/>
                  </a:ext>
                </a:extLst>
              </p:cNvPr>
              <p:cNvSpPr txBox="1">
                <a:spLocks noRot="1" noChangeAspect="1" noMove="1" noResize="1" noEditPoints="1" noAdjustHandles="1" noChangeArrowheads="1" noChangeShapeType="1" noTextEdit="1"/>
              </p:cNvSpPr>
              <p:nvPr/>
            </p:nvSpPr>
            <p:spPr>
              <a:xfrm>
                <a:off x="7416658" y="3460323"/>
                <a:ext cx="1545680" cy="715581"/>
              </a:xfrm>
              <a:prstGeom prst="rect">
                <a:avLst/>
              </a:prstGeom>
              <a:blipFill>
                <a:blip r:embed="rId18"/>
                <a:stretch>
                  <a:fillRect l="-1186" t="-1709" b="-8547"/>
                </a:stretch>
              </a:blipFill>
            </p:spPr>
            <p:txBody>
              <a:bodyPr/>
              <a:lstStyle/>
              <a:p>
                <a:r>
                  <a:rPr lang="en-NL">
                    <a:noFill/>
                  </a:rPr>
                  <a:t> </a:t>
                </a:r>
              </a:p>
            </p:txBody>
          </p:sp>
        </mc:Fallback>
      </mc:AlternateContent>
    </p:spTree>
    <p:extLst>
      <p:ext uri="{BB962C8B-B14F-4D97-AF65-F5344CB8AC3E}">
        <p14:creationId xmlns:p14="http://schemas.microsoft.com/office/powerpoint/2010/main" val="28967316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7" presetClass="emph" presetSubtype="2" fill="hold" nodeType="clickEffect">
                                  <p:stCondLst>
                                    <p:cond delay="0"/>
                                  </p:stCondLst>
                                  <p:childTnLst>
                                    <p:animClr clrSpc="rgb" dir="cw">
                                      <p:cBhvr>
                                        <p:cTn id="14" dur="100" fill="hold"/>
                                        <p:tgtEl>
                                          <p:spTgt spid="61"/>
                                        </p:tgtEl>
                                        <p:attrNameLst>
                                          <p:attrName>stroke.color</p:attrName>
                                        </p:attrNameLst>
                                      </p:cBhvr>
                                      <p:to>
                                        <a:schemeClr val="tx1"/>
                                      </p:to>
                                    </p:animClr>
                                    <p:set>
                                      <p:cBhvr>
                                        <p:cTn id="15" dur="100" fill="hold"/>
                                        <p:tgtEl>
                                          <p:spTgt spid="61"/>
                                        </p:tgtEl>
                                        <p:attrNameLst>
                                          <p:attrName>stroke.on</p:attrName>
                                        </p:attrNameLst>
                                      </p:cBhvr>
                                      <p:to>
                                        <p:strVal val="true"/>
                                      </p:to>
                                    </p:set>
                                  </p:childTnLst>
                                </p:cTn>
                              </p:par>
                              <p:par>
                                <p:cTn id="16" presetID="3" presetClass="emph" presetSubtype="2" fill="hold" grpId="2" nodeType="withEffect">
                                  <p:stCondLst>
                                    <p:cond delay="0"/>
                                  </p:stCondLst>
                                  <p:childTnLst>
                                    <p:animClr clrSpc="rgb" dir="cw">
                                      <p:cBhvr override="childStyle">
                                        <p:cTn id="17" dur="100" fill="hold"/>
                                        <p:tgtEl>
                                          <p:spTgt spid="62"/>
                                        </p:tgtEl>
                                        <p:attrNameLst>
                                          <p:attrName>style.color</p:attrName>
                                        </p:attrNameLst>
                                      </p:cBhvr>
                                      <p:to>
                                        <a:schemeClr val="tx1"/>
                                      </p:to>
                                    </p:animClr>
                                  </p:childTnLst>
                                </p:cTn>
                              </p:par>
                              <p:par>
                                <p:cTn id="18" presetID="1" presetClass="entr" presetSubtype="0" fill="hold" grpId="0" nodeType="withEffect">
                                  <p:stCondLst>
                                    <p:cond delay="0"/>
                                  </p:stCondLst>
                                  <p:childTnLst>
                                    <p:set>
                                      <p:cBhvr>
                                        <p:cTn id="19" dur="1" fill="hold">
                                          <p:stCondLst>
                                            <p:cond delay="0"/>
                                          </p:stCondLst>
                                        </p:cTn>
                                        <p:tgtEl>
                                          <p:spTgt spid="52"/>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55"/>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57"/>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53"/>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58"/>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59"/>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60"/>
                                        </p:tgtEl>
                                        <p:attrNameLst>
                                          <p:attrName>style.visibility</p:attrName>
                                        </p:attrNameLst>
                                      </p:cBhvr>
                                      <p:to>
                                        <p:strVal val="visible"/>
                                      </p:to>
                                    </p:set>
                                  </p:childTnLst>
                                </p:cTn>
                              </p:par>
                              <p:par>
                                <p:cTn id="34" presetID="7" presetClass="emph" presetSubtype="2" fill="hold" nodeType="withEffect">
                                  <p:stCondLst>
                                    <p:cond delay="0"/>
                                  </p:stCondLst>
                                  <p:childTnLst>
                                    <p:animClr clrSpc="rgb" dir="cw">
                                      <p:cBhvr>
                                        <p:cTn id="35" dur="100" fill="hold"/>
                                        <p:tgtEl>
                                          <p:spTgt spid="52"/>
                                        </p:tgtEl>
                                        <p:attrNameLst>
                                          <p:attrName>stroke.color</p:attrName>
                                        </p:attrNameLst>
                                      </p:cBhvr>
                                      <p:to>
                                        <a:schemeClr val="tx1"/>
                                      </p:to>
                                    </p:animClr>
                                    <p:set>
                                      <p:cBhvr>
                                        <p:cTn id="36" dur="100" fill="hold"/>
                                        <p:tgtEl>
                                          <p:spTgt spid="52"/>
                                        </p:tgtEl>
                                        <p:attrNameLst>
                                          <p:attrName>stroke.on</p:attrName>
                                        </p:attrNameLst>
                                      </p:cBhvr>
                                      <p:to>
                                        <p:strVal val="true"/>
                                      </p:to>
                                    </p:set>
                                  </p:childTnLst>
                                </p:cTn>
                              </p:par>
                              <p:par>
                                <p:cTn id="37" presetID="7" presetClass="emph" presetSubtype="2" fill="hold" nodeType="withEffect">
                                  <p:stCondLst>
                                    <p:cond delay="0"/>
                                  </p:stCondLst>
                                  <p:childTnLst>
                                    <p:animClr clrSpc="rgb" dir="cw">
                                      <p:cBhvr>
                                        <p:cTn id="38" dur="100" fill="hold"/>
                                        <p:tgtEl>
                                          <p:spTgt spid="55"/>
                                        </p:tgtEl>
                                        <p:attrNameLst>
                                          <p:attrName>stroke.color</p:attrName>
                                        </p:attrNameLst>
                                      </p:cBhvr>
                                      <p:to>
                                        <a:schemeClr val="tx1"/>
                                      </p:to>
                                    </p:animClr>
                                    <p:set>
                                      <p:cBhvr>
                                        <p:cTn id="39" dur="100" fill="hold"/>
                                        <p:tgtEl>
                                          <p:spTgt spid="55"/>
                                        </p:tgtEl>
                                        <p:attrNameLst>
                                          <p:attrName>stroke.on</p:attrName>
                                        </p:attrNameLst>
                                      </p:cBhvr>
                                      <p:to>
                                        <p:strVal val="true"/>
                                      </p:to>
                                    </p:set>
                                  </p:childTnLst>
                                </p:cTn>
                              </p:par>
                              <p:par>
                                <p:cTn id="40" presetID="7" presetClass="emph" presetSubtype="2" fill="hold" nodeType="withEffect">
                                  <p:stCondLst>
                                    <p:cond delay="0"/>
                                  </p:stCondLst>
                                  <p:childTnLst>
                                    <p:animClr clrSpc="rgb" dir="cw">
                                      <p:cBhvr>
                                        <p:cTn id="41" dur="100" fill="hold"/>
                                        <p:tgtEl>
                                          <p:spTgt spid="57"/>
                                        </p:tgtEl>
                                        <p:attrNameLst>
                                          <p:attrName>stroke.color</p:attrName>
                                        </p:attrNameLst>
                                      </p:cBhvr>
                                      <p:to>
                                        <a:schemeClr val="tx1"/>
                                      </p:to>
                                    </p:animClr>
                                    <p:set>
                                      <p:cBhvr>
                                        <p:cTn id="42" dur="100" fill="hold"/>
                                        <p:tgtEl>
                                          <p:spTgt spid="57"/>
                                        </p:tgtEl>
                                        <p:attrNameLst>
                                          <p:attrName>stroke.on</p:attrName>
                                        </p:attrNameLst>
                                      </p:cBhvr>
                                      <p:to>
                                        <p:strVal val="true"/>
                                      </p:to>
                                    </p:set>
                                  </p:childTnLst>
                                </p:cTn>
                              </p:par>
                              <p:par>
                                <p:cTn id="43" presetID="7" presetClass="emph" presetSubtype="2" fill="hold" nodeType="withEffect">
                                  <p:stCondLst>
                                    <p:cond delay="0"/>
                                  </p:stCondLst>
                                  <p:childTnLst>
                                    <p:animClr clrSpc="rgb" dir="cw">
                                      <p:cBhvr>
                                        <p:cTn id="44" dur="100" fill="hold"/>
                                        <p:tgtEl>
                                          <p:spTgt spid="53"/>
                                        </p:tgtEl>
                                        <p:attrNameLst>
                                          <p:attrName>stroke.color</p:attrName>
                                        </p:attrNameLst>
                                      </p:cBhvr>
                                      <p:to>
                                        <a:schemeClr val="tx1"/>
                                      </p:to>
                                    </p:animClr>
                                    <p:set>
                                      <p:cBhvr>
                                        <p:cTn id="45" dur="100" fill="hold"/>
                                        <p:tgtEl>
                                          <p:spTgt spid="53"/>
                                        </p:tgtEl>
                                        <p:attrNameLst>
                                          <p:attrName>stroke.on</p:attrName>
                                        </p:attrNameLst>
                                      </p:cBhvr>
                                      <p:to>
                                        <p:strVal val="true"/>
                                      </p:to>
                                    </p:set>
                                  </p:childTnLst>
                                </p:cTn>
                              </p:par>
                              <p:par>
                                <p:cTn id="46" presetID="3" presetClass="emph" presetSubtype="2" fill="hold" grpId="1" nodeType="withEffect">
                                  <p:stCondLst>
                                    <p:cond delay="0"/>
                                  </p:stCondLst>
                                  <p:childTnLst>
                                    <p:animClr clrSpc="rgb" dir="cw">
                                      <p:cBhvr override="childStyle">
                                        <p:cTn id="47" dur="100" fill="hold"/>
                                        <p:tgtEl>
                                          <p:spTgt spid="58"/>
                                        </p:tgtEl>
                                        <p:attrNameLst>
                                          <p:attrName>style.color</p:attrName>
                                        </p:attrNameLst>
                                      </p:cBhvr>
                                      <p:to>
                                        <a:schemeClr val="tx1"/>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animBg="1"/>
      <p:bldP spid="53" grpId="0" animBg="1"/>
      <p:bldP spid="58" grpId="0"/>
      <p:bldP spid="58" grpId="1"/>
      <p:bldP spid="59" grpId="0" animBg="1"/>
      <p:bldP spid="60" grpId="0"/>
      <p:bldP spid="61" grpId="0" animBg="1"/>
      <p:bldP spid="62" grpId="0"/>
      <p:bldP spid="62" grpId="2"/>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65E70-8BAB-63C7-EF03-A4FCD01A0981}"/>
            </a:ext>
          </a:extLst>
        </p:cNvPr>
        <p:cNvGrpSpPr/>
        <p:nvPr/>
      </p:nvGrpSpPr>
      <p:grpSpPr>
        <a:xfrm>
          <a:off x="0" y="0"/>
          <a:ext cx="0" cy="0"/>
          <a:chOff x="0" y="0"/>
          <a:chExt cx="0" cy="0"/>
        </a:xfrm>
      </p:grpSpPr>
      <p:sp>
        <p:nvSpPr>
          <p:cNvPr id="20" name="Controller">
            <a:extLst>
              <a:ext uri="{FF2B5EF4-FFF2-40B4-BE49-F238E27FC236}">
                <a16:creationId xmlns:a16="http://schemas.microsoft.com/office/drawing/2014/main" id="{78DBC8F3-D54E-F2A5-F4D4-7C717C039440}"/>
              </a:ext>
            </a:extLst>
          </p:cNvPr>
          <p:cNvSpPr/>
          <p:nvPr/>
        </p:nvSpPr>
        <p:spPr>
          <a:xfrm>
            <a:off x="5889282" y="891858"/>
            <a:ext cx="676656" cy="676656"/>
          </a:xfrm>
          <a:prstGeom prst="roundRect">
            <a:avLst>
              <a:gd name="adj" fmla="val 5000"/>
            </a:avLst>
          </a:prstGeom>
          <a:solidFill>
            <a:srgbClr val="FFFFFF"/>
          </a:solidFill>
          <a:ln w="10795">
            <a:solidFill>
              <a:schemeClr val="tx1"/>
            </a:solidFill>
            <a:prstDash val="solid"/>
          </a:ln>
        </p:spPr>
        <p:txBody>
          <a:bodyPr/>
          <a:lstStyle/>
          <a:p>
            <a:endParaRPr lang="en-NL"/>
          </a:p>
        </p:txBody>
      </p:sp>
      <p:sp>
        <p:nvSpPr>
          <p:cNvPr id="17" name="Controller">
            <a:extLst>
              <a:ext uri="{FF2B5EF4-FFF2-40B4-BE49-F238E27FC236}">
                <a16:creationId xmlns:a16="http://schemas.microsoft.com/office/drawing/2014/main" id="{554F8653-08F0-5301-C1AC-BC92E886C4A6}"/>
              </a:ext>
            </a:extLst>
          </p:cNvPr>
          <p:cNvSpPr/>
          <p:nvPr/>
        </p:nvSpPr>
        <p:spPr>
          <a:xfrm>
            <a:off x="1766233" y="888492"/>
            <a:ext cx="676656" cy="676656"/>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86ED550A-0374-0D6B-0140-D15329ABEA8B}"/>
                  </a:ext>
                </a:extLst>
              </p:cNvPr>
              <p:cNvSpPr>
                <a:spLocks noGrp="1"/>
              </p:cNvSpPr>
              <p:nvPr>
                <p:ph type="title"/>
              </p:nvPr>
            </p:nvSpPr>
            <p:spPr/>
            <p:txBody>
              <a:bodyPr/>
              <a:lstStyle/>
              <a:p>
                <a:r>
                  <a:rPr lang="en-US" dirty="0"/>
                  <a:t>Thought experiment: constrain </a:t>
                </a:r>
                <a14:m>
                  <m:oMath xmlns:m="http://schemas.openxmlformats.org/officeDocument/2006/math">
                    <m:r>
                      <m:rPr>
                        <m:sty m:val="p"/>
                      </m:rPr>
                      <a:rPr lang="en-US" b="1" i="1" smtClean="0">
                        <a:latin typeface="Cambria Math" panose="02040503050406030204" pitchFamily="18" charset="0"/>
                      </a:rPr>
                      <m:t>K</m:t>
                    </m:r>
                  </m:oMath>
                </a14:m>
                <a:r>
                  <a:rPr lang="en-US" dirty="0"/>
                  <a:t> by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endParaRPr lang="en-NL" dirty="0"/>
              </a:p>
            </p:txBody>
          </p:sp>
        </mc:Choice>
        <mc:Fallback xmlns:m="http://schemas.openxmlformats.org/officeDocument/2006/math" xmlns="">
          <p:sp>
            <p:nvSpPr>
              <p:cNvPr id="2" name="Title 1">
                <a:extLst>
                  <a:ext uri="{FF2B5EF4-FFF2-40B4-BE49-F238E27FC236}">
                    <a16:creationId xmlns:a16="http://schemas.microsoft.com/office/drawing/2014/main" id="{86ED550A-0374-0D6B-0140-D15329ABEA8B}"/>
                  </a:ext>
                </a:extLst>
              </p:cNvPr>
              <p:cNvSpPr>
                <a:spLocks noGrp="1" noRot="1" noChangeAspect="1" noMove="1" noResize="1" noEditPoints="1" noAdjustHandles="1" noChangeArrowheads="1" noChangeShapeType="1" noTextEdit="1"/>
              </p:cNvSpPr>
              <p:nvPr>
                <p:ph type="title"/>
              </p:nvPr>
            </p:nvSpPr>
            <p:spPr>
              <a:blipFill>
                <a:blip r:embed="rId3"/>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86F0201C-6A42-6555-3672-2E49D192AC6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C8AF7CDF-C631-449C-F7FB-D1BEC8AC2ED9}"/>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41</a:t>
            </a:fld>
            <a:endParaRPr lang="en-GB"/>
          </a:p>
        </p:txBody>
      </p:sp>
      <p:sp>
        <p:nvSpPr>
          <p:cNvPr id="56" name="Controller">
            <a:extLst>
              <a:ext uri="{FF2B5EF4-FFF2-40B4-BE49-F238E27FC236}">
                <a16:creationId xmlns:a16="http://schemas.microsoft.com/office/drawing/2014/main" id="{99686D86-246C-0882-FD3F-B24207115938}"/>
              </a:ext>
            </a:extLst>
          </p:cNvPr>
          <p:cNvSpPr/>
          <p:nvPr/>
        </p:nvSpPr>
        <p:spPr>
          <a:xfrm>
            <a:off x="1770552" y="889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7" name="Controller label">
                <a:extLst>
                  <a:ext uri="{FF2B5EF4-FFF2-40B4-BE49-F238E27FC236}">
                    <a16:creationId xmlns:a16="http://schemas.microsoft.com/office/drawing/2014/main" id="{3C181149-C897-40DA-8B8D-E085C428D3BF}"/>
                  </a:ext>
                </a:extLst>
              </p:cNvPr>
              <p:cNvSpPr/>
              <p:nvPr/>
            </p:nvSpPr>
            <p:spPr>
              <a:xfrm>
                <a:off x="1770552" y="980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m="http://schemas.openxmlformats.org/officeDocument/2006/math" xmlns="">
          <p:sp>
            <p:nvSpPr>
              <p:cNvPr id="57" name="Controller label">
                <a:extLst>
                  <a:ext uri="{FF2B5EF4-FFF2-40B4-BE49-F238E27FC236}">
                    <a16:creationId xmlns:a16="http://schemas.microsoft.com/office/drawing/2014/main" id="{3C181149-C897-40DA-8B8D-E085C428D3BF}"/>
                  </a:ext>
                </a:extLst>
              </p:cNvPr>
              <p:cNvSpPr>
                <a:spLocks noRot="1" noChangeAspect="1" noMove="1" noResize="1" noEditPoints="1" noAdjustHandles="1" noChangeArrowheads="1" noChangeShapeType="1" noTextEdit="1"/>
              </p:cNvSpPr>
              <p:nvPr/>
            </p:nvSpPr>
            <p:spPr>
              <a:xfrm>
                <a:off x="1770552" y="980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8" name="Controller external channel">
                <a:extLst>
                  <a:ext uri="{FF2B5EF4-FFF2-40B4-BE49-F238E27FC236}">
                    <a16:creationId xmlns:a16="http://schemas.microsoft.com/office/drawing/2014/main" id="{231A8B5C-B8B8-35BC-C458-9D3D60CC2DB3}"/>
                  </a:ext>
                </a:extLst>
              </p:cNvPr>
              <p:cNvSpPr/>
              <p:nvPr/>
            </p:nvSpPr>
            <p:spPr>
              <a:xfrm>
                <a:off x="457200" y="1037017"/>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dirty="0"/>
              </a:p>
            </p:txBody>
          </p:sp>
        </mc:Choice>
        <mc:Fallback xmlns:m="http://schemas.openxmlformats.org/officeDocument/2006/math" xmlns="">
          <p:sp>
            <p:nvSpPr>
              <p:cNvPr id="58" name="Controller external channel">
                <a:extLst>
                  <a:ext uri="{FF2B5EF4-FFF2-40B4-BE49-F238E27FC236}">
                    <a16:creationId xmlns:a16="http://schemas.microsoft.com/office/drawing/2014/main" id="{231A8B5C-B8B8-35BC-C458-9D3D60CC2DB3}"/>
                  </a:ext>
                </a:extLst>
              </p:cNvPr>
              <p:cNvSpPr>
                <a:spLocks noRot="1" noChangeAspect="1" noMove="1" noResize="1" noEditPoints="1" noAdjustHandles="1" noChangeArrowheads="1" noChangeShapeType="1" noTextEdit="1"/>
              </p:cNvSpPr>
              <p:nvPr/>
            </p:nvSpPr>
            <p:spPr>
              <a:xfrm>
                <a:off x="457200" y="1037017"/>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9" name="Plant measured channel">
                <a:extLst>
                  <a:ext uri="{FF2B5EF4-FFF2-40B4-BE49-F238E27FC236}">
                    <a16:creationId xmlns:a16="http://schemas.microsoft.com/office/drawing/2014/main" id="{CBA17F91-32C2-778C-AEA3-B7706867AA79}"/>
                  </a:ext>
                </a:extLst>
              </p:cNvPr>
              <p:cNvSpPr/>
              <p:nvPr/>
            </p:nvSpPr>
            <p:spPr>
              <a:xfrm>
                <a:off x="3346308" y="101923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998" b="0" i="1" smtClean="0">
                          <a:latin typeface="Cambria Math" panose="02040503050406030204" pitchFamily="18" charset="0"/>
                        </a:rPr>
                        <m:t>𝑦</m:t>
                      </m:r>
                    </m:oMath>
                  </m:oMathPara>
                </a14:m>
                <a:endParaRPr sz="1998" dirty="0"/>
              </a:p>
            </p:txBody>
          </p:sp>
        </mc:Choice>
        <mc:Fallback xmlns:m="http://schemas.openxmlformats.org/officeDocument/2006/math" xmlns="">
          <p:sp>
            <p:nvSpPr>
              <p:cNvPr id="59" name="Plant measured channel">
                <a:extLst>
                  <a:ext uri="{FF2B5EF4-FFF2-40B4-BE49-F238E27FC236}">
                    <a16:creationId xmlns:a16="http://schemas.microsoft.com/office/drawing/2014/main" id="{CBA17F91-32C2-778C-AEA3-B7706867AA79}"/>
                  </a:ext>
                </a:extLst>
              </p:cNvPr>
              <p:cNvSpPr>
                <a:spLocks noRot="1" noChangeAspect="1" noMove="1" noResize="1" noEditPoints="1" noAdjustHandles="1" noChangeArrowheads="1" noChangeShapeType="1" noTextEdit="1"/>
              </p:cNvSpPr>
              <p:nvPr/>
            </p:nvSpPr>
            <p:spPr>
              <a:xfrm>
                <a:off x="3346308" y="1019238"/>
                <a:ext cx="563880" cy="380619"/>
              </a:xfrm>
              <a:prstGeom prst="rect">
                <a:avLst/>
              </a:prstGeom>
              <a:blipFill>
                <a:blip r:embed="rId6"/>
                <a:stretch>
                  <a:fillRect b="-9524"/>
                </a:stretch>
              </a:blipFill>
              <a:ln>
                <a:noFill/>
              </a:ln>
            </p:spPr>
            <p:txBody>
              <a:bodyPr/>
              <a:lstStyle/>
              <a:p>
                <a:r>
                  <a:rPr lang="en-NL">
                    <a:noFill/>
                  </a:rPr>
                  <a:t> </a:t>
                </a:r>
              </a:p>
            </p:txBody>
          </p:sp>
        </mc:Fallback>
      </mc:AlternateContent>
      <p:sp>
        <p:nvSpPr>
          <p:cNvPr id="63" name="z filtered output">
            <a:extLst>
              <a:ext uri="{FF2B5EF4-FFF2-40B4-BE49-F238E27FC236}">
                <a16:creationId xmlns:a16="http://schemas.microsoft.com/office/drawing/2014/main" id="{5EC63039-3FC5-FD7D-FC90-CD440308431F}"/>
              </a:ext>
            </a:extLst>
          </p:cNvPr>
          <p:cNvSpPr/>
          <p:nvPr/>
        </p:nvSpPr>
        <p:spPr>
          <a:xfrm>
            <a:off x="3763682" y="185312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2" name="w filtered output">
            <a:extLst>
              <a:ext uri="{FF2B5EF4-FFF2-40B4-BE49-F238E27FC236}">
                <a16:creationId xmlns:a16="http://schemas.microsoft.com/office/drawing/2014/main" id="{FDD9D9CA-8DEC-6BA3-8E65-D04C0F591A13}"/>
              </a:ext>
            </a:extLst>
          </p:cNvPr>
          <p:cNvSpPr/>
          <p:nvPr/>
        </p:nvSpPr>
        <p:spPr>
          <a:xfrm>
            <a:off x="3763682" y="222904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3" name="Dynamic filter">
            <a:extLst>
              <a:ext uri="{FF2B5EF4-FFF2-40B4-BE49-F238E27FC236}">
                <a16:creationId xmlns:a16="http://schemas.microsoft.com/office/drawing/2014/main" id="{70806472-3EE2-24BA-F68E-271990AE0375}"/>
              </a:ext>
            </a:extLst>
          </p:cNvPr>
          <p:cNvSpPr/>
          <p:nvPr/>
        </p:nvSpPr>
        <p:spPr>
          <a:xfrm>
            <a:off x="2836582" y="1583880"/>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4" name="TextBox 193">
                <a:extLst>
                  <a:ext uri="{FF2B5EF4-FFF2-40B4-BE49-F238E27FC236}">
                    <a16:creationId xmlns:a16="http://schemas.microsoft.com/office/drawing/2014/main" id="{D2343986-0675-9C3F-0625-A2F8D2624C55}"/>
                  </a:ext>
                </a:extLst>
              </p:cNvPr>
              <p:cNvSpPr txBox="1"/>
              <p:nvPr/>
            </p:nvSpPr>
            <p:spPr>
              <a:xfrm>
                <a:off x="3170966" y="1838076"/>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m="http://schemas.openxmlformats.org/officeDocument/2006/math" xmlns="">
          <p:sp>
            <p:nvSpPr>
              <p:cNvPr id="194" name="TextBox 193">
                <a:extLst>
                  <a:ext uri="{FF2B5EF4-FFF2-40B4-BE49-F238E27FC236}">
                    <a16:creationId xmlns:a16="http://schemas.microsoft.com/office/drawing/2014/main" id="{D2343986-0675-9C3F-0625-A2F8D2624C55}"/>
                  </a:ext>
                </a:extLst>
              </p:cNvPr>
              <p:cNvSpPr txBox="1">
                <a:spLocks noRot="1" noChangeAspect="1" noMove="1" noResize="1" noEditPoints="1" noAdjustHandles="1" noChangeArrowheads="1" noChangeShapeType="1" noTextEdit="1"/>
              </p:cNvSpPr>
              <p:nvPr/>
            </p:nvSpPr>
            <p:spPr>
              <a:xfrm>
                <a:off x="3170966" y="1838076"/>
                <a:ext cx="283732" cy="398571"/>
              </a:xfrm>
              <a:prstGeom prst="rect">
                <a:avLst/>
              </a:prstGeom>
              <a:blipFill>
                <a:blip r:embed="rId7"/>
                <a:stretch>
                  <a:fillRect l="-25532" r="-27660" b="-4615"/>
                </a:stretch>
              </a:blipFill>
            </p:spPr>
            <p:txBody>
              <a:bodyPr/>
              <a:lstStyle/>
              <a:p>
                <a:r>
                  <a:rPr lang="en-NL">
                    <a:noFill/>
                  </a:rPr>
                  <a:t> </a:t>
                </a:r>
              </a:p>
            </p:txBody>
          </p:sp>
        </mc:Fallback>
      </mc:AlternateContent>
      <p:sp>
        <p:nvSpPr>
          <p:cNvPr id="195" name="Connector: Elbow 54">
            <a:extLst>
              <a:ext uri="{FF2B5EF4-FFF2-40B4-BE49-F238E27FC236}">
                <a16:creationId xmlns:a16="http://schemas.microsoft.com/office/drawing/2014/main" id="{7EDDECBB-86A7-CD09-B1B9-B50202A050D7}"/>
              </a:ext>
            </a:extLst>
          </p:cNvPr>
          <p:cNvSpPr/>
          <p:nvPr/>
        </p:nvSpPr>
        <p:spPr>
          <a:xfrm>
            <a:off x="2566080" y="1214628"/>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196" name="Connector: Elbow 60">
            <a:extLst>
              <a:ext uri="{FF2B5EF4-FFF2-40B4-BE49-F238E27FC236}">
                <a16:creationId xmlns:a16="http://schemas.microsoft.com/office/drawing/2014/main" id="{217FA46C-6B7C-53A4-706D-518D5B50D105}"/>
              </a:ext>
            </a:extLst>
          </p:cNvPr>
          <p:cNvSpPr/>
          <p:nvPr/>
        </p:nvSpPr>
        <p:spPr>
          <a:xfrm>
            <a:off x="1332858" y="1214628"/>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197" name="Signal tap 200">
            <a:extLst>
              <a:ext uri="{FF2B5EF4-FFF2-40B4-BE49-F238E27FC236}">
                <a16:creationId xmlns:a16="http://schemas.microsoft.com/office/drawing/2014/main" id="{F7B35F83-ACDC-826B-F85B-33CAFC2DF8C0}"/>
              </a:ext>
            </a:extLst>
          </p:cNvPr>
          <p:cNvSpPr/>
          <p:nvPr/>
        </p:nvSpPr>
        <p:spPr>
          <a:xfrm>
            <a:off x="2561000" y="1209548"/>
            <a:ext cx="35560" cy="35560"/>
          </a:xfrm>
          <a:prstGeom prst="ellipse">
            <a:avLst/>
          </a:prstGeom>
          <a:solidFill>
            <a:srgbClr val="252529"/>
          </a:solidFill>
          <a:ln>
            <a:noFill/>
          </a:ln>
        </p:spPr>
        <p:txBody>
          <a:bodyPr/>
          <a:lstStyle/>
          <a:p>
            <a:endParaRPr lang="en-NL"/>
          </a:p>
        </p:txBody>
      </p:sp>
      <p:sp>
        <p:nvSpPr>
          <p:cNvPr id="198" name="Signal tap 201">
            <a:extLst>
              <a:ext uri="{FF2B5EF4-FFF2-40B4-BE49-F238E27FC236}">
                <a16:creationId xmlns:a16="http://schemas.microsoft.com/office/drawing/2014/main" id="{CADB6AF3-7025-8C1B-C892-1E29DA36ECB5}"/>
              </a:ext>
            </a:extLst>
          </p:cNvPr>
          <p:cNvSpPr/>
          <p:nvPr/>
        </p:nvSpPr>
        <p:spPr>
          <a:xfrm>
            <a:off x="1327778" y="1209548"/>
            <a:ext cx="35560" cy="35560"/>
          </a:xfrm>
          <a:prstGeom prst="ellipse">
            <a:avLst/>
          </a:prstGeom>
          <a:solidFill>
            <a:srgbClr val="252529"/>
          </a:solidFill>
          <a:ln>
            <a:noFill/>
          </a:ln>
        </p:spPr>
        <p:txBody>
          <a:bodyPr/>
          <a:lstStyle/>
          <a:p>
            <a:endParaRPr lang="en-NL"/>
          </a:p>
        </p:txBody>
      </p:sp>
      <p:cxnSp>
        <p:nvCxnSpPr>
          <p:cNvPr id="8" name="Straight Arrow Connector 7">
            <a:extLst>
              <a:ext uri="{FF2B5EF4-FFF2-40B4-BE49-F238E27FC236}">
                <a16:creationId xmlns:a16="http://schemas.microsoft.com/office/drawing/2014/main" id="{BB8CB9A5-6A3C-2B00-163B-576475BA2E68}"/>
              </a:ext>
            </a:extLst>
          </p:cNvPr>
          <p:cNvCxnSpPr>
            <a:cxnSpLocks/>
            <a:stCxn id="56" idx="1"/>
          </p:cNvCxnSpPr>
          <p:nvPr/>
        </p:nvCxnSpPr>
        <p:spPr>
          <a:xfrm flipH="1">
            <a:off x="839325" y="1227328"/>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CFD1243E-BBA3-77C6-2E40-75856DFAD155}"/>
              </a:ext>
            </a:extLst>
          </p:cNvPr>
          <p:cNvCxnSpPr>
            <a:cxnSpLocks/>
          </p:cNvCxnSpPr>
          <p:nvPr/>
        </p:nvCxnSpPr>
        <p:spPr>
          <a:xfrm flipH="1">
            <a:off x="2447208" y="1227326"/>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EDAEEBEB-DA2F-8DFE-A5FF-D83A48BAC5D1}"/>
                  </a:ext>
                </a:extLst>
              </p:cNvPr>
              <p:cNvSpPr txBox="1"/>
              <p:nvPr/>
            </p:nvSpPr>
            <p:spPr>
              <a:xfrm>
                <a:off x="4364128" y="1709643"/>
                <a:ext cx="201529" cy="307777"/>
              </a:xfrm>
              <a:prstGeom prst="rect">
                <a:avLst/>
              </a:prstGeom>
              <a:noFill/>
            </p:spPr>
            <p:txBody>
              <a:bodyPr wrap="none" lIns="0" tIns="0" rIns="0" bIns="0" rtlCol="0">
                <a:spAutoFit/>
              </a:bodyPr>
              <a:lstStyle/>
              <a:p>
                <a:pPr/>
                <a14:m>
                  <m:oMathPara xmlns:m="http://schemas.openxmlformats.org/officeDocument/2006/math">
                    <m:oMath>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𝑦</m:t>
                          </m:r>
                        </m:e>
                      </m:acc>
                    </m:oMath>
                  </m:oMathPara>
                </a14:m>
                <a:endParaRPr lang="en-NL" dirty="0"/>
              </a:p>
            </p:txBody>
          </p:sp>
        </mc:Choice>
        <mc:Fallback xmlns:m="http://schemas.openxmlformats.org/officeDocument/2006/math" xmlns="">
          <p:sp>
            <p:nvSpPr>
              <p:cNvPr id="11" name="TextBox 10">
                <a:extLst>
                  <a:ext uri="{FF2B5EF4-FFF2-40B4-BE49-F238E27FC236}">
                    <a16:creationId xmlns:a16="http://schemas.microsoft.com/office/drawing/2014/main" id="{EDAEEBEB-DA2F-8DFE-A5FF-D83A48BAC5D1}"/>
                  </a:ext>
                </a:extLst>
              </p:cNvPr>
              <p:cNvSpPr txBox="1">
                <a:spLocks noRot="1" noChangeAspect="1" noMove="1" noResize="1" noEditPoints="1" noAdjustHandles="1" noChangeArrowheads="1" noChangeShapeType="1" noTextEdit="1"/>
              </p:cNvSpPr>
              <p:nvPr/>
            </p:nvSpPr>
            <p:spPr>
              <a:xfrm>
                <a:off x="4364128" y="1709643"/>
                <a:ext cx="201529" cy="307777"/>
              </a:xfrm>
              <a:prstGeom prst="rect">
                <a:avLst/>
              </a:prstGeom>
              <a:blipFill>
                <a:blip r:embed="rId8"/>
                <a:stretch>
                  <a:fillRect l="-33333" t="-1961" r="-66667" b="-23529"/>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341B8DDD-CCFF-1734-60D3-D97F229BAC32}"/>
                  </a:ext>
                </a:extLst>
              </p:cNvPr>
              <p:cNvSpPr txBox="1"/>
              <p:nvPr/>
            </p:nvSpPr>
            <p:spPr>
              <a:xfrm>
                <a:off x="4364128" y="2095123"/>
                <a:ext cx="206916" cy="307777"/>
              </a:xfrm>
              <a:prstGeom prst="rect">
                <a:avLst/>
              </a:prstGeom>
              <a:noFill/>
            </p:spPr>
            <p:txBody>
              <a:bodyPr wrap="none" lIns="0" tIns="0" rIns="0" bIns="0" rtlCol="0">
                <a:spAutoFit/>
              </a:bodyPr>
              <a:lstStyle/>
              <a:p>
                <a:pPr/>
                <a14:m>
                  <m:oMathPara xmlns:m="http://schemas.openxmlformats.org/officeDocument/2006/math">
                    <m:oMath>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𝑢</m:t>
                          </m:r>
                        </m:e>
                      </m:acc>
                    </m:oMath>
                  </m:oMathPara>
                </a14:m>
                <a:endParaRPr lang="en-NL" sz="2000" dirty="0"/>
              </a:p>
            </p:txBody>
          </p:sp>
        </mc:Choice>
        <mc:Fallback xmlns:m="http://schemas.openxmlformats.org/officeDocument/2006/math" xmlns="">
          <p:sp>
            <p:nvSpPr>
              <p:cNvPr id="12" name="TextBox 11">
                <a:extLst>
                  <a:ext uri="{FF2B5EF4-FFF2-40B4-BE49-F238E27FC236}">
                    <a16:creationId xmlns:a16="http://schemas.microsoft.com/office/drawing/2014/main" id="{341B8DDD-CCFF-1734-60D3-D97F229BAC32}"/>
                  </a:ext>
                </a:extLst>
              </p:cNvPr>
              <p:cNvSpPr txBox="1">
                <a:spLocks noRot="1" noChangeAspect="1" noMove="1" noResize="1" noEditPoints="1" noAdjustHandles="1" noChangeArrowheads="1" noChangeShapeType="1" noTextEdit="1"/>
              </p:cNvSpPr>
              <p:nvPr/>
            </p:nvSpPr>
            <p:spPr>
              <a:xfrm>
                <a:off x="4364128" y="2095123"/>
                <a:ext cx="206916" cy="307777"/>
              </a:xfrm>
              <a:prstGeom prst="rect">
                <a:avLst/>
              </a:prstGeom>
              <a:blipFill>
                <a:blip r:embed="rId9"/>
                <a:stretch>
                  <a:fillRect l="-20588" t="-4000" r="-61765"/>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E6540D05-BDE6-9510-6D69-CD9B96334BAA}"/>
                  </a:ext>
                </a:extLst>
              </p:cNvPr>
              <p:cNvSpPr txBox="1"/>
              <p:nvPr/>
            </p:nvSpPr>
            <p:spPr>
              <a:xfrm>
                <a:off x="457200" y="2523680"/>
                <a:ext cx="686406" cy="300082"/>
              </a:xfrm>
              <a:prstGeom prst="rect">
                <a:avLst/>
              </a:prstGeom>
              <a:noFill/>
            </p:spPr>
            <p:txBody>
              <a:bodyPr wrap="none" rtlCol="0">
                <a:spAutoFit/>
              </a:bodyPr>
              <a:lstStyle/>
              <a:p>
                <a:r>
                  <a:rPr lang="en-US" b="1" dirty="0">
                    <a:solidFill>
                      <a:srgbClr val="C81919"/>
                    </a:solidFill>
                  </a:rPr>
                  <a:t>Pick </a:t>
                </a:r>
                <a14:m>
                  <m:oMath xmlns:m="http://schemas.openxmlformats.org/officeDocument/2006/math">
                    <m:r>
                      <a:rPr lang="el-GR" b="1" i="0" smtClean="0">
                        <a:solidFill>
                          <a:srgbClr val="C81919"/>
                        </a:solidFill>
                        <a:latin typeface="Cambria Math" panose="02040503050406030204" pitchFamily="18" charset="0"/>
                        <a:ea typeface="Cambria Math" panose="02040503050406030204" pitchFamily="18" charset="0"/>
                      </a:rPr>
                      <m:t>𝚯</m:t>
                    </m:r>
                  </m:oMath>
                </a14:m>
                <a:endParaRPr lang="en-NL" b="1" dirty="0">
                  <a:solidFill>
                    <a:srgbClr val="C81919"/>
                  </a:solidFill>
                </a:endParaRPr>
              </a:p>
            </p:txBody>
          </p:sp>
        </mc:Choice>
        <mc:Fallback xmlns:m="http://schemas.openxmlformats.org/officeDocument/2006/math" xmlns="">
          <p:sp>
            <p:nvSpPr>
              <p:cNvPr id="14" name="TextBox 13">
                <a:extLst>
                  <a:ext uri="{FF2B5EF4-FFF2-40B4-BE49-F238E27FC236}">
                    <a16:creationId xmlns:a16="http://schemas.microsoft.com/office/drawing/2014/main" id="{E6540D05-BDE6-9510-6D69-CD9B96334BAA}"/>
                  </a:ext>
                </a:extLst>
              </p:cNvPr>
              <p:cNvSpPr txBox="1">
                <a:spLocks noRot="1" noChangeAspect="1" noMove="1" noResize="1" noEditPoints="1" noAdjustHandles="1" noChangeArrowheads="1" noChangeShapeType="1" noTextEdit="1"/>
              </p:cNvSpPr>
              <p:nvPr/>
            </p:nvSpPr>
            <p:spPr>
              <a:xfrm>
                <a:off x="457200" y="2523680"/>
                <a:ext cx="686406" cy="300082"/>
              </a:xfrm>
              <a:prstGeom prst="rect">
                <a:avLst/>
              </a:prstGeom>
              <a:blipFill>
                <a:blip r:embed="rId10"/>
                <a:stretch>
                  <a:fillRect l="-1770" t="-4082"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9509C2DE-2A8D-43D3-8C53-ECCA9DBE6CE1}"/>
                  </a:ext>
                </a:extLst>
              </p:cNvPr>
              <p:cNvSpPr txBox="1"/>
              <p:nvPr/>
            </p:nvSpPr>
            <p:spPr>
              <a:xfrm>
                <a:off x="457200" y="3268063"/>
                <a:ext cx="1892634" cy="300082"/>
              </a:xfrm>
              <a:prstGeom prst="rect">
                <a:avLst/>
              </a:prstGeom>
              <a:noFill/>
            </p:spPr>
            <p:txBody>
              <a:bodyPr wrap="none" rtlCol="0">
                <a:spAutoFit/>
              </a:bodyPr>
              <a:lstStyle/>
              <a:p>
                <a:r>
                  <a:rPr lang="en-US" b="1" dirty="0">
                    <a:solidFill>
                      <a:srgbClr val="C81919"/>
                    </a:solidFill>
                  </a:rPr>
                  <a:t>Energy loss through </a:t>
                </a:r>
                <a14:m>
                  <m:oMath xmlns:m="http://schemas.openxmlformats.org/officeDocument/2006/math">
                    <m:r>
                      <a:rPr lang="en-US" b="1" i="1" smtClean="0">
                        <a:solidFill>
                          <a:srgbClr val="C81919"/>
                        </a:solidFill>
                        <a:latin typeface="Cambria Math" panose="02040503050406030204" pitchFamily="18" charset="0"/>
                        <a:ea typeface="Cambria Math" panose="02040503050406030204" pitchFamily="18" charset="0"/>
                      </a:rPr>
                      <m:t>𝚯</m:t>
                    </m:r>
                  </m:oMath>
                </a14:m>
                <a:endParaRPr lang="en-NL" b="1" dirty="0">
                  <a:solidFill>
                    <a:srgbClr val="C81919"/>
                  </a:solidFill>
                </a:endParaRPr>
              </a:p>
            </p:txBody>
          </p:sp>
        </mc:Choice>
        <mc:Fallback xmlns:m="http://schemas.openxmlformats.org/officeDocument/2006/math" xmlns="">
          <p:sp>
            <p:nvSpPr>
              <p:cNvPr id="18" name="TextBox 17">
                <a:extLst>
                  <a:ext uri="{FF2B5EF4-FFF2-40B4-BE49-F238E27FC236}">
                    <a16:creationId xmlns:a16="http://schemas.microsoft.com/office/drawing/2014/main" id="{9509C2DE-2A8D-43D3-8C53-ECCA9DBE6CE1}"/>
                  </a:ext>
                </a:extLst>
              </p:cNvPr>
              <p:cNvSpPr txBox="1">
                <a:spLocks noRot="1" noChangeAspect="1" noMove="1" noResize="1" noEditPoints="1" noAdjustHandles="1" noChangeArrowheads="1" noChangeShapeType="1" noTextEdit="1"/>
              </p:cNvSpPr>
              <p:nvPr/>
            </p:nvSpPr>
            <p:spPr>
              <a:xfrm>
                <a:off x="457200" y="3268063"/>
                <a:ext cx="1892634" cy="300082"/>
              </a:xfrm>
              <a:prstGeom prst="rect">
                <a:avLst/>
              </a:prstGeom>
              <a:blipFill>
                <a:blip r:embed="rId13"/>
                <a:stretch>
                  <a:fillRect l="-645" t="-2041" b="-20408"/>
                </a:stretch>
              </a:blipFill>
            </p:spPr>
            <p:txBody>
              <a:bodyPr/>
              <a:lstStyle/>
              <a:p>
                <a:r>
                  <a:rPr lang="en-NL">
                    <a:noFill/>
                  </a:rPr>
                  <a:t> </a:t>
                </a:r>
              </a:p>
            </p:txBody>
          </p:sp>
        </mc:Fallback>
      </mc:AlternateContent>
      <p:sp>
        <p:nvSpPr>
          <p:cNvPr id="23" name="Controller">
            <a:extLst>
              <a:ext uri="{FF2B5EF4-FFF2-40B4-BE49-F238E27FC236}">
                <a16:creationId xmlns:a16="http://schemas.microsoft.com/office/drawing/2014/main" id="{1D411108-A9EF-EA44-DABF-FA5387A75CDA}"/>
              </a:ext>
            </a:extLst>
          </p:cNvPr>
          <p:cNvSpPr/>
          <p:nvPr/>
        </p:nvSpPr>
        <p:spPr>
          <a:xfrm>
            <a:off x="5885352" y="889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24" name="Controller label">
                <a:extLst>
                  <a:ext uri="{FF2B5EF4-FFF2-40B4-BE49-F238E27FC236}">
                    <a16:creationId xmlns:a16="http://schemas.microsoft.com/office/drawing/2014/main" id="{4B4EFE33-C7F1-06DB-C3AC-0CF2BE1ED2F0}"/>
                  </a:ext>
                </a:extLst>
              </p:cNvPr>
              <p:cNvSpPr/>
              <p:nvPr/>
            </p:nvSpPr>
            <p:spPr>
              <a:xfrm>
                <a:off x="5885352" y="980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590" i="1" smtClean="0">
                              <a:solidFill>
                                <a:srgbClr val="252529"/>
                              </a:solidFill>
                              <a:latin typeface="Cambria Math" panose="02040503050406030204" pitchFamily="18" charset="0"/>
                            </a:rPr>
                          </m:ctrlPr>
                        </m:sSupPr>
                        <m:e>
                          <m:r>
                            <a:rPr lang="en-US" sz="2590" i="1" smtClean="0">
                              <a:solidFill>
                                <a:srgbClr val="252529"/>
                              </a:solidFill>
                              <a:latin typeface="Cambria Math" panose="02040503050406030204" pitchFamily="18" charset="0"/>
                            </a:rPr>
                            <m:t>𝐾</m:t>
                          </m:r>
                        </m:e>
                        <m:sup>
                          <m:r>
                            <a:rPr lang="en-US"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24" name="Controller label">
                <a:extLst>
                  <a:ext uri="{FF2B5EF4-FFF2-40B4-BE49-F238E27FC236}">
                    <a16:creationId xmlns:a16="http://schemas.microsoft.com/office/drawing/2014/main" id="{4B4EFE33-C7F1-06DB-C3AC-0CF2BE1ED2F0}"/>
                  </a:ext>
                </a:extLst>
              </p:cNvPr>
              <p:cNvSpPr>
                <a:spLocks noRot="1" noChangeAspect="1" noMove="1" noResize="1" noEditPoints="1" noAdjustHandles="1" noChangeArrowheads="1" noChangeShapeType="1" noTextEdit="1"/>
              </p:cNvSpPr>
              <p:nvPr/>
            </p:nvSpPr>
            <p:spPr>
              <a:xfrm>
                <a:off x="5885352" y="980630"/>
                <a:ext cx="676656" cy="493395"/>
              </a:xfrm>
              <a:prstGeom prst="rect">
                <a:avLst/>
              </a:prstGeom>
              <a:blipFill>
                <a:blip r:embed="rId14"/>
                <a:stretch>
                  <a:fillRect l="-270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5" name="Controller external channel">
                <a:extLst>
                  <a:ext uri="{FF2B5EF4-FFF2-40B4-BE49-F238E27FC236}">
                    <a16:creationId xmlns:a16="http://schemas.microsoft.com/office/drawing/2014/main" id="{8A1F6989-8159-6241-7977-130F9613C2AE}"/>
                  </a:ext>
                </a:extLst>
              </p:cNvPr>
              <p:cNvSpPr/>
              <p:nvPr/>
            </p:nvSpPr>
            <p:spPr>
              <a:xfrm>
                <a:off x="4572000" y="1037017"/>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25" name="Controller external channel">
                <a:extLst>
                  <a:ext uri="{FF2B5EF4-FFF2-40B4-BE49-F238E27FC236}">
                    <a16:creationId xmlns:a16="http://schemas.microsoft.com/office/drawing/2014/main" id="{8A1F6989-8159-6241-7977-130F9613C2AE}"/>
                  </a:ext>
                </a:extLst>
              </p:cNvPr>
              <p:cNvSpPr>
                <a:spLocks noRot="1" noChangeAspect="1" noMove="1" noResize="1" noEditPoints="1" noAdjustHandles="1" noChangeArrowheads="1" noChangeShapeType="1" noTextEdit="1"/>
              </p:cNvSpPr>
              <p:nvPr/>
            </p:nvSpPr>
            <p:spPr>
              <a:xfrm>
                <a:off x="4572000" y="1037017"/>
                <a:ext cx="563880" cy="380619"/>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6" name="Plant measured channel">
                <a:extLst>
                  <a:ext uri="{FF2B5EF4-FFF2-40B4-BE49-F238E27FC236}">
                    <a16:creationId xmlns:a16="http://schemas.microsoft.com/office/drawing/2014/main" id="{E2B745A6-0C1E-FCCA-8CE2-8CBA087AF257}"/>
                  </a:ext>
                </a:extLst>
              </p:cNvPr>
              <p:cNvSpPr/>
              <p:nvPr/>
            </p:nvSpPr>
            <p:spPr>
              <a:xfrm>
                <a:off x="7461108" y="101923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26" name="Plant measured channel">
                <a:extLst>
                  <a:ext uri="{FF2B5EF4-FFF2-40B4-BE49-F238E27FC236}">
                    <a16:creationId xmlns:a16="http://schemas.microsoft.com/office/drawing/2014/main" id="{E2B745A6-0C1E-FCCA-8CE2-8CBA087AF257}"/>
                  </a:ext>
                </a:extLst>
              </p:cNvPr>
              <p:cNvSpPr>
                <a:spLocks noRot="1" noChangeAspect="1" noMove="1" noResize="1" noEditPoints="1" noAdjustHandles="1" noChangeArrowheads="1" noChangeShapeType="1" noTextEdit="1"/>
              </p:cNvSpPr>
              <p:nvPr/>
            </p:nvSpPr>
            <p:spPr>
              <a:xfrm>
                <a:off x="7461108" y="1019238"/>
                <a:ext cx="563880" cy="380619"/>
              </a:xfrm>
              <a:prstGeom prst="rect">
                <a:avLst/>
              </a:prstGeom>
              <a:blipFill>
                <a:blip r:embed="rId16"/>
                <a:stretch>
                  <a:fillRect b="-3175"/>
                </a:stretch>
              </a:blipFill>
              <a:ln>
                <a:noFill/>
              </a:ln>
            </p:spPr>
            <p:txBody>
              <a:bodyPr/>
              <a:lstStyle/>
              <a:p>
                <a:r>
                  <a:rPr lang="en-NL">
                    <a:noFill/>
                  </a:rPr>
                  <a:t> </a:t>
                </a:r>
              </a:p>
            </p:txBody>
          </p:sp>
        </mc:Fallback>
      </mc:AlternateContent>
      <p:sp>
        <p:nvSpPr>
          <p:cNvPr id="27" name="z filtered output">
            <a:extLst>
              <a:ext uri="{FF2B5EF4-FFF2-40B4-BE49-F238E27FC236}">
                <a16:creationId xmlns:a16="http://schemas.microsoft.com/office/drawing/2014/main" id="{65223254-AC0E-1EB4-FC5C-C6856D9A81B6}"/>
              </a:ext>
            </a:extLst>
          </p:cNvPr>
          <p:cNvSpPr/>
          <p:nvPr/>
        </p:nvSpPr>
        <p:spPr>
          <a:xfrm>
            <a:off x="7878482" y="185312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28" name="w filtered output">
            <a:extLst>
              <a:ext uri="{FF2B5EF4-FFF2-40B4-BE49-F238E27FC236}">
                <a16:creationId xmlns:a16="http://schemas.microsoft.com/office/drawing/2014/main" id="{63177449-4BD1-5096-9B6C-B04501C6A0CB}"/>
              </a:ext>
            </a:extLst>
          </p:cNvPr>
          <p:cNvSpPr/>
          <p:nvPr/>
        </p:nvSpPr>
        <p:spPr>
          <a:xfrm>
            <a:off x="7878482" y="222904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29" name="Dynamic filter">
            <a:extLst>
              <a:ext uri="{FF2B5EF4-FFF2-40B4-BE49-F238E27FC236}">
                <a16:creationId xmlns:a16="http://schemas.microsoft.com/office/drawing/2014/main" id="{F6115F4C-5896-3C24-F831-9754ED688742}"/>
              </a:ext>
            </a:extLst>
          </p:cNvPr>
          <p:cNvSpPr/>
          <p:nvPr/>
        </p:nvSpPr>
        <p:spPr>
          <a:xfrm>
            <a:off x="6951382" y="1583880"/>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F108AA70-A0EA-C76A-1BF4-060117329C32}"/>
                  </a:ext>
                </a:extLst>
              </p:cNvPr>
              <p:cNvSpPr txBox="1"/>
              <p:nvPr/>
            </p:nvSpPr>
            <p:spPr>
              <a:xfrm>
                <a:off x="7285766" y="1838076"/>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m="http://schemas.openxmlformats.org/officeDocument/2006/math" xmlns="">
          <p:sp>
            <p:nvSpPr>
              <p:cNvPr id="30" name="TextBox 29">
                <a:extLst>
                  <a:ext uri="{FF2B5EF4-FFF2-40B4-BE49-F238E27FC236}">
                    <a16:creationId xmlns:a16="http://schemas.microsoft.com/office/drawing/2014/main" id="{F108AA70-A0EA-C76A-1BF4-060117329C32}"/>
                  </a:ext>
                </a:extLst>
              </p:cNvPr>
              <p:cNvSpPr txBox="1">
                <a:spLocks noRot="1" noChangeAspect="1" noMove="1" noResize="1" noEditPoints="1" noAdjustHandles="1" noChangeArrowheads="1" noChangeShapeType="1" noTextEdit="1"/>
              </p:cNvSpPr>
              <p:nvPr/>
            </p:nvSpPr>
            <p:spPr>
              <a:xfrm>
                <a:off x="7285766" y="1838076"/>
                <a:ext cx="283731" cy="417230"/>
              </a:xfrm>
              <a:prstGeom prst="rect">
                <a:avLst/>
              </a:prstGeom>
              <a:blipFill>
                <a:blip r:embed="rId19"/>
                <a:stretch>
                  <a:fillRect/>
                </a:stretch>
              </a:blipFill>
            </p:spPr>
            <p:txBody>
              <a:bodyPr/>
              <a:lstStyle/>
              <a:p>
                <a:r>
                  <a:rPr lang="en-NL">
                    <a:noFill/>
                  </a:rPr>
                  <a:t> </a:t>
                </a:r>
              </a:p>
            </p:txBody>
          </p:sp>
        </mc:Fallback>
      </mc:AlternateContent>
      <p:sp>
        <p:nvSpPr>
          <p:cNvPr id="31" name="Connector: Elbow 54">
            <a:extLst>
              <a:ext uri="{FF2B5EF4-FFF2-40B4-BE49-F238E27FC236}">
                <a16:creationId xmlns:a16="http://schemas.microsoft.com/office/drawing/2014/main" id="{7ADE9865-AC8D-5980-8A65-3729AD3FF51E}"/>
              </a:ext>
            </a:extLst>
          </p:cNvPr>
          <p:cNvSpPr/>
          <p:nvPr/>
        </p:nvSpPr>
        <p:spPr>
          <a:xfrm>
            <a:off x="6680880" y="1214628"/>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32" name="Connector: Elbow 60">
            <a:extLst>
              <a:ext uri="{FF2B5EF4-FFF2-40B4-BE49-F238E27FC236}">
                <a16:creationId xmlns:a16="http://schemas.microsoft.com/office/drawing/2014/main" id="{EFD902E2-A253-C457-7883-1C4ABDA34C54}"/>
              </a:ext>
            </a:extLst>
          </p:cNvPr>
          <p:cNvSpPr/>
          <p:nvPr/>
        </p:nvSpPr>
        <p:spPr>
          <a:xfrm>
            <a:off x="5447658" y="1214628"/>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33" name="Signal tap 200">
            <a:extLst>
              <a:ext uri="{FF2B5EF4-FFF2-40B4-BE49-F238E27FC236}">
                <a16:creationId xmlns:a16="http://schemas.microsoft.com/office/drawing/2014/main" id="{2FC5FA92-5590-1ECB-3A98-A0315F53E55A}"/>
              </a:ext>
            </a:extLst>
          </p:cNvPr>
          <p:cNvSpPr/>
          <p:nvPr/>
        </p:nvSpPr>
        <p:spPr>
          <a:xfrm>
            <a:off x="6675800" y="1209548"/>
            <a:ext cx="35560" cy="35560"/>
          </a:xfrm>
          <a:prstGeom prst="ellipse">
            <a:avLst/>
          </a:prstGeom>
          <a:solidFill>
            <a:srgbClr val="252529"/>
          </a:solidFill>
          <a:ln>
            <a:noFill/>
          </a:ln>
        </p:spPr>
        <p:txBody>
          <a:bodyPr/>
          <a:lstStyle/>
          <a:p>
            <a:endParaRPr lang="en-NL"/>
          </a:p>
        </p:txBody>
      </p:sp>
      <p:sp>
        <p:nvSpPr>
          <p:cNvPr id="34" name="Signal tap 201">
            <a:extLst>
              <a:ext uri="{FF2B5EF4-FFF2-40B4-BE49-F238E27FC236}">
                <a16:creationId xmlns:a16="http://schemas.microsoft.com/office/drawing/2014/main" id="{761B22BD-5220-BB0D-6132-CB069A5F1AF5}"/>
              </a:ext>
            </a:extLst>
          </p:cNvPr>
          <p:cNvSpPr/>
          <p:nvPr/>
        </p:nvSpPr>
        <p:spPr>
          <a:xfrm>
            <a:off x="5442578" y="1209548"/>
            <a:ext cx="35560" cy="35560"/>
          </a:xfrm>
          <a:prstGeom prst="ellipse">
            <a:avLst/>
          </a:prstGeom>
          <a:solidFill>
            <a:srgbClr val="252529"/>
          </a:solidFill>
          <a:ln>
            <a:noFill/>
          </a:ln>
        </p:spPr>
        <p:txBody>
          <a:bodyPr/>
          <a:lstStyle/>
          <a:p>
            <a:endParaRPr lang="en-NL"/>
          </a:p>
        </p:txBody>
      </p:sp>
      <p:cxnSp>
        <p:nvCxnSpPr>
          <p:cNvPr id="35" name="Straight Arrow Connector 34">
            <a:extLst>
              <a:ext uri="{FF2B5EF4-FFF2-40B4-BE49-F238E27FC236}">
                <a16:creationId xmlns:a16="http://schemas.microsoft.com/office/drawing/2014/main" id="{8E91A51D-F51A-5EBD-B1E5-F9DD4EB47EDE}"/>
              </a:ext>
            </a:extLst>
          </p:cNvPr>
          <p:cNvCxnSpPr>
            <a:cxnSpLocks/>
            <a:stCxn id="23" idx="1"/>
          </p:cNvCxnSpPr>
          <p:nvPr/>
        </p:nvCxnSpPr>
        <p:spPr>
          <a:xfrm flipH="1">
            <a:off x="4954125" y="1227328"/>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ED990349-7D4F-0867-7271-F46B18E56B75}"/>
              </a:ext>
            </a:extLst>
          </p:cNvPr>
          <p:cNvCxnSpPr>
            <a:cxnSpLocks/>
          </p:cNvCxnSpPr>
          <p:nvPr/>
        </p:nvCxnSpPr>
        <p:spPr>
          <a:xfrm flipH="1">
            <a:off x="6562008" y="1227326"/>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E1024AEE-4C3D-6A70-AD99-BA0483497809}"/>
                  </a:ext>
                </a:extLst>
              </p:cNvPr>
              <p:cNvSpPr txBox="1"/>
              <p:nvPr/>
            </p:nvSpPr>
            <p:spPr>
              <a:xfrm>
                <a:off x="8478928" y="1685284"/>
                <a:ext cx="201529" cy="374846"/>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000" b="0" i="1" smtClean="0">
                              <a:latin typeface="Cambria Math" panose="02040503050406030204" pitchFamily="18" charset="0"/>
                            </a:rPr>
                          </m:ctrlPr>
                        </m:barPr>
                        <m:e>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𝑦</m:t>
                              </m:r>
                            </m:e>
                          </m:acc>
                        </m:e>
                      </m:bar>
                    </m:oMath>
                  </m:oMathPara>
                </a14:m>
                <a:endParaRPr lang="en-NL" dirty="0"/>
              </a:p>
            </p:txBody>
          </p:sp>
        </mc:Choice>
        <mc:Fallback xmlns:m="http://schemas.openxmlformats.org/officeDocument/2006/math" xmlns="">
          <p:sp>
            <p:nvSpPr>
              <p:cNvPr id="37" name="TextBox 36">
                <a:extLst>
                  <a:ext uri="{FF2B5EF4-FFF2-40B4-BE49-F238E27FC236}">
                    <a16:creationId xmlns:a16="http://schemas.microsoft.com/office/drawing/2014/main" id="{E1024AEE-4C3D-6A70-AD99-BA0483497809}"/>
                  </a:ext>
                </a:extLst>
              </p:cNvPr>
              <p:cNvSpPr txBox="1">
                <a:spLocks noRot="1" noChangeAspect="1" noMove="1" noResize="1" noEditPoints="1" noAdjustHandles="1" noChangeArrowheads="1" noChangeShapeType="1" noTextEdit="1"/>
              </p:cNvSpPr>
              <p:nvPr/>
            </p:nvSpPr>
            <p:spPr>
              <a:xfrm>
                <a:off x="8478928" y="1685284"/>
                <a:ext cx="201529" cy="374846"/>
              </a:xfrm>
              <a:prstGeom prst="rect">
                <a:avLst/>
              </a:prstGeom>
              <a:blipFill>
                <a:blip r:embed="rId20"/>
                <a:stretch>
                  <a:fillRect l="-33333" r="-66667" b="-322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E730C26E-DFE9-CA8B-CB78-6CD3DA2D0100}"/>
                  </a:ext>
                </a:extLst>
              </p:cNvPr>
              <p:cNvSpPr txBox="1"/>
              <p:nvPr/>
            </p:nvSpPr>
            <p:spPr>
              <a:xfrm>
                <a:off x="8486242" y="2075513"/>
                <a:ext cx="206915" cy="322268"/>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000" b="0" i="1" smtClean="0">
                              <a:latin typeface="Cambria Math" panose="02040503050406030204" pitchFamily="18" charset="0"/>
                            </a:rPr>
                          </m:ctrlPr>
                        </m:barPr>
                        <m:e>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𝑢</m:t>
                              </m:r>
                            </m:e>
                          </m:acc>
                        </m:e>
                      </m:bar>
                    </m:oMath>
                  </m:oMathPara>
                </a14:m>
                <a:endParaRPr lang="en-NL" sz="2000" dirty="0"/>
              </a:p>
            </p:txBody>
          </p:sp>
        </mc:Choice>
        <mc:Fallback xmlns:m="http://schemas.openxmlformats.org/officeDocument/2006/math" xmlns="">
          <p:sp>
            <p:nvSpPr>
              <p:cNvPr id="38" name="TextBox 37">
                <a:extLst>
                  <a:ext uri="{FF2B5EF4-FFF2-40B4-BE49-F238E27FC236}">
                    <a16:creationId xmlns:a16="http://schemas.microsoft.com/office/drawing/2014/main" id="{E730C26E-DFE9-CA8B-CB78-6CD3DA2D0100}"/>
                  </a:ext>
                </a:extLst>
              </p:cNvPr>
              <p:cNvSpPr txBox="1">
                <a:spLocks noRot="1" noChangeAspect="1" noMove="1" noResize="1" noEditPoints="1" noAdjustHandles="1" noChangeArrowheads="1" noChangeShapeType="1" noTextEdit="1"/>
              </p:cNvSpPr>
              <p:nvPr/>
            </p:nvSpPr>
            <p:spPr>
              <a:xfrm>
                <a:off x="8486242" y="2075513"/>
                <a:ext cx="206915" cy="322268"/>
              </a:xfrm>
              <a:prstGeom prst="rect">
                <a:avLst/>
              </a:prstGeom>
              <a:blipFill>
                <a:blip r:embed="rId21"/>
                <a:stretch>
                  <a:fillRect l="-17647" r="-6470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1" name="Primal filter matrix"/>
              <p:cNvSpPr/>
              <p:nvPr/>
            </p:nvSpPr>
            <p:spPr>
              <a:xfrm>
                <a:off x="444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acc>
                                  <m:accPr>
                                    <m:chr m:val="̃"/>
                                    <m:ctrlPr>
                                      <a:rPr sz="1600">
                                        <a:solidFill>
                                          <a:srgbClr val="252529"/>
                                        </a:solidFill>
                                        <a:latin typeface="Cambria Math"/>
                                      </a:rPr>
                                    </m:ctrlPr>
                                  </m:accPr>
                                  <m:e>
                                    <m:r>
                                      <a:rPr sz="1600">
                                        <a:solidFill>
                                          <a:srgbClr val="252529"/>
                                        </a:solidFill>
                                        <a:latin typeface="Cambria Math"/>
                                      </a:rPr>
                                      <m:t>𝑦</m:t>
                                    </m:r>
                                  </m:e>
                                </m:acc>
                              </m:e>
                            </m:mr>
                            <m:mr>
                              <m:e>
                                <m:acc>
                                  <m:accPr>
                                    <m:chr m:val="̃"/>
                                    <m:ctrlPr>
                                      <a:rPr sz="1600">
                                        <a:solidFill>
                                          <a:srgbClr val="252529"/>
                                        </a:solidFill>
                                        <a:latin typeface="Cambria Math"/>
                                      </a:rPr>
                                    </m:ctrlPr>
                                  </m:accPr>
                                  <m:e>
                                    <m:r>
                                      <a:rPr sz="1600">
                                        <a:solidFill>
                                          <a:srgbClr val="252529"/>
                                        </a:solidFill>
                                        <a:latin typeface="Cambria Math"/>
                                      </a:rPr>
                                      <m:t>𝑢</m:t>
                                    </m:r>
                                  </m:e>
                                </m:acc>
                              </m:e>
                            </m:mr>
                          </m:m>
                        </m:e>
                      </m:d>
                      <m:r>
                        <a:rPr sz="1600">
                          <a:solidFill>
                            <a:srgbClr val="252529"/>
                          </a:solidFill>
                          <a:latin typeface="Cambria Math"/>
                        </a:rPr>
                        <m:t>=</m:t>
                      </m:r>
                      <m:d>
                        <m:dPr>
                          <m:begChr m:val="["/>
                          <m:endChr m:val="]"/>
                          <m:ctrlPr>
                            <a:rPr sz="1600" i="1">
                              <a:solidFill>
                                <a:srgbClr val="252529"/>
                              </a:solidFill>
                              <a:latin typeface="Cambria Math" panose="02040503050406030204" pitchFamily="18" charset="0"/>
                            </a:rPr>
                          </m:ctrlPr>
                        </m:dPr>
                        <m:e>
                          <m:m>
                            <m:mPr>
                              <m:mcs>
                                <m:mc>
                                  <m:mcPr>
                                    <m:count m:val="2"/>
                                    <m:mcJc m:val="center"/>
                                  </m:mcPr>
                                </m:mc>
                              </m:mcs>
                              <m:ctrlPr>
                                <a:rPr sz="1600" i="1">
                                  <a:solidFill>
                                    <a:srgbClr val="252529"/>
                                  </a:solidFill>
                                  <a:latin typeface="Cambria Math" panose="02040503050406030204" pitchFamily="18" charset="0"/>
                                </a:rPr>
                              </m:ctrlPr>
                            </m:mPr>
                            <m:mr>
                              <m:e>
                                <m:r>
                                  <a:rPr sz="1600">
                                    <a:solidFill>
                                      <a:srgbClr val="252529"/>
                                    </a:solidFill>
                                    <a:latin typeface="Cambria Math"/>
                                  </a:rPr>
                                  <m:t>𝐼</m:t>
                                </m:r>
                              </m:e>
                              <m:e>
                                <m:r>
                                  <a:rPr sz="1600">
                                    <a:solidFill>
                                      <a:srgbClr val="252529"/>
                                    </a:solidFill>
                                    <a:latin typeface="Cambria Math"/>
                                  </a:rPr>
                                  <m:t>0</m:t>
                                </m:r>
                              </m:e>
                            </m:mr>
                            <m:mr>
                              <m:e>
                                <m:r>
                                  <a:rPr sz="1600">
                                    <a:solidFill>
                                      <a:srgbClr val="252529"/>
                                    </a:solidFill>
                                    <a:latin typeface="Cambria Math"/>
                                  </a:rPr>
                                  <m:t>−</m:t>
                                </m:r>
                                <m:r>
                                  <a:rPr sz="1600">
                                    <a:solidFill>
                                      <a:srgbClr val="252529"/>
                                    </a:solidFill>
                                    <a:latin typeface="Cambria Math"/>
                                  </a:rPr>
                                  <m:t>𝐾</m:t>
                                </m:r>
                              </m:e>
                              <m:e>
                                <m:r>
                                  <a:rPr sz="1600">
                                    <a:solidFill>
                                      <a:srgbClr val="252529"/>
                                    </a:solidFill>
                                    <a:latin typeface="Cambria Math"/>
                                  </a:rPr>
                                  <m:t>𝐼</m:t>
                                </m:r>
                              </m:e>
                            </m:mr>
                          </m:m>
                        </m:e>
                      </m:d>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r>
                                  <a:rPr sz="1600">
                                    <a:solidFill>
                                      <a:srgbClr val="252529"/>
                                    </a:solidFill>
                                    <a:latin typeface="Cambria Math"/>
                                  </a:rPr>
                                  <m:t>𝑦</m:t>
                                </m:r>
                              </m:e>
                            </m:mr>
                            <m:mr>
                              <m:e>
                                <m:r>
                                  <a:rPr sz="1600">
                                    <a:solidFill>
                                      <a:srgbClr val="252529"/>
                                    </a:solidFill>
                                    <a:latin typeface="Cambria Math"/>
                                  </a:rPr>
                                  <m:t>𝑢</m:t>
                                </m:r>
                              </m:e>
                            </m:mr>
                          </m:m>
                        </m:e>
                      </m:d>
                    </m:oMath>
                  </m:oMathPara>
                </a14:m>
                <a:endParaRPr sz="1600" dirty="0"/>
              </a:p>
            </p:txBody>
          </p:sp>
        </mc:Choice>
        <mc:Fallback xmlns="">
          <p:sp>
            <p:nvSpPr>
              <p:cNvPr id="10001" name="Primal filter matrix"/>
              <p:cNvSpPr>
                <a:spLocks noRot="1" noChangeAspect="1" noMove="1" noResize="1" noEditPoints="1" noAdjustHandles="1" noChangeArrowheads="1" noChangeShapeType="1" noTextEdit="1"/>
              </p:cNvSpPr>
              <p:nvPr/>
            </p:nvSpPr>
            <p:spPr>
              <a:xfrm>
                <a:off x="444500" y="2745740"/>
                <a:ext cx="3937000" cy="604520"/>
              </a:xfrm>
              <a:prstGeom prst="rect">
                <a:avLst/>
              </a:prstGeom>
              <a:blipFill>
                <a:blip r:embed="rId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Primal energy inequality"/>
              <p:cNvSpPr/>
              <p:nvPr/>
            </p:nvSpPr>
            <p:spPr>
              <a:xfrm>
                <a:off x="444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a:solidFill>
                                    <a:srgbClr val="252529"/>
                                  </a:solidFill>
                                  <a:latin typeface="Cambria Math"/>
                                </a:rPr>
                              </m:ctrlPr>
                            </m:dPr>
                            <m:e>
                              <m:r>
                                <a:rPr sz="1600">
                                  <a:solidFill>
                                    <a:srgbClr val="252529"/>
                                  </a:solidFill>
                                  <a:latin typeface="Cambria Math"/>
                                </a:rPr>
                                <m:t>𝑢</m:t>
                              </m: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r>
                                <a:rPr sz="1600">
                                  <a:solidFill>
                                    <a:srgbClr val="252529"/>
                                  </a:solidFill>
                                  <a:latin typeface="Cambria Math"/>
                                </a:rPr>
                                <m:t>𝐾𝑦</m:t>
                              </m: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a:solidFill>
                                    <a:srgbClr val="252529"/>
                                  </a:solidFill>
                                  <a:latin typeface="Cambria Math"/>
                                </a:rPr>
                              </m:ctrlPr>
                            </m:dPr>
                            <m:e>
                              <m:r>
                                <a:rPr sz="1600">
                                  <a:solidFill>
                                    <a:srgbClr val="252529"/>
                                  </a:solidFill>
                                  <a:latin typeface="Cambria Math"/>
                                </a:rPr>
                                <m:t>𝑦</m:t>
                              </m: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dirty="0"/>
              </a:p>
            </p:txBody>
          </p:sp>
        </mc:Choice>
        <mc:Fallback xmlns="" xmlns:m="http://schemas.openxmlformats.org/officeDocument/2006/math">
          <p:sp>
            <p:nvSpPr>
              <p:cNvPr id="10002" name="Primal energy inequality"/>
              <p:cNvSpPr>
                <a:spLocks noRot="1" noChangeAspect="1" noMove="1" noResize="1" noEditPoints="1" noAdjustHandles="1" noChangeArrowheads="1" noChangeShapeType="1" noTextEdit="1"/>
              </p:cNvSpPr>
              <p:nvPr/>
            </p:nvSpPr>
            <p:spPr>
              <a:xfrm>
                <a:off x="444500" y="3474720"/>
                <a:ext cx="3937000" cy="568960"/>
              </a:xfrm>
              <a:prstGeom prst="rect">
                <a:avLst/>
              </a:prstGeom>
              <a:blipFill>
                <a:blip r:embed="rId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Primal controller relation"/>
              <p:cNvSpPr/>
              <p:nvPr/>
            </p:nvSpPr>
            <p:spPr>
              <a:xfrm>
                <a:off x="444500" y="38125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252529"/>
                          </a:solidFill>
                          <a:latin typeface="Cambria Math"/>
                        </a:rPr>
                        <m:t>𝑢</m:t>
                      </m: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r>
                        <a:rPr sz="1600">
                          <a:solidFill>
                            <a:srgbClr val="252529"/>
                          </a:solidFill>
                          <a:latin typeface="Cambria Math"/>
                        </a:rPr>
                        <m:t>𝐾𝑦</m:t>
                      </m:r>
                      <m:d>
                        <m:dPr>
                          <m:ctrlPr>
                            <a:rPr sz="1600">
                              <a:solidFill>
                                <a:srgbClr val="252529"/>
                              </a:solidFill>
                              <a:latin typeface="Cambria Math"/>
                            </a:rPr>
                          </m:ctrlPr>
                        </m:dPr>
                        <m:e>
                          <m:r>
                            <a:rPr sz="1600">
                              <a:solidFill>
                                <a:srgbClr val="252529"/>
                              </a:solidFill>
                              <a:latin typeface="Cambria Math"/>
                            </a:rPr>
                            <m:t>𝑡</m:t>
                          </m:r>
                        </m:e>
                      </m:d>
                    </m:oMath>
                  </m:oMathPara>
                </a14:m>
                <a:endParaRPr sz="1600" dirty="0"/>
              </a:p>
            </p:txBody>
          </p:sp>
        </mc:Choice>
        <mc:Fallback xmlns="">
          <p:sp>
            <p:nvSpPr>
              <p:cNvPr id="10003" name="Primal controller relation"/>
              <p:cNvSpPr>
                <a:spLocks noRot="1" noChangeAspect="1" noMove="1" noResize="1" noEditPoints="1" noAdjustHandles="1" noChangeArrowheads="1" noChangeShapeType="1" noTextEdit="1"/>
              </p:cNvSpPr>
              <p:nvPr/>
            </p:nvSpPr>
            <p:spPr>
              <a:xfrm>
                <a:off x="444500" y="3812540"/>
                <a:ext cx="3937000" cy="604520"/>
              </a:xfrm>
              <a:prstGeom prst="rect">
                <a:avLst/>
              </a:prstGeom>
              <a:blipFill>
                <a:blip r:embed="rId2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4" name="Primal final inequality"/>
              <p:cNvSpPr/>
              <p:nvPr/>
            </p:nvSpPr>
            <p:spPr>
              <a:xfrm>
                <a:off x="444500" y="4231705"/>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𝑦</m:t>
                                  </m: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04" name="Primal final inequality"/>
              <p:cNvSpPr>
                <a:spLocks noRot="1" noChangeAspect="1" noMove="1" noResize="1" noEditPoints="1" noAdjustHandles="1" noChangeArrowheads="1" noChangeShapeType="1" noTextEdit="1"/>
              </p:cNvSpPr>
              <p:nvPr/>
            </p:nvSpPr>
            <p:spPr>
              <a:xfrm>
                <a:off x="444500" y="4231705"/>
                <a:ext cx="3937000" cy="640080"/>
              </a:xfrm>
              <a:prstGeom prst="rect">
                <a:avLst/>
              </a:prstGeom>
              <a:blipFill>
                <a:blip r:embed="rId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5" name="Dual Pick Theta"/>
              <p:cNvSpPr/>
              <p:nvPr/>
            </p:nvSpPr>
            <p:spPr>
              <a:xfrm>
                <a:off x="4775200" y="2555875"/>
                <a:ext cx="3911600" cy="247650"/>
              </a:xfrm>
              <a:prstGeom prst="rect">
                <a:avLst/>
              </a:prstGeom>
              <a:noFill/>
              <a:ln>
                <a:noFill/>
              </a:ln>
            </p:spPr>
            <p:txBody>
              <a:bodyPr wrap="none" lIns="0" tIns="0" rIns="0" bIns="0" anchor="ctr">
                <a:noAutofit/>
              </a:bodyPr>
              <a:lstStyle/>
              <a:p>
                <a:pPr algn="l">
                  <a:buNone/>
                </a:pPr>
                <a:r>
                  <a:rPr lang="en-GB" sz="1300" b="1" i="0" u="none" baseline="0" dirty="0">
                    <a:solidFill>
                      <a:srgbClr val="C81919"/>
                    </a:solidFill>
                    <a:latin typeface="Aptos"/>
                    <a:ea typeface="Aptos"/>
                    <a:cs typeface="Aptos"/>
                  </a:rPr>
                  <a:t>Pick </a:t>
                </a:r>
                <a14:m>
                  <m:oMath xmlns:m="http://schemas.openxmlformats.org/officeDocument/2006/math">
                    <m:bar>
                      <m:barPr>
                        <m:pos m:val="bot"/>
                        <m:ctrlPr>
                          <a:rPr lang="en-US" sz="1300" b="1" i="0" u="none" baseline="0" smtClean="0">
                            <a:solidFill>
                              <a:srgbClr val="C81919"/>
                            </a:solidFill>
                            <a:latin typeface="Cambria Math" panose="02040503050406030204" pitchFamily="18" charset="0"/>
                          </a:rPr>
                        </m:ctrlPr>
                      </m:barPr>
                      <m:e>
                        <m:r>
                          <a:rPr lang="en-US" sz="1300" b="1" i="0" u="none" baseline="0" smtClean="0">
                            <a:solidFill>
                              <a:srgbClr val="C81919"/>
                            </a:solidFill>
                            <a:latin typeface="Cambria Math" panose="02040503050406030204" pitchFamily="18" charset="0"/>
                          </a:rPr>
                          <m:t>𝚯</m:t>
                        </m:r>
                      </m:e>
                    </m:bar>
                  </m:oMath>
                </a14:m>
                <a:endParaRPr sz="1300" b="1" dirty="0"/>
              </a:p>
            </p:txBody>
          </p:sp>
        </mc:Choice>
        <mc:Fallback xmlns:m="http://schemas.openxmlformats.org/officeDocument/2006/math" xmlns="">
          <p:sp>
            <p:nvSpPr>
              <p:cNvPr id="10005" name="Dual Pick Theta"/>
              <p:cNvSpPr>
                <a:spLocks noRot="1" noChangeAspect="1" noMove="1" noResize="1" noEditPoints="1" noAdjustHandles="1" noChangeArrowheads="1" noChangeShapeType="1" noTextEdit="1"/>
              </p:cNvSpPr>
              <p:nvPr/>
            </p:nvSpPr>
            <p:spPr>
              <a:xfrm>
                <a:off x="4775200" y="2555875"/>
                <a:ext cx="3911600" cy="247650"/>
              </a:xfrm>
              <a:prstGeom prst="rect">
                <a:avLst/>
              </a:prstGeom>
              <a:blipFill>
                <a:blip r:embed="rId26"/>
                <a:stretch>
                  <a:fillRect l="-2492" t="-7317" b="-3170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6" name="Dual Energy heading"/>
              <p:cNvSpPr/>
              <p:nvPr/>
            </p:nvSpPr>
            <p:spPr>
              <a:xfrm>
                <a:off x="4775200" y="3305175"/>
                <a:ext cx="3911600" cy="247650"/>
              </a:xfrm>
              <a:prstGeom prst="rect">
                <a:avLst/>
              </a:prstGeom>
              <a:noFill/>
              <a:ln>
                <a:noFill/>
              </a:ln>
            </p:spPr>
            <p:txBody>
              <a:bodyPr wrap="none" lIns="0" tIns="0" rIns="0" bIns="0" anchor="ctr">
                <a:noAutofit/>
              </a:bodyPr>
              <a:lstStyle/>
              <a:p>
                <a:r>
                  <a:rPr lang="en-GB" sz="1300" b="1" i="0" u="none" baseline="0" dirty="0">
                    <a:solidFill>
                      <a:srgbClr val="C81919"/>
                    </a:solidFill>
                    <a:latin typeface="Aptos"/>
                    <a:ea typeface="Aptos"/>
                    <a:cs typeface="Aptos"/>
                  </a:rPr>
                  <a:t>Energy loss through </a:t>
                </a:r>
                <a14:m>
                  <m:oMath xmlns:m="http://schemas.openxmlformats.org/officeDocument/2006/math">
                    <m:bar>
                      <m:barPr>
                        <m:pos m:val="bot"/>
                        <m:ctrlPr>
                          <a:rPr lang="en-US" sz="1300" b="1" i="0" smtClean="0">
                            <a:solidFill>
                              <a:srgbClr val="C81919"/>
                            </a:solidFill>
                            <a:latin typeface="Cambria Math" panose="02040503050406030204" pitchFamily="18" charset="0"/>
                          </a:rPr>
                        </m:ctrlPr>
                      </m:barPr>
                      <m:e>
                        <m:r>
                          <a:rPr lang="en-US" sz="1300" b="1" i="0" smtClean="0">
                            <a:solidFill>
                              <a:srgbClr val="C81919"/>
                            </a:solidFill>
                            <a:latin typeface="Cambria Math" panose="02040503050406030204" pitchFamily="18" charset="0"/>
                          </a:rPr>
                          <m:t>𝚯</m:t>
                        </m:r>
                      </m:e>
                    </m:bar>
                  </m:oMath>
                </a14:m>
                <a:endParaRPr sz="1300" dirty="0"/>
              </a:p>
            </p:txBody>
          </p:sp>
        </mc:Choice>
        <mc:Fallback xmlns:m="http://schemas.openxmlformats.org/officeDocument/2006/math" xmlns="">
          <p:sp>
            <p:nvSpPr>
              <p:cNvPr id="10006" name="Dual Energy heading"/>
              <p:cNvSpPr>
                <a:spLocks noRot="1" noChangeAspect="1" noMove="1" noResize="1" noEditPoints="1" noAdjustHandles="1" noChangeArrowheads="1" noChangeShapeType="1" noTextEdit="1"/>
              </p:cNvSpPr>
              <p:nvPr/>
            </p:nvSpPr>
            <p:spPr>
              <a:xfrm>
                <a:off x="4775200" y="3305175"/>
                <a:ext cx="3911600" cy="247650"/>
              </a:xfrm>
              <a:prstGeom prst="rect">
                <a:avLst/>
              </a:prstGeom>
              <a:blipFill>
                <a:blip r:embed="rId27"/>
                <a:stretch>
                  <a:fillRect l="-2492" t="-7317" b="-3170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7" name="Dual filter matrix"/>
              <p:cNvSpPr/>
              <p:nvPr/>
            </p:nvSpPr>
            <p:spPr>
              <a:xfrm>
                <a:off x="4762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𝑦</m:t>
                                        </m:r>
                                      </m:e>
                                    </m:acc>
                                  </m:e>
                                </m:bar>
                              </m:e>
                            </m:mr>
                            <m:m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𝑢</m:t>
                                        </m:r>
                                      </m:e>
                                    </m:acc>
                                  </m:e>
                                </m:bar>
                              </m:e>
                            </m:mr>
                          </m:m>
                        </m:e>
                      </m:d>
                      <m:r>
                        <a:rPr sz="1600">
                          <a:solidFill>
                            <a:srgbClr val="252529"/>
                          </a:solidFill>
                          <a:latin typeface="Cambria Math"/>
                        </a:rPr>
                        <m:t>=</m:t>
                      </m:r>
                      <m:d>
                        <m:dPr>
                          <m:begChr m:val="["/>
                          <m:endChr m:val="]"/>
                          <m:ctrlPr>
                            <a:rPr sz="1600" i="1">
                              <a:solidFill>
                                <a:srgbClr val="252529"/>
                              </a:solidFill>
                              <a:latin typeface="Cambria Math" panose="02040503050406030204" pitchFamily="18" charset="0"/>
                            </a:rPr>
                          </m:ctrlPr>
                        </m:dPr>
                        <m:e>
                          <m:m>
                            <m:mPr>
                              <m:mcs>
                                <m:mc>
                                  <m:mcPr>
                                    <m:count m:val="2"/>
                                    <m:mcJc m:val="center"/>
                                  </m:mcPr>
                                </m:mc>
                              </m:mcs>
                              <m:ctrlPr>
                                <a:rPr sz="1600" i="1">
                                  <a:solidFill>
                                    <a:srgbClr val="252529"/>
                                  </a:solidFill>
                                  <a:latin typeface="Cambria Math" panose="02040503050406030204" pitchFamily="18" charset="0"/>
                                </a:rPr>
                              </m:ctrlPr>
                            </m:mPr>
                            <m:mr>
                              <m:e>
                                <m:r>
                                  <a:rPr sz="1600">
                                    <a:solidFill>
                                      <a:srgbClr val="252529"/>
                                    </a:solidFill>
                                    <a:latin typeface="Cambria Math"/>
                                  </a:rPr>
                                  <m:t>𝐼</m:t>
                                </m:r>
                              </m:e>
                              <m:e>
                                <m:r>
                                  <a:rPr sz="1600">
                                    <a:solidFill>
                                      <a:srgbClr val="252529"/>
                                    </a:solidFill>
                                    <a:latin typeface="Cambria Math"/>
                                  </a:rPr>
                                  <m:t>0</m:t>
                                </m:r>
                              </m:e>
                            </m:mr>
                            <m:mr>
                              <m:e>
                                <m:r>
                                  <a:rPr sz="1600">
                                    <a:solidFill>
                                      <a:srgbClr val="252529"/>
                                    </a:solidFill>
                                    <a:latin typeface="Cambria Math"/>
                                  </a:rPr>
                                  <m:t>−</m:t>
                                </m:r>
                                <m:sSup>
                                  <m:sSupPr>
                                    <m:ctrlPr>
                                      <a:rPr sz="1600">
                                        <a:solidFill>
                                          <a:srgbClr val="252529"/>
                                        </a:solidFill>
                                        <a:latin typeface="Cambria Math"/>
                                      </a:rPr>
                                    </m:ctrlPr>
                                  </m:sSupPr>
                                  <m:e>
                                    <m:r>
                                      <a:rPr sz="1600">
                                        <a:solidFill>
                                          <a:srgbClr val="252529"/>
                                        </a:solidFill>
                                        <a:latin typeface="Cambria Math"/>
                                      </a:rPr>
                                      <m:t>𝐾</m:t>
                                    </m:r>
                                  </m:e>
                                  <m:sup>
                                    <m:r>
                                      <a:rPr lang="en-US" sz="1600" b="0" i="1" smtClean="0">
                                        <a:solidFill>
                                          <a:srgbClr val="252529"/>
                                        </a:solidFill>
                                        <a:latin typeface="Cambria Math" panose="02040503050406030204" pitchFamily="18" charset="0"/>
                                      </a:rPr>
                                      <m:t>⊤</m:t>
                                    </m:r>
                                  </m:sup>
                                </m:sSup>
                              </m:e>
                              <m:e>
                                <m:r>
                                  <a:rPr sz="1600">
                                    <a:solidFill>
                                      <a:srgbClr val="252529"/>
                                    </a:solidFill>
                                    <a:latin typeface="Cambria Math"/>
                                  </a:rPr>
                                  <m:t>𝐼</m:t>
                                </m:r>
                              </m:e>
                            </m:mr>
                          </m:m>
                        </m:e>
                      </m:d>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bar>
                                  <m:barPr>
                                    <m:pos m:val="bot"/>
                                    <m:ctrlPr>
                                      <a:rPr sz="1600">
                                        <a:solidFill>
                                          <a:srgbClr val="252529"/>
                                        </a:solidFill>
                                        <a:latin typeface="Cambria Math"/>
                                      </a:rPr>
                                    </m:ctrlPr>
                                  </m:barPr>
                                  <m:e>
                                    <m:r>
                                      <a:rPr sz="1600">
                                        <a:solidFill>
                                          <a:srgbClr val="252529"/>
                                        </a:solidFill>
                                        <a:latin typeface="Cambria Math"/>
                                      </a:rPr>
                                      <m:t>𝑦</m:t>
                                    </m:r>
                                  </m:e>
                                </m:bar>
                              </m:e>
                            </m:mr>
                            <m:mr>
                              <m:e>
                                <m:bar>
                                  <m:barPr>
                                    <m:pos m:val="bot"/>
                                    <m:ctrlPr>
                                      <a:rPr sz="1600">
                                        <a:solidFill>
                                          <a:srgbClr val="252529"/>
                                        </a:solidFill>
                                        <a:latin typeface="Cambria Math"/>
                                      </a:rPr>
                                    </m:ctrlPr>
                                  </m:barPr>
                                  <m:e>
                                    <m:r>
                                      <a:rPr sz="1600">
                                        <a:solidFill>
                                          <a:srgbClr val="252529"/>
                                        </a:solidFill>
                                        <a:latin typeface="Cambria Math"/>
                                      </a:rPr>
                                      <m:t>𝑢</m:t>
                                    </m:r>
                                  </m:e>
                                </m:bar>
                              </m:e>
                            </m:mr>
                          </m:m>
                        </m:e>
                      </m:d>
                    </m:oMath>
                  </m:oMathPara>
                </a14:m>
                <a:endParaRPr sz="1600" dirty="0"/>
              </a:p>
            </p:txBody>
          </p:sp>
        </mc:Choice>
        <mc:Fallback xmlns="">
          <p:sp>
            <p:nvSpPr>
              <p:cNvPr id="10007" name="Dual filter matrix"/>
              <p:cNvSpPr>
                <a:spLocks noRot="1" noChangeAspect="1" noMove="1" noResize="1" noEditPoints="1" noAdjustHandles="1" noChangeArrowheads="1" noChangeShapeType="1" noTextEdit="1"/>
              </p:cNvSpPr>
              <p:nvPr/>
            </p:nvSpPr>
            <p:spPr>
              <a:xfrm>
                <a:off x="4762500" y="2745740"/>
                <a:ext cx="3937000" cy="604520"/>
              </a:xfrm>
              <a:prstGeom prst="rect">
                <a:avLst/>
              </a:prstGeom>
              <a:blipFill>
                <a:blip r:embed="rId2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8" name="Dual energy inequality"/>
              <p:cNvSpPr/>
              <p:nvPr/>
            </p:nvSpPr>
            <p:spPr>
              <a:xfrm>
                <a:off x="4762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a:solidFill>
                                        <a:srgbClr val="252529"/>
                                      </a:solidFill>
                                      <a:latin typeface="Cambria Math"/>
                                    </a:rPr>
                                  </m:ctrlPr>
                                </m:barPr>
                                <m:e>
                                  <m:r>
                                    <a:rPr sz="1600">
                                      <a:solidFill>
                                        <a:srgbClr val="252529"/>
                                      </a:solidFill>
                                      <a:latin typeface="Cambria Math"/>
                                    </a:rPr>
                                    <m:t>𝑢</m:t>
                                  </m:r>
                                </m:e>
                              </m:ba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sSup>
                                <m:sSupPr>
                                  <m:ctrlPr>
                                    <a:rPr sz="1600">
                                      <a:solidFill>
                                        <a:srgbClr val="252529"/>
                                      </a:solidFill>
                                      <a:latin typeface="Cambria Math"/>
                                    </a:rPr>
                                  </m:ctrlPr>
                                </m:sSupPr>
                                <m:e>
                                  <m:r>
                                    <a:rPr sz="1600">
                                      <a:solidFill>
                                        <a:srgbClr val="252529"/>
                                      </a:solidFill>
                                      <a:latin typeface="Cambria Math"/>
                                    </a:rPr>
                                    <m:t>𝐾</m:t>
                                  </m:r>
                                </m:e>
                                <m:sup>
                                  <m:r>
                                    <a:rPr lang="en-US" sz="1600" b="0" i="1" smtClean="0">
                                      <a:solidFill>
                                        <a:srgbClr val="252529"/>
                                      </a:solidFill>
                                      <a:latin typeface="Cambria Math" panose="02040503050406030204" pitchFamily="18" charset="0"/>
                                    </a:rPr>
                                    <m:t>⊤</m:t>
                                  </m:r>
                                </m:sup>
                              </m:sSup>
                              <m:bar>
                                <m:barPr>
                                  <m:pos m:val="bot"/>
                                  <m:ctrlPr>
                                    <a:rPr sz="1600">
                                      <a:solidFill>
                                        <a:srgbClr val="252529"/>
                                      </a:solidFill>
                                      <a:latin typeface="Cambria Math"/>
                                    </a:rPr>
                                  </m:ctrlPr>
                                </m:barPr>
                                <m:e>
                                  <m:r>
                                    <a:rPr sz="1600">
                                      <a:solidFill>
                                        <a:srgbClr val="252529"/>
                                      </a:solidFill>
                                      <a:latin typeface="Cambria Math"/>
                                    </a:rPr>
                                    <m:t>𝑦</m:t>
                                  </m:r>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a:solidFill>
                                        <a:srgbClr val="252529"/>
                                      </a:solidFill>
                                      <a:latin typeface="Cambria Math"/>
                                    </a:rPr>
                                  </m:ctrlPr>
                                </m:barPr>
                                <m:e>
                                  <m:r>
                                    <a:rPr sz="1600">
                                      <a:solidFill>
                                        <a:srgbClr val="252529"/>
                                      </a:solidFill>
                                      <a:latin typeface="Cambria Math"/>
                                    </a:rPr>
                                    <m:t>𝑦</m:t>
                                  </m:r>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dirty="0"/>
              </a:p>
            </p:txBody>
          </p:sp>
        </mc:Choice>
        <mc:Fallback xmlns="">
          <p:sp>
            <p:nvSpPr>
              <p:cNvPr id="10008" name="Dual energy inequality"/>
              <p:cNvSpPr>
                <a:spLocks noRot="1" noChangeAspect="1" noMove="1" noResize="1" noEditPoints="1" noAdjustHandles="1" noChangeArrowheads="1" noChangeShapeType="1" noTextEdit="1"/>
              </p:cNvSpPr>
              <p:nvPr/>
            </p:nvSpPr>
            <p:spPr>
              <a:xfrm>
                <a:off x="4762500" y="3474720"/>
                <a:ext cx="3937000" cy="568960"/>
              </a:xfrm>
              <a:prstGeom prst="rect">
                <a:avLst/>
              </a:prstGeom>
              <a:blipFill>
                <a:blip r:embed="rId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9" name="Dual controller relation"/>
              <p:cNvSpPr/>
              <p:nvPr/>
            </p:nvSpPr>
            <p:spPr>
              <a:xfrm>
                <a:off x="4762500" y="38125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sz="1600">
                              <a:solidFill>
                                <a:srgbClr val="252529"/>
                              </a:solidFill>
                              <a:latin typeface="Cambria Math"/>
                            </a:rPr>
                          </m:ctrlPr>
                        </m:barPr>
                        <m:e>
                          <m:r>
                            <a:rPr sz="1600">
                              <a:solidFill>
                                <a:srgbClr val="252529"/>
                              </a:solidFill>
                              <a:latin typeface="Cambria Math"/>
                            </a:rPr>
                            <m:t>𝑢</m:t>
                          </m:r>
                        </m:e>
                      </m:ba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sSup>
                        <m:sSupPr>
                          <m:ctrlPr>
                            <a:rPr sz="1600">
                              <a:solidFill>
                                <a:srgbClr val="252529"/>
                              </a:solidFill>
                              <a:latin typeface="Cambria Math"/>
                            </a:rPr>
                          </m:ctrlPr>
                        </m:sSupPr>
                        <m:e>
                          <m:r>
                            <a:rPr sz="1600">
                              <a:solidFill>
                                <a:srgbClr val="252529"/>
                              </a:solidFill>
                              <a:latin typeface="Cambria Math"/>
                            </a:rPr>
                            <m:t>𝐾</m:t>
                          </m:r>
                        </m:e>
                        <m:sup>
                          <m:r>
                            <a:rPr lang="en-US" sz="1600" b="0" i="0" smtClean="0">
                              <a:solidFill>
                                <a:srgbClr val="252529"/>
                              </a:solidFill>
                              <a:latin typeface="Cambria Math" panose="02040503050406030204" pitchFamily="18" charset="0"/>
                            </a:rPr>
                            <m:t>⊤</m:t>
                          </m:r>
                        </m:sup>
                      </m:sSup>
                      <m:bar>
                        <m:barPr>
                          <m:pos m:val="bot"/>
                          <m:ctrlPr>
                            <a:rPr sz="1600">
                              <a:solidFill>
                                <a:srgbClr val="252529"/>
                              </a:solidFill>
                              <a:latin typeface="Cambria Math"/>
                            </a:rPr>
                          </m:ctrlPr>
                        </m:barPr>
                        <m:e>
                          <m:r>
                            <a:rPr sz="1600">
                              <a:solidFill>
                                <a:srgbClr val="252529"/>
                              </a:solidFill>
                              <a:latin typeface="Cambria Math"/>
                            </a:rPr>
                            <m:t>𝑦</m:t>
                          </m:r>
                        </m:e>
                      </m:bar>
                      <m:d>
                        <m:dPr>
                          <m:ctrlPr>
                            <a:rPr sz="1600">
                              <a:solidFill>
                                <a:srgbClr val="252529"/>
                              </a:solidFill>
                              <a:latin typeface="Cambria Math"/>
                            </a:rPr>
                          </m:ctrlPr>
                        </m:dPr>
                        <m:e>
                          <m:r>
                            <a:rPr sz="1600">
                              <a:solidFill>
                                <a:srgbClr val="252529"/>
                              </a:solidFill>
                              <a:latin typeface="Cambria Math"/>
                            </a:rPr>
                            <m:t>𝑡</m:t>
                          </m:r>
                        </m:e>
                      </m:d>
                    </m:oMath>
                  </m:oMathPara>
                </a14:m>
                <a:endParaRPr sz="1600" dirty="0"/>
              </a:p>
            </p:txBody>
          </p:sp>
        </mc:Choice>
        <mc:Fallback xmlns="">
          <p:sp>
            <p:nvSpPr>
              <p:cNvPr id="10009" name="Dual controller relation"/>
              <p:cNvSpPr>
                <a:spLocks noRot="1" noChangeAspect="1" noMove="1" noResize="1" noEditPoints="1" noAdjustHandles="1" noChangeArrowheads="1" noChangeShapeType="1" noTextEdit="1"/>
              </p:cNvSpPr>
              <p:nvPr/>
            </p:nvSpPr>
            <p:spPr>
              <a:xfrm>
                <a:off x="4762500" y="3812540"/>
                <a:ext cx="3937000" cy="604520"/>
              </a:xfrm>
              <a:prstGeom prst="rect">
                <a:avLst/>
              </a:prstGeom>
              <a:blipFill>
                <a:blip r:embed="rId3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10" name="Dual final inequality"/>
              <p:cNvSpPr/>
              <p:nvPr/>
            </p:nvSpPr>
            <p:spPr>
              <a:xfrm>
                <a:off x="4762500" y="4162870"/>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bar>
                                    <m:barPr>
                                      <m:pos m:val="bot"/>
                                      <m:ctrlPr>
                                        <a:rPr lang="en-US" sz="1600" i="1" smtClean="0">
                                          <a:solidFill>
                                            <a:srgbClr val="252529"/>
                                          </a:solidFill>
                                          <a:latin typeface="Cambria Math" panose="02040503050406030204" pitchFamily="18" charset="0"/>
                                        </a:rPr>
                                      </m:ctrlPr>
                                    </m:barPr>
                                    <m:e>
                                      <m:r>
                                        <a:rPr lang="en-US" sz="1600" i="1" smtClean="0">
                                          <a:solidFill>
                                            <a:srgbClr val="252529"/>
                                          </a:solidFill>
                                          <a:latin typeface="Cambria Math" panose="02040503050406030204" pitchFamily="18" charset="0"/>
                                        </a:rPr>
                                        <m:t>𝑦</m:t>
                                      </m:r>
                                    </m:e>
                                  </m:ba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10" name="Dual final inequality"/>
              <p:cNvSpPr>
                <a:spLocks noRot="1" noChangeAspect="1" noMove="1" noResize="1" noEditPoints="1" noAdjustHandles="1" noChangeArrowheads="1" noChangeShapeType="1" noTextEdit="1"/>
              </p:cNvSpPr>
              <p:nvPr/>
            </p:nvSpPr>
            <p:spPr>
              <a:xfrm>
                <a:off x="4762500" y="4162870"/>
                <a:ext cx="3937000" cy="640080"/>
              </a:xfrm>
              <a:prstGeom prst="rect">
                <a:avLst/>
              </a:prstGeom>
              <a:blipFill>
                <a:blip r:embed="rId3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7BC64A6E-AE17-5108-FB6D-93C8EDD0FC25}"/>
                  </a:ext>
                </a:extLst>
              </p:cNvPr>
              <p:cNvSpPr txBox="1"/>
              <p:nvPr/>
            </p:nvSpPr>
            <p:spPr>
              <a:xfrm>
                <a:off x="4081595" y="1055658"/>
                <a:ext cx="318998" cy="307777"/>
              </a:xfrm>
              <a:prstGeom prst="rect">
                <a:avLst/>
              </a:prstGeom>
              <a:noFill/>
            </p:spPr>
            <p:txBody>
              <a:bodyPr wrap="none" lIns="0" tIns="0" rIns="0" bIns="0" rtlCol="0">
                <a:spAutoFit/>
              </a:bodyPr>
              <a:lstStyle/>
              <a:p>
                <a:pPr/>
                <a14:m>
                  <m:oMathPara xmlns:m="http://schemas.openxmlformats.org/officeDocument/2006/math">
                    <m:oMath>
                      <m:r>
                        <a:rPr lang="en-NL" sz="2000" i="1" smtClean="0">
                          <a:latin typeface="Cambria Math" panose="02040503050406030204" pitchFamily="18" charset="0"/>
                          <a:ea typeface="Cambria Math" panose="02040503050406030204" pitchFamily="18" charset="0"/>
                        </a:rPr>
                        <m:t>⇔</m:t>
                      </m:r>
                    </m:oMath>
                  </m:oMathPara>
                </a14:m>
                <a:endParaRPr lang="en-NL" dirty="0"/>
              </a:p>
            </p:txBody>
          </p:sp>
        </mc:Choice>
        <mc:Fallback xmlns:m="http://schemas.openxmlformats.org/officeDocument/2006/math" xmlns="">
          <p:sp>
            <p:nvSpPr>
              <p:cNvPr id="21" name="TextBox 20">
                <a:extLst>
                  <a:ext uri="{FF2B5EF4-FFF2-40B4-BE49-F238E27FC236}">
                    <a16:creationId xmlns:a16="http://schemas.microsoft.com/office/drawing/2014/main" id="{7BC64A6E-AE17-5108-FB6D-93C8EDD0FC25}"/>
                  </a:ext>
                </a:extLst>
              </p:cNvPr>
              <p:cNvSpPr txBox="1">
                <a:spLocks noRot="1" noChangeAspect="1" noMove="1" noResize="1" noEditPoints="1" noAdjustHandles="1" noChangeArrowheads="1" noChangeShapeType="1" noTextEdit="1"/>
              </p:cNvSpPr>
              <p:nvPr/>
            </p:nvSpPr>
            <p:spPr>
              <a:xfrm>
                <a:off x="4081595" y="1055658"/>
                <a:ext cx="318998" cy="307777"/>
              </a:xfrm>
              <a:prstGeom prst="rect">
                <a:avLst/>
              </a:prstGeom>
              <a:blipFill>
                <a:blip r:embed="rId32"/>
                <a:stretch>
                  <a:fillRect l="-15385" r="-13462"/>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1" name="Primal filtered inequality"/>
              <p:cNvSpPr/>
              <p:nvPr/>
            </p:nvSpPr>
            <p:spPr>
              <a:xfrm>
                <a:off x="444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acc>
                                <m:accPr>
                                  <m:chr m:val="̃"/>
                                  <m:ctrlPr>
                                    <a:rPr sz="1600">
                                      <a:solidFill>
                                        <a:srgbClr val="252529"/>
                                      </a:solidFill>
                                      <a:latin typeface="Cambria Math"/>
                                    </a:rPr>
                                  </m:ctrlPr>
                                </m:accPr>
                                <m:e>
                                  <m:r>
                                    <a:rPr sz="1600">
                                      <a:solidFill>
                                        <a:srgbClr val="252529"/>
                                      </a:solidFill>
                                      <a:latin typeface="Cambria Math"/>
                                    </a:rPr>
                                    <m:t>𝑢</m:t>
                                  </m:r>
                                </m:e>
                              </m:acc>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acc>
                                <m:accPr>
                                  <m:chr m:val="̃"/>
                                  <m:ctrlPr>
                                    <a:rPr sz="1600">
                                      <a:solidFill>
                                        <a:srgbClr val="252529"/>
                                      </a:solidFill>
                                      <a:latin typeface="Cambria Math"/>
                                    </a:rPr>
                                  </m:ctrlPr>
                                </m:accPr>
                                <m:e>
                                  <m:r>
                                    <a:rPr sz="1600">
                                      <a:solidFill>
                                        <a:srgbClr val="252529"/>
                                      </a:solidFill>
                                      <a:latin typeface="Cambria Math"/>
                                    </a:rPr>
                                    <m:t>𝑦</m:t>
                                  </m:r>
                                </m:e>
                              </m:acc>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dirty="0"/>
              </a:p>
            </p:txBody>
          </p:sp>
        </mc:Choice>
        <mc:Fallback xmlns="">
          <p:sp>
            <p:nvSpPr>
              <p:cNvPr id="10021" name="Primal filtered inequality"/>
              <p:cNvSpPr>
                <a:spLocks noRot="1" noChangeAspect="1" noMove="1" noResize="1" noEditPoints="1" noAdjustHandles="1" noChangeArrowheads="1" noChangeShapeType="1" noTextEdit="1"/>
              </p:cNvSpPr>
              <p:nvPr/>
            </p:nvSpPr>
            <p:spPr>
              <a:xfrm>
                <a:off x="444500" y="3474720"/>
                <a:ext cx="3937000" cy="568960"/>
              </a:xfrm>
              <a:prstGeom prst="rect">
                <a:avLst/>
              </a:prstGeom>
              <a:blipFill>
                <a:blip r:embed="rId3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Dual filtered inequality"/>
              <p:cNvSpPr/>
              <p:nvPr/>
            </p:nvSpPr>
            <p:spPr>
              <a:xfrm>
                <a:off x="4762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𝑢</m:t>
                                      </m:r>
                                    </m:e>
                                  </m:acc>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𝑦</m:t>
                                      </m:r>
                                    </m:e>
                                  </m:acc>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dirty="0"/>
              </a:p>
            </p:txBody>
          </p:sp>
        </mc:Choice>
        <mc:Fallback xmlns="">
          <p:sp>
            <p:nvSpPr>
              <p:cNvPr id="10032" name="Dual filtered inequality"/>
              <p:cNvSpPr>
                <a:spLocks noRot="1" noChangeAspect="1" noMove="1" noResize="1" noEditPoints="1" noAdjustHandles="1" noChangeArrowheads="1" noChangeShapeType="1" noTextEdit="1"/>
              </p:cNvSpPr>
              <p:nvPr/>
            </p:nvSpPr>
            <p:spPr>
              <a:xfrm>
                <a:off x="4762500" y="3474720"/>
                <a:ext cx="3937000" cy="568960"/>
              </a:xfrm>
              <a:prstGeom prst="rect">
                <a:avLst/>
              </a:prstGeom>
              <a:blipFill>
                <a:blip r:embed="rId34"/>
                <a:stretch>
                  <a:fillRect/>
                </a:stretch>
              </a:blipFill>
              <a:ln>
                <a:noFill/>
              </a:ln>
            </p:spPr>
            <p:txBody>
              <a:bodyPr/>
              <a:lstStyle/>
              <a:p>
                <a:r>
                  <a:rPr lang="en-NL">
                    <a:noFill/>
                  </a:rPr>
                  <a:t> </a:t>
                </a:r>
              </a:p>
            </p:txBody>
          </p:sp>
        </mc:Fallback>
      </mc:AlternateContent>
      <p:sp>
        <p:nvSpPr>
          <p:cNvPr id="10033" name="Primal final inequality red box"/>
          <p:cNvSpPr/>
          <p:nvPr/>
        </p:nvSpPr>
        <p:spPr>
          <a:xfrm>
            <a:off x="1397010" y="3541134"/>
            <a:ext cx="2032000" cy="703580"/>
          </a:xfrm>
          <a:prstGeom prst="rect">
            <a:avLst/>
          </a:prstGeom>
          <a:noFill/>
          <a:ln w="25400">
            <a:solidFill>
              <a:srgbClr val="C81919"/>
            </a:solidFill>
          </a:ln>
        </p:spPr>
      </p:sp>
      <p:sp>
        <p:nvSpPr>
          <p:cNvPr id="10034" name="Dual final inequality red box"/>
          <p:cNvSpPr/>
          <p:nvPr/>
        </p:nvSpPr>
        <p:spPr>
          <a:xfrm>
            <a:off x="5714990" y="3554852"/>
            <a:ext cx="2032000" cy="703580"/>
          </a:xfrm>
          <a:prstGeom prst="rect">
            <a:avLst/>
          </a:prstGeom>
          <a:noFill/>
          <a:ln w="25400">
            <a:solidFill>
              <a:srgbClr val="C81919"/>
            </a:solidFill>
          </a:ln>
        </p:spPr>
      </p:sp>
      <p:sp>
        <p:nvSpPr>
          <p:cNvPr id="5" name="TextBox 4">
            <a:extLst>
              <a:ext uri="{FF2B5EF4-FFF2-40B4-BE49-F238E27FC236}">
                <a16:creationId xmlns:a16="http://schemas.microsoft.com/office/drawing/2014/main" id="{C4D7C24D-8A8A-964B-7EF1-3CE111706C19}"/>
              </a:ext>
            </a:extLst>
          </p:cNvPr>
          <p:cNvSpPr txBox="1"/>
          <p:nvPr/>
        </p:nvSpPr>
        <p:spPr>
          <a:xfrm>
            <a:off x="2821782" y="4355335"/>
            <a:ext cx="3487750" cy="300082"/>
          </a:xfrm>
          <a:prstGeom prst="rect">
            <a:avLst/>
          </a:prstGeom>
          <a:noFill/>
        </p:spPr>
        <p:txBody>
          <a:bodyPr wrap="none" rtlCol="0">
            <a:spAutoFit/>
          </a:bodyPr>
          <a:lstStyle/>
          <a:p>
            <a:r>
              <a:rPr lang="en-US" b="1" dirty="0">
                <a:solidFill>
                  <a:srgbClr val="C00000"/>
                </a:solidFill>
              </a:rPr>
              <a:t>Identical inequality </a:t>
            </a:r>
            <a:r>
              <a:rPr lang="en-US" b="1" dirty="0" err="1">
                <a:solidFill>
                  <a:srgbClr val="C00000"/>
                </a:solidFill>
              </a:rPr>
              <a:t>w.r.t.</a:t>
            </a:r>
            <a:r>
              <a:rPr lang="en-US" b="1" dirty="0">
                <a:solidFill>
                  <a:srgbClr val="C00000"/>
                </a:solidFill>
              </a:rPr>
              <a:t> system channels</a:t>
            </a:r>
            <a:endParaRPr lang="en-NL" b="1" dirty="0">
              <a:solidFill>
                <a:srgbClr val="C00000"/>
              </a:solidFill>
            </a:endParaRPr>
          </a:p>
        </p:txBody>
      </p:sp>
    </p:spTree>
    <p:extLst>
      <p:ext uri="{BB962C8B-B14F-4D97-AF65-F5344CB8AC3E}">
        <p14:creationId xmlns:p14="http://schemas.microsoft.com/office/powerpoint/2010/main" val="19008185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9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9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9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9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9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9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6"/>
                                        </p:tgtEl>
                                        <p:attrNameLst>
                                          <p:attrName>style.visibility</p:attrName>
                                        </p:attrNameLst>
                                      </p:cBhvr>
                                      <p:to>
                                        <p:strVal val="visible"/>
                                      </p:to>
                                    </p:set>
                                  </p:childTnLst>
                                </p:cTn>
                              </p:par>
                              <p:par>
                                <p:cTn id="27" presetID="1" presetClass="exit" presetSubtype="0" fill="hold" grpId="0" nodeType="withEffect">
                                  <p:stCondLst>
                                    <p:cond delay="0"/>
                                  </p:stCondLst>
                                  <p:childTnLst>
                                    <p:set>
                                      <p:cBhvr>
                                        <p:cTn id="28" dur="1" fill="hold">
                                          <p:stCondLst>
                                            <p:cond delay="0"/>
                                          </p:stCondLst>
                                        </p:cTn>
                                        <p:tgtEl>
                                          <p:spTgt spid="17"/>
                                        </p:tgtEl>
                                        <p:attrNameLst>
                                          <p:attrName>style.visibility</p:attrName>
                                        </p:attrNameLst>
                                      </p:cBhvr>
                                      <p:to>
                                        <p:strVal val="hidden"/>
                                      </p:to>
                                    </p:set>
                                  </p:childTnLst>
                                </p:cTn>
                              </p:par>
                              <p:par>
                                <p:cTn id="29" presetID="1" presetClass="entr" presetSubtype="0" fill="hold" grpId="0" nodeType="with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par>
                                <p:cTn id="31" presetID="1" presetClass="exit" presetSubtype="0" fill="hold" grpId="0" nodeType="withEffect">
                                  <p:stCondLst>
                                    <p:cond delay="0"/>
                                  </p:stCondLst>
                                  <p:childTnLst>
                                    <p:set>
                                      <p:cBhvr>
                                        <p:cTn id="32" dur="1" fill="hold">
                                          <p:stCondLst>
                                            <p:cond delay="0"/>
                                          </p:stCondLst>
                                        </p:cTn>
                                        <p:tgtEl>
                                          <p:spTgt spid="20"/>
                                        </p:tgtEl>
                                        <p:attrNameLst>
                                          <p:attrName>style.visibility</p:attrName>
                                        </p:attrNameLst>
                                      </p:cBhvr>
                                      <p:to>
                                        <p:strVal val="hidden"/>
                                      </p:to>
                                    </p:set>
                                  </p:childTnLst>
                                </p:cTn>
                              </p:par>
                              <p:par>
                                <p:cTn id="33" presetID="1" presetClass="entr" presetSubtype="0" fill="hold" grpId="0" nodeType="withEffect">
                                  <p:stCondLst>
                                    <p:cond delay="0"/>
                                  </p:stCondLst>
                                  <p:childTnLst>
                                    <p:set>
                                      <p:cBhvr>
                                        <p:cTn id="34" dur="1" fill="hold">
                                          <p:stCondLst>
                                            <p:cond delay="0"/>
                                          </p:stCondLst>
                                        </p:cTn>
                                        <p:tgtEl>
                                          <p:spTgt spid="2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0"/>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1"/>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2"/>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3"/>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4"/>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7"/>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38"/>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1000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10005"/>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0007"/>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14"/>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8"/>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10006"/>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10021"/>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10032"/>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0" presetClass="entr" presetSubtype="0" fill="hold" nodeType="clickEffect">
                                  <p:stCondLst>
                                    <p:cond delay="0"/>
                                  </p:stCondLst>
                                  <p:childTnLst>
                                    <p:animEffect transition="in" filter="fade">
                                      <p:cBhvr>
                                        <p:cTn id="78" dur="600"/>
                                        <p:tgtEl>
                                          <p:spTgt spid="10008"/>
                                        </p:tgtEl>
                                      </p:cBhvr>
                                    </p:animEffect>
                                    <p:set>
                                      <p:cBhvr>
                                        <p:cTn id="79" dur="1" fill="hold">
                                          <p:stCondLst>
                                            <p:cond delay="0"/>
                                          </p:stCondLst>
                                        </p:cTn>
                                        <p:tgtEl>
                                          <p:spTgt spid="10008"/>
                                        </p:tgtEl>
                                        <p:attrNameLst>
                                          <p:attrName>style.visibility</p:attrName>
                                        </p:attrNameLst>
                                      </p:cBhvr>
                                      <p:to>
                                        <p:strVal val="visible"/>
                                      </p:to>
                                    </p:set>
                                  </p:childTnLst>
                                </p:cTn>
                              </p:par>
                              <p:par>
                                <p:cTn id="80" presetID="10" presetClass="exit" presetSubtype="0" fill="hold" nodeType="withEffect">
                                  <p:stCondLst>
                                    <p:cond delay="0"/>
                                  </p:stCondLst>
                                  <p:childTnLst>
                                    <p:animEffect transition="out" filter="fade">
                                      <p:cBhvr>
                                        <p:cTn id="81" dur="600"/>
                                        <p:tgtEl>
                                          <p:spTgt spid="10032"/>
                                        </p:tgtEl>
                                      </p:cBhvr>
                                    </p:animEffect>
                                    <p:set>
                                      <p:cBhvr>
                                        <p:cTn id="82" dur="1" fill="hold">
                                          <p:stCondLst>
                                            <p:cond delay="599"/>
                                          </p:stCondLst>
                                        </p:cTn>
                                        <p:tgtEl>
                                          <p:spTgt spid="10032"/>
                                        </p:tgtEl>
                                        <p:attrNameLst>
                                          <p:attrName>style.visibility</p:attrName>
                                        </p:attrNameLst>
                                      </p:cBhvr>
                                      <p:to>
                                        <p:strVal val="hidden"/>
                                      </p:to>
                                    </p:set>
                                  </p:childTnLst>
                                </p:cTn>
                              </p:par>
                              <p:par>
                                <p:cTn id="83" presetID="10" presetClass="entr" presetSubtype="0" fill="hold" nodeType="withEffect">
                                  <p:stCondLst>
                                    <p:cond delay="0"/>
                                  </p:stCondLst>
                                  <p:childTnLst>
                                    <p:animEffect transition="in" filter="fade">
                                      <p:cBhvr>
                                        <p:cTn id="84" dur="600"/>
                                        <p:tgtEl>
                                          <p:spTgt spid="10002"/>
                                        </p:tgtEl>
                                      </p:cBhvr>
                                    </p:animEffect>
                                    <p:set>
                                      <p:cBhvr>
                                        <p:cTn id="85" dur="1" fill="hold">
                                          <p:stCondLst>
                                            <p:cond delay="0"/>
                                          </p:stCondLst>
                                        </p:cTn>
                                        <p:tgtEl>
                                          <p:spTgt spid="10002"/>
                                        </p:tgtEl>
                                        <p:attrNameLst>
                                          <p:attrName>style.visibility</p:attrName>
                                        </p:attrNameLst>
                                      </p:cBhvr>
                                      <p:to>
                                        <p:strVal val="visible"/>
                                      </p:to>
                                    </p:set>
                                  </p:childTnLst>
                                </p:cTn>
                              </p:par>
                              <p:par>
                                <p:cTn id="86" presetID="10" presetClass="exit" presetSubtype="0" fill="hold" nodeType="withEffect">
                                  <p:stCondLst>
                                    <p:cond delay="0"/>
                                  </p:stCondLst>
                                  <p:childTnLst>
                                    <p:animEffect transition="out" filter="fade">
                                      <p:cBhvr>
                                        <p:cTn id="87" dur="600"/>
                                        <p:tgtEl>
                                          <p:spTgt spid="10021"/>
                                        </p:tgtEl>
                                      </p:cBhvr>
                                    </p:animEffect>
                                    <p:set>
                                      <p:cBhvr>
                                        <p:cTn id="88" dur="1" fill="hold">
                                          <p:stCondLst>
                                            <p:cond delay="599"/>
                                          </p:stCondLst>
                                        </p:cTn>
                                        <p:tgtEl>
                                          <p:spTgt spid="10021"/>
                                        </p:tgtEl>
                                        <p:attrNameLst>
                                          <p:attrName>style.visibility</p:attrName>
                                        </p:attrNameLst>
                                      </p:cBhvr>
                                      <p:to>
                                        <p:strVal val="hidden"/>
                                      </p:to>
                                    </p:set>
                                  </p:childTnLst>
                                </p:cTn>
                              </p:par>
                            </p:childTnLst>
                          </p:cTn>
                        </p:par>
                        <p:par>
                          <p:cTn id="89" fill="hold">
                            <p:stCondLst>
                              <p:cond delay="600"/>
                            </p:stCondLst>
                            <p:childTnLst>
                              <p:par>
                                <p:cTn id="90" presetID="1" presetClass="entr" presetSubtype="0" fill="hold" grpId="1" nodeType="afterEffect">
                                  <p:stCondLst>
                                    <p:cond delay="0"/>
                                  </p:stCondLst>
                                  <p:childTnLst>
                                    <p:set>
                                      <p:cBhvr>
                                        <p:cTn id="91" dur="1" fill="hold">
                                          <p:stCondLst>
                                            <p:cond delay="0"/>
                                          </p:stCondLst>
                                        </p:cTn>
                                        <p:tgtEl>
                                          <p:spTgt spid="10003"/>
                                        </p:tgtEl>
                                        <p:attrNameLst>
                                          <p:attrName>style.visibility</p:attrName>
                                        </p:attrNameLst>
                                      </p:cBhvr>
                                      <p:to>
                                        <p:strVal val="visible"/>
                                      </p:to>
                                    </p:set>
                                  </p:childTnLst>
                                </p:cTn>
                              </p:par>
                            </p:childTnLst>
                          </p:cTn>
                        </p:par>
                        <p:par>
                          <p:cTn id="92" fill="hold">
                            <p:stCondLst>
                              <p:cond delay="600"/>
                            </p:stCondLst>
                            <p:childTnLst>
                              <p:par>
                                <p:cTn id="93" presetID="1" presetClass="entr" presetSubtype="0" fill="hold" grpId="1" nodeType="afterEffect">
                                  <p:stCondLst>
                                    <p:cond delay="0"/>
                                  </p:stCondLst>
                                  <p:childTnLst>
                                    <p:set>
                                      <p:cBhvr>
                                        <p:cTn id="94" dur="1" fill="hold">
                                          <p:stCondLst>
                                            <p:cond delay="0"/>
                                          </p:stCondLst>
                                        </p:cTn>
                                        <p:tgtEl>
                                          <p:spTgt spid="10009"/>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1" nodeType="clickEffect">
                                  <p:stCondLst>
                                    <p:cond delay="0"/>
                                  </p:stCondLst>
                                  <p:childTnLst>
                                    <p:set>
                                      <p:cBhvr>
                                        <p:cTn id="98" dur="1" fill="hold">
                                          <p:stCondLst>
                                            <p:cond delay="0"/>
                                          </p:stCondLst>
                                        </p:cTn>
                                        <p:tgtEl>
                                          <p:spTgt spid="10004"/>
                                        </p:tgtEl>
                                        <p:attrNameLst>
                                          <p:attrName>style.visibility</p:attrName>
                                        </p:attrNameLst>
                                      </p:cBhvr>
                                      <p:to>
                                        <p:strVal val="visible"/>
                                      </p:to>
                                    </p:set>
                                  </p:childTnLst>
                                </p:cTn>
                              </p:par>
                              <p:par>
                                <p:cTn id="99" presetID="1" presetClass="entr" presetSubtype="0" fill="hold" grpId="1" nodeType="withEffect">
                                  <p:stCondLst>
                                    <p:cond delay="0"/>
                                  </p:stCondLst>
                                  <p:childTnLst>
                                    <p:set>
                                      <p:cBhvr>
                                        <p:cTn id="100" dur="1" fill="hold">
                                          <p:stCondLst>
                                            <p:cond delay="0"/>
                                          </p:stCondLst>
                                        </p:cTn>
                                        <p:tgtEl>
                                          <p:spTgt spid="10010"/>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42" presetClass="path" presetSubtype="0" accel="50000" decel="50000" fill="hold" grpId="0" nodeType="clickEffect">
                                  <p:stCondLst>
                                    <p:cond delay="0"/>
                                  </p:stCondLst>
                                  <p:childTnLst>
                                    <p:animMotion origin="layout" path="M 1.11111E-6 3.45679E-6 L 1.11111E-6 -0.13673 " pathEditMode="relative" rAng="0" ptsTypes="AA">
                                      <p:cBhvr>
                                        <p:cTn id="104" dur="500" fill="hold"/>
                                        <p:tgtEl>
                                          <p:spTgt spid="10004"/>
                                        </p:tgtEl>
                                        <p:attrNameLst>
                                          <p:attrName>ppt_x</p:attrName>
                                          <p:attrName>ppt_y</p:attrName>
                                        </p:attrNameLst>
                                      </p:cBhvr>
                                      <p:rCtr x="0" y="-6852"/>
                                    </p:animMotion>
                                  </p:childTnLst>
                                </p:cTn>
                              </p:par>
                              <p:par>
                                <p:cTn id="105" presetID="42" presetClass="path" presetSubtype="0" accel="50000" decel="50000" fill="hold" grpId="0" nodeType="withEffect">
                                  <p:stCondLst>
                                    <p:cond delay="0"/>
                                  </p:stCondLst>
                                  <p:childTnLst>
                                    <p:animMotion origin="layout" path="M -1.11111E-6 3.7037E-6 L -1.11111E-6 -0.12068 " pathEditMode="relative" rAng="0" ptsTypes="AA">
                                      <p:cBhvr>
                                        <p:cTn id="106" dur="500" fill="hold"/>
                                        <p:tgtEl>
                                          <p:spTgt spid="10010"/>
                                        </p:tgtEl>
                                        <p:attrNameLst>
                                          <p:attrName>ppt_x</p:attrName>
                                          <p:attrName>ppt_y</p:attrName>
                                        </p:attrNameLst>
                                      </p:cBhvr>
                                      <p:rCtr x="0" y="-6049"/>
                                    </p:animMotion>
                                  </p:childTnLst>
                                </p:cTn>
                              </p:par>
                              <p:par>
                                <p:cTn id="107" presetID="1" presetClass="exit" presetSubtype="0" fill="hold" grpId="0" nodeType="withEffect">
                                  <p:stCondLst>
                                    <p:cond delay="0"/>
                                  </p:stCondLst>
                                  <p:childTnLst>
                                    <p:set>
                                      <p:cBhvr>
                                        <p:cTn id="108" dur="1" fill="hold">
                                          <p:stCondLst>
                                            <p:cond delay="0"/>
                                          </p:stCondLst>
                                        </p:cTn>
                                        <p:tgtEl>
                                          <p:spTgt spid="10002"/>
                                        </p:tgtEl>
                                        <p:attrNameLst>
                                          <p:attrName>style.visibility</p:attrName>
                                        </p:attrNameLst>
                                      </p:cBhvr>
                                      <p:to>
                                        <p:strVal val="hidden"/>
                                      </p:to>
                                    </p:set>
                                  </p:childTnLst>
                                </p:cTn>
                              </p:par>
                              <p:par>
                                <p:cTn id="109" presetID="1" presetClass="exit" presetSubtype="0" fill="hold" grpId="0" nodeType="withEffect">
                                  <p:stCondLst>
                                    <p:cond delay="0"/>
                                  </p:stCondLst>
                                  <p:childTnLst>
                                    <p:set>
                                      <p:cBhvr>
                                        <p:cTn id="110" dur="1" fill="hold">
                                          <p:stCondLst>
                                            <p:cond delay="0"/>
                                          </p:stCondLst>
                                        </p:cTn>
                                        <p:tgtEl>
                                          <p:spTgt spid="10008"/>
                                        </p:tgtEl>
                                        <p:attrNameLst>
                                          <p:attrName>style.visibility</p:attrName>
                                        </p:attrNameLst>
                                      </p:cBhvr>
                                      <p:to>
                                        <p:strVal val="hidden"/>
                                      </p:to>
                                    </p:set>
                                  </p:childTnLst>
                                </p:cTn>
                              </p:par>
                              <p:par>
                                <p:cTn id="111" presetID="1" presetClass="exit" presetSubtype="0" fill="hold" grpId="0" nodeType="withEffect">
                                  <p:stCondLst>
                                    <p:cond delay="0"/>
                                  </p:stCondLst>
                                  <p:childTnLst>
                                    <p:set>
                                      <p:cBhvr>
                                        <p:cTn id="112" dur="1" fill="hold">
                                          <p:stCondLst>
                                            <p:cond delay="0"/>
                                          </p:stCondLst>
                                        </p:cTn>
                                        <p:tgtEl>
                                          <p:spTgt spid="10003"/>
                                        </p:tgtEl>
                                        <p:attrNameLst>
                                          <p:attrName>style.visibility</p:attrName>
                                        </p:attrNameLst>
                                      </p:cBhvr>
                                      <p:to>
                                        <p:strVal val="hidden"/>
                                      </p:to>
                                    </p:set>
                                  </p:childTnLst>
                                </p:cTn>
                              </p:par>
                              <p:par>
                                <p:cTn id="113" presetID="1" presetClass="exit" presetSubtype="0" fill="hold" grpId="0" nodeType="withEffect">
                                  <p:stCondLst>
                                    <p:cond delay="0"/>
                                  </p:stCondLst>
                                  <p:childTnLst>
                                    <p:set>
                                      <p:cBhvr>
                                        <p:cTn id="114" dur="1" fill="hold">
                                          <p:stCondLst>
                                            <p:cond delay="0"/>
                                          </p:stCondLst>
                                        </p:cTn>
                                        <p:tgtEl>
                                          <p:spTgt spid="10009"/>
                                        </p:tgtEl>
                                        <p:attrNameLst>
                                          <p:attrName>style.visibility</p:attrName>
                                        </p:attrNameLst>
                                      </p:cBhvr>
                                      <p:to>
                                        <p:strVal val="hidden"/>
                                      </p:to>
                                    </p:set>
                                  </p:childTnLst>
                                </p:cTn>
                              </p:par>
                              <p:par>
                                <p:cTn id="115" presetID="10" presetClass="entr" presetSubtype="0" fill="hold" nodeType="withEffect">
                                  <p:stCondLst>
                                    <p:cond delay="550"/>
                                  </p:stCondLst>
                                  <p:childTnLst>
                                    <p:set>
                                      <p:cBhvr>
                                        <p:cTn id="116" dur="1" fill="hold">
                                          <p:stCondLst>
                                            <p:cond delay="0"/>
                                          </p:stCondLst>
                                        </p:cTn>
                                        <p:tgtEl>
                                          <p:spTgt spid="10033"/>
                                        </p:tgtEl>
                                        <p:attrNameLst>
                                          <p:attrName>style.visibility</p:attrName>
                                        </p:attrNameLst>
                                      </p:cBhvr>
                                      <p:to>
                                        <p:strVal val="visible"/>
                                      </p:to>
                                    </p:set>
                                    <p:animEffect transition="in" filter="fade">
                                      <p:cBhvr>
                                        <p:cTn id="117" dur="350"/>
                                        <p:tgtEl>
                                          <p:spTgt spid="10033"/>
                                        </p:tgtEl>
                                      </p:cBhvr>
                                    </p:animEffect>
                                  </p:childTnLst>
                                </p:cTn>
                              </p:par>
                              <p:par>
                                <p:cTn id="118" presetID="10" presetClass="entr" presetSubtype="0" fill="hold" nodeType="withEffect">
                                  <p:stCondLst>
                                    <p:cond delay="550"/>
                                  </p:stCondLst>
                                  <p:childTnLst>
                                    <p:set>
                                      <p:cBhvr>
                                        <p:cTn id="119" dur="1" fill="hold">
                                          <p:stCondLst>
                                            <p:cond delay="0"/>
                                          </p:stCondLst>
                                        </p:cTn>
                                        <p:tgtEl>
                                          <p:spTgt spid="10034"/>
                                        </p:tgtEl>
                                        <p:attrNameLst>
                                          <p:attrName>style.visibility</p:attrName>
                                        </p:attrNameLst>
                                      </p:cBhvr>
                                      <p:to>
                                        <p:strVal val="visible"/>
                                      </p:to>
                                    </p:set>
                                    <p:animEffect transition="in" filter="fade">
                                      <p:cBhvr>
                                        <p:cTn id="120" dur="350"/>
                                        <p:tgtEl>
                                          <p:spTgt spid="10034"/>
                                        </p:tgtEl>
                                      </p:cBhvr>
                                    </p:animEffect>
                                  </p:childTnLst>
                                </p:cTn>
                              </p:par>
                              <p:par>
                                <p:cTn id="121" presetID="1" presetClass="entr" presetSubtype="0" fill="hold" grpId="0" nodeType="withEffect">
                                  <p:stCondLst>
                                    <p:cond delay="550"/>
                                  </p:stCondLst>
                                  <p:childTnLst>
                                    <p:set>
                                      <p:cBhvr>
                                        <p:cTn id="12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17" grpId="0" animBg="1"/>
      <p:bldP spid="56" grpId="0" animBg="1"/>
      <p:bldP spid="63" grpId="0" animBg="1"/>
      <p:bldP spid="192" grpId="0" animBg="1"/>
      <p:bldP spid="193" grpId="0" animBg="1"/>
      <p:bldP spid="194" grpId="0"/>
      <p:bldP spid="195" grpId="0" animBg="1"/>
      <p:bldP spid="196" grpId="0" animBg="1"/>
      <p:bldP spid="197" grpId="0" animBg="1"/>
      <p:bldP spid="198" grpId="0" animBg="1"/>
      <p:bldP spid="11" grpId="0"/>
      <p:bldP spid="12" grpId="0"/>
      <p:bldP spid="14" grpId="0"/>
      <p:bldP spid="18" grpId="0"/>
      <p:bldP spid="23" grpId="0" animBg="1"/>
      <p:bldP spid="27" grpId="0" animBg="1"/>
      <p:bldP spid="28" grpId="0" animBg="1"/>
      <p:bldP spid="29" grpId="0" animBg="1"/>
      <p:bldP spid="30" grpId="0"/>
      <p:bldP spid="31" grpId="0" animBg="1"/>
      <p:bldP spid="32" grpId="0" animBg="1"/>
      <p:bldP spid="33" grpId="0" animBg="1"/>
      <p:bldP spid="34" grpId="0" animBg="1"/>
      <p:bldP spid="37" grpId="0"/>
      <p:bldP spid="38" grpId="0"/>
      <p:bldP spid="10001" grpId="0"/>
      <p:bldP spid="10002" grpId="0"/>
      <p:bldP spid="10002" grpId="1"/>
      <p:bldP spid="10003" grpId="0"/>
      <p:bldP spid="10003" grpId="1"/>
      <p:bldP spid="10004" grpId="0"/>
      <p:bldP spid="10004" grpId="1"/>
      <p:bldP spid="10005" grpId="0"/>
      <p:bldP spid="10006" grpId="0"/>
      <p:bldP spid="10007" grpId="0"/>
      <p:bldP spid="10008" grpId="0"/>
      <p:bldP spid="10008" grpId="1"/>
      <p:bldP spid="10009" grpId="0"/>
      <p:bldP spid="10009" grpId="1"/>
      <p:bldP spid="10010" grpId="0"/>
      <p:bldP spid="10010" grpId="1"/>
      <p:bldP spid="5"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3CB5AF-977E-FD18-4BF0-238F4A3C54DC}"/>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932728EC-375A-02AA-6ACB-8B562A5DDA85}"/>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450EC25E-87BB-2EDD-DD26-9411991B889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42</a:t>
            </a:fld>
            <a:endParaRPr lang="en-GB"/>
          </a:p>
        </p:txBody>
      </p:sp>
      <mc:AlternateContent xmlns:mc="http://schemas.openxmlformats.org/markup-compatibility/2006" xmlns:a14="http://schemas.microsoft.com/office/drawing/2010/main">
        <mc:Choice Requires="a14">
          <p:sp>
            <p:nvSpPr>
              <p:cNvPr id="10001" name="!!Primal filter matrix">
                <a:extLst>
                  <a:ext uri="{FF2B5EF4-FFF2-40B4-BE49-F238E27FC236}">
                    <a16:creationId xmlns:a16="http://schemas.microsoft.com/office/drawing/2014/main" id="{F8BE90C6-38B9-5BE0-A2C7-779672B605A9}"/>
                  </a:ext>
                </a:extLst>
              </p:cNvPr>
              <p:cNvSpPr/>
              <p:nvPr/>
            </p:nvSpPr>
            <p:spPr>
              <a:xfrm>
                <a:off x="444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600" b="0" i="1" smtClean="0">
                          <a:solidFill>
                            <a:srgbClr val="252529"/>
                          </a:solidFill>
                          <a:latin typeface="Cambria Math" panose="02040503050406030204" pitchFamily="18" charset="0"/>
                        </a:rPr>
                        <m:t>Θ</m:t>
                      </m:r>
                      <m:r>
                        <a:rPr lang="en-US" sz="1600" b="0" i="1" smtClean="0">
                          <a:solidFill>
                            <a:srgbClr val="252529"/>
                          </a:solidFill>
                          <a:latin typeface="Cambria Math" panose="02040503050406030204" pitchFamily="18" charset="0"/>
                        </a:rPr>
                        <m:t>=</m:t>
                      </m:r>
                      <m:d>
                        <m:dPr>
                          <m:begChr m:val="["/>
                          <m:endChr m:val="]"/>
                          <m:ctrlPr>
                            <a:rPr lang="en-US" sz="1600" b="0" i="1" smtClean="0">
                              <a:solidFill>
                                <a:srgbClr val="252529"/>
                              </a:solidFill>
                              <a:latin typeface="Cambria Math" panose="02040503050406030204" pitchFamily="18" charset="0"/>
                            </a:rPr>
                          </m:ctrlPr>
                        </m:dPr>
                        <m:e>
                          <m:m>
                            <m:mPr>
                              <m:mcs>
                                <m:mc>
                                  <m:mcPr>
                                    <m:count m:val="2"/>
                                    <m:mcJc m:val="center"/>
                                  </m:mcPr>
                                </m:mc>
                              </m:mcs>
                              <m:ctrlPr>
                                <a:rPr lang="en-US" sz="1600" b="0" i="1" smtClean="0">
                                  <a:solidFill>
                                    <a:srgbClr val="252529"/>
                                  </a:solidFill>
                                  <a:latin typeface="Cambria Math" panose="02040503050406030204" pitchFamily="18" charset="0"/>
                                </a:rPr>
                              </m:ctrlPr>
                            </m:mPr>
                            <m:mr>
                              <m:e>
                                <m:r>
                                  <a:rPr lang="en-US" sz="1600" b="0" i="1" smtClean="0">
                                    <a:solidFill>
                                      <a:srgbClr val="252529"/>
                                    </a:solidFill>
                                    <a:latin typeface="Cambria Math" panose="02040503050406030204" pitchFamily="18" charset="0"/>
                                  </a:rPr>
                                  <m:t>𝐼</m:t>
                                </m:r>
                              </m:e>
                              <m:e>
                                <m:r>
                                  <a:rPr lang="en-US" sz="1600" b="0" i="1" smtClean="0">
                                    <a:solidFill>
                                      <a:srgbClr val="252529"/>
                                    </a:solidFill>
                                    <a:latin typeface="Cambria Math" panose="02040503050406030204" pitchFamily="18" charset="0"/>
                                  </a:rPr>
                                  <m:t>0</m:t>
                                </m:r>
                              </m:e>
                            </m:mr>
                            <m:mr>
                              <m:e>
                                <m:r>
                                  <a:rPr lang="en-US" sz="1600" b="0" i="1" smtClean="0">
                                    <a:solidFill>
                                      <a:srgbClr val="252529"/>
                                    </a:solidFill>
                                    <a:latin typeface="Cambria Math" panose="02040503050406030204" pitchFamily="18" charset="0"/>
                                  </a:rPr>
                                  <m:t>−</m:t>
                                </m:r>
                                <m:r>
                                  <a:rPr lang="en-US" sz="1600" b="0" i="1" smtClean="0">
                                    <a:solidFill>
                                      <a:srgbClr val="252529"/>
                                    </a:solidFill>
                                    <a:latin typeface="Cambria Math" panose="02040503050406030204" pitchFamily="18" charset="0"/>
                                  </a:rPr>
                                  <m:t>𝐾</m:t>
                                </m:r>
                              </m:e>
                              <m:e>
                                <m:r>
                                  <a:rPr lang="en-US" sz="1600" b="0" i="1" smtClean="0">
                                    <a:solidFill>
                                      <a:srgbClr val="252529"/>
                                    </a:solidFill>
                                    <a:latin typeface="Cambria Math" panose="02040503050406030204" pitchFamily="18" charset="0"/>
                                  </a:rPr>
                                  <m:t>𝐼</m:t>
                                </m:r>
                              </m:e>
                            </m:mr>
                          </m:m>
                        </m:e>
                      </m:d>
                    </m:oMath>
                  </m:oMathPara>
                </a14:m>
                <a:endParaRPr sz="1600" dirty="0"/>
              </a:p>
            </p:txBody>
          </p:sp>
        </mc:Choice>
        <mc:Fallback xmlns="">
          <p:sp>
            <p:nvSpPr>
              <p:cNvPr id="10001" name="!!Primal filter matrix">
                <a:extLst>
                  <a:ext uri="{FF2B5EF4-FFF2-40B4-BE49-F238E27FC236}">
                    <a16:creationId xmlns:a16="http://schemas.microsoft.com/office/drawing/2014/main" id="{F8BE90C6-38B9-5BE0-A2C7-779672B605A9}"/>
                  </a:ext>
                </a:extLst>
              </p:cNvPr>
              <p:cNvSpPr>
                <a:spLocks noRot="1" noChangeAspect="1" noMove="1" noResize="1" noEditPoints="1" noAdjustHandles="1" noChangeArrowheads="1" noChangeShapeType="1" noTextEdit="1"/>
              </p:cNvSpPr>
              <p:nvPr/>
            </p:nvSpPr>
            <p:spPr>
              <a:xfrm>
                <a:off x="444500" y="2745740"/>
                <a:ext cx="3937000" cy="6045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4" name="Primal final inequality">
                <a:extLst>
                  <a:ext uri="{FF2B5EF4-FFF2-40B4-BE49-F238E27FC236}">
                    <a16:creationId xmlns:a16="http://schemas.microsoft.com/office/drawing/2014/main" id="{F8CA6A30-5EF2-E93D-C77D-B370C9FFD794}"/>
                  </a:ext>
                </a:extLst>
              </p:cNvPr>
              <p:cNvSpPr/>
              <p:nvPr/>
            </p:nvSpPr>
            <p:spPr>
              <a:xfrm>
                <a:off x="444500" y="3522790"/>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𝑦</m:t>
                                  </m: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04" name="Primal final inequality">
                <a:extLst>
                  <a:ext uri="{FF2B5EF4-FFF2-40B4-BE49-F238E27FC236}">
                    <a16:creationId xmlns:a16="http://schemas.microsoft.com/office/drawing/2014/main" id="{F8CA6A30-5EF2-E93D-C77D-B370C9FFD794}"/>
                  </a:ext>
                </a:extLst>
              </p:cNvPr>
              <p:cNvSpPr>
                <a:spLocks noRot="1" noChangeAspect="1" noMove="1" noResize="1" noEditPoints="1" noAdjustHandles="1" noChangeArrowheads="1" noChangeShapeType="1" noTextEdit="1"/>
              </p:cNvSpPr>
              <p:nvPr/>
            </p:nvSpPr>
            <p:spPr>
              <a:xfrm>
                <a:off x="444500" y="3522790"/>
                <a:ext cx="3937000" cy="64008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7" name="!!Dual filter matrix">
                <a:extLst>
                  <a:ext uri="{FF2B5EF4-FFF2-40B4-BE49-F238E27FC236}">
                    <a16:creationId xmlns:a16="http://schemas.microsoft.com/office/drawing/2014/main" id="{A7C94E3B-7145-BB9E-73C9-FB0B02A93982}"/>
                  </a:ext>
                </a:extLst>
              </p:cNvPr>
              <p:cNvSpPr/>
              <p:nvPr/>
            </p:nvSpPr>
            <p:spPr>
              <a:xfrm>
                <a:off x="4762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600" b="0" i="1" smtClean="0">
                              <a:solidFill>
                                <a:srgbClr val="252529"/>
                              </a:solidFill>
                              <a:latin typeface="Cambria Math" panose="02040503050406030204" pitchFamily="18" charset="0"/>
                            </a:rPr>
                          </m:ctrlPr>
                        </m:barPr>
                        <m:e>
                          <m:r>
                            <m:rPr>
                              <m:sty m:val="p"/>
                            </m:rPr>
                            <a:rPr lang="en-US" sz="1600" b="0" i="1" smtClean="0">
                              <a:solidFill>
                                <a:srgbClr val="252529"/>
                              </a:solidFill>
                              <a:latin typeface="Cambria Math" panose="02040503050406030204" pitchFamily="18" charset="0"/>
                            </a:rPr>
                            <m:t>Θ</m:t>
                          </m:r>
                        </m:e>
                      </m:bar>
                      <m:r>
                        <a:rPr lang="en-US" sz="1600" b="0" i="1" smtClean="0">
                          <a:solidFill>
                            <a:srgbClr val="252529"/>
                          </a:solidFill>
                          <a:latin typeface="Cambria Math" panose="02040503050406030204" pitchFamily="18" charset="0"/>
                        </a:rPr>
                        <m:t>=</m:t>
                      </m:r>
                      <m:d>
                        <m:dPr>
                          <m:begChr m:val="["/>
                          <m:endChr m:val="]"/>
                          <m:ctrlPr>
                            <a:rPr lang="en-US" sz="1600" b="0" i="1" smtClean="0">
                              <a:solidFill>
                                <a:srgbClr val="252529"/>
                              </a:solidFill>
                              <a:latin typeface="Cambria Math" panose="02040503050406030204" pitchFamily="18" charset="0"/>
                            </a:rPr>
                          </m:ctrlPr>
                        </m:dPr>
                        <m:e>
                          <m:m>
                            <m:mPr>
                              <m:mcs>
                                <m:mc>
                                  <m:mcPr>
                                    <m:count m:val="2"/>
                                    <m:mcJc m:val="center"/>
                                  </m:mcPr>
                                </m:mc>
                              </m:mcs>
                              <m:ctrlPr>
                                <a:rPr lang="en-US" sz="1600" b="0" i="1" smtClean="0">
                                  <a:solidFill>
                                    <a:srgbClr val="252529"/>
                                  </a:solidFill>
                                  <a:latin typeface="Cambria Math" panose="02040503050406030204" pitchFamily="18" charset="0"/>
                                </a:rPr>
                              </m:ctrlPr>
                            </m:mPr>
                            <m:mr>
                              <m:e>
                                <m:r>
                                  <a:rPr lang="en-US" sz="1600" b="0" i="1" smtClean="0">
                                    <a:solidFill>
                                      <a:srgbClr val="252529"/>
                                    </a:solidFill>
                                    <a:latin typeface="Cambria Math" panose="02040503050406030204" pitchFamily="18" charset="0"/>
                                  </a:rPr>
                                  <m:t>𝐼</m:t>
                                </m:r>
                              </m:e>
                              <m:e>
                                <m:r>
                                  <a:rPr lang="en-US" sz="1600" b="0" i="1" smtClean="0">
                                    <a:solidFill>
                                      <a:srgbClr val="252529"/>
                                    </a:solidFill>
                                    <a:latin typeface="Cambria Math" panose="02040503050406030204" pitchFamily="18" charset="0"/>
                                  </a:rPr>
                                  <m:t>0</m:t>
                                </m:r>
                              </m:e>
                            </m:mr>
                            <m:mr>
                              <m:e>
                                <m:r>
                                  <a:rPr lang="en-US" sz="1600" b="0" i="1" smtClean="0">
                                    <a:solidFill>
                                      <a:srgbClr val="252529"/>
                                    </a:solidFill>
                                    <a:latin typeface="Cambria Math" panose="02040503050406030204" pitchFamily="18" charset="0"/>
                                  </a:rPr>
                                  <m:t>−</m:t>
                                </m:r>
                                <m:sSup>
                                  <m:sSupPr>
                                    <m:ctrlPr>
                                      <a:rPr lang="en-US" sz="1600" b="0" i="1" smtClean="0">
                                        <a:solidFill>
                                          <a:srgbClr val="252529"/>
                                        </a:solidFill>
                                        <a:latin typeface="Cambria Math" panose="02040503050406030204" pitchFamily="18" charset="0"/>
                                      </a:rPr>
                                    </m:ctrlPr>
                                  </m:sSupPr>
                                  <m:e>
                                    <m:r>
                                      <a:rPr lang="en-US" sz="1600" b="0" i="1" smtClean="0">
                                        <a:solidFill>
                                          <a:srgbClr val="252529"/>
                                        </a:solidFill>
                                        <a:latin typeface="Cambria Math" panose="02040503050406030204" pitchFamily="18" charset="0"/>
                                      </a:rPr>
                                      <m:t>𝐾</m:t>
                                    </m:r>
                                  </m:e>
                                  <m:sup>
                                    <m:r>
                                      <a:rPr lang="en-US" sz="1600" b="0" i="1" smtClean="0">
                                        <a:solidFill>
                                          <a:srgbClr val="252529"/>
                                        </a:solidFill>
                                        <a:latin typeface="Cambria Math" panose="02040503050406030204" pitchFamily="18" charset="0"/>
                                      </a:rPr>
                                      <m:t>⊤</m:t>
                                    </m:r>
                                  </m:sup>
                                </m:sSup>
                              </m:e>
                              <m:e>
                                <m:r>
                                  <a:rPr lang="en-US" sz="1600" b="0" i="1" smtClean="0">
                                    <a:solidFill>
                                      <a:srgbClr val="252529"/>
                                    </a:solidFill>
                                    <a:latin typeface="Cambria Math" panose="02040503050406030204" pitchFamily="18" charset="0"/>
                                  </a:rPr>
                                  <m:t>𝐼</m:t>
                                </m:r>
                              </m:e>
                            </m:mr>
                          </m:m>
                        </m:e>
                      </m:d>
                    </m:oMath>
                  </m:oMathPara>
                </a14:m>
                <a:endParaRPr sz="1600" dirty="0"/>
              </a:p>
            </p:txBody>
          </p:sp>
        </mc:Choice>
        <mc:Fallback xmlns="">
          <p:sp>
            <p:nvSpPr>
              <p:cNvPr id="10007" name="!!Dual filter matrix">
                <a:extLst>
                  <a:ext uri="{FF2B5EF4-FFF2-40B4-BE49-F238E27FC236}">
                    <a16:creationId xmlns:a16="http://schemas.microsoft.com/office/drawing/2014/main" id="{A7C94E3B-7145-BB9E-73C9-FB0B02A93982}"/>
                  </a:ext>
                </a:extLst>
              </p:cNvPr>
              <p:cNvSpPr>
                <a:spLocks noRot="1" noChangeAspect="1" noMove="1" noResize="1" noEditPoints="1" noAdjustHandles="1" noChangeArrowheads="1" noChangeShapeType="1" noTextEdit="1"/>
              </p:cNvSpPr>
              <p:nvPr/>
            </p:nvSpPr>
            <p:spPr>
              <a:xfrm>
                <a:off x="4762500" y="2745740"/>
                <a:ext cx="3937000" cy="60452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10" name="Dual final inequality">
                <a:extLst>
                  <a:ext uri="{FF2B5EF4-FFF2-40B4-BE49-F238E27FC236}">
                    <a16:creationId xmlns:a16="http://schemas.microsoft.com/office/drawing/2014/main" id="{A14BACD2-F1BF-E183-1EBF-57EA7CC0AA54}"/>
                  </a:ext>
                </a:extLst>
              </p:cNvPr>
              <p:cNvSpPr/>
              <p:nvPr/>
            </p:nvSpPr>
            <p:spPr>
              <a:xfrm>
                <a:off x="4762500" y="3522790"/>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bar>
                                    <m:barPr>
                                      <m:pos m:val="bot"/>
                                      <m:ctrlPr>
                                        <a:rPr lang="en-US" sz="1600" i="1" smtClean="0">
                                          <a:solidFill>
                                            <a:srgbClr val="252529"/>
                                          </a:solidFill>
                                          <a:latin typeface="Cambria Math" panose="02040503050406030204" pitchFamily="18" charset="0"/>
                                        </a:rPr>
                                      </m:ctrlPr>
                                    </m:barPr>
                                    <m:e>
                                      <m:r>
                                        <a:rPr lang="en-US" sz="1600" i="1" smtClean="0">
                                          <a:solidFill>
                                            <a:srgbClr val="252529"/>
                                          </a:solidFill>
                                          <a:latin typeface="Cambria Math" panose="02040503050406030204" pitchFamily="18" charset="0"/>
                                        </a:rPr>
                                        <m:t>𝑦</m:t>
                                      </m:r>
                                    </m:e>
                                  </m:ba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10" name="Dual final inequality">
                <a:extLst>
                  <a:ext uri="{FF2B5EF4-FFF2-40B4-BE49-F238E27FC236}">
                    <a16:creationId xmlns:a16="http://schemas.microsoft.com/office/drawing/2014/main" id="{A14BACD2-F1BF-E183-1EBF-57EA7CC0AA54}"/>
                  </a:ext>
                </a:extLst>
              </p:cNvPr>
              <p:cNvSpPr>
                <a:spLocks noRot="1" noChangeAspect="1" noMove="1" noResize="1" noEditPoints="1" noAdjustHandles="1" noChangeArrowheads="1" noChangeShapeType="1" noTextEdit="1"/>
              </p:cNvSpPr>
              <p:nvPr/>
            </p:nvSpPr>
            <p:spPr>
              <a:xfrm>
                <a:off x="4762500" y="3522790"/>
                <a:ext cx="3937000" cy="640080"/>
              </a:xfrm>
              <a:prstGeom prst="rect">
                <a:avLst/>
              </a:prstGeom>
              <a:blipFill>
                <a:blip r:embed="rId6"/>
                <a:stretch>
                  <a:fillRect/>
                </a:stretch>
              </a:blipFill>
              <a:ln>
                <a:noFill/>
              </a:ln>
            </p:spPr>
            <p:txBody>
              <a:bodyPr/>
              <a:lstStyle/>
              <a:p>
                <a:r>
                  <a:rPr lang="en-NL">
                    <a:noFill/>
                  </a:rPr>
                  <a:t> </a:t>
                </a:r>
              </a:p>
            </p:txBody>
          </p:sp>
        </mc:Fallback>
      </mc:AlternateContent>
      <p:sp>
        <p:nvSpPr>
          <p:cNvPr id="7" name="Title 6">
            <a:extLst>
              <a:ext uri="{FF2B5EF4-FFF2-40B4-BE49-F238E27FC236}">
                <a16:creationId xmlns:a16="http://schemas.microsoft.com/office/drawing/2014/main" id="{F53BE328-8567-15FC-D747-E2459C6D0AF0}"/>
              </a:ext>
            </a:extLst>
          </p:cNvPr>
          <p:cNvSpPr>
            <a:spLocks noGrp="1"/>
          </p:cNvSpPr>
          <p:nvPr>
            <p:ph type="title"/>
          </p:nvPr>
        </p:nvSpPr>
        <p:spPr/>
        <p:txBody>
          <a:bodyPr/>
          <a:lstStyle/>
          <a:p>
            <a:endParaRPr lang="en-NL"/>
          </a:p>
        </p:txBody>
      </p:sp>
    </p:spTree>
    <p:extLst>
      <p:ext uri="{BB962C8B-B14F-4D97-AF65-F5344CB8AC3E}">
        <p14:creationId xmlns:p14="http://schemas.microsoft.com/office/powerpoint/2010/main" val="268934735"/>
      </p:ext>
    </p:extLst>
  </p:cSld>
  <p:clrMapOvr>
    <a:masterClrMapping/>
  </p:clrMapOvr>
  <mc:AlternateContent xmlns:mc="http://schemas.openxmlformats.org/markup-compatibility/2006" xmlns:p14="http://schemas.microsoft.com/office/powerpoint/2010/main">
    <mc:Choice Requires="p14">
      <p:transition p14:dur="10" advClick="0" advTm="0"/>
    </mc:Choice>
    <mc:Fallback xmlns="">
      <p:transition advClick="0" advTm="0"/>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2217DA-D721-362D-28B5-D2DB7978A419}"/>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483D6E3C-93A0-24B5-6F3C-44792FCDF473}"/>
                  </a:ext>
                </a:extLst>
              </p:cNvPr>
              <p:cNvSpPr>
                <a:spLocks noGrp="1"/>
              </p:cNvSpPr>
              <p:nvPr>
                <p:ph type="title"/>
              </p:nvPr>
            </p:nvSpPr>
            <p:spPr/>
            <p:txBody>
              <a:bodyPr/>
              <a:lstStyle/>
              <a:p>
                <a:r>
                  <a:rPr lang="en-US" dirty="0"/>
                  <a:t>Can we transpose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r>
                  <a:rPr lang="en-US" dirty="0"/>
                  <a:t>?</a:t>
                </a:r>
                <a:endParaRPr lang="en-NL" dirty="0"/>
              </a:p>
            </p:txBody>
          </p:sp>
        </mc:Choice>
        <mc:Fallback xmlns="" xmlns:m="http://schemas.openxmlformats.org/officeDocument/2006/math">
          <p:sp>
            <p:nvSpPr>
              <p:cNvPr id="2" name="Title 1">
                <a:extLst>
                  <a:ext uri="{FF2B5EF4-FFF2-40B4-BE49-F238E27FC236}">
                    <a16:creationId xmlns:a16="http://schemas.microsoft.com/office/drawing/2014/main" id="{483D6E3C-93A0-24B5-6F3C-44792FCDF473}"/>
                  </a:ext>
                </a:extLst>
              </p:cNvPr>
              <p:cNvSpPr>
                <a:spLocks noGrp="1" noRot="1" noChangeAspect="1" noMove="1" noResize="1" noEditPoints="1" noAdjustHandles="1" noChangeArrowheads="1" noChangeShapeType="1" noTextEdit="1"/>
              </p:cNvSpPr>
              <p:nvPr>
                <p:ph type="title"/>
              </p:nvPr>
            </p:nvSpPr>
            <p:spPr>
              <a:blipFill>
                <a:blip r:embed="rId3"/>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46AC66BC-99AA-E67F-18F4-29D3D83159C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AD8DE038-EC54-3C73-24CC-0C09218CEF97}"/>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43</a:t>
            </a:fld>
            <a:endParaRPr lang="en-GB"/>
          </a:p>
        </p:txBody>
      </p:sp>
      <p:sp>
        <p:nvSpPr>
          <p:cNvPr id="11001" name="Original filter heading"/>
          <p:cNvSpPr/>
          <p:nvPr/>
        </p:nvSpPr>
        <p:spPr>
          <a:xfrm>
            <a:off x="762000" y="971550"/>
            <a:ext cx="33020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Original filter</a:t>
            </a:r>
            <a:endParaRPr sz="1400"/>
          </a:p>
        </p:txBody>
      </p:sp>
      <p:sp>
        <p:nvSpPr>
          <p:cNvPr id="11002" name="Dual filter heading"/>
          <p:cNvSpPr/>
          <p:nvPr/>
        </p:nvSpPr>
        <p:spPr>
          <a:xfrm>
            <a:off x="5080000" y="971550"/>
            <a:ext cx="33020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Required dual filter</a:t>
            </a:r>
            <a:endParaRPr sz="1400"/>
          </a:p>
        </p:txBody>
      </p:sp>
      <mc:AlternateContent xmlns:mc="http://schemas.openxmlformats.org/markup-compatibility/2006" xmlns:a14="http://schemas.microsoft.com/office/drawing/2010/main">
        <mc:Choice Requires="a14">
          <p:sp>
            <p:nvSpPr>
              <p:cNvPr id="11003" name="!!Primal filter matrix">
                <a:extLst>
                  <a:ext uri="{FF2B5EF4-FFF2-40B4-BE49-F238E27FC236}">
                    <a16:creationId xmlns:a16="http://schemas.microsoft.com/office/drawing/2014/main" id="{F8BE90C6-38B9-5BE0-A2C7-779672B605A9}"/>
                  </a:ext>
                </a:extLst>
              </p:cNvPr>
              <p:cNvSpPr/>
              <p:nvPr/>
            </p:nvSpPr>
            <p:spPr>
              <a:xfrm>
                <a:off x="444500" y="12852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600" b="0" i="1" smtClean="0">
                          <a:solidFill>
                            <a:srgbClr val="252529"/>
                          </a:solidFill>
                          <a:latin typeface="Cambria Math" panose="02040503050406030204" pitchFamily="18" charset="0"/>
                        </a:rPr>
                        <m:t>Θ</m:t>
                      </m:r>
                      <m:r>
                        <a:rPr lang="en-US" sz="1600" b="0" i="1" smtClean="0">
                          <a:solidFill>
                            <a:srgbClr val="252529"/>
                          </a:solidFill>
                          <a:latin typeface="Cambria Math" panose="02040503050406030204" pitchFamily="18" charset="0"/>
                        </a:rPr>
                        <m:t>=</m:t>
                      </m:r>
                      <m:d>
                        <m:dPr>
                          <m:begChr m:val="["/>
                          <m:endChr m:val="]"/>
                          <m:ctrlPr>
                            <a:rPr lang="en-US" sz="1600" b="0" i="1" smtClean="0">
                              <a:solidFill>
                                <a:srgbClr val="252529"/>
                              </a:solidFill>
                              <a:latin typeface="Cambria Math" panose="02040503050406030204" pitchFamily="18" charset="0"/>
                            </a:rPr>
                          </m:ctrlPr>
                        </m:dPr>
                        <m:e>
                          <m:m>
                            <m:mPr>
                              <m:mcs>
                                <m:mc>
                                  <m:mcPr>
                                    <m:count m:val="2"/>
                                    <m:mcJc m:val="center"/>
                                  </m:mcPr>
                                </m:mc>
                              </m:mcs>
                              <m:ctrlPr>
                                <a:rPr lang="en-US" sz="1600" b="0" i="1" smtClean="0">
                                  <a:solidFill>
                                    <a:srgbClr val="252529"/>
                                  </a:solidFill>
                                  <a:latin typeface="Cambria Math" panose="02040503050406030204" pitchFamily="18" charset="0"/>
                                </a:rPr>
                              </m:ctrlPr>
                            </m:mPr>
                            <m:mr>
                              <m:e>
                                <m:r>
                                  <a:rPr lang="en-US" sz="1600" b="0" i="1" smtClean="0">
                                    <a:solidFill>
                                      <a:srgbClr val="252529"/>
                                    </a:solidFill>
                                    <a:latin typeface="Cambria Math" panose="02040503050406030204" pitchFamily="18" charset="0"/>
                                  </a:rPr>
                                  <m:t>𝐼</m:t>
                                </m:r>
                              </m:e>
                              <m:e>
                                <m:r>
                                  <a:rPr lang="en-US" sz="1600" b="0" i="1" smtClean="0">
                                    <a:solidFill>
                                      <a:srgbClr val="252529"/>
                                    </a:solidFill>
                                    <a:latin typeface="Cambria Math" panose="02040503050406030204" pitchFamily="18" charset="0"/>
                                  </a:rPr>
                                  <m:t>0</m:t>
                                </m:r>
                              </m:e>
                            </m:mr>
                            <m:mr>
                              <m:e>
                                <m:r>
                                  <a:rPr lang="en-US" sz="1600" b="0" i="1" smtClean="0">
                                    <a:solidFill>
                                      <a:srgbClr val="252529"/>
                                    </a:solidFill>
                                    <a:latin typeface="Cambria Math" panose="02040503050406030204" pitchFamily="18" charset="0"/>
                                  </a:rPr>
                                  <m:t>−</m:t>
                                </m:r>
                                <m:r>
                                  <a:rPr lang="en-US" sz="1600" b="0" i="1" smtClean="0">
                                    <a:solidFill>
                                      <a:srgbClr val="252529"/>
                                    </a:solidFill>
                                    <a:latin typeface="Cambria Math" panose="02040503050406030204" pitchFamily="18" charset="0"/>
                                  </a:rPr>
                                  <m:t>𝐾</m:t>
                                </m:r>
                              </m:e>
                              <m:e>
                                <m:r>
                                  <a:rPr lang="en-US" sz="1600" b="0" i="1" smtClean="0">
                                    <a:solidFill>
                                      <a:srgbClr val="252529"/>
                                    </a:solidFill>
                                    <a:latin typeface="Cambria Math" panose="02040503050406030204" pitchFamily="18" charset="0"/>
                                  </a:rPr>
                                  <m:t>𝐼</m:t>
                                </m:r>
                              </m:e>
                            </m:mr>
                          </m:m>
                        </m:e>
                      </m:d>
                    </m:oMath>
                  </m:oMathPara>
                </a14:m>
                <a:endParaRPr sz="1600" dirty="0"/>
              </a:p>
            </p:txBody>
          </p:sp>
        </mc:Choice>
        <mc:Fallback xmlns="" xmlns:m="http://schemas.openxmlformats.org/officeDocument/2006/math">
          <p:sp>
            <p:nvSpPr>
              <p:cNvPr id="11003" name="!!Primal filter matrix">
                <a:extLst>
                  <a:ext uri="{FF2B5EF4-FFF2-40B4-BE49-F238E27FC236}">
                    <a16:creationId xmlns:a16="http://schemas.microsoft.com/office/drawing/2014/main" id="{F8BE90C6-38B9-5BE0-A2C7-779672B605A9}"/>
                  </a:ext>
                </a:extLst>
              </p:cNvPr>
              <p:cNvSpPr>
                <a:spLocks noRot="1" noChangeAspect="1" noMove="1" noResize="1" noEditPoints="1" noAdjustHandles="1" noChangeArrowheads="1" noChangeShapeType="1" noTextEdit="1"/>
              </p:cNvSpPr>
              <p:nvPr/>
            </p:nvSpPr>
            <p:spPr>
              <a:xfrm>
                <a:off x="444500" y="1285240"/>
                <a:ext cx="3937000" cy="60452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004" name="!!Dual filter matrix">
                <a:extLst>
                  <a:ext uri="{FF2B5EF4-FFF2-40B4-BE49-F238E27FC236}">
                    <a16:creationId xmlns:a16="http://schemas.microsoft.com/office/drawing/2014/main" id="{A7C94E3B-7145-BB9E-73C9-FB0B02A93982}"/>
                  </a:ext>
                </a:extLst>
              </p:cNvPr>
              <p:cNvSpPr/>
              <p:nvPr/>
            </p:nvSpPr>
            <p:spPr>
              <a:xfrm>
                <a:off x="4762500" y="12852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600" b="0" i="1" smtClean="0">
                              <a:solidFill>
                                <a:srgbClr val="252529"/>
                              </a:solidFill>
                              <a:latin typeface="Cambria Math" panose="02040503050406030204" pitchFamily="18" charset="0"/>
                            </a:rPr>
                          </m:ctrlPr>
                        </m:barPr>
                        <m:e>
                          <m:r>
                            <m:rPr>
                              <m:sty m:val="p"/>
                            </m:rPr>
                            <a:rPr lang="en-US" sz="1600" b="0" i="1" smtClean="0">
                              <a:solidFill>
                                <a:srgbClr val="252529"/>
                              </a:solidFill>
                              <a:latin typeface="Cambria Math" panose="02040503050406030204" pitchFamily="18" charset="0"/>
                            </a:rPr>
                            <m:t>Θ</m:t>
                          </m:r>
                        </m:e>
                      </m:bar>
                      <m:r>
                        <a:rPr lang="en-US" sz="1600" b="0" i="1" smtClean="0">
                          <a:solidFill>
                            <a:srgbClr val="252529"/>
                          </a:solidFill>
                          <a:latin typeface="Cambria Math" panose="02040503050406030204" pitchFamily="18" charset="0"/>
                        </a:rPr>
                        <m:t>=</m:t>
                      </m:r>
                      <m:d>
                        <m:dPr>
                          <m:begChr m:val="["/>
                          <m:endChr m:val="]"/>
                          <m:ctrlPr>
                            <a:rPr lang="en-US" sz="1600" b="0" i="1" smtClean="0">
                              <a:solidFill>
                                <a:srgbClr val="252529"/>
                              </a:solidFill>
                              <a:latin typeface="Cambria Math" panose="02040503050406030204" pitchFamily="18" charset="0"/>
                            </a:rPr>
                          </m:ctrlPr>
                        </m:dPr>
                        <m:e>
                          <m:m>
                            <m:mPr>
                              <m:mcs>
                                <m:mc>
                                  <m:mcPr>
                                    <m:count m:val="2"/>
                                    <m:mcJc m:val="center"/>
                                  </m:mcPr>
                                </m:mc>
                              </m:mcs>
                              <m:ctrlPr>
                                <a:rPr lang="en-US" sz="1600" b="0" i="1" smtClean="0">
                                  <a:solidFill>
                                    <a:srgbClr val="252529"/>
                                  </a:solidFill>
                                  <a:latin typeface="Cambria Math" panose="02040503050406030204" pitchFamily="18" charset="0"/>
                                </a:rPr>
                              </m:ctrlPr>
                            </m:mPr>
                            <m:mr>
                              <m:e>
                                <m:r>
                                  <a:rPr lang="en-US" sz="1600" b="0" i="1" smtClean="0">
                                    <a:solidFill>
                                      <a:srgbClr val="252529"/>
                                    </a:solidFill>
                                    <a:latin typeface="Cambria Math" panose="02040503050406030204" pitchFamily="18" charset="0"/>
                                  </a:rPr>
                                  <m:t>𝐼</m:t>
                                </m:r>
                              </m:e>
                              <m:e>
                                <m:r>
                                  <a:rPr lang="en-US" sz="1600" b="0" i="1" smtClean="0">
                                    <a:solidFill>
                                      <a:srgbClr val="252529"/>
                                    </a:solidFill>
                                    <a:latin typeface="Cambria Math" panose="02040503050406030204" pitchFamily="18" charset="0"/>
                                  </a:rPr>
                                  <m:t>0</m:t>
                                </m:r>
                              </m:e>
                            </m:mr>
                            <m:mr>
                              <m:e>
                                <m:r>
                                  <a:rPr lang="en-US" sz="1600" b="0" i="1" smtClean="0">
                                    <a:solidFill>
                                      <a:srgbClr val="252529"/>
                                    </a:solidFill>
                                    <a:latin typeface="Cambria Math" panose="02040503050406030204" pitchFamily="18" charset="0"/>
                                  </a:rPr>
                                  <m:t>−</m:t>
                                </m:r>
                                <m:sSup>
                                  <m:sSupPr>
                                    <m:ctrlPr>
                                      <a:rPr lang="en-US" sz="1600" b="0" i="1" smtClean="0">
                                        <a:solidFill>
                                          <a:srgbClr val="252529"/>
                                        </a:solidFill>
                                        <a:latin typeface="Cambria Math" panose="02040503050406030204" pitchFamily="18" charset="0"/>
                                      </a:rPr>
                                    </m:ctrlPr>
                                  </m:sSupPr>
                                  <m:e>
                                    <m:r>
                                      <a:rPr lang="en-US" sz="1600" b="0" i="1" smtClean="0">
                                        <a:solidFill>
                                          <a:srgbClr val="252529"/>
                                        </a:solidFill>
                                        <a:latin typeface="Cambria Math" panose="02040503050406030204" pitchFamily="18" charset="0"/>
                                      </a:rPr>
                                      <m:t>𝐾</m:t>
                                    </m:r>
                                  </m:e>
                                  <m:sup>
                                    <m:r>
                                      <a:rPr lang="en-US" sz="1600" b="0" i="1" smtClean="0">
                                        <a:solidFill>
                                          <a:srgbClr val="252529"/>
                                        </a:solidFill>
                                        <a:latin typeface="Cambria Math" panose="02040503050406030204" pitchFamily="18" charset="0"/>
                                      </a:rPr>
                                      <m:t>⊤</m:t>
                                    </m:r>
                                  </m:sup>
                                </m:sSup>
                              </m:e>
                              <m:e>
                                <m:r>
                                  <a:rPr lang="en-US" sz="1600" b="0" i="1" smtClean="0">
                                    <a:solidFill>
                                      <a:srgbClr val="252529"/>
                                    </a:solidFill>
                                    <a:latin typeface="Cambria Math" panose="02040503050406030204" pitchFamily="18" charset="0"/>
                                  </a:rPr>
                                  <m:t>𝐼</m:t>
                                </m:r>
                              </m:e>
                            </m:mr>
                          </m:m>
                        </m:e>
                      </m:d>
                    </m:oMath>
                  </m:oMathPara>
                </a14:m>
                <a:endParaRPr sz="1600" dirty="0"/>
              </a:p>
            </p:txBody>
          </p:sp>
        </mc:Choice>
        <mc:Fallback xmlns="" xmlns:m="http://schemas.openxmlformats.org/officeDocument/2006/math">
          <p:sp>
            <p:nvSpPr>
              <p:cNvPr id="11004" name="!!Dual filter matrix">
                <a:extLst>
                  <a:ext uri="{FF2B5EF4-FFF2-40B4-BE49-F238E27FC236}">
                    <a16:creationId xmlns:a16="http://schemas.microsoft.com/office/drawing/2014/main" id="{A7C94E3B-7145-BB9E-73C9-FB0B02A93982}"/>
                  </a:ext>
                </a:extLst>
              </p:cNvPr>
              <p:cNvSpPr>
                <a:spLocks noRot="1" noChangeAspect="1" noMove="1" noResize="1" noEditPoints="1" noAdjustHandles="1" noChangeArrowheads="1" noChangeShapeType="1" noTextEdit="1"/>
              </p:cNvSpPr>
              <p:nvPr/>
            </p:nvSpPr>
            <p:spPr>
              <a:xfrm>
                <a:off x="4762500" y="1285240"/>
                <a:ext cx="3937000" cy="60452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005" name="Transpose comparison"/>
              <p:cNvSpPr/>
              <p:nvPr/>
            </p:nvSpPr>
            <p:spPr>
              <a:xfrm>
                <a:off x="508000" y="2430780"/>
                <a:ext cx="8128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2400">
                              <a:solidFill>
                                <a:srgbClr val="252529"/>
                              </a:solidFill>
                              <a:latin typeface="Cambria Math"/>
                            </a:rPr>
                          </m:ctrlPr>
                        </m:sSupPr>
                        <m:e>
                          <m:r>
                            <m:rPr>
                              <m:sty m:val="p"/>
                            </m:rPr>
                            <a:rPr sz="2400">
                              <a:solidFill>
                                <a:srgbClr val="252529"/>
                              </a:solidFill>
                              <a:latin typeface="Cambria Math"/>
                            </a:rPr>
                            <m:t>Θ</m:t>
                          </m:r>
                        </m:e>
                        <m:sup>
                          <m:r>
                            <a:rPr sz="2400">
                              <a:solidFill>
                                <a:srgbClr val="252529"/>
                              </a:solidFill>
                              <a:latin typeface="Cambria Math"/>
                            </a:rPr>
                            <m:t>⊤</m:t>
                          </m:r>
                        </m:sup>
                      </m:sSup>
                      <m:r>
                        <a:rPr sz="2400">
                          <a:solidFill>
                            <a:srgbClr val="252529"/>
                          </a:solidFill>
                          <a:latin typeface="Cambria Math"/>
                        </a:rPr>
                        <m:t>=</m:t>
                      </m:r>
                      <m:d>
                        <m:dPr>
                          <m:begChr m:val="["/>
                          <m:endChr m:val="]"/>
                          <m:ctrlPr>
                            <a:rPr sz="2400" i="1">
                              <a:solidFill>
                                <a:srgbClr val="252529"/>
                              </a:solidFill>
                              <a:latin typeface="Cambria Math" panose="02040503050406030204" pitchFamily="18" charset="0"/>
                            </a:rPr>
                          </m:ctrlPr>
                        </m:dPr>
                        <m:e>
                          <m:m>
                            <m:mPr>
                              <m:mcs>
                                <m:mc>
                                  <m:mcPr>
                                    <m:count m:val="2"/>
                                    <m:mcJc m:val="center"/>
                                  </m:mcPr>
                                </m:mc>
                              </m:mcs>
                              <m:ctrlPr>
                                <a:rPr sz="2400" i="1">
                                  <a:solidFill>
                                    <a:srgbClr val="252529"/>
                                  </a:solidFill>
                                  <a:latin typeface="Cambria Math" panose="02040503050406030204" pitchFamily="18" charset="0"/>
                                </a:rPr>
                              </m:ctrlPr>
                            </m:mPr>
                            <m:mr>
                              <m:e>
                                <m:r>
                                  <a:rPr sz="2400">
                                    <a:solidFill>
                                      <a:srgbClr val="252529"/>
                                    </a:solidFill>
                                    <a:latin typeface="Cambria Math"/>
                                  </a:rPr>
                                  <m:t>𝐼</m:t>
                                </m:r>
                              </m:e>
                              <m:e>
                                <m:r>
                                  <a:rPr sz="2400">
                                    <a:solidFill>
                                      <a:srgbClr val="C81919"/>
                                    </a:solidFill>
                                    <a:latin typeface="Cambria Math"/>
                                  </a:rPr>
                                  <m:t>−</m:t>
                                </m:r>
                                <m:sSup>
                                  <m:sSupPr>
                                    <m:ctrlPr>
                                      <a:rPr sz="2400">
                                        <a:solidFill>
                                          <a:srgbClr val="C81919"/>
                                        </a:solidFill>
                                        <a:latin typeface="Cambria Math"/>
                                      </a:rPr>
                                    </m:ctrlPr>
                                  </m:sSupPr>
                                  <m:e>
                                    <m:r>
                                      <a:rPr sz="2400">
                                        <a:solidFill>
                                          <a:srgbClr val="C81919"/>
                                        </a:solidFill>
                                        <a:latin typeface="Cambria Math"/>
                                      </a:rPr>
                                      <m:t>𝐾</m:t>
                                    </m:r>
                                  </m:e>
                                  <m:sup>
                                    <m:r>
                                      <a:rPr sz="2400">
                                        <a:solidFill>
                                          <a:srgbClr val="C81919"/>
                                        </a:solidFill>
                                        <a:latin typeface="Cambria Math"/>
                                      </a:rPr>
                                      <m:t>⊤</m:t>
                                    </m:r>
                                  </m:sup>
                                </m:sSup>
                              </m:e>
                            </m:mr>
                            <m:mr>
                              <m:e>
                                <m:r>
                                  <a:rPr sz="2400">
                                    <a:solidFill>
                                      <a:srgbClr val="252529"/>
                                    </a:solidFill>
                                    <a:latin typeface="Cambria Math"/>
                                  </a:rPr>
                                  <m:t>0</m:t>
                                </m:r>
                              </m:e>
                              <m:e>
                                <m:r>
                                  <a:rPr sz="2400">
                                    <a:solidFill>
                                      <a:srgbClr val="252529"/>
                                    </a:solidFill>
                                    <a:latin typeface="Cambria Math"/>
                                  </a:rPr>
                                  <m:t>𝐼</m:t>
                                </m:r>
                              </m:e>
                            </m:mr>
                          </m:m>
                        </m:e>
                      </m:d>
                      <m:r>
                        <a:rPr sz="2400">
                          <a:solidFill>
                            <a:srgbClr val="252529"/>
                          </a:solidFill>
                          <a:latin typeface="Cambria Math"/>
                        </a:rPr>
                        <m:t>≠</m:t>
                      </m:r>
                      <m:d>
                        <m:dPr>
                          <m:begChr m:val="["/>
                          <m:endChr m:val="]"/>
                          <m:ctrlPr>
                            <a:rPr sz="2400" i="1">
                              <a:solidFill>
                                <a:srgbClr val="252529"/>
                              </a:solidFill>
                              <a:latin typeface="Cambria Math" panose="02040503050406030204" pitchFamily="18" charset="0"/>
                            </a:rPr>
                          </m:ctrlPr>
                        </m:dPr>
                        <m:e>
                          <m:m>
                            <m:mPr>
                              <m:mcs>
                                <m:mc>
                                  <m:mcPr>
                                    <m:count m:val="2"/>
                                    <m:mcJc m:val="center"/>
                                  </m:mcPr>
                                </m:mc>
                              </m:mcs>
                              <m:ctrlPr>
                                <a:rPr sz="2400" i="1">
                                  <a:solidFill>
                                    <a:srgbClr val="252529"/>
                                  </a:solidFill>
                                  <a:latin typeface="Cambria Math" panose="02040503050406030204" pitchFamily="18" charset="0"/>
                                </a:rPr>
                              </m:ctrlPr>
                            </m:mPr>
                            <m:mr>
                              <m:e>
                                <m:r>
                                  <a:rPr sz="2400">
                                    <a:solidFill>
                                      <a:srgbClr val="252529"/>
                                    </a:solidFill>
                                    <a:latin typeface="Cambria Math"/>
                                  </a:rPr>
                                  <m:t>𝐼</m:t>
                                </m:r>
                              </m:e>
                              <m:e>
                                <m:r>
                                  <a:rPr sz="2400">
                                    <a:solidFill>
                                      <a:srgbClr val="252529"/>
                                    </a:solidFill>
                                    <a:latin typeface="Cambria Math"/>
                                  </a:rPr>
                                  <m:t>0</m:t>
                                </m:r>
                              </m:e>
                            </m:mr>
                            <m:mr>
                              <m:e>
                                <m:r>
                                  <a:rPr sz="2400">
                                    <a:solidFill>
                                      <a:srgbClr val="C81919"/>
                                    </a:solidFill>
                                    <a:latin typeface="Cambria Math"/>
                                  </a:rPr>
                                  <m:t>−</m:t>
                                </m:r>
                                <m:sSup>
                                  <m:sSupPr>
                                    <m:ctrlPr>
                                      <a:rPr sz="2400">
                                        <a:solidFill>
                                          <a:srgbClr val="C81919"/>
                                        </a:solidFill>
                                        <a:latin typeface="Cambria Math"/>
                                      </a:rPr>
                                    </m:ctrlPr>
                                  </m:sSupPr>
                                  <m:e>
                                    <m:r>
                                      <a:rPr sz="2400">
                                        <a:solidFill>
                                          <a:srgbClr val="C81919"/>
                                        </a:solidFill>
                                        <a:latin typeface="Cambria Math"/>
                                      </a:rPr>
                                      <m:t>𝐾</m:t>
                                    </m:r>
                                  </m:e>
                                  <m:sup>
                                    <m:r>
                                      <a:rPr sz="2400">
                                        <a:solidFill>
                                          <a:srgbClr val="C81919"/>
                                        </a:solidFill>
                                        <a:latin typeface="Cambria Math"/>
                                      </a:rPr>
                                      <m:t>⊤</m:t>
                                    </m:r>
                                  </m:sup>
                                </m:sSup>
                              </m:e>
                              <m:e>
                                <m:r>
                                  <a:rPr sz="2400">
                                    <a:solidFill>
                                      <a:srgbClr val="252529"/>
                                    </a:solidFill>
                                    <a:latin typeface="Cambria Math"/>
                                  </a:rPr>
                                  <m:t>𝐼</m:t>
                                </m:r>
                              </m:e>
                            </m:mr>
                          </m:m>
                        </m:e>
                      </m:d>
                      <m:r>
                        <a:rPr sz="2400">
                          <a:solidFill>
                            <a:srgbClr val="252529"/>
                          </a:solidFill>
                          <a:latin typeface="Cambria Math"/>
                        </a:rPr>
                        <m:t>=</m:t>
                      </m:r>
                      <m:bar>
                        <m:barPr>
                          <m:pos m:val="bot"/>
                          <m:ctrlPr>
                            <a:rPr sz="2400">
                              <a:solidFill>
                                <a:srgbClr val="252529"/>
                              </a:solidFill>
                              <a:latin typeface="Cambria Math"/>
                            </a:rPr>
                          </m:ctrlPr>
                        </m:barPr>
                        <m:e>
                          <m:r>
                            <m:rPr>
                              <m:sty m:val="p"/>
                            </m:rPr>
                            <a:rPr sz="2400">
                              <a:solidFill>
                                <a:srgbClr val="252529"/>
                              </a:solidFill>
                              <a:latin typeface="Cambria Math"/>
                            </a:rPr>
                            <m:t>Θ</m:t>
                          </m:r>
                        </m:e>
                      </m:bar>
                    </m:oMath>
                  </m:oMathPara>
                </a14:m>
                <a:endParaRPr sz="2400"/>
              </a:p>
            </p:txBody>
          </p:sp>
        </mc:Choice>
        <mc:Fallback xmlns="" xmlns:m="http://schemas.openxmlformats.org/officeDocument/2006/math">
          <p:sp>
            <p:nvSpPr>
              <p:cNvPr id="11005" name="Transpose comparison"/>
              <p:cNvSpPr>
                <a:spLocks noRot="1" noChangeAspect="1" noMove="1" noResize="1" noEditPoints="1" noAdjustHandles="1" noChangeArrowheads="1" noChangeShapeType="1" noTextEdit="1"/>
              </p:cNvSpPr>
              <p:nvPr/>
            </p:nvSpPr>
            <p:spPr>
              <a:xfrm>
                <a:off x="508000" y="2430780"/>
                <a:ext cx="8128000" cy="853440"/>
              </a:xfrm>
              <a:prstGeom prst="rect">
                <a:avLst/>
              </a:prstGeom>
              <a:blipFill>
                <a:blip r:embed="rId6"/>
                <a:stretch>
                  <a:fillRect/>
                </a:stretch>
              </a:blipFill>
              <a:ln>
                <a:noFill/>
              </a:ln>
            </p:spPr>
            <p:txBody>
              <a:bodyPr/>
              <a:lstStyle/>
              <a:p>
                <a:r>
                  <a:rPr lang="en-NL">
                    <a:noFill/>
                  </a:rPr>
                  <a:t> </a:t>
                </a:r>
              </a:p>
            </p:txBody>
          </p:sp>
        </mc:Fallback>
      </mc:AlternateContent>
      <p:sp>
        <p:nvSpPr>
          <p:cNvPr id="11006" name="Transpose explanation"/>
          <p:cNvSpPr/>
          <p:nvPr/>
        </p:nvSpPr>
        <p:spPr>
          <a:xfrm>
            <a:off x="444500" y="3457575"/>
            <a:ext cx="8255000" cy="323850"/>
          </a:xfrm>
          <a:prstGeom prst="rect">
            <a:avLst/>
          </a:prstGeom>
          <a:noFill/>
          <a:ln>
            <a:noFill/>
          </a:ln>
        </p:spPr>
        <p:txBody>
          <a:bodyPr wrap="none" lIns="0" tIns="0" rIns="0" bIns="0" anchor="ctr">
            <a:noAutofit/>
          </a:bodyPr>
          <a:lstStyle/>
          <a:p>
            <a:pPr algn="ctr">
              <a:buNone/>
            </a:pPr>
            <a:r>
              <a:rPr lang="en-GB" sz="1700" b="0" i="0" u="none" baseline="0" dirty="0">
                <a:solidFill>
                  <a:srgbClr val="252529"/>
                </a:solidFill>
                <a:latin typeface="Aptos"/>
                <a:ea typeface="Aptos"/>
                <a:cs typeface="Aptos"/>
              </a:rPr>
              <a:t>Transposing moves the controller block to the wrong position.</a:t>
            </a:r>
            <a:endParaRPr sz="1700" dirty="0"/>
          </a:p>
        </p:txBody>
      </p:sp>
      <p:sp>
        <p:nvSpPr>
          <p:cNvPr id="11009" name="Dual operation steps"/>
          <p:cNvSpPr/>
          <p:nvPr/>
        </p:nvSpPr>
        <p:spPr>
          <a:xfrm>
            <a:off x="508000" y="2092325"/>
            <a:ext cx="8128000" cy="285750"/>
          </a:xfrm>
          <a:prstGeom prst="rect">
            <a:avLst/>
          </a:prstGeom>
          <a:noFill/>
          <a:ln>
            <a:noFill/>
          </a:ln>
        </p:spPr>
        <p:txBody>
          <a:bodyPr wrap="none" lIns="0" tIns="0" rIns="0" bIns="0" anchor="ctr">
            <a:noAutofit/>
          </a:bodyPr>
          <a:lstStyle/>
          <a:p>
            <a:pPr algn="ctr">
              <a:buNone/>
            </a:pPr>
            <a:r>
              <a:rPr lang="en-GB" sz="1500" b="0" i="0" u="none" baseline="0" dirty="0">
                <a:solidFill>
                  <a:srgbClr val="252529"/>
                </a:solidFill>
                <a:latin typeface="Aptos"/>
                <a:ea typeface="Aptos"/>
                <a:cs typeface="Aptos"/>
              </a:rPr>
              <a:t>Transpose · exchange the blocks · invert</a:t>
            </a:r>
            <a:endParaRPr sz="1500" dirty="0"/>
          </a:p>
        </p:txBody>
      </p:sp>
      <mc:AlternateContent xmlns:mc="http://schemas.openxmlformats.org/markup-compatibility/2006" xmlns:a14="http://schemas.microsoft.com/office/drawing/2010/main">
        <mc:Choice Requires="a14">
          <p:sp>
            <p:nvSpPr>
              <p:cNvPr id="14001" name="Full D 0 prefix"/>
              <p:cNvSpPr/>
              <p:nvPr/>
            </p:nvSpPr>
            <p:spPr>
              <a:xfrm>
                <a:off x="793750" y="2791460"/>
                <a:ext cx="1841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D</m:t>
                      </m:r>
                      <m:d>
                        <m:dPr>
                          <m:ctrlPr>
                            <a:rPr sz="2300">
                              <a:solidFill>
                                <a:srgbClr val="252529"/>
                              </a:solidFill>
                              <a:latin typeface="Cambria Math"/>
                            </a:rPr>
                          </m:ctrlPr>
                        </m:dPr>
                        <m:e>
                          <m:r>
                            <m:rPr>
                              <m:sty m:val="p"/>
                            </m:rPr>
                            <a:rPr sz="2300">
                              <a:solidFill>
                                <a:srgbClr val="252529"/>
                              </a:solidFill>
                              <a:latin typeface="Cambria Math"/>
                            </a:rPr>
                            <m:t>Θ</m:t>
                          </m:r>
                        </m:e>
                      </m:d>
                      <m:r>
                        <a:rPr sz="2300">
                          <a:solidFill>
                            <a:srgbClr val="252529"/>
                          </a:solidFill>
                          <a:latin typeface="Cambria Math"/>
                        </a:rPr>
                        <m:t>=</m:t>
                      </m:r>
                    </m:oMath>
                  </m:oMathPara>
                </a14:m>
                <a:endParaRPr sz="2300"/>
              </a:p>
            </p:txBody>
          </p:sp>
        </mc:Choice>
        <mc:Fallback xmlns="">
          <p:sp>
            <p:nvSpPr>
              <p:cNvPr id="14001" name="Full D 0 prefix"/>
              <p:cNvSpPr>
                <a:spLocks noRot="1" noChangeAspect="1" noMove="1" noResize="1" noEditPoints="1" noAdjustHandles="1" noChangeArrowheads="1" noChangeShapeType="1" noTextEdit="1"/>
              </p:cNvSpPr>
              <p:nvPr/>
            </p:nvSpPr>
            <p:spPr>
              <a:xfrm>
                <a:off x="793750" y="2791460"/>
                <a:ext cx="1841500" cy="8178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2" name="Full D 0 open"/>
              <p:cNvSpPr/>
              <p:nvPr/>
            </p:nvSpPr>
            <p:spPr>
              <a:xfrm>
                <a:off x="25400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xmlns="">
          <p:sp>
            <p:nvSpPr>
              <p:cNvPr id="14002" name="Full D 0 open"/>
              <p:cNvSpPr>
                <a:spLocks noRot="1" noChangeAspect="1" noMove="1" noResize="1" noEditPoints="1" noAdjustHandles="1" noChangeArrowheads="1" noChangeShapeType="1" noTextEdit="1"/>
              </p:cNvSpPr>
              <p:nvPr/>
            </p:nvSpPr>
            <p:spPr>
              <a:xfrm>
                <a:off x="2540000" y="2021840"/>
                <a:ext cx="381000" cy="22047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3" name="Full D 0 close"/>
              <p:cNvSpPr/>
              <p:nvPr/>
            </p:nvSpPr>
            <p:spPr>
              <a:xfrm>
                <a:off x="67691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xmlns="">
          <p:sp>
            <p:nvSpPr>
              <p:cNvPr id="14003" name="Full D 0 close"/>
              <p:cNvSpPr>
                <a:spLocks noRot="1" noChangeAspect="1" noMove="1" noResize="1" noEditPoints="1" noAdjustHandles="1" noChangeArrowheads="1" noChangeShapeType="1" noTextEdit="1"/>
              </p:cNvSpPr>
              <p:nvPr/>
            </p:nvSpPr>
            <p:spPr>
              <a:xfrm>
                <a:off x="6769100" y="2021840"/>
                <a:ext cx="381000" cy="2204720"/>
              </a:xfrm>
              <a:prstGeom prst="rect">
                <a:avLst/>
              </a:prstGeom>
              <a:blipFill>
                <a:blip r:embed="rId9"/>
                <a:stretch>
                  <a:fillRect l="-1111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4" name="Full D 0 inverse"/>
              <p:cNvSpPr/>
              <p:nvPr/>
            </p:nvSpPr>
            <p:spPr>
              <a:xfrm>
                <a:off x="6946900" y="2471420"/>
                <a:ext cx="5334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C81919"/>
                          </a:solidFill>
                          <a:latin typeface="Cambria Math"/>
                        </a:rPr>
                        <m:t>−1</m:t>
                      </m:r>
                    </m:oMath>
                  </m:oMathPara>
                </a14:m>
                <a:endParaRPr sz="1600"/>
              </a:p>
            </p:txBody>
          </p:sp>
        </mc:Choice>
        <mc:Fallback xmlns="">
          <p:sp>
            <p:nvSpPr>
              <p:cNvPr id="14004" name="Full D 0 inverse"/>
              <p:cNvSpPr>
                <a:spLocks noRot="1" noChangeAspect="1" noMove="1" noResize="1" noEditPoints="1" noAdjustHandles="1" noChangeArrowheads="1" noChangeShapeType="1" noTextEdit="1"/>
              </p:cNvSpPr>
              <p:nvPr/>
            </p:nvSpPr>
            <p:spPr>
              <a:xfrm>
                <a:off x="6946900" y="2471420"/>
                <a:ext cx="533400" cy="5689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5" name="Full D 0 left factor"/>
              <p:cNvSpPr/>
              <p:nvPr/>
            </p:nvSpPr>
            <p:spPr>
              <a:xfrm>
                <a:off x="2800350" y="2791460"/>
                <a:ext cx="1181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a:rPr sz="2300">
                                    <a:solidFill>
                                      <a:srgbClr val="252529"/>
                                    </a:solidFill>
                                    <a:latin typeface="Cambria Math"/>
                                  </a:rPr>
                                  <m:t>0</m:t>
                                </m:r>
                              </m:e>
                              <m:e>
                                <m:r>
                                  <a:rPr sz="2300">
                                    <a:solidFill>
                                      <a:srgbClr val="252529"/>
                                    </a:solidFill>
                                    <a:latin typeface="Cambria Math"/>
                                  </a:rPr>
                                  <m:t>−</m:t>
                                </m:r>
                                <m:r>
                                  <a:rPr sz="2300">
                                    <a:solidFill>
                                      <a:srgbClr val="252529"/>
                                    </a:solidFill>
                                    <a:latin typeface="Cambria Math"/>
                                  </a:rPr>
                                  <m:t>𝐼</m:t>
                                </m:r>
                              </m:e>
                            </m:mr>
                            <m:mr>
                              <m:e>
                                <m:r>
                                  <a:rPr sz="2300">
                                    <a:solidFill>
                                      <a:srgbClr val="252529"/>
                                    </a:solidFill>
                                    <a:latin typeface="Cambria Math"/>
                                  </a:rPr>
                                  <m:t>𝐼</m:t>
                                </m:r>
                              </m:e>
                              <m:e>
                                <m:r>
                                  <a:rPr sz="2300">
                                    <a:solidFill>
                                      <a:srgbClr val="252529"/>
                                    </a:solidFill>
                                    <a:latin typeface="Cambria Math"/>
                                  </a:rPr>
                                  <m:t>0</m:t>
                                </m:r>
                              </m:e>
                            </m:mr>
                          </m:m>
                        </m:e>
                      </m:d>
                    </m:oMath>
                  </m:oMathPara>
                </a14:m>
                <a:endParaRPr sz="2300"/>
              </a:p>
            </p:txBody>
          </p:sp>
        </mc:Choice>
        <mc:Fallback xmlns="">
          <p:sp>
            <p:nvSpPr>
              <p:cNvPr id="14005" name="Full D 0 left factor"/>
              <p:cNvSpPr>
                <a:spLocks noRot="1" noChangeAspect="1" noMove="1" noResize="1" noEditPoints="1" noAdjustHandles="1" noChangeArrowheads="1" noChangeShapeType="1" noTextEdit="1"/>
              </p:cNvSpPr>
              <p:nvPr/>
            </p:nvSpPr>
            <p:spPr>
              <a:xfrm>
                <a:off x="2800350" y="2791460"/>
                <a:ext cx="1181100" cy="8178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6" name="Full D 0 right factor"/>
              <p:cNvSpPr/>
              <p:nvPr/>
            </p:nvSpPr>
            <p:spPr>
              <a:xfrm>
                <a:off x="5670550" y="2791460"/>
                <a:ext cx="1181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a:rPr sz="2300">
                                    <a:solidFill>
                                      <a:srgbClr val="252529"/>
                                    </a:solidFill>
                                    <a:latin typeface="Cambria Math"/>
                                  </a:rPr>
                                  <m:t>0</m:t>
                                </m:r>
                              </m:e>
                              <m:e>
                                <m:r>
                                  <a:rPr sz="2300">
                                    <a:solidFill>
                                      <a:srgbClr val="252529"/>
                                    </a:solidFill>
                                    <a:latin typeface="Cambria Math"/>
                                  </a:rPr>
                                  <m:t>𝐼</m:t>
                                </m:r>
                              </m:e>
                            </m:mr>
                            <m:mr>
                              <m:e>
                                <m:r>
                                  <a:rPr sz="2300">
                                    <a:solidFill>
                                      <a:srgbClr val="252529"/>
                                    </a:solidFill>
                                    <a:latin typeface="Cambria Math"/>
                                  </a:rPr>
                                  <m:t>−</m:t>
                                </m:r>
                                <m:r>
                                  <a:rPr sz="2300">
                                    <a:solidFill>
                                      <a:srgbClr val="252529"/>
                                    </a:solidFill>
                                    <a:latin typeface="Cambria Math"/>
                                  </a:rPr>
                                  <m:t>𝐼</m:t>
                                </m:r>
                              </m:e>
                              <m:e>
                                <m:r>
                                  <a:rPr sz="2300">
                                    <a:solidFill>
                                      <a:srgbClr val="252529"/>
                                    </a:solidFill>
                                    <a:latin typeface="Cambria Math"/>
                                  </a:rPr>
                                  <m:t>0</m:t>
                                </m:r>
                              </m:e>
                            </m:mr>
                          </m:m>
                        </m:e>
                      </m:d>
                    </m:oMath>
                  </m:oMathPara>
                </a14:m>
                <a:endParaRPr sz="2300"/>
              </a:p>
            </p:txBody>
          </p:sp>
        </mc:Choice>
        <mc:Fallback xmlns="">
          <p:sp>
            <p:nvSpPr>
              <p:cNvPr id="14006" name="Full D 0 right factor"/>
              <p:cNvSpPr>
                <a:spLocks noRot="1" noChangeAspect="1" noMove="1" noResize="1" noEditPoints="1" noAdjustHandles="1" noChangeArrowheads="1" noChangeShapeType="1" noTextEdit="1"/>
              </p:cNvSpPr>
              <p:nvPr/>
            </p:nvSpPr>
            <p:spPr>
              <a:xfrm>
                <a:off x="5670550" y="2791460"/>
                <a:ext cx="1181100" cy="81788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7" name="Full D 0 symbol"/>
              <p:cNvSpPr/>
              <p:nvPr/>
            </p:nvSpPr>
            <p:spPr>
              <a:xfrm>
                <a:off x="4102100" y="2738120"/>
                <a:ext cx="1397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2600">
                              <a:solidFill>
                                <a:srgbClr val="252529"/>
                              </a:solidFill>
                              <a:latin typeface="Cambria Math"/>
                            </a:rPr>
                          </m:ctrlPr>
                        </m:sSupPr>
                        <m:e>
                          <m:r>
                            <m:rPr>
                              <m:sty m:val="p"/>
                            </m:rPr>
                            <a:rPr sz="2600">
                              <a:solidFill>
                                <a:srgbClr val="252529"/>
                              </a:solidFill>
                              <a:latin typeface="Cambria Math"/>
                            </a:rPr>
                            <m:t>Θ</m:t>
                          </m:r>
                        </m:e>
                        <m:sup>
                          <m:r>
                            <a:rPr lang="en-US" sz="2600" b="0" i="1" smtClean="0">
                              <a:solidFill>
                                <a:srgbClr val="252529"/>
                              </a:solidFill>
                              <a:latin typeface="Cambria Math" panose="02040503050406030204" pitchFamily="18" charset="0"/>
                            </a:rPr>
                            <m:t>⊤</m:t>
                          </m:r>
                        </m:sup>
                      </m:sSup>
                    </m:oMath>
                  </m:oMathPara>
                </a14:m>
                <a:endParaRPr sz="2600" dirty="0"/>
              </a:p>
            </p:txBody>
          </p:sp>
        </mc:Choice>
        <mc:Fallback xmlns="">
          <p:sp>
            <p:nvSpPr>
              <p:cNvPr id="14007" name="Full D 0 symbol"/>
              <p:cNvSpPr>
                <a:spLocks noRot="1" noChangeAspect="1" noMove="1" noResize="1" noEditPoints="1" noAdjustHandles="1" noChangeArrowheads="1" noChangeShapeType="1" noTextEdit="1"/>
              </p:cNvSpPr>
              <p:nvPr/>
            </p:nvSpPr>
            <p:spPr>
              <a:xfrm>
                <a:off x="4102100" y="2738120"/>
                <a:ext cx="1397000" cy="924560"/>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9" name="Full D 1 prefix"/>
              <p:cNvSpPr/>
              <p:nvPr/>
            </p:nvSpPr>
            <p:spPr>
              <a:xfrm>
                <a:off x="793750" y="2791460"/>
                <a:ext cx="1841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D</m:t>
                      </m:r>
                      <m:d>
                        <m:dPr>
                          <m:ctrlPr>
                            <a:rPr sz="2300">
                              <a:solidFill>
                                <a:srgbClr val="252529"/>
                              </a:solidFill>
                              <a:latin typeface="Cambria Math"/>
                            </a:rPr>
                          </m:ctrlPr>
                        </m:dPr>
                        <m:e>
                          <m:r>
                            <m:rPr>
                              <m:sty m:val="p"/>
                            </m:rPr>
                            <a:rPr sz="2300">
                              <a:solidFill>
                                <a:srgbClr val="252529"/>
                              </a:solidFill>
                              <a:latin typeface="Cambria Math"/>
                            </a:rPr>
                            <m:t>Θ</m:t>
                          </m:r>
                        </m:e>
                      </m:d>
                      <m:r>
                        <a:rPr sz="2300">
                          <a:solidFill>
                            <a:srgbClr val="252529"/>
                          </a:solidFill>
                          <a:latin typeface="Cambria Math"/>
                        </a:rPr>
                        <m:t>=</m:t>
                      </m:r>
                    </m:oMath>
                  </m:oMathPara>
                </a14:m>
                <a:endParaRPr sz="2300"/>
              </a:p>
            </p:txBody>
          </p:sp>
        </mc:Choice>
        <mc:Fallback xmlns="">
          <p:sp>
            <p:nvSpPr>
              <p:cNvPr id="14009" name="Full D 1 prefix"/>
              <p:cNvSpPr>
                <a:spLocks noRot="1" noChangeAspect="1" noMove="1" noResize="1" noEditPoints="1" noAdjustHandles="1" noChangeArrowheads="1" noChangeShapeType="1" noTextEdit="1"/>
              </p:cNvSpPr>
              <p:nvPr/>
            </p:nvSpPr>
            <p:spPr>
              <a:xfrm>
                <a:off x="793750" y="2791460"/>
                <a:ext cx="1841500" cy="8178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0" name="Full D 1 open"/>
              <p:cNvSpPr/>
              <p:nvPr/>
            </p:nvSpPr>
            <p:spPr>
              <a:xfrm>
                <a:off x="25400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xmlns="">
          <p:sp>
            <p:nvSpPr>
              <p:cNvPr id="14010" name="Full D 1 open"/>
              <p:cNvSpPr>
                <a:spLocks noRot="1" noChangeAspect="1" noMove="1" noResize="1" noEditPoints="1" noAdjustHandles="1" noChangeArrowheads="1" noChangeShapeType="1" noTextEdit="1"/>
              </p:cNvSpPr>
              <p:nvPr/>
            </p:nvSpPr>
            <p:spPr>
              <a:xfrm>
                <a:off x="2540000" y="2021840"/>
                <a:ext cx="381000" cy="22047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1" name="Full D 1 close"/>
              <p:cNvSpPr/>
              <p:nvPr/>
            </p:nvSpPr>
            <p:spPr>
              <a:xfrm>
                <a:off x="67691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xmlns="">
          <p:sp>
            <p:nvSpPr>
              <p:cNvPr id="14011" name="Full D 1 close"/>
              <p:cNvSpPr>
                <a:spLocks noRot="1" noChangeAspect="1" noMove="1" noResize="1" noEditPoints="1" noAdjustHandles="1" noChangeArrowheads="1" noChangeShapeType="1" noTextEdit="1"/>
              </p:cNvSpPr>
              <p:nvPr/>
            </p:nvSpPr>
            <p:spPr>
              <a:xfrm>
                <a:off x="6769100" y="2021840"/>
                <a:ext cx="381000" cy="2204720"/>
              </a:xfrm>
              <a:prstGeom prst="rect">
                <a:avLst/>
              </a:prstGeom>
              <a:blipFill>
                <a:blip r:embed="rId9"/>
                <a:stretch>
                  <a:fillRect l="-1111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2" name="Full D 1 inverse"/>
              <p:cNvSpPr/>
              <p:nvPr/>
            </p:nvSpPr>
            <p:spPr>
              <a:xfrm>
                <a:off x="6946900" y="2471420"/>
                <a:ext cx="5334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C81919"/>
                          </a:solidFill>
                          <a:latin typeface="Cambria Math"/>
                        </a:rPr>
                        <m:t>−1</m:t>
                      </m:r>
                    </m:oMath>
                  </m:oMathPara>
                </a14:m>
                <a:endParaRPr sz="1600"/>
              </a:p>
            </p:txBody>
          </p:sp>
        </mc:Choice>
        <mc:Fallback xmlns="">
          <p:sp>
            <p:nvSpPr>
              <p:cNvPr id="14012" name="Full D 1 inverse"/>
              <p:cNvSpPr>
                <a:spLocks noRot="1" noChangeAspect="1" noMove="1" noResize="1" noEditPoints="1" noAdjustHandles="1" noChangeArrowheads="1" noChangeShapeType="1" noTextEdit="1"/>
              </p:cNvSpPr>
              <p:nvPr/>
            </p:nvSpPr>
            <p:spPr>
              <a:xfrm>
                <a:off x="6946900" y="2471420"/>
                <a:ext cx="533400" cy="5689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3" name="Full D 1 left factor"/>
              <p:cNvSpPr/>
              <p:nvPr/>
            </p:nvSpPr>
            <p:spPr>
              <a:xfrm>
                <a:off x="2800350" y="2791460"/>
                <a:ext cx="1181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a:rPr sz="2300">
                                    <a:solidFill>
                                      <a:srgbClr val="252529"/>
                                    </a:solidFill>
                                    <a:latin typeface="Cambria Math"/>
                                  </a:rPr>
                                  <m:t>0</m:t>
                                </m:r>
                              </m:e>
                              <m:e>
                                <m:r>
                                  <a:rPr sz="2300">
                                    <a:solidFill>
                                      <a:srgbClr val="252529"/>
                                    </a:solidFill>
                                    <a:latin typeface="Cambria Math"/>
                                  </a:rPr>
                                  <m:t>−</m:t>
                                </m:r>
                                <m:r>
                                  <a:rPr sz="2300">
                                    <a:solidFill>
                                      <a:srgbClr val="252529"/>
                                    </a:solidFill>
                                    <a:latin typeface="Cambria Math"/>
                                  </a:rPr>
                                  <m:t>𝐼</m:t>
                                </m:r>
                              </m:e>
                            </m:mr>
                            <m:mr>
                              <m:e>
                                <m:r>
                                  <a:rPr sz="2300">
                                    <a:solidFill>
                                      <a:srgbClr val="252529"/>
                                    </a:solidFill>
                                    <a:latin typeface="Cambria Math"/>
                                  </a:rPr>
                                  <m:t>𝐼</m:t>
                                </m:r>
                              </m:e>
                              <m:e>
                                <m:r>
                                  <a:rPr sz="2300">
                                    <a:solidFill>
                                      <a:srgbClr val="252529"/>
                                    </a:solidFill>
                                    <a:latin typeface="Cambria Math"/>
                                  </a:rPr>
                                  <m:t>0</m:t>
                                </m:r>
                              </m:e>
                            </m:mr>
                          </m:m>
                        </m:e>
                      </m:d>
                    </m:oMath>
                  </m:oMathPara>
                </a14:m>
                <a:endParaRPr sz="2300"/>
              </a:p>
            </p:txBody>
          </p:sp>
        </mc:Choice>
        <mc:Fallback xmlns="">
          <p:sp>
            <p:nvSpPr>
              <p:cNvPr id="14013" name="Full D 1 left factor"/>
              <p:cNvSpPr>
                <a:spLocks noRot="1" noChangeAspect="1" noMove="1" noResize="1" noEditPoints="1" noAdjustHandles="1" noChangeArrowheads="1" noChangeShapeType="1" noTextEdit="1"/>
              </p:cNvSpPr>
              <p:nvPr/>
            </p:nvSpPr>
            <p:spPr>
              <a:xfrm>
                <a:off x="2800350" y="2791460"/>
                <a:ext cx="1181100" cy="8178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4" name="Full D 1 right factor"/>
              <p:cNvSpPr/>
              <p:nvPr/>
            </p:nvSpPr>
            <p:spPr>
              <a:xfrm>
                <a:off x="5670550" y="2791460"/>
                <a:ext cx="1181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a:rPr sz="2300">
                                    <a:solidFill>
                                      <a:srgbClr val="252529"/>
                                    </a:solidFill>
                                    <a:latin typeface="Cambria Math"/>
                                  </a:rPr>
                                  <m:t>0</m:t>
                                </m:r>
                              </m:e>
                              <m:e>
                                <m:r>
                                  <a:rPr sz="2300">
                                    <a:solidFill>
                                      <a:srgbClr val="252529"/>
                                    </a:solidFill>
                                    <a:latin typeface="Cambria Math"/>
                                  </a:rPr>
                                  <m:t>𝐼</m:t>
                                </m:r>
                              </m:e>
                            </m:mr>
                            <m:mr>
                              <m:e>
                                <m:r>
                                  <a:rPr sz="2300">
                                    <a:solidFill>
                                      <a:srgbClr val="252529"/>
                                    </a:solidFill>
                                    <a:latin typeface="Cambria Math"/>
                                  </a:rPr>
                                  <m:t>−</m:t>
                                </m:r>
                                <m:r>
                                  <a:rPr sz="2300">
                                    <a:solidFill>
                                      <a:srgbClr val="252529"/>
                                    </a:solidFill>
                                    <a:latin typeface="Cambria Math"/>
                                  </a:rPr>
                                  <m:t>𝐼</m:t>
                                </m:r>
                              </m:e>
                              <m:e>
                                <m:r>
                                  <a:rPr sz="2300">
                                    <a:solidFill>
                                      <a:srgbClr val="252529"/>
                                    </a:solidFill>
                                    <a:latin typeface="Cambria Math"/>
                                  </a:rPr>
                                  <m:t>0</m:t>
                                </m:r>
                              </m:e>
                            </m:mr>
                          </m:m>
                        </m:e>
                      </m:d>
                    </m:oMath>
                  </m:oMathPara>
                </a14:m>
                <a:endParaRPr sz="2300"/>
              </a:p>
            </p:txBody>
          </p:sp>
        </mc:Choice>
        <mc:Fallback xmlns="">
          <p:sp>
            <p:nvSpPr>
              <p:cNvPr id="14014" name="Full D 1 right factor"/>
              <p:cNvSpPr>
                <a:spLocks noRot="1" noChangeAspect="1" noMove="1" noResize="1" noEditPoints="1" noAdjustHandles="1" noChangeArrowheads="1" noChangeShapeType="1" noTextEdit="1"/>
              </p:cNvSpPr>
              <p:nvPr/>
            </p:nvSpPr>
            <p:spPr>
              <a:xfrm>
                <a:off x="5670550" y="2791460"/>
                <a:ext cx="1181100" cy="81788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5" name="Full D 1 cell0"/>
              <p:cNvSpPr/>
              <p:nvPr/>
            </p:nvSpPr>
            <p:spPr>
              <a:xfrm>
                <a:off x="40068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𝐼</m:t>
                      </m:r>
                    </m:oMath>
                  </m:oMathPara>
                </a14:m>
                <a:endParaRPr sz="2300"/>
              </a:p>
            </p:txBody>
          </p:sp>
        </mc:Choice>
        <mc:Fallback xmlns="">
          <p:sp>
            <p:nvSpPr>
              <p:cNvPr id="14015" name="Full D 1 cell0"/>
              <p:cNvSpPr>
                <a:spLocks noRot="1" noChangeAspect="1" noMove="1" noResize="1" noEditPoints="1" noAdjustHandles="1" noChangeArrowheads="1" noChangeShapeType="1" noTextEdit="1"/>
              </p:cNvSpPr>
              <p:nvPr/>
            </p:nvSpPr>
            <p:spPr>
              <a:xfrm>
                <a:off x="4006850" y="2626360"/>
                <a:ext cx="927100" cy="81788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6" name="Full D 1 cell1"/>
              <p:cNvSpPr/>
              <p:nvPr/>
            </p:nvSpPr>
            <p:spPr>
              <a:xfrm>
                <a:off x="46672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0</m:t>
                      </m:r>
                    </m:oMath>
                  </m:oMathPara>
                </a14:m>
                <a:endParaRPr sz="2300"/>
              </a:p>
            </p:txBody>
          </p:sp>
        </mc:Choice>
        <mc:Fallback xmlns="">
          <p:sp>
            <p:nvSpPr>
              <p:cNvPr id="14016" name="Full D 1 cell1"/>
              <p:cNvSpPr>
                <a:spLocks noRot="1" noChangeAspect="1" noMove="1" noResize="1" noEditPoints="1" noAdjustHandles="1" noChangeArrowheads="1" noChangeShapeType="1" noTextEdit="1"/>
              </p:cNvSpPr>
              <p:nvPr/>
            </p:nvSpPr>
            <p:spPr>
              <a:xfrm>
                <a:off x="4667250" y="2626360"/>
                <a:ext cx="927100" cy="81788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7" name="Full D 1 cell2"/>
              <p:cNvSpPr/>
              <p:nvPr/>
            </p:nvSpPr>
            <p:spPr>
              <a:xfrm>
                <a:off x="40068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C81919"/>
                          </a:solidFill>
                          <a:latin typeface="Cambria Math"/>
                        </a:rPr>
                        <m:t>−</m:t>
                      </m:r>
                      <m:r>
                        <a:rPr sz="2300">
                          <a:solidFill>
                            <a:srgbClr val="C81919"/>
                          </a:solidFill>
                          <a:latin typeface="Cambria Math"/>
                        </a:rPr>
                        <m:t>𝐾</m:t>
                      </m:r>
                    </m:oMath>
                  </m:oMathPara>
                </a14:m>
                <a:endParaRPr sz="2300"/>
              </a:p>
            </p:txBody>
          </p:sp>
        </mc:Choice>
        <mc:Fallback xmlns="">
          <p:sp>
            <p:nvSpPr>
              <p:cNvPr id="14017" name="Full D 1 cell2"/>
              <p:cNvSpPr>
                <a:spLocks noRot="1" noChangeAspect="1" noMove="1" noResize="1" noEditPoints="1" noAdjustHandles="1" noChangeArrowheads="1" noChangeShapeType="1" noTextEdit="1"/>
              </p:cNvSpPr>
              <p:nvPr/>
            </p:nvSpPr>
            <p:spPr>
              <a:xfrm>
                <a:off x="4006850" y="2956560"/>
                <a:ext cx="927100" cy="81788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8" name="Full D 1 cell3"/>
              <p:cNvSpPr/>
              <p:nvPr/>
            </p:nvSpPr>
            <p:spPr>
              <a:xfrm>
                <a:off x="46672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𝐼</m:t>
                      </m:r>
                    </m:oMath>
                  </m:oMathPara>
                </a14:m>
                <a:endParaRPr sz="2300"/>
              </a:p>
            </p:txBody>
          </p:sp>
        </mc:Choice>
        <mc:Fallback xmlns="">
          <p:sp>
            <p:nvSpPr>
              <p:cNvPr id="14018" name="Full D 1 cell3"/>
              <p:cNvSpPr>
                <a:spLocks noRot="1" noChangeAspect="1" noMove="1" noResize="1" noEditPoints="1" noAdjustHandles="1" noChangeArrowheads="1" noChangeShapeType="1" noTextEdit="1"/>
              </p:cNvSpPr>
              <p:nvPr/>
            </p:nvSpPr>
            <p:spPr>
              <a:xfrm>
                <a:off x="4667250" y="2956560"/>
                <a:ext cx="927100" cy="817880"/>
              </a:xfrm>
              <a:prstGeom prst="rect">
                <a:avLst/>
              </a:prstGeom>
              <a:blipFill>
                <a:blip r:embed="rId17"/>
                <a:stretch>
                  <a:fillRect/>
                </a:stretch>
              </a:blipFill>
              <a:ln>
                <a:noFill/>
              </a:ln>
            </p:spPr>
            <p:txBody>
              <a:bodyPr/>
              <a:lstStyle/>
              <a:p>
                <a:r>
                  <a:rPr lang="en-NL">
                    <a:noFill/>
                  </a:rPr>
                  <a:t> </a:t>
                </a:r>
              </a:p>
            </p:txBody>
          </p:sp>
        </mc:Fallback>
      </mc:AlternateContent>
      <p:sp>
        <p:nvSpPr>
          <p:cNvPr id="14019" name="Full D 1 left bracket"/>
          <p:cNvSpPr/>
          <p:nvPr/>
        </p:nvSpPr>
        <p:spPr>
          <a:xfrm>
            <a:off x="4127500" y="2844800"/>
            <a:ext cx="127000" cy="723900"/>
          </a:xfrm>
          <a:custGeom>
            <a:avLst/>
            <a:gdLst/>
            <a:ahLst/>
            <a:cxnLst/>
            <a:rect l="0" t="0" r="r" b="b"/>
            <a:pathLst>
              <a:path w="127000" h="723900" fill="none">
                <a:moveTo>
                  <a:pt x="114300" y="12700"/>
                </a:moveTo>
                <a:lnTo>
                  <a:pt x="12700" y="12700"/>
                </a:lnTo>
                <a:lnTo>
                  <a:pt x="12700" y="711200"/>
                </a:lnTo>
                <a:lnTo>
                  <a:pt x="114300" y="711200"/>
                </a:lnTo>
              </a:path>
            </a:pathLst>
          </a:custGeom>
          <a:noFill/>
          <a:ln w="14605">
            <a:solidFill>
              <a:srgbClr val="252529"/>
            </a:solidFill>
          </a:ln>
        </p:spPr>
      </p:sp>
      <p:sp>
        <p:nvSpPr>
          <p:cNvPr id="14020" name="Full D 1 right bracket"/>
          <p:cNvSpPr/>
          <p:nvPr/>
        </p:nvSpPr>
        <p:spPr>
          <a:xfrm>
            <a:off x="5346700" y="2844800"/>
            <a:ext cx="127000" cy="723900"/>
          </a:xfrm>
          <a:custGeom>
            <a:avLst/>
            <a:gdLst/>
            <a:ahLst/>
            <a:cxnLst/>
            <a:rect l="0" t="0" r="r" b="b"/>
            <a:pathLst>
              <a:path w="127000" h="723900" fill="none">
                <a:moveTo>
                  <a:pt x="12700" y="12700"/>
                </a:moveTo>
                <a:lnTo>
                  <a:pt x="114300" y="12700"/>
                </a:lnTo>
                <a:lnTo>
                  <a:pt x="114300" y="711200"/>
                </a:lnTo>
                <a:lnTo>
                  <a:pt x="12700" y="711200"/>
                </a:lnTo>
              </a:path>
            </a:pathLst>
          </a:custGeom>
          <a:noFill/>
          <a:ln w="14605">
            <a:solidFill>
              <a:srgbClr val="252529"/>
            </a:solidFill>
          </a:ln>
        </p:spPr>
      </p:sp>
      <mc:AlternateContent xmlns:mc="http://schemas.openxmlformats.org/markup-compatibility/2006" xmlns:a14="http://schemas.microsoft.com/office/drawing/2010/main">
        <mc:Choice Requires="a14">
          <p:sp>
            <p:nvSpPr>
              <p:cNvPr id="14021" name="Full D 1 transpose"/>
              <p:cNvSpPr/>
              <p:nvPr/>
            </p:nvSpPr>
            <p:spPr>
              <a:xfrm>
                <a:off x="5448300" y="2496820"/>
                <a:ext cx="2794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C81919"/>
                          </a:solidFill>
                          <a:latin typeface="Cambria Math"/>
                        </a:rPr>
                        <m:t>⊤</m:t>
                      </m:r>
                    </m:oMath>
                  </m:oMathPara>
                </a14:m>
                <a:endParaRPr sz="1600"/>
              </a:p>
            </p:txBody>
          </p:sp>
        </mc:Choice>
        <mc:Fallback xmlns="">
          <p:sp>
            <p:nvSpPr>
              <p:cNvPr id="14021" name="Full D 1 transpose"/>
              <p:cNvSpPr>
                <a:spLocks noRot="1" noChangeAspect="1" noMove="1" noResize="1" noEditPoints="1" noAdjustHandles="1" noChangeArrowheads="1" noChangeShapeType="1" noTextEdit="1"/>
              </p:cNvSpPr>
              <p:nvPr/>
            </p:nvSpPr>
            <p:spPr>
              <a:xfrm>
                <a:off x="5448300" y="2496820"/>
                <a:ext cx="279400" cy="568960"/>
              </a:xfrm>
              <a:prstGeom prst="rect">
                <a:avLst/>
              </a:prstGeom>
              <a:blipFill>
                <a:blip r:embed="rId1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3" name="Full D 2 prefix"/>
              <p:cNvSpPr/>
              <p:nvPr/>
            </p:nvSpPr>
            <p:spPr>
              <a:xfrm>
                <a:off x="793750" y="2791460"/>
                <a:ext cx="1841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D</m:t>
                      </m:r>
                      <m:d>
                        <m:dPr>
                          <m:ctrlPr>
                            <a:rPr sz="2300">
                              <a:solidFill>
                                <a:srgbClr val="252529"/>
                              </a:solidFill>
                              <a:latin typeface="Cambria Math"/>
                            </a:rPr>
                          </m:ctrlPr>
                        </m:dPr>
                        <m:e>
                          <m:r>
                            <m:rPr>
                              <m:sty m:val="p"/>
                            </m:rPr>
                            <a:rPr sz="2300">
                              <a:solidFill>
                                <a:srgbClr val="252529"/>
                              </a:solidFill>
                              <a:latin typeface="Cambria Math"/>
                            </a:rPr>
                            <m:t>Θ</m:t>
                          </m:r>
                        </m:e>
                      </m:d>
                      <m:r>
                        <a:rPr sz="2300">
                          <a:solidFill>
                            <a:srgbClr val="252529"/>
                          </a:solidFill>
                          <a:latin typeface="Cambria Math"/>
                        </a:rPr>
                        <m:t>=</m:t>
                      </m:r>
                    </m:oMath>
                  </m:oMathPara>
                </a14:m>
                <a:endParaRPr sz="2300"/>
              </a:p>
            </p:txBody>
          </p:sp>
        </mc:Choice>
        <mc:Fallback xmlns="">
          <p:sp>
            <p:nvSpPr>
              <p:cNvPr id="14023" name="Full D 2 prefix"/>
              <p:cNvSpPr>
                <a:spLocks noRot="1" noChangeAspect="1" noMove="1" noResize="1" noEditPoints="1" noAdjustHandles="1" noChangeArrowheads="1" noChangeShapeType="1" noTextEdit="1"/>
              </p:cNvSpPr>
              <p:nvPr/>
            </p:nvSpPr>
            <p:spPr>
              <a:xfrm>
                <a:off x="793750" y="2791460"/>
                <a:ext cx="1841500" cy="8178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4" name="Full D 2 open"/>
              <p:cNvSpPr/>
              <p:nvPr/>
            </p:nvSpPr>
            <p:spPr>
              <a:xfrm>
                <a:off x="25400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xmlns="">
          <p:sp>
            <p:nvSpPr>
              <p:cNvPr id="14024" name="Full D 2 open"/>
              <p:cNvSpPr>
                <a:spLocks noRot="1" noChangeAspect="1" noMove="1" noResize="1" noEditPoints="1" noAdjustHandles="1" noChangeArrowheads="1" noChangeShapeType="1" noTextEdit="1"/>
              </p:cNvSpPr>
              <p:nvPr/>
            </p:nvSpPr>
            <p:spPr>
              <a:xfrm>
                <a:off x="2540000" y="2021840"/>
                <a:ext cx="381000" cy="22047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5" name="Full D 2 close"/>
              <p:cNvSpPr/>
              <p:nvPr/>
            </p:nvSpPr>
            <p:spPr>
              <a:xfrm>
                <a:off x="67691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xmlns="">
          <p:sp>
            <p:nvSpPr>
              <p:cNvPr id="14025" name="Full D 2 close"/>
              <p:cNvSpPr>
                <a:spLocks noRot="1" noChangeAspect="1" noMove="1" noResize="1" noEditPoints="1" noAdjustHandles="1" noChangeArrowheads="1" noChangeShapeType="1" noTextEdit="1"/>
              </p:cNvSpPr>
              <p:nvPr/>
            </p:nvSpPr>
            <p:spPr>
              <a:xfrm>
                <a:off x="6769100" y="2021840"/>
                <a:ext cx="381000" cy="2204720"/>
              </a:xfrm>
              <a:prstGeom prst="rect">
                <a:avLst/>
              </a:prstGeom>
              <a:blipFill>
                <a:blip r:embed="rId9"/>
                <a:stretch>
                  <a:fillRect l="-1111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6" name="Full D 2 inverse"/>
              <p:cNvSpPr/>
              <p:nvPr/>
            </p:nvSpPr>
            <p:spPr>
              <a:xfrm>
                <a:off x="6946900" y="2471420"/>
                <a:ext cx="5334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C81919"/>
                          </a:solidFill>
                          <a:latin typeface="Cambria Math"/>
                        </a:rPr>
                        <m:t>−1</m:t>
                      </m:r>
                    </m:oMath>
                  </m:oMathPara>
                </a14:m>
                <a:endParaRPr sz="1600"/>
              </a:p>
            </p:txBody>
          </p:sp>
        </mc:Choice>
        <mc:Fallback xmlns="">
          <p:sp>
            <p:nvSpPr>
              <p:cNvPr id="14026" name="Full D 2 inverse"/>
              <p:cNvSpPr>
                <a:spLocks noRot="1" noChangeAspect="1" noMove="1" noResize="1" noEditPoints="1" noAdjustHandles="1" noChangeArrowheads="1" noChangeShapeType="1" noTextEdit="1"/>
              </p:cNvSpPr>
              <p:nvPr/>
            </p:nvSpPr>
            <p:spPr>
              <a:xfrm>
                <a:off x="6946900" y="2471420"/>
                <a:ext cx="533400" cy="5689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7" name="Full D 2 left factor"/>
              <p:cNvSpPr/>
              <p:nvPr/>
            </p:nvSpPr>
            <p:spPr>
              <a:xfrm>
                <a:off x="2800350" y="2791460"/>
                <a:ext cx="1181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a:rPr sz="2300">
                                    <a:solidFill>
                                      <a:srgbClr val="252529"/>
                                    </a:solidFill>
                                    <a:latin typeface="Cambria Math"/>
                                  </a:rPr>
                                  <m:t>0</m:t>
                                </m:r>
                              </m:e>
                              <m:e>
                                <m:r>
                                  <a:rPr sz="2300">
                                    <a:solidFill>
                                      <a:srgbClr val="252529"/>
                                    </a:solidFill>
                                    <a:latin typeface="Cambria Math"/>
                                  </a:rPr>
                                  <m:t>−</m:t>
                                </m:r>
                                <m:r>
                                  <a:rPr sz="2300">
                                    <a:solidFill>
                                      <a:srgbClr val="252529"/>
                                    </a:solidFill>
                                    <a:latin typeface="Cambria Math"/>
                                  </a:rPr>
                                  <m:t>𝐼</m:t>
                                </m:r>
                              </m:e>
                            </m:mr>
                            <m:mr>
                              <m:e>
                                <m:r>
                                  <a:rPr sz="2300">
                                    <a:solidFill>
                                      <a:srgbClr val="252529"/>
                                    </a:solidFill>
                                    <a:latin typeface="Cambria Math"/>
                                  </a:rPr>
                                  <m:t>𝐼</m:t>
                                </m:r>
                              </m:e>
                              <m:e>
                                <m:r>
                                  <a:rPr sz="2300">
                                    <a:solidFill>
                                      <a:srgbClr val="252529"/>
                                    </a:solidFill>
                                    <a:latin typeface="Cambria Math"/>
                                  </a:rPr>
                                  <m:t>0</m:t>
                                </m:r>
                              </m:e>
                            </m:mr>
                          </m:m>
                        </m:e>
                      </m:d>
                    </m:oMath>
                  </m:oMathPara>
                </a14:m>
                <a:endParaRPr sz="2300"/>
              </a:p>
            </p:txBody>
          </p:sp>
        </mc:Choice>
        <mc:Fallback xmlns="">
          <p:sp>
            <p:nvSpPr>
              <p:cNvPr id="14027" name="Full D 2 left factor"/>
              <p:cNvSpPr>
                <a:spLocks noRot="1" noChangeAspect="1" noMove="1" noResize="1" noEditPoints="1" noAdjustHandles="1" noChangeArrowheads="1" noChangeShapeType="1" noTextEdit="1"/>
              </p:cNvSpPr>
              <p:nvPr/>
            </p:nvSpPr>
            <p:spPr>
              <a:xfrm>
                <a:off x="2800350" y="2791460"/>
                <a:ext cx="1181100" cy="8178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8" name="Full D 2 right factor"/>
              <p:cNvSpPr/>
              <p:nvPr/>
            </p:nvSpPr>
            <p:spPr>
              <a:xfrm>
                <a:off x="5670550" y="2791460"/>
                <a:ext cx="1181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a:rPr sz="2300">
                                    <a:solidFill>
                                      <a:srgbClr val="252529"/>
                                    </a:solidFill>
                                    <a:latin typeface="Cambria Math"/>
                                  </a:rPr>
                                  <m:t>0</m:t>
                                </m:r>
                              </m:e>
                              <m:e>
                                <m:r>
                                  <a:rPr sz="2300">
                                    <a:solidFill>
                                      <a:srgbClr val="252529"/>
                                    </a:solidFill>
                                    <a:latin typeface="Cambria Math"/>
                                  </a:rPr>
                                  <m:t>𝐼</m:t>
                                </m:r>
                              </m:e>
                            </m:mr>
                            <m:mr>
                              <m:e>
                                <m:r>
                                  <a:rPr sz="2300">
                                    <a:solidFill>
                                      <a:srgbClr val="252529"/>
                                    </a:solidFill>
                                    <a:latin typeface="Cambria Math"/>
                                  </a:rPr>
                                  <m:t>−</m:t>
                                </m:r>
                                <m:r>
                                  <a:rPr sz="2300">
                                    <a:solidFill>
                                      <a:srgbClr val="252529"/>
                                    </a:solidFill>
                                    <a:latin typeface="Cambria Math"/>
                                  </a:rPr>
                                  <m:t>𝐼</m:t>
                                </m:r>
                              </m:e>
                              <m:e>
                                <m:r>
                                  <a:rPr sz="2300">
                                    <a:solidFill>
                                      <a:srgbClr val="252529"/>
                                    </a:solidFill>
                                    <a:latin typeface="Cambria Math"/>
                                  </a:rPr>
                                  <m:t>0</m:t>
                                </m:r>
                              </m:e>
                            </m:mr>
                          </m:m>
                        </m:e>
                      </m:d>
                    </m:oMath>
                  </m:oMathPara>
                </a14:m>
                <a:endParaRPr sz="2300"/>
              </a:p>
            </p:txBody>
          </p:sp>
        </mc:Choice>
        <mc:Fallback xmlns="">
          <p:sp>
            <p:nvSpPr>
              <p:cNvPr id="14028" name="Full D 2 right factor"/>
              <p:cNvSpPr>
                <a:spLocks noRot="1" noChangeAspect="1" noMove="1" noResize="1" noEditPoints="1" noAdjustHandles="1" noChangeArrowheads="1" noChangeShapeType="1" noTextEdit="1"/>
              </p:cNvSpPr>
              <p:nvPr/>
            </p:nvSpPr>
            <p:spPr>
              <a:xfrm>
                <a:off x="5670550" y="2791460"/>
                <a:ext cx="1181100" cy="81788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9" name="Full D 2 cell0"/>
              <p:cNvSpPr/>
              <p:nvPr/>
            </p:nvSpPr>
            <p:spPr>
              <a:xfrm>
                <a:off x="40068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𝐼</m:t>
                      </m:r>
                    </m:oMath>
                  </m:oMathPara>
                </a14:m>
                <a:endParaRPr sz="2300"/>
              </a:p>
            </p:txBody>
          </p:sp>
        </mc:Choice>
        <mc:Fallback xmlns="">
          <p:sp>
            <p:nvSpPr>
              <p:cNvPr id="14029" name="Full D 2 cell0"/>
              <p:cNvSpPr>
                <a:spLocks noRot="1" noChangeAspect="1" noMove="1" noResize="1" noEditPoints="1" noAdjustHandles="1" noChangeArrowheads="1" noChangeShapeType="1" noTextEdit="1"/>
              </p:cNvSpPr>
              <p:nvPr/>
            </p:nvSpPr>
            <p:spPr>
              <a:xfrm>
                <a:off x="4006850" y="2626360"/>
                <a:ext cx="927100" cy="81788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30" name="Full D 2 cell1"/>
              <p:cNvSpPr/>
              <p:nvPr/>
            </p:nvSpPr>
            <p:spPr>
              <a:xfrm>
                <a:off x="46672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C81919"/>
                          </a:solidFill>
                          <a:latin typeface="Cambria Math"/>
                        </a:rPr>
                        <m:t>−</m:t>
                      </m:r>
                      <m:sSup>
                        <m:sSupPr>
                          <m:ctrlPr>
                            <a:rPr sz="2300">
                              <a:solidFill>
                                <a:srgbClr val="C81919"/>
                              </a:solidFill>
                              <a:latin typeface="Cambria Math"/>
                            </a:rPr>
                          </m:ctrlPr>
                        </m:sSupPr>
                        <m:e>
                          <m:r>
                            <a:rPr sz="2300">
                              <a:solidFill>
                                <a:srgbClr val="C81919"/>
                              </a:solidFill>
                              <a:latin typeface="Cambria Math"/>
                            </a:rPr>
                            <m:t>𝐾</m:t>
                          </m:r>
                        </m:e>
                        <m:sup>
                          <m:r>
                            <a:rPr sz="2300">
                              <a:solidFill>
                                <a:srgbClr val="C81919"/>
                              </a:solidFill>
                              <a:latin typeface="Cambria Math"/>
                            </a:rPr>
                            <m:t>⊤</m:t>
                          </m:r>
                        </m:sup>
                      </m:sSup>
                    </m:oMath>
                  </m:oMathPara>
                </a14:m>
                <a:endParaRPr sz="2300" dirty="0"/>
              </a:p>
            </p:txBody>
          </p:sp>
        </mc:Choice>
        <mc:Fallback xmlns="">
          <p:sp>
            <p:nvSpPr>
              <p:cNvPr id="14030" name="Full D 2 cell1"/>
              <p:cNvSpPr>
                <a:spLocks noRot="1" noChangeAspect="1" noMove="1" noResize="1" noEditPoints="1" noAdjustHandles="1" noChangeArrowheads="1" noChangeShapeType="1" noTextEdit="1"/>
              </p:cNvSpPr>
              <p:nvPr/>
            </p:nvSpPr>
            <p:spPr>
              <a:xfrm>
                <a:off x="4667250" y="2626360"/>
                <a:ext cx="927100" cy="817880"/>
              </a:xfrm>
              <a:prstGeom prst="rect">
                <a:avLst/>
              </a:prstGeom>
              <a:blipFill>
                <a:blip r:embed="rId1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31" name="Full D 2 cell2"/>
              <p:cNvSpPr/>
              <p:nvPr/>
            </p:nvSpPr>
            <p:spPr>
              <a:xfrm>
                <a:off x="40068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0</m:t>
                      </m:r>
                    </m:oMath>
                  </m:oMathPara>
                </a14:m>
                <a:endParaRPr sz="2300"/>
              </a:p>
            </p:txBody>
          </p:sp>
        </mc:Choice>
        <mc:Fallback xmlns="">
          <p:sp>
            <p:nvSpPr>
              <p:cNvPr id="14031" name="Full D 2 cell2"/>
              <p:cNvSpPr>
                <a:spLocks noRot="1" noChangeAspect="1" noMove="1" noResize="1" noEditPoints="1" noAdjustHandles="1" noChangeArrowheads="1" noChangeShapeType="1" noTextEdit="1"/>
              </p:cNvSpPr>
              <p:nvPr/>
            </p:nvSpPr>
            <p:spPr>
              <a:xfrm>
                <a:off x="4006850" y="2956560"/>
                <a:ext cx="927100" cy="817880"/>
              </a:xfrm>
              <a:prstGeom prst="rect">
                <a:avLst/>
              </a:prstGeom>
              <a:blipFill>
                <a:blip r:embed="rId2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32" name="Full D 2 cell3"/>
              <p:cNvSpPr/>
              <p:nvPr/>
            </p:nvSpPr>
            <p:spPr>
              <a:xfrm>
                <a:off x="46672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𝐼</m:t>
                      </m:r>
                    </m:oMath>
                  </m:oMathPara>
                </a14:m>
                <a:endParaRPr sz="2300"/>
              </a:p>
            </p:txBody>
          </p:sp>
        </mc:Choice>
        <mc:Fallback xmlns="">
          <p:sp>
            <p:nvSpPr>
              <p:cNvPr id="14032" name="Full D 2 cell3"/>
              <p:cNvSpPr>
                <a:spLocks noRot="1" noChangeAspect="1" noMove="1" noResize="1" noEditPoints="1" noAdjustHandles="1" noChangeArrowheads="1" noChangeShapeType="1" noTextEdit="1"/>
              </p:cNvSpPr>
              <p:nvPr/>
            </p:nvSpPr>
            <p:spPr>
              <a:xfrm>
                <a:off x="4667250" y="2956560"/>
                <a:ext cx="927100" cy="817880"/>
              </a:xfrm>
              <a:prstGeom prst="rect">
                <a:avLst/>
              </a:prstGeom>
              <a:blipFill>
                <a:blip r:embed="rId17"/>
                <a:stretch>
                  <a:fillRect/>
                </a:stretch>
              </a:blipFill>
              <a:ln>
                <a:noFill/>
              </a:ln>
            </p:spPr>
            <p:txBody>
              <a:bodyPr/>
              <a:lstStyle/>
              <a:p>
                <a:r>
                  <a:rPr lang="en-NL">
                    <a:noFill/>
                  </a:rPr>
                  <a:t> </a:t>
                </a:r>
              </a:p>
            </p:txBody>
          </p:sp>
        </mc:Fallback>
      </mc:AlternateContent>
      <p:sp>
        <p:nvSpPr>
          <p:cNvPr id="14033" name="Full D 2 left bracket"/>
          <p:cNvSpPr/>
          <p:nvPr/>
        </p:nvSpPr>
        <p:spPr>
          <a:xfrm>
            <a:off x="4127500" y="2844800"/>
            <a:ext cx="127000" cy="723900"/>
          </a:xfrm>
          <a:custGeom>
            <a:avLst/>
            <a:gdLst/>
            <a:ahLst/>
            <a:cxnLst/>
            <a:rect l="0" t="0" r="r" b="b"/>
            <a:pathLst>
              <a:path w="127000" h="723900" fill="none">
                <a:moveTo>
                  <a:pt x="114300" y="12700"/>
                </a:moveTo>
                <a:lnTo>
                  <a:pt x="12700" y="12700"/>
                </a:lnTo>
                <a:lnTo>
                  <a:pt x="12700" y="711200"/>
                </a:lnTo>
                <a:lnTo>
                  <a:pt x="114300" y="711200"/>
                </a:lnTo>
              </a:path>
            </a:pathLst>
          </a:custGeom>
          <a:noFill/>
          <a:ln w="14605">
            <a:solidFill>
              <a:srgbClr val="252529"/>
            </a:solidFill>
          </a:ln>
        </p:spPr>
      </p:sp>
      <p:sp>
        <p:nvSpPr>
          <p:cNvPr id="14034" name="Full D 2 right bracket"/>
          <p:cNvSpPr/>
          <p:nvPr/>
        </p:nvSpPr>
        <p:spPr>
          <a:xfrm>
            <a:off x="5346700" y="2844800"/>
            <a:ext cx="127000" cy="723900"/>
          </a:xfrm>
          <a:custGeom>
            <a:avLst/>
            <a:gdLst/>
            <a:ahLst/>
            <a:cxnLst/>
            <a:rect l="0" t="0" r="r" b="b"/>
            <a:pathLst>
              <a:path w="127000" h="723900" fill="none">
                <a:moveTo>
                  <a:pt x="12700" y="12700"/>
                </a:moveTo>
                <a:lnTo>
                  <a:pt x="114300" y="12700"/>
                </a:lnTo>
                <a:lnTo>
                  <a:pt x="114300" y="711200"/>
                </a:lnTo>
                <a:lnTo>
                  <a:pt x="12700" y="711200"/>
                </a:lnTo>
              </a:path>
            </a:pathLst>
          </a:custGeom>
          <a:noFill/>
          <a:ln w="14605">
            <a:solidFill>
              <a:srgbClr val="252529"/>
            </a:solidFill>
          </a:ln>
        </p:spPr>
      </p:sp>
      <mc:AlternateContent xmlns:mc="http://schemas.openxmlformats.org/markup-compatibility/2006" xmlns:a14="http://schemas.microsoft.com/office/drawing/2010/main">
        <mc:Choice Requires="a14">
          <p:sp>
            <p:nvSpPr>
              <p:cNvPr id="14036" name="Full D 3 prefix"/>
              <p:cNvSpPr/>
              <p:nvPr/>
            </p:nvSpPr>
            <p:spPr>
              <a:xfrm>
                <a:off x="1873250" y="2791460"/>
                <a:ext cx="1841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D</m:t>
                      </m:r>
                      <m:d>
                        <m:dPr>
                          <m:ctrlPr>
                            <a:rPr sz="2300">
                              <a:solidFill>
                                <a:srgbClr val="252529"/>
                              </a:solidFill>
                              <a:latin typeface="Cambria Math"/>
                            </a:rPr>
                          </m:ctrlPr>
                        </m:dPr>
                        <m:e>
                          <m:r>
                            <m:rPr>
                              <m:sty m:val="p"/>
                            </m:rPr>
                            <a:rPr sz="2300">
                              <a:solidFill>
                                <a:srgbClr val="252529"/>
                              </a:solidFill>
                              <a:latin typeface="Cambria Math"/>
                            </a:rPr>
                            <m:t>Θ</m:t>
                          </m:r>
                        </m:e>
                      </m:d>
                      <m:r>
                        <a:rPr sz="2300">
                          <a:solidFill>
                            <a:srgbClr val="252529"/>
                          </a:solidFill>
                          <a:latin typeface="Cambria Math"/>
                        </a:rPr>
                        <m:t>=</m:t>
                      </m:r>
                    </m:oMath>
                  </m:oMathPara>
                </a14:m>
                <a:endParaRPr sz="2300"/>
              </a:p>
            </p:txBody>
          </p:sp>
        </mc:Choice>
        <mc:Fallback xmlns="">
          <p:sp>
            <p:nvSpPr>
              <p:cNvPr id="14036" name="Full D 3 prefix"/>
              <p:cNvSpPr>
                <a:spLocks noRot="1" noChangeAspect="1" noMove="1" noResize="1" noEditPoints="1" noAdjustHandles="1" noChangeArrowheads="1" noChangeShapeType="1" noTextEdit="1"/>
              </p:cNvSpPr>
              <p:nvPr/>
            </p:nvSpPr>
            <p:spPr>
              <a:xfrm>
                <a:off x="1873250" y="2791460"/>
                <a:ext cx="1841500" cy="817880"/>
              </a:xfrm>
              <a:prstGeom prst="rect">
                <a:avLst/>
              </a:prstGeom>
              <a:blipFill>
                <a:blip r:embed="rId2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37" name="Full D 3 open"/>
              <p:cNvSpPr/>
              <p:nvPr/>
            </p:nvSpPr>
            <p:spPr>
              <a:xfrm>
                <a:off x="37973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xmlns="">
          <p:sp>
            <p:nvSpPr>
              <p:cNvPr id="14037" name="Full D 3 open"/>
              <p:cNvSpPr>
                <a:spLocks noRot="1" noChangeAspect="1" noMove="1" noResize="1" noEditPoints="1" noAdjustHandles="1" noChangeArrowheads="1" noChangeShapeType="1" noTextEdit="1"/>
              </p:cNvSpPr>
              <p:nvPr/>
            </p:nvSpPr>
            <p:spPr>
              <a:xfrm>
                <a:off x="3797300" y="2021840"/>
                <a:ext cx="381000" cy="2204720"/>
              </a:xfrm>
              <a:prstGeom prst="rect">
                <a:avLst/>
              </a:prstGeom>
              <a:blipFill>
                <a:blip r:embed="rId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38" name="Full D 3 close"/>
              <p:cNvSpPr/>
              <p:nvPr/>
            </p:nvSpPr>
            <p:spPr>
              <a:xfrm>
                <a:off x="67691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dirty="0"/>
              </a:p>
            </p:txBody>
          </p:sp>
        </mc:Choice>
        <mc:Fallback xmlns="">
          <p:sp>
            <p:nvSpPr>
              <p:cNvPr id="14038" name="Full D 3 close"/>
              <p:cNvSpPr>
                <a:spLocks noRot="1" noChangeAspect="1" noMove="1" noResize="1" noEditPoints="1" noAdjustHandles="1" noChangeArrowheads="1" noChangeShapeType="1" noTextEdit="1"/>
              </p:cNvSpPr>
              <p:nvPr/>
            </p:nvSpPr>
            <p:spPr>
              <a:xfrm>
                <a:off x="6769100" y="2021840"/>
                <a:ext cx="381000" cy="2204720"/>
              </a:xfrm>
              <a:prstGeom prst="rect">
                <a:avLst/>
              </a:prstGeom>
              <a:blipFill>
                <a:blip r:embed="rId9"/>
                <a:stretch>
                  <a:fillRect l="-1111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39" name="Full D 3 inverse"/>
              <p:cNvSpPr/>
              <p:nvPr/>
            </p:nvSpPr>
            <p:spPr>
              <a:xfrm>
                <a:off x="6946900" y="2471420"/>
                <a:ext cx="5334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C81919"/>
                          </a:solidFill>
                          <a:latin typeface="Cambria Math"/>
                        </a:rPr>
                        <m:t>−1</m:t>
                      </m:r>
                    </m:oMath>
                  </m:oMathPara>
                </a14:m>
                <a:endParaRPr sz="1600"/>
              </a:p>
            </p:txBody>
          </p:sp>
        </mc:Choice>
        <mc:Fallback xmlns="">
          <p:sp>
            <p:nvSpPr>
              <p:cNvPr id="14039" name="Full D 3 inverse"/>
              <p:cNvSpPr>
                <a:spLocks noRot="1" noChangeAspect="1" noMove="1" noResize="1" noEditPoints="1" noAdjustHandles="1" noChangeArrowheads="1" noChangeShapeType="1" noTextEdit="1"/>
              </p:cNvSpPr>
              <p:nvPr/>
            </p:nvSpPr>
            <p:spPr>
              <a:xfrm>
                <a:off x="6946900" y="2471420"/>
                <a:ext cx="533400" cy="5689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40" name="Full D 3 right factor"/>
              <p:cNvSpPr/>
              <p:nvPr/>
            </p:nvSpPr>
            <p:spPr>
              <a:xfrm>
                <a:off x="5670550" y="2791460"/>
                <a:ext cx="1181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a:rPr sz="2300">
                                    <a:solidFill>
                                      <a:srgbClr val="252529"/>
                                    </a:solidFill>
                                    <a:latin typeface="Cambria Math"/>
                                  </a:rPr>
                                  <m:t>0</m:t>
                                </m:r>
                              </m:e>
                              <m:e>
                                <m:r>
                                  <a:rPr sz="2300">
                                    <a:solidFill>
                                      <a:srgbClr val="252529"/>
                                    </a:solidFill>
                                    <a:latin typeface="Cambria Math"/>
                                  </a:rPr>
                                  <m:t>𝐼</m:t>
                                </m:r>
                              </m:e>
                            </m:mr>
                            <m:mr>
                              <m:e>
                                <m:r>
                                  <a:rPr sz="2300">
                                    <a:solidFill>
                                      <a:srgbClr val="252529"/>
                                    </a:solidFill>
                                    <a:latin typeface="Cambria Math"/>
                                  </a:rPr>
                                  <m:t>−</m:t>
                                </m:r>
                                <m:r>
                                  <a:rPr sz="2300">
                                    <a:solidFill>
                                      <a:srgbClr val="252529"/>
                                    </a:solidFill>
                                    <a:latin typeface="Cambria Math"/>
                                  </a:rPr>
                                  <m:t>𝐼</m:t>
                                </m:r>
                              </m:e>
                              <m:e>
                                <m:r>
                                  <a:rPr sz="2300">
                                    <a:solidFill>
                                      <a:srgbClr val="252529"/>
                                    </a:solidFill>
                                    <a:latin typeface="Cambria Math"/>
                                  </a:rPr>
                                  <m:t>0</m:t>
                                </m:r>
                              </m:e>
                            </m:mr>
                          </m:m>
                        </m:e>
                      </m:d>
                    </m:oMath>
                  </m:oMathPara>
                </a14:m>
                <a:endParaRPr sz="2300" dirty="0"/>
              </a:p>
            </p:txBody>
          </p:sp>
        </mc:Choice>
        <mc:Fallback xmlns="">
          <p:sp>
            <p:nvSpPr>
              <p:cNvPr id="14040" name="Full D 3 right factor"/>
              <p:cNvSpPr>
                <a:spLocks noRot="1" noChangeAspect="1" noMove="1" noResize="1" noEditPoints="1" noAdjustHandles="1" noChangeArrowheads="1" noChangeShapeType="1" noTextEdit="1"/>
              </p:cNvSpPr>
              <p:nvPr/>
            </p:nvSpPr>
            <p:spPr>
              <a:xfrm>
                <a:off x="5670550" y="2791460"/>
                <a:ext cx="1181100" cy="81788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41" name="Full D 3 cell0"/>
              <p:cNvSpPr/>
              <p:nvPr/>
            </p:nvSpPr>
            <p:spPr>
              <a:xfrm>
                <a:off x="40068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0</m:t>
                      </m:r>
                    </m:oMath>
                  </m:oMathPara>
                </a14:m>
                <a:endParaRPr sz="2300" dirty="0"/>
              </a:p>
            </p:txBody>
          </p:sp>
        </mc:Choice>
        <mc:Fallback xmlns="">
          <p:sp>
            <p:nvSpPr>
              <p:cNvPr id="14041" name="Full D 3 cell0"/>
              <p:cNvSpPr>
                <a:spLocks noRot="1" noChangeAspect="1" noMove="1" noResize="1" noEditPoints="1" noAdjustHandles="1" noChangeArrowheads="1" noChangeShapeType="1" noTextEdit="1"/>
              </p:cNvSpPr>
              <p:nvPr/>
            </p:nvSpPr>
            <p:spPr>
              <a:xfrm>
                <a:off x="4006850" y="2626360"/>
                <a:ext cx="927100" cy="817880"/>
              </a:xfrm>
              <a:prstGeom prst="rect">
                <a:avLst/>
              </a:prstGeom>
              <a:blipFill>
                <a:blip r:embed="rId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42" name="Full D 3 cell1"/>
              <p:cNvSpPr/>
              <p:nvPr/>
            </p:nvSpPr>
            <p:spPr>
              <a:xfrm>
                <a:off x="46672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C81919"/>
                          </a:solidFill>
                          <a:latin typeface="Cambria Math"/>
                        </a:rPr>
                        <m:t>−</m:t>
                      </m:r>
                      <m:r>
                        <a:rPr sz="2300">
                          <a:solidFill>
                            <a:srgbClr val="C81919"/>
                          </a:solidFill>
                          <a:latin typeface="Cambria Math"/>
                        </a:rPr>
                        <m:t>𝐼</m:t>
                      </m:r>
                    </m:oMath>
                  </m:oMathPara>
                </a14:m>
                <a:endParaRPr sz="2300"/>
              </a:p>
            </p:txBody>
          </p:sp>
        </mc:Choice>
        <mc:Fallback xmlns="">
          <p:sp>
            <p:nvSpPr>
              <p:cNvPr id="14042" name="Full D 3 cell1"/>
              <p:cNvSpPr>
                <a:spLocks noRot="1" noChangeAspect="1" noMove="1" noResize="1" noEditPoints="1" noAdjustHandles="1" noChangeArrowheads="1" noChangeShapeType="1" noTextEdit="1"/>
              </p:cNvSpPr>
              <p:nvPr/>
            </p:nvSpPr>
            <p:spPr>
              <a:xfrm>
                <a:off x="4667250" y="2626360"/>
                <a:ext cx="927100" cy="817880"/>
              </a:xfrm>
              <a:prstGeom prst="rect">
                <a:avLst/>
              </a:prstGeom>
              <a:blipFill>
                <a:blip r:embed="rId2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43" name="Full D 3 cell2"/>
              <p:cNvSpPr/>
              <p:nvPr/>
            </p:nvSpPr>
            <p:spPr>
              <a:xfrm>
                <a:off x="40068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𝐼</m:t>
                      </m:r>
                    </m:oMath>
                  </m:oMathPara>
                </a14:m>
                <a:endParaRPr sz="2300"/>
              </a:p>
            </p:txBody>
          </p:sp>
        </mc:Choice>
        <mc:Fallback xmlns="">
          <p:sp>
            <p:nvSpPr>
              <p:cNvPr id="14043" name="Full D 3 cell2"/>
              <p:cNvSpPr>
                <a:spLocks noRot="1" noChangeAspect="1" noMove="1" noResize="1" noEditPoints="1" noAdjustHandles="1" noChangeArrowheads="1" noChangeShapeType="1" noTextEdit="1"/>
              </p:cNvSpPr>
              <p:nvPr/>
            </p:nvSpPr>
            <p:spPr>
              <a:xfrm>
                <a:off x="4006850" y="2956560"/>
                <a:ext cx="927100" cy="817880"/>
              </a:xfrm>
              <a:prstGeom prst="rect">
                <a:avLst/>
              </a:prstGeom>
              <a:blipFill>
                <a:blip r:embed="rId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44" name="Full D 3 cell3"/>
              <p:cNvSpPr/>
              <p:nvPr/>
            </p:nvSpPr>
            <p:spPr>
              <a:xfrm>
                <a:off x="46672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C81919"/>
                          </a:solidFill>
                          <a:latin typeface="Cambria Math"/>
                        </a:rPr>
                        <m:t>−</m:t>
                      </m:r>
                      <m:sSup>
                        <m:sSupPr>
                          <m:ctrlPr>
                            <a:rPr sz="2300">
                              <a:solidFill>
                                <a:srgbClr val="C81919"/>
                              </a:solidFill>
                              <a:latin typeface="Cambria Math"/>
                            </a:rPr>
                          </m:ctrlPr>
                        </m:sSupPr>
                        <m:e>
                          <m:r>
                            <a:rPr sz="2300">
                              <a:solidFill>
                                <a:srgbClr val="C81919"/>
                              </a:solidFill>
                              <a:latin typeface="Cambria Math"/>
                            </a:rPr>
                            <m:t>𝐾</m:t>
                          </m:r>
                        </m:e>
                        <m:sup>
                          <m:r>
                            <a:rPr sz="2300">
                              <a:solidFill>
                                <a:srgbClr val="C81919"/>
                              </a:solidFill>
                              <a:latin typeface="Cambria Math"/>
                            </a:rPr>
                            <m:t>⊤</m:t>
                          </m:r>
                        </m:sup>
                      </m:sSup>
                    </m:oMath>
                  </m:oMathPara>
                </a14:m>
                <a:endParaRPr sz="2300"/>
              </a:p>
            </p:txBody>
          </p:sp>
        </mc:Choice>
        <mc:Fallback xmlns="">
          <p:sp>
            <p:nvSpPr>
              <p:cNvPr id="14044" name="Full D 3 cell3"/>
              <p:cNvSpPr>
                <a:spLocks noRot="1" noChangeAspect="1" noMove="1" noResize="1" noEditPoints="1" noAdjustHandles="1" noChangeArrowheads="1" noChangeShapeType="1" noTextEdit="1"/>
              </p:cNvSpPr>
              <p:nvPr/>
            </p:nvSpPr>
            <p:spPr>
              <a:xfrm>
                <a:off x="4667250" y="2956560"/>
                <a:ext cx="927100" cy="817880"/>
              </a:xfrm>
              <a:prstGeom prst="rect">
                <a:avLst/>
              </a:prstGeom>
              <a:blipFill>
                <a:blip r:embed="rId26"/>
                <a:stretch>
                  <a:fillRect/>
                </a:stretch>
              </a:blipFill>
              <a:ln>
                <a:noFill/>
              </a:ln>
            </p:spPr>
            <p:txBody>
              <a:bodyPr/>
              <a:lstStyle/>
              <a:p>
                <a:r>
                  <a:rPr lang="en-NL">
                    <a:noFill/>
                  </a:rPr>
                  <a:t> </a:t>
                </a:r>
              </a:p>
            </p:txBody>
          </p:sp>
        </mc:Fallback>
      </mc:AlternateContent>
      <p:sp>
        <p:nvSpPr>
          <p:cNvPr id="14045" name="Full D 3 left bracket"/>
          <p:cNvSpPr/>
          <p:nvPr/>
        </p:nvSpPr>
        <p:spPr>
          <a:xfrm>
            <a:off x="4127500" y="2844800"/>
            <a:ext cx="127000" cy="723900"/>
          </a:xfrm>
          <a:custGeom>
            <a:avLst/>
            <a:gdLst/>
            <a:ahLst/>
            <a:cxnLst/>
            <a:rect l="0" t="0" r="r" b="b"/>
            <a:pathLst>
              <a:path w="127000" h="723900" fill="none">
                <a:moveTo>
                  <a:pt x="114300" y="12700"/>
                </a:moveTo>
                <a:lnTo>
                  <a:pt x="12700" y="12700"/>
                </a:lnTo>
                <a:lnTo>
                  <a:pt x="12700" y="711200"/>
                </a:lnTo>
                <a:lnTo>
                  <a:pt x="114300" y="711200"/>
                </a:lnTo>
              </a:path>
            </a:pathLst>
          </a:custGeom>
          <a:noFill/>
          <a:ln w="14605">
            <a:solidFill>
              <a:srgbClr val="252529"/>
            </a:solidFill>
          </a:ln>
        </p:spPr>
      </p:sp>
      <p:sp>
        <p:nvSpPr>
          <p:cNvPr id="14046" name="Full D 3 right bracket"/>
          <p:cNvSpPr/>
          <p:nvPr/>
        </p:nvSpPr>
        <p:spPr>
          <a:xfrm>
            <a:off x="5346700" y="2844800"/>
            <a:ext cx="127000" cy="723900"/>
          </a:xfrm>
          <a:custGeom>
            <a:avLst/>
            <a:gdLst/>
            <a:ahLst/>
            <a:cxnLst/>
            <a:rect l="0" t="0" r="r" b="b"/>
            <a:pathLst>
              <a:path w="127000" h="723900" fill="none">
                <a:moveTo>
                  <a:pt x="12700" y="12700"/>
                </a:moveTo>
                <a:lnTo>
                  <a:pt x="114300" y="12700"/>
                </a:lnTo>
                <a:lnTo>
                  <a:pt x="114300" y="711200"/>
                </a:lnTo>
                <a:lnTo>
                  <a:pt x="12700" y="711200"/>
                </a:lnTo>
              </a:path>
            </a:pathLst>
          </a:custGeom>
          <a:noFill/>
          <a:ln w="14605">
            <a:solidFill>
              <a:srgbClr val="252529"/>
            </a:solidFill>
          </a:ln>
        </p:spPr>
      </p:sp>
      <mc:AlternateContent xmlns:mc="http://schemas.openxmlformats.org/markup-compatibility/2006" xmlns:a14="http://schemas.microsoft.com/office/drawing/2010/main">
        <mc:Choice Requires="a14">
          <p:sp>
            <p:nvSpPr>
              <p:cNvPr id="14048" name="Full D 4 prefix"/>
              <p:cNvSpPr/>
              <p:nvPr/>
            </p:nvSpPr>
            <p:spPr>
              <a:xfrm>
                <a:off x="2406650" y="2791460"/>
                <a:ext cx="1841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D</m:t>
                      </m:r>
                      <m:d>
                        <m:dPr>
                          <m:ctrlPr>
                            <a:rPr sz="2300">
                              <a:solidFill>
                                <a:srgbClr val="252529"/>
                              </a:solidFill>
                              <a:latin typeface="Cambria Math"/>
                            </a:rPr>
                          </m:ctrlPr>
                        </m:dPr>
                        <m:e>
                          <m:r>
                            <m:rPr>
                              <m:sty m:val="p"/>
                            </m:rPr>
                            <a:rPr sz="2300">
                              <a:solidFill>
                                <a:srgbClr val="252529"/>
                              </a:solidFill>
                              <a:latin typeface="Cambria Math"/>
                            </a:rPr>
                            <m:t>Θ</m:t>
                          </m:r>
                        </m:e>
                      </m:d>
                      <m:r>
                        <a:rPr sz="2300">
                          <a:solidFill>
                            <a:srgbClr val="252529"/>
                          </a:solidFill>
                          <a:latin typeface="Cambria Math"/>
                        </a:rPr>
                        <m:t>=</m:t>
                      </m:r>
                    </m:oMath>
                  </m:oMathPara>
                </a14:m>
                <a:endParaRPr sz="2300"/>
              </a:p>
            </p:txBody>
          </p:sp>
        </mc:Choice>
        <mc:Fallback xmlns="">
          <p:sp>
            <p:nvSpPr>
              <p:cNvPr id="14048" name="Full D 4 prefix"/>
              <p:cNvSpPr>
                <a:spLocks noRot="1" noChangeAspect="1" noMove="1" noResize="1" noEditPoints="1" noAdjustHandles="1" noChangeArrowheads="1" noChangeShapeType="1" noTextEdit="1"/>
              </p:cNvSpPr>
              <p:nvPr/>
            </p:nvSpPr>
            <p:spPr>
              <a:xfrm>
                <a:off x="2406650" y="2791460"/>
                <a:ext cx="1841500" cy="817880"/>
              </a:xfrm>
              <a:prstGeom prst="rect">
                <a:avLst/>
              </a:prstGeom>
              <a:blipFill>
                <a:blip r:embed="rId2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49" name="Full D 4 open"/>
              <p:cNvSpPr/>
              <p:nvPr/>
            </p:nvSpPr>
            <p:spPr>
              <a:xfrm>
                <a:off x="37973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xmlns="">
          <p:sp>
            <p:nvSpPr>
              <p:cNvPr id="14049" name="Full D 4 open"/>
              <p:cNvSpPr>
                <a:spLocks noRot="1" noChangeAspect="1" noMove="1" noResize="1" noEditPoints="1" noAdjustHandles="1" noChangeArrowheads="1" noChangeShapeType="1" noTextEdit="1"/>
              </p:cNvSpPr>
              <p:nvPr/>
            </p:nvSpPr>
            <p:spPr>
              <a:xfrm>
                <a:off x="3797300" y="2021840"/>
                <a:ext cx="381000" cy="2204720"/>
              </a:xfrm>
              <a:prstGeom prst="rect">
                <a:avLst/>
              </a:prstGeom>
              <a:blipFill>
                <a:blip r:embed="rId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50" name="Full D 4 close"/>
              <p:cNvSpPr/>
              <p:nvPr/>
            </p:nvSpPr>
            <p:spPr>
              <a:xfrm>
                <a:off x="54229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dirty="0"/>
              </a:p>
            </p:txBody>
          </p:sp>
        </mc:Choice>
        <mc:Fallback xmlns="">
          <p:sp>
            <p:nvSpPr>
              <p:cNvPr id="14050" name="Full D 4 close"/>
              <p:cNvSpPr>
                <a:spLocks noRot="1" noChangeAspect="1" noMove="1" noResize="1" noEditPoints="1" noAdjustHandles="1" noChangeArrowheads="1" noChangeShapeType="1" noTextEdit="1"/>
              </p:cNvSpPr>
              <p:nvPr/>
            </p:nvSpPr>
            <p:spPr>
              <a:xfrm>
                <a:off x="5422900" y="2021840"/>
                <a:ext cx="381000" cy="2204720"/>
              </a:xfrm>
              <a:prstGeom prst="rect">
                <a:avLst/>
              </a:prstGeom>
              <a:blipFill>
                <a:blip r:embed="rId28"/>
                <a:stretch>
                  <a:fillRect l="-1290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51" name="Full D 4 inverse"/>
              <p:cNvSpPr/>
              <p:nvPr/>
            </p:nvSpPr>
            <p:spPr>
              <a:xfrm>
                <a:off x="5575300" y="2471420"/>
                <a:ext cx="5334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C81919"/>
                          </a:solidFill>
                          <a:latin typeface="Cambria Math"/>
                        </a:rPr>
                        <m:t>−1</m:t>
                      </m:r>
                    </m:oMath>
                  </m:oMathPara>
                </a14:m>
                <a:endParaRPr sz="1600"/>
              </a:p>
            </p:txBody>
          </p:sp>
        </mc:Choice>
        <mc:Fallback xmlns="">
          <p:sp>
            <p:nvSpPr>
              <p:cNvPr id="14051" name="Full D 4 inverse"/>
              <p:cNvSpPr>
                <a:spLocks noRot="1" noChangeAspect="1" noMove="1" noResize="1" noEditPoints="1" noAdjustHandles="1" noChangeArrowheads="1" noChangeShapeType="1" noTextEdit="1"/>
              </p:cNvSpPr>
              <p:nvPr/>
            </p:nvSpPr>
            <p:spPr>
              <a:xfrm>
                <a:off x="5575300" y="2471420"/>
                <a:ext cx="533400" cy="5689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52" name="Full D 4 cell0"/>
              <p:cNvSpPr/>
              <p:nvPr/>
            </p:nvSpPr>
            <p:spPr>
              <a:xfrm>
                <a:off x="40068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𝐼</m:t>
                      </m:r>
                    </m:oMath>
                  </m:oMathPara>
                </a14:m>
                <a:endParaRPr sz="2300"/>
              </a:p>
            </p:txBody>
          </p:sp>
        </mc:Choice>
        <mc:Fallback xmlns="">
          <p:sp>
            <p:nvSpPr>
              <p:cNvPr id="14052" name="Full D 4 cell0"/>
              <p:cNvSpPr>
                <a:spLocks noRot="1" noChangeAspect="1" noMove="1" noResize="1" noEditPoints="1" noAdjustHandles="1" noChangeArrowheads="1" noChangeShapeType="1" noTextEdit="1"/>
              </p:cNvSpPr>
              <p:nvPr/>
            </p:nvSpPr>
            <p:spPr>
              <a:xfrm>
                <a:off x="4006850" y="2626360"/>
                <a:ext cx="927100" cy="81788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53" name="Full D 4 cell1"/>
              <p:cNvSpPr/>
              <p:nvPr/>
            </p:nvSpPr>
            <p:spPr>
              <a:xfrm>
                <a:off x="46672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0</m:t>
                      </m:r>
                    </m:oMath>
                  </m:oMathPara>
                </a14:m>
                <a:endParaRPr sz="2300"/>
              </a:p>
            </p:txBody>
          </p:sp>
        </mc:Choice>
        <mc:Fallback xmlns="">
          <p:sp>
            <p:nvSpPr>
              <p:cNvPr id="14053" name="Full D 4 cell1"/>
              <p:cNvSpPr>
                <a:spLocks noRot="1" noChangeAspect="1" noMove="1" noResize="1" noEditPoints="1" noAdjustHandles="1" noChangeArrowheads="1" noChangeShapeType="1" noTextEdit="1"/>
              </p:cNvSpPr>
              <p:nvPr/>
            </p:nvSpPr>
            <p:spPr>
              <a:xfrm>
                <a:off x="4667250" y="2626360"/>
                <a:ext cx="927100" cy="81788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54" name="Full D 4 cell2"/>
              <p:cNvSpPr/>
              <p:nvPr/>
            </p:nvSpPr>
            <p:spPr>
              <a:xfrm>
                <a:off x="40068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2300">
                              <a:solidFill>
                                <a:srgbClr val="C81919"/>
                              </a:solidFill>
                              <a:latin typeface="Cambria Math"/>
                            </a:rPr>
                          </m:ctrlPr>
                        </m:sSupPr>
                        <m:e>
                          <m:r>
                            <a:rPr sz="2300">
                              <a:solidFill>
                                <a:srgbClr val="C81919"/>
                              </a:solidFill>
                              <a:latin typeface="Cambria Math"/>
                            </a:rPr>
                            <m:t>𝐾</m:t>
                          </m:r>
                        </m:e>
                        <m:sup>
                          <m:r>
                            <a:rPr sz="2300">
                              <a:solidFill>
                                <a:srgbClr val="C81919"/>
                              </a:solidFill>
                              <a:latin typeface="Cambria Math"/>
                            </a:rPr>
                            <m:t>⊤</m:t>
                          </m:r>
                        </m:sup>
                      </m:sSup>
                    </m:oMath>
                  </m:oMathPara>
                </a14:m>
                <a:endParaRPr sz="2300"/>
              </a:p>
            </p:txBody>
          </p:sp>
        </mc:Choice>
        <mc:Fallback xmlns="">
          <p:sp>
            <p:nvSpPr>
              <p:cNvPr id="14054" name="Full D 4 cell2"/>
              <p:cNvSpPr>
                <a:spLocks noRot="1" noChangeAspect="1" noMove="1" noResize="1" noEditPoints="1" noAdjustHandles="1" noChangeArrowheads="1" noChangeShapeType="1" noTextEdit="1"/>
              </p:cNvSpPr>
              <p:nvPr/>
            </p:nvSpPr>
            <p:spPr>
              <a:xfrm>
                <a:off x="4006850" y="2956560"/>
                <a:ext cx="927100" cy="817880"/>
              </a:xfrm>
              <a:prstGeom prst="rect">
                <a:avLst/>
              </a:prstGeom>
              <a:blipFill>
                <a:blip r:embed="rId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55" name="Full D 4 cell3"/>
              <p:cNvSpPr/>
              <p:nvPr/>
            </p:nvSpPr>
            <p:spPr>
              <a:xfrm>
                <a:off x="46672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𝐼</m:t>
                      </m:r>
                    </m:oMath>
                  </m:oMathPara>
                </a14:m>
                <a:endParaRPr sz="2300"/>
              </a:p>
            </p:txBody>
          </p:sp>
        </mc:Choice>
        <mc:Fallback xmlns="">
          <p:sp>
            <p:nvSpPr>
              <p:cNvPr id="14055" name="Full D 4 cell3"/>
              <p:cNvSpPr>
                <a:spLocks noRot="1" noChangeAspect="1" noMove="1" noResize="1" noEditPoints="1" noAdjustHandles="1" noChangeArrowheads="1" noChangeShapeType="1" noTextEdit="1"/>
              </p:cNvSpPr>
              <p:nvPr/>
            </p:nvSpPr>
            <p:spPr>
              <a:xfrm>
                <a:off x="4667250" y="2956560"/>
                <a:ext cx="927100" cy="817880"/>
              </a:xfrm>
              <a:prstGeom prst="rect">
                <a:avLst/>
              </a:prstGeom>
              <a:blipFill>
                <a:blip r:embed="rId17"/>
                <a:stretch>
                  <a:fillRect/>
                </a:stretch>
              </a:blipFill>
              <a:ln>
                <a:noFill/>
              </a:ln>
            </p:spPr>
            <p:txBody>
              <a:bodyPr/>
              <a:lstStyle/>
              <a:p>
                <a:r>
                  <a:rPr lang="en-NL">
                    <a:noFill/>
                  </a:rPr>
                  <a:t> </a:t>
                </a:r>
              </a:p>
            </p:txBody>
          </p:sp>
        </mc:Fallback>
      </mc:AlternateContent>
      <p:sp>
        <p:nvSpPr>
          <p:cNvPr id="14056" name="Full D 4 left bracket"/>
          <p:cNvSpPr/>
          <p:nvPr/>
        </p:nvSpPr>
        <p:spPr>
          <a:xfrm>
            <a:off x="4127500" y="2844800"/>
            <a:ext cx="127000" cy="723900"/>
          </a:xfrm>
          <a:custGeom>
            <a:avLst/>
            <a:gdLst/>
            <a:ahLst/>
            <a:cxnLst/>
            <a:rect l="0" t="0" r="r" b="b"/>
            <a:pathLst>
              <a:path w="127000" h="723900" fill="none">
                <a:moveTo>
                  <a:pt x="114300" y="12700"/>
                </a:moveTo>
                <a:lnTo>
                  <a:pt x="12700" y="12700"/>
                </a:lnTo>
                <a:lnTo>
                  <a:pt x="12700" y="711200"/>
                </a:lnTo>
                <a:lnTo>
                  <a:pt x="114300" y="711200"/>
                </a:lnTo>
              </a:path>
            </a:pathLst>
          </a:custGeom>
          <a:noFill/>
          <a:ln w="14605">
            <a:solidFill>
              <a:srgbClr val="252529"/>
            </a:solidFill>
          </a:ln>
        </p:spPr>
      </p:sp>
      <p:sp>
        <p:nvSpPr>
          <p:cNvPr id="14057" name="Full D 4 right bracket"/>
          <p:cNvSpPr/>
          <p:nvPr/>
        </p:nvSpPr>
        <p:spPr>
          <a:xfrm>
            <a:off x="5346700" y="2844800"/>
            <a:ext cx="127000" cy="723900"/>
          </a:xfrm>
          <a:custGeom>
            <a:avLst/>
            <a:gdLst/>
            <a:ahLst/>
            <a:cxnLst/>
            <a:rect l="0" t="0" r="r" b="b"/>
            <a:pathLst>
              <a:path w="127000" h="723900" fill="none">
                <a:moveTo>
                  <a:pt x="12700" y="12700"/>
                </a:moveTo>
                <a:lnTo>
                  <a:pt x="114300" y="12700"/>
                </a:lnTo>
                <a:lnTo>
                  <a:pt x="114300" y="711200"/>
                </a:lnTo>
                <a:lnTo>
                  <a:pt x="12700" y="711200"/>
                </a:lnTo>
              </a:path>
            </a:pathLst>
          </a:custGeom>
          <a:noFill/>
          <a:ln w="14605">
            <a:solidFill>
              <a:srgbClr val="252529"/>
            </a:solidFill>
          </a:ln>
        </p:spPr>
      </p:sp>
      <mc:AlternateContent xmlns:mc="http://schemas.openxmlformats.org/markup-compatibility/2006" xmlns:a14="http://schemas.microsoft.com/office/drawing/2010/main">
        <mc:Choice Requires="a14">
          <p:sp>
            <p:nvSpPr>
              <p:cNvPr id="14059" name="Full D 5 prefix"/>
              <p:cNvSpPr/>
              <p:nvPr/>
            </p:nvSpPr>
            <p:spPr>
              <a:xfrm>
                <a:off x="2406650" y="2791460"/>
                <a:ext cx="1841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D</m:t>
                      </m:r>
                      <m:d>
                        <m:dPr>
                          <m:ctrlPr>
                            <a:rPr sz="2300">
                              <a:solidFill>
                                <a:srgbClr val="252529"/>
                              </a:solidFill>
                              <a:latin typeface="Cambria Math"/>
                            </a:rPr>
                          </m:ctrlPr>
                        </m:dPr>
                        <m:e>
                          <m:r>
                            <m:rPr>
                              <m:sty m:val="p"/>
                            </m:rPr>
                            <a:rPr sz="2300">
                              <a:solidFill>
                                <a:srgbClr val="252529"/>
                              </a:solidFill>
                              <a:latin typeface="Cambria Math"/>
                            </a:rPr>
                            <m:t>Θ</m:t>
                          </m:r>
                        </m:e>
                      </m:d>
                      <m:r>
                        <a:rPr sz="2300">
                          <a:solidFill>
                            <a:srgbClr val="252529"/>
                          </a:solidFill>
                          <a:latin typeface="Cambria Math"/>
                        </a:rPr>
                        <m:t>=</m:t>
                      </m:r>
                    </m:oMath>
                  </m:oMathPara>
                </a14:m>
                <a:endParaRPr sz="2300"/>
              </a:p>
            </p:txBody>
          </p:sp>
        </mc:Choice>
        <mc:Fallback xmlns="">
          <p:sp>
            <p:nvSpPr>
              <p:cNvPr id="14059" name="Full D 5 prefix"/>
              <p:cNvSpPr>
                <a:spLocks noRot="1" noChangeAspect="1" noMove="1" noResize="1" noEditPoints="1" noAdjustHandles="1" noChangeArrowheads="1" noChangeShapeType="1" noTextEdit="1"/>
              </p:cNvSpPr>
              <p:nvPr/>
            </p:nvSpPr>
            <p:spPr>
              <a:xfrm>
                <a:off x="2406650" y="2791460"/>
                <a:ext cx="1841500" cy="817880"/>
              </a:xfrm>
              <a:prstGeom prst="rect">
                <a:avLst/>
              </a:prstGeom>
              <a:blipFill>
                <a:blip r:embed="rId2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60" name="Full D 5 cell0"/>
              <p:cNvSpPr/>
              <p:nvPr/>
            </p:nvSpPr>
            <p:spPr>
              <a:xfrm>
                <a:off x="40068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𝐼</m:t>
                      </m:r>
                    </m:oMath>
                  </m:oMathPara>
                </a14:m>
                <a:endParaRPr sz="2300"/>
              </a:p>
            </p:txBody>
          </p:sp>
        </mc:Choice>
        <mc:Fallback xmlns="">
          <p:sp>
            <p:nvSpPr>
              <p:cNvPr id="14060" name="Full D 5 cell0"/>
              <p:cNvSpPr>
                <a:spLocks noRot="1" noChangeAspect="1" noMove="1" noResize="1" noEditPoints="1" noAdjustHandles="1" noChangeArrowheads="1" noChangeShapeType="1" noTextEdit="1"/>
              </p:cNvSpPr>
              <p:nvPr/>
            </p:nvSpPr>
            <p:spPr>
              <a:xfrm>
                <a:off x="4006850" y="2626360"/>
                <a:ext cx="927100" cy="81788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61" name="Full D 5 cell1"/>
              <p:cNvSpPr/>
              <p:nvPr/>
            </p:nvSpPr>
            <p:spPr>
              <a:xfrm>
                <a:off x="46672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0</m:t>
                      </m:r>
                    </m:oMath>
                  </m:oMathPara>
                </a14:m>
                <a:endParaRPr sz="2300"/>
              </a:p>
            </p:txBody>
          </p:sp>
        </mc:Choice>
        <mc:Fallback xmlns="">
          <p:sp>
            <p:nvSpPr>
              <p:cNvPr id="14061" name="Full D 5 cell1"/>
              <p:cNvSpPr>
                <a:spLocks noRot="1" noChangeAspect="1" noMove="1" noResize="1" noEditPoints="1" noAdjustHandles="1" noChangeArrowheads="1" noChangeShapeType="1" noTextEdit="1"/>
              </p:cNvSpPr>
              <p:nvPr/>
            </p:nvSpPr>
            <p:spPr>
              <a:xfrm>
                <a:off x="4667250" y="2626360"/>
                <a:ext cx="927100" cy="81788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62" name="Full D 5 cell2"/>
              <p:cNvSpPr/>
              <p:nvPr/>
            </p:nvSpPr>
            <p:spPr>
              <a:xfrm>
                <a:off x="40068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C81919"/>
                          </a:solidFill>
                          <a:latin typeface="Cambria Math"/>
                        </a:rPr>
                        <m:t>−</m:t>
                      </m:r>
                      <m:sSup>
                        <m:sSupPr>
                          <m:ctrlPr>
                            <a:rPr sz="2300">
                              <a:solidFill>
                                <a:srgbClr val="C81919"/>
                              </a:solidFill>
                              <a:latin typeface="Cambria Math"/>
                            </a:rPr>
                          </m:ctrlPr>
                        </m:sSupPr>
                        <m:e>
                          <m:r>
                            <a:rPr sz="2300">
                              <a:solidFill>
                                <a:srgbClr val="C81919"/>
                              </a:solidFill>
                              <a:latin typeface="Cambria Math"/>
                            </a:rPr>
                            <m:t>𝐾</m:t>
                          </m:r>
                        </m:e>
                        <m:sup>
                          <m:r>
                            <a:rPr sz="2300">
                              <a:solidFill>
                                <a:srgbClr val="C81919"/>
                              </a:solidFill>
                              <a:latin typeface="Cambria Math"/>
                            </a:rPr>
                            <m:t>⊤</m:t>
                          </m:r>
                        </m:sup>
                      </m:sSup>
                    </m:oMath>
                  </m:oMathPara>
                </a14:m>
                <a:endParaRPr sz="2300"/>
              </a:p>
            </p:txBody>
          </p:sp>
        </mc:Choice>
        <mc:Fallback xmlns="">
          <p:sp>
            <p:nvSpPr>
              <p:cNvPr id="14062" name="Full D 5 cell2"/>
              <p:cNvSpPr>
                <a:spLocks noRot="1" noChangeAspect="1" noMove="1" noResize="1" noEditPoints="1" noAdjustHandles="1" noChangeArrowheads="1" noChangeShapeType="1" noTextEdit="1"/>
              </p:cNvSpPr>
              <p:nvPr/>
            </p:nvSpPr>
            <p:spPr>
              <a:xfrm>
                <a:off x="4006850" y="2956560"/>
                <a:ext cx="927100" cy="817880"/>
              </a:xfrm>
              <a:prstGeom prst="rect">
                <a:avLst/>
              </a:prstGeom>
              <a:blipFill>
                <a:blip r:embed="rId3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63" name="Full D 5 cell3"/>
              <p:cNvSpPr/>
              <p:nvPr/>
            </p:nvSpPr>
            <p:spPr>
              <a:xfrm>
                <a:off x="46672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𝐼</m:t>
                      </m:r>
                    </m:oMath>
                  </m:oMathPara>
                </a14:m>
                <a:endParaRPr sz="2300" dirty="0"/>
              </a:p>
            </p:txBody>
          </p:sp>
        </mc:Choice>
        <mc:Fallback xmlns="">
          <p:sp>
            <p:nvSpPr>
              <p:cNvPr id="14063" name="Full D 5 cell3"/>
              <p:cNvSpPr>
                <a:spLocks noRot="1" noChangeAspect="1" noMove="1" noResize="1" noEditPoints="1" noAdjustHandles="1" noChangeArrowheads="1" noChangeShapeType="1" noTextEdit="1"/>
              </p:cNvSpPr>
              <p:nvPr/>
            </p:nvSpPr>
            <p:spPr>
              <a:xfrm>
                <a:off x="4667250" y="2956560"/>
                <a:ext cx="927100" cy="817880"/>
              </a:xfrm>
              <a:prstGeom prst="rect">
                <a:avLst/>
              </a:prstGeom>
              <a:blipFill>
                <a:blip r:embed="rId17"/>
                <a:stretch>
                  <a:fillRect/>
                </a:stretch>
              </a:blipFill>
              <a:ln>
                <a:noFill/>
              </a:ln>
            </p:spPr>
            <p:txBody>
              <a:bodyPr/>
              <a:lstStyle/>
              <a:p>
                <a:r>
                  <a:rPr lang="en-NL">
                    <a:noFill/>
                  </a:rPr>
                  <a:t> </a:t>
                </a:r>
              </a:p>
            </p:txBody>
          </p:sp>
        </mc:Fallback>
      </mc:AlternateContent>
      <p:sp>
        <p:nvSpPr>
          <p:cNvPr id="14064" name="Full D 5 left bracket"/>
          <p:cNvSpPr/>
          <p:nvPr/>
        </p:nvSpPr>
        <p:spPr>
          <a:xfrm>
            <a:off x="4127500" y="2844800"/>
            <a:ext cx="127000" cy="723900"/>
          </a:xfrm>
          <a:custGeom>
            <a:avLst/>
            <a:gdLst/>
            <a:ahLst/>
            <a:cxnLst/>
            <a:rect l="0" t="0" r="r" b="b"/>
            <a:pathLst>
              <a:path w="127000" h="723900" fill="none">
                <a:moveTo>
                  <a:pt x="114300" y="12700"/>
                </a:moveTo>
                <a:lnTo>
                  <a:pt x="12700" y="12700"/>
                </a:lnTo>
                <a:lnTo>
                  <a:pt x="12700" y="711200"/>
                </a:lnTo>
                <a:lnTo>
                  <a:pt x="114300" y="711200"/>
                </a:lnTo>
              </a:path>
            </a:pathLst>
          </a:custGeom>
          <a:noFill/>
          <a:ln w="14605">
            <a:solidFill>
              <a:srgbClr val="252529"/>
            </a:solidFill>
          </a:ln>
        </p:spPr>
      </p:sp>
      <p:sp>
        <p:nvSpPr>
          <p:cNvPr id="14065" name="Full D 5 right bracket"/>
          <p:cNvSpPr/>
          <p:nvPr/>
        </p:nvSpPr>
        <p:spPr>
          <a:xfrm>
            <a:off x="5346700" y="2844800"/>
            <a:ext cx="127000" cy="723900"/>
          </a:xfrm>
          <a:custGeom>
            <a:avLst/>
            <a:gdLst/>
            <a:ahLst/>
            <a:cxnLst/>
            <a:rect l="0" t="0" r="r" b="b"/>
            <a:pathLst>
              <a:path w="127000" h="723900" fill="none">
                <a:moveTo>
                  <a:pt x="12700" y="12700"/>
                </a:moveTo>
                <a:lnTo>
                  <a:pt x="114300" y="12700"/>
                </a:lnTo>
                <a:lnTo>
                  <a:pt x="114300" y="711200"/>
                </a:lnTo>
                <a:lnTo>
                  <a:pt x="12700" y="711200"/>
                </a:lnTo>
              </a:path>
            </a:pathLst>
          </a:custGeom>
          <a:noFill/>
          <a:ln w="14605">
            <a:solidFill>
              <a:srgbClr val="252529"/>
            </a:solidFill>
          </a:ln>
        </p:spPr>
      </p:sp>
      <mc:AlternateContent xmlns:mc="http://schemas.openxmlformats.org/markup-compatibility/2006" xmlns:a14="http://schemas.microsoft.com/office/drawing/2010/main">
        <mc:Choice Requires="a14">
          <p:sp>
            <p:nvSpPr>
              <p:cNvPr id="14066" name="Full D 5 answer"/>
              <p:cNvSpPr/>
              <p:nvPr/>
            </p:nvSpPr>
            <p:spPr>
              <a:xfrm>
                <a:off x="5626100" y="2755900"/>
                <a:ext cx="1270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m:t>
                      </m:r>
                      <m:bar>
                        <m:barPr>
                          <m:pos m:val="bot"/>
                          <m:ctrlPr>
                            <a:rPr sz="2500">
                              <a:solidFill>
                                <a:srgbClr val="252529"/>
                              </a:solidFill>
                              <a:latin typeface="Cambria Math"/>
                            </a:rPr>
                          </m:ctrlPr>
                        </m:barPr>
                        <m:e>
                          <m:r>
                            <m:rPr>
                              <m:sty m:val="p"/>
                            </m:rPr>
                            <a:rPr sz="2500">
                              <a:solidFill>
                                <a:srgbClr val="252529"/>
                              </a:solidFill>
                              <a:latin typeface="Cambria Math"/>
                            </a:rPr>
                            <m:t>Θ</m:t>
                          </m:r>
                        </m:e>
                      </m:bar>
                    </m:oMath>
                  </m:oMathPara>
                </a14:m>
                <a:endParaRPr sz="2500" dirty="0"/>
              </a:p>
            </p:txBody>
          </p:sp>
        </mc:Choice>
        <mc:Fallback xmlns="">
          <p:sp>
            <p:nvSpPr>
              <p:cNvPr id="14066" name="Full D 5 answer"/>
              <p:cNvSpPr>
                <a:spLocks noRot="1" noChangeAspect="1" noMove="1" noResize="1" noEditPoints="1" noAdjustHandles="1" noChangeArrowheads="1" noChangeShapeType="1" noTextEdit="1"/>
              </p:cNvSpPr>
              <p:nvPr/>
            </p:nvSpPr>
            <p:spPr>
              <a:xfrm>
                <a:off x="5626100" y="2755900"/>
                <a:ext cx="1270000" cy="889000"/>
              </a:xfrm>
              <a:prstGeom prst="rect">
                <a:avLst/>
              </a:prstGeom>
              <a:blipFill>
                <a:blip r:embed="rId31"/>
                <a:stretch>
                  <a:fillRect/>
                </a:stretch>
              </a:blipFill>
              <a:ln>
                <a:noFill/>
              </a:ln>
            </p:spPr>
            <p:txBody>
              <a:bodyPr/>
              <a:lstStyle/>
              <a:p>
                <a:r>
                  <a:rPr lang="en-NL">
                    <a:noFill/>
                  </a:rPr>
                  <a:t> </a:t>
                </a:r>
              </a:p>
            </p:txBody>
          </p:sp>
        </mc:Fallback>
      </mc:AlternateContent>
      <p:sp>
        <p:nvSpPr>
          <p:cNvPr id="14068" name="Full dual operation box"/>
          <p:cNvSpPr/>
          <p:nvPr/>
        </p:nvSpPr>
        <p:spPr>
          <a:xfrm>
            <a:off x="762000" y="2451100"/>
            <a:ext cx="7620000" cy="1549400"/>
          </a:xfrm>
          <a:prstGeom prst="rect">
            <a:avLst/>
          </a:prstGeom>
          <a:noFill/>
          <a:ln w="22860">
            <a:solidFill>
              <a:srgbClr val="C81919"/>
            </a:solidFill>
          </a:ln>
        </p:spPr>
      </p:sp>
    </p:spTree>
    <p:extLst>
      <p:ext uri="{BB962C8B-B14F-4D97-AF65-F5344CB8AC3E}">
        <p14:creationId xmlns:p14="http://schemas.microsoft.com/office/powerpoint/2010/main" val="68281059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xmlns:a14="http://schemas.microsoft.com/office/drawing/2010/main" xmlns:m="http://schemas.openxmlformats.org/officeDocument/2006/math">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005"/>
                                        </p:tgtEl>
                                        <p:attrNameLst>
                                          <p:attrName>style.visibility</p:attrName>
                                        </p:attrNameLst>
                                      </p:cBhvr>
                                      <p:to>
                                        <p:strVal val="visible"/>
                                      </p:to>
                                    </p:set>
                                    <p:animEffect transition="in" filter="fade">
                                      <p:cBhvr>
                                        <p:cTn id="7" dur="400"/>
                                        <p:tgtEl>
                                          <p:spTgt spid="1100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006"/>
                                        </p:tgtEl>
                                        <p:attrNameLst>
                                          <p:attrName>style.visibility</p:attrName>
                                        </p:attrNameLst>
                                      </p:cBhvr>
                                      <p:to>
                                        <p:strVal val="visible"/>
                                      </p:to>
                                    </p:set>
                                    <p:animEffect transition="in" filter="fade">
                                      <p:cBhvr>
                                        <p:cTn id="10" dur="400"/>
                                        <p:tgtEl>
                                          <p:spTgt spid="1100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xit" presetSubtype="0" fill="hold" grpId="1" nodeType="clickEffect">
                                  <p:stCondLst>
                                    <p:cond delay="0"/>
                                  </p:stCondLst>
                                  <p:childTnLst>
                                    <p:animEffect transition="out" filter="fade">
                                      <p:cBhvr>
                                        <p:cTn id="14" dur="124"/>
                                        <p:tgtEl>
                                          <p:spTgt spid="11005"/>
                                        </p:tgtEl>
                                      </p:cBhvr>
                                    </p:animEffect>
                                    <p:set>
                                      <p:cBhvr>
                                        <p:cTn id="15" dur="1" fill="hold">
                                          <p:stCondLst>
                                            <p:cond delay="124"/>
                                          </p:stCondLst>
                                        </p:cTn>
                                        <p:tgtEl>
                                          <p:spTgt spid="11005"/>
                                        </p:tgtEl>
                                        <p:attrNameLst>
                                          <p:attrName>style.visibility</p:attrName>
                                        </p:attrNameLst>
                                      </p:cBhvr>
                                      <p:to>
                                        <p:strVal val="hidden"/>
                                      </p:to>
                                    </p:set>
                                  </p:childTnLst>
                                </p:cTn>
                              </p:par>
                              <p:par>
                                <p:cTn id="16" presetID="10" presetClass="exit" presetSubtype="0" fill="hold" grpId="1" nodeType="withEffect">
                                  <p:stCondLst>
                                    <p:cond delay="0"/>
                                  </p:stCondLst>
                                  <p:childTnLst>
                                    <p:animEffect transition="out" filter="fade">
                                      <p:cBhvr>
                                        <p:cTn id="17" dur="124"/>
                                        <p:tgtEl>
                                          <p:spTgt spid="11006"/>
                                        </p:tgtEl>
                                      </p:cBhvr>
                                    </p:animEffect>
                                    <p:set>
                                      <p:cBhvr>
                                        <p:cTn id="18" dur="1" fill="hold">
                                          <p:stCondLst>
                                            <p:cond delay="124"/>
                                          </p:stCondLst>
                                        </p:cTn>
                                        <p:tgtEl>
                                          <p:spTgt spid="11006"/>
                                        </p:tgtEl>
                                        <p:attrNameLst>
                                          <p:attrName>style.visibility</p:attrName>
                                        </p:attrNameLst>
                                      </p:cBhvr>
                                      <p:to>
                                        <p:strVal val="hidden"/>
                                      </p:to>
                                    </p:set>
                                  </p:childTnLst>
                                </p:cTn>
                              </p:par>
                              <p:par>
                                <p:cTn id="19" presetID="10" presetClass="entr" presetSubtype="0" fill="hold" grpId="0" nodeType="withEffect">
                                  <p:stCondLst>
                                    <p:cond delay="124"/>
                                  </p:stCondLst>
                                  <p:childTnLst>
                                    <p:set>
                                      <p:cBhvr>
                                        <p:cTn id="20" dur="1" fill="hold">
                                          <p:stCondLst>
                                            <p:cond delay="0"/>
                                          </p:stCondLst>
                                        </p:cTn>
                                        <p:tgtEl>
                                          <p:spTgt spid="11009"/>
                                        </p:tgtEl>
                                        <p:attrNameLst>
                                          <p:attrName>style.visibility</p:attrName>
                                        </p:attrNameLst>
                                      </p:cBhvr>
                                      <p:to>
                                        <p:strVal val="visible"/>
                                      </p:to>
                                    </p:set>
                                    <p:animEffect transition="in" filter="fade">
                                      <p:cBhvr>
                                        <p:cTn id="21" dur="166"/>
                                        <p:tgtEl>
                                          <p:spTgt spid="11009"/>
                                        </p:tgtEl>
                                      </p:cBhvr>
                                    </p:animEffect>
                                  </p:childTnLst>
                                </p:cTn>
                              </p:par>
                              <p:par>
                                <p:cTn id="22" presetID="10" presetClass="entr" presetSubtype="0" fill="hold" nodeType="withEffect">
                                  <p:stCondLst>
                                    <p:cond delay="124"/>
                                  </p:stCondLst>
                                  <p:childTnLst>
                                    <p:animEffect transition="in" filter="fade">
                                      <p:cBhvr>
                                        <p:cTn id="23" dur="166"/>
                                        <p:tgtEl>
                                          <p:spTgt spid="14001"/>
                                        </p:tgtEl>
                                      </p:cBhvr>
                                    </p:animEffect>
                                    <p:set>
                                      <p:cBhvr>
                                        <p:cTn id="24" dur="1" fill="hold">
                                          <p:stCondLst>
                                            <p:cond delay="0"/>
                                          </p:stCondLst>
                                        </p:cTn>
                                        <p:tgtEl>
                                          <p:spTgt spid="14001"/>
                                        </p:tgtEl>
                                        <p:attrNameLst>
                                          <p:attrName>style.visibility</p:attrName>
                                        </p:attrNameLst>
                                      </p:cBhvr>
                                      <p:to>
                                        <p:strVal val="visible"/>
                                      </p:to>
                                    </p:set>
                                  </p:childTnLst>
                                </p:cTn>
                              </p:par>
                              <p:par>
                                <p:cTn id="25" presetID="10" presetClass="entr" presetSubtype="0" fill="hold" nodeType="withEffect">
                                  <p:stCondLst>
                                    <p:cond delay="124"/>
                                  </p:stCondLst>
                                  <p:childTnLst>
                                    <p:animEffect transition="in" filter="fade">
                                      <p:cBhvr>
                                        <p:cTn id="26" dur="166"/>
                                        <p:tgtEl>
                                          <p:spTgt spid="14002"/>
                                        </p:tgtEl>
                                      </p:cBhvr>
                                    </p:animEffect>
                                    <p:set>
                                      <p:cBhvr>
                                        <p:cTn id="27" dur="1" fill="hold">
                                          <p:stCondLst>
                                            <p:cond delay="0"/>
                                          </p:stCondLst>
                                        </p:cTn>
                                        <p:tgtEl>
                                          <p:spTgt spid="14002"/>
                                        </p:tgtEl>
                                        <p:attrNameLst>
                                          <p:attrName>style.visibility</p:attrName>
                                        </p:attrNameLst>
                                      </p:cBhvr>
                                      <p:to>
                                        <p:strVal val="visible"/>
                                      </p:to>
                                    </p:set>
                                  </p:childTnLst>
                                </p:cTn>
                              </p:par>
                              <p:par>
                                <p:cTn id="28" presetID="10" presetClass="entr" presetSubtype="0" fill="hold" nodeType="withEffect">
                                  <p:stCondLst>
                                    <p:cond delay="124"/>
                                  </p:stCondLst>
                                  <p:childTnLst>
                                    <p:animEffect transition="in" filter="fade">
                                      <p:cBhvr>
                                        <p:cTn id="29" dur="166"/>
                                        <p:tgtEl>
                                          <p:spTgt spid="14003"/>
                                        </p:tgtEl>
                                      </p:cBhvr>
                                    </p:animEffect>
                                    <p:set>
                                      <p:cBhvr>
                                        <p:cTn id="30" dur="1" fill="hold">
                                          <p:stCondLst>
                                            <p:cond delay="0"/>
                                          </p:stCondLst>
                                        </p:cTn>
                                        <p:tgtEl>
                                          <p:spTgt spid="14003"/>
                                        </p:tgtEl>
                                        <p:attrNameLst>
                                          <p:attrName>style.visibility</p:attrName>
                                        </p:attrNameLst>
                                      </p:cBhvr>
                                      <p:to>
                                        <p:strVal val="visible"/>
                                      </p:to>
                                    </p:set>
                                  </p:childTnLst>
                                </p:cTn>
                              </p:par>
                              <p:par>
                                <p:cTn id="31" presetID="10" presetClass="entr" presetSubtype="0" fill="hold" nodeType="withEffect">
                                  <p:stCondLst>
                                    <p:cond delay="124"/>
                                  </p:stCondLst>
                                  <p:childTnLst>
                                    <p:animEffect transition="in" filter="fade">
                                      <p:cBhvr>
                                        <p:cTn id="32" dur="166"/>
                                        <p:tgtEl>
                                          <p:spTgt spid="14004"/>
                                        </p:tgtEl>
                                      </p:cBhvr>
                                    </p:animEffect>
                                    <p:set>
                                      <p:cBhvr>
                                        <p:cTn id="33" dur="1" fill="hold">
                                          <p:stCondLst>
                                            <p:cond delay="0"/>
                                          </p:stCondLst>
                                        </p:cTn>
                                        <p:tgtEl>
                                          <p:spTgt spid="14004"/>
                                        </p:tgtEl>
                                        <p:attrNameLst>
                                          <p:attrName>style.visibility</p:attrName>
                                        </p:attrNameLst>
                                      </p:cBhvr>
                                      <p:to>
                                        <p:strVal val="visible"/>
                                      </p:to>
                                    </p:set>
                                  </p:childTnLst>
                                </p:cTn>
                              </p:par>
                              <p:par>
                                <p:cTn id="34" presetID="10" presetClass="entr" presetSubtype="0" fill="hold" nodeType="withEffect">
                                  <p:stCondLst>
                                    <p:cond delay="124"/>
                                  </p:stCondLst>
                                  <p:childTnLst>
                                    <p:animEffect transition="in" filter="fade">
                                      <p:cBhvr>
                                        <p:cTn id="35" dur="166"/>
                                        <p:tgtEl>
                                          <p:spTgt spid="14005"/>
                                        </p:tgtEl>
                                      </p:cBhvr>
                                    </p:animEffect>
                                    <p:set>
                                      <p:cBhvr>
                                        <p:cTn id="36" dur="1" fill="hold">
                                          <p:stCondLst>
                                            <p:cond delay="0"/>
                                          </p:stCondLst>
                                        </p:cTn>
                                        <p:tgtEl>
                                          <p:spTgt spid="14005"/>
                                        </p:tgtEl>
                                        <p:attrNameLst>
                                          <p:attrName>style.visibility</p:attrName>
                                        </p:attrNameLst>
                                      </p:cBhvr>
                                      <p:to>
                                        <p:strVal val="visible"/>
                                      </p:to>
                                    </p:set>
                                  </p:childTnLst>
                                </p:cTn>
                              </p:par>
                              <p:par>
                                <p:cTn id="37" presetID="10" presetClass="entr" presetSubtype="0" fill="hold" nodeType="withEffect">
                                  <p:stCondLst>
                                    <p:cond delay="124"/>
                                  </p:stCondLst>
                                  <p:childTnLst>
                                    <p:animEffect transition="in" filter="fade">
                                      <p:cBhvr>
                                        <p:cTn id="38" dur="166"/>
                                        <p:tgtEl>
                                          <p:spTgt spid="14006"/>
                                        </p:tgtEl>
                                      </p:cBhvr>
                                    </p:animEffect>
                                    <p:set>
                                      <p:cBhvr>
                                        <p:cTn id="39" dur="1" fill="hold">
                                          <p:stCondLst>
                                            <p:cond delay="0"/>
                                          </p:stCondLst>
                                        </p:cTn>
                                        <p:tgtEl>
                                          <p:spTgt spid="14006"/>
                                        </p:tgtEl>
                                        <p:attrNameLst>
                                          <p:attrName>style.visibility</p:attrName>
                                        </p:attrNameLst>
                                      </p:cBhvr>
                                      <p:to>
                                        <p:strVal val="visible"/>
                                      </p:to>
                                    </p:set>
                                  </p:childTnLst>
                                </p:cTn>
                              </p:par>
                              <p:par>
                                <p:cTn id="40" presetID="10" presetClass="entr" presetSubtype="0" fill="hold" nodeType="withEffect">
                                  <p:stCondLst>
                                    <p:cond delay="124"/>
                                  </p:stCondLst>
                                  <p:childTnLst>
                                    <p:animEffect transition="in" filter="fade">
                                      <p:cBhvr>
                                        <p:cTn id="41" dur="166"/>
                                        <p:tgtEl>
                                          <p:spTgt spid="14007"/>
                                        </p:tgtEl>
                                      </p:cBhvr>
                                    </p:animEffect>
                                    <p:set>
                                      <p:cBhvr>
                                        <p:cTn id="42" dur="1" fill="hold">
                                          <p:stCondLst>
                                            <p:cond delay="0"/>
                                          </p:stCondLst>
                                        </p:cTn>
                                        <p:tgtEl>
                                          <p:spTgt spid="14007"/>
                                        </p:tgtEl>
                                        <p:attrNameLst>
                                          <p:attrName>style.visibility</p:attrName>
                                        </p:attrNameLst>
                                      </p:cBhvr>
                                      <p:to>
                                        <p:strVal val="visible"/>
                                      </p:to>
                                    </p:set>
                                  </p:childTnLst>
                                </p:cTn>
                              </p:par>
                              <p:par>
                                <p:cTn id="43" presetID="10" presetClass="entr" presetSubtype="0" fill="hold" nodeType="withEffect">
                                  <p:stCondLst>
                                    <p:cond delay="124"/>
                                  </p:stCondLst>
                                  <p:childTnLst>
                                    <p:animEffect transition="in" filter="fade">
                                      <p:cBhvr>
                                        <p:cTn id="44" dur="166"/>
                                        <p:tgtEl>
                                          <p:spTgt spid="14068"/>
                                        </p:tgtEl>
                                      </p:cBhvr>
                                    </p:animEffect>
                                    <p:set>
                                      <p:cBhvr>
                                        <p:cTn id="45" dur="1" fill="hold">
                                          <p:stCondLst>
                                            <p:cond delay="0"/>
                                          </p:stCondLst>
                                        </p:cTn>
                                        <p:tgtEl>
                                          <p:spTgt spid="14068"/>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0" presetClass="exit" presetSubtype="0" fill="hold" nodeType="clickEffect">
                                  <p:stCondLst>
                                    <p:cond delay="0"/>
                                  </p:stCondLst>
                                  <p:childTnLst>
                                    <p:animEffect transition="out" filter="fade">
                                      <p:cBhvr>
                                        <p:cTn id="49" dur="104"/>
                                        <p:tgtEl>
                                          <p:spTgt spid="14001"/>
                                        </p:tgtEl>
                                      </p:cBhvr>
                                    </p:animEffect>
                                    <p:set>
                                      <p:cBhvr>
                                        <p:cTn id="50" dur="1" fill="hold">
                                          <p:stCondLst>
                                            <p:cond delay="103"/>
                                          </p:stCondLst>
                                        </p:cTn>
                                        <p:tgtEl>
                                          <p:spTgt spid="14001"/>
                                        </p:tgtEl>
                                        <p:attrNameLst>
                                          <p:attrName>style.visibility</p:attrName>
                                        </p:attrNameLst>
                                      </p:cBhvr>
                                      <p:to>
                                        <p:strVal val="hidden"/>
                                      </p:to>
                                    </p:set>
                                  </p:childTnLst>
                                </p:cTn>
                              </p:par>
                              <p:par>
                                <p:cTn id="51" presetID="10" presetClass="exit" presetSubtype="0" fill="hold" nodeType="withEffect">
                                  <p:stCondLst>
                                    <p:cond delay="850"/>
                                  </p:stCondLst>
                                  <p:childTnLst>
                                    <p:animEffect transition="out" filter="fade">
                                      <p:cBhvr>
                                        <p:cTn id="52" dur="104"/>
                                        <p:tgtEl>
                                          <p:spTgt spid="14002"/>
                                        </p:tgtEl>
                                      </p:cBhvr>
                                    </p:animEffect>
                                    <p:set>
                                      <p:cBhvr>
                                        <p:cTn id="53" dur="1" fill="hold">
                                          <p:stCondLst>
                                            <p:cond delay="103"/>
                                          </p:stCondLst>
                                        </p:cTn>
                                        <p:tgtEl>
                                          <p:spTgt spid="14002"/>
                                        </p:tgtEl>
                                        <p:attrNameLst>
                                          <p:attrName>style.visibility</p:attrName>
                                        </p:attrNameLst>
                                      </p:cBhvr>
                                      <p:to>
                                        <p:strVal val="hidden"/>
                                      </p:to>
                                    </p:set>
                                  </p:childTnLst>
                                </p:cTn>
                              </p:par>
                              <p:par>
                                <p:cTn id="54" presetID="10" presetClass="exit" presetSubtype="0" fill="hold" nodeType="withEffect">
                                  <p:stCondLst>
                                    <p:cond delay="850"/>
                                  </p:stCondLst>
                                  <p:childTnLst>
                                    <p:animEffect transition="out" filter="fade">
                                      <p:cBhvr>
                                        <p:cTn id="55" dur="104"/>
                                        <p:tgtEl>
                                          <p:spTgt spid="14003"/>
                                        </p:tgtEl>
                                      </p:cBhvr>
                                    </p:animEffect>
                                    <p:set>
                                      <p:cBhvr>
                                        <p:cTn id="56" dur="1" fill="hold">
                                          <p:stCondLst>
                                            <p:cond delay="103"/>
                                          </p:stCondLst>
                                        </p:cTn>
                                        <p:tgtEl>
                                          <p:spTgt spid="14003"/>
                                        </p:tgtEl>
                                        <p:attrNameLst>
                                          <p:attrName>style.visibility</p:attrName>
                                        </p:attrNameLst>
                                      </p:cBhvr>
                                      <p:to>
                                        <p:strVal val="hidden"/>
                                      </p:to>
                                    </p:set>
                                  </p:childTnLst>
                                </p:cTn>
                              </p:par>
                              <p:par>
                                <p:cTn id="57" presetID="10" presetClass="exit" presetSubtype="0" fill="hold" nodeType="withEffect">
                                  <p:stCondLst>
                                    <p:cond delay="850"/>
                                  </p:stCondLst>
                                  <p:childTnLst>
                                    <p:animEffect transition="out" filter="fade">
                                      <p:cBhvr>
                                        <p:cTn id="58" dur="104"/>
                                        <p:tgtEl>
                                          <p:spTgt spid="14004"/>
                                        </p:tgtEl>
                                      </p:cBhvr>
                                    </p:animEffect>
                                    <p:set>
                                      <p:cBhvr>
                                        <p:cTn id="59" dur="1" fill="hold">
                                          <p:stCondLst>
                                            <p:cond delay="103"/>
                                          </p:stCondLst>
                                        </p:cTn>
                                        <p:tgtEl>
                                          <p:spTgt spid="14004"/>
                                        </p:tgtEl>
                                        <p:attrNameLst>
                                          <p:attrName>style.visibility</p:attrName>
                                        </p:attrNameLst>
                                      </p:cBhvr>
                                      <p:to>
                                        <p:strVal val="hidden"/>
                                      </p:to>
                                    </p:set>
                                  </p:childTnLst>
                                </p:cTn>
                              </p:par>
                              <p:par>
                                <p:cTn id="60" presetID="10" presetClass="exit" presetSubtype="0" fill="hold" nodeType="withEffect">
                                  <p:stCondLst>
                                    <p:cond delay="850"/>
                                  </p:stCondLst>
                                  <p:childTnLst>
                                    <p:animEffect transition="out" filter="fade">
                                      <p:cBhvr>
                                        <p:cTn id="61" dur="104"/>
                                        <p:tgtEl>
                                          <p:spTgt spid="14005"/>
                                        </p:tgtEl>
                                      </p:cBhvr>
                                    </p:animEffect>
                                    <p:set>
                                      <p:cBhvr>
                                        <p:cTn id="62" dur="1" fill="hold">
                                          <p:stCondLst>
                                            <p:cond delay="103"/>
                                          </p:stCondLst>
                                        </p:cTn>
                                        <p:tgtEl>
                                          <p:spTgt spid="14005"/>
                                        </p:tgtEl>
                                        <p:attrNameLst>
                                          <p:attrName>style.visibility</p:attrName>
                                        </p:attrNameLst>
                                      </p:cBhvr>
                                      <p:to>
                                        <p:strVal val="hidden"/>
                                      </p:to>
                                    </p:set>
                                  </p:childTnLst>
                                </p:cTn>
                              </p:par>
                              <p:par>
                                <p:cTn id="63" presetID="10" presetClass="exit" presetSubtype="0" fill="hold" nodeType="withEffect">
                                  <p:stCondLst>
                                    <p:cond delay="850"/>
                                  </p:stCondLst>
                                  <p:childTnLst>
                                    <p:animEffect transition="out" filter="fade">
                                      <p:cBhvr>
                                        <p:cTn id="64" dur="104"/>
                                        <p:tgtEl>
                                          <p:spTgt spid="14006"/>
                                        </p:tgtEl>
                                      </p:cBhvr>
                                    </p:animEffect>
                                    <p:set>
                                      <p:cBhvr>
                                        <p:cTn id="65" dur="1" fill="hold">
                                          <p:stCondLst>
                                            <p:cond delay="103"/>
                                          </p:stCondLst>
                                        </p:cTn>
                                        <p:tgtEl>
                                          <p:spTgt spid="14006"/>
                                        </p:tgtEl>
                                        <p:attrNameLst>
                                          <p:attrName>style.visibility</p:attrName>
                                        </p:attrNameLst>
                                      </p:cBhvr>
                                      <p:to>
                                        <p:strVal val="hidden"/>
                                      </p:to>
                                    </p:set>
                                  </p:childTnLst>
                                </p:cTn>
                              </p:par>
                              <p:par>
                                <p:cTn id="66" presetID="10" presetClass="exit" presetSubtype="0" fill="hold" nodeType="withEffect">
                                  <p:stCondLst>
                                    <p:cond delay="663"/>
                                  </p:stCondLst>
                                  <p:childTnLst>
                                    <p:animEffect transition="out" filter="fade">
                                      <p:cBhvr>
                                        <p:cTn id="67" dur="104"/>
                                        <p:tgtEl>
                                          <p:spTgt spid="14007"/>
                                        </p:tgtEl>
                                      </p:cBhvr>
                                    </p:animEffect>
                                    <p:set>
                                      <p:cBhvr>
                                        <p:cTn id="68" dur="1" fill="hold">
                                          <p:stCondLst>
                                            <p:cond delay="103"/>
                                          </p:stCondLst>
                                        </p:cTn>
                                        <p:tgtEl>
                                          <p:spTgt spid="14007"/>
                                        </p:tgtEl>
                                        <p:attrNameLst>
                                          <p:attrName>style.visibility</p:attrName>
                                        </p:attrNameLst>
                                      </p:cBhvr>
                                      <p:to>
                                        <p:strVal val="hidden"/>
                                      </p:to>
                                    </p:set>
                                  </p:childTnLst>
                                </p:cTn>
                              </p:par>
                              <p:par>
                                <p:cTn id="69" presetID="10" presetClass="entr" presetSubtype="0" fill="hold" nodeType="withEffect">
                                  <p:stCondLst>
                                    <p:cond delay="850"/>
                                  </p:stCondLst>
                                  <p:childTnLst>
                                    <p:animEffect transition="in" filter="fade">
                                      <p:cBhvr>
                                        <p:cTn id="70" dur="124"/>
                                        <p:tgtEl>
                                          <p:spTgt spid="14009"/>
                                        </p:tgtEl>
                                      </p:cBhvr>
                                    </p:animEffect>
                                    <p:set>
                                      <p:cBhvr>
                                        <p:cTn id="71" dur="1" fill="hold">
                                          <p:stCondLst>
                                            <p:cond delay="0"/>
                                          </p:stCondLst>
                                        </p:cTn>
                                        <p:tgtEl>
                                          <p:spTgt spid="14009"/>
                                        </p:tgtEl>
                                        <p:attrNameLst>
                                          <p:attrName>style.visibility</p:attrName>
                                        </p:attrNameLst>
                                      </p:cBhvr>
                                      <p:to>
                                        <p:strVal val="visible"/>
                                      </p:to>
                                    </p:set>
                                  </p:childTnLst>
                                </p:cTn>
                              </p:par>
                              <p:par>
                                <p:cTn id="72" presetID="10" presetClass="entr" presetSubtype="0" fill="hold" nodeType="withEffect">
                                  <p:stCondLst>
                                    <p:cond delay="850"/>
                                  </p:stCondLst>
                                  <p:childTnLst>
                                    <p:animEffect transition="in" filter="fade">
                                      <p:cBhvr>
                                        <p:cTn id="73" dur="124"/>
                                        <p:tgtEl>
                                          <p:spTgt spid="14010"/>
                                        </p:tgtEl>
                                      </p:cBhvr>
                                    </p:animEffect>
                                    <p:set>
                                      <p:cBhvr>
                                        <p:cTn id="74" dur="1" fill="hold">
                                          <p:stCondLst>
                                            <p:cond delay="0"/>
                                          </p:stCondLst>
                                        </p:cTn>
                                        <p:tgtEl>
                                          <p:spTgt spid="14010"/>
                                        </p:tgtEl>
                                        <p:attrNameLst>
                                          <p:attrName>style.visibility</p:attrName>
                                        </p:attrNameLst>
                                      </p:cBhvr>
                                      <p:to>
                                        <p:strVal val="visible"/>
                                      </p:to>
                                    </p:set>
                                  </p:childTnLst>
                                </p:cTn>
                              </p:par>
                              <p:par>
                                <p:cTn id="75" presetID="10" presetClass="entr" presetSubtype="0" fill="hold" nodeType="withEffect">
                                  <p:stCondLst>
                                    <p:cond delay="850"/>
                                  </p:stCondLst>
                                  <p:childTnLst>
                                    <p:animEffect transition="in" filter="fade">
                                      <p:cBhvr>
                                        <p:cTn id="76" dur="124"/>
                                        <p:tgtEl>
                                          <p:spTgt spid="14011"/>
                                        </p:tgtEl>
                                      </p:cBhvr>
                                    </p:animEffect>
                                    <p:set>
                                      <p:cBhvr>
                                        <p:cTn id="77" dur="1" fill="hold">
                                          <p:stCondLst>
                                            <p:cond delay="0"/>
                                          </p:stCondLst>
                                        </p:cTn>
                                        <p:tgtEl>
                                          <p:spTgt spid="14011"/>
                                        </p:tgtEl>
                                        <p:attrNameLst>
                                          <p:attrName>style.visibility</p:attrName>
                                        </p:attrNameLst>
                                      </p:cBhvr>
                                      <p:to>
                                        <p:strVal val="visible"/>
                                      </p:to>
                                    </p:set>
                                  </p:childTnLst>
                                </p:cTn>
                              </p:par>
                              <p:par>
                                <p:cTn id="78" presetID="10" presetClass="entr" presetSubtype="0" fill="hold" nodeType="withEffect">
                                  <p:stCondLst>
                                    <p:cond delay="850"/>
                                  </p:stCondLst>
                                  <p:childTnLst>
                                    <p:animEffect transition="in" filter="fade">
                                      <p:cBhvr>
                                        <p:cTn id="79" dur="124"/>
                                        <p:tgtEl>
                                          <p:spTgt spid="14012"/>
                                        </p:tgtEl>
                                      </p:cBhvr>
                                    </p:animEffect>
                                    <p:set>
                                      <p:cBhvr>
                                        <p:cTn id="80" dur="1" fill="hold">
                                          <p:stCondLst>
                                            <p:cond delay="0"/>
                                          </p:stCondLst>
                                        </p:cTn>
                                        <p:tgtEl>
                                          <p:spTgt spid="14012"/>
                                        </p:tgtEl>
                                        <p:attrNameLst>
                                          <p:attrName>style.visibility</p:attrName>
                                        </p:attrNameLst>
                                      </p:cBhvr>
                                      <p:to>
                                        <p:strVal val="visible"/>
                                      </p:to>
                                    </p:set>
                                  </p:childTnLst>
                                </p:cTn>
                              </p:par>
                              <p:par>
                                <p:cTn id="81" presetID="10" presetClass="entr" presetSubtype="0" fill="hold" nodeType="withEffect">
                                  <p:stCondLst>
                                    <p:cond delay="850"/>
                                  </p:stCondLst>
                                  <p:childTnLst>
                                    <p:animEffect transition="in" filter="fade">
                                      <p:cBhvr>
                                        <p:cTn id="82" dur="124"/>
                                        <p:tgtEl>
                                          <p:spTgt spid="14013"/>
                                        </p:tgtEl>
                                      </p:cBhvr>
                                    </p:animEffect>
                                    <p:set>
                                      <p:cBhvr>
                                        <p:cTn id="83" dur="1" fill="hold">
                                          <p:stCondLst>
                                            <p:cond delay="0"/>
                                          </p:stCondLst>
                                        </p:cTn>
                                        <p:tgtEl>
                                          <p:spTgt spid="14013"/>
                                        </p:tgtEl>
                                        <p:attrNameLst>
                                          <p:attrName>style.visibility</p:attrName>
                                        </p:attrNameLst>
                                      </p:cBhvr>
                                      <p:to>
                                        <p:strVal val="visible"/>
                                      </p:to>
                                    </p:set>
                                  </p:childTnLst>
                                </p:cTn>
                              </p:par>
                              <p:par>
                                <p:cTn id="84" presetID="10" presetClass="entr" presetSubtype="0" fill="hold" nodeType="withEffect">
                                  <p:stCondLst>
                                    <p:cond delay="850"/>
                                  </p:stCondLst>
                                  <p:childTnLst>
                                    <p:animEffect transition="in" filter="fade">
                                      <p:cBhvr>
                                        <p:cTn id="85" dur="124"/>
                                        <p:tgtEl>
                                          <p:spTgt spid="14014"/>
                                        </p:tgtEl>
                                      </p:cBhvr>
                                    </p:animEffect>
                                    <p:set>
                                      <p:cBhvr>
                                        <p:cTn id="86" dur="1" fill="hold">
                                          <p:stCondLst>
                                            <p:cond delay="0"/>
                                          </p:stCondLst>
                                        </p:cTn>
                                        <p:tgtEl>
                                          <p:spTgt spid="14014"/>
                                        </p:tgtEl>
                                        <p:attrNameLst>
                                          <p:attrName>style.visibility</p:attrName>
                                        </p:attrNameLst>
                                      </p:cBhvr>
                                      <p:to>
                                        <p:strVal val="visible"/>
                                      </p:to>
                                    </p:set>
                                  </p:childTnLst>
                                </p:cTn>
                              </p:par>
                              <p:par>
                                <p:cTn id="87" presetID="10" presetClass="entr" presetSubtype="0" fill="hold" nodeType="withEffect">
                                  <p:stCondLst>
                                    <p:cond delay="850"/>
                                  </p:stCondLst>
                                  <p:childTnLst>
                                    <p:animEffect transition="in" filter="fade">
                                      <p:cBhvr>
                                        <p:cTn id="88" dur="124"/>
                                        <p:tgtEl>
                                          <p:spTgt spid="14015"/>
                                        </p:tgtEl>
                                      </p:cBhvr>
                                    </p:animEffect>
                                    <p:set>
                                      <p:cBhvr>
                                        <p:cTn id="89" dur="1" fill="hold">
                                          <p:stCondLst>
                                            <p:cond delay="0"/>
                                          </p:stCondLst>
                                        </p:cTn>
                                        <p:tgtEl>
                                          <p:spTgt spid="14015"/>
                                        </p:tgtEl>
                                        <p:attrNameLst>
                                          <p:attrName>style.visibility</p:attrName>
                                        </p:attrNameLst>
                                      </p:cBhvr>
                                      <p:to>
                                        <p:strVal val="visible"/>
                                      </p:to>
                                    </p:set>
                                  </p:childTnLst>
                                </p:cTn>
                              </p:par>
                              <p:par>
                                <p:cTn id="90" presetID="10" presetClass="entr" presetSubtype="0" fill="hold" nodeType="withEffect">
                                  <p:stCondLst>
                                    <p:cond delay="850"/>
                                  </p:stCondLst>
                                  <p:childTnLst>
                                    <p:animEffect transition="in" filter="fade">
                                      <p:cBhvr>
                                        <p:cTn id="91" dur="124"/>
                                        <p:tgtEl>
                                          <p:spTgt spid="14016"/>
                                        </p:tgtEl>
                                      </p:cBhvr>
                                    </p:animEffect>
                                    <p:set>
                                      <p:cBhvr>
                                        <p:cTn id="92" dur="1" fill="hold">
                                          <p:stCondLst>
                                            <p:cond delay="0"/>
                                          </p:stCondLst>
                                        </p:cTn>
                                        <p:tgtEl>
                                          <p:spTgt spid="14016"/>
                                        </p:tgtEl>
                                        <p:attrNameLst>
                                          <p:attrName>style.visibility</p:attrName>
                                        </p:attrNameLst>
                                      </p:cBhvr>
                                      <p:to>
                                        <p:strVal val="visible"/>
                                      </p:to>
                                    </p:set>
                                  </p:childTnLst>
                                </p:cTn>
                              </p:par>
                              <p:par>
                                <p:cTn id="93" presetID="10" presetClass="entr" presetSubtype="0" fill="hold" nodeType="withEffect">
                                  <p:stCondLst>
                                    <p:cond delay="850"/>
                                  </p:stCondLst>
                                  <p:childTnLst>
                                    <p:animEffect transition="in" filter="fade">
                                      <p:cBhvr>
                                        <p:cTn id="94" dur="124"/>
                                        <p:tgtEl>
                                          <p:spTgt spid="14017"/>
                                        </p:tgtEl>
                                      </p:cBhvr>
                                    </p:animEffect>
                                    <p:set>
                                      <p:cBhvr>
                                        <p:cTn id="95" dur="1" fill="hold">
                                          <p:stCondLst>
                                            <p:cond delay="0"/>
                                          </p:stCondLst>
                                        </p:cTn>
                                        <p:tgtEl>
                                          <p:spTgt spid="14017"/>
                                        </p:tgtEl>
                                        <p:attrNameLst>
                                          <p:attrName>style.visibility</p:attrName>
                                        </p:attrNameLst>
                                      </p:cBhvr>
                                      <p:to>
                                        <p:strVal val="visible"/>
                                      </p:to>
                                    </p:set>
                                  </p:childTnLst>
                                </p:cTn>
                              </p:par>
                              <p:par>
                                <p:cTn id="96" presetID="10" presetClass="entr" presetSubtype="0" fill="hold" nodeType="withEffect">
                                  <p:stCondLst>
                                    <p:cond delay="850"/>
                                  </p:stCondLst>
                                  <p:childTnLst>
                                    <p:animEffect transition="in" filter="fade">
                                      <p:cBhvr>
                                        <p:cTn id="97" dur="124"/>
                                        <p:tgtEl>
                                          <p:spTgt spid="14018"/>
                                        </p:tgtEl>
                                      </p:cBhvr>
                                    </p:animEffect>
                                    <p:set>
                                      <p:cBhvr>
                                        <p:cTn id="98" dur="1" fill="hold">
                                          <p:stCondLst>
                                            <p:cond delay="0"/>
                                          </p:stCondLst>
                                        </p:cTn>
                                        <p:tgtEl>
                                          <p:spTgt spid="14018"/>
                                        </p:tgtEl>
                                        <p:attrNameLst>
                                          <p:attrName>style.visibility</p:attrName>
                                        </p:attrNameLst>
                                      </p:cBhvr>
                                      <p:to>
                                        <p:strVal val="visible"/>
                                      </p:to>
                                    </p:set>
                                  </p:childTnLst>
                                </p:cTn>
                              </p:par>
                              <p:par>
                                <p:cTn id="99" presetID="10" presetClass="entr" presetSubtype="0" fill="hold" nodeType="withEffect">
                                  <p:stCondLst>
                                    <p:cond delay="850"/>
                                  </p:stCondLst>
                                  <p:childTnLst>
                                    <p:animEffect transition="in" filter="fade">
                                      <p:cBhvr>
                                        <p:cTn id="100" dur="124"/>
                                        <p:tgtEl>
                                          <p:spTgt spid="14019"/>
                                        </p:tgtEl>
                                      </p:cBhvr>
                                    </p:animEffect>
                                    <p:set>
                                      <p:cBhvr>
                                        <p:cTn id="101" dur="1" fill="hold">
                                          <p:stCondLst>
                                            <p:cond delay="0"/>
                                          </p:stCondLst>
                                        </p:cTn>
                                        <p:tgtEl>
                                          <p:spTgt spid="14019"/>
                                        </p:tgtEl>
                                        <p:attrNameLst>
                                          <p:attrName>style.visibility</p:attrName>
                                        </p:attrNameLst>
                                      </p:cBhvr>
                                      <p:to>
                                        <p:strVal val="visible"/>
                                      </p:to>
                                    </p:set>
                                  </p:childTnLst>
                                </p:cTn>
                              </p:par>
                              <p:par>
                                <p:cTn id="102" presetID="10" presetClass="entr" presetSubtype="0" fill="hold" nodeType="withEffect">
                                  <p:stCondLst>
                                    <p:cond delay="850"/>
                                  </p:stCondLst>
                                  <p:childTnLst>
                                    <p:animEffect transition="in" filter="fade">
                                      <p:cBhvr>
                                        <p:cTn id="103" dur="124"/>
                                        <p:tgtEl>
                                          <p:spTgt spid="14020"/>
                                        </p:tgtEl>
                                      </p:cBhvr>
                                    </p:animEffect>
                                    <p:set>
                                      <p:cBhvr>
                                        <p:cTn id="104" dur="1" fill="hold">
                                          <p:stCondLst>
                                            <p:cond delay="0"/>
                                          </p:stCondLst>
                                        </p:cTn>
                                        <p:tgtEl>
                                          <p:spTgt spid="14020"/>
                                        </p:tgtEl>
                                        <p:attrNameLst>
                                          <p:attrName>style.visibility</p:attrName>
                                        </p:attrNameLst>
                                      </p:cBhvr>
                                      <p:to>
                                        <p:strVal val="visible"/>
                                      </p:to>
                                    </p:set>
                                  </p:childTnLst>
                                </p:cTn>
                              </p:par>
                              <p:par>
                                <p:cTn id="105" presetID="10" presetClass="entr" presetSubtype="0" fill="hold" nodeType="withEffect">
                                  <p:stCondLst>
                                    <p:cond delay="850"/>
                                  </p:stCondLst>
                                  <p:childTnLst>
                                    <p:animEffect transition="in" filter="fade">
                                      <p:cBhvr>
                                        <p:cTn id="106" dur="124"/>
                                        <p:tgtEl>
                                          <p:spTgt spid="14021"/>
                                        </p:tgtEl>
                                      </p:cBhvr>
                                    </p:animEffect>
                                    <p:set>
                                      <p:cBhvr>
                                        <p:cTn id="107" dur="1" fill="hold">
                                          <p:stCondLst>
                                            <p:cond delay="0"/>
                                          </p:stCondLst>
                                        </p:cTn>
                                        <p:tgtEl>
                                          <p:spTgt spid="14021"/>
                                        </p:tgtEl>
                                        <p:attrNameLst>
                                          <p:attrName>style.visibility</p:attrName>
                                        </p:attrNameLst>
                                      </p:cBhvr>
                                      <p:to>
                                        <p:strVal val="visible"/>
                                      </p:to>
                                    </p:set>
                                  </p:childTnLst>
                                </p:cTn>
                              </p:par>
                              <p:par>
                                <p:cTn id="108" presetID="10" presetClass="exit" presetSubtype="0" fill="hold" nodeType="withEffect">
                                  <p:stCondLst>
                                    <p:cond delay="1720"/>
                                  </p:stCondLst>
                                  <p:childTnLst>
                                    <p:animEffect transition="out" filter="fade">
                                      <p:cBhvr>
                                        <p:cTn id="109" dur="104"/>
                                        <p:tgtEl>
                                          <p:spTgt spid="14009"/>
                                        </p:tgtEl>
                                      </p:cBhvr>
                                    </p:animEffect>
                                    <p:set>
                                      <p:cBhvr>
                                        <p:cTn id="110" dur="1" fill="hold">
                                          <p:stCondLst>
                                            <p:cond delay="103"/>
                                          </p:stCondLst>
                                        </p:cTn>
                                        <p:tgtEl>
                                          <p:spTgt spid="14009"/>
                                        </p:tgtEl>
                                        <p:attrNameLst>
                                          <p:attrName>style.visibility</p:attrName>
                                        </p:attrNameLst>
                                      </p:cBhvr>
                                      <p:to>
                                        <p:strVal val="hidden"/>
                                      </p:to>
                                    </p:set>
                                  </p:childTnLst>
                                </p:cTn>
                              </p:par>
                              <p:par>
                                <p:cTn id="111" presetID="10" presetClass="exit" presetSubtype="0" fill="hold" nodeType="withEffect">
                                  <p:stCondLst>
                                    <p:cond delay="1720"/>
                                  </p:stCondLst>
                                  <p:childTnLst>
                                    <p:animEffect transition="out" filter="fade">
                                      <p:cBhvr>
                                        <p:cTn id="112" dur="104"/>
                                        <p:tgtEl>
                                          <p:spTgt spid="14010"/>
                                        </p:tgtEl>
                                      </p:cBhvr>
                                    </p:animEffect>
                                    <p:set>
                                      <p:cBhvr>
                                        <p:cTn id="113" dur="1" fill="hold">
                                          <p:stCondLst>
                                            <p:cond delay="103"/>
                                          </p:stCondLst>
                                        </p:cTn>
                                        <p:tgtEl>
                                          <p:spTgt spid="14010"/>
                                        </p:tgtEl>
                                        <p:attrNameLst>
                                          <p:attrName>style.visibility</p:attrName>
                                        </p:attrNameLst>
                                      </p:cBhvr>
                                      <p:to>
                                        <p:strVal val="hidden"/>
                                      </p:to>
                                    </p:set>
                                  </p:childTnLst>
                                </p:cTn>
                              </p:par>
                              <p:par>
                                <p:cTn id="114" presetID="10" presetClass="exit" presetSubtype="0" fill="hold" nodeType="withEffect">
                                  <p:stCondLst>
                                    <p:cond delay="1720"/>
                                  </p:stCondLst>
                                  <p:childTnLst>
                                    <p:animEffect transition="out" filter="fade">
                                      <p:cBhvr>
                                        <p:cTn id="115" dur="104"/>
                                        <p:tgtEl>
                                          <p:spTgt spid="14011"/>
                                        </p:tgtEl>
                                      </p:cBhvr>
                                    </p:animEffect>
                                    <p:set>
                                      <p:cBhvr>
                                        <p:cTn id="116" dur="1" fill="hold">
                                          <p:stCondLst>
                                            <p:cond delay="103"/>
                                          </p:stCondLst>
                                        </p:cTn>
                                        <p:tgtEl>
                                          <p:spTgt spid="14011"/>
                                        </p:tgtEl>
                                        <p:attrNameLst>
                                          <p:attrName>style.visibility</p:attrName>
                                        </p:attrNameLst>
                                      </p:cBhvr>
                                      <p:to>
                                        <p:strVal val="hidden"/>
                                      </p:to>
                                    </p:set>
                                  </p:childTnLst>
                                </p:cTn>
                              </p:par>
                              <p:par>
                                <p:cTn id="117" presetID="10" presetClass="exit" presetSubtype="0" fill="hold" nodeType="withEffect">
                                  <p:stCondLst>
                                    <p:cond delay="1720"/>
                                  </p:stCondLst>
                                  <p:childTnLst>
                                    <p:animEffect transition="out" filter="fade">
                                      <p:cBhvr>
                                        <p:cTn id="118" dur="104"/>
                                        <p:tgtEl>
                                          <p:spTgt spid="14012"/>
                                        </p:tgtEl>
                                      </p:cBhvr>
                                    </p:animEffect>
                                    <p:set>
                                      <p:cBhvr>
                                        <p:cTn id="119" dur="1" fill="hold">
                                          <p:stCondLst>
                                            <p:cond delay="103"/>
                                          </p:stCondLst>
                                        </p:cTn>
                                        <p:tgtEl>
                                          <p:spTgt spid="14012"/>
                                        </p:tgtEl>
                                        <p:attrNameLst>
                                          <p:attrName>style.visibility</p:attrName>
                                        </p:attrNameLst>
                                      </p:cBhvr>
                                      <p:to>
                                        <p:strVal val="hidden"/>
                                      </p:to>
                                    </p:set>
                                  </p:childTnLst>
                                </p:cTn>
                              </p:par>
                              <p:par>
                                <p:cTn id="120" presetID="10" presetClass="exit" presetSubtype="0" fill="hold" nodeType="withEffect">
                                  <p:stCondLst>
                                    <p:cond delay="1720"/>
                                  </p:stCondLst>
                                  <p:childTnLst>
                                    <p:animEffect transition="out" filter="fade">
                                      <p:cBhvr>
                                        <p:cTn id="121" dur="104"/>
                                        <p:tgtEl>
                                          <p:spTgt spid="14013"/>
                                        </p:tgtEl>
                                      </p:cBhvr>
                                    </p:animEffect>
                                    <p:set>
                                      <p:cBhvr>
                                        <p:cTn id="122" dur="1" fill="hold">
                                          <p:stCondLst>
                                            <p:cond delay="103"/>
                                          </p:stCondLst>
                                        </p:cTn>
                                        <p:tgtEl>
                                          <p:spTgt spid="14013"/>
                                        </p:tgtEl>
                                        <p:attrNameLst>
                                          <p:attrName>style.visibility</p:attrName>
                                        </p:attrNameLst>
                                      </p:cBhvr>
                                      <p:to>
                                        <p:strVal val="hidden"/>
                                      </p:to>
                                    </p:set>
                                  </p:childTnLst>
                                </p:cTn>
                              </p:par>
                              <p:par>
                                <p:cTn id="123" presetID="10" presetClass="exit" presetSubtype="0" fill="hold" nodeType="withEffect">
                                  <p:stCondLst>
                                    <p:cond delay="1720"/>
                                  </p:stCondLst>
                                  <p:childTnLst>
                                    <p:animEffect transition="out" filter="fade">
                                      <p:cBhvr>
                                        <p:cTn id="124" dur="104"/>
                                        <p:tgtEl>
                                          <p:spTgt spid="14014"/>
                                        </p:tgtEl>
                                      </p:cBhvr>
                                    </p:animEffect>
                                    <p:set>
                                      <p:cBhvr>
                                        <p:cTn id="125" dur="1" fill="hold">
                                          <p:stCondLst>
                                            <p:cond delay="103"/>
                                          </p:stCondLst>
                                        </p:cTn>
                                        <p:tgtEl>
                                          <p:spTgt spid="14014"/>
                                        </p:tgtEl>
                                        <p:attrNameLst>
                                          <p:attrName>style.visibility</p:attrName>
                                        </p:attrNameLst>
                                      </p:cBhvr>
                                      <p:to>
                                        <p:strVal val="hidden"/>
                                      </p:to>
                                    </p:set>
                                  </p:childTnLst>
                                </p:cTn>
                              </p:par>
                              <p:par>
                                <p:cTn id="126" presetID="10" presetClass="exit" presetSubtype="0" fill="hold" nodeType="withEffect">
                                  <p:stCondLst>
                                    <p:cond delay="1720"/>
                                  </p:stCondLst>
                                  <p:childTnLst>
                                    <p:animEffect transition="out" filter="fade">
                                      <p:cBhvr>
                                        <p:cTn id="127" dur="104"/>
                                        <p:tgtEl>
                                          <p:spTgt spid="14015"/>
                                        </p:tgtEl>
                                      </p:cBhvr>
                                    </p:animEffect>
                                    <p:set>
                                      <p:cBhvr>
                                        <p:cTn id="128" dur="1" fill="hold">
                                          <p:stCondLst>
                                            <p:cond delay="103"/>
                                          </p:stCondLst>
                                        </p:cTn>
                                        <p:tgtEl>
                                          <p:spTgt spid="14015"/>
                                        </p:tgtEl>
                                        <p:attrNameLst>
                                          <p:attrName>style.visibility</p:attrName>
                                        </p:attrNameLst>
                                      </p:cBhvr>
                                      <p:to>
                                        <p:strVal val="hidden"/>
                                      </p:to>
                                    </p:set>
                                  </p:childTnLst>
                                </p:cTn>
                              </p:par>
                              <p:par>
                                <p:cTn id="129" presetID="0" presetClass="path" presetSubtype="0" fill="hold" nodeType="withEffect">
                                  <p:stCondLst>
                                    <p:cond delay="1326"/>
                                  </p:stCondLst>
                                  <p:childTnLst>
                                    <p:animMotion origin="layout" path="M 0 0 L -0.072222222 0.064197531 E" pathEditMode="relative" rAng="0">
                                      <p:cBhvr>
                                        <p:cTn id="130" dur="497" accel="20000" decel="20000" fill="hold"/>
                                        <p:tgtEl>
                                          <p:spTgt spid="14016"/>
                                        </p:tgtEl>
                                        <p:attrNameLst>
                                          <p:attrName>ppt_x</p:attrName>
                                          <p:attrName>ppt_y</p:attrName>
                                        </p:attrNameLst>
                                      </p:cBhvr>
                                      <p:rCtr x="0" y="0"/>
                                    </p:animMotion>
                                  </p:childTnLst>
                                </p:cTn>
                              </p:par>
                              <p:par>
                                <p:cTn id="131" presetID="10" presetClass="exit" presetSubtype="0" fill="hold" nodeType="withEffect">
                                  <p:stCondLst>
                                    <p:cond delay="1720"/>
                                  </p:stCondLst>
                                  <p:childTnLst>
                                    <p:animEffect transition="out" filter="fade">
                                      <p:cBhvr>
                                        <p:cTn id="132" dur="104"/>
                                        <p:tgtEl>
                                          <p:spTgt spid="14016"/>
                                        </p:tgtEl>
                                      </p:cBhvr>
                                    </p:animEffect>
                                    <p:set>
                                      <p:cBhvr>
                                        <p:cTn id="133" dur="1" fill="hold">
                                          <p:stCondLst>
                                            <p:cond delay="103"/>
                                          </p:stCondLst>
                                        </p:cTn>
                                        <p:tgtEl>
                                          <p:spTgt spid="14016"/>
                                        </p:tgtEl>
                                        <p:attrNameLst>
                                          <p:attrName>style.visibility</p:attrName>
                                        </p:attrNameLst>
                                      </p:cBhvr>
                                      <p:to>
                                        <p:strVal val="hidden"/>
                                      </p:to>
                                    </p:set>
                                  </p:childTnLst>
                                </p:cTn>
                              </p:par>
                              <p:par>
                                <p:cTn id="134" presetID="0" presetClass="path" presetSubtype="0" fill="hold" nodeType="withEffect">
                                  <p:stCondLst>
                                    <p:cond delay="1326"/>
                                  </p:stCondLst>
                                  <p:childTnLst>
                                    <p:animMotion origin="layout" path="M 0 0 L 0.072222222 -0.064197531 E" pathEditMode="relative" rAng="0">
                                      <p:cBhvr>
                                        <p:cTn id="135" dur="497" accel="20000" decel="20000" fill="hold"/>
                                        <p:tgtEl>
                                          <p:spTgt spid="14017"/>
                                        </p:tgtEl>
                                        <p:attrNameLst>
                                          <p:attrName>ppt_x</p:attrName>
                                          <p:attrName>ppt_y</p:attrName>
                                        </p:attrNameLst>
                                      </p:cBhvr>
                                      <p:rCtr x="0" y="0"/>
                                    </p:animMotion>
                                  </p:childTnLst>
                                </p:cTn>
                              </p:par>
                              <p:par>
                                <p:cTn id="136" presetID="10" presetClass="exit" presetSubtype="0" fill="hold" nodeType="withEffect">
                                  <p:stCondLst>
                                    <p:cond delay="1720"/>
                                  </p:stCondLst>
                                  <p:childTnLst>
                                    <p:animEffect transition="out" filter="fade">
                                      <p:cBhvr>
                                        <p:cTn id="137" dur="104"/>
                                        <p:tgtEl>
                                          <p:spTgt spid="14017"/>
                                        </p:tgtEl>
                                      </p:cBhvr>
                                    </p:animEffect>
                                    <p:set>
                                      <p:cBhvr>
                                        <p:cTn id="138" dur="1" fill="hold">
                                          <p:stCondLst>
                                            <p:cond delay="103"/>
                                          </p:stCondLst>
                                        </p:cTn>
                                        <p:tgtEl>
                                          <p:spTgt spid="14017"/>
                                        </p:tgtEl>
                                        <p:attrNameLst>
                                          <p:attrName>style.visibility</p:attrName>
                                        </p:attrNameLst>
                                      </p:cBhvr>
                                      <p:to>
                                        <p:strVal val="hidden"/>
                                      </p:to>
                                    </p:set>
                                  </p:childTnLst>
                                </p:cTn>
                              </p:par>
                              <p:par>
                                <p:cTn id="139" presetID="10" presetClass="exit" presetSubtype="0" fill="hold" nodeType="withEffect">
                                  <p:stCondLst>
                                    <p:cond delay="1720"/>
                                  </p:stCondLst>
                                  <p:childTnLst>
                                    <p:animEffect transition="out" filter="fade">
                                      <p:cBhvr>
                                        <p:cTn id="140" dur="104"/>
                                        <p:tgtEl>
                                          <p:spTgt spid="14018"/>
                                        </p:tgtEl>
                                      </p:cBhvr>
                                    </p:animEffect>
                                    <p:set>
                                      <p:cBhvr>
                                        <p:cTn id="141" dur="1" fill="hold">
                                          <p:stCondLst>
                                            <p:cond delay="103"/>
                                          </p:stCondLst>
                                        </p:cTn>
                                        <p:tgtEl>
                                          <p:spTgt spid="14018"/>
                                        </p:tgtEl>
                                        <p:attrNameLst>
                                          <p:attrName>style.visibility</p:attrName>
                                        </p:attrNameLst>
                                      </p:cBhvr>
                                      <p:to>
                                        <p:strVal val="hidden"/>
                                      </p:to>
                                    </p:set>
                                  </p:childTnLst>
                                </p:cTn>
                              </p:par>
                              <p:par>
                                <p:cTn id="142" presetID="10" presetClass="exit" presetSubtype="0" fill="hold" nodeType="withEffect">
                                  <p:stCondLst>
                                    <p:cond delay="1720"/>
                                  </p:stCondLst>
                                  <p:childTnLst>
                                    <p:animEffect transition="out" filter="fade">
                                      <p:cBhvr>
                                        <p:cTn id="143" dur="104"/>
                                        <p:tgtEl>
                                          <p:spTgt spid="14019"/>
                                        </p:tgtEl>
                                      </p:cBhvr>
                                    </p:animEffect>
                                    <p:set>
                                      <p:cBhvr>
                                        <p:cTn id="144" dur="1" fill="hold">
                                          <p:stCondLst>
                                            <p:cond delay="103"/>
                                          </p:stCondLst>
                                        </p:cTn>
                                        <p:tgtEl>
                                          <p:spTgt spid="14019"/>
                                        </p:tgtEl>
                                        <p:attrNameLst>
                                          <p:attrName>style.visibility</p:attrName>
                                        </p:attrNameLst>
                                      </p:cBhvr>
                                      <p:to>
                                        <p:strVal val="hidden"/>
                                      </p:to>
                                    </p:set>
                                  </p:childTnLst>
                                </p:cTn>
                              </p:par>
                              <p:par>
                                <p:cTn id="145" presetID="10" presetClass="exit" presetSubtype="0" fill="hold" nodeType="withEffect">
                                  <p:stCondLst>
                                    <p:cond delay="1720"/>
                                  </p:stCondLst>
                                  <p:childTnLst>
                                    <p:animEffect transition="out" filter="fade">
                                      <p:cBhvr>
                                        <p:cTn id="146" dur="104"/>
                                        <p:tgtEl>
                                          <p:spTgt spid="14020"/>
                                        </p:tgtEl>
                                      </p:cBhvr>
                                    </p:animEffect>
                                    <p:set>
                                      <p:cBhvr>
                                        <p:cTn id="147" dur="1" fill="hold">
                                          <p:stCondLst>
                                            <p:cond delay="103"/>
                                          </p:stCondLst>
                                        </p:cTn>
                                        <p:tgtEl>
                                          <p:spTgt spid="14020"/>
                                        </p:tgtEl>
                                        <p:attrNameLst>
                                          <p:attrName>style.visibility</p:attrName>
                                        </p:attrNameLst>
                                      </p:cBhvr>
                                      <p:to>
                                        <p:strVal val="hidden"/>
                                      </p:to>
                                    </p:set>
                                  </p:childTnLst>
                                </p:cTn>
                              </p:par>
                              <p:par>
                                <p:cTn id="148" presetID="10" presetClass="exit" presetSubtype="0" fill="hold" nodeType="withEffect">
                                  <p:stCondLst>
                                    <p:cond delay="1326"/>
                                  </p:stCondLst>
                                  <p:childTnLst>
                                    <p:animEffect transition="out" filter="fade">
                                      <p:cBhvr>
                                        <p:cTn id="149" dur="104"/>
                                        <p:tgtEl>
                                          <p:spTgt spid="14021"/>
                                        </p:tgtEl>
                                      </p:cBhvr>
                                    </p:animEffect>
                                    <p:set>
                                      <p:cBhvr>
                                        <p:cTn id="150" dur="1" fill="hold">
                                          <p:stCondLst>
                                            <p:cond delay="103"/>
                                          </p:stCondLst>
                                        </p:cTn>
                                        <p:tgtEl>
                                          <p:spTgt spid="14021"/>
                                        </p:tgtEl>
                                        <p:attrNameLst>
                                          <p:attrName>style.visibility</p:attrName>
                                        </p:attrNameLst>
                                      </p:cBhvr>
                                      <p:to>
                                        <p:strVal val="hidden"/>
                                      </p:to>
                                    </p:set>
                                  </p:childTnLst>
                                </p:cTn>
                              </p:par>
                              <p:par>
                                <p:cTn id="151" presetID="10" presetClass="entr" presetSubtype="0" fill="hold" nodeType="withEffect">
                                  <p:stCondLst>
                                    <p:cond delay="1720"/>
                                  </p:stCondLst>
                                  <p:childTnLst>
                                    <p:animEffect transition="in" filter="fade">
                                      <p:cBhvr>
                                        <p:cTn id="152" dur="124"/>
                                        <p:tgtEl>
                                          <p:spTgt spid="14023"/>
                                        </p:tgtEl>
                                      </p:cBhvr>
                                    </p:animEffect>
                                    <p:set>
                                      <p:cBhvr>
                                        <p:cTn id="153" dur="1" fill="hold">
                                          <p:stCondLst>
                                            <p:cond delay="0"/>
                                          </p:stCondLst>
                                        </p:cTn>
                                        <p:tgtEl>
                                          <p:spTgt spid="14023"/>
                                        </p:tgtEl>
                                        <p:attrNameLst>
                                          <p:attrName>style.visibility</p:attrName>
                                        </p:attrNameLst>
                                      </p:cBhvr>
                                      <p:to>
                                        <p:strVal val="visible"/>
                                      </p:to>
                                    </p:set>
                                  </p:childTnLst>
                                </p:cTn>
                              </p:par>
                              <p:par>
                                <p:cTn id="154" presetID="10" presetClass="entr" presetSubtype="0" fill="hold" nodeType="withEffect">
                                  <p:stCondLst>
                                    <p:cond delay="1720"/>
                                  </p:stCondLst>
                                  <p:childTnLst>
                                    <p:animEffect transition="in" filter="fade">
                                      <p:cBhvr>
                                        <p:cTn id="155" dur="124"/>
                                        <p:tgtEl>
                                          <p:spTgt spid="14024"/>
                                        </p:tgtEl>
                                      </p:cBhvr>
                                    </p:animEffect>
                                    <p:set>
                                      <p:cBhvr>
                                        <p:cTn id="156" dur="1" fill="hold">
                                          <p:stCondLst>
                                            <p:cond delay="0"/>
                                          </p:stCondLst>
                                        </p:cTn>
                                        <p:tgtEl>
                                          <p:spTgt spid="14024"/>
                                        </p:tgtEl>
                                        <p:attrNameLst>
                                          <p:attrName>style.visibility</p:attrName>
                                        </p:attrNameLst>
                                      </p:cBhvr>
                                      <p:to>
                                        <p:strVal val="visible"/>
                                      </p:to>
                                    </p:set>
                                  </p:childTnLst>
                                </p:cTn>
                              </p:par>
                              <p:par>
                                <p:cTn id="157" presetID="10" presetClass="entr" presetSubtype="0" fill="hold" nodeType="withEffect">
                                  <p:stCondLst>
                                    <p:cond delay="1720"/>
                                  </p:stCondLst>
                                  <p:childTnLst>
                                    <p:animEffect transition="in" filter="fade">
                                      <p:cBhvr>
                                        <p:cTn id="158" dur="124"/>
                                        <p:tgtEl>
                                          <p:spTgt spid="14025"/>
                                        </p:tgtEl>
                                      </p:cBhvr>
                                    </p:animEffect>
                                    <p:set>
                                      <p:cBhvr>
                                        <p:cTn id="159" dur="1" fill="hold">
                                          <p:stCondLst>
                                            <p:cond delay="0"/>
                                          </p:stCondLst>
                                        </p:cTn>
                                        <p:tgtEl>
                                          <p:spTgt spid="14025"/>
                                        </p:tgtEl>
                                        <p:attrNameLst>
                                          <p:attrName>style.visibility</p:attrName>
                                        </p:attrNameLst>
                                      </p:cBhvr>
                                      <p:to>
                                        <p:strVal val="visible"/>
                                      </p:to>
                                    </p:set>
                                  </p:childTnLst>
                                </p:cTn>
                              </p:par>
                              <p:par>
                                <p:cTn id="160" presetID="10" presetClass="entr" presetSubtype="0" fill="hold" nodeType="withEffect">
                                  <p:stCondLst>
                                    <p:cond delay="1720"/>
                                  </p:stCondLst>
                                  <p:childTnLst>
                                    <p:animEffect transition="in" filter="fade">
                                      <p:cBhvr>
                                        <p:cTn id="161" dur="124"/>
                                        <p:tgtEl>
                                          <p:spTgt spid="14026"/>
                                        </p:tgtEl>
                                      </p:cBhvr>
                                    </p:animEffect>
                                    <p:set>
                                      <p:cBhvr>
                                        <p:cTn id="162" dur="1" fill="hold">
                                          <p:stCondLst>
                                            <p:cond delay="0"/>
                                          </p:stCondLst>
                                        </p:cTn>
                                        <p:tgtEl>
                                          <p:spTgt spid="14026"/>
                                        </p:tgtEl>
                                        <p:attrNameLst>
                                          <p:attrName>style.visibility</p:attrName>
                                        </p:attrNameLst>
                                      </p:cBhvr>
                                      <p:to>
                                        <p:strVal val="visible"/>
                                      </p:to>
                                    </p:set>
                                  </p:childTnLst>
                                </p:cTn>
                              </p:par>
                              <p:par>
                                <p:cTn id="163" presetID="10" presetClass="entr" presetSubtype="0" fill="hold" nodeType="withEffect">
                                  <p:stCondLst>
                                    <p:cond delay="1720"/>
                                  </p:stCondLst>
                                  <p:childTnLst>
                                    <p:animEffect transition="in" filter="fade">
                                      <p:cBhvr>
                                        <p:cTn id="164" dur="124"/>
                                        <p:tgtEl>
                                          <p:spTgt spid="14027"/>
                                        </p:tgtEl>
                                      </p:cBhvr>
                                    </p:animEffect>
                                    <p:set>
                                      <p:cBhvr>
                                        <p:cTn id="165" dur="1" fill="hold">
                                          <p:stCondLst>
                                            <p:cond delay="0"/>
                                          </p:stCondLst>
                                        </p:cTn>
                                        <p:tgtEl>
                                          <p:spTgt spid="14027"/>
                                        </p:tgtEl>
                                        <p:attrNameLst>
                                          <p:attrName>style.visibility</p:attrName>
                                        </p:attrNameLst>
                                      </p:cBhvr>
                                      <p:to>
                                        <p:strVal val="visible"/>
                                      </p:to>
                                    </p:set>
                                  </p:childTnLst>
                                </p:cTn>
                              </p:par>
                              <p:par>
                                <p:cTn id="166" presetID="10" presetClass="entr" presetSubtype="0" fill="hold" nodeType="withEffect">
                                  <p:stCondLst>
                                    <p:cond delay="1720"/>
                                  </p:stCondLst>
                                  <p:childTnLst>
                                    <p:animEffect transition="in" filter="fade">
                                      <p:cBhvr>
                                        <p:cTn id="167" dur="124"/>
                                        <p:tgtEl>
                                          <p:spTgt spid="14028"/>
                                        </p:tgtEl>
                                      </p:cBhvr>
                                    </p:animEffect>
                                    <p:set>
                                      <p:cBhvr>
                                        <p:cTn id="168" dur="1" fill="hold">
                                          <p:stCondLst>
                                            <p:cond delay="0"/>
                                          </p:stCondLst>
                                        </p:cTn>
                                        <p:tgtEl>
                                          <p:spTgt spid="14028"/>
                                        </p:tgtEl>
                                        <p:attrNameLst>
                                          <p:attrName>style.visibility</p:attrName>
                                        </p:attrNameLst>
                                      </p:cBhvr>
                                      <p:to>
                                        <p:strVal val="visible"/>
                                      </p:to>
                                    </p:set>
                                  </p:childTnLst>
                                </p:cTn>
                              </p:par>
                              <p:par>
                                <p:cTn id="169" presetID="10" presetClass="entr" presetSubtype="0" fill="hold" nodeType="withEffect">
                                  <p:stCondLst>
                                    <p:cond delay="1720"/>
                                  </p:stCondLst>
                                  <p:childTnLst>
                                    <p:animEffect transition="in" filter="fade">
                                      <p:cBhvr>
                                        <p:cTn id="170" dur="124"/>
                                        <p:tgtEl>
                                          <p:spTgt spid="14029"/>
                                        </p:tgtEl>
                                      </p:cBhvr>
                                    </p:animEffect>
                                    <p:set>
                                      <p:cBhvr>
                                        <p:cTn id="171" dur="1" fill="hold">
                                          <p:stCondLst>
                                            <p:cond delay="0"/>
                                          </p:stCondLst>
                                        </p:cTn>
                                        <p:tgtEl>
                                          <p:spTgt spid="14029"/>
                                        </p:tgtEl>
                                        <p:attrNameLst>
                                          <p:attrName>style.visibility</p:attrName>
                                        </p:attrNameLst>
                                      </p:cBhvr>
                                      <p:to>
                                        <p:strVal val="visible"/>
                                      </p:to>
                                    </p:set>
                                  </p:childTnLst>
                                </p:cTn>
                              </p:par>
                              <p:par>
                                <p:cTn id="172" presetID="10" presetClass="entr" presetSubtype="0" fill="hold" nodeType="withEffect">
                                  <p:stCondLst>
                                    <p:cond delay="1720"/>
                                  </p:stCondLst>
                                  <p:childTnLst>
                                    <p:animEffect transition="in" filter="fade">
                                      <p:cBhvr>
                                        <p:cTn id="173" dur="124"/>
                                        <p:tgtEl>
                                          <p:spTgt spid="14030"/>
                                        </p:tgtEl>
                                      </p:cBhvr>
                                    </p:animEffect>
                                    <p:set>
                                      <p:cBhvr>
                                        <p:cTn id="174" dur="1" fill="hold">
                                          <p:stCondLst>
                                            <p:cond delay="0"/>
                                          </p:stCondLst>
                                        </p:cTn>
                                        <p:tgtEl>
                                          <p:spTgt spid="14030"/>
                                        </p:tgtEl>
                                        <p:attrNameLst>
                                          <p:attrName>style.visibility</p:attrName>
                                        </p:attrNameLst>
                                      </p:cBhvr>
                                      <p:to>
                                        <p:strVal val="visible"/>
                                      </p:to>
                                    </p:set>
                                  </p:childTnLst>
                                </p:cTn>
                              </p:par>
                              <p:par>
                                <p:cTn id="175" presetID="10" presetClass="entr" presetSubtype="0" fill="hold" nodeType="withEffect">
                                  <p:stCondLst>
                                    <p:cond delay="1720"/>
                                  </p:stCondLst>
                                  <p:childTnLst>
                                    <p:animEffect transition="in" filter="fade">
                                      <p:cBhvr>
                                        <p:cTn id="176" dur="124"/>
                                        <p:tgtEl>
                                          <p:spTgt spid="14031"/>
                                        </p:tgtEl>
                                      </p:cBhvr>
                                    </p:animEffect>
                                    <p:set>
                                      <p:cBhvr>
                                        <p:cTn id="177" dur="1" fill="hold">
                                          <p:stCondLst>
                                            <p:cond delay="0"/>
                                          </p:stCondLst>
                                        </p:cTn>
                                        <p:tgtEl>
                                          <p:spTgt spid="14031"/>
                                        </p:tgtEl>
                                        <p:attrNameLst>
                                          <p:attrName>style.visibility</p:attrName>
                                        </p:attrNameLst>
                                      </p:cBhvr>
                                      <p:to>
                                        <p:strVal val="visible"/>
                                      </p:to>
                                    </p:set>
                                  </p:childTnLst>
                                </p:cTn>
                              </p:par>
                              <p:par>
                                <p:cTn id="178" presetID="10" presetClass="entr" presetSubtype="0" fill="hold" nodeType="withEffect">
                                  <p:stCondLst>
                                    <p:cond delay="1720"/>
                                  </p:stCondLst>
                                  <p:childTnLst>
                                    <p:animEffect transition="in" filter="fade">
                                      <p:cBhvr>
                                        <p:cTn id="179" dur="124"/>
                                        <p:tgtEl>
                                          <p:spTgt spid="14032"/>
                                        </p:tgtEl>
                                      </p:cBhvr>
                                    </p:animEffect>
                                    <p:set>
                                      <p:cBhvr>
                                        <p:cTn id="180" dur="1" fill="hold">
                                          <p:stCondLst>
                                            <p:cond delay="0"/>
                                          </p:stCondLst>
                                        </p:cTn>
                                        <p:tgtEl>
                                          <p:spTgt spid="14032"/>
                                        </p:tgtEl>
                                        <p:attrNameLst>
                                          <p:attrName>style.visibility</p:attrName>
                                        </p:attrNameLst>
                                      </p:cBhvr>
                                      <p:to>
                                        <p:strVal val="visible"/>
                                      </p:to>
                                    </p:set>
                                  </p:childTnLst>
                                </p:cTn>
                              </p:par>
                              <p:par>
                                <p:cTn id="181" presetID="10" presetClass="entr" presetSubtype="0" fill="hold" nodeType="withEffect">
                                  <p:stCondLst>
                                    <p:cond delay="1720"/>
                                  </p:stCondLst>
                                  <p:childTnLst>
                                    <p:animEffect transition="in" filter="fade">
                                      <p:cBhvr>
                                        <p:cTn id="182" dur="124"/>
                                        <p:tgtEl>
                                          <p:spTgt spid="14033"/>
                                        </p:tgtEl>
                                      </p:cBhvr>
                                    </p:animEffect>
                                    <p:set>
                                      <p:cBhvr>
                                        <p:cTn id="183" dur="1" fill="hold">
                                          <p:stCondLst>
                                            <p:cond delay="0"/>
                                          </p:stCondLst>
                                        </p:cTn>
                                        <p:tgtEl>
                                          <p:spTgt spid="14033"/>
                                        </p:tgtEl>
                                        <p:attrNameLst>
                                          <p:attrName>style.visibility</p:attrName>
                                        </p:attrNameLst>
                                      </p:cBhvr>
                                      <p:to>
                                        <p:strVal val="visible"/>
                                      </p:to>
                                    </p:set>
                                  </p:childTnLst>
                                </p:cTn>
                              </p:par>
                              <p:par>
                                <p:cTn id="184" presetID="10" presetClass="entr" presetSubtype="0" fill="hold" nodeType="withEffect">
                                  <p:stCondLst>
                                    <p:cond delay="1720"/>
                                  </p:stCondLst>
                                  <p:childTnLst>
                                    <p:animEffect transition="in" filter="fade">
                                      <p:cBhvr>
                                        <p:cTn id="185" dur="124"/>
                                        <p:tgtEl>
                                          <p:spTgt spid="14034"/>
                                        </p:tgtEl>
                                      </p:cBhvr>
                                    </p:animEffect>
                                    <p:set>
                                      <p:cBhvr>
                                        <p:cTn id="186" dur="1" fill="hold">
                                          <p:stCondLst>
                                            <p:cond delay="0"/>
                                          </p:stCondLst>
                                        </p:cTn>
                                        <p:tgtEl>
                                          <p:spTgt spid="14034"/>
                                        </p:tgtEl>
                                        <p:attrNameLst>
                                          <p:attrName>style.visibility</p:attrName>
                                        </p:attrNameLst>
                                      </p:cBhvr>
                                      <p:to>
                                        <p:strVal val="visible"/>
                                      </p:to>
                                    </p:set>
                                  </p:childTnLst>
                                </p:cTn>
                              </p:par>
                              <p:par>
                                <p:cTn id="187" presetID="0" presetClass="path" presetSubtype="0" fill="hold" nodeType="withEffect">
                                  <p:stCondLst>
                                    <p:cond delay="2114"/>
                                  </p:stCondLst>
                                  <p:childTnLst>
                                    <p:animMotion origin="layout" path="M 0 0 L 0.118055556 0.000000000 E" pathEditMode="relative" rAng="0">
                                      <p:cBhvr>
                                        <p:cTn id="188" dur="497" accel="20000" decel="20000" fill="hold"/>
                                        <p:tgtEl>
                                          <p:spTgt spid="14023"/>
                                        </p:tgtEl>
                                        <p:attrNameLst>
                                          <p:attrName>ppt_x</p:attrName>
                                          <p:attrName>ppt_y</p:attrName>
                                        </p:attrNameLst>
                                      </p:cBhvr>
                                      <p:rCtr x="0" y="0"/>
                                    </p:animMotion>
                                  </p:childTnLst>
                                </p:cTn>
                              </p:par>
                              <p:par>
                                <p:cTn id="189" presetID="10" presetClass="exit" presetSubtype="0" fill="hold" nodeType="withEffect">
                                  <p:stCondLst>
                                    <p:cond delay="2508"/>
                                  </p:stCondLst>
                                  <p:childTnLst>
                                    <p:animEffect transition="out" filter="fade">
                                      <p:cBhvr>
                                        <p:cTn id="190" dur="104"/>
                                        <p:tgtEl>
                                          <p:spTgt spid="14023"/>
                                        </p:tgtEl>
                                      </p:cBhvr>
                                    </p:animEffect>
                                    <p:set>
                                      <p:cBhvr>
                                        <p:cTn id="191" dur="1" fill="hold">
                                          <p:stCondLst>
                                            <p:cond delay="103"/>
                                          </p:stCondLst>
                                        </p:cTn>
                                        <p:tgtEl>
                                          <p:spTgt spid="14023"/>
                                        </p:tgtEl>
                                        <p:attrNameLst>
                                          <p:attrName>style.visibility</p:attrName>
                                        </p:attrNameLst>
                                      </p:cBhvr>
                                      <p:to>
                                        <p:strVal val="hidden"/>
                                      </p:to>
                                    </p:set>
                                  </p:childTnLst>
                                </p:cTn>
                              </p:par>
                              <p:par>
                                <p:cTn id="192" presetID="0" presetClass="path" presetSubtype="0" fill="hold" nodeType="withEffect">
                                  <p:stCondLst>
                                    <p:cond delay="2114"/>
                                  </p:stCondLst>
                                  <p:childTnLst>
                                    <p:animMotion origin="layout" path="M 0 0 L 0.137500000 0.000000000 E" pathEditMode="relative" rAng="0">
                                      <p:cBhvr>
                                        <p:cTn id="193" dur="497" accel="20000" decel="20000" fill="hold"/>
                                        <p:tgtEl>
                                          <p:spTgt spid="14024"/>
                                        </p:tgtEl>
                                        <p:attrNameLst>
                                          <p:attrName>ppt_x</p:attrName>
                                          <p:attrName>ppt_y</p:attrName>
                                        </p:attrNameLst>
                                      </p:cBhvr>
                                      <p:rCtr x="0" y="0"/>
                                    </p:animMotion>
                                  </p:childTnLst>
                                </p:cTn>
                              </p:par>
                              <p:par>
                                <p:cTn id="194" presetID="10" presetClass="exit" presetSubtype="0" fill="hold" nodeType="withEffect">
                                  <p:stCondLst>
                                    <p:cond delay="2508"/>
                                  </p:stCondLst>
                                  <p:childTnLst>
                                    <p:animEffect transition="out" filter="fade">
                                      <p:cBhvr>
                                        <p:cTn id="195" dur="104"/>
                                        <p:tgtEl>
                                          <p:spTgt spid="14024"/>
                                        </p:tgtEl>
                                      </p:cBhvr>
                                    </p:animEffect>
                                    <p:set>
                                      <p:cBhvr>
                                        <p:cTn id="196" dur="1" fill="hold">
                                          <p:stCondLst>
                                            <p:cond delay="103"/>
                                          </p:stCondLst>
                                        </p:cTn>
                                        <p:tgtEl>
                                          <p:spTgt spid="14024"/>
                                        </p:tgtEl>
                                        <p:attrNameLst>
                                          <p:attrName>style.visibility</p:attrName>
                                        </p:attrNameLst>
                                      </p:cBhvr>
                                      <p:to>
                                        <p:strVal val="hidden"/>
                                      </p:to>
                                    </p:set>
                                  </p:childTnLst>
                                </p:cTn>
                              </p:par>
                              <p:par>
                                <p:cTn id="197" presetID="10" presetClass="exit" presetSubtype="0" fill="hold" nodeType="withEffect">
                                  <p:stCondLst>
                                    <p:cond delay="2508"/>
                                  </p:stCondLst>
                                  <p:childTnLst>
                                    <p:animEffect transition="out" filter="fade">
                                      <p:cBhvr>
                                        <p:cTn id="198" dur="104"/>
                                        <p:tgtEl>
                                          <p:spTgt spid="14025"/>
                                        </p:tgtEl>
                                      </p:cBhvr>
                                    </p:animEffect>
                                    <p:set>
                                      <p:cBhvr>
                                        <p:cTn id="199" dur="1" fill="hold">
                                          <p:stCondLst>
                                            <p:cond delay="103"/>
                                          </p:stCondLst>
                                        </p:cTn>
                                        <p:tgtEl>
                                          <p:spTgt spid="14025"/>
                                        </p:tgtEl>
                                        <p:attrNameLst>
                                          <p:attrName>style.visibility</p:attrName>
                                        </p:attrNameLst>
                                      </p:cBhvr>
                                      <p:to>
                                        <p:strVal val="hidden"/>
                                      </p:to>
                                    </p:set>
                                  </p:childTnLst>
                                </p:cTn>
                              </p:par>
                              <p:par>
                                <p:cTn id="200" presetID="10" presetClass="exit" presetSubtype="0" fill="hold" nodeType="withEffect">
                                  <p:stCondLst>
                                    <p:cond delay="2508"/>
                                  </p:stCondLst>
                                  <p:childTnLst>
                                    <p:animEffect transition="out" filter="fade">
                                      <p:cBhvr>
                                        <p:cTn id="201" dur="104"/>
                                        <p:tgtEl>
                                          <p:spTgt spid="14026"/>
                                        </p:tgtEl>
                                      </p:cBhvr>
                                    </p:animEffect>
                                    <p:set>
                                      <p:cBhvr>
                                        <p:cTn id="202" dur="1" fill="hold">
                                          <p:stCondLst>
                                            <p:cond delay="103"/>
                                          </p:stCondLst>
                                        </p:cTn>
                                        <p:tgtEl>
                                          <p:spTgt spid="14026"/>
                                        </p:tgtEl>
                                        <p:attrNameLst>
                                          <p:attrName>style.visibility</p:attrName>
                                        </p:attrNameLst>
                                      </p:cBhvr>
                                      <p:to>
                                        <p:strVal val="hidden"/>
                                      </p:to>
                                    </p:set>
                                  </p:childTnLst>
                                </p:cTn>
                              </p:par>
                              <p:par>
                                <p:cTn id="203" presetID="10" presetClass="exit" presetSubtype="0" fill="hold" nodeType="withEffect">
                                  <p:stCondLst>
                                    <p:cond delay="2114"/>
                                  </p:stCondLst>
                                  <p:childTnLst>
                                    <p:animEffect transition="out" filter="fade">
                                      <p:cBhvr>
                                        <p:cTn id="204" dur="104"/>
                                        <p:tgtEl>
                                          <p:spTgt spid="14027"/>
                                        </p:tgtEl>
                                      </p:cBhvr>
                                    </p:animEffect>
                                    <p:set>
                                      <p:cBhvr>
                                        <p:cTn id="205" dur="1" fill="hold">
                                          <p:stCondLst>
                                            <p:cond delay="103"/>
                                          </p:stCondLst>
                                        </p:cTn>
                                        <p:tgtEl>
                                          <p:spTgt spid="14027"/>
                                        </p:tgtEl>
                                        <p:attrNameLst>
                                          <p:attrName>style.visibility</p:attrName>
                                        </p:attrNameLst>
                                      </p:cBhvr>
                                      <p:to>
                                        <p:strVal val="hidden"/>
                                      </p:to>
                                    </p:set>
                                  </p:childTnLst>
                                </p:cTn>
                              </p:par>
                              <p:par>
                                <p:cTn id="206" presetID="10" presetClass="exit" presetSubtype="0" fill="hold" nodeType="withEffect">
                                  <p:stCondLst>
                                    <p:cond delay="2508"/>
                                  </p:stCondLst>
                                  <p:childTnLst>
                                    <p:animEffect transition="out" filter="fade">
                                      <p:cBhvr>
                                        <p:cTn id="207" dur="104"/>
                                        <p:tgtEl>
                                          <p:spTgt spid="14028"/>
                                        </p:tgtEl>
                                      </p:cBhvr>
                                    </p:animEffect>
                                    <p:set>
                                      <p:cBhvr>
                                        <p:cTn id="208" dur="1" fill="hold">
                                          <p:stCondLst>
                                            <p:cond delay="103"/>
                                          </p:stCondLst>
                                        </p:cTn>
                                        <p:tgtEl>
                                          <p:spTgt spid="14028"/>
                                        </p:tgtEl>
                                        <p:attrNameLst>
                                          <p:attrName>style.visibility</p:attrName>
                                        </p:attrNameLst>
                                      </p:cBhvr>
                                      <p:to>
                                        <p:strVal val="hidden"/>
                                      </p:to>
                                    </p:set>
                                  </p:childTnLst>
                                </p:cTn>
                              </p:par>
                              <p:par>
                                <p:cTn id="209" presetID="0" presetClass="path" presetSubtype="0" fill="hold" nodeType="withEffect">
                                  <p:stCondLst>
                                    <p:cond delay="2114"/>
                                  </p:stCondLst>
                                  <p:childTnLst>
                                    <p:animMotion origin="layout" path="M 0 0 C 0.009204746 0.000000000 0.016666667 0.014371107 0.016666667 0.032098765 C 0.016666667 0.049826424 0.009204746 0.064197531 0.000000000 0.064197531 E" pathEditMode="relative" rAng="0">
                                      <p:cBhvr>
                                        <p:cTn id="210" dur="497" accel="20000" decel="20000" fill="hold"/>
                                        <p:tgtEl>
                                          <p:spTgt spid="14029"/>
                                        </p:tgtEl>
                                        <p:attrNameLst>
                                          <p:attrName>ppt_x</p:attrName>
                                          <p:attrName>ppt_y</p:attrName>
                                        </p:attrNameLst>
                                      </p:cBhvr>
                                      <p:rCtr x="0" y="0"/>
                                    </p:animMotion>
                                  </p:childTnLst>
                                </p:cTn>
                              </p:par>
                              <p:par>
                                <p:cTn id="211" presetID="10" presetClass="exit" presetSubtype="0" fill="hold" nodeType="withEffect">
                                  <p:stCondLst>
                                    <p:cond delay="2508"/>
                                  </p:stCondLst>
                                  <p:childTnLst>
                                    <p:animEffect transition="out" filter="fade">
                                      <p:cBhvr>
                                        <p:cTn id="212" dur="104"/>
                                        <p:tgtEl>
                                          <p:spTgt spid="14029"/>
                                        </p:tgtEl>
                                      </p:cBhvr>
                                    </p:animEffect>
                                    <p:set>
                                      <p:cBhvr>
                                        <p:cTn id="213" dur="1" fill="hold">
                                          <p:stCondLst>
                                            <p:cond delay="103"/>
                                          </p:stCondLst>
                                        </p:cTn>
                                        <p:tgtEl>
                                          <p:spTgt spid="14029"/>
                                        </p:tgtEl>
                                        <p:attrNameLst>
                                          <p:attrName>style.visibility</p:attrName>
                                        </p:attrNameLst>
                                      </p:cBhvr>
                                      <p:to>
                                        <p:strVal val="hidden"/>
                                      </p:to>
                                    </p:set>
                                  </p:childTnLst>
                                </p:cTn>
                              </p:par>
                              <p:par>
                                <p:cTn id="214" presetID="0" presetClass="path" presetSubtype="0" fill="hold" nodeType="withEffect">
                                  <p:stCondLst>
                                    <p:cond delay="2114"/>
                                  </p:stCondLst>
                                  <p:childTnLst>
                                    <p:animMotion origin="layout" path="M 0 0 C 0.009204746 0.000000000 0.016666667 0.014371107 0.016666667 0.032098765 C 0.016666667 0.049826424 0.009204746 0.064197531 0.000000000 0.064197531 E" pathEditMode="relative" rAng="0">
                                      <p:cBhvr>
                                        <p:cTn id="215" dur="497" accel="20000" decel="20000" fill="hold"/>
                                        <p:tgtEl>
                                          <p:spTgt spid="14030"/>
                                        </p:tgtEl>
                                        <p:attrNameLst>
                                          <p:attrName>ppt_x</p:attrName>
                                          <p:attrName>ppt_y</p:attrName>
                                        </p:attrNameLst>
                                      </p:cBhvr>
                                      <p:rCtr x="0" y="0"/>
                                    </p:animMotion>
                                  </p:childTnLst>
                                </p:cTn>
                              </p:par>
                              <p:par>
                                <p:cTn id="216" presetID="10" presetClass="exit" presetSubtype="0" fill="hold" nodeType="withEffect">
                                  <p:stCondLst>
                                    <p:cond delay="2508"/>
                                  </p:stCondLst>
                                  <p:childTnLst>
                                    <p:animEffect transition="out" filter="fade">
                                      <p:cBhvr>
                                        <p:cTn id="217" dur="104"/>
                                        <p:tgtEl>
                                          <p:spTgt spid="14030"/>
                                        </p:tgtEl>
                                      </p:cBhvr>
                                    </p:animEffect>
                                    <p:set>
                                      <p:cBhvr>
                                        <p:cTn id="218" dur="1" fill="hold">
                                          <p:stCondLst>
                                            <p:cond delay="103"/>
                                          </p:stCondLst>
                                        </p:cTn>
                                        <p:tgtEl>
                                          <p:spTgt spid="14030"/>
                                        </p:tgtEl>
                                        <p:attrNameLst>
                                          <p:attrName>style.visibility</p:attrName>
                                        </p:attrNameLst>
                                      </p:cBhvr>
                                      <p:to>
                                        <p:strVal val="hidden"/>
                                      </p:to>
                                    </p:set>
                                  </p:childTnLst>
                                </p:cTn>
                              </p:par>
                              <p:par>
                                <p:cTn id="219" presetID="0" presetClass="path" presetSubtype="0" fill="hold" nodeType="withEffect">
                                  <p:stCondLst>
                                    <p:cond delay="2114"/>
                                  </p:stCondLst>
                                  <p:childTnLst>
                                    <p:animMotion origin="layout" path="M 0 0 C -0.009204746 0.000000000 -0.016666667 -0.014371107 -0.016666667 -0.032098765 C -0.016666667 -0.049826424 -0.009204746 -0.064197531 0.000000000 -0.064197531 E" pathEditMode="relative" rAng="0">
                                      <p:cBhvr>
                                        <p:cTn id="220" dur="497" accel="20000" decel="20000" fill="hold"/>
                                        <p:tgtEl>
                                          <p:spTgt spid="14031"/>
                                        </p:tgtEl>
                                        <p:attrNameLst>
                                          <p:attrName>ppt_x</p:attrName>
                                          <p:attrName>ppt_y</p:attrName>
                                        </p:attrNameLst>
                                      </p:cBhvr>
                                      <p:rCtr x="0" y="0"/>
                                    </p:animMotion>
                                  </p:childTnLst>
                                </p:cTn>
                              </p:par>
                              <p:par>
                                <p:cTn id="221" presetID="10" presetClass="exit" presetSubtype="0" fill="hold" nodeType="withEffect">
                                  <p:stCondLst>
                                    <p:cond delay="2508"/>
                                  </p:stCondLst>
                                  <p:childTnLst>
                                    <p:animEffect transition="out" filter="fade">
                                      <p:cBhvr>
                                        <p:cTn id="222" dur="104"/>
                                        <p:tgtEl>
                                          <p:spTgt spid="14031"/>
                                        </p:tgtEl>
                                      </p:cBhvr>
                                    </p:animEffect>
                                    <p:set>
                                      <p:cBhvr>
                                        <p:cTn id="223" dur="1" fill="hold">
                                          <p:stCondLst>
                                            <p:cond delay="103"/>
                                          </p:stCondLst>
                                        </p:cTn>
                                        <p:tgtEl>
                                          <p:spTgt spid="14031"/>
                                        </p:tgtEl>
                                        <p:attrNameLst>
                                          <p:attrName>style.visibility</p:attrName>
                                        </p:attrNameLst>
                                      </p:cBhvr>
                                      <p:to>
                                        <p:strVal val="hidden"/>
                                      </p:to>
                                    </p:set>
                                  </p:childTnLst>
                                </p:cTn>
                              </p:par>
                              <p:par>
                                <p:cTn id="224" presetID="0" presetClass="path" presetSubtype="0" fill="hold" nodeType="withEffect">
                                  <p:stCondLst>
                                    <p:cond delay="2114"/>
                                  </p:stCondLst>
                                  <p:childTnLst>
                                    <p:animMotion origin="layout" path="M 0 0 C -0.009204746 0.000000000 -0.016666667 -0.014371107 -0.016666667 -0.032098765 C -0.016666667 -0.049826424 -0.009204746 -0.064197531 0.000000000 -0.064197531 E" pathEditMode="relative" rAng="0">
                                      <p:cBhvr>
                                        <p:cTn id="225" dur="497" accel="20000" decel="20000" fill="hold"/>
                                        <p:tgtEl>
                                          <p:spTgt spid="14032"/>
                                        </p:tgtEl>
                                        <p:attrNameLst>
                                          <p:attrName>ppt_x</p:attrName>
                                          <p:attrName>ppt_y</p:attrName>
                                        </p:attrNameLst>
                                      </p:cBhvr>
                                      <p:rCtr x="0" y="0"/>
                                    </p:animMotion>
                                  </p:childTnLst>
                                </p:cTn>
                              </p:par>
                              <p:par>
                                <p:cTn id="226" presetID="10" presetClass="exit" presetSubtype="0" fill="hold" nodeType="withEffect">
                                  <p:stCondLst>
                                    <p:cond delay="2508"/>
                                  </p:stCondLst>
                                  <p:childTnLst>
                                    <p:animEffect transition="out" filter="fade">
                                      <p:cBhvr>
                                        <p:cTn id="227" dur="104"/>
                                        <p:tgtEl>
                                          <p:spTgt spid="14032"/>
                                        </p:tgtEl>
                                      </p:cBhvr>
                                    </p:animEffect>
                                    <p:set>
                                      <p:cBhvr>
                                        <p:cTn id="228" dur="1" fill="hold">
                                          <p:stCondLst>
                                            <p:cond delay="103"/>
                                          </p:stCondLst>
                                        </p:cTn>
                                        <p:tgtEl>
                                          <p:spTgt spid="14032"/>
                                        </p:tgtEl>
                                        <p:attrNameLst>
                                          <p:attrName>style.visibility</p:attrName>
                                        </p:attrNameLst>
                                      </p:cBhvr>
                                      <p:to>
                                        <p:strVal val="hidden"/>
                                      </p:to>
                                    </p:set>
                                  </p:childTnLst>
                                </p:cTn>
                              </p:par>
                              <p:par>
                                <p:cTn id="229" presetID="10" presetClass="exit" presetSubtype="0" fill="hold" nodeType="withEffect">
                                  <p:stCondLst>
                                    <p:cond delay="2508"/>
                                  </p:stCondLst>
                                  <p:childTnLst>
                                    <p:animEffect transition="out" filter="fade">
                                      <p:cBhvr>
                                        <p:cTn id="230" dur="104"/>
                                        <p:tgtEl>
                                          <p:spTgt spid="14033"/>
                                        </p:tgtEl>
                                      </p:cBhvr>
                                    </p:animEffect>
                                    <p:set>
                                      <p:cBhvr>
                                        <p:cTn id="231" dur="1" fill="hold">
                                          <p:stCondLst>
                                            <p:cond delay="103"/>
                                          </p:stCondLst>
                                        </p:cTn>
                                        <p:tgtEl>
                                          <p:spTgt spid="14033"/>
                                        </p:tgtEl>
                                        <p:attrNameLst>
                                          <p:attrName>style.visibility</p:attrName>
                                        </p:attrNameLst>
                                      </p:cBhvr>
                                      <p:to>
                                        <p:strVal val="hidden"/>
                                      </p:to>
                                    </p:set>
                                  </p:childTnLst>
                                </p:cTn>
                              </p:par>
                              <p:par>
                                <p:cTn id="232" presetID="10" presetClass="exit" presetSubtype="0" fill="hold" nodeType="withEffect">
                                  <p:stCondLst>
                                    <p:cond delay="2508"/>
                                  </p:stCondLst>
                                  <p:childTnLst>
                                    <p:animEffect transition="out" filter="fade">
                                      <p:cBhvr>
                                        <p:cTn id="233" dur="104"/>
                                        <p:tgtEl>
                                          <p:spTgt spid="14034"/>
                                        </p:tgtEl>
                                      </p:cBhvr>
                                    </p:animEffect>
                                    <p:set>
                                      <p:cBhvr>
                                        <p:cTn id="234" dur="1" fill="hold">
                                          <p:stCondLst>
                                            <p:cond delay="103"/>
                                          </p:stCondLst>
                                        </p:cTn>
                                        <p:tgtEl>
                                          <p:spTgt spid="14034"/>
                                        </p:tgtEl>
                                        <p:attrNameLst>
                                          <p:attrName>style.visibility</p:attrName>
                                        </p:attrNameLst>
                                      </p:cBhvr>
                                      <p:to>
                                        <p:strVal val="hidden"/>
                                      </p:to>
                                    </p:set>
                                  </p:childTnLst>
                                </p:cTn>
                              </p:par>
                              <p:par>
                                <p:cTn id="235" presetID="10" presetClass="entr" presetSubtype="0" fill="hold" nodeType="withEffect">
                                  <p:stCondLst>
                                    <p:cond delay="2508"/>
                                  </p:stCondLst>
                                  <p:childTnLst>
                                    <p:animEffect transition="in" filter="fade">
                                      <p:cBhvr>
                                        <p:cTn id="236" dur="124"/>
                                        <p:tgtEl>
                                          <p:spTgt spid="14036"/>
                                        </p:tgtEl>
                                      </p:cBhvr>
                                    </p:animEffect>
                                    <p:set>
                                      <p:cBhvr>
                                        <p:cTn id="237" dur="1" fill="hold">
                                          <p:stCondLst>
                                            <p:cond delay="0"/>
                                          </p:stCondLst>
                                        </p:cTn>
                                        <p:tgtEl>
                                          <p:spTgt spid="14036"/>
                                        </p:tgtEl>
                                        <p:attrNameLst>
                                          <p:attrName>style.visibility</p:attrName>
                                        </p:attrNameLst>
                                      </p:cBhvr>
                                      <p:to>
                                        <p:strVal val="visible"/>
                                      </p:to>
                                    </p:set>
                                  </p:childTnLst>
                                </p:cTn>
                              </p:par>
                              <p:par>
                                <p:cTn id="238" presetID="10" presetClass="entr" presetSubtype="0" fill="hold" nodeType="withEffect">
                                  <p:stCondLst>
                                    <p:cond delay="2508"/>
                                  </p:stCondLst>
                                  <p:childTnLst>
                                    <p:animEffect transition="in" filter="fade">
                                      <p:cBhvr>
                                        <p:cTn id="239" dur="124"/>
                                        <p:tgtEl>
                                          <p:spTgt spid="14037"/>
                                        </p:tgtEl>
                                      </p:cBhvr>
                                    </p:animEffect>
                                    <p:set>
                                      <p:cBhvr>
                                        <p:cTn id="240" dur="1" fill="hold">
                                          <p:stCondLst>
                                            <p:cond delay="0"/>
                                          </p:stCondLst>
                                        </p:cTn>
                                        <p:tgtEl>
                                          <p:spTgt spid="14037"/>
                                        </p:tgtEl>
                                        <p:attrNameLst>
                                          <p:attrName>style.visibility</p:attrName>
                                        </p:attrNameLst>
                                      </p:cBhvr>
                                      <p:to>
                                        <p:strVal val="visible"/>
                                      </p:to>
                                    </p:set>
                                  </p:childTnLst>
                                </p:cTn>
                              </p:par>
                              <p:par>
                                <p:cTn id="241" presetID="10" presetClass="entr" presetSubtype="0" fill="hold" nodeType="withEffect">
                                  <p:stCondLst>
                                    <p:cond delay="2508"/>
                                  </p:stCondLst>
                                  <p:childTnLst>
                                    <p:animEffect transition="in" filter="fade">
                                      <p:cBhvr>
                                        <p:cTn id="242" dur="124"/>
                                        <p:tgtEl>
                                          <p:spTgt spid="14038"/>
                                        </p:tgtEl>
                                      </p:cBhvr>
                                    </p:animEffect>
                                    <p:set>
                                      <p:cBhvr>
                                        <p:cTn id="243" dur="1" fill="hold">
                                          <p:stCondLst>
                                            <p:cond delay="0"/>
                                          </p:stCondLst>
                                        </p:cTn>
                                        <p:tgtEl>
                                          <p:spTgt spid="14038"/>
                                        </p:tgtEl>
                                        <p:attrNameLst>
                                          <p:attrName>style.visibility</p:attrName>
                                        </p:attrNameLst>
                                      </p:cBhvr>
                                      <p:to>
                                        <p:strVal val="visible"/>
                                      </p:to>
                                    </p:set>
                                  </p:childTnLst>
                                </p:cTn>
                              </p:par>
                              <p:par>
                                <p:cTn id="244" presetID="10" presetClass="entr" presetSubtype="0" fill="hold" nodeType="withEffect">
                                  <p:stCondLst>
                                    <p:cond delay="2508"/>
                                  </p:stCondLst>
                                  <p:childTnLst>
                                    <p:animEffect transition="in" filter="fade">
                                      <p:cBhvr>
                                        <p:cTn id="245" dur="124"/>
                                        <p:tgtEl>
                                          <p:spTgt spid="14039"/>
                                        </p:tgtEl>
                                      </p:cBhvr>
                                    </p:animEffect>
                                    <p:set>
                                      <p:cBhvr>
                                        <p:cTn id="246" dur="1" fill="hold">
                                          <p:stCondLst>
                                            <p:cond delay="0"/>
                                          </p:stCondLst>
                                        </p:cTn>
                                        <p:tgtEl>
                                          <p:spTgt spid="14039"/>
                                        </p:tgtEl>
                                        <p:attrNameLst>
                                          <p:attrName>style.visibility</p:attrName>
                                        </p:attrNameLst>
                                      </p:cBhvr>
                                      <p:to>
                                        <p:strVal val="visible"/>
                                      </p:to>
                                    </p:set>
                                  </p:childTnLst>
                                </p:cTn>
                              </p:par>
                              <p:par>
                                <p:cTn id="247" presetID="10" presetClass="entr" presetSubtype="0" fill="hold" nodeType="withEffect">
                                  <p:stCondLst>
                                    <p:cond delay="2508"/>
                                  </p:stCondLst>
                                  <p:childTnLst>
                                    <p:animEffect transition="in" filter="fade">
                                      <p:cBhvr>
                                        <p:cTn id="248" dur="124"/>
                                        <p:tgtEl>
                                          <p:spTgt spid="14040"/>
                                        </p:tgtEl>
                                      </p:cBhvr>
                                    </p:animEffect>
                                    <p:set>
                                      <p:cBhvr>
                                        <p:cTn id="249" dur="1" fill="hold">
                                          <p:stCondLst>
                                            <p:cond delay="0"/>
                                          </p:stCondLst>
                                        </p:cTn>
                                        <p:tgtEl>
                                          <p:spTgt spid="14040"/>
                                        </p:tgtEl>
                                        <p:attrNameLst>
                                          <p:attrName>style.visibility</p:attrName>
                                        </p:attrNameLst>
                                      </p:cBhvr>
                                      <p:to>
                                        <p:strVal val="visible"/>
                                      </p:to>
                                    </p:set>
                                  </p:childTnLst>
                                </p:cTn>
                              </p:par>
                              <p:par>
                                <p:cTn id="250" presetID="10" presetClass="entr" presetSubtype="0" fill="hold" nodeType="withEffect">
                                  <p:stCondLst>
                                    <p:cond delay="2508"/>
                                  </p:stCondLst>
                                  <p:childTnLst>
                                    <p:animEffect transition="in" filter="fade">
                                      <p:cBhvr>
                                        <p:cTn id="251" dur="124"/>
                                        <p:tgtEl>
                                          <p:spTgt spid="14041"/>
                                        </p:tgtEl>
                                      </p:cBhvr>
                                    </p:animEffect>
                                    <p:set>
                                      <p:cBhvr>
                                        <p:cTn id="252" dur="1" fill="hold">
                                          <p:stCondLst>
                                            <p:cond delay="0"/>
                                          </p:stCondLst>
                                        </p:cTn>
                                        <p:tgtEl>
                                          <p:spTgt spid="14041"/>
                                        </p:tgtEl>
                                        <p:attrNameLst>
                                          <p:attrName>style.visibility</p:attrName>
                                        </p:attrNameLst>
                                      </p:cBhvr>
                                      <p:to>
                                        <p:strVal val="visible"/>
                                      </p:to>
                                    </p:set>
                                  </p:childTnLst>
                                </p:cTn>
                              </p:par>
                              <p:par>
                                <p:cTn id="253" presetID="10" presetClass="entr" presetSubtype="0" fill="hold" nodeType="withEffect">
                                  <p:stCondLst>
                                    <p:cond delay="2508"/>
                                  </p:stCondLst>
                                  <p:childTnLst>
                                    <p:animEffect transition="in" filter="fade">
                                      <p:cBhvr>
                                        <p:cTn id="254" dur="124"/>
                                        <p:tgtEl>
                                          <p:spTgt spid="14042"/>
                                        </p:tgtEl>
                                      </p:cBhvr>
                                    </p:animEffect>
                                    <p:set>
                                      <p:cBhvr>
                                        <p:cTn id="255" dur="1" fill="hold">
                                          <p:stCondLst>
                                            <p:cond delay="0"/>
                                          </p:stCondLst>
                                        </p:cTn>
                                        <p:tgtEl>
                                          <p:spTgt spid="14042"/>
                                        </p:tgtEl>
                                        <p:attrNameLst>
                                          <p:attrName>style.visibility</p:attrName>
                                        </p:attrNameLst>
                                      </p:cBhvr>
                                      <p:to>
                                        <p:strVal val="visible"/>
                                      </p:to>
                                    </p:set>
                                  </p:childTnLst>
                                </p:cTn>
                              </p:par>
                              <p:par>
                                <p:cTn id="256" presetID="10" presetClass="entr" presetSubtype="0" fill="hold" nodeType="withEffect">
                                  <p:stCondLst>
                                    <p:cond delay="2508"/>
                                  </p:stCondLst>
                                  <p:childTnLst>
                                    <p:animEffect transition="in" filter="fade">
                                      <p:cBhvr>
                                        <p:cTn id="257" dur="124"/>
                                        <p:tgtEl>
                                          <p:spTgt spid="14043"/>
                                        </p:tgtEl>
                                      </p:cBhvr>
                                    </p:animEffect>
                                    <p:set>
                                      <p:cBhvr>
                                        <p:cTn id="258" dur="1" fill="hold">
                                          <p:stCondLst>
                                            <p:cond delay="0"/>
                                          </p:stCondLst>
                                        </p:cTn>
                                        <p:tgtEl>
                                          <p:spTgt spid="14043"/>
                                        </p:tgtEl>
                                        <p:attrNameLst>
                                          <p:attrName>style.visibility</p:attrName>
                                        </p:attrNameLst>
                                      </p:cBhvr>
                                      <p:to>
                                        <p:strVal val="visible"/>
                                      </p:to>
                                    </p:set>
                                  </p:childTnLst>
                                </p:cTn>
                              </p:par>
                              <p:par>
                                <p:cTn id="259" presetID="10" presetClass="entr" presetSubtype="0" fill="hold" nodeType="withEffect">
                                  <p:stCondLst>
                                    <p:cond delay="2508"/>
                                  </p:stCondLst>
                                  <p:childTnLst>
                                    <p:animEffect transition="in" filter="fade">
                                      <p:cBhvr>
                                        <p:cTn id="260" dur="124"/>
                                        <p:tgtEl>
                                          <p:spTgt spid="14044"/>
                                        </p:tgtEl>
                                      </p:cBhvr>
                                    </p:animEffect>
                                    <p:set>
                                      <p:cBhvr>
                                        <p:cTn id="261" dur="1" fill="hold">
                                          <p:stCondLst>
                                            <p:cond delay="0"/>
                                          </p:stCondLst>
                                        </p:cTn>
                                        <p:tgtEl>
                                          <p:spTgt spid="14044"/>
                                        </p:tgtEl>
                                        <p:attrNameLst>
                                          <p:attrName>style.visibility</p:attrName>
                                        </p:attrNameLst>
                                      </p:cBhvr>
                                      <p:to>
                                        <p:strVal val="visible"/>
                                      </p:to>
                                    </p:set>
                                  </p:childTnLst>
                                </p:cTn>
                              </p:par>
                              <p:par>
                                <p:cTn id="262" presetID="10" presetClass="entr" presetSubtype="0" fill="hold" nodeType="withEffect">
                                  <p:stCondLst>
                                    <p:cond delay="2508"/>
                                  </p:stCondLst>
                                  <p:childTnLst>
                                    <p:animEffect transition="in" filter="fade">
                                      <p:cBhvr>
                                        <p:cTn id="263" dur="124"/>
                                        <p:tgtEl>
                                          <p:spTgt spid="14045"/>
                                        </p:tgtEl>
                                      </p:cBhvr>
                                    </p:animEffect>
                                    <p:set>
                                      <p:cBhvr>
                                        <p:cTn id="264" dur="1" fill="hold">
                                          <p:stCondLst>
                                            <p:cond delay="0"/>
                                          </p:stCondLst>
                                        </p:cTn>
                                        <p:tgtEl>
                                          <p:spTgt spid="14045"/>
                                        </p:tgtEl>
                                        <p:attrNameLst>
                                          <p:attrName>style.visibility</p:attrName>
                                        </p:attrNameLst>
                                      </p:cBhvr>
                                      <p:to>
                                        <p:strVal val="visible"/>
                                      </p:to>
                                    </p:set>
                                  </p:childTnLst>
                                </p:cTn>
                              </p:par>
                              <p:par>
                                <p:cTn id="265" presetID="10" presetClass="entr" presetSubtype="0" fill="hold" nodeType="withEffect">
                                  <p:stCondLst>
                                    <p:cond delay="2508"/>
                                  </p:stCondLst>
                                  <p:childTnLst>
                                    <p:animEffect transition="in" filter="fade">
                                      <p:cBhvr>
                                        <p:cTn id="266" dur="124"/>
                                        <p:tgtEl>
                                          <p:spTgt spid="14046"/>
                                        </p:tgtEl>
                                      </p:cBhvr>
                                    </p:animEffect>
                                    <p:set>
                                      <p:cBhvr>
                                        <p:cTn id="267" dur="1" fill="hold">
                                          <p:stCondLst>
                                            <p:cond delay="0"/>
                                          </p:stCondLst>
                                        </p:cTn>
                                        <p:tgtEl>
                                          <p:spTgt spid="14046"/>
                                        </p:tgtEl>
                                        <p:attrNameLst>
                                          <p:attrName>style.visibility</p:attrName>
                                        </p:attrNameLst>
                                      </p:cBhvr>
                                      <p:to>
                                        <p:strVal val="visible"/>
                                      </p:to>
                                    </p:set>
                                  </p:childTnLst>
                                </p:cTn>
                              </p:par>
                              <p:par>
                                <p:cTn id="268" presetID="0" presetClass="path" presetSubtype="0" fill="hold" nodeType="withEffect">
                                  <p:stCondLst>
                                    <p:cond delay="2902"/>
                                  </p:stCondLst>
                                  <p:childTnLst>
                                    <p:animMotion origin="layout" path="M 0 0 L 0.058333333 0.000000000 E" pathEditMode="relative" rAng="0">
                                      <p:cBhvr>
                                        <p:cTn id="269" dur="497" accel="20000" decel="20000" fill="hold"/>
                                        <p:tgtEl>
                                          <p:spTgt spid="14036"/>
                                        </p:tgtEl>
                                        <p:attrNameLst>
                                          <p:attrName>ppt_x</p:attrName>
                                          <p:attrName>ppt_y</p:attrName>
                                        </p:attrNameLst>
                                      </p:cBhvr>
                                      <p:rCtr x="0" y="0"/>
                                    </p:animMotion>
                                  </p:childTnLst>
                                </p:cTn>
                              </p:par>
                              <p:par>
                                <p:cTn id="270" presetID="10" presetClass="exit" presetSubtype="0" fill="hold" nodeType="withEffect">
                                  <p:stCondLst>
                                    <p:cond delay="3295"/>
                                  </p:stCondLst>
                                  <p:childTnLst>
                                    <p:animEffect transition="out" filter="fade">
                                      <p:cBhvr>
                                        <p:cTn id="271" dur="104"/>
                                        <p:tgtEl>
                                          <p:spTgt spid="14036"/>
                                        </p:tgtEl>
                                      </p:cBhvr>
                                    </p:animEffect>
                                    <p:set>
                                      <p:cBhvr>
                                        <p:cTn id="272" dur="1" fill="hold">
                                          <p:stCondLst>
                                            <p:cond delay="103"/>
                                          </p:stCondLst>
                                        </p:cTn>
                                        <p:tgtEl>
                                          <p:spTgt spid="14036"/>
                                        </p:tgtEl>
                                        <p:attrNameLst>
                                          <p:attrName>style.visibility</p:attrName>
                                        </p:attrNameLst>
                                      </p:cBhvr>
                                      <p:to>
                                        <p:strVal val="hidden"/>
                                      </p:to>
                                    </p:set>
                                  </p:childTnLst>
                                </p:cTn>
                              </p:par>
                              <p:par>
                                <p:cTn id="273" presetID="10" presetClass="exit" presetSubtype="0" fill="hold" nodeType="withEffect">
                                  <p:stCondLst>
                                    <p:cond delay="3295"/>
                                  </p:stCondLst>
                                  <p:childTnLst>
                                    <p:animEffect transition="out" filter="fade">
                                      <p:cBhvr>
                                        <p:cTn id="274" dur="104"/>
                                        <p:tgtEl>
                                          <p:spTgt spid="14037"/>
                                        </p:tgtEl>
                                      </p:cBhvr>
                                    </p:animEffect>
                                    <p:set>
                                      <p:cBhvr>
                                        <p:cTn id="275" dur="1" fill="hold">
                                          <p:stCondLst>
                                            <p:cond delay="103"/>
                                          </p:stCondLst>
                                        </p:cTn>
                                        <p:tgtEl>
                                          <p:spTgt spid="14037"/>
                                        </p:tgtEl>
                                        <p:attrNameLst>
                                          <p:attrName>style.visibility</p:attrName>
                                        </p:attrNameLst>
                                      </p:cBhvr>
                                      <p:to>
                                        <p:strVal val="hidden"/>
                                      </p:to>
                                    </p:set>
                                  </p:childTnLst>
                                </p:cTn>
                              </p:par>
                              <p:par>
                                <p:cTn id="276" presetID="0" presetClass="path" presetSubtype="0" fill="hold" nodeType="withEffect">
                                  <p:stCondLst>
                                    <p:cond delay="2902"/>
                                  </p:stCondLst>
                                  <p:childTnLst>
                                    <p:animMotion origin="layout" path="M 0 0 L -0.147222222 0.000000000 E" pathEditMode="relative" rAng="0">
                                      <p:cBhvr>
                                        <p:cTn id="277" dur="497" accel="20000" decel="20000" fill="hold"/>
                                        <p:tgtEl>
                                          <p:spTgt spid="14038"/>
                                        </p:tgtEl>
                                        <p:attrNameLst>
                                          <p:attrName>ppt_x</p:attrName>
                                          <p:attrName>ppt_y</p:attrName>
                                        </p:attrNameLst>
                                      </p:cBhvr>
                                      <p:rCtr x="0" y="0"/>
                                    </p:animMotion>
                                  </p:childTnLst>
                                </p:cTn>
                              </p:par>
                              <p:par>
                                <p:cTn id="278" presetID="10" presetClass="exit" presetSubtype="0" fill="hold" nodeType="withEffect">
                                  <p:stCondLst>
                                    <p:cond delay="3295"/>
                                  </p:stCondLst>
                                  <p:childTnLst>
                                    <p:animEffect transition="out" filter="fade">
                                      <p:cBhvr>
                                        <p:cTn id="279" dur="104"/>
                                        <p:tgtEl>
                                          <p:spTgt spid="14038"/>
                                        </p:tgtEl>
                                      </p:cBhvr>
                                    </p:animEffect>
                                    <p:set>
                                      <p:cBhvr>
                                        <p:cTn id="280" dur="1" fill="hold">
                                          <p:stCondLst>
                                            <p:cond delay="103"/>
                                          </p:stCondLst>
                                        </p:cTn>
                                        <p:tgtEl>
                                          <p:spTgt spid="14038"/>
                                        </p:tgtEl>
                                        <p:attrNameLst>
                                          <p:attrName>style.visibility</p:attrName>
                                        </p:attrNameLst>
                                      </p:cBhvr>
                                      <p:to>
                                        <p:strVal val="hidden"/>
                                      </p:to>
                                    </p:set>
                                  </p:childTnLst>
                                </p:cTn>
                              </p:par>
                              <p:par>
                                <p:cTn id="281" presetID="0" presetClass="path" presetSubtype="0" fill="hold" nodeType="withEffect">
                                  <p:stCondLst>
                                    <p:cond delay="2902"/>
                                  </p:stCondLst>
                                  <p:childTnLst>
                                    <p:animMotion origin="layout" path="M 0 0 L -0.150000000 0.000000000 E" pathEditMode="relative" rAng="0">
                                      <p:cBhvr>
                                        <p:cTn id="282" dur="497" accel="20000" decel="20000" fill="hold"/>
                                        <p:tgtEl>
                                          <p:spTgt spid="14039"/>
                                        </p:tgtEl>
                                        <p:attrNameLst>
                                          <p:attrName>ppt_x</p:attrName>
                                          <p:attrName>ppt_y</p:attrName>
                                        </p:attrNameLst>
                                      </p:cBhvr>
                                      <p:rCtr x="0" y="0"/>
                                    </p:animMotion>
                                  </p:childTnLst>
                                </p:cTn>
                              </p:par>
                              <p:par>
                                <p:cTn id="283" presetID="10" presetClass="exit" presetSubtype="0" fill="hold" nodeType="withEffect">
                                  <p:stCondLst>
                                    <p:cond delay="3295"/>
                                  </p:stCondLst>
                                  <p:childTnLst>
                                    <p:animEffect transition="out" filter="fade">
                                      <p:cBhvr>
                                        <p:cTn id="284" dur="104"/>
                                        <p:tgtEl>
                                          <p:spTgt spid="14039"/>
                                        </p:tgtEl>
                                      </p:cBhvr>
                                    </p:animEffect>
                                    <p:set>
                                      <p:cBhvr>
                                        <p:cTn id="285" dur="1" fill="hold">
                                          <p:stCondLst>
                                            <p:cond delay="103"/>
                                          </p:stCondLst>
                                        </p:cTn>
                                        <p:tgtEl>
                                          <p:spTgt spid="14039"/>
                                        </p:tgtEl>
                                        <p:attrNameLst>
                                          <p:attrName>style.visibility</p:attrName>
                                        </p:attrNameLst>
                                      </p:cBhvr>
                                      <p:to>
                                        <p:strVal val="hidden"/>
                                      </p:to>
                                    </p:set>
                                  </p:childTnLst>
                                </p:cTn>
                              </p:par>
                              <p:par>
                                <p:cTn id="286" presetID="10" presetClass="exit" presetSubtype="0" fill="hold" nodeType="withEffect">
                                  <p:stCondLst>
                                    <p:cond delay="2902"/>
                                  </p:stCondLst>
                                  <p:childTnLst>
                                    <p:animEffect transition="out" filter="fade">
                                      <p:cBhvr>
                                        <p:cTn id="287" dur="104"/>
                                        <p:tgtEl>
                                          <p:spTgt spid="14040"/>
                                        </p:tgtEl>
                                      </p:cBhvr>
                                    </p:animEffect>
                                    <p:set>
                                      <p:cBhvr>
                                        <p:cTn id="288" dur="1" fill="hold">
                                          <p:stCondLst>
                                            <p:cond delay="103"/>
                                          </p:stCondLst>
                                        </p:cTn>
                                        <p:tgtEl>
                                          <p:spTgt spid="14040"/>
                                        </p:tgtEl>
                                        <p:attrNameLst>
                                          <p:attrName>style.visibility</p:attrName>
                                        </p:attrNameLst>
                                      </p:cBhvr>
                                      <p:to>
                                        <p:strVal val="hidden"/>
                                      </p:to>
                                    </p:set>
                                  </p:childTnLst>
                                </p:cTn>
                              </p:par>
                              <p:par>
                                <p:cTn id="289" presetID="0" presetClass="path" presetSubtype="0" fill="hold" nodeType="withEffect">
                                  <p:stCondLst>
                                    <p:cond delay="2902"/>
                                  </p:stCondLst>
                                  <p:childTnLst>
                                    <p:animMotion origin="layout" path="M 0 0 C 0.000000000 -0.013636660 0.016167495 -0.024691358 0.036111111 -0.024691358 C 0.056054727 -0.024691358 0.072222222 -0.013636660 0.072222222 0.000000000 E" pathEditMode="relative" rAng="0">
                                      <p:cBhvr>
                                        <p:cTn id="290" dur="497" accel="20000" decel="20000" fill="hold"/>
                                        <p:tgtEl>
                                          <p:spTgt spid="14041"/>
                                        </p:tgtEl>
                                        <p:attrNameLst>
                                          <p:attrName>ppt_x</p:attrName>
                                          <p:attrName>ppt_y</p:attrName>
                                        </p:attrNameLst>
                                      </p:cBhvr>
                                      <p:rCtr x="0" y="0"/>
                                    </p:animMotion>
                                  </p:childTnLst>
                                </p:cTn>
                              </p:par>
                              <p:par>
                                <p:cTn id="291" presetID="10" presetClass="exit" presetSubtype="0" fill="hold" nodeType="withEffect">
                                  <p:stCondLst>
                                    <p:cond delay="3295"/>
                                  </p:stCondLst>
                                  <p:childTnLst>
                                    <p:animEffect transition="out" filter="fade">
                                      <p:cBhvr>
                                        <p:cTn id="292" dur="104"/>
                                        <p:tgtEl>
                                          <p:spTgt spid="14041"/>
                                        </p:tgtEl>
                                      </p:cBhvr>
                                    </p:animEffect>
                                    <p:set>
                                      <p:cBhvr>
                                        <p:cTn id="293" dur="1" fill="hold">
                                          <p:stCondLst>
                                            <p:cond delay="103"/>
                                          </p:stCondLst>
                                        </p:cTn>
                                        <p:tgtEl>
                                          <p:spTgt spid="14041"/>
                                        </p:tgtEl>
                                        <p:attrNameLst>
                                          <p:attrName>style.visibility</p:attrName>
                                        </p:attrNameLst>
                                      </p:cBhvr>
                                      <p:to>
                                        <p:strVal val="hidden"/>
                                      </p:to>
                                    </p:set>
                                  </p:childTnLst>
                                </p:cTn>
                              </p:par>
                              <p:par>
                                <p:cTn id="294" presetID="0" presetClass="path" presetSubtype="0" fill="hold" nodeType="withEffect">
                                  <p:stCondLst>
                                    <p:cond delay="2902"/>
                                  </p:stCondLst>
                                  <p:childTnLst>
                                    <p:animMotion origin="layout" path="M 0 0 C 0.000000000 0.013636660 -0.016167495 0.024691358 -0.036111111 0.024691358 C -0.056054727 0.024691358 -0.072222222 0.013636660 -0.072222222 0.000000000 E" pathEditMode="relative" rAng="0">
                                      <p:cBhvr>
                                        <p:cTn id="295" dur="497" accel="20000" decel="20000" fill="hold"/>
                                        <p:tgtEl>
                                          <p:spTgt spid="14042"/>
                                        </p:tgtEl>
                                        <p:attrNameLst>
                                          <p:attrName>ppt_x</p:attrName>
                                          <p:attrName>ppt_y</p:attrName>
                                        </p:attrNameLst>
                                      </p:cBhvr>
                                      <p:rCtr x="0" y="0"/>
                                    </p:animMotion>
                                  </p:childTnLst>
                                </p:cTn>
                              </p:par>
                              <p:par>
                                <p:cTn id="296" presetID="10" presetClass="exit" presetSubtype="0" fill="hold" nodeType="withEffect">
                                  <p:stCondLst>
                                    <p:cond delay="3295"/>
                                  </p:stCondLst>
                                  <p:childTnLst>
                                    <p:animEffect transition="out" filter="fade">
                                      <p:cBhvr>
                                        <p:cTn id="297" dur="104"/>
                                        <p:tgtEl>
                                          <p:spTgt spid="14042"/>
                                        </p:tgtEl>
                                      </p:cBhvr>
                                    </p:animEffect>
                                    <p:set>
                                      <p:cBhvr>
                                        <p:cTn id="298" dur="1" fill="hold">
                                          <p:stCondLst>
                                            <p:cond delay="103"/>
                                          </p:stCondLst>
                                        </p:cTn>
                                        <p:tgtEl>
                                          <p:spTgt spid="14042"/>
                                        </p:tgtEl>
                                        <p:attrNameLst>
                                          <p:attrName>style.visibility</p:attrName>
                                        </p:attrNameLst>
                                      </p:cBhvr>
                                      <p:to>
                                        <p:strVal val="hidden"/>
                                      </p:to>
                                    </p:set>
                                  </p:childTnLst>
                                </p:cTn>
                              </p:par>
                              <p:par>
                                <p:cTn id="299" presetID="0" presetClass="path" presetSubtype="0" fill="hold" nodeType="withEffect">
                                  <p:stCondLst>
                                    <p:cond delay="2902"/>
                                  </p:stCondLst>
                                  <p:childTnLst>
                                    <p:animMotion origin="layout" path="M 0 0 C 0.000000000 -0.013636660 0.016167495 -0.024691358 0.036111111 -0.024691358 C 0.056054727 -0.024691358 0.072222222 -0.013636660 0.072222222 0.000000000 E" pathEditMode="relative" rAng="0">
                                      <p:cBhvr>
                                        <p:cTn id="300" dur="497" accel="20000" decel="20000" fill="hold"/>
                                        <p:tgtEl>
                                          <p:spTgt spid="14043"/>
                                        </p:tgtEl>
                                        <p:attrNameLst>
                                          <p:attrName>ppt_x</p:attrName>
                                          <p:attrName>ppt_y</p:attrName>
                                        </p:attrNameLst>
                                      </p:cBhvr>
                                      <p:rCtr x="0" y="0"/>
                                    </p:animMotion>
                                  </p:childTnLst>
                                </p:cTn>
                              </p:par>
                              <p:par>
                                <p:cTn id="301" presetID="10" presetClass="exit" presetSubtype="0" fill="hold" nodeType="withEffect">
                                  <p:stCondLst>
                                    <p:cond delay="3295"/>
                                  </p:stCondLst>
                                  <p:childTnLst>
                                    <p:animEffect transition="out" filter="fade">
                                      <p:cBhvr>
                                        <p:cTn id="302" dur="104"/>
                                        <p:tgtEl>
                                          <p:spTgt spid="14043"/>
                                        </p:tgtEl>
                                      </p:cBhvr>
                                    </p:animEffect>
                                    <p:set>
                                      <p:cBhvr>
                                        <p:cTn id="303" dur="1" fill="hold">
                                          <p:stCondLst>
                                            <p:cond delay="103"/>
                                          </p:stCondLst>
                                        </p:cTn>
                                        <p:tgtEl>
                                          <p:spTgt spid="14043"/>
                                        </p:tgtEl>
                                        <p:attrNameLst>
                                          <p:attrName>style.visibility</p:attrName>
                                        </p:attrNameLst>
                                      </p:cBhvr>
                                      <p:to>
                                        <p:strVal val="hidden"/>
                                      </p:to>
                                    </p:set>
                                  </p:childTnLst>
                                </p:cTn>
                              </p:par>
                              <p:par>
                                <p:cTn id="304" presetID="0" presetClass="path" presetSubtype="0" fill="hold" nodeType="withEffect">
                                  <p:stCondLst>
                                    <p:cond delay="2902"/>
                                  </p:stCondLst>
                                  <p:childTnLst>
                                    <p:animMotion origin="layout" path="M 0 0 C 0.000000000 0.013636660 -0.016167495 0.024691358 -0.036111111 0.024691358 C -0.056054727 0.024691358 -0.072222222 0.013636660 -0.072222222 0.000000000 E" pathEditMode="relative" rAng="0">
                                      <p:cBhvr>
                                        <p:cTn id="305" dur="497" accel="20000" decel="20000" fill="hold"/>
                                        <p:tgtEl>
                                          <p:spTgt spid="14044"/>
                                        </p:tgtEl>
                                        <p:attrNameLst>
                                          <p:attrName>ppt_x</p:attrName>
                                          <p:attrName>ppt_y</p:attrName>
                                        </p:attrNameLst>
                                      </p:cBhvr>
                                      <p:rCtr x="0" y="0"/>
                                    </p:animMotion>
                                  </p:childTnLst>
                                </p:cTn>
                              </p:par>
                              <p:par>
                                <p:cTn id="306" presetID="10" presetClass="exit" presetSubtype="0" fill="hold" nodeType="withEffect">
                                  <p:stCondLst>
                                    <p:cond delay="3295"/>
                                  </p:stCondLst>
                                  <p:childTnLst>
                                    <p:animEffect transition="out" filter="fade">
                                      <p:cBhvr>
                                        <p:cTn id="307" dur="104"/>
                                        <p:tgtEl>
                                          <p:spTgt spid="14044"/>
                                        </p:tgtEl>
                                      </p:cBhvr>
                                    </p:animEffect>
                                    <p:set>
                                      <p:cBhvr>
                                        <p:cTn id="308" dur="1" fill="hold">
                                          <p:stCondLst>
                                            <p:cond delay="103"/>
                                          </p:stCondLst>
                                        </p:cTn>
                                        <p:tgtEl>
                                          <p:spTgt spid="14044"/>
                                        </p:tgtEl>
                                        <p:attrNameLst>
                                          <p:attrName>style.visibility</p:attrName>
                                        </p:attrNameLst>
                                      </p:cBhvr>
                                      <p:to>
                                        <p:strVal val="hidden"/>
                                      </p:to>
                                    </p:set>
                                  </p:childTnLst>
                                </p:cTn>
                              </p:par>
                              <p:par>
                                <p:cTn id="309" presetID="10" presetClass="exit" presetSubtype="0" fill="hold" nodeType="withEffect">
                                  <p:stCondLst>
                                    <p:cond delay="3295"/>
                                  </p:stCondLst>
                                  <p:childTnLst>
                                    <p:animEffect transition="out" filter="fade">
                                      <p:cBhvr>
                                        <p:cTn id="310" dur="104"/>
                                        <p:tgtEl>
                                          <p:spTgt spid="14045"/>
                                        </p:tgtEl>
                                      </p:cBhvr>
                                    </p:animEffect>
                                    <p:set>
                                      <p:cBhvr>
                                        <p:cTn id="311" dur="1" fill="hold">
                                          <p:stCondLst>
                                            <p:cond delay="103"/>
                                          </p:stCondLst>
                                        </p:cTn>
                                        <p:tgtEl>
                                          <p:spTgt spid="14045"/>
                                        </p:tgtEl>
                                        <p:attrNameLst>
                                          <p:attrName>style.visibility</p:attrName>
                                        </p:attrNameLst>
                                      </p:cBhvr>
                                      <p:to>
                                        <p:strVal val="hidden"/>
                                      </p:to>
                                    </p:set>
                                  </p:childTnLst>
                                </p:cTn>
                              </p:par>
                              <p:par>
                                <p:cTn id="312" presetID="10" presetClass="exit" presetSubtype="0" fill="hold" nodeType="withEffect">
                                  <p:stCondLst>
                                    <p:cond delay="3295"/>
                                  </p:stCondLst>
                                  <p:childTnLst>
                                    <p:animEffect transition="out" filter="fade">
                                      <p:cBhvr>
                                        <p:cTn id="313" dur="104"/>
                                        <p:tgtEl>
                                          <p:spTgt spid="14046"/>
                                        </p:tgtEl>
                                      </p:cBhvr>
                                    </p:animEffect>
                                    <p:set>
                                      <p:cBhvr>
                                        <p:cTn id="314" dur="1" fill="hold">
                                          <p:stCondLst>
                                            <p:cond delay="103"/>
                                          </p:stCondLst>
                                        </p:cTn>
                                        <p:tgtEl>
                                          <p:spTgt spid="14046"/>
                                        </p:tgtEl>
                                        <p:attrNameLst>
                                          <p:attrName>style.visibility</p:attrName>
                                        </p:attrNameLst>
                                      </p:cBhvr>
                                      <p:to>
                                        <p:strVal val="hidden"/>
                                      </p:to>
                                    </p:set>
                                  </p:childTnLst>
                                </p:cTn>
                              </p:par>
                              <p:par>
                                <p:cTn id="315" presetID="10" presetClass="entr" presetSubtype="0" fill="hold" nodeType="withEffect">
                                  <p:stCondLst>
                                    <p:cond delay="3295"/>
                                  </p:stCondLst>
                                  <p:childTnLst>
                                    <p:animEffect transition="in" filter="fade">
                                      <p:cBhvr>
                                        <p:cTn id="316" dur="124"/>
                                        <p:tgtEl>
                                          <p:spTgt spid="14048"/>
                                        </p:tgtEl>
                                      </p:cBhvr>
                                    </p:animEffect>
                                    <p:set>
                                      <p:cBhvr>
                                        <p:cTn id="317" dur="1" fill="hold">
                                          <p:stCondLst>
                                            <p:cond delay="0"/>
                                          </p:stCondLst>
                                        </p:cTn>
                                        <p:tgtEl>
                                          <p:spTgt spid="14048"/>
                                        </p:tgtEl>
                                        <p:attrNameLst>
                                          <p:attrName>style.visibility</p:attrName>
                                        </p:attrNameLst>
                                      </p:cBhvr>
                                      <p:to>
                                        <p:strVal val="visible"/>
                                      </p:to>
                                    </p:set>
                                  </p:childTnLst>
                                </p:cTn>
                              </p:par>
                              <p:par>
                                <p:cTn id="318" presetID="10" presetClass="entr" presetSubtype="0" fill="hold" nodeType="withEffect">
                                  <p:stCondLst>
                                    <p:cond delay="3295"/>
                                  </p:stCondLst>
                                  <p:childTnLst>
                                    <p:animEffect transition="in" filter="fade">
                                      <p:cBhvr>
                                        <p:cTn id="319" dur="124"/>
                                        <p:tgtEl>
                                          <p:spTgt spid="14049"/>
                                        </p:tgtEl>
                                      </p:cBhvr>
                                    </p:animEffect>
                                    <p:set>
                                      <p:cBhvr>
                                        <p:cTn id="320" dur="1" fill="hold">
                                          <p:stCondLst>
                                            <p:cond delay="0"/>
                                          </p:stCondLst>
                                        </p:cTn>
                                        <p:tgtEl>
                                          <p:spTgt spid="14049"/>
                                        </p:tgtEl>
                                        <p:attrNameLst>
                                          <p:attrName>style.visibility</p:attrName>
                                        </p:attrNameLst>
                                      </p:cBhvr>
                                      <p:to>
                                        <p:strVal val="visible"/>
                                      </p:to>
                                    </p:set>
                                  </p:childTnLst>
                                </p:cTn>
                              </p:par>
                              <p:par>
                                <p:cTn id="321" presetID="10" presetClass="entr" presetSubtype="0" fill="hold" nodeType="withEffect">
                                  <p:stCondLst>
                                    <p:cond delay="3295"/>
                                  </p:stCondLst>
                                  <p:childTnLst>
                                    <p:animEffect transition="in" filter="fade">
                                      <p:cBhvr>
                                        <p:cTn id="322" dur="124"/>
                                        <p:tgtEl>
                                          <p:spTgt spid="14050"/>
                                        </p:tgtEl>
                                      </p:cBhvr>
                                    </p:animEffect>
                                    <p:set>
                                      <p:cBhvr>
                                        <p:cTn id="323" dur="1" fill="hold">
                                          <p:stCondLst>
                                            <p:cond delay="0"/>
                                          </p:stCondLst>
                                        </p:cTn>
                                        <p:tgtEl>
                                          <p:spTgt spid="14050"/>
                                        </p:tgtEl>
                                        <p:attrNameLst>
                                          <p:attrName>style.visibility</p:attrName>
                                        </p:attrNameLst>
                                      </p:cBhvr>
                                      <p:to>
                                        <p:strVal val="visible"/>
                                      </p:to>
                                    </p:set>
                                  </p:childTnLst>
                                </p:cTn>
                              </p:par>
                              <p:par>
                                <p:cTn id="324" presetID="10" presetClass="entr" presetSubtype="0" fill="hold" nodeType="withEffect">
                                  <p:stCondLst>
                                    <p:cond delay="3295"/>
                                  </p:stCondLst>
                                  <p:childTnLst>
                                    <p:animEffect transition="in" filter="fade">
                                      <p:cBhvr>
                                        <p:cTn id="325" dur="124"/>
                                        <p:tgtEl>
                                          <p:spTgt spid="14051"/>
                                        </p:tgtEl>
                                      </p:cBhvr>
                                    </p:animEffect>
                                    <p:set>
                                      <p:cBhvr>
                                        <p:cTn id="326" dur="1" fill="hold">
                                          <p:stCondLst>
                                            <p:cond delay="0"/>
                                          </p:stCondLst>
                                        </p:cTn>
                                        <p:tgtEl>
                                          <p:spTgt spid="14051"/>
                                        </p:tgtEl>
                                        <p:attrNameLst>
                                          <p:attrName>style.visibility</p:attrName>
                                        </p:attrNameLst>
                                      </p:cBhvr>
                                      <p:to>
                                        <p:strVal val="visible"/>
                                      </p:to>
                                    </p:set>
                                  </p:childTnLst>
                                </p:cTn>
                              </p:par>
                              <p:par>
                                <p:cTn id="327" presetID="10" presetClass="entr" presetSubtype="0" fill="hold" nodeType="withEffect">
                                  <p:stCondLst>
                                    <p:cond delay="3295"/>
                                  </p:stCondLst>
                                  <p:childTnLst>
                                    <p:animEffect transition="in" filter="fade">
                                      <p:cBhvr>
                                        <p:cTn id="328" dur="124"/>
                                        <p:tgtEl>
                                          <p:spTgt spid="14052"/>
                                        </p:tgtEl>
                                      </p:cBhvr>
                                    </p:animEffect>
                                    <p:set>
                                      <p:cBhvr>
                                        <p:cTn id="329" dur="1" fill="hold">
                                          <p:stCondLst>
                                            <p:cond delay="0"/>
                                          </p:stCondLst>
                                        </p:cTn>
                                        <p:tgtEl>
                                          <p:spTgt spid="14052"/>
                                        </p:tgtEl>
                                        <p:attrNameLst>
                                          <p:attrName>style.visibility</p:attrName>
                                        </p:attrNameLst>
                                      </p:cBhvr>
                                      <p:to>
                                        <p:strVal val="visible"/>
                                      </p:to>
                                    </p:set>
                                  </p:childTnLst>
                                </p:cTn>
                              </p:par>
                              <p:par>
                                <p:cTn id="330" presetID="10" presetClass="entr" presetSubtype="0" fill="hold" nodeType="withEffect">
                                  <p:stCondLst>
                                    <p:cond delay="3295"/>
                                  </p:stCondLst>
                                  <p:childTnLst>
                                    <p:animEffect transition="in" filter="fade">
                                      <p:cBhvr>
                                        <p:cTn id="331" dur="124"/>
                                        <p:tgtEl>
                                          <p:spTgt spid="14053"/>
                                        </p:tgtEl>
                                      </p:cBhvr>
                                    </p:animEffect>
                                    <p:set>
                                      <p:cBhvr>
                                        <p:cTn id="332" dur="1" fill="hold">
                                          <p:stCondLst>
                                            <p:cond delay="0"/>
                                          </p:stCondLst>
                                        </p:cTn>
                                        <p:tgtEl>
                                          <p:spTgt spid="14053"/>
                                        </p:tgtEl>
                                        <p:attrNameLst>
                                          <p:attrName>style.visibility</p:attrName>
                                        </p:attrNameLst>
                                      </p:cBhvr>
                                      <p:to>
                                        <p:strVal val="visible"/>
                                      </p:to>
                                    </p:set>
                                  </p:childTnLst>
                                </p:cTn>
                              </p:par>
                              <p:par>
                                <p:cTn id="333" presetID="10" presetClass="entr" presetSubtype="0" fill="hold" nodeType="withEffect">
                                  <p:stCondLst>
                                    <p:cond delay="3295"/>
                                  </p:stCondLst>
                                  <p:childTnLst>
                                    <p:animEffect transition="in" filter="fade">
                                      <p:cBhvr>
                                        <p:cTn id="334" dur="124"/>
                                        <p:tgtEl>
                                          <p:spTgt spid="14054"/>
                                        </p:tgtEl>
                                      </p:cBhvr>
                                    </p:animEffect>
                                    <p:set>
                                      <p:cBhvr>
                                        <p:cTn id="335" dur="1" fill="hold">
                                          <p:stCondLst>
                                            <p:cond delay="0"/>
                                          </p:stCondLst>
                                        </p:cTn>
                                        <p:tgtEl>
                                          <p:spTgt spid="14054"/>
                                        </p:tgtEl>
                                        <p:attrNameLst>
                                          <p:attrName>style.visibility</p:attrName>
                                        </p:attrNameLst>
                                      </p:cBhvr>
                                      <p:to>
                                        <p:strVal val="visible"/>
                                      </p:to>
                                    </p:set>
                                  </p:childTnLst>
                                </p:cTn>
                              </p:par>
                              <p:par>
                                <p:cTn id="336" presetID="10" presetClass="entr" presetSubtype="0" fill="hold" nodeType="withEffect">
                                  <p:stCondLst>
                                    <p:cond delay="3295"/>
                                  </p:stCondLst>
                                  <p:childTnLst>
                                    <p:animEffect transition="in" filter="fade">
                                      <p:cBhvr>
                                        <p:cTn id="337" dur="124"/>
                                        <p:tgtEl>
                                          <p:spTgt spid="14055"/>
                                        </p:tgtEl>
                                      </p:cBhvr>
                                    </p:animEffect>
                                    <p:set>
                                      <p:cBhvr>
                                        <p:cTn id="338" dur="1" fill="hold">
                                          <p:stCondLst>
                                            <p:cond delay="0"/>
                                          </p:stCondLst>
                                        </p:cTn>
                                        <p:tgtEl>
                                          <p:spTgt spid="14055"/>
                                        </p:tgtEl>
                                        <p:attrNameLst>
                                          <p:attrName>style.visibility</p:attrName>
                                        </p:attrNameLst>
                                      </p:cBhvr>
                                      <p:to>
                                        <p:strVal val="visible"/>
                                      </p:to>
                                    </p:set>
                                  </p:childTnLst>
                                </p:cTn>
                              </p:par>
                              <p:par>
                                <p:cTn id="339" presetID="10" presetClass="entr" presetSubtype="0" fill="hold" nodeType="withEffect">
                                  <p:stCondLst>
                                    <p:cond delay="3295"/>
                                  </p:stCondLst>
                                  <p:childTnLst>
                                    <p:animEffect transition="in" filter="fade">
                                      <p:cBhvr>
                                        <p:cTn id="340" dur="124"/>
                                        <p:tgtEl>
                                          <p:spTgt spid="14056"/>
                                        </p:tgtEl>
                                      </p:cBhvr>
                                    </p:animEffect>
                                    <p:set>
                                      <p:cBhvr>
                                        <p:cTn id="341" dur="1" fill="hold">
                                          <p:stCondLst>
                                            <p:cond delay="0"/>
                                          </p:stCondLst>
                                        </p:cTn>
                                        <p:tgtEl>
                                          <p:spTgt spid="14056"/>
                                        </p:tgtEl>
                                        <p:attrNameLst>
                                          <p:attrName>style.visibility</p:attrName>
                                        </p:attrNameLst>
                                      </p:cBhvr>
                                      <p:to>
                                        <p:strVal val="visible"/>
                                      </p:to>
                                    </p:set>
                                  </p:childTnLst>
                                </p:cTn>
                              </p:par>
                              <p:par>
                                <p:cTn id="342" presetID="10" presetClass="entr" presetSubtype="0" fill="hold" nodeType="withEffect">
                                  <p:stCondLst>
                                    <p:cond delay="3295"/>
                                  </p:stCondLst>
                                  <p:childTnLst>
                                    <p:animEffect transition="in" filter="fade">
                                      <p:cBhvr>
                                        <p:cTn id="343" dur="124"/>
                                        <p:tgtEl>
                                          <p:spTgt spid="14057"/>
                                        </p:tgtEl>
                                      </p:cBhvr>
                                    </p:animEffect>
                                    <p:set>
                                      <p:cBhvr>
                                        <p:cTn id="344" dur="1" fill="hold">
                                          <p:stCondLst>
                                            <p:cond delay="0"/>
                                          </p:stCondLst>
                                        </p:cTn>
                                        <p:tgtEl>
                                          <p:spTgt spid="14057"/>
                                        </p:tgtEl>
                                        <p:attrNameLst>
                                          <p:attrName>style.visibility</p:attrName>
                                        </p:attrNameLst>
                                      </p:cBhvr>
                                      <p:to>
                                        <p:strVal val="visible"/>
                                      </p:to>
                                    </p:set>
                                  </p:childTnLst>
                                </p:cTn>
                              </p:par>
                              <p:par>
                                <p:cTn id="345" presetID="10" presetClass="exit" presetSubtype="0" fill="hold" nodeType="withEffect">
                                  <p:stCondLst>
                                    <p:cond delay="3876"/>
                                  </p:stCondLst>
                                  <p:childTnLst>
                                    <p:animEffect transition="out" filter="fade">
                                      <p:cBhvr>
                                        <p:cTn id="346" dur="104"/>
                                        <p:tgtEl>
                                          <p:spTgt spid="14048"/>
                                        </p:tgtEl>
                                      </p:cBhvr>
                                    </p:animEffect>
                                    <p:set>
                                      <p:cBhvr>
                                        <p:cTn id="347" dur="1" fill="hold">
                                          <p:stCondLst>
                                            <p:cond delay="103"/>
                                          </p:stCondLst>
                                        </p:cTn>
                                        <p:tgtEl>
                                          <p:spTgt spid="14048"/>
                                        </p:tgtEl>
                                        <p:attrNameLst>
                                          <p:attrName>style.visibility</p:attrName>
                                        </p:attrNameLst>
                                      </p:cBhvr>
                                      <p:to>
                                        <p:strVal val="hidden"/>
                                      </p:to>
                                    </p:set>
                                  </p:childTnLst>
                                </p:cTn>
                              </p:par>
                              <p:par>
                                <p:cTn id="348" presetID="10" presetClass="exit" presetSubtype="0" fill="hold" nodeType="withEffect">
                                  <p:stCondLst>
                                    <p:cond delay="3689"/>
                                  </p:stCondLst>
                                  <p:childTnLst>
                                    <p:animEffect transition="out" filter="fade">
                                      <p:cBhvr>
                                        <p:cTn id="349" dur="104"/>
                                        <p:tgtEl>
                                          <p:spTgt spid="14049"/>
                                        </p:tgtEl>
                                      </p:cBhvr>
                                    </p:animEffect>
                                    <p:set>
                                      <p:cBhvr>
                                        <p:cTn id="350" dur="1" fill="hold">
                                          <p:stCondLst>
                                            <p:cond delay="103"/>
                                          </p:stCondLst>
                                        </p:cTn>
                                        <p:tgtEl>
                                          <p:spTgt spid="14049"/>
                                        </p:tgtEl>
                                        <p:attrNameLst>
                                          <p:attrName>style.visibility</p:attrName>
                                        </p:attrNameLst>
                                      </p:cBhvr>
                                      <p:to>
                                        <p:strVal val="hidden"/>
                                      </p:to>
                                    </p:set>
                                  </p:childTnLst>
                                </p:cTn>
                              </p:par>
                              <p:par>
                                <p:cTn id="351" presetID="10" presetClass="exit" presetSubtype="0" fill="hold" nodeType="withEffect">
                                  <p:stCondLst>
                                    <p:cond delay="3689"/>
                                  </p:stCondLst>
                                  <p:childTnLst>
                                    <p:animEffect transition="out" filter="fade">
                                      <p:cBhvr>
                                        <p:cTn id="352" dur="104"/>
                                        <p:tgtEl>
                                          <p:spTgt spid="14050"/>
                                        </p:tgtEl>
                                      </p:cBhvr>
                                    </p:animEffect>
                                    <p:set>
                                      <p:cBhvr>
                                        <p:cTn id="353" dur="1" fill="hold">
                                          <p:stCondLst>
                                            <p:cond delay="103"/>
                                          </p:stCondLst>
                                        </p:cTn>
                                        <p:tgtEl>
                                          <p:spTgt spid="14050"/>
                                        </p:tgtEl>
                                        <p:attrNameLst>
                                          <p:attrName>style.visibility</p:attrName>
                                        </p:attrNameLst>
                                      </p:cBhvr>
                                      <p:to>
                                        <p:strVal val="hidden"/>
                                      </p:to>
                                    </p:set>
                                  </p:childTnLst>
                                </p:cTn>
                              </p:par>
                              <p:par>
                                <p:cTn id="354" presetID="10" presetClass="exit" presetSubtype="0" fill="hold" nodeType="withEffect">
                                  <p:stCondLst>
                                    <p:cond delay="3689"/>
                                  </p:stCondLst>
                                  <p:childTnLst>
                                    <p:animEffect transition="out" filter="fade">
                                      <p:cBhvr>
                                        <p:cTn id="355" dur="104"/>
                                        <p:tgtEl>
                                          <p:spTgt spid="14051"/>
                                        </p:tgtEl>
                                      </p:cBhvr>
                                    </p:animEffect>
                                    <p:set>
                                      <p:cBhvr>
                                        <p:cTn id="356" dur="1" fill="hold">
                                          <p:stCondLst>
                                            <p:cond delay="103"/>
                                          </p:stCondLst>
                                        </p:cTn>
                                        <p:tgtEl>
                                          <p:spTgt spid="14051"/>
                                        </p:tgtEl>
                                        <p:attrNameLst>
                                          <p:attrName>style.visibility</p:attrName>
                                        </p:attrNameLst>
                                      </p:cBhvr>
                                      <p:to>
                                        <p:strVal val="hidden"/>
                                      </p:to>
                                    </p:set>
                                  </p:childTnLst>
                                </p:cTn>
                              </p:par>
                              <p:par>
                                <p:cTn id="357" presetID="10" presetClass="exit" presetSubtype="0" fill="hold" nodeType="withEffect">
                                  <p:stCondLst>
                                    <p:cond delay="3876"/>
                                  </p:stCondLst>
                                  <p:childTnLst>
                                    <p:animEffect transition="out" filter="fade">
                                      <p:cBhvr>
                                        <p:cTn id="358" dur="104"/>
                                        <p:tgtEl>
                                          <p:spTgt spid="14052"/>
                                        </p:tgtEl>
                                      </p:cBhvr>
                                    </p:animEffect>
                                    <p:set>
                                      <p:cBhvr>
                                        <p:cTn id="359" dur="1" fill="hold">
                                          <p:stCondLst>
                                            <p:cond delay="103"/>
                                          </p:stCondLst>
                                        </p:cTn>
                                        <p:tgtEl>
                                          <p:spTgt spid="14052"/>
                                        </p:tgtEl>
                                        <p:attrNameLst>
                                          <p:attrName>style.visibility</p:attrName>
                                        </p:attrNameLst>
                                      </p:cBhvr>
                                      <p:to>
                                        <p:strVal val="hidden"/>
                                      </p:to>
                                    </p:set>
                                  </p:childTnLst>
                                </p:cTn>
                              </p:par>
                              <p:par>
                                <p:cTn id="360" presetID="10" presetClass="exit" presetSubtype="0" fill="hold" nodeType="withEffect">
                                  <p:stCondLst>
                                    <p:cond delay="3876"/>
                                  </p:stCondLst>
                                  <p:childTnLst>
                                    <p:animEffect transition="out" filter="fade">
                                      <p:cBhvr>
                                        <p:cTn id="361" dur="104"/>
                                        <p:tgtEl>
                                          <p:spTgt spid="14053"/>
                                        </p:tgtEl>
                                      </p:cBhvr>
                                    </p:animEffect>
                                    <p:set>
                                      <p:cBhvr>
                                        <p:cTn id="362" dur="1" fill="hold">
                                          <p:stCondLst>
                                            <p:cond delay="103"/>
                                          </p:stCondLst>
                                        </p:cTn>
                                        <p:tgtEl>
                                          <p:spTgt spid="14053"/>
                                        </p:tgtEl>
                                        <p:attrNameLst>
                                          <p:attrName>style.visibility</p:attrName>
                                        </p:attrNameLst>
                                      </p:cBhvr>
                                      <p:to>
                                        <p:strVal val="hidden"/>
                                      </p:to>
                                    </p:set>
                                  </p:childTnLst>
                                </p:cTn>
                              </p:par>
                              <p:par>
                                <p:cTn id="363" presetID="10" presetClass="exit" presetSubtype="0" fill="hold" nodeType="withEffect">
                                  <p:stCondLst>
                                    <p:cond delay="3876"/>
                                  </p:stCondLst>
                                  <p:childTnLst>
                                    <p:animEffect transition="out" filter="fade">
                                      <p:cBhvr>
                                        <p:cTn id="364" dur="104"/>
                                        <p:tgtEl>
                                          <p:spTgt spid="14054"/>
                                        </p:tgtEl>
                                      </p:cBhvr>
                                    </p:animEffect>
                                    <p:set>
                                      <p:cBhvr>
                                        <p:cTn id="365" dur="1" fill="hold">
                                          <p:stCondLst>
                                            <p:cond delay="103"/>
                                          </p:stCondLst>
                                        </p:cTn>
                                        <p:tgtEl>
                                          <p:spTgt spid="14054"/>
                                        </p:tgtEl>
                                        <p:attrNameLst>
                                          <p:attrName>style.visibility</p:attrName>
                                        </p:attrNameLst>
                                      </p:cBhvr>
                                      <p:to>
                                        <p:strVal val="hidden"/>
                                      </p:to>
                                    </p:set>
                                  </p:childTnLst>
                                </p:cTn>
                              </p:par>
                              <p:par>
                                <p:cTn id="366" presetID="10" presetClass="exit" presetSubtype="0" fill="hold" nodeType="withEffect">
                                  <p:stCondLst>
                                    <p:cond delay="3876"/>
                                  </p:stCondLst>
                                  <p:childTnLst>
                                    <p:animEffect transition="out" filter="fade">
                                      <p:cBhvr>
                                        <p:cTn id="367" dur="104"/>
                                        <p:tgtEl>
                                          <p:spTgt spid="14055"/>
                                        </p:tgtEl>
                                      </p:cBhvr>
                                    </p:animEffect>
                                    <p:set>
                                      <p:cBhvr>
                                        <p:cTn id="368" dur="1" fill="hold">
                                          <p:stCondLst>
                                            <p:cond delay="103"/>
                                          </p:stCondLst>
                                        </p:cTn>
                                        <p:tgtEl>
                                          <p:spTgt spid="14055"/>
                                        </p:tgtEl>
                                        <p:attrNameLst>
                                          <p:attrName>style.visibility</p:attrName>
                                        </p:attrNameLst>
                                      </p:cBhvr>
                                      <p:to>
                                        <p:strVal val="hidden"/>
                                      </p:to>
                                    </p:set>
                                  </p:childTnLst>
                                </p:cTn>
                              </p:par>
                              <p:par>
                                <p:cTn id="369" presetID="10" presetClass="exit" presetSubtype="0" fill="hold" nodeType="withEffect">
                                  <p:stCondLst>
                                    <p:cond delay="3876"/>
                                  </p:stCondLst>
                                  <p:childTnLst>
                                    <p:animEffect transition="out" filter="fade">
                                      <p:cBhvr>
                                        <p:cTn id="370" dur="104"/>
                                        <p:tgtEl>
                                          <p:spTgt spid="14056"/>
                                        </p:tgtEl>
                                      </p:cBhvr>
                                    </p:animEffect>
                                    <p:set>
                                      <p:cBhvr>
                                        <p:cTn id="371" dur="1" fill="hold">
                                          <p:stCondLst>
                                            <p:cond delay="103"/>
                                          </p:stCondLst>
                                        </p:cTn>
                                        <p:tgtEl>
                                          <p:spTgt spid="14056"/>
                                        </p:tgtEl>
                                        <p:attrNameLst>
                                          <p:attrName>style.visibility</p:attrName>
                                        </p:attrNameLst>
                                      </p:cBhvr>
                                      <p:to>
                                        <p:strVal val="hidden"/>
                                      </p:to>
                                    </p:set>
                                  </p:childTnLst>
                                </p:cTn>
                              </p:par>
                              <p:par>
                                <p:cTn id="372" presetID="10" presetClass="exit" presetSubtype="0" fill="hold" nodeType="withEffect">
                                  <p:stCondLst>
                                    <p:cond delay="3876"/>
                                  </p:stCondLst>
                                  <p:childTnLst>
                                    <p:animEffect transition="out" filter="fade">
                                      <p:cBhvr>
                                        <p:cTn id="373" dur="104"/>
                                        <p:tgtEl>
                                          <p:spTgt spid="14057"/>
                                        </p:tgtEl>
                                      </p:cBhvr>
                                    </p:animEffect>
                                    <p:set>
                                      <p:cBhvr>
                                        <p:cTn id="374" dur="1" fill="hold">
                                          <p:stCondLst>
                                            <p:cond delay="103"/>
                                          </p:stCondLst>
                                        </p:cTn>
                                        <p:tgtEl>
                                          <p:spTgt spid="14057"/>
                                        </p:tgtEl>
                                        <p:attrNameLst>
                                          <p:attrName>style.visibility</p:attrName>
                                        </p:attrNameLst>
                                      </p:cBhvr>
                                      <p:to>
                                        <p:strVal val="hidden"/>
                                      </p:to>
                                    </p:set>
                                  </p:childTnLst>
                                </p:cTn>
                              </p:par>
                              <p:par>
                                <p:cTn id="375" presetID="10" presetClass="entr" presetSubtype="0" fill="hold" nodeType="withEffect">
                                  <p:stCondLst>
                                    <p:cond delay="3876"/>
                                  </p:stCondLst>
                                  <p:childTnLst>
                                    <p:animEffect transition="in" filter="fade">
                                      <p:cBhvr>
                                        <p:cTn id="376" dur="124"/>
                                        <p:tgtEl>
                                          <p:spTgt spid="14059"/>
                                        </p:tgtEl>
                                      </p:cBhvr>
                                    </p:animEffect>
                                    <p:set>
                                      <p:cBhvr>
                                        <p:cTn id="377" dur="1" fill="hold">
                                          <p:stCondLst>
                                            <p:cond delay="0"/>
                                          </p:stCondLst>
                                        </p:cTn>
                                        <p:tgtEl>
                                          <p:spTgt spid="14059"/>
                                        </p:tgtEl>
                                        <p:attrNameLst>
                                          <p:attrName>style.visibility</p:attrName>
                                        </p:attrNameLst>
                                      </p:cBhvr>
                                      <p:to>
                                        <p:strVal val="visible"/>
                                      </p:to>
                                    </p:set>
                                  </p:childTnLst>
                                </p:cTn>
                              </p:par>
                              <p:par>
                                <p:cTn id="378" presetID="10" presetClass="entr" presetSubtype="0" fill="hold" nodeType="withEffect">
                                  <p:stCondLst>
                                    <p:cond delay="3876"/>
                                  </p:stCondLst>
                                  <p:childTnLst>
                                    <p:animEffect transition="in" filter="fade">
                                      <p:cBhvr>
                                        <p:cTn id="379" dur="124"/>
                                        <p:tgtEl>
                                          <p:spTgt spid="14060"/>
                                        </p:tgtEl>
                                      </p:cBhvr>
                                    </p:animEffect>
                                    <p:set>
                                      <p:cBhvr>
                                        <p:cTn id="380" dur="1" fill="hold">
                                          <p:stCondLst>
                                            <p:cond delay="0"/>
                                          </p:stCondLst>
                                        </p:cTn>
                                        <p:tgtEl>
                                          <p:spTgt spid="14060"/>
                                        </p:tgtEl>
                                        <p:attrNameLst>
                                          <p:attrName>style.visibility</p:attrName>
                                        </p:attrNameLst>
                                      </p:cBhvr>
                                      <p:to>
                                        <p:strVal val="visible"/>
                                      </p:to>
                                    </p:set>
                                  </p:childTnLst>
                                </p:cTn>
                              </p:par>
                              <p:par>
                                <p:cTn id="381" presetID="10" presetClass="entr" presetSubtype="0" fill="hold" nodeType="withEffect">
                                  <p:stCondLst>
                                    <p:cond delay="3876"/>
                                  </p:stCondLst>
                                  <p:childTnLst>
                                    <p:animEffect transition="in" filter="fade">
                                      <p:cBhvr>
                                        <p:cTn id="382" dur="124"/>
                                        <p:tgtEl>
                                          <p:spTgt spid="14061"/>
                                        </p:tgtEl>
                                      </p:cBhvr>
                                    </p:animEffect>
                                    <p:set>
                                      <p:cBhvr>
                                        <p:cTn id="383" dur="1" fill="hold">
                                          <p:stCondLst>
                                            <p:cond delay="0"/>
                                          </p:stCondLst>
                                        </p:cTn>
                                        <p:tgtEl>
                                          <p:spTgt spid="14061"/>
                                        </p:tgtEl>
                                        <p:attrNameLst>
                                          <p:attrName>style.visibility</p:attrName>
                                        </p:attrNameLst>
                                      </p:cBhvr>
                                      <p:to>
                                        <p:strVal val="visible"/>
                                      </p:to>
                                    </p:set>
                                  </p:childTnLst>
                                </p:cTn>
                              </p:par>
                              <p:par>
                                <p:cTn id="384" presetID="10" presetClass="entr" presetSubtype="0" fill="hold" nodeType="withEffect">
                                  <p:stCondLst>
                                    <p:cond delay="3876"/>
                                  </p:stCondLst>
                                  <p:childTnLst>
                                    <p:animEffect transition="in" filter="fade">
                                      <p:cBhvr>
                                        <p:cTn id="385" dur="124"/>
                                        <p:tgtEl>
                                          <p:spTgt spid="14062"/>
                                        </p:tgtEl>
                                      </p:cBhvr>
                                    </p:animEffect>
                                    <p:set>
                                      <p:cBhvr>
                                        <p:cTn id="386" dur="1" fill="hold">
                                          <p:stCondLst>
                                            <p:cond delay="0"/>
                                          </p:stCondLst>
                                        </p:cTn>
                                        <p:tgtEl>
                                          <p:spTgt spid="14062"/>
                                        </p:tgtEl>
                                        <p:attrNameLst>
                                          <p:attrName>style.visibility</p:attrName>
                                        </p:attrNameLst>
                                      </p:cBhvr>
                                      <p:to>
                                        <p:strVal val="visible"/>
                                      </p:to>
                                    </p:set>
                                  </p:childTnLst>
                                </p:cTn>
                              </p:par>
                              <p:par>
                                <p:cTn id="387" presetID="10" presetClass="entr" presetSubtype="0" fill="hold" nodeType="withEffect">
                                  <p:stCondLst>
                                    <p:cond delay="3876"/>
                                  </p:stCondLst>
                                  <p:childTnLst>
                                    <p:animEffect transition="in" filter="fade">
                                      <p:cBhvr>
                                        <p:cTn id="388" dur="124"/>
                                        <p:tgtEl>
                                          <p:spTgt spid="14063"/>
                                        </p:tgtEl>
                                      </p:cBhvr>
                                    </p:animEffect>
                                    <p:set>
                                      <p:cBhvr>
                                        <p:cTn id="389" dur="1" fill="hold">
                                          <p:stCondLst>
                                            <p:cond delay="0"/>
                                          </p:stCondLst>
                                        </p:cTn>
                                        <p:tgtEl>
                                          <p:spTgt spid="14063"/>
                                        </p:tgtEl>
                                        <p:attrNameLst>
                                          <p:attrName>style.visibility</p:attrName>
                                        </p:attrNameLst>
                                      </p:cBhvr>
                                      <p:to>
                                        <p:strVal val="visible"/>
                                      </p:to>
                                    </p:set>
                                  </p:childTnLst>
                                </p:cTn>
                              </p:par>
                              <p:par>
                                <p:cTn id="390" presetID="10" presetClass="entr" presetSubtype="0" fill="hold" nodeType="withEffect">
                                  <p:stCondLst>
                                    <p:cond delay="3876"/>
                                  </p:stCondLst>
                                  <p:childTnLst>
                                    <p:animEffect transition="in" filter="fade">
                                      <p:cBhvr>
                                        <p:cTn id="391" dur="124"/>
                                        <p:tgtEl>
                                          <p:spTgt spid="14064"/>
                                        </p:tgtEl>
                                      </p:cBhvr>
                                    </p:animEffect>
                                    <p:set>
                                      <p:cBhvr>
                                        <p:cTn id="392" dur="1" fill="hold">
                                          <p:stCondLst>
                                            <p:cond delay="0"/>
                                          </p:stCondLst>
                                        </p:cTn>
                                        <p:tgtEl>
                                          <p:spTgt spid="14064"/>
                                        </p:tgtEl>
                                        <p:attrNameLst>
                                          <p:attrName>style.visibility</p:attrName>
                                        </p:attrNameLst>
                                      </p:cBhvr>
                                      <p:to>
                                        <p:strVal val="visible"/>
                                      </p:to>
                                    </p:set>
                                  </p:childTnLst>
                                </p:cTn>
                              </p:par>
                              <p:par>
                                <p:cTn id="393" presetID="10" presetClass="entr" presetSubtype="0" fill="hold" nodeType="withEffect">
                                  <p:stCondLst>
                                    <p:cond delay="3876"/>
                                  </p:stCondLst>
                                  <p:childTnLst>
                                    <p:animEffect transition="in" filter="fade">
                                      <p:cBhvr>
                                        <p:cTn id="394" dur="124"/>
                                        <p:tgtEl>
                                          <p:spTgt spid="14065"/>
                                        </p:tgtEl>
                                      </p:cBhvr>
                                    </p:animEffect>
                                    <p:set>
                                      <p:cBhvr>
                                        <p:cTn id="395" dur="1" fill="hold">
                                          <p:stCondLst>
                                            <p:cond delay="0"/>
                                          </p:stCondLst>
                                        </p:cTn>
                                        <p:tgtEl>
                                          <p:spTgt spid="14065"/>
                                        </p:tgtEl>
                                        <p:attrNameLst>
                                          <p:attrName>style.visibility</p:attrName>
                                        </p:attrNameLst>
                                      </p:cBhvr>
                                      <p:to>
                                        <p:strVal val="visible"/>
                                      </p:to>
                                    </p:set>
                                  </p:childTnLst>
                                </p:cTn>
                              </p:par>
                              <p:par>
                                <p:cTn id="396" presetID="10" presetClass="entr" presetSubtype="0" fill="hold" nodeType="withEffect">
                                  <p:stCondLst>
                                    <p:cond delay="3876"/>
                                  </p:stCondLst>
                                  <p:childTnLst>
                                    <p:animEffect transition="in" filter="fade">
                                      <p:cBhvr>
                                        <p:cTn id="397" dur="124"/>
                                        <p:tgtEl>
                                          <p:spTgt spid="14066"/>
                                        </p:tgtEl>
                                      </p:cBhvr>
                                    </p:animEffect>
                                    <p:set>
                                      <p:cBhvr>
                                        <p:cTn id="398" dur="1" fill="hold">
                                          <p:stCondLst>
                                            <p:cond delay="0"/>
                                          </p:stCondLst>
                                        </p:cTn>
                                        <p:tgtEl>
                                          <p:spTgt spid="140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05" grpId="0"/>
      <p:bldP spid="11005" grpId="1"/>
      <p:bldP spid="11006" grpId="0"/>
      <p:bldP spid="11006" grpId="1"/>
      <p:bldP spid="11009" grpId="0"/>
    </p:bldLst>
  </p:timing>
</p:sld>
</file>

<file path=ppt/slides/slide4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37</a:t>
            </a:r>
            <a:endParaRPr lang="en-GB" sz="8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4"/>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Feedback stabilization</a:t>
            </a:r>
            <a:endParaRPr lang="en-NL" sz="2500" b="1" u="none" cap="none" dirty="0">
              <a:solidFill>
                <a:srgbClr val="252529"/>
              </a:solidFill>
              <a:latin typeface="Aptos"/>
              <a:ea typeface="Aptos"/>
              <a:cs typeface="Aptos"/>
            </a:endParaRPr>
          </a:p>
        </p:txBody>
      </p:sp>
      <p:pic>
        <p:nvPicPr>
          <p:cNvPr id="3" name="Simulation - controlled">
            <a:hlinkClick r:id="" action="ppaction://media"/>
            <a:extLst>
              <a:ext uri="{FF2B5EF4-FFF2-40B4-BE49-F238E27FC236}">
                <a16:creationId xmlns:a16="http://schemas.microsoft.com/office/drawing/2014/main" id="{DC51E85E-694E-FA27-A955-B46E0BE28BB9}"/>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7" name="Editable video label: u: control"/>
          <p:cNvSpPr/>
          <p:nvPr/>
        </p:nvSpPr>
        <p:spPr>
          <a:xfrm>
            <a:off x="1686917" y="3477967"/>
            <a:ext cx="617022" cy="222028"/>
          </a:xfrm>
          <a:prstGeom prst="rect">
            <a:avLst/>
          </a:prstGeom>
          <a:noFill/>
          <a:ln>
            <a:noFill/>
          </a:ln>
        </p:spPr>
        <p:txBody>
          <a:bodyPr wrap="none" lIns="0" tIns="0" rIns="0" bIns="0" anchor="ctr">
            <a:noAutofit/>
          </a:bodyPr>
          <a:lstStyle/>
          <a:p>
            <a:pPr algn="ctr">
              <a:buNone/>
            </a:pPr>
            <a:r>
              <a:rPr lang="en-GB" sz="971" b="0" i="0" u="none" baseline="0" dirty="0">
                <a:solidFill>
                  <a:srgbClr val="7461A5"/>
                </a:solidFill>
                <a:latin typeface="Arial"/>
                <a:ea typeface="Arial"/>
                <a:cs typeface="Arial"/>
              </a:rPr>
              <a:t>u: control</a:t>
            </a:r>
            <a:endParaRPr sz="971" dirty="0"/>
          </a:p>
        </p:txBody>
      </p:sp>
      <p:sp>
        <p:nvSpPr>
          <p:cNvPr id="1009" name="Editable video label: Deviation (spikes/s)"/>
          <p:cNvSpPr/>
          <p:nvPr/>
        </p:nvSpPr>
        <p:spPr>
          <a:xfrm>
            <a:off x="5034955" y="119161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0" name="Editable video label: -20"/>
          <p:cNvSpPr/>
          <p:nvPr/>
        </p:nvSpPr>
        <p:spPr>
          <a:xfrm>
            <a:off x="4814689" y="2031093"/>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1" name="Editable video label: 0"/>
          <p:cNvSpPr/>
          <p:nvPr/>
        </p:nvSpPr>
        <p:spPr>
          <a:xfrm>
            <a:off x="4907201" y="1915877"/>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2" name="Editable video label: 50"/>
          <p:cNvSpPr/>
          <p:nvPr/>
        </p:nvSpPr>
        <p:spPr>
          <a:xfrm>
            <a:off x="4849932" y="162783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3" name="Editable video label: 100"/>
          <p:cNvSpPr/>
          <p:nvPr/>
        </p:nvSpPr>
        <p:spPr>
          <a:xfrm>
            <a:off x="4792662" y="133979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4" name="Editable video label: Dashed: controller off"/>
          <p:cNvSpPr/>
          <p:nvPr/>
        </p:nvSpPr>
        <p:spPr>
          <a:xfrm>
            <a:off x="5056981" y="2192057"/>
            <a:ext cx="110160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Dashed: controller off</a:t>
            </a:r>
            <a:endParaRPr sz="832"/>
          </a:p>
        </p:txBody>
      </p:sp>
      <p:sp>
        <p:nvSpPr>
          <p:cNvPr id="1015" name="Editable video label: Controlled response (zoom)"/>
          <p:cNvSpPr/>
          <p:nvPr/>
        </p:nvSpPr>
        <p:spPr>
          <a:xfrm>
            <a:off x="5034955" y="2407476"/>
            <a:ext cx="163905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Controlled response (zoom)</a:t>
            </a:r>
            <a:endParaRPr sz="971"/>
          </a:p>
        </p:txBody>
      </p:sp>
      <p:sp>
        <p:nvSpPr>
          <p:cNvPr id="1016" name="Editable video label: -4"/>
          <p:cNvSpPr/>
          <p:nvPr/>
        </p:nvSpPr>
        <p:spPr>
          <a:xfrm>
            <a:off x="4871958" y="319206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a:t>
            </a:r>
            <a:endParaRPr sz="832"/>
          </a:p>
        </p:txBody>
      </p:sp>
      <p:sp>
        <p:nvSpPr>
          <p:cNvPr id="1017" name="Editable video label: -2"/>
          <p:cNvSpPr/>
          <p:nvPr/>
        </p:nvSpPr>
        <p:spPr>
          <a:xfrm>
            <a:off x="4871958" y="292598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a:t>
            </a:r>
            <a:endParaRPr sz="832"/>
          </a:p>
        </p:txBody>
      </p:sp>
      <p:sp>
        <p:nvSpPr>
          <p:cNvPr id="1018" name="Editable video label: 0"/>
          <p:cNvSpPr/>
          <p:nvPr/>
        </p:nvSpPr>
        <p:spPr>
          <a:xfrm>
            <a:off x="4907201" y="2659901"/>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9" name="Editable video label: Inputs (spikes/s)"/>
          <p:cNvSpPr/>
          <p:nvPr/>
        </p:nvSpPr>
        <p:spPr>
          <a:xfrm>
            <a:off x="5034955" y="3469157"/>
            <a:ext cx="100909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Inputs (spikes/s)</a:t>
            </a:r>
            <a:endParaRPr sz="971"/>
          </a:p>
        </p:txBody>
      </p:sp>
      <p:sp>
        <p:nvSpPr>
          <p:cNvPr id="1020" name="Editable video label: -20"/>
          <p:cNvSpPr/>
          <p:nvPr/>
        </p:nvSpPr>
        <p:spPr>
          <a:xfrm>
            <a:off x="4814689" y="3969989"/>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21" name="Editable video label: 0"/>
          <p:cNvSpPr/>
          <p:nvPr/>
        </p:nvSpPr>
        <p:spPr>
          <a:xfrm>
            <a:off x="4907201" y="3731584"/>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22" name="Editable video label: 10"/>
          <p:cNvSpPr/>
          <p:nvPr/>
        </p:nvSpPr>
        <p:spPr>
          <a:xfrm>
            <a:off x="4849932" y="3612381"/>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a:t>
            </a:r>
            <a:endParaRPr sz="832"/>
          </a:p>
        </p:txBody>
      </p:sp>
      <p:sp>
        <p:nvSpPr>
          <p:cNvPr id="1023" name="Editable video label: 0.0"/>
          <p:cNvSpPr/>
          <p:nvPr/>
        </p:nvSpPr>
        <p:spPr>
          <a:xfrm>
            <a:off x="4960064"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24" name="Editable video label: 0.1"/>
          <p:cNvSpPr/>
          <p:nvPr/>
        </p:nvSpPr>
        <p:spPr>
          <a:xfrm>
            <a:off x="566932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25" name="Editable video label: 0.2"/>
          <p:cNvSpPr/>
          <p:nvPr/>
        </p:nvSpPr>
        <p:spPr>
          <a:xfrm>
            <a:off x="6378575"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26" name="Editable video label: 0.3"/>
          <p:cNvSpPr/>
          <p:nvPr/>
        </p:nvSpPr>
        <p:spPr>
          <a:xfrm>
            <a:off x="708783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27" name="Editable video label: 0.4"/>
          <p:cNvSpPr/>
          <p:nvPr/>
        </p:nvSpPr>
        <p:spPr>
          <a:xfrm>
            <a:off x="7797086"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8" name="Editable video label: 0.5"/>
          <p:cNvSpPr/>
          <p:nvPr/>
        </p:nvSpPr>
        <p:spPr>
          <a:xfrm>
            <a:off x="8506341"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0.5</a:t>
            </a:r>
            <a:endParaRPr sz="832"/>
          </a:p>
        </p:txBody>
      </p:sp>
      <p:sp>
        <p:nvSpPr>
          <p:cNvPr id="1029" name="Editable video label: Time (s)"/>
          <p:cNvSpPr/>
          <p:nvPr/>
        </p:nvSpPr>
        <p:spPr>
          <a:xfrm>
            <a:off x="8193564" y="4220703"/>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30" name="Editable video label: STN"/>
          <p:cNvSpPr/>
          <p:nvPr/>
        </p:nvSpPr>
        <p:spPr>
          <a:xfrm>
            <a:off x="7343338"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31" name="Editable video label: GPe"/>
          <p:cNvSpPr/>
          <p:nvPr/>
        </p:nvSpPr>
        <p:spPr>
          <a:xfrm>
            <a:off x="8004135"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p:sp>
        <p:nvSpPr>
          <p:cNvPr id="2000" name="Controller K block">
            <a:extLst>
              <a:ext uri="{FF2B5EF4-FFF2-40B4-BE49-F238E27FC236}">
                <a16:creationId xmlns:a16="http://schemas.microsoft.com/office/drawing/2014/main" id="{CD3A7FE7-7302-9423-B899-F1B2A182B64B}"/>
              </a:ext>
            </a:extLst>
          </p:cNvPr>
          <p:cNvSpPr/>
          <p:nvPr/>
        </p:nvSpPr>
        <p:spPr>
          <a:xfrm>
            <a:off x="4402931" y="1425973"/>
            <a:ext cx="352425" cy="352425"/>
          </a:xfrm>
          <a:prstGeom prst="roundRect">
            <a:avLst>
              <a:gd name="adj" fmla="val 5000"/>
            </a:avLst>
          </a:prstGeom>
          <a:solidFill>
            <a:srgbClr val="FFFFFF"/>
          </a:solidFill>
          <a:ln w="10795">
            <a:solidFill>
              <a:schemeClr val="tx1"/>
            </a:solidFill>
          </a:ln>
        </p:spPr>
        <p:txBody>
          <a:bodyPr/>
          <a:lstStyle/>
          <a:p>
            <a:endParaRPr lang="en-NL"/>
          </a:p>
        </p:txBody>
      </p:sp>
      <mc:AlternateContent xmlns:mc="http://schemas.openxmlformats.org/markup-compatibility/2006" xmlns:a14="http://schemas.microsoft.com/office/drawing/2010/main">
        <mc:Choice Requires="a14">
          <p:sp>
            <p:nvSpPr>
              <p:cNvPr id="2002" name="Controller K"/>
              <p:cNvSpPr/>
              <p:nvPr/>
            </p:nvSpPr>
            <p:spPr>
              <a:xfrm>
                <a:off x="4424958" y="1221566"/>
                <a:ext cx="308372" cy="76123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65">
                          <a:solidFill>
                            <a:srgbClr val="333333"/>
                          </a:solidFill>
                          <a:latin typeface="Cambria Math"/>
                        </a:rPr>
                        <m:t>𝐾</m:t>
                      </m:r>
                    </m:oMath>
                  </m:oMathPara>
                </a14:m>
                <a:endParaRPr sz="1665" dirty="0"/>
              </a:p>
            </p:txBody>
          </p:sp>
        </mc:Choice>
        <mc:Fallback xmlns="" xmlns:m="http://schemas.openxmlformats.org/officeDocument/2006/math">
          <p:sp>
            <p:nvSpPr>
              <p:cNvPr id="2002" name="Controller K"/>
              <p:cNvSpPr>
                <a:spLocks noRot="1" noChangeAspect="1" noMove="1" noResize="1" noEditPoints="1" noAdjustHandles="1" noChangeArrowheads="1" noChangeShapeType="1" noTextEdit="1"/>
              </p:cNvSpPr>
              <p:nvPr/>
            </p:nvSpPr>
            <p:spPr>
              <a:xfrm>
                <a:off x="4424958" y="1221566"/>
                <a:ext cx="308372" cy="761238"/>
              </a:xfrm>
              <a:prstGeom prst="rect">
                <a:avLst/>
              </a:prstGeom>
              <a:blipFill>
                <a:blip r:embed="rId6"/>
                <a:stretch>
                  <a:fillRect l="-6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Controlled response description"/>
          <p:cNvSpPr/>
          <p:nvPr/>
        </p:nvSpPr>
        <p:spPr>
          <a:xfrm>
            <a:off x="645120" y="3969862"/>
            <a:ext cx="3683000" cy="251460"/>
          </a:xfrm>
          <a:prstGeom prst="rect">
            <a:avLst/>
          </a:prstGeom>
          <a:noFill/>
          <a:ln>
            <a:noFill/>
          </a:ln>
        </p:spPr>
        <p:txBody>
          <a:bodyPr wrap="none" lIns="0" tIns="0" rIns="0" bIns="0" anchor="ctr">
            <a:noAutofit/>
          </a:bodyPr>
          <a:lstStyle/>
          <a:p>
            <a:pPr algn="ctr">
              <a:buNone/>
            </a:pPr>
            <a:r>
              <a:rPr lang="en-GB" sz="1100" b="0" i="0" u="none" baseline="0">
                <a:solidFill>
                  <a:srgbClr val="252529"/>
                </a:solidFill>
                <a:latin typeface="Arial"/>
                <a:ea typeface="Arial"/>
                <a:cs typeface="Arial"/>
              </a:rPr>
              <a:t>Pulse rejected; equilibrium restored.</a:t>
            </a:r>
            <a:endParaRPr sz="1100"/>
          </a:p>
        </p:txBody>
      </p:sp>
      <mc:AlternateContent xmlns:mc="http://schemas.openxmlformats.org/markup-compatibility/2006" xmlns:a14="http://schemas.microsoft.com/office/drawing/2010/main">
        <mc:Choice Requires="a14">
          <p:sp>
            <p:nvSpPr>
              <p:cNvPr id="1005" name="External pulse G"/>
              <p:cNvSpPr/>
              <p:nvPr/>
            </p:nvSpPr>
            <p:spPr>
              <a:xfrm>
                <a:off x="258625" y="1940537"/>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oMath>
                  </m:oMathPara>
                </a14:m>
                <a:endParaRPr sz="1000"/>
              </a:p>
            </p:txBody>
          </p:sp>
        </mc:Choice>
        <mc:Fallback xmlns="">
          <p:sp>
            <p:nvSpPr>
              <p:cNvPr id="1005" name="External pulse G"/>
              <p:cNvSpPr>
                <a:spLocks noRot="1" noChangeAspect="1" noMove="1" noResize="1" noEditPoints="1" noAdjustHandles="1" noChangeArrowheads="1" noChangeShapeType="1" noTextEdit="1"/>
              </p:cNvSpPr>
              <p:nvPr/>
            </p:nvSpPr>
            <p:spPr>
              <a:xfrm>
                <a:off x="258625" y="1940537"/>
                <a:ext cx="508000" cy="3048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External pulse S"/>
              <p:cNvSpPr/>
              <p:nvPr/>
            </p:nvSpPr>
            <p:spPr>
              <a:xfrm>
                <a:off x="4027786" y="2040098"/>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oMath>
                  </m:oMathPara>
                </a14:m>
                <a:endParaRPr sz="1000"/>
              </a:p>
            </p:txBody>
          </p:sp>
        </mc:Choice>
        <mc:Fallback xmlns="">
          <p:sp>
            <p:nvSpPr>
              <p:cNvPr id="1006" name="External pulse S"/>
              <p:cNvSpPr>
                <a:spLocks noRot="1" noChangeAspect="1" noMove="1" noResize="1" noEditPoints="1" noAdjustHandles="1" noChangeArrowheads="1" noChangeShapeType="1" noTextEdit="1"/>
              </p:cNvSpPr>
              <p:nvPr/>
            </p:nvSpPr>
            <p:spPr>
              <a:xfrm>
                <a:off x="4027786" y="2040098"/>
                <a:ext cx="508000" cy="30480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8" name="External pulse legend"/>
              <p:cNvSpPr/>
              <p:nvPr/>
            </p:nvSpPr>
            <p:spPr>
              <a:xfrm>
                <a:off x="1279366" y="3648036"/>
                <a:ext cx="2159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r>
                        <a:rPr sz="1000">
                          <a:solidFill>
                            <a:srgbClr val="D68B22"/>
                          </a:solidFill>
                          <a:latin typeface="Cambria Math"/>
                        </a:rPr>
                        <m:t>, </m:t>
                      </m:r>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r>
                        <a:rPr sz="1000">
                          <a:solidFill>
                            <a:srgbClr val="D68B22"/>
                          </a:solidFill>
                          <a:latin typeface="Cambria Math"/>
                        </a:rPr>
                        <m:t>: </m:t>
                      </m:r>
                      <m:r>
                        <m:rPr>
                          <m:sty m:val="p"/>
                        </m:rPr>
                        <a:rPr sz="1000">
                          <a:solidFill>
                            <a:srgbClr val="D68B22"/>
                          </a:solidFill>
                          <a:latin typeface="Cambria Math"/>
                        </a:rPr>
                        <m:t>external</m:t>
                      </m:r>
                      <m:r>
                        <a:rPr sz="1000">
                          <a:solidFill>
                            <a:srgbClr val="D68B22"/>
                          </a:solidFill>
                          <a:latin typeface="Cambria Math"/>
                        </a:rPr>
                        <m:t> </m:t>
                      </m:r>
                      <m:r>
                        <m:rPr>
                          <m:sty m:val="p"/>
                        </m:rPr>
                        <a:rPr sz="1000">
                          <a:solidFill>
                            <a:srgbClr val="D68B22"/>
                          </a:solidFill>
                          <a:latin typeface="Cambria Math"/>
                        </a:rPr>
                        <m:t>pulse</m:t>
                      </m:r>
                    </m:oMath>
                  </m:oMathPara>
                </a14:m>
                <a:endParaRPr sz="1000" dirty="0"/>
              </a:p>
            </p:txBody>
          </p:sp>
        </mc:Choice>
        <mc:Fallback xmlns="">
          <p:sp>
            <p:nvSpPr>
              <p:cNvPr id="1008" name="External pulse legend"/>
              <p:cNvSpPr>
                <a:spLocks noRot="1" noChangeAspect="1" noMove="1" noResize="1" noEditPoints="1" noAdjustHandles="1" noChangeArrowheads="1" noChangeShapeType="1" noTextEdit="1"/>
              </p:cNvSpPr>
              <p:nvPr/>
            </p:nvSpPr>
            <p:spPr>
              <a:xfrm>
                <a:off x="1279366" y="3648036"/>
                <a:ext cx="2159000" cy="304800"/>
              </a:xfrm>
              <a:prstGeom prst="rect">
                <a:avLst/>
              </a:prstGeom>
              <a:blipFill>
                <a:blip r:embed="rId16"/>
                <a:stretch>
                  <a:fillRect/>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960570275"/>
      </p:ext>
    </p:extLst>
  </p:cSld>
  <p:clrMapOvr>
    <a:masterClrMapping/>
  </p:clrMapOvr>
  <mc:AlternateContent xmlns:mc="http://schemas.openxmlformats.org/markup-compatibility/2006" xmlns:p14="http://schemas.microsoft.com/office/powerpoint/2010/main">
    <mc:Choice Requires="p14">
      <p:transition p14:dur="10"/>
    </mc:Choice>
    <mc:Fallback xmlns:a14="http://schemas.microsoft.com/office/drawing/2010/main" xmlns:m="http://schemas.openxmlformats.org/officeDocument/2006/math"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2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Sector simulation — clean 4K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01" name="Editable label STN nonlinearity"/>
          <p:cNvSpPr/>
          <p:nvPr/>
        </p:nvSpPr>
        <p:spPr>
          <a:xfrm>
            <a:off x="1619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STN nonlinearity</a:t>
            </a:r>
            <a:endParaRPr sz="1250"/>
          </a:p>
        </p:txBody>
      </p:sp>
      <p:sp>
        <p:nvSpPr>
          <p:cNvPr id="102" name="Editable label -1150"/>
          <p:cNvSpPr/>
          <p:nvPr/>
        </p:nvSpPr>
        <p:spPr>
          <a:xfrm>
            <a:off x="473075" y="2131695"/>
            <a:ext cx="3238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3" name="Editable label 0"/>
          <p:cNvSpPr/>
          <p:nvPr/>
        </p:nvSpPr>
        <p:spPr>
          <a:xfrm>
            <a:off x="2327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04" name="Editable label 1150"/>
          <p:cNvSpPr/>
          <p:nvPr/>
        </p:nvSpPr>
        <p:spPr>
          <a:xfrm>
            <a:off x="39979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5" name="Editable label -1150"/>
          <p:cNvSpPr/>
          <p:nvPr/>
        </p:nvSpPr>
        <p:spPr>
          <a:xfrm>
            <a:off x="277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p:sp>
        <p:nvSpPr>
          <p:cNvPr id="106" name="Editable label 0"/>
          <p:cNvSpPr/>
          <p:nvPr/>
        </p:nvSpPr>
        <p:spPr>
          <a:xfrm>
            <a:off x="277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07" name="Editable label 1150"/>
          <p:cNvSpPr/>
          <p:nvPr/>
        </p:nvSpPr>
        <p:spPr>
          <a:xfrm>
            <a:off x="277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mc:AlternateContent xmlns:mc="http://schemas.openxmlformats.org/markup-compatibility/2006" xmlns:a14="http://schemas.microsoft.com/office/drawing/2010/main">
        <mc:Choice Requires="a14">
          <p:sp>
            <p:nvSpPr>
              <p:cNvPr id="108" name="Horizontal axis STN nonlinearity"/>
              <p:cNvSpPr/>
              <p:nvPr/>
            </p:nvSpPr>
            <p:spPr>
              <a:xfrm>
                <a:off x="1631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08" name="Horizontal axis STN nonlinearity"/>
              <p:cNvSpPr>
                <a:spLocks noRot="1" noChangeAspect="1" noMove="1" noResize="1" noEditPoints="1" noAdjustHandles="1" noChangeArrowheads="1" noChangeShapeType="1" noTextEdit="1"/>
              </p:cNvSpPr>
              <p:nvPr/>
            </p:nvSpPr>
            <p:spPr>
              <a:xfrm>
                <a:off x="1746250" y="2216150"/>
                <a:ext cx="1270000" cy="45720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Vertical axis STN nonlinearity"/>
              <p:cNvSpPr/>
              <p:nvPr/>
            </p:nvSpPr>
            <p:spPr>
              <a:xfrm rot="16200000">
                <a:off x="-5270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09" name="Vertical axis STN nonlinearity"/>
              <p:cNvSpPr>
                <a:spLocks noRot="1" noChangeAspect="1" noMove="1" noResize="1" noEditPoints="1" noAdjustHandles="1" noChangeArrowheads="1" noChangeShapeType="1" noTextEdit="1"/>
              </p:cNvSpPr>
              <p:nvPr/>
            </p:nvSpPr>
            <p:spPr>
              <a:xfrm rot="16200000">
                <a:off x="-412750" y="1089025"/>
                <a:ext cx="1270000" cy="457200"/>
              </a:xfrm>
              <a:prstGeom prst="rect">
                <a:avLst/>
              </a:prstGeom>
              <a:blipFill>
                <a:blip r:embed="rIdEditable101"/>
                <a:stretch>
                  <a:fillRect/>
                </a:stretch>
              </a:blipFill>
              <a:ln>
                <a:noFill/>
              </a:ln>
            </p:spPr>
            <p:txBody>
              <a:bodyPr/>
              <a:lstStyle/>
              <a:p>
                <a:r>
                  <a:rPr lang="en-NL">
                    <a:noFill/>
                  </a:rPr>
                  <a:t> </a:t>
                </a:r>
              </a:p>
            </p:txBody>
          </p:sp>
        </mc:Fallback>
      </mc:AlternateContent>
      <p:sp>
        <p:nvSpPr>
          <p:cNvPr id="110" name="Editable label GPe nonlinearity"/>
          <p:cNvSpPr/>
          <p:nvPr/>
        </p:nvSpPr>
        <p:spPr>
          <a:xfrm>
            <a:off x="6064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GPe nonlinearity</a:t>
            </a:r>
            <a:endParaRPr sz="1250"/>
          </a:p>
        </p:txBody>
      </p:sp>
      <p:sp>
        <p:nvSpPr>
          <p:cNvPr id="111" name="Editable label -700"/>
          <p:cNvSpPr/>
          <p:nvPr/>
        </p:nvSpPr>
        <p:spPr>
          <a:xfrm>
            <a:off x="49504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2" name="Editable label 0"/>
          <p:cNvSpPr/>
          <p:nvPr/>
        </p:nvSpPr>
        <p:spPr>
          <a:xfrm>
            <a:off x="6772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13" name="Editable label 700"/>
          <p:cNvSpPr/>
          <p:nvPr/>
        </p:nvSpPr>
        <p:spPr>
          <a:xfrm>
            <a:off x="8475345" y="213169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4" name="Editable label -700"/>
          <p:cNvSpPr/>
          <p:nvPr/>
        </p:nvSpPr>
        <p:spPr>
          <a:xfrm>
            <a:off x="4722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p:sp>
        <p:nvSpPr>
          <p:cNvPr id="115" name="Editable label 0"/>
          <p:cNvSpPr/>
          <p:nvPr/>
        </p:nvSpPr>
        <p:spPr>
          <a:xfrm>
            <a:off x="4722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16" name="Editable label 700"/>
          <p:cNvSpPr/>
          <p:nvPr/>
        </p:nvSpPr>
        <p:spPr>
          <a:xfrm>
            <a:off x="4722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mc:AlternateContent xmlns:mc="http://schemas.openxmlformats.org/markup-compatibility/2006" xmlns:a14="http://schemas.microsoft.com/office/drawing/2010/main">
        <mc:Choice Requires="a14">
          <p:sp>
            <p:nvSpPr>
              <p:cNvPr id="117" name="Horizontal axis GPe nonlinearity"/>
              <p:cNvSpPr/>
              <p:nvPr/>
            </p:nvSpPr>
            <p:spPr>
              <a:xfrm>
                <a:off x="6076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17" name="Horizontal axis GPe nonlinearity"/>
              <p:cNvSpPr>
                <a:spLocks noRot="1" noChangeAspect="1" noMove="1" noResize="1" noEditPoints="1" noAdjustHandles="1" noChangeArrowheads="1" noChangeShapeType="1" noTextEdit="1"/>
              </p:cNvSpPr>
              <p:nvPr/>
            </p:nvSpPr>
            <p:spPr>
              <a:xfrm>
                <a:off x="6191250" y="2216150"/>
                <a:ext cx="127000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Vertical axis GPe nonlinearity"/>
              <p:cNvSpPr/>
              <p:nvPr/>
            </p:nvSpPr>
            <p:spPr>
              <a:xfrm rot="16200000">
                <a:off x="39179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18" name="Vertical axis GPe nonlinearity"/>
              <p:cNvSpPr>
                <a:spLocks noRot="1" noChangeAspect="1" noMove="1" noResize="1" noEditPoints="1" noAdjustHandles="1" noChangeArrowheads="1" noChangeShapeType="1" noTextEdit="1"/>
              </p:cNvSpPr>
              <p:nvPr/>
            </p:nvSpPr>
            <p:spPr>
              <a:xfrm rot="16200000">
                <a:off x="4032250" y="1089025"/>
                <a:ext cx="127000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19" name="Editable label Response"/>
          <p:cNvSpPr/>
          <p:nvPr/>
        </p:nvSpPr>
        <p:spPr>
          <a:xfrm>
            <a:off x="2000250" y="2720975"/>
            <a:ext cx="762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Response</a:t>
            </a:r>
            <a:endParaRPr sz="1250"/>
          </a:p>
        </p:txBody>
      </p:sp>
      <p:sp>
        <p:nvSpPr>
          <p:cNvPr id="120" name="Editable label 0"/>
          <p:cNvSpPr/>
          <p:nvPr/>
        </p:nvSpPr>
        <p:spPr>
          <a:xfrm>
            <a:off x="581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21" name="Editable label 0.05"/>
          <p:cNvSpPr/>
          <p:nvPr/>
        </p:nvSpPr>
        <p:spPr>
          <a:xfrm>
            <a:off x="94202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0.05</a:t>
            </a:r>
            <a:endParaRPr sz="850"/>
          </a:p>
        </p:txBody>
      </p:sp>
      <p:sp>
        <p:nvSpPr>
          <p:cNvPr id="122" name="Editable label 0.1"/>
          <p:cNvSpPr/>
          <p:nvPr/>
        </p:nvSpPr>
        <p:spPr>
          <a:xfrm>
            <a:off x="1410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23" name="Editable label 0.15"/>
          <p:cNvSpPr/>
          <p:nvPr/>
        </p:nvSpPr>
        <p:spPr>
          <a:xfrm>
            <a:off x="181514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0.15</a:t>
            </a:r>
            <a:endParaRPr sz="850"/>
          </a:p>
        </p:txBody>
      </p:sp>
      <p:sp>
        <p:nvSpPr>
          <p:cNvPr id="124" name="Editable label 0.2"/>
          <p:cNvSpPr/>
          <p:nvPr/>
        </p:nvSpPr>
        <p:spPr>
          <a:xfrm>
            <a:off x="2284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25" name="Editable label 0.25"/>
          <p:cNvSpPr/>
          <p:nvPr/>
        </p:nvSpPr>
        <p:spPr>
          <a:xfrm>
            <a:off x="268827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0.25</a:t>
            </a:r>
            <a:endParaRPr sz="850"/>
          </a:p>
        </p:txBody>
      </p:sp>
      <p:sp>
        <p:nvSpPr>
          <p:cNvPr id="126" name="Editable label 0.3"/>
          <p:cNvSpPr/>
          <p:nvPr/>
        </p:nvSpPr>
        <p:spPr>
          <a:xfrm>
            <a:off x="3157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27" name="Editable label 0.35"/>
          <p:cNvSpPr/>
          <p:nvPr/>
        </p:nvSpPr>
        <p:spPr>
          <a:xfrm>
            <a:off x="356139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0.35</a:t>
            </a:r>
            <a:endParaRPr sz="850"/>
          </a:p>
        </p:txBody>
      </p:sp>
      <p:sp>
        <p:nvSpPr>
          <p:cNvPr id="128" name="Editable label 0.4"/>
          <p:cNvSpPr/>
          <p:nvPr/>
        </p:nvSpPr>
        <p:spPr>
          <a:xfrm>
            <a:off x="4030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29" name="Editable label -20"/>
          <p:cNvSpPr/>
          <p:nvPr/>
        </p:nvSpPr>
        <p:spPr>
          <a:xfrm>
            <a:off x="277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0" name="Editable label 0"/>
          <p:cNvSpPr/>
          <p:nvPr/>
        </p:nvSpPr>
        <p:spPr>
          <a:xfrm>
            <a:off x="277586" y="424730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31" name="Editable label 20"/>
          <p:cNvSpPr/>
          <p:nvPr/>
        </p:nvSpPr>
        <p:spPr>
          <a:xfrm>
            <a:off x="277586" y="3988012"/>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2" name="Editable label 40"/>
          <p:cNvSpPr/>
          <p:nvPr/>
        </p:nvSpPr>
        <p:spPr>
          <a:xfrm>
            <a:off x="277586" y="372872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a:t>
            </a:r>
            <a:endParaRPr sz="850"/>
          </a:p>
        </p:txBody>
      </p:sp>
      <p:sp>
        <p:nvSpPr>
          <p:cNvPr id="133" name="Editable label 60"/>
          <p:cNvSpPr/>
          <p:nvPr/>
        </p:nvSpPr>
        <p:spPr>
          <a:xfrm>
            <a:off x="277586" y="3469428"/>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60</a:t>
            </a:r>
            <a:endParaRPr sz="850"/>
          </a:p>
        </p:txBody>
      </p:sp>
      <p:sp>
        <p:nvSpPr>
          <p:cNvPr id="134" name="Editable label 80"/>
          <p:cNvSpPr/>
          <p:nvPr/>
        </p:nvSpPr>
        <p:spPr>
          <a:xfrm>
            <a:off x="277586" y="3210137"/>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a:t>
            </a:r>
            <a:endParaRPr sz="850"/>
          </a:p>
        </p:txBody>
      </p:sp>
      <p:sp>
        <p:nvSpPr>
          <p:cNvPr id="135" name="Editable label 100"/>
          <p:cNvSpPr/>
          <p:nvPr/>
        </p:nvSpPr>
        <p:spPr>
          <a:xfrm>
            <a:off x="277586" y="29508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a:t>
            </a:r>
            <a:endParaRPr sz="850"/>
          </a:p>
        </p:txBody>
      </p:sp>
      <mc:AlternateContent xmlns:mc="http://schemas.openxmlformats.org/markup-compatibility/2006" xmlns:a14="http://schemas.microsoft.com/office/drawing/2010/main">
        <mc:Choice Requires="a14">
          <p:sp>
            <p:nvSpPr>
              <p:cNvPr id="136" name="Horizontal axis Response"/>
              <p:cNvSpPr/>
              <p:nvPr/>
            </p:nvSpPr>
            <p:spPr>
              <a:xfrm>
                <a:off x="1631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𝑡</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746250" y="4724400"/>
                <a:ext cx="1270000" cy="45720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527050" y="355612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180">
                          <a:solidFill>
                            <a:srgbClr val="333333"/>
                          </a:solidFill>
                          <a:latin typeface="Cambria Math"/>
                        </a:rPr>
                        <m:t>spikes</m:t>
                      </m:r>
                      <m:r>
                        <a:rPr sz="1180">
                          <a:solidFill>
                            <a:srgbClr val="333333"/>
                          </a:solidFill>
                          <a:latin typeface="Cambria Math"/>
                        </a:rPr>
                        <m:t>/</m:t>
                      </m:r>
                      <m:r>
                        <m:rPr>
                          <m:sty m:val="p"/>
                        </m:rPr>
                        <a:rPr sz="1180">
                          <a:solidFill>
                            <a:srgbClr val="333333"/>
                          </a:solidFill>
                          <a:latin typeface="Cambria Math"/>
                        </a:rPr>
                        <m:t>s</m:t>
                      </m:r>
                    </m:oMath>
                  </m:oMathPara>
                </a14:m>
                <a:endParaRPr sz="1180" dirty="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412750" y="3597275"/>
                <a:ext cx="1270000" cy="457200"/>
              </a:xfrm>
              <a:prstGeom prst="rect">
                <a:avLst/>
              </a:prstGeom>
              <a:blipFill>
                <a:blip r:embed="rIdEditable105"/>
                <a:stretch>
                  <a:fillRect/>
                </a:stretch>
              </a:blipFill>
              <a:ln>
                <a:noFill/>
              </a:ln>
            </p:spPr>
            <p:txBody>
              <a:bodyPr/>
              <a:lstStyle/>
              <a:p>
                <a:r>
                  <a:rPr lang="en-NL">
                    <a:noFill/>
                  </a:rPr>
                  <a:t> </a:t>
                </a:r>
              </a:p>
            </p:txBody>
          </p:sp>
        </mc:Fallback>
      </mc:AlternateContent>
      <p:sp>
        <p:nvSpPr>
          <p:cNvPr id="140" name="Editable label Supply function"/>
          <p:cNvSpPr/>
          <p:nvPr/>
        </p:nvSpPr>
        <p:spPr>
          <a:xfrm>
            <a:off x="6111875" y="2720975"/>
            <a:ext cx="142875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Accumulated supply</a:t>
            </a:r>
            <a:endParaRPr sz="1250"/>
          </a:p>
        </p:txBody>
      </p:sp>
      <p:sp>
        <p:nvSpPr>
          <p:cNvPr id="141" name="Editable label 0"/>
          <p:cNvSpPr/>
          <p:nvPr/>
        </p:nvSpPr>
        <p:spPr>
          <a:xfrm>
            <a:off x="5026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42" name="Editable label 0.1"/>
          <p:cNvSpPr/>
          <p:nvPr/>
        </p:nvSpPr>
        <p:spPr>
          <a:xfrm>
            <a:off x="5855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43" name="Editable label 0.2"/>
          <p:cNvSpPr/>
          <p:nvPr/>
        </p:nvSpPr>
        <p:spPr>
          <a:xfrm>
            <a:off x="6729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44" name="Editable label 0.3"/>
          <p:cNvSpPr/>
          <p:nvPr/>
        </p:nvSpPr>
        <p:spPr>
          <a:xfrm>
            <a:off x="7602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45" name="Editable label 0.4"/>
          <p:cNvSpPr/>
          <p:nvPr/>
        </p:nvSpPr>
        <p:spPr>
          <a:xfrm>
            <a:off x="8475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46" name="Editable label 0"/>
          <p:cNvSpPr/>
          <p:nvPr/>
        </p:nvSpPr>
        <p:spPr>
          <a:xfrm>
            <a:off x="4722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47" name="Editable label 1000"/>
          <p:cNvSpPr/>
          <p:nvPr/>
        </p:nvSpPr>
        <p:spPr>
          <a:xfrm>
            <a:off x="4722586" y="402042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4000</a:t>
            </a:r>
            <a:endParaRPr sz="850"/>
          </a:p>
        </p:txBody>
      </p:sp>
      <p:sp>
        <p:nvSpPr>
          <p:cNvPr id="148" name="Editable label 2000"/>
          <p:cNvSpPr/>
          <p:nvPr/>
        </p:nvSpPr>
        <p:spPr>
          <a:xfrm>
            <a:off x="4722586" y="3534251"/>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8000</a:t>
            </a:r>
            <a:endParaRPr sz="850"/>
          </a:p>
        </p:txBody>
      </p:sp>
      <p:sp>
        <p:nvSpPr>
          <p:cNvPr id="149" name="Editable label 3000"/>
          <p:cNvSpPr/>
          <p:nvPr/>
        </p:nvSpPr>
        <p:spPr>
          <a:xfrm>
            <a:off x="4722586" y="3048079"/>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12000</a:t>
            </a:r>
            <a:endParaRPr sz="850"/>
          </a:p>
        </p:txBody>
      </p:sp>
      <mc:AlternateContent xmlns:mc="http://schemas.openxmlformats.org/markup-compatibility/2006" xmlns:a14="http://schemas.microsoft.com/office/drawing/2010/main">
        <mc:Choice Requires="a14">
          <p:sp>
            <p:nvSpPr>
              <p:cNvPr id="150" name="Horizontal axis Supply function"/>
              <p:cNvSpPr/>
              <p:nvPr/>
            </p:nvSpPr>
            <p:spPr>
              <a:xfrm>
                <a:off x="6076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𝑇</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m="http://schemas.openxmlformats.org/officeDocument/2006/math" xmlns="">
          <p:sp>
            <p:nvSpPr>
              <p:cNvPr id="150" name="Horizontal axis Supply function"/>
              <p:cNvSpPr>
                <a:spLocks noRot="1" noChangeAspect="1" noMove="1" noResize="1" noEditPoints="1" noAdjustHandles="1" noChangeArrowheads="1" noChangeShapeType="1" noTextEdit="1"/>
              </p:cNvSpPr>
              <p:nvPr/>
            </p:nvSpPr>
            <p:spPr>
              <a:xfrm>
                <a:off x="6191250" y="4724400"/>
                <a:ext cx="1270000" cy="457200"/>
              </a:xfrm>
              <a:prstGeom prst="rect">
                <a:avLst/>
              </a:prstGeom>
              <a:blipFill>
                <a:blip r:embed="rIdEditable10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2" name="Response legend S"/>
              <p:cNvSpPr/>
              <p:nvPr/>
            </p:nvSpPr>
            <p:spPr>
              <a:xfrm>
                <a:off x="920750" y="29146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52" name="Response legend S"/>
              <p:cNvSpPr>
                <a:spLocks noRot="1" noChangeAspect="1" noMove="1" noResize="1" noEditPoints="1" noAdjustHandles="1" noChangeArrowheads="1" noChangeShapeType="1" noTextEdit="1"/>
              </p:cNvSpPr>
              <p:nvPr/>
            </p:nvSpPr>
            <p:spPr>
              <a:xfrm>
                <a:off x="920750" y="2914650"/>
                <a:ext cx="1460500" cy="457200"/>
              </a:xfrm>
              <a:prstGeom prst="rect">
                <a:avLst/>
              </a:prstGeom>
              <a:blipFill>
                <a:blip r:embed="rIdEditable107"/>
                <a:stretch>
                  <a:fillRect l="-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3" name="Response legend G"/>
              <p:cNvSpPr/>
              <p:nvPr/>
            </p:nvSpPr>
            <p:spPr>
              <a:xfrm>
                <a:off x="920750" y="30670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53" name="Response legend G"/>
              <p:cNvSpPr>
                <a:spLocks noRot="1" noChangeAspect="1" noMove="1" noResize="1" noEditPoints="1" noAdjustHandles="1" noChangeArrowheads="1" noChangeShapeType="1" noTextEdit="1"/>
              </p:cNvSpPr>
              <p:nvPr/>
            </p:nvSpPr>
            <p:spPr>
              <a:xfrm>
                <a:off x="920750" y="3067050"/>
                <a:ext cx="1460500" cy="457200"/>
              </a:xfrm>
              <a:prstGeom prst="rect">
                <a:avLst/>
              </a:prstGeom>
              <a:blipFill>
                <a:blip r:embed="rIdEditable108"/>
                <a:stretch>
                  <a:fillRect l="-2083"/>
                </a:stretch>
              </a:blipFill>
              <a:ln>
                <a:noFill/>
              </a:ln>
            </p:spPr>
            <p:txBody>
              <a:bodyPr/>
              <a:lstStyle/>
              <a:p>
                <a:r>
                  <a:rPr lang="en-NL">
                    <a:noFill/>
                  </a:rPr>
                  <a:t> </a:t>
                </a:r>
              </a:p>
            </p:txBody>
          </p:sp>
        </mc:Fallback>
      </mc:AlternateContent>
      <p:sp>
        <p:nvSpPr>
          <p:cNvPr id="154" name="Sector supply legend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5" name="Sector supply legend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mc:AlternateContent xmlns:mc="http://schemas.openxmlformats.org/markup-compatibility/2006" xmlns:a14="http://schemas.microsoft.com/office/drawing/2010/main">
        <mc:Choice Requires="a14">
          <p:sp>
            <p:nvSpPr>
              <p:cNvPr id="900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1600">
                              <a:solidFill>
                                <a:srgbClr val="252529"/>
                              </a:solidFill>
                              <a:latin typeface="Cambria Math"/>
                            </a:rPr>
                          </m:ctrlPr>
                        </m:naryPr>
                        <m:sub>
                          <m:r>
                            <a:rPr sz="1600">
                              <a:solidFill>
                                <a:srgbClr val="252529"/>
                              </a:solidFill>
                              <a:latin typeface="Cambria Math"/>
                            </a:rPr>
                            <m:t>0</m:t>
                          </m:r>
                        </m:sub>
                        <m:sup>
                          <m:r>
                            <a:rPr sz="1600">
                              <a:solidFill>
                                <a:srgbClr val="252529"/>
                              </a:solidFill>
                              <a:latin typeface="Cambria Math"/>
                            </a:rPr>
                            <m:t>𝑇</m:t>
                          </m:r>
                        </m:sup>
                        <m:e>
                          <m:sSub>
                            <m:sSubPr>
                              <m:ctrlPr>
                                <a:rPr sz="1600">
                                  <a:solidFill>
                                    <a:srgbClr val="252529"/>
                                  </a:solidFill>
                                  <a:latin typeface="Cambria Math"/>
                                </a:rPr>
                              </m:ctrlPr>
                            </m:sSubPr>
                            <m:e>
                              <m:r>
                                <a:rPr sz="1600">
                                  <a:solidFill>
                                    <a:srgbClr val="252529"/>
                                  </a:solidFill>
                                  <a:latin typeface="Cambria Math"/>
                                </a:rPr>
                                <m:t>𝜎</m:t>
                              </m:r>
                            </m:e>
                            <m:sub>
                              <m:r>
                                <a:rPr sz="1600">
                                  <a:solidFill>
                                    <a:srgbClr val="252529"/>
                                  </a:solidFill>
                                  <a:latin typeface="Cambria Math"/>
                                </a:rPr>
                                <m:t>𝑖</m:t>
                              </m:r>
                            </m:sub>
                          </m:sSub>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𝑑𝑡</m:t>
                          </m:r>
                        </m:e>
                      </m:nary>
                      <m:r>
                        <a:rPr sz="1600">
                          <a:solidFill>
                            <a:srgbClr val="252529"/>
                          </a:solidFill>
                          <a:latin typeface="Cambria Math"/>
                        </a:rPr>
                        <m:t>≥0</m:t>
                      </m:r>
                    </m:oMath>
                  </m:oMathPara>
                </a14:m>
                <a:endParaRPr sz="1600"/>
              </a:p>
            </p:txBody>
          </p:sp>
        </mc:Choice>
        <mc:Fallback xmlns="">
          <p:sp>
            <p:nvSpPr>
              <p:cNvPr id="900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Why the PIE–Δ interconnection is stable</a:t>
            </a:r>
            <a:endParaRPr sz="2500"/>
          </a:p>
        </p:txBody>
      </p:sp>
      <p:sp>
        <p:nvSpPr>
          <p:cNvPr id="1002" name="Delta role"/>
          <p:cNvSpPr/>
          <p:nvPr/>
        </p:nvSpPr>
        <p:spPr>
          <a:xfrm>
            <a:off x="4210050" y="1028700"/>
            <a:ext cx="4635500" cy="304800"/>
          </a:xfrm>
          <a:prstGeom prst="rect">
            <a:avLst/>
          </a:prstGeom>
          <a:noFill/>
          <a:ln>
            <a:noFill/>
          </a:ln>
        </p:spPr>
        <p:txBody>
          <a:bodyPr wrap="none" lIns="0" tIns="0" rIns="0" bIns="0" anchor="ctr">
            <a:noAutofit/>
          </a:bodyPr>
          <a:lstStyle/>
          <a:p>
            <a:pPr algn="ctr">
              <a:buNone/>
            </a:pPr>
            <a:r>
              <a:rPr lang="en-GB" sz="1600" b="0" i="0" u="none" baseline="0">
                <a:solidFill>
                  <a:srgbClr val="252529"/>
                </a:solidFill>
                <a:latin typeface="Aptos"/>
                <a:ea typeface="Aptos"/>
                <a:cs typeface="Aptos"/>
              </a:rPr>
              <a:t>The sector gives</a:t>
            </a:r>
            <a:endParaRPr sz="1600"/>
          </a:p>
        </p:txBody>
      </p:sp>
      <mc:AlternateContent xmlns:mc="http://schemas.openxmlformats.org/markup-compatibility/2006" xmlns:a14="http://schemas.microsoft.com/office/drawing/2010/main">
        <mc:Choice Requires="a14">
          <p:sp>
            <p:nvSpPr>
              <p:cNvPr id="1003" name="Delta supply"/>
              <p:cNvSpPr/>
              <p:nvPr/>
            </p:nvSpPr>
            <p:spPr>
              <a:xfrm>
                <a:off x="4114800" y="1391920"/>
                <a:ext cx="4826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𝜎</m:t>
                      </m:r>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147C60"/>
                          </a:solidFill>
                          <a:latin typeface="Cambria Math"/>
                        </a:rPr>
                        <m:t>≥0</m:t>
                      </m:r>
                    </m:oMath>
                  </m:oMathPara>
                </a14:m>
                <a:endParaRPr sz="2100"/>
              </a:p>
            </p:txBody>
          </p:sp>
        </mc:Choice>
        <mc:Fallback xmlns:m="http://schemas.openxmlformats.org/officeDocument/2006/math" xmlns="">
          <p:sp>
            <p:nvSpPr>
              <p:cNvPr id="1003" name="Delta supply"/>
              <p:cNvSpPr>
                <a:spLocks noRot="1" noChangeAspect="1" noMove="1" noResize="1" noEditPoints="1" noAdjustHandles="1" noChangeArrowheads="1" noChangeShapeType="1" noTextEdit="1"/>
              </p:cNvSpPr>
              <p:nvPr/>
            </p:nvSpPr>
            <p:spPr>
              <a:xfrm>
                <a:off x="4114800" y="1391920"/>
                <a:ext cx="4826000" cy="746760"/>
              </a:xfrm>
              <a:prstGeom prst="rect">
                <a:avLst/>
              </a:prstGeom>
              <a:blipFill>
                <a:blip r:embed="rIdSectorRefinement39_2"/>
                <a:stretch>
                  <a:fillRect/>
                </a:stretch>
              </a:blipFill>
              <a:ln>
                <a:noFill/>
              </a:ln>
            </p:spPr>
            <p:txBody>
              <a:bodyPr/>
              <a:lstStyle/>
              <a:p>
                <a:r>
                  <a:rPr lang="en-NL">
                    <a:noFill/>
                  </a:rPr>
                  <a:t> </a:t>
                </a:r>
              </a:p>
            </p:txBody>
          </p:sp>
        </mc:Fallback>
      </mc:AlternateContent>
      <p:sp>
        <p:nvSpPr>
          <p:cNvPr id="1004" name="PIE role"/>
          <p:cNvSpPr/>
          <p:nvPr/>
        </p:nvSpPr>
        <p:spPr>
          <a:xfrm>
            <a:off x="4114800" y="2333625"/>
            <a:ext cx="4826000" cy="2857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Require the PIE to dissipate that supply:</a:t>
            </a:r>
            <a:endParaRPr sz="1500"/>
          </a:p>
        </p:txBody>
      </p:sp>
      <mc:AlternateContent xmlns:mc="http://schemas.openxmlformats.org/markup-compatibility/2006" xmlns:a14="http://schemas.microsoft.com/office/drawing/2010/main">
        <mc:Choice Requires="a14">
          <p:sp>
            <p:nvSpPr>
              <p:cNvPr id="1005" name="PIE decay"/>
              <p:cNvSpPr/>
              <p:nvPr/>
            </p:nvSpPr>
            <p:spPr>
              <a:xfrm>
                <a:off x="4114800" y="2692400"/>
                <a:ext cx="4826000" cy="711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𝑉</m:t>
                          </m:r>
                        </m:e>
                      </m:acc>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𝑤</m:t>
                                  </m:r>
                                </m:e>
                              </m:acc>
                            </m:e>
                          </m:d>
                        </m:e>
                        <m:sup>
                          <m:r>
                            <a:rPr sz="2000">
                              <a:solidFill>
                                <a:srgbClr val="252529"/>
                              </a:solidFill>
                              <a:latin typeface="Cambria Math"/>
                            </a:rPr>
                            <m:t>2</m:t>
                          </m:r>
                        </m:sup>
                      </m:sSup>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𝑧</m:t>
                                  </m:r>
                                </m:e>
                              </m:acc>
                            </m:e>
                          </m:d>
                        </m:e>
                        <m:sup>
                          <m:r>
                            <a:rPr sz="2000">
                              <a:solidFill>
                                <a:srgbClr val="252529"/>
                              </a:solidFill>
                              <a:latin typeface="Cambria Math"/>
                            </a:rPr>
                            <m:t>2</m:t>
                          </m:r>
                        </m:sup>
                      </m:sSup>
                      <m:r>
                        <a:rPr sz="2000">
                          <a:solidFill>
                            <a:srgbClr val="252529"/>
                          </a:solidFill>
                          <a:latin typeface="Cambria Math"/>
                        </a:rPr>
                        <m:t>−</m:t>
                      </m:r>
                      <m:r>
                        <a:rPr sz="2000">
                          <a:solidFill>
                            <a:srgbClr val="252529"/>
                          </a:solidFill>
                          <a:latin typeface="Cambria Math"/>
                        </a:rPr>
                        <m:t>𝜀</m:t>
                      </m:r>
                      <m:sSup>
                        <m:sSupPr>
                          <m:ctrlPr>
                            <a:rPr sz="2000" i="1">
                              <a:solidFill>
                                <a:srgbClr val="252529"/>
                              </a:solidFill>
                              <a:latin typeface="Cambria Math" panose="02040503050406030204" pitchFamily="18" charset="0"/>
                            </a:rPr>
                          </m:ctrlPr>
                        </m:sSupPr>
                        <m:e>
                          <m:d>
                            <m:dPr>
                              <m:begChr m:val="‖"/>
                              <m:endChr m:val="‖"/>
                              <m:ctrlPr>
                                <a:rPr sz="2000">
                                  <a:solidFill>
                                    <a:srgbClr val="252529"/>
                                  </a:solidFill>
                                  <a:latin typeface="Cambria Math"/>
                                </a:rPr>
                              </m:ctrlPr>
                            </m:dPr>
                            <m:e>
                              <m:r>
                                <a:rPr sz="2000">
                                  <a:solidFill>
                                    <a:srgbClr val="252529"/>
                                  </a:solidFill>
                                  <a:latin typeface="Cambria Math"/>
                                </a:rPr>
                                <m:t>𝑥</m:t>
                              </m:r>
                            </m:e>
                          </m:d>
                        </m:e>
                        <m:sup>
                          <m:r>
                            <a:rPr sz="2000">
                              <a:solidFill>
                                <a:srgbClr val="252529"/>
                              </a:solidFill>
                              <a:latin typeface="Cambria Math"/>
                            </a:rPr>
                            <m:t>2</m:t>
                          </m:r>
                        </m:sup>
                      </m:sSup>
                    </m:oMath>
                  </m:oMathPara>
                </a14:m>
                <a:endParaRPr sz="2000"/>
              </a:p>
            </p:txBody>
          </p:sp>
        </mc:Choice>
        <mc:Fallback xmlns:m="http://schemas.openxmlformats.org/officeDocument/2006/math" xmlns="">
          <p:sp>
            <p:nvSpPr>
              <p:cNvPr id="1005" name="PIE decay"/>
              <p:cNvSpPr>
                <a:spLocks noRot="1" noChangeAspect="1" noMove="1" noResize="1" noEditPoints="1" noAdjustHandles="1" noChangeArrowheads="1" noChangeShapeType="1" noTextEdit="1"/>
              </p:cNvSpPr>
              <p:nvPr/>
            </p:nvSpPr>
            <p:spPr>
              <a:xfrm>
                <a:off x="4114800" y="2692400"/>
                <a:ext cx="4826000" cy="711200"/>
              </a:xfrm>
              <a:prstGeom prst="rect">
                <a:avLst/>
              </a:prstGeom>
              <a:blipFill>
                <a:blip r:embed="rIdSectorRefinement39_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Closed loop decay"/>
              <p:cNvSpPr/>
              <p:nvPr/>
            </p:nvSpPr>
            <p:spPr>
              <a:xfrm>
                <a:off x="4114800" y="3251200"/>
                <a:ext cx="4826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  </m:t>
                      </m:r>
                      <m:acc>
                        <m:accPr>
                          <m:chr m:val="̇"/>
                          <m:ctrlPr>
                            <a:rPr sz="2500">
                              <a:solidFill>
                                <a:srgbClr val="252529"/>
                              </a:solidFill>
                              <a:latin typeface="Cambria Math"/>
                            </a:rPr>
                          </m:ctrlPr>
                        </m:accPr>
                        <m:e>
                          <m:r>
                            <a:rPr sz="2500">
                              <a:solidFill>
                                <a:srgbClr val="252529"/>
                              </a:solidFill>
                              <a:latin typeface="Cambria Math"/>
                            </a:rPr>
                            <m:t>𝑉</m:t>
                          </m:r>
                        </m:e>
                      </m:acc>
                      <m:r>
                        <a:rPr sz="2500">
                          <a:solidFill>
                            <a:srgbClr val="252529"/>
                          </a:solidFill>
                          <a:latin typeface="Cambria Math"/>
                        </a:rPr>
                        <m:t>≤−</m:t>
                      </m:r>
                      <m:r>
                        <a:rPr sz="2500">
                          <a:solidFill>
                            <a:srgbClr val="252529"/>
                          </a:solidFill>
                          <a:latin typeface="Cambria Math"/>
                        </a:rPr>
                        <m:t>𝜀</m:t>
                      </m:r>
                      <m:sSup>
                        <m:sSupPr>
                          <m:ctrlPr>
                            <a:rPr sz="2500" i="1">
                              <a:solidFill>
                                <a:srgbClr val="252529"/>
                              </a:solidFill>
                              <a:latin typeface="Cambria Math" panose="02040503050406030204" pitchFamily="18" charset="0"/>
                            </a:rPr>
                          </m:ctrlPr>
                        </m:sSupPr>
                        <m:e>
                          <m:d>
                            <m:dPr>
                              <m:begChr m:val="‖"/>
                              <m:endChr m:val="‖"/>
                              <m:ctrlPr>
                                <a:rPr sz="2500">
                                  <a:solidFill>
                                    <a:srgbClr val="252529"/>
                                  </a:solidFill>
                                  <a:latin typeface="Cambria Math"/>
                                </a:rPr>
                              </m:ctrlPr>
                            </m:dPr>
                            <m:e>
                              <m:r>
                                <a:rPr sz="2500">
                                  <a:solidFill>
                                    <a:srgbClr val="252529"/>
                                  </a:solidFill>
                                  <a:latin typeface="Cambria Math"/>
                                </a:rPr>
                                <m:t>𝑥</m:t>
                              </m:r>
                            </m:e>
                          </m:d>
                        </m:e>
                        <m:sup>
                          <m:r>
                            <a:rPr sz="2500">
                              <a:solidFill>
                                <a:srgbClr val="252529"/>
                              </a:solidFill>
                              <a:latin typeface="Cambria Math"/>
                            </a:rPr>
                            <m:t>2</m:t>
                          </m:r>
                        </m:sup>
                      </m:sSup>
                      <m:r>
                        <a:rPr sz="2500">
                          <a:solidFill>
                            <a:srgbClr val="147C60"/>
                          </a:solidFill>
                          <a:latin typeface="Cambria Math"/>
                        </a:rPr>
                        <m:t>&lt;0</m:t>
                      </m:r>
                    </m:oMath>
                  </m:oMathPara>
                </a14:m>
                <a:endParaRPr sz="2500"/>
              </a:p>
            </p:txBody>
          </p:sp>
        </mc:Choice>
        <mc:Fallback xmlns:m="http://schemas.openxmlformats.org/officeDocument/2006/math" xmlns="">
          <p:sp>
            <p:nvSpPr>
              <p:cNvPr id="1006" name="Closed loop decay"/>
              <p:cNvSpPr>
                <a:spLocks noRot="1" noChangeAspect="1" noMove="1" noResize="1" noEditPoints="1" noAdjustHandles="1" noChangeArrowheads="1" noChangeShapeType="1" noTextEdit="1"/>
              </p:cNvSpPr>
              <p:nvPr/>
            </p:nvSpPr>
            <p:spPr>
              <a:xfrm>
                <a:off x="4114800" y="3251200"/>
                <a:ext cx="4826000" cy="889000"/>
              </a:xfrm>
              <a:prstGeom prst="rect">
                <a:avLst/>
              </a:prstGeom>
              <a:blipFill>
                <a:blip r:embed="rIdSectorRefinement39_9"/>
                <a:stretch>
                  <a:fillRect/>
                </a:stretch>
              </a:blipFill>
              <a:ln>
                <a:noFill/>
              </a:ln>
            </p:spPr>
            <p:txBody>
              <a:bodyPr/>
              <a:lstStyle/>
              <a:p>
                <a:r>
                  <a:rPr lang="en-NL">
                    <a:noFill/>
                  </a:rPr>
                  <a:t> </a:t>
                </a:r>
              </a:p>
            </p:txBody>
          </p:sp>
        </mc:Fallback>
      </mc:AlternateContent>
      <p:sp>
        <p:nvSpPr>
          <p:cNvPr id="1007" name="Energy intuition"/>
          <p:cNvSpPr/>
          <p:nvPr/>
        </p:nvSpPr>
        <p:spPr>
          <a:xfrm>
            <a:off x="317500" y="4117975"/>
            <a:ext cx="8509000" cy="323850"/>
          </a:xfrm>
          <a:prstGeom prst="rect">
            <a:avLst/>
          </a:prstGeom>
          <a:noFill/>
          <a:ln>
            <a:noFill/>
          </a:ln>
        </p:spPr>
        <p:txBody>
          <a:bodyPr wrap="none" lIns="0" tIns="0" rIns="0" bIns="0" anchor="ctr">
            <a:noAutofit/>
          </a:bodyPr>
          <a:lstStyle/>
          <a:p>
            <a:pPr algn="ctr">
              <a:buNone/>
            </a:pPr>
            <a:r>
              <a:rPr lang="en-GB" sz="1700" b="0" i="0" u="none" baseline="0">
                <a:solidFill>
                  <a:srgbClr val="147C60"/>
                </a:solidFill>
                <a:latin typeface="Aptos"/>
                <a:ea typeface="Aptos"/>
                <a:cs typeface="Aptos"/>
              </a:rPr>
              <a:t>With no external input, the stored energy V can only decrease.</a:t>
            </a:r>
            <a:endParaRPr sz="1700"/>
          </a:p>
        </p:txBody>
      </p:sp>
      <mc:AlternateContent xmlns:mc="http://schemas.openxmlformats.org/markup-compatibility/2006" xmlns:a14="http://schemas.microsoft.com/office/drawing/2010/main">
        <mc:Choice Requires="a14">
          <p:sp>
            <p:nvSpPr>
              <p:cNvPr id="1008" name="Storage qualification"/>
              <p:cNvSpPr/>
              <p:nvPr/>
            </p:nvSpPr>
            <p:spPr>
              <a:xfrm>
                <a:off x="444500" y="4493260"/>
                <a:ext cx="8255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0&lt;</m:t>
                      </m:r>
                      <m:r>
                        <a:rPr sz="1300">
                          <a:solidFill>
                            <a:srgbClr val="252529"/>
                          </a:solidFill>
                          <a:latin typeface="Cambria Math"/>
                        </a:rPr>
                        <m:t>𝑚</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m:t>
                      </m:r>
                      <m:r>
                        <a:rPr sz="1300">
                          <a:solidFill>
                            <a:srgbClr val="252529"/>
                          </a:solidFill>
                          <a:latin typeface="Cambria Math"/>
                        </a:rPr>
                        <m:t>𝑉</m:t>
                      </m:r>
                      <m:r>
                        <a:rPr sz="1300">
                          <a:solidFill>
                            <a:srgbClr val="252529"/>
                          </a:solidFill>
                          <a:latin typeface="Cambria Math"/>
                        </a:rPr>
                        <m:t>≤</m:t>
                      </m:r>
                      <m:r>
                        <a:rPr sz="1300">
                          <a:solidFill>
                            <a:srgbClr val="252529"/>
                          </a:solidFill>
                          <a:latin typeface="Cambria Math"/>
                        </a:rPr>
                        <m:t>𝑀</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  </m:t>
                      </m:r>
                      <m:r>
                        <a:rPr sz="1300">
                          <a:solidFill>
                            <a:srgbClr val="252529"/>
                          </a:solidFill>
                          <a:latin typeface="Cambria Math"/>
                        </a:rPr>
                        <m:t>𝑥</m:t>
                      </m:r>
                      <m:r>
                        <a:rPr sz="1300">
                          <a:solidFill>
                            <a:srgbClr val="252529"/>
                          </a:solidFill>
                          <a:latin typeface="Cambria Math"/>
                        </a:rPr>
                        <m:t>≠0,  </m:t>
                      </m:r>
                      <m:r>
                        <a:rPr sz="1300">
                          <a:solidFill>
                            <a:srgbClr val="252529"/>
                          </a:solidFill>
                          <a:latin typeface="Cambria Math"/>
                        </a:rPr>
                        <m:t>𝜀</m:t>
                      </m:r>
                      <m:r>
                        <a:rPr sz="1300">
                          <a:solidFill>
                            <a:srgbClr val="252529"/>
                          </a:solidFill>
                          <a:latin typeface="Cambria Math"/>
                        </a:rPr>
                        <m:t>&gt;0</m:t>
                      </m:r>
                    </m:oMath>
                  </m:oMathPara>
                </a14:m>
                <a:endParaRPr sz="1300"/>
              </a:p>
            </p:txBody>
          </p:sp>
        </mc:Choice>
        <mc:Fallback xmlns:m="http://schemas.openxmlformats.org/officeDocument/2006/math" xmlns="">
          <p:sp>
            <p:nvSpPr>
              <p:cNvPr id="1008" name="Storage qualification"/>
              <p:cNvSpPr>
                <a:spLocks noRot="1" noChangeAspect="1" noMove="1" noResize="1" noEditPoints="1" noAdjustHandles="1" noChangeArrowheads="1" noChangeShapeType="1" noTextEdit="1"/>
              </p:cNvSpPr>
              <p:nvPr/>
            </p:nvSpPr>
            <p:spPr>
              <a:xfrm>
                <a:off x="444500" y="4493260"/>
                <a:ext cx="8255000" cy="462280"/>
              </a:xfrm>
              <a:prstGeom prst="rect">
                <a:avLst/>
              </a:prstGeom>
              <a:blipFill>
                <a:blip r:embed="rIdSectorRefinement39_7"/>
                <a:stretch>
                  <a:fillRect/>
                </a:stretch>
              </a:blipFill>
              <a:ln>
                <a:noFill/>
              </a:ln>
            </p:spPr>
            <p:txBody>
              <a:bodyPr/>
              <a:lstStyle/>
              <a:p>
                <a:r>
                  <a:rPr lang="en-NL">
                    <a:noFill/>
                  </a:rPr>
                  <a:t> </a:t>
                </a:r>
              </a:p>
            </p:txBody>
          </p:sp>
        </mc:Fallback>
      </mc:AlternateContent>
      <p:sp>
        <p:nvSpPr>
          <p:cNvPr id="100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1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39</a:t>
            </a:r>
            <a:endParaRPr sz="800"/>
          </a:p>
        </p:txBody>
      </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444500" y="1765300"/>
            <a:ext cx="3708400" cy="1676400"/>
            <a:chOff x="2005330" y="1274064"/>
            <a:chExt cx="4835271" cy="2180336"/>
          </a:xfrm>
        </p:grpSpPr>
        <p:sp>
          <p:nvSpPr>
            <p:cNvPr id="5002" name="Plant to uncertainty">
              <a:extLst>
                <a:ext uri="{FF2B5EF4-FFF2-40B4-BE49-F238E27FC236}">
                  <a16:creationId xmlns:a16="http://schemas.microsoft.com/office/drawing/2014/main" id="{2D19E6F6-2E0C-773F-8968-3FB60CCD5885}"/>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73DC5D71-45A2-6688-D301-57F574C3B4FC}"/>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z filter input">
              <a:extLst>
                <a:ext uri="{FF2B5EF4-FFF2-40B4-BE49-F238E27FC236}">
                  <a16:creationId xmlns:a16="http://schemas.microsoft.com/office/drawing/2014/main" id="{6C077BE1-CA1D-D5A1-FDE8-1AE89BA21002}"/>
                </a:ext>
              </a:extLst>
            </p:cNvPr>
            <p:cNvSpPr/>
            <p:nvPr/>
          </p:nvSpPr>
          <p:spPr>
            <a:xfrm>
              <a:off x="2772664" y="1543304"/>
              <a:ext cx="2111756"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a:p>
          </p:txBody>
        </p:sp>
        <p:sp>
          <p:nvSpPr>
            <p:cNvPr id="5005" name="w filter input">
              <a:extLst>
                <a:ext uri="{FF2B5EF4-FFF2-40B4-BE49-F238E27FC236}">
                  <a16:creationId xmlns:a16="http://schemas.microsoft.com/office/drawing/2014/main" id="{BB7A3CAC-9A8E-8832-ED3F-D43DAEDC8BC1}"/>
                </a:ext>
              </a:extLst>
            </p:cNvPr>
            <p:cNvSpPr/>
            <p:nvPr/>
          </p:nvSpPr>
          <p:spPr>
            <a:xfrm>
              <a:off x="4313936" y="1919224"/>
              <a:ext cx="570484" cy="194564"/>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0" y="154330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7" name="Filtered z">
                  <a:extLst>
                    <a:ext uri="{FF2B5EF4-FFF2-40B4-BE49-F238E27FC236}">
                      <a16:creationId xmlns:a16="http://schemas.microsoft.com/office/drawing/2014/main" id="{F383059B-78DF-7867-E81B-D804AC9B2C81}"/>
                    </a:ext>
                  </a:extLst>
                </p:cNvPr>
                <p:cNvSpPr/>
                <p:nvPr/>
              </p:nvSpPr>
              <p:spPr>
                <a:xfrm>
                  <a:off x="6417691" y="136569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m="http://schemas.openxmlformats.org/officeDocument/2006/math" xmlns="">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1" y="1365694"/>
                  <a:ext cx="422910" cy="380619"/>
                </a:xfrm>
                <a:prstGeom prst="rect">
                  <a:avLst/>
                </a:prstGeom>
                <a:blipFill>
                  <a:blip r:embed="rIdSectorRefinement39_3"/>
                  <a:stretch>
                    <a:fillRect t="-4167" r="-77358" b="-2083"/>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0" y="191922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9" name="Filtered w">
                  <a:extLst>
                    <a:ext uri="{FF2B5EF4-FFF2-40B4-BE49-F238E27FC236}">
                      <a16:creationId xmlns:a16="http://schemas.microsoft.com/office/drawing/2014/main" id="{D07C0B8E-1BCA-7188-3574-2F25277AC64E}"/>
                    </a:ext>
                  </a:extLst>
                </p:cNvPr>
                <p:cNvSpPr/>
                <p:nvPr/>
              </p:nvSpPr>
              <p:spPr>
                <a:xfrm>
                  <a:off x="6417691" y="174161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m="http://schemas.openxmlformats.org/officeDocument/2006/math" xmlns="">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1" y="1741614"/>
                  <a:ext cx="422910" cy="380619"/>
                </a:xfrm>
                <a:prstGeom prst="rect">
                  <a:avLst/>
                </a:prstGeom>
                <a:blipFill>
                  <a:blip r:embed="rIdSectorRefinement39_0"/>
                  <a:stretch>
                    <a:fillRect l="-7547" t="-20833" r="-4717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0" name="Uncertainty output channel">
                  <a:extLst>
                    <a:ext uri="{FF2B5EF4-FFF2-40B4-BE49-F238E27FC236}">
                      <a16:creationId xmlns:a16="http://schemas.microsoft.com/office/drawing/2014/main" id="{95BDFECA-830F-DDA6-5A0F-9505BEFCCBD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5010" name="Uncertainty output channel">
                  <a:extLst>
                    <a:ext uri="{FF2B5EF4-FFF2-40B4-BE49-F238E27FC236}">
                      <a16:creationId xmlns:a16="http://schemas.microsoft.com/office/drawing/2014/main" id="{95BDFECA-830F-DDA6-5A0F-9505BEFCCBD2}"/>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SectorRefinement39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Uncertainty input channel">
                  <a:extLst>
                    <a:ext uri="{FF2B5EF4-FFF2-40B4-BE49-F238E27FC236}">
                      <a16:creationId xmlns:a16="http://schemas.microsoft.com/office/drawing/2014/main" id="{642B7BE9-B9F2-7396-C385-832583B651C6}"/>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5011" name="Uncertainty input channel">
                  <a:extLst>
                    <a:ext uri="{FF2B5EF4-FFF2-40B4-BE49-F238E27FC236}">
                      <a16:creationId xmlns:a16="http://schemas.microsoft.com/office/drawing/2014/main" id="{642B7BE9-B9F2-7396-C385-832583B651C6}"/>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SectorRefinement39_10"/>
                  <a:stretch>
                    <a:fillRect/>
                  </a:stretch>
                </a:blipFill>
                <a:ln>
                  <a:noFill/>
                </a:ln>
              </p:spPr>
              <p:txBody>
                <a:bodyPr/>
                <a:lstStyle/>
                <a:p>
                  <a:r>
                    <a:rPr lang="en-NL">
                      <a:noFill/>
                    </a:rPr>
                    <a:t> </a:t>
                  </a:r>
                </a:p>
              </p:txBody>
            </p:sp>
          </mc:Fallback>
        </mc:AlternateContent>
        <p:sp>
          <p:nvSpPr>
            <p:cNvPr id="501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01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501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9_8"/>
                  <a:stretch>
                    <a:fillRect l="-7143" b="-8065"/>
                  </a:stretch>
                </a:blipFill>
                <a:ln>
                  <a:noFill/>
                </a:ln>
              </p:spPr>
              <p:txBody>
                <a:bodyPr/>
                <a:lstStyle/>
                <a:p>
                  <a:r>
                    <a:rPr lang="en-NL">
                      <a:noFill/>
                    </a:rPr>
                    <a:t> </a:t>
                  </a:r>
                </a:p>
              </p:txBody>
            </p:sp>
          </mc:Fallback>
        </mc:AlternateContent>
        <p:sp>
          <p:nvSpPr>
            <p:cNvPr id="5014" name="Plant">
              <a:extLst>
                <a:ext uri="{FF2B5EF4-FFF2-40B4-BE49-F238E27FC236}">
                  <a16:creationId xmlns:a16="http://schemas.microsoft.com/office/drawing/2014/main" id="{DB6423D5-F68F-B3C7-3446-53793DC0A8EC}"/>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15" name="Plant label">
                  <a:extLst>
                    <a:ext uri="{FF2B5EF4-FFF2-40B4-BE49-F238E27FC236}">
                      <a16:creationId xmlns:a16="http://schemas.microsoft.com/office/drawing/2014/main" id="{01FBD267-53A2-764E-9FEF-10615AFD0E1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5015" name="Plant label">
                  <a:extLst>
                    <a:ext uri="{FF2B5EF4-FFF2-40B4-BE49-F238E27FC236}">
                      <a16:creationId xmlns:a16="http://schemas.microsoft.com/office/drawing/2014/main" id="{01FBD267-53A2-764E-9FEF-10615AFD0E16}"/>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SectorRefinement39_4"/>
                  <a:stretch>
                    <a:fillRect l="-3390" b="-8065"/>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0" y="1274064"/>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017" name="Original filter label"/>
                <p:cNvSpPr/>
                <p:nvPr/>
              </p:nvSpPr>
              <p:spPr>
                <a:xfrm>
                  <a:off x="4897120" y="1299464"/>
                  <a:ext cx="889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xmlns:m="http://schemas.openxmlformats.org/officeDocument/2006/math" xmlns="">
            <p:sp>
              <p:nvSpPr>
                <p:cNvPr id="5017" name="Original filter label"/>
                <p:cNvSpPr>
                  <a:spLocks noRot="1" noChangeAspect="1" noMove="1" noResize="1" noEditPoints="1" noAdjustHandles="1" noChangeArrowheads="1" noChangeShapeType="1" noTextEdit="1"/>
                </p:cNvSpPr>
                <p:nvPr/>
              </p:nvSpPr>
              <p:spPr>
                <a:xfrm>
                  <a:off x="4897120" y="1299464"/>
                  <a:ext cx="889000" cy="889000"/>
                </a:xfrm>
                <a:prstGeom prst="rect">
                  <a:avLst/>
                </a:prstGeom>
                <a:blipFill>
                  <a:blip r:embed="rIdSectorRefinement39_1"/>
                  <a:stretch>
                    <a:fillRect/>
                  </a:stretch>
                </a:blipFill>
                <a:ln>
                  <a:noFill/>
                </a:ln>
              </p:spPr>
              <p:txBody>
                <a:bodyPr/>
                <a:lstStyle/>
                <a:p>
                  <a:r>
                    <a:rPr lang="en-NL">
                      <a:noFill/>
                    </a:rPr>
                    <a:t> </a:t>
                  </a:r>
                </a:p>
              </p:txBody>
            </p:sp>
          </mc:Fallback>
        </mc:AlternateContent>
      </p:grpSp>
    </p:spTree>
  </p:cSld>
  <p:clrMapOvr>
    <a:masterClrMapping/>
  </p:clrMapOvr>
  <mc:AlternateContent xmlns:mc="http://schemas.openxmlformats.org/markup-compatibility/2006" xmlns:p14="http://schemas.microsoft.com/office/powerpoint/2010/main">
    <mc:Choice Requires="p14">
      <p:transition p14:dur="450">
        <p:fade/>
      </p:transition>
    </mc:Choice>
    <mc:Fallback xmlns:a14="http://schemas.microsoft.com/office/drawing/2010/main" xmlns:m="http://schemas.openxmlformats.org/officeDocument/2006/math"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04"/>
                                        </p:tgtEl>
                                        <p:attrNameLst>
                                          <p:attrName>style.visibility</p:attrName>
                                        </p:attrNameLst>
                                      </p:cBhvr>
                                      <p:to>
                                        <p:strVal val="visible"/>
                                      </p:to>
                                    </p:set>
                                    <p:animEffect transition="in" filter="fade">
                                      <p:cBhvr>
                                        <p:cTn id="7" dur="400"/>
                                        <p:tgtEl>
                                          <p:spTgt spid="1004"/>
                                        </p:tgtEl>
                                      </p:cBhvr>
                                    </p:animEffect>
                                  </p:childTnLst>
                                </p:cTn>
                              </p:par>
                              <p:par>
                                <p:cTn id="8" presetID="10" presetClass="entr" presetSubtype="0" fill="hold" grpId="0" nodeType="withEffect">
                                  <p:stCondLst>
                                    <p:cond delay="150"/>
                                  </p:stCondLst>
                                  <p:childTnLst>
                                    <p:set>
                                      <p:cBhvr>
                                        <p:cTn id="9" dur="1" fill="hold">
                                          <p:stCondLst>
                                            <p:cond delay="0"/>
                                          </p:stCondLst>
                                        </p:cTn>
                                        <p:tgtEl>
                                          <p:spTgt spid="1005"/>
                                        </p:tgtEl>
                                        <p:attrNameLst>
                                          <p:attrName>style.visibility</p:attrName>
                                        </p:attrNameLst>
                                      </p:cBhvr>
                                      <p:to>
                                        <p:strVal val="visible"/>
                                      </p:to>
                                    </p:set>
                                    <p:animEffect transition="in" filter="fade">
                                      <p:cBhvr>
                                        <p:cTn id="10" dur="500"/>
                                        <p:tgtEl>
                                          <p:spTgt spid="100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006"/>
                                        </p:tgtEl>
                                        <p:attrNameLst>
                                          <p:attrName>style.visibility</p:attrName>
                                        </p:attrNameLst>
                                      </p:cBhvr>
                                      <p:to>
                                        <p:strVal val="visible"/>
                                      </p:to>
                                    </p:set>
                                    <p:animEffect transition="in" filter="fade">
                                      <p:cBhvr>
                                        <p:cTn id="15" dur="500"/>
                                        <p:tgtEl>
                                          <p:spTgt spid="1006"/>
                                        </p:tgtEl>
                                      </p:cBhvr>
                                    </p:animEffect>
                                  </p:childTnLst>
                                </p:cTn>
                              </p:par>
                              <p:par>
                                <p:cTn id="16" presetID="10" presetClass="entr" presetSubtype="0" fill="hold" grpId="0" nodeType="withEffect">
                                  <p:stCondLst>
                                    <p:cond delay="200"/>
                                  </p:stCondLst>
                                  <p:childTnLst>
                                    <p:set>
                                      <p:cBhvr>
                                        <p:cTn id="17" dur="1" fill="hold">
                                          <p:stCondLst>
                                            <p:cond delay="0"/>
                                          </p:stCondLst>
                                        </p:cTn>
                                        <p:tgtEl>
                                          <p:spTgt spid="1007"/>
                                        </p:tgtEl>
                                        <p:attrNameLst>
                                          <p:attrName>style.visibility</p:attrName>
                                        </p:attrNameLst>
                                      </p:cBhvr>
                                      <p:to>
                                        <p:strVal val="visible"/>
                                      </p:to>
                                    </p:set>
                                    <p:animEffect transition="in" filter="fade">
                                      <p:cBhvr>
                                        <p:cTn id="18" dur="500"/>
                                        <p:tgtEl>
                                          <p:spTgt spid="1007"/>
                                        </p:tgtEl>
                                      </p:cBhvr>
                                    </p:animEffect>
                                  </p:childTnLst>
                                </p:cTn>
                              </p:par>
                              <p:par>
                                <p:cTn id="19" presetID="10" presetClass="entr" presetSubtype="0" fill="hold" grpId="0" nodeType="withEffect">
                                  <p:stCondLst>
                                    <p:cond delay="200"/>
                                  </p:stCondLst>
                                  <p:childTnLst>
                                    <p:set>
                                      <p:cBhvr>
                                        <p:cTn id="20" dur="1" fill="hold">
                                          <p:stCondLst>
                                            <p:cond delay="0"/>
                                          </p:stCondLst>
                                        </p:cTn>
                                        <p:tgtEl>
                                          <p:spTgt spid="1008"/>
                                        </p:tgtEl>
                                        <p:attrNameLst>
                                          <p:attrName>style.visibility</p:attrName>
                                        </p:attrNameLst>
                                      </p:cBhvr>
                                      <p:to>
                                        <p:strVal val="visible"/>
                                      </p:to>
                                    </p:set>
                                    <p:animEffect transition="in" filter="fade">
                                      <p:cBhvr>
                                        <p:cTn id="21" dur="500"/>
                                        <p:tgtEl>
                                          <p:spTgt spid="10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4" grpId="0"/>
      <p:bldP spid="1005" grpId="0"/>
      <p:bldP spid="1006" grpId="0"/>
      <p:bldP spid="1007" grpId="0"/>
      <p:bldP spid="1008" grpId="0"/>
    </p:bldLst>
  </p:timing>
</p:sld>
</file>

<file path=ppt/slides/slide4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integral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function"/>
          <p:cNvSpPr/>
          <p:nvPr/>
        </p:nvSpPr>
        <p:spPr>
          <a:xfrm>
            <a:off x="6054725" y="2709545"/>
            <a:ext cx="154305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function</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2000"/>
          <p:cNvSpPr/>
          <p:nvPr/>
        </p:nvSpPr>
        <p:spPr>
          <a:xfrm>
            <a:off x="44005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2000</a:t>
            </a:r>
            <a:endParaRPr sz="1000"/>
          </a:p>
        </p:txBody>
      </p:sp>
      <p:sp>
        <p:nvSpPr>
          <p:cNvPr id="148" name="Editable label 4000"/>
          <p:cNvSpPr/>
          <p:nvPr/>
        </p:nvSpPr>
        <p:spPr>
          <a:xfrm>
            <a:off x="44005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4000</a:t>
            </a:r>
            <a:endParaRPr sz="1000"/>
          </a:p>
        </p:txBody>
      </p:sp>
      <p:sp>
        <p:nvSpPr>
          <p:cNvPr id="149" name="Editable label 6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6000</a:t>
            </a:r>
            <a:endParaRPr sz="1000"/>
          </a:p>
        </p:txBody>
      </p:sp>
      <mc:AlternateContent xmlns:mc="http://schemas.openxmlformats.org/markup-compatibility/2006" xmlns:a14="http://schemas.microsoft.com/office/drawing/2010/main">
        <mc:Choice Requires="a14">
          <p:sp>
            <p:nvSpPr>
              <p:cNvPr id="150" name="Horizontal axis Supply function"/>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𝑇</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50" name="Horizontal axis Supply function"/>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ar-AE" sz="1200" i="1" smtClean="0">
                          <a:latin typeface="Cambria Math" panose="02040503050406030204" pitchFamily="18" charset="0"/>
                        </a:rPr>
                        <m:t>0</m:t>
                      </m:r>
                      <m:r>
                        <a:rPr lang="ar-AE" sz="1200" i="1">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nary>
                            <m:naryPr>
                              <m:ctrlPr>
                                <a:rPr lang="en-US" sz="1200" b="0" i="1" smtClean="0">
                                  <a:latin typeface="Cambria Math" panose="02040503050406030204" pitchFamily="18" charset="0"/>
                                </a:rPr>
                              </m:ctrlPr>
                            </m:naryPr>
                            <m:sub>
                              <m:r>
                                <m:rPr>
                                  <m:brk m:alnAt="23"/>
                                </m:rPr>
                                <a:rPr lang="en-US" sz="1200" b="0" i="1" smtClean="0">
                                  <a:latin typeface="Cambria Math" panose="02040503050406030204" pitchFamily="18" charset="0"/>
                                </a:rPr>
                                <m:t>0</m:t>
                              </m:r>
                            </m:sub>
                            <m:sup>
                              <m:r>
                                <m:rPr>
                                  <m:sty m:val="p"/>
                                </m:rPr>
                                <a:rPr lang="en-US" sz="1200" b="0" i="1" smtClean="0">
                                  <a:latin typeface="Cambria Math" panose="02040503050406030204" pitchFamily="18" charset="0"/>
                                </a:rPr>
                                <m:t>T</m:t>
                              </m:r>
                            </m:sup>
                            <m:e>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m:rPr>
                                              <m:sty m:val="p"/>
                                            </m:rPr>
                                            <a:rPr lang="en-US" sz="1200" b="0" i="1" smtClean="0">
                                              <a:latin typeface="Cambria Math" panose="02040503050406030204" pitchFamily="18" charset="0"/>
                                            </a:rPr>
                                            <m:t>z</m:t>
                                          </m:r>
                                        </m:e>
                                      </m:acc>
                                      <m:r>
                                        <a:rPr lang="en-US" sz="1200" b="0" i="1" smtClean="0">
                                          <a:latin typeface="Cambria Math" panose="02040503050406030204" pitchFamily="18" charset="0"/>
                                        </a:rPr>
                                        <m:t>(</m:t>
                                      </m:r>
                                      <m:r>
                                        <m:rPr>
                                          <m:sty m:val="p"/>
                                        </m:rPr>
                                        <a:rPr lang="en-US" sz="1200" b="0" i="1" smtClean="0">
                                          <a:latin typeface="Cambria Math" panose="02040503050406030204" pitchFamily="18" charset="0"/>
                                        </a:rPr>
                                        <m:t>t</m:t>
                                      </m:r>
                                      <m:r>
                                        <a:rPr lang="en-US" sz="1200" b="0" i="1" smtClean="0">
                                          <a:latin typeface="Cambria Math" panose="02040503050406030204" pitchFamily="18" charset="0"/>
                                        </a:rPr>
                                        <m:t>)</m:t>
                                      </m:r>
                                    </m:e>
                                  </m:d>
                                </m:e>
                                <m:sup>
                                  <m:r>
                                    <a:rPr lang="en-US" sz="1200" b="0" i="1" smtClean="0">
                                      <a:latin typeface="Cambria Math" panose="02040503050406030204" pitchFamily="18" charset="0"/>
                                    </a:rPr>
                                    <m:t>2</m:t>
                                  </m:r>
                                </m:sup>
                              </m:sSup>
                              <m:r>
                                <a:rPr lang="ar-AE" sz="1200" i="1">
                                  <a:latin typeface="Cambria Math" panose="02040503050406030204" pitchFamily="18" charset="0"/>
                                </a:rPr>
                                <m:t>−</m:t>
                              </m:r>
                              <m:sSup>
                                <m:sSupPr>
                                  <m:ctrlPr>
                                    <a:rPr lang="ar-AE" sz="1200" i="1">
                                      <a:latin typeface="Cambria Math" panose="02040503050406030204" pitchFamily="18" charset="0"/>
                                    </a:rPr>
                                  </m:ctrlPr>
                                </m:sSupPr>
                                <m:e>
                                  <m:d>
                                    <m:dPr>
                                      <m:begChr m:val="‖"/>
                                      <m:endChr m:val="‖"/>
                                      <m:ctrlPr>
                                        <a:rPr lang="ar-AE" sz="1200" i="1">
                                          <a:latin typeface="Cambria Math" panose="02040503050406030204" pitchFamily="18" charset="0"/>
                                        </a:rPr>
                                      </m:ctrlPr>
                                    </m:dPr>
                                    <m:e>
                                      <m:acc>
                                        <m:accPr>
                                          <m:chr m:val="˜"/>
                                          <m:ctrlPr>
                                            <a:rPr lang="ar-AE" sz="1200" i="1">
                                              <a:latin typeface="Cambria Math" panose="02040503050406030204" pitchFamily="18" charset="0"/>
                                            </a:rPr>
                                          </m:ctrlPr>
                                        </m:accPr>
                                        <m:e>
                                          <m:r>
                                            <a:rPr lang="ar-AE" sz="1200" i="1">
                                              <a:latin typeface="Cambria Math" panose="02040503050406030204" pitchFamily="18" charset="0"/>
                                            </a:rPr>
                                            <m:t>𝑤</m:t>
                                          </m:r>
                                        </m:e>
                                      </m:acc>
                                      <m:d>
                                        <m:dPr>
                                          <m:ctrlPr>
                                            <a:rPr lang="ar-AE" sz="1200" i="1">
                                              <a:latin typeface="Cambria Math" panose="02040503050406030204" pitchFamily="18" charset="0"/>
                                            </a:rPr>
                                          </m:ctrlPr>
                                        </m:dPr>
                                        <m:e>
                                          <m:r>
                                            <a:rPr lang="ar-AE" sz="1200" i="1">
                                              <a:latin typeface="Cambria Math" panose="02040503050406030204" pitchFamily="18" charset="0"/>
                                            </a:rPr>
                                            <m:t>𝑡</m:t>
                                          </m:r>
                                        </m:e>
                                      </m:d>
                                    </m:e>
                                  </m:d>
                                </m:e>
                                <m:sup>
                                  <m:r>
                                    <a:rPr lang="ar-AE" sz="1200" i="1">
                                      <a:latin typeface="Cambria Math" panose="02040503050406030204" pitchFamily="18" charset="0"/>
                                    </a:rPr>
                                    <m:t>2</m:t>
                                  </m:r>
                                </m:sup>
                              </m:sSup>
                              <m:r>
                                <m:rPr>
                                  <m:sty m:val="p"/>
                                </m:rPr>
                                <a:rPr lang="en-US" sz="1200" b="0" i="1" smtClean="0">
                                  <a:latin typeface="Cambria Math" panose="02040503050406030204" pitchFamily="18" charset="0"/>
                                </a:rPr>
                                <m:t>dt</m:t>
                              </m:r>
                            </m:e>
                          </m:nary>
                        </m:e>
                        <m:sup/>
                      </m:sSup>
                    </m:oMath>
                  </m:oMathPara>
                </a14:m>
                <a:endParaRPr lang="ar-AE" sz="1200" dirty="0"/>
              </a:p>
            </p:txBody>
          </p:sp>
        </mc:Choice>
        <mc:Fallback xmlns="">
          <p:sp>
            <p:nvSpPr>
              <p:cNvPr id="15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t="-738" b="-9225"/>
                </a:stretch>
              </a:blipFill>
              <a:ln>
                <a:noFill/>
              </a:ln>
            </p:spPr>
            <p:txBody>
              <a:bodyPr/>
              <a:lstStyle/>
              <a:p>
                <a:r>
                  <a:rPr lang="en-NL">
                    <a:noFill/>
                  </a:rPr>
                  <a:t> </a:t>
                </a:r>
              </a:p>
            </p:txBody>
          </p:sp>
        </mc:Fallback>
      </mc:AlternateContent>
      <p:sp>
        <p:nvSpPr>
          <p:cNvPr id="152"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3"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rate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rate"/>
          <p:cNvSpPr/>
          <p:nvPr/>
        </p:nvSpPr>
        <p:spPr>
          <a:xfrm>
            <a:off x="6260465" y="2709545"/>
            <a:ext cx="113157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rate</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34801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50000"/>
          <p:cNvSpPr/>
          <p:nvPr/>
        </p:nvSpPr>
        <p:spPr>
          <a:xfrm>
            <a:off x="4400550" y="3640859"/>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50000</a:t>
            </a:r>
            <a:endParaRPr sz="1000"/>
          </a:p>
        </p:txBody>
      </p:sp>
      <p:sp>
        <p:nvSpPr>
          <p:cNvPr id="148" name="Editable label 100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100000</a:t>
            </a:r>
            <a:endParaRPr sz="1000"/>
          </a:p>
        </p:txBody>
      </p:sp>
      <mc:AlternateContent xmlns:mc="http://schemas.openxmlformats.org/markup-compatibility/2006" xmlns:a14="http://schemas.microsoft.com/office/drawing/2010/main">
        <mc:Choice Requires="a14">
          <p:sp>
            <p:nvSpPr>
              <p:cNvPr id="149" name="Horizontal axis Supply rate"/>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49" name="Horizontal axis Supply rate"/>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0" name="Vertical axis Supply rate"/>
              <p:cNvSpPr/>
              <p:nvPr/>
            </p:nvSpPr>
            <p:spPr>
              <a:xfrm rot="16200000">
                <a:off x="35877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200" b="0" i="1" smtClean="0">
                          <a:latin typeface="Cambria Math" panose="02040503050406030204" pitchFamily="18" charset="0"/>
                        </a:rPr>
                        <m:t>0</m:t>
                      </m:r>
                      <m:r>
                        <a:rPr lang="en-US" sz="1200" b="0" i="1" smtClean="0">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𝑧</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r>
                        <a:rPr lang="en-US" sz="1200" b="0" i="1" smtClean="0">
                          <a:latin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𝑤</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oMath>
                  </m:oMathPara>
                </a14:m>
                <a:endParaRPr sz="1200" dirty="0"/>
              </a:p>
            </p:txBody>
          </p:sp>
        </mc:Choice>
        <mc:Fallback xmlns="">
          <p:sp>
            <p:nvSpPr>
              <p:cNvPr id="150" name="Vertical axis Supply rate"/>
              <p:cNvSpPr>
                <a:spLocks noRot="1" noChangeAspect="1" noMove="1" noResize="1" noEditPoints="1" noAdjustHandles="1" noChangeArrowheads="1" noChangeShapeType="1" noTextEdit="1"/>
              </p:cNvSpPr>
              <p:nvPr/>
            </p:nvSpPr>
            <p:spPr>
              <a:xfrm rot="16200000">
                <a:off x="3587750" y="3551555"/>
                <a:ext cx="1651000" cy="548640"/>
              </a:xfrm>
              <a:prstGeom prst="rect">
                <a:avLst/>
              </a:prstGeom>
              <a:blipFill>
                <a:blip r:embed="rId6"/>
                <a:stretch>
                  <a:fillRect/>
                </a:stretch>
              </a:blipFill>
              <a:ln>
                <a:noFill/>
              </a:ln>
            </p:spPr>
            <p:txBody>
              <a:bodyPr/>
              <a:lstStyle/>
              <a:p>
                <a:r>
                  <a:rPr lang="en-NL">
                    <a:noFill/>
                  </a:rPr>
                  <a:t> </a:t>
                </a:r>
              </a:p>
            </p:txBody>
          </p:sp>
        </mc:Fallback>
      </mc:AlternateContent>
      <p:sp>
        <p:nvSpPr>
          <p:cNvPr id="151"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2"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AD940-9DFA-66D7-F3ED-0C60B335485B}"/>
              </a:ext>
            </a:extLst>
          </p:cNvPr>
          <p:cNvSpPr>
            <a:spLocks noGrp="1"/>
          </p:cNvSpPr>
          <p:nvPr>
            <p:ph type="title"/>
          </p:nvPr>
        </p:nvSpPr>
        <p:spPr/>
        <p:txBody>
          <a:bodyPr/>
          <a:lstStyle/>
          <a:p>
            <a:r>
              <a:rPr lang="en-US" dirty="0"/>
              <a:t>Future work</a:t>
            </a:r>
            <a:endParaRPr lang="en-NL" dirty="0"/>
          </a:p>
        </p:txBody>
      </p:sp>
      <p:sp>
        <p:nvSpPr>
          <p:cNvPr id="3" name="Footer Placeholder 2">
            <a:extLst>
              <a:ext uri="{FF2B5EF4-FFF2-40B4-BE49-F238E27FC236}">
                <a16:creationId xmlns:a16="http://schemas.microsoft.com/office/drawing/2014/main" id="{B3AE4E0D-C490-8AC3-B4E9-CE19E9D9B5B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9F25EB0-0C68-3EFC-1A2B-B2B9BCEA535F}"/>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49</a:t>
            </a:fld>
            <a:endParaRPr lang="en-GB"/>
          </a:p>
        </p:txBody>
      </p:sp>
      <p:sp>
        <p:nvSpPr>
          <p:cNvPr id="7" name="TextBox 6">
            <a:extLst>
              <a:ext uri="{FF2B5EF4-FFF2-40B4-BE49-F238E27FC236}">
                <a16:creationId xmlns:a16="http://schemas.microsoft.com/office/drawing/2014/main" id="{1B1D395A-CC86-F7E1-79C1-17C082683EBB}"/>
              </a:ext>
            </a:extLst>
          </p:cNvPr>
          <p:cNvSpPr txBox="1"/>
          <p:nvPr/>
        </p:nvSpPr>
        <p:spPr>
          <a:xfrm>
            <a:off x="457200" y="889000"/>
            <a:ext cx="8312150" cy="715581"/>
          </a:xfrm>
          <a:prstGeom prst="rect">
            <a:avLst/>
          </a:prstGeom>
          <a:noFill/>
        </p:spPr>
        <p:txBody>
          <a:bodyPr wrap="square" rtlCol="0">
            <a:spAutoFit/>
          </a:bodyPr>
          <a:lstStyle/>
          <a:p>
            <a:pPr marL="285750" indent="-285750">
              <a:buFont typeface="Arial" panose="020B0604020202020204" pitchFamily="34" charset="0"/>
              <a:buChar char="•"/>
            </a:pPr>
            <a:r>
              <a:rPr lang="en-US" dirty="0"/>
              <a:t>Extending the multiplier and uncertainty class</a:t>
            </a:r>
          </a:p>
          <a:p>
            <a:pPr marL="628650" lvl="1" indent="-285750">
              <a:buFont typeface="Arial" panose="020B0604020202020204" pitchFamily="34" charset="0"/>
              <a:buChar char="•"/>
            </a:pPr>
            <a:r>
              <a:rPr lang="en-US" dirty="0"/>
              <a:t>Infinite dimensional multipliers: real parametric, and sector bounded uncertainty</a:t>
            </a:r>
          </a:p>
          <a:p>
            <a:pPr marL="628650" lvl="1" indent="-285750">
              <a:buFont typeface="Arial" panose="020B0604020202020204" pitchFamily="34" charset="0"/>
              <a:buChar char="•"/>
            </a:pPr>
            <a:r>
              <a:rPr lang="en-US" dirty="0"/>
              <a:t>Finite dimensional </a:t>
            </a:r>
            <a:r>
              <a:rPr lang="en-US" dirty="0" err="1"/>
              <a:t>mutlipliers</a:t>
            </a:r>
            <a:r>
              <a:rPr lang="en-US" dirty="0"/>
              <a:t>: Strict Positive negative multipliers</a:t>
            </a:r>
            <a:endParaRPr lang="en-NL" dirty="0"/>
          </a:p>
        </p:txBody>
      </p:sp>
    </p:spTree>
    <p:extLst>
      <p:ext uri="{BB962C8B-B14F-4D97-AF65-F5344CB8AC3E}">
        <p14:creationId xmlns:p14="http://schemas.microsoft.com/office/powerpoint/2010/main" val="305239432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01" name="Closing title"/>
          <p:cNvSpPr/>
          <p:nvPr/>
        </p:nvSpPr>
        <p:spPr>
          <a:xfrm>
            <a:off x="457200" y="3460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Beyond the STN–GPe example</a:t>
            </a:r>
            <a:endParaRPr sz="2500"/>
          </a:p>
        </p:txBody>
      </p:sp>
      <p:sp>
        <p:nvSpPr>
          <p:cNvPr id="15002" name="Application ASML wafer stages"/>
          <p:cNvSpPr/>
          <p:nvPr/>
        </p:nvSpPr>
        <p:spPr>
          <a:xfrm>
            <a:off x="412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ASML wafer stages</a:t>
            </a:r>
            <a:endParaRPr sz="1500"/>
          </a:p>
        </p:txBody>
      </p:sp>
      <p:sp>
        <p:nvSpPr>
          <p:cNvPr id="15003" name="Model class ASML wafer stages"/>
          <p:cNvSpPr/>
          <p:nvPr/>
        </p:nvSpPr>
        <p:spPr>
          <a:xfrm>
            <a:off x="381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Wave / beam models</a:t>
            </a:r>
            <a:endParaRPr sz="1300"/>
          </a:p>
        </p:txBody>
      </p:sp>
      <p:sp>
        <p:nvSpPr>
          <p:cNvPr id="15004" name="Application STN–GPe network"/>
          <p:cNvSpPr/>
          <p:nvPr/>
        </p:nvSpPr>
        <p:spPr>
          <a:xfrm>
            <a:off x="3206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STN–GPe network</a:t>
            </a:r>
            <a:endParaRPr sz="1500"/>
          </a:p>
        </p:txBody>
      </p:sp>
      <p:sp>
        <p:nvSpPr>
          <p:cNvPr id="15005" name="Model class STN–GPe network"/>
          <p:cNvSpPr/>
          <p:nvPr/>
        </p:nvSpPr>
        <p:spPr>
          <a:xfrm>
            <a:off x="3175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Delayed neural models</a:t>
            </a:r>
            <a:endParaRPr sz="1300"/>
          </a:p>
        </p:txBody>
      </p:sp>
      <p:sp>
        <p:nvSpPr>
          <p:cNvPr id="15006" name="Application Canon production printers"/>
          <p:cNvSpPr/>
          <p:nvPr/>
        </p:nvSpPr>
        <p:spPr>
          <a:xfrm>
            <a:off x="60896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Canon production printers</a:t>
            </a:r>
            <a:endParaRPr sz="1500"/>
          </a:p>
        </p:txBody>
      </p:sp>
      <p:sp>
        <p:nvSpPr>
          <p:cNvPr id="15007" name="Model class Canon production printers"/>
          <p:cNvSpPr/>
          <p:nvPr/>
        </p:nvSpPr>
        <p:spPr>
          <a:xfrm>
            <a:off x="60579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Heat / moisture models</a:t>
            </a:r>
            <a:endParaRPr sz="1300"/>
          </a:p>
        </p:txBody>
      </p:sp>
      <p:sp>
        <p:nvSpPr>
          <p:cNvPr id="15008" name="ASML to common framework"/>
          <p:cNvSpPr/>
          <p:nvPr/>
        </p:nvSpPr>
        <p:spPr>
          <a:xfrm>
            <a:off x="1765300" y="3022600"/>
            <a:ext cx="685800" cy="469900"/>
          </a:xfrm>
          <a:custGeom>
            <a:avLst/>
            <a:gdLst/>
            <a:ahLst/>
            <a:cxnLst/>
            <a:rect l="0" t="0" r="r" b="b"/>
            <a:pathLst>
              <a:path w="685800" h="469900" fill="none">
                <a:moveTo>
                  <a:pt x="12700" y="12700"/>
                </a:moveTo>
                <a:lnTo>
                  <a:pt x="12700" y="457200"/>
                </a:lnTo>
                <a:lnTo>
                  <a:pt x="673100" y="457200"/>
                </a:lnTo>
              </a:path>
            </a:pathLst>
          </a:custGeom>
          <a:noFill/>
          <a:ln w="15240">
            <a:solidFill>
              <a:srgbClr val="252529"/>
            </a:solidFill>
            <a:round/>
            <a:tailEnd type="triangle" w="sm" len="sm"/>
          </a:ln>
        </p:spPr>
        <p:txBody>
          <a:bodyPr/>
          <a:lstStyle/>
          <a:p>
            <a:endParaRPr lang="en-NL"/>
          </a:p>
        </p:txBody>
      </p:sp>
      <p:sp>
        <p:nvSpPr>
          <p:cNvPr id="15009" name="STN-GPe to common framework"/>
          <p:cNvSpPr/>
          <p:nvPr/>
        </p:nvSpPr>
        <p:spPr>
          <a:xfrm>
            <a:off x="4559300" y="3022600"/>
            <a:ext cx="25400" cy="304800"/>
          </a:xfrm>
          <a:custGeom>
            <a:avLst/>
            <a:gdLst/>
            <a:ahLst/>
            <a:cxnLst/>
            <a:rect l="0" t="0" r="r" b="b"/>
            <a:pathLst>
              <a:path w="25400" h="304800" fill="none">
                <a:moveTo>
                  <a:pt x="12700" y="12700"/>
                </a:moveTo>
                <a:lnTo>
                  <a:pt x="12700" y="292100"/>
                </a:lnTo>
              </a:path>
            </a:pathLst>
          </a:custGeom>
          <a:noFill/>
          <a:ln w="15240">
            <a:solidFill>
              <a:srgbClr val="252529"/>
            </a:solidFill>
            <a:round/>
            <a:tailEnd type="triangle" w="sm" len="sm"/>
          </a:ln>
        </p:spPr>
        <p:txBody>
          <a:bodyPr/>
          <a:lstStyle/>
          <a:p>
            <a:endParaRPr lang="en-NL"/>
          </a:p>
        </p:txBody>
      </p:sp>
      <p:sp>
        <p:nvSpPr>
          <p:cNvPr id="15010" name="Canon to common framework"/>
          <p:cNvSpPr/>
          <p:nvPr/>
        </p:nvSpPr>
        <p:spPr>
          <a:xfrm>
            <a:off x="6692900" y="3022600"/>
            <a:ext cx="774700" cy="469900"/>
          </a:xfrm>
          <a:custGeom>
            <a:avLst/>
            <a:gdLst/>
            <a:ahLst/>
            <a:cxnLst/>
            <a:rect l="0" t="0" r="r" b="b"/>
            <a:pathLst>
              <a:path w="774700" h="469900" fill="none">
                <a:moveTo>
                  <a:pt x="762000" y="12700"/>
                </a:moveTo>
                <a:lnTo>
                  <a:pt x="762000" y="457200"/>
                </a:lnTo>
                <a:lnTo>
                  <a:pt x="12700" y="457200"/>
                </a:lnTo>
              </a:path>
            </a:pathLst>
          </a:custGeom>
          <a:noFill/>
          <a:ln w="15240">
            <a:solidFill>
              <a:srgbClr val="252529"/>
            </a:solidFill>
            <a:round/>
            <a:tailEnd type="triangle" w="sm" len="sm"/>
          </a:ln>
        </p:spPr>
        <p:txBody>
          <a:bodyPr/>
          <a:lstStyle/>
          <a:p>
            <a:endParaRPr lang="en-NL"/>
          </a:p>
        </p:txBody>
      </p:sp>
      <p:sp>
        <p:nvSpPr>
          <p:cNvPr id="15011" name="Shared framework"/>
          <p:cNvSpPr/>
          <p:nvPr/>
        </p:nvSpPr>
        <p:spPr>
          <a:xfrm>
            <a:off x="2438400" y="3314700"/>
            <a:ext cx="4267200" cy="863600"/>
          </a:xfrm>
          <a:prstGeom prst="rect">
            <a:avLst/>
          </a:prstGeom>
          <a:noFill/>
          <a:ln w="12700">
            <a:solidFill>
              <a:srgbClr val="747B82"/>
            </a:solidFill>
          </a:ln>
        </p:spPr>
        <p:txBody>
          <a:bodyPr/>
          <a:lstStyle/>
          <a:p>
            <a:endParaRPr lang="en-NL"/>
          </a:p>
        </p:txBody>
      </p:sp>
      <p:sp>
        <p:nvSpPr>
          <p:cNvPr id="15012" name="Framework title"/>
          <p:cNvSpPr/>
          <p:nvPr/>
        </p:nvSpPr>
        <p:spPr>
          <a:xfrm>
            <a:off x="2476500" y="3409950"/>
            <a:ext cx="4191000" cy="342900"/>
          </a:xfrm>
          <a:prstGeom prst="rect">
            <a:avLst/>
          </a:prstGeom>
          <a:noFill/>
          <a:ln>
            <a:noFill/>
          </a:ln>
        </p:spPr>
        <p:txBody>
          <a:bodyPr wrap="none" lIns="0" tIns="0" rIns="0" bIns="0" anchor="ctr">
            <a:noAutofit/>
          </a:bodyPr>
          <a:lstStyle/>
          <a:p>
            <a:pPr algn="ctr">
              <a:buNone/>
            </a:pPr>
            <a:r>
              <a:rPr lang="en-GB" sz="1800" b="1" i="0" u="none" baseline="0">
                <a:solidFill>
                  <a:srgbClr val="252529"/>
                </a:solidFill>
                <a:latin typeface="Aptos"/>
                <a:ea typeface="Aptos"/>
                <a:cs typeface="Aptos"/>
              </a:rPr>
              <a:t>Common PIE / LFR representation</a:t>
            </a:r>
            <a:endParaRPr sz="1800"/>
          </a:p>
        </p:txBody>
      </p:sp>
      <p:sp>
        <p:nvSpPr>
          <p:cNvPr id="15013" name="Framework capability"/>
          <p:cNvSpPr/>
          <p:nvPr/>
        </p:nvSpPr>
        <p:spPr>
          <a:xfrm>
            <a:off x="2444750" y="3790950"/>
            <a:ext cx="42545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Robust analysis and controller synthesis</a:t>
            </a:r>
            <a:endParaRPr sz="1400"/>
          </a:p>
        </p:txBody>
      </p:sp>
      <p:sp>
        <p:nvSpPr>
          <p:cNvPr id="15014" name="Closing takeaway"/>
          <p:cNvSpPr/>
          <p:nvPr/>
        </p:nvSpPr>
        <p:spPr>
          <a:xfrm>
            <a:off x="381000" y="4333875"/>
            <a:ext cx="8382000" cy="323850"/>
          </a:xfrm>
          <a:prstGeom prst="rect">
            <a:avLst/>
          </a:prstGeom>
          <a:noFill/>
          <a:ln>
            <a:noFill/>
          </a:ln>
        </p:spPr>
        <p:txBody>
          <a:bodyPr wrap="none" lIns="0" tIns="0" rIns="0" bIns="0" anchor="ctr">
            <a:noAutofit/>
          </a:bodyPr>
          <a:lstStyle/>
          <a:p>
            <a:pPr algn="ctr">
              <a:buNone/>
            </a:pPr>
            <a:r>
              <a:rPr lang="en-GB" sz="1700" b="1" i="0" u="none" baseline="0">
                <a:solidFill>
                  <a:srgbClr val="D61016"/>
                </a:solidFill>
                <a:latin typeface="Aptos"/>
                <a:ea typeface="Aptos"/>
                <a:cs typeface="Aptos"/>
              </a:rPr>
              <a:t>The framework applies across distributed systems.</a:t>
            </a:r>
            <a:endParaRPr sz="1700"/>
          </a:p>
        </p:txBody>
      </p:sp>
      <p:sp>
        <p:nvSpPr>
          <p:cNvPr id="150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50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46</a:t>
            </a:r>
            <a:endParaRPr sz="800"/>
          </a:p>
        </p:txBody>
      </p:sp>
      <p:pic>
        <p:nvPicPr>
          <p:cNvPr id="14001" name="ASML wafer stage">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508000" y="1308100"/>
            <a:ext cx="2540000" cy="1320800"/>
          </a:xfrm>
          <a:prstGeom prst="rect">
            <a:avLst/>
          </a:prstGeom>
        </p:spPr>
      </p:pic>
      <p:pic>
        <p:nvPicPr>
          <p:cNvPr id="14002" name="Canon production printer"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6184900" y="1333500"/>
            <a:ext cx="2540000" cy="1244600"/>
          </a:xfrm>
          <a:prstGeom prst="rect">
            <a:avLst/>
          </a:prstGeom>
        </p:spPr>
      </p:pic>
      <p:grpSp>
        <p:nvGrpSpPr>
          <p:cNvPr id="14003" name="STN-GPe example schematic">
            <a:extLst>
              <a:ext uri="{FF2B5EF4-FFF2-40B4-BE49-F238E27FC236}">
                <a16:creationId xmlns:a16="http://schemas.microsoft.com/office/drawing/2014/main" id="{C1E5EDF8-39B7-BFFC-C737-CA4AA387F766}"/>
              </a:ext>
            </a:extLst>
          </p:cNvPr>
          <p:cNvGrpSpPr/>
          <p:nvPr/>
        </p:nvGrpSpPr>
        <p:grpSpPr>
          <a:xfrm>
            <a:off x="3263900" y="1384300"/>
            <a:ext cx="2552700" cy="1231900"/>
            <a:chOff x="1879600" y="241300"/>
            <a:chExt cx="5597595" cy="2692400"/>
          </a:xfrm>
        </p:grpSpPr>
        <p:pic>
          <p:nvPicPr>
            <p:cNvPr id="14004"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14005"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4006"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14007"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m="http://schemas.openxmlformats.org/officeDocument/2006/math" xmlns="">
            <p:sp>
              <p:nvSpPr>
                <p:cNvPr id="14008"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Closing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9"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14010"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Closing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1"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14012"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Closing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3"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xmlns:m="http://schemas.openxmlformats.org/officeDocument/2006/math">
            <p:sp>
              <p:nvSpPr>
                <p:cNvPr id="14014"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Closing7"/>
                  <a:stretch>
                    <a:fillRect/>
                  </a:stretch>
                </a:blipFill>
                <a:ln>
                  <a:noFill/>
                </a:ln>
              </p:spPr>
              <p:txBody>
                <a:bodyPr/>
                <a:lstStyle/>
                <a:p>
                  <a:r>
                    <a:rPr lang="en-NL">
                      <a:noFill/>
                    </a:rPr>
                    <a:t> </a:t>
                  </a:r>
                </a:p>
              </p:txBody>
            </p:sp>
          </mc:Fallback>
        </mc:AlternateContent>
      </p:grpSp>
      <p:pic>
        <p:nvPicPr>
          <p:cNvPr id="14015" name="Original TUe logo"/>
          <p:cNvPicPr>
            <a:picLocks noChangeAspect="1"/>
          </p:cNvPicPr>
          <p:nvPr/>
        </p:nvPicPr>
        <p:blipFill>
          <a:blip r:embed="rId6"/>
          <a:stretch>
            <a:fillRect/>
          </a:stretch>
        </p:blipFill>
        <p:spPr>
          <a:xfrm>
            <a:off x="8458200" y="4813300"/>
            <a:ext cx="457200" cy="254000"/>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a:xfrm>
            <a:off x="457200" y="3810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References</a:t>
            </a:r>
            <a:endParaRPr lang="en-NL" sz="2500" b="1" u="none" cap="none" dirty="0">
              <a:solidFill>
                <a:srgbClr val="252529"/>
              </a:solidFill>
              <a:latin typeface="Aptos"/>
              <a:ea typeface="Aptos"/>
              <a:cs typeface="Aptos"/>
            </a:endParaRPr>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51</a:t>
            </a:fld>
            <a:endParaRPr lang="en-GB" sz="800" b="0" u="none" cap="none" dirty="0">
              <a:solidFill>
                <a:srgbClr val="747B82"/>
              </a:solidFill>
              <a:latin typeface="Aptos"/>
              <a:ea typeface="Aptos"/>
              <a:cs typeface="Aptos"/>
            </a:endParaRPr>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a:xfrm>
            <a:off x="457200" y="1333500"/>
            <a:ext cx="8001000" cy="3048000"/>
          </a:xfrm>
          <a:noFill/>
          <a:ln>
            <a:noFill/>
          </a:ln>
        </p:spPr>
        <p:txBody>
          <a:bodyPr wrap="square" lIns="0" tIns="0" rIns="0" bIns="0" anchor="t">
            <a:noAutofit/>
          </a:bodyPr>
          <a:lstStyle/>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[1] </a:t>
            </a:r>
            <a:r>
              <a:rPr lang="en-US" sz="1700" b="0" u="none" cap="none" dirty="0" err="1">
                <a:solidFill>
                  <a:srgbClr val="252529"/>
                </a:solidFill>
                <a:latin typeface="Aptos"/>
                <a:ea typeface="Aptos"/>
                <a:cs typeface="Aptos"/>
              </a:rPr>
              <a:t>B.De</a:t>
            </a:r>
            <a:r>
              <a:rPr lang="en-US" sz="1700" b="0" u="none" cap="none" dirty="0">
                <a:solidFill>
                  <a:srgbClr val="252529"/>
                </a:solidFill>
                <a:latin typeface="Aptos"/>
                <a:ea typeface="Aptos"/>
                <a:cs typeface="Aptos"/>
              </a:rPr>
              <a:t> la </a:t>
            </a:r>
            <a:r>
              <a:rPr lang="en-US" sz="1700" b="0" u="none" cap="none" dirty="0" err="1">
                <a:solidFill>
                  <a:srgbClr val="252529"/>
                </a:solidFill>
                <a:latin typeface="Aptos"/>
                <a:ea typeface="Aptos"/>
                <a:cs typeface="Aptos"/>
              </a:rPr>
              <a:t>Crompe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M.Deffains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A.Leblois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N.Mallet</a:t>
            </a:r>
            <a:r>
              <a:rPr lang="en-US" sz="1700" b="0" u="none" cap="none" dirty="0">
                <a:solidFill>
                  <a:srgbClr val="252529"/>
                </a:solidFill>
                <a:latin typeface="Aptos"/>
                <a:ea typeface="Aptos"/>
                <a:cs typeface="Aptos"/>
              </a:rPr>
              <a:t>, “Reevaluating the role of the STN-</a:t>
            </a:r>
            <a:r>
              <a:rPr lang="en-US" sz="1700" b="0" u="none" cap="none" dirty="0" err="1">
                <a:solidFill>
                  <a:srgbClr val="252529"/>
                </a:solidFill>
                <a:latin typeface="Aptos"/>
                <a:ea typeface="Aptos"/>
                <a:cs typeface="Aptos"/>
              </a:rPr>
              <a:t>Gpe</a:t>
            </a:r>
            <a:r>
              <a:rPr lang="en-US" sz="1700" b="0" u="none" cap="none" dirty="0">
                <a:solidFill>
                  <a:srgbClr val="252529"/>
                </a:solidFill>
                <a:latin typeface="Aptos"/>
                <a:ea typeface="Aptos"/>
                <a:cs typeface="Aptos"/>
              </a:rPr>
              <a:t> network in generating beta synchronized oscillatory activity in parkinsonism.”</a:t>
            </a:r>
          </a:p>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[2]A.J. Nevado </a:t>
            </a:r>
            <a:r>
              <a:rPr lang="en-US" sz="1700" b="0" u="none" cap="none" dirty="0" err="1">
                <a:solidFill>
                  <a:srgbClr val="252529"/>
                </a:solidFill>
                <a:latin typeface="Aptos"/>
                <a:ea typeface="Aptos"/>
                <a:cs typeface="Aptos"/>
              </a:rPr>
              <a:t>Holgade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J.R.Terry,R.Bogacz</a:t>
            </a:r>
            <a:r>
              <a:rPr lang="en-US" sz="1700" b="0" u="none" cap="none" dirty="0">
                <a:solidFill>
                  <a:srgbClr val="252529"/>
                </a:solidFill>
                <a:latin typeface="Aptos"/>
                <a:ea typeface="Aptos"/>
                <a:cs typeface="Aptos"/>
              </a:rPr>
              <a:t>, “Conditions for the Generation of Beta Oscillations in the Subthalamic Nucleus-Globus Pallidus Network”</a:t>
            </a:r>
          </a:p>
        </p:txBody>
      </p:sp>
      <p:pic>
        <p:nvPicPr>
          <p:cNvPr id="6"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92268333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Heat in paper</a:t>
            </a:r>
            <a:endParaRPr sz="2100" dirty="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p:sp>
        <p:nvSpPr>
          <p:cNvPr id="11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48</a:t>
            </a:r>
            <a:endParaRPr sz="80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E051A-4E1F-2FF0-BC7A-393875869DEC}"/>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D1A4BC10-23F4-0C1B-AA9E-4F6ED68E004B}"/>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a:extLst>
              <a:ext uri="{FF2B5EF4-FFF2-40B4-BE49-F238E27FC236}">
                <a16:creationId xmlns:a16="http://schemas.microsoft.com/office/drawing/2014/main" id="{EE488297-19B9-1E15-D086-78FA3622B3E7}"/>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79C17842-EFBD-623C-0B75-77CB42F6B987}"/>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9A70A83E-8037-23DD-ABA7-F26B14C16378}"/>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16E1AE26-69F6-0B22-8C01-F6872FC1A9D2}"/>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a:extLst>
              <a:ext uri="{FF2B5EF4-FFF2-40B4-BE49-F238E27FC236}">
                <a16:creationId xmlns:a16="http://schemas.microsoft.com/office/drawing/2014/main" id="{86E61732-95E4-0B25-D58C-C1AB469F97FB}"/>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60355604-01EA-AE4B-F7B9-CD6D96B51A45}"/>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a:extLst>
                  <a:ext uri="{FF2B5EF4-FFF2-40B4-BE49-F238E27FC236}">
                    <a16:creationId xmlns:a16="http://schemas.microsoft.com/office/drawing/2014/main" id="{344EF122-6A82-56C8-AC9C-A66B28384A70}"/>
                  </a:ext>
                </a:extLst>
              </p:cNvPr>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a:extLst>
                  <a:ext uri="{FF2B5EF4-FFF2-40B4-BE49-F238E27FC236}">
                    <a16:creationId xmlns:a16="http://schemas.microsoft.com/office/drawing/2014/main" id="{344EF122-6A82-56C8-AC9C-A66B28384A70}"/>
                  </a:ext>
                </a:extLst>
              </p:cNvPr>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a:extLst>
                  <a:ext uri="{FF2B5EF4-FFF2-40B4-BE49-F238E27FC236}">
                    <a16:creationId xmlns:a16="http://schemas.microsoft.com/office/drawing/2014/main" id="{545A1720-29FF-0D20-A47C-4E210BD0D9DE}"/>
                  </a:ext>
                </a:extLst>
              </p:cNvPr>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a:extLst>
                  <a:ext uri="{FF2B5EF4-FFF2-40B4-BE49-F238E27FC236}">
                    <a16:creationId xmlns:a16="http://schemas.microsoft.com/office/drawing/2014/main" id="{545A1720-29FF-0D20-A47C-4E210BD0D9DE}"/>
                  </a:ext>
                </a:extLst>
              </p:cNvPr>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a:extLst>
              <a:ext uri="{FF2B5EF4-FFF2-40B4-BE49-F238E27FC236}">
                <a16:creationId xmlns:a16="http://schemas.microsoft.com/office/drawing/2014/main" id="{3D5D15C0-D0E1-F184-59A5-B1B6100DB03A}"/>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CF05856C-1818-C2D0-400F-B3BEA662F22F}"/>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A5AC6E25-82F6-BC00-7F81-AC6A38523126}"/>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a:extLst>
                  <a:ext uri="{FF2B5EF4-FFF2-40B4-BE49-F238E27FC236}">
                    <a16:creationId xmlns:a16="http://schemas.microsoft.com/office/drawing/2014/main" id="{DBE741BE-5945-E885-5D88-26B88ADCEE5F}"/>
                  </a:ext>
                </a:extLst>
              </p:cNvPr>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a:extLst>
                  <a:ext uri="{FF2B5EF4-FFF2-40B4-BE49-F238E27FC236}">
                    <a16:creationId xmlns:a16="http://schemas.microsoft.com/office/drawing/2014/main" id="{DBE741BE-5945-E885-5D88-26B88ADCEE5F}"/>
                  </a:ext>
                </a:extLst>
              </p:cNvPr>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DB318B57-7061-19E6-2D8A-B4E65DA36A4E}"/>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a:extLst>
                  <a:ext uri="{FF2B5EF4-FFF2-40B4-BE49-F238E27FC236}">
                    <a16:creationId xmlns:a16="http://schemas.microsoft.com/office/drawing/2014/main" id="{DB318B57-7061-19E6-2D8A-B4E65DA36A4E}"/>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a:extLst>
                  <a:ext uri="{FF2B5EF4-FFF2-40B4-BE49-F238E27FC236}">
                    <a16:creationId xmlns:a16="http://schemas.microsoft.com/office/drawing/2014/main" id="{B8525C42-C018-1DC9-0671-706483983DC9}"/>
                  </a:ext>
                </a:extLst>
              </p:cNvPr>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a:extLst>
                  <a:ext uri="{FF2B5EF4-FFF2-40B4-BE49-F238E27FC236}">
                    <a16:creationId xmlns:a16="http://schemas.microsoft.com/office/drawing/2014/main" id="{B8525C42-C018-1DC9-0671-706483983DC9}"/>
                  </a:ext>
                </a:extLst>
              </p:cNvPr>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a:extLst>
                  <a:ext uri="{FF2B5EF4-FFF2-40B4-BE49-F238E27FC236}">
                    <a16:creationId xmlns:a16="http://schemas.microsoft.com/office/drawing/2014/main" id="{06394209-D93A-E2C7-69BA-64999C67DF1D}"/>
                  </a:ext>
                </a:extLst>
              </p:cNvPr>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a:extLst>
                  <a:ext uri="{FF2B5EF4-FFF2-40B4-BE49-F238E27FC236}">
                    <a16:creationId xmlns:a16="http://schemas.microsoft.com/office/drawing/2014/main" id="{06394209-D93A-E2C7-69BA-64999C67DF1D}"/>
                  </a:ext>
                </a:extLst>
              </p:cNvPr>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a:extLst>
                  <a:ext uri="{FF2B5EF4-FFF2-40B4-BE49-F238E27FC236}">
                    <a16:creationId xmlns:a16="http://schemas.microsoft.com/office/drawing/2014/main" id="{D859784A-FCD1-6236-DD3A-19245AD72AB0}"/>
                  </a:ext>
                </a:extLst>
              </p:cNvPr>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a:extLst>
                  <a:ext uri="{FF2B5EF4-FFF2-40B4-BE49-F238E27FC236}">
                    <a16:creationId xmlns:a16="http://schemas.microsoft.com/office/drawing/2014/main" id="{D859784A-FCD1-6236-DD3A-19245AD72AB0}"/>
                  </a:ext>
                </a:extLst>
              </p:cNvPr>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2"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2"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3"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1"/>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p:sp>
        <p:nvSpPr>
          <p:cNvPr id="119" name="Footer">
            <a:extLst>
              <a:ext uri="{FF2B5EF4-FFF2-40B4-BE49-F238E27FC236}">
                <a16:creationId xmlns:a16="http://schemas.microsoft.com/office/drawing/2014/main" id="{BA9AC1A4-7EAE-4CBB-B93E-F69D5E35EBB8}"/>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a:extLst>
              <a:ext uri="{FF2B5EF4-FFF2-40B4-BE49-F238E27FC236}">
                <a16:creationId xmlns:a16="http://schemas.microsoft.com/office/drawing/2014/main" id="{64B7ECCC-85CD-94C1-2C7B-22A59546218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49</a:t>
            </a:r>
            <a:endParaRPr sz="800"/>
          </a:p>
        </p:txBody>
      </p:sp>
    </p:spTree>
    <p:extLst>
      <p:ext uri="{BB962C8B-B14F-4D97-AF65-F5344CB8AC3E}">
        <p14:creationId xmlns:p14="http://schemas.microsoft.com/office/powerpoint/2010/main" val="196267245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ln>
                <a:solidFill>
                  <a:sysClr val="windowText" lastClr="000000"/>
                </a:solidFill>
              </a:ln>
            </a:endParaRPr>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400">
                              <a:solidFill>
                                <a:srgbClr val="D61016"/>
                              </a:solidFill>
                              <a:latin typeface="Cambria Math"/>
                            </a:rPr>
                          </m:ctrlPr>
                        </m:dPr>
                        <m:e>
                          <m:r>
                            <a:rPr sz="2400">
                              <a:solidFill>
                                <a:srgbClr val="D61016"/>
                              </a:solidFill>
                              <a:latin typeface="Cambria Math"/>
                            </a:rPr>
                            <m:t>𝛿</m:t>
                          </m:r>
                        </m:e>
                      </m:d>
                      <m:r>
                        <a:rPr sz="2400">
                          <a:solidFill>
                            <a:srgbClr val="252529"/>
                          </a:solidFill>
                          <a:latin typeface="Cambria Math"/>
                        </a:rPr>
                        <m:t>≤</m:t>
                      </m:r>
                      <m:r>
                        <a:rPr sz="2400">
                          <a:solidFill>
                            <a:srgbClr val="252529"/>
                          </a:solidFill>
                          <a:latin typeface="Cambria Math"/>
                        </a:rPr>
                        <m:t>𝛼</m:t>
                      </m:r>
                    </m:oMath>
                  </m:oMathPara>
                </a14:m>
                <a:endParaRPr sz="2400" dirty="0"/>
              </a:p>
            </p:txBody>
          </p:sp>
        </mc:Choice>
        <mc:Fallback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b="-62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𝑎</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𝑏</m:t>
                      </m:r>
                      <m:d>
                        <m:dPr>
                          <m:ctrlPr>
                            <a:rPr sz="1700">
                              <a:solidFill>
                                <a:srgbClr val="D61016"/>
                              </a:solidFill>
                              <a:latin typeface="Cambria Math"/>
                            </a:rPr>
                          </m:ctrlPr>
                        </m:dPr>
                        <m:e>
                          <m:r>
                            <a:rPr sz="1700">
                              <a:solidFill>
                                <a:srgbClr val="D61016"/>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3"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4"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D61016"/>
                          </a:solidFill>
                          <a:latin typeface="Cambria Math"/>
                        </a:rPr>
                        <m:t>𝑐</m:t>
                      </m:r>
                      <m:d>
                        <m:dPr>
                          <m:ctrlPr>
                            <a:rPr sz="1700">
                              <a:solidFill>
                                <a:srgbClr val="D61016"/>
                              </a:solidFill>
                              <a:latin typeface="Cambria Math"/>
                            </a:rPr>
                          </m:ctrlPr>
                        </m:dPr>
                        <m:e>
                          <m:r>
                            <a:rPr sz="1700">
                              <a:solidFill>
                                <a:srgbClr val="D61016"/>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D61016"/>
                          </a:solidFill>
                          <a:latin typeface="Cambria Math"/>
                        </a:rPr>
                        <m:t>𝑑</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5"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0"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1"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50</a:t>
            </a:r>
            <a:endParaRPr sz="800"/>
          </a:p>
        </p:txBody>
      </p:sp>
      <p:sp>
        <p:nvSpPr>
          <p:cNvPr id="2" name="Rectangle 1">
            <a:extLst>
              <a:ext uri="{FF2B5EF4-FFF2-40B4-BE49-F238E27FC236}">
                <a16:creationId xmlns:a16="http://schemas.microsoft.com/office/drawing/2014/main" id="{1C387829-4F83-FB16-B545-5CAE9EE14508}"/>
              </a:ext>
            </a:extLst>
          </p:cNvPr>
          <p:cNvSpPr/>
          <p:nvPr/>
        </p:nvSpPr>
        <p:spPr>
          <a:xfrm>
            <a:off x="7854950" y="1139518"/>
            <a:ext cx="1054100" cy="444172"/>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400">
                              <a:solidFill>
                                <a:srgbClr val="D61016"/>
                              </a:solidFill>
                              <a:latin typeface="Cambria Math"/>
                            </a:rPr>
                          </m:ctrlPr>
                        </m:dPr>
                        <m:e>
                          <m:r>
                            <a:rPr sz="1400">
                              <a:solidFill>
                                <a:srgbClr val="D61016"/>
                              </a:solidFill>
                              <a:latin typeface="Cambria Math"/>
                            </a:rPr>
                            <m:t>𝛿</m:t>
                          </m:r>
                        </m:e>
                      </m:d>
                      <m:r>
                        <a:rPr sz="1400">
                          <a:solidFill>
                            <a:srgbClr val="252529"/>
                          </a:solidFill>
                          <a:latin typeface="Cambria Math"/>
                        </a:rPr>
                        <m:t>≤</m:t>
                      </m:r>
                      <m:r>
                        <a:rPr sz="1400">
                          <a:solidFill>
                            <a:srgbClr val="252529"/>
                          </a:solidFill>
                          <a:latin typeface="Cambria Math"/>
                        </a:rPr>
                        <m:t>𝛼</m:t>
                      </m:r>
                    </m:oMath>
                  </m:oMathPara>
                </a14:m>
                <a:endParaRPr sz="1400"/>
              </a:p>
            </p:txBody>
          </p:sp>
        </mc:Choice>
        <mc:Fallback xmlns="" xmlns:m="http://schemas.openxmlformats.org/officeDocument/2006/math">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5"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6"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147C60"/>
                              </a:solidFill>
                              <a:latin typeface="Cambria Math"/>
                            </a:rPr>
                          </m:ctrlPr>
                        </m:sSubPr>
                        <m:e>
                          <m:r>
                            <a:rPr sz="1700">
                              <a:solidFill>
                                <a:srgbClr val="147C60"/>
                              </a:solidFill>
                              <a:latin typeface="Cambria Math"/>
                            </a:rPr>
                            <m:t>𝑧</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6"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1"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2"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51</a:t>
            </a:r>
            <a:endParaRPr sz="800"/>
          </a:p>
        </p:txBody>
      </p:sp>
      <p:sp>
        <p:nvSpPr>
          <p:cNvPr id="2" name="Rectangle 1">
            <a:extLst>
              <a:ext uri="{FF2B5EF4-FFF2-40B4-BE49-F238E27FC236}">
                <a16:creationId xmlns:a16="http://schemas.microsoft.com/office/drawing/2014/main" id="{7C8A35B7-38A9-C491-3025-42FE8C2358F5}"/>
              </a:ext>
            </a:extLst>
          </p:cNvPr>
          <p:cNvSpPr/>
          <p:nvPr/>
        </p:nvSpPr>
        <p:spPr>
          <a:xfrm>
            <a:off x="6146800" y="2999740"/>
            <a:ext cx="1397000" cy="34417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Rectangle 3">
            <a:extLst>
              <a:ext uri="{FF2B5EF4-FFF2-40B4-BE49-F238E27FC236}">
                <a16:creationId xmlns:a16="http://schemas.microsoft.com/office/drawing/2014/main" id="{5517A88E-E7FD-8FAD-9595-582EC0F31898}"/>
              </a:ext>
            </a:extLst>
          </p:cNvPr>
          <p:cNvSpPr/>
          <p:nvPr/>
        </p:nvSpPr>
        <p:spPr>
          <a:xfrm>
            <a:off x="2640012" y="3944302"/>
            <a:ext cx="3863975" cy="645795"/>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6BD19-2F6B-F186-F46A-DAB01941881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C78642D7-2399-A88C-82B1-8B48ACF0E58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CBC513D1-BB8C-12F4-897B-426C1C53A46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432A648-A470-2185-FF80-2EDB0168BE25}"/>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52</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0D5EE36-29B9-F3C5-509B-B45F60BDFD2A}"/>
                  </a:ext>
                </a:extLst>
              </p:cNvPr>
              <p:cNvSpPr txBox="1"/>
              <p:nvPr/>
            </p:nvSpPr>
            <p:spPr>
              <a:xfrm>
                <a:off x="3534603" y="2768635"/>
                <a:ext cx="998287" cy="784830"/>
              </a:xfrm>
              <a:prstGeom prst="rect">
                <a:avLst/>
              </a:prstGeom>
              <a:noFill/>
            </p:spPr>
            <p:txBody>
              <a:bodyPr wrap="none" rtlCol="0">
                <a:spAutoFit/>
              </a:bodyPr>
              <a:lstStyle/>
              <a:p>
                <a:pPr/>
                <a14:m>
                  <m:oMathPara xmlns:m="http://schemas.openxmlformats.org/officeDocument/2006/math">
                    <m:oMath>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𝛿</m:t>
                          </m:r>
                        </m:e>
                      </m:d>
                      <m:r>
                        <a:rPr lang="en-US" sz="1800" b="0" i="1" smtClean="0">
                          <a:latin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𝛼</m:t>
                      </m:r>
                    </m:oMath>
                  </m:oMathPara>
                </a14:m>
                <a:endParaRPr lang="en-US" sz="1800" b="0" dirty="0"/>
              </a:p>
              <a:p>
                <a:endParaRPr lang="en-US" b="0" dirty="0"/>
              </a:p>
              <a:p>
                <a:endParaRPr lang="en-NL" dirty="0"/>
              </a:p>
            </p:txBody>
          </p:sp>
        </mc:Choice>
        <mc:Fallback xmlns="">
          <p:sp>
            <p:nvSpPr>
              <p:cNvPr id="26" name="TextBox 25">
                <a:extLst>
                  <a:ext uri="{FF2B5EF4-FFF2-40B4-BE49-F238E27FC236}">
                    <a16:creationId xmlns:a16="http://schemas.microsoft.com/office/drawing/2014/main" id="{20D5EE36-29B9-F3C5-509B-B45F60BDFD2A}"/>
                  </a:ext>
                </a:extLst>
              </p:cNvPr>
              <p:cNvSpPr txBox="1">
                <a:spLocks noRot="1" noChangeAspect="1" noMove="1" noResize="1" noEditPoints="1" noAdjustHandles="1" noChangeArrowheads="1" noChangeShapeType="1" noTextEdit="1"/>
              </p:cNvSpPr>
              <p:nvPr/>
            </p:nvSpPr>
            <p:spPr>
              <a:xfrm>
                <a:off x="3534603" y="2768635"/>
                <a:ext cx="998287" cy="784830"/>
              </a:xfrm>
              <a:prstGeom prst="rect">
                <a:avLst/>
              </a:prstGeom>
              <a:blipFill>
                <a:blip r:embed="rId10"/>
                <a:stretch>
                  <a:fillRect/>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C9AE22EA-1490-C093-D7CF-610748DB3D5D}"/>
              </a:ext>
            </a:extLst>
          </p:cNvPr>
          <p:cNvSpPr txBox="1"/>
          <p:nvPr/>
        </p:nvSpPr>
        <p:spPr>
          <a:xfrm>
            <a:off x="5126191" y="3438197"/>
            <a:ext cx="2925609" cy="507831"/>
          </a:xfrm>
          <a:prstGeom prst="rect">
            <a:avLst/>
          </a:prstGeom>
          <a:noFill/>
        </p:spPr>
        <p:txBody>
          <a:bodyPr wrap="none" rtlCol="0">
            <a:spAutoFit/>
          </a:bodyPr>
          <a:lstStyle/>
          <a:p>
            <a:r>
              <a:rPr lang="en-US" dirty="0">
                <a:solidFill>
                  <a:srgbClr val="C81919"/>
                </a:solidFill>
              </a:rPr>
              <a:t>Delta</a:t>
            </a:r>
            <a:r>
              <a:rPr lang="en-US" dirty="0"/>
              <a:t>: captures uncertainty</a:t>
            </a:r>
          </a:p>
          <a:p>
            <a:r>
              <a:rPr lang="en-US" dirty="0">
                <a:solidFill>
                  <a:srgbClr val="C81919"/>
                </a:solidFill>
              </a:rPr>
              <a:t>P</a:t>
            </a:r>
            <a:r>
              <a:rPr lang="en-US" dirty="0"/>
              <a:t>: captures nominal/linear dynamics</a:t>
            </a:r>
            <a:endParaRPr lang="en-NL" dirty="0"/>
          </a:p>
        </p:txBody>
      </p:sp>
    </p:spTree>
    <p:extLst>
      <p:ext uri="{BB962C8B-B14F-4D97-AF65-F5344CB8AC3E}">
        <p14:creationId xmlns:p14="http://schemas.microsoft.com/office/powerpoint/2010/main" val="397238910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 Stability </a:t>
            </a:r>
            <a:r>
              <a:rPr lang="en-GB" sz="2500" b="1" i="0" u="none" baseline="0" dirty="0">
                <a:solidFill>
                  <a:srgbClr val="252529"/>
                </a:solidFill>
                <a:latin typeface="Aptos"/>
                <a:ea typeface="Aptos"/>
                <a:cs typeface="Aptos"/>
              </a:rPr>
              <a:t>and 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53</a:t>
            </a:r>
            <a:endParaRPr sz="800"/>
          </a:p>
        </p:txBody>
      </p:sp>
      <p:pic>
        <p:nvPicPr>
          <p:cNvPr id="3" name="Baked figure with larger labels"/>
          <p:cNvPicPr>
            <a:picLocks noChangeAspect="1"/>
          </p:cNvPicPr>
          <p:nvPr/>
        </p:nvPicPr>
        <p:blipFill>
          <a:blip r:embed="rId4"/>
          <a:stretch>
            <a:fillRect/>
          </a:stretch>
        </p:blipFill>
        <p:spPr>
          <a:xfrm>
            <a:off x="1438275" y="2824162"/>
            <a:ext cx="1976438" cy="1438275"/>
          </a:xfrm>
          <a:prstGeom prst="rect">
            <a:avLst/>
          </a:prstGeom>
        </p:spPr>
      </p:pic>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F3F843A-51BF-A573-35DF-74D1223308AB}"/>
                  </a:ext>
                </a:extLst>
              </p:cNvPr>
              <p:cNvSpPr txBox="1"/>
              <p:nvPr/>
            </p:nvSpPr>
            <p:spPr>
              <a:xfrm>
                <a:off x="4058029" y="2864115"/>
                <a:ext cx="3377720" cy="923330"/>
              </a:xfrm>
              <a:prstGeom prst="rect">
                <a:avLst/>
              </a:prstGeom>
              <a:noFill/>
            </p:spPr>
            <p:txBody>
              <a:bodyPr wrap="none" rtlCol="0">
                <a:spAutoFit/>
              </a:bodyPr>
              <a:lstStyle/>
              <a:p>
                <a:r>
                  <a:rPr lang="en-US" dirty="0">
                    <a:solidFill>
                      <a:srgbClr val="C81919"/>
                    </a:solidFill>
                  </a:rPr>
                  <a:t>Robust Stability: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endParaRPr lang="en-US" b="0" dirty="0"/>
              </a:p>
              <a:p>
                <a:endParaRPr lang="en-US" b="0" dirty="0"/>
              </a:p>
              <a:p>
                <a:r>
                  <a:rPr lang="en-US" b="0" dirty="0"/>
                  <a:t> </a:t>
                </a:r>
              </a:p>
              <a:p>
                <a:endParaRPr lang="en-NL" dirty="0"/>
              </a:p>
            </p:txBody>
          </p:sp>
        </mc:Choice>
        <mc:Fallback xmlns="">
          <p:sp>
            <p:nvSpPr>
              <p:cNvPr id="27" name="TextBox 26">
                <a:extLst>
                  <a:ext uri="{FF2B5EF4-FFF2-40B4-BE49-F238E27FC236}">
                    <a16:creationId xmlns:a16="http://schemas.microsoft.com/office/drawing/2014/main" id="{1F3F843A-51BF-A573-35DF-74D1223308AB}"/>
                  </a:ext>
                </a:extLst>
              </p:cNvPr>
              <p:cNvSpPr txBox="1">
                <a:spLocks noRot="1" noChangeAspect="1" noMove="1" noResize="1" noEditPoints="1" noAdjustHandles="1" noChangeArrowheads="1" noChangeShapeType="1" noTextEdit="1"/>
              </p:cNvSpPr>
              <p:nvPr/>
            </p:nvSpPr>
            <p:spPr>
              <a:xfrm>
                <a:off x="4058029" y="2864115"/>
                <a:ext cx="3377720" cy="923330"/>
              </a:xfrm>
              <a:prstGeom prst="rect">
                <a:avLst/>
              </a:prstGeom>
              <a:blipFill>
                <a:blip r:embed="rId8"/>
                <a:stretch>
                  <a:fillRect l="-542" t="-1325"/>
                </a:stretch>
              </a:blipFill>
            </p:spPr>
            <p:txBody>
              <a:bodyPr/>
              <a:lstStyle/>
              <a:p>
                <a:r>
                  <a:rPr lang="en-NL">
                    <a:noFill/>
                  </a:rPr>
                  <a:t> </a:t>
                </a:r>
              </a:p>
            </p:txBody>
          </p:sp>
        </mc:Fallback>
      </mc:AlternateContent>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A9CC1-1597-C2D1-4C99-A47FC7E81CE8}"/>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42D73EE-D26E-4635-A9E7-26AFAE1C7C5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solidFill>
                  <a:srgbClr val="C81919"/>
                </a:solidFill>
                <a:latin typeface="Aptos"/>
                <a:ea typeface="Aptos"/>
                <a:cs typeface="Aptos"/>
              </a:rPr>
              <a:t>Performance</a:t>
            </a:r>
            <a:endParaRPr sz="2500" dirty="0">
              <a:solidFill>
                <a:srgbClr val="C81919"/>
              </a:solidFill>
            </a:endParaRPr>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FBA4E85C-D9AD-56CF-1589-D67272395582}"/>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55E41374-91B3-EBFF-EE06-B2D6EB3267D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54</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313F0C9-99A2-B096-C3E4-76905794F666}"/>
                  </a:ext>
                </a:extLst>
              </p:cNvPr>
              <p:cNvSpPr txBox="1"/>
              <p:nvPr/>
            </p:nvSpPr>
            <p:spPr>
              <a:xfrm>
                <a:off x="4058029" y="2864115"/>
                <a:ext cx="4061305" cy="1338828"/>
              </a:xfrm>
              <a:prstGeom prst="rect">
                <a:avLst/>
              </a:prstGeom>
              <a:noFill/>
            </p:spPr>
            <p:txBody>
              <a:bodyPr wrap="none" rtlCol="0">
                <a:spAutoFit/>
              </a:bodyPr>
              <a:lstStyle/>
              <a:p>
                <a:r>
                  <a:rPr lang="en-US" dirty="0">
                    <a:solidFill>
                      <a:srgbClr val="C81919"/>
                    </a:solidFill>
                  </a:rPr>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3313F0C9-99A2-B096-C3E4-76905794F666}"/>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p:spTree>
    <p:extLst>
      <p:ext uri="{BB962C8B-B14F-4D97-AF65-F5344CB8AC3E}">
        <p14:creationId xmlns:p14="http://schemas.microsoft.com/office/powerpoint/2010/main" val="221843600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4DD95-AB8D-D668-BD00-DCAFCDD6F71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826A5CCF-11D1-CDBC-C891-5FD7FD1D60D9}"/>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latin typeface="Aptos"/>
                <a:ea typeface="Aptos"/>
                <a:cs typeface="Aptos"/>
              </a:rPr>
              <a:t>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AF317442-0E0F-CB5A-3101-289D5CA9047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E07825B-BF06-B545-E4C9-8732E489040C}"/>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55</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E46ACF1-8E4A-C6CB-246F-D5AE6CDA6C2C}"/>
                  </a:ext>
                </a:extLst>
              </p:cNvPr>
              <p:cNvSpPr txBox="1"/>
              <p:nvPr/>
            </p:nvSpPr>
            <p:spPr>
              <a:xfrm>
                <a:off x="4058029" y="2864115"/>
                <a:ext cx="4061305" cy="1338828"/>
              </a:xfrm>
              <a:prstGeom prst="rect">
                <a:avLst/>
              </a:prstGeom>
              <a:noFill/>
            </p:spPr>
            <p:txBody>
              <a:bodyPr wrap="none" rtlCol="0">
                <a:spAutoFit/>
              </a:bodyPr>
              <a:lstStyle/>
              <a:p>
                <a:r>
                  <a:rPr lang="en-US" dirty="0"/>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FE46ACF1-8E4A-C6CB-246F-D5AE6CDA6C2C}"/>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E312C2B-DA0B-C25D-902C-3AA5CCF6CDCA}"/>
                  </a:ext>
                </a:extLst>
              </p:cNvPr>
              <p:cNvSpPr txBox="1"/>
              <p:nvPr/>
            </p:nvSpPr>
            <p:spPr>
              <a:xfrm>
                <a:off x="4081541" y="3715169"/>
                <a:ext cx="3595151" cy="386324"/>
              </a:xfrm>
              <a:prstGeom prst="rect">
                <a:avLst/>
              </a:prstGeom>
              <a:noFill/>
            </p:spPr>
            <p:txBody>
              <a:bodyPr wrap="none" rtlCol="0">
                <a:spAutoFit/>
              </a:bodyPr>
              <a:lstStyle/>
              <a:p>
                <a:r>
                  <a:rPr lang="en-US" dirty="0">
                    <a:solidFill>
                      <a:srgbClr val="C00000"/>
                    </a:solidFill>
                  </a:rPr>
                  <a:t>Performance metric:  </a:t>
                </a:r>
                <a14:m>
                  <m:oMath xmlns:m="http://schemas.openxmlformats.org/officeDocument/2006/math">
                    <m:sSub>
                      <m:sSubPr>
                        <m:ctrlPr>
                          <a:rPr lang="en-NL" i="1">
                            <a:latin typeface="Cambria Math" panose="02040503050406030204" pitchFamily="18" charset="0"/>
                          </a:rPr>
                        </m:ctrlPr>
                      </m:sSubPr>
                      <m:e>
                        <m:d>
                          <m:dPr>
                            <m:begChr m:val="‖"/>
                            <m:endChr m:val="‖"/>
                            <m:ctrlPr>
                              <a:rPr lang="en-NL" i="1">
                                <a:latin typeface="Cambria Math" panose="02040503050406030204" pitchFamily="18" charset="0"/>
                              </a:rPr>
                            </m:ctrlPr>
                          </m:dPr>
                          <m:e>
                            <m:sSub>
                              <m:sSubPr>
                                <m:ctrlPr>
                                  <a:rPr lang="en-NL" i="1">
                                    <a:latin typeface="Cambria Math" panose="02040503050406030204" pitchFamily="18" charset="0"/>
                                  </a:rPr>
                                </m:ctrlPr>
                              </m:sSubPr>
                              <m:e>
                                <m:r>
                                  <m:rPr>
                                    <m:sty m:val="p"/>
                                  </m:rPr>
                                  <a:rPr lang="en-NL" i="1">
                                    <a:latin typeface="Cambria Math" panose="02040503050406030204" pitchFamily="18" charset="0"/>
                                  </a:rPr>
                                  <m:t>z</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L</m:t>
                            </m:r>
                          </m:e>
                          <m:sub>
                            <m:r>
                              <a:rPr lang="en-US" b="0" i="1" smtClean="0">
                                <a:latin typeface="Cambria Math" panose="02040503050406030204" pitchFamily="18" charset="0"/>
                              </a:rPr>
                              <m:t>2</m:t>
                            </m:r>
                          </m:sub>
                        </m:sSub>
                      </m:sub>
                    </m:sSub>
                    <m:r>
                      <a:rPr lang="en-NL" i="1" smtClean="0">
                        <a:latin typeface="Cambria Math" panose="02040503050406030204" pitchFamily="18" charset="0"/>
                        <a:ea typeface="Cambria Math" panose="02040503050406030204" pitchFamily="18" charset="0"/>
                      </a:rPr>
                      <m:t>≤</m:t>
                    </m:r>
                    <m:r>
                      <a:rPr lang="en-NL" i="1" smtClean="0">
                        <a:solidFill>
                          <a:srgbClr val="C00000"/>
                        </a:solidFill>
                        <a:latin typeface="Cambria Math" panose="02040503050406030204" pitchFamily="18" charset="0"/>
                        <a:ea typeface="Cambria Math" panose="02040503050406030204" pitchFamily="18" charset="0"/>
                      </a:rPr>
                      <m:t>𝛾</m:t>
                    </m:r>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w</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i="1">
                                <a:latin typeface="Cambria Math" panose="02040503050406030204" pitchFamily="18" charset="0"/>
                              </a:rPr>
                            </m:ctrlPr>
                          </m:sSubPr>
                          <m:e>
                            <m:r>
                              <m:rPr>
                                <m:sty m:val="p"/>
                              </m:rPr>
                              <a:rPr lang="en-US" i="1">
                                <a:latin typeface="Cambria Math" panose="02040503050406030204" pitchFamily="18" charset="0"/>
                              </a:rPr>
                              <m:t>L</m:t>
                            </m:r>
                          </m:e>
                          <m:sub>
                            <m:r>
                              <a:rPr lang="en-US" i="1">
                                <a:latin typeface="Cambria Math" panose="02040503050406030204" pitchFamily="18" charset="0"/>
                              </a:rPr>
                              <m:t>2</m:t>
                            </m:r>
                          </m:sub>
                        </m:sSub>
                      </m:sub>
                    </m:sSub>
                  </m:oMath>
                </a14:m>
                <a:endParaRPr lang="en-NL" dirty="0"/>
              </a:p>
            </p:txBody>
          </p:sp>
        </mc:Choice>
        <mc:Fallback xmlns="">
          <p:sp>
            <p:nvSpPr>
              <p:cNvPr id="28" name="TextBox 27">
                <a:extLst>
                  <a:ext uri="{FF2B5EF4-FFF2-40B4-BE49-F238E27FC236}">
                    <a16:creationId xmlns:a16="http://schemas.microsoft.com/office/drawing/2014/main" id="{1E312C2B-DA0B-C25D-902C-3AA5CCF6CDCA}"/>
                  </a:ext>
                </a:extLst>
              </p:cNvPr>
              <p:cNvSpPr txBox="1">
                <a:spLocks noRot="1" noChangeAspect="1" noMove="1" noResize="1" noEditPoints="1" noAdjustHandles="1" noChangeArrowheads="1" noChangeShapeType="1" noTextEdit="1"/>
              </p:cNvSpPr>
              <p:nvPr/>
            </p:nvSpPr>
            <p:spPr>
              <a:xfrm>
                <a:off x="4081541" y="3715169"/>
                <a:ext cx="3595151" cy="386324"/>
              </a:xfrm>
              <a:prstGeom prst="rect">
                <a:avLst/>
              </a:prstGeom>
              <a:blipFill>
                <a:blip r:embed="rId11"/>
                <a:stretch>
                  <a:fillRect l="-509"/>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D2752B45-7126-1E75-1249-5F3CE812398B}"/>
              </a:ext>
            </a:extLst>
          </p:cNvPr>
          <p:cNvSpPr txBox="1"/>
          <p:nvPr/>
        </p:nvSpPr>
        <p:spPr>
          <a:xfrm>
            <a:off x="5171871" y="4101493"/>
            <a:ext cx="1414490" cy="300082"/>
          </a:xfrm>
          <a:prstGeom prst="rect">
            <a:avLst/>
          </a:prstGeom>
          <a:noFill/>
        </p:spPr>
        <p:txBody>
          <a:bodyPr wrap="none" rtlCol="0">
            <a:spAutoFit/>
          </a:bodyPr>
          <a:lstStyle/>
          <a:p>
            <a:r>
              <a:rPr lang="en-US" dirty="0">
                <a:solidFill>
                  <a:srgbClr val="C81919"/>
                </a:solidFill>
              </a:rPr>
              <a:t>Worst case gain!</a:t>
            </a:r>
            <a:endParaRPr lang="en-NL" dirty="0">
              <a:solidFill>
                <a:srgbClr val="C81919"/>
              </a:solidFill>
            </a:endParaRPr>
          </a:p>
        </p:txBody>
      </p:sp>
    </p:spTree>
    <p:extLst>
      <p:ext uri="{BB962C8B-B14F-4D97-AF65-F5344CB8AC3E}">
        <p14:creationId xmlns:p14="http://schemas.microsoft.com/office/powerpoint/2010/main" val="3764139087"/>
      </p:ext>
    </p:extLst>
  </p:cSld>
  <p:clrMapOvr>
    <a:masterClrMapping/>
  </p:clrMapOvr>
</p:sld>
</file>

<file path=ppt/theme/theme1.xml><?xml version="1.0" encoding="utf-8"?>
<a:theme xmlns:a="http://schemas.openxmlformats.org/drawingml/2006/main" name="TUe - Clean White">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Clean White - Aptos">
      <a:majorFont>
        <a:latin typeface="Aptos"/>
        <a:ea typeface=""/>
        <a:cs typeface=""/>
      </a:majorFont>
      <a:minorFont>
        <a:latin typeface="Aptos"/>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 - Clean White"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5711</TotalTime>
  <Words>8261</Words>
  <Application>Microsoft Office PowerPoint</Application>
  <PresentationFormat>On-screen Show (16:9)</PresentationFormat>
  <Paragraphs>1145</Paragraphs>
  <Slides>59</Slides>
  <Notes>49</Notes>
  <HiddenSlides>0</HiddenSlides>
  <MMClips>10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59</vt:i4>
      </vt:variant>
    </vt:vector>
  </HeadingPairs>
  <TitlesOfParts>
    <vt:vector size="65" baseType="lpstr">
      <vt:lpstr>Aptos</vt:lpstr>
      <vt:lpstr>Arial</vt:lpstr>
      <vt:lpstr>Calibri</vt:lpstr>
      <vt:lpstr>Calibri Light</vt:lpstr>
      <vt:lpstr>Cambria Math</vt:lpstr>
      <vt:lpstr>TUe - Clean White</vt:lpstr>
      <vt:lpstr>Dual Integral Quadratic Constraints for Robust Control of Partial Integral Equations </vt:lpstr>
      <vt:lpstr>Rigid body representation Ordinary Differential Equation (ODE)</vt:lpstr>
      <vt:lpstr>PowerPoint Presentation</vt:lpstr>
      <vt:lpstr>PowerPoint Presentation</vt:lpstr>
      <vt:lpstr>PowerPoint Presentation</vt:lpstr>
      <vt:lpstr>PowerPoint Presentation</vt:lpstr>
      <vt:lpstr>Neural Mass Model</vt:lpstr>
      <vt:lpstr>Neural Mass Model</vt:lpstr>
      <vt:lpstr>Neural Mass Model</vt:lpstr>
      <vt:lpstr>Neural Mass Model</vt:lpstr>
      <vt:lpstr>Neural Mass Model</vt:lpstr>
      <vt:lpstr>Neural Mass Model</vt:lpstr>
      <vt:lpstr>Brain Stimulation</vt:lpstr>
      <vt:lpstr>Beta-oscillations</vt:lpstr>
      <vt:lpstr>PowerPoint Presentation</vt:lpstr>
      <vt:lpstr>PowerPoint Presentation</vt:lpstr>
      <vt:lpstr>PowerPoint Presentation</vt:lpstr>
      <vt:lpstr>PowerPoint Presentation</vt:lpstr>
      <vt:lpstr>Neural Mass Model</vt:lpstr>
      <vt:lpstr>Partial Integral Equations</vt:lpstr>
      <vt:lpstr>Partial Integral Equations</vt:lpstr>
      <vt:lpstr>Partial Integral Equations</vt:lpstr>
      <vt:lpstr>Partial Integral Equations</vt:lpstr>
      <vt:lpstr>Partial Integral Equations</vt:lpstr>
      <vt:lpstr>PowerPoint Presentation</vt:lpstr>
      <vt:lpstr>PowerPoint Presentation</vt:lpstr>
      <vt:lpstr>PowerPoint Presentation</vt:lpstr>
      <vt:lpstr>PowerPoint Presentation</vt:lpstr>
      <vt:lpstr>PowerPoint Presentation</vt:lpstr>
      <vt:lpstr>PowerPoint Presentation</vt:lpstr>
      <vt:lpstr>Nominal Controller Synthesis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Thought experiment: constrain K by \Θ</vt:lpstr>
      <vt:lpstr>PowerPoint Presentation</vt:lpstr>
      <vt:lpstr>Can we transpose \Θ?</vt:lpstr>
      <vt:lpstr>Feedback stabilization</vt:lpstr>
      <vt:lpstr>PowerPoint Presentation</vt:lpstr>
      <vt:lpstr>PowerPoint Presentation</vt:lpstr>
      <vt:lpstr>PowerPoint Presentation</vt:lpstr>
      <vt:lpstr>PowerPoint Presentation</vt:lpstr>
      <vt:lpstr>Future work</vt:lpstr>
      <vt:lpstr>PowerPoint Presentation</vt:lpstr>
      <vt:lpstr>References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Thijs Lenssen</cp:lastModifiedBy>
  <cp:revision>57</cp:revision>
  <dcterms:created xsi:type="dcterms:W3CDTF">2019-11-27T15:26:32Z</dcterms:created>
  <dcterms:modified xsi:type="dcterms:W3CDTF">2026-09-27T21:49:37Z</dcterms:modified>
</cp:coreProperties>
</file>