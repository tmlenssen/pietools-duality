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aseline="0" b="0" i="0" u="none">
                  <a:solidFill>
                    <a:srgbClr val="D61016"/>
                  </a:solidFill>
                  <a:latin typeface="Cambria Math"/>
                  <a:ea typeface="Cambria Math"/>
                  <a:cs typeface="Cambria Math"/>
                </a:rPr>
                <a:t xml:space="preserve">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aseline="0" b="0" i="1" u="none">
                  <a:solidFill>
                    <a:srgbClr val="252529"/>
                  </a:solidFill>
                  <a:latin typeface="Cambria Math"/>
                  <a:ea typeface="Cambria Math"/>
                  <a:cs typeface="Cambria Math"/>
                </a:rPr>
                <a:t xml:space="preserve">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z</m:t>
                        </m:r>
                      </m:e>
                      <m:sub>
                        <m:r>
                          <m:rPr>
                            <m:sty m:val="p"/>
                          </m:rPr>
                          <a:rPr sz="1600">
                            <a:solidFill>
                              <a:srgbClr val="252529"/>
                            </a:solidFill>
                            <a:latin typeface="Cambria Math"/>
                          </a:rPr>
                          <m:t xml:space="preserve">Δ</m:t>
                        </m:r>
                      </m:sub>
                    </m:sSub>
                  </m:oMath>
                </m:oMathPara>
              </a14:m>
              <a:endParaRPr sz="1600"/>
            </a:p>
          </p:txBody>
        </p:sp>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w</m:t>
                        </m:r>
                      </m:e>
                      <m:sub>
                        <m:r>
                          <m:rPr>
                            <m:sty m:val="p"/>
                          </m:rPr>
                          <a:rPr sz="1600">
                            <a:solidFill>
                              <a:srgbClr val="252529"/>
                            </a:solidFill>
                            <a:latin typeface="Cambria Math"/>
                          </a:rPr>
                          <m:t xml:space="preserve">Δ</m:t>
                        </m:r>
                      </m:sub>
                    </m:sSub>
                  </m:oMath>
                </m:oMathPara>
              </a14:m>
              <a:endParaRPr sz="1600"/>
            </a:p>
          </p:txBody>
        </p:sp>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u</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y</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sp>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r>
                <a:rPr lang="en-GB" sz="2400" baseline="0" b="0" i="1" u="none">
                  <a:solidFill>
                    <a:srgbClr val="252529"/>
                  </a:solidFill>
                  <a:latin typeface="Cambria Math"/>
                  <a:ea typeface="Cambria Math"/>
                  <a:cs typeface="Cambria Math"/>
                </a:rPr>
                <a:t xml:space="preserve">K</a:t>
              </a:r>
              <a:endParaRPr sz="2400"/>
            </a:p>
          </p:txBody>
        </p:sp>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sp>
      </p:grpSp>
      <p:grpSp>
        <p:nvGrpSpPr>
          <p:cNvPr id="11065" name="Equivalent origin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11056"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1057"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1058"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1059"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11060"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1"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1062"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3"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1064"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mc:Fallback/>
        </mc:AlternateContent>
      </p:grpSp>
      <p:grpSp>
        <p:nvGrpSpPr>
          <p:cNvPr id="11076" name="Schematic controller connection"/>
          <p:cNvGrpSpPr/>
          <p:nvPr/>
        </p:nvGrpSpPr>
        <p:grpSpPr>
          <a:xfrm>
            <a:off x="1155700" y="939800"/>
            <a:ext cx="3175000" cy="2514600"/>
            <a:chOff x="1155700" y="939800"/>
            <a:chExt cx="3175000" cy="2514600"/>
          </a:xfrm>
        </p:grpSpPr>
        <p:sp>
          <p:nvSpPr>
            <p:cNvPr id="11067" name="Schematic controller"/>
            <p:cNvSpPr/>
            <p:nvPr/>
          </p:nvSpPr>
          <p:spPr>
            <a:xfrm>
              <a:off x="3746500" y="952500"/>
              <a:ext cx="508000" cy="406400"/>
            </a:xfrm>
            <a:prstGeom prst="roundRect">
              <a:avLst>
                <a:gd name="adj" fmla="val 5000"/>
              </a:avLst>
            </a:prstGeom>
            <a:solidFill>
              <a:srgbClr val="FFFFFF"/>
            </a:solidFill>
            <a:ln w="10795">
              <a:solidFill>
                <a:srgbClr val="252529"/>
              </a:solidFill>
            </a:ln>
          </p:spPr>
        </p:sp>
        <p:sp>
          <p:nvSpPr>
            <p:cNvPr id="11068" name="Schematic controller label"/>
            <p:cNvSpPr/>
            <p:nvPr/>
          </p:nvSpPr>
          <p:spPr>
            <a:xfrm>
              <a:off x="3746500" y="974725"/>
              <a:ext cx="508000" cy="361950"/>
            </a:xfrm>
            <a:prstGeom prst="rect">
              <a:avLst/>
            </a:prstGeom>
            <a:noFill/>
            <a:ln>
              <a:noFill/>
            </a:ln>
          </p:spPr>
          <p:txBody>
            <a:bodyPr wrap="none" lIns="0" tIns="0" rIns="0" bIns="0" anchor="ctr">
              <a:noAutofit/>
            </a:bodyPr>
            <a:lstStyle/>
            <a:p>
              <a:pPr algn="ctr">
                <a:buNone/>
              </a:pPr>
              <a:r>
                <a:rPr lang="en-GB" sz="1900" baseline="0" b="0" i="1" u="none">
                  <a:solidFill>
                    <a:srgbClr val="252529"/>
                  </a:solidFill>
                  <a:latin typeface="Cambria Math"/>
                  <a:ea typeface="Cambria Math"/>
                  <a:cs typeface="Cambria Math"/>
                </a:rPr>
                <a:t xml:space="preserve">K</a:t>
              </a:r>
              <a:endParaRPr sz="1900"/>
            </a:p>
          </p:txBody>
        </p:sp>
        <p:sp>
          <p:nvSpPr>
            <p:cNvPr id="11069" name="Controller to probe"/>
            <p:cNvSpPr/>
            <p:nvPr/>
          </p:nvSpPr>
          <p:spPr>
            <a:xfrm>
              <a:off x="3632200" y="1143000"/>
              <a:ext cx="127000" cy="368300"/>
            </a:xfrm>
            <a:custGeom>
              <a:avLst/>
              <a:gdLst/>
              <a:ahLst/>
              <a:cxnLst/>
              <a:rect l="0" t="0" r="r" b="b"/>
              <a:pathLst>
                <a:path w="127000" h="368300" fill="none">
                  <a:moveTo>
                    <a:pt x="114300" y="12700"/>
                  </a:moveTo>
                  <a:lnTo>
                    <a:pt x="12700" y="12700"/>
                  </a:lnTo>
                  <a:lnTo>
                    <a:pt x="12700" y="355600"/>
                  </a:lnTo>
                  <a:lnTo>
                    <a:pt x="88900" y="355600"/>
                  </a:lnTo>
                </a:path>
              </a:pathLst>
            </a:custGeom>
            <a:noFill/>
            <a:ln w="10160">
              <a:solidFill>
                <a:srgbClr val="252529"/>
              </a:solidFill>
              <a:round/>
              <a:tailEnd type="triangle" w="sm" len="sm"/>
            </a:ln>
          </p:spPr>
        </p:sp>
        <p:sp>
          <p:nvSpPr>
            <p:cNvPr id="11070" name="GPe measurement"/>
            <p:cNvSpPr/>
            <p:nvPr/>
          </p:nvSpPr>
          <p:spPr>
            <a:xfrm>
              <a:off x="1155700" y="2362200"/>
              <a:ext cx="1193800" cy="660400"/>
            </a:xfrm>
            <a:custGeom>
              <a:avLst/>
              <a:gdLst/>
              <a:ahLst/>
              <a:cxnLst/>
              <a:rect l="0" t="0" r="r" b="b"/>
              <a:pathLst>
                <a:path w="1193800" h="660400" fill="none">
                  <a:moveTo>
                    <a:pt x="12700" y="12700"/>
                  </a:moveTo>
                  <a:lnTo>
                    <a:pt x="12700" y="647700"/>
                  </a:lnTo>
                  <a:lnTo>
                    <a:pt x="1181100" y="647700"/>
                  </a:lnTo>
                </a:path>
              </a:pathLst>
            </a:custGeom>
            <a:noFill/>
            <a:ln w="10160">
              <a:solidFill>
                <a:srgbClr val="747B82"/>
              </a:solidFill>
              <a:round/>
            </a:ln>
          </p:spPr>
        </p:sp>
        <p:sp>
          <p:nvSpPr>
            <p:cNvPr id="11071" name="STN measurement"/>
            <p:cNvSpPr/>
            <p:nvPr/>
          </p:nvSpPr>
          <p:spPr>
            <a:xfrm>
              <a:off x="2324100" y="2362200"/>
              <a:ext cx="1066800" cy="660400"/>
            </a:xfrm>
            <a:custGeom>
              <a:avLst/>
              <a:gdLst/>
              <a:ahLst/>
              <a:cxnLst/>
              <a:rect l="0" t="0" r="r" b="b"/>
              <a:pathLst>
                <a:path w="1066800" h="660400" fill="none">
                  <a:moveTo>
                    <a:pt x="1054100" y="12700"/>
                  </a:moveTo>
                  <a:lnTo>
                    <a:pt x="1054100" y="647700"/>
                  </a:lnTo>
                  <a:lnTo>
                    <a:pt x="12700" y="647700"/>
                  </a:lnTo>
                </a:path>
              </a:pathLst>
            </a:custGeom>
            <a:noFill/>
            <a:ln w="10160">
              <a:solidFill>
                <a:srgbClr val="747B82"/>
              </a:solidFill>
              <a:round/>
            </a:ln>
          </p:spPr>
        </p:sp>
        <p:sp>
          <p:nvSpPr>
            <p:cNvPr id="11072" name="Measurements to controller"/>
            <p:cNvSpPr/>
            <p:nvPr/>
          </p:nvSpPr>
          <p:spPr>
            <a:xfrm>
              <a:off x="2324100" y="1143000"/>
              <a:ext cx="2006600" cy="2032000"/>
            </a:xfrm>
            <a:custGeom>
              <a:avLst/>
              <a:gdLst/>
              <a:ahLst/>
              <a:cxnLst/>
              <a:rect l="0" t="0" r="r" b="b"/>
              <a:pathLst>
                <a:path w="2006600" h="2032000" fill="none">
                  <a:moveTo>
                    <a:pt x="12700" y="1866900"/>
                  </a:moveTo>
                  <a:lnTo>
                    <a:pt x="12700" y="2019300"/>
                  </a:lnTo>
                  <a:lnTo>
                    <a:pt x="1993900" y="2019300"/>
                  </a:lnTo>
                  <a:lnTo>
                    <a:pt x="1993900" y="12700"/>
                  </a:lnTo>
                  <a:lnTo>
                    <a:pt x="1930400" y="12700"/>
                  </a:lnTo>
                </a:path>
              </a:pathLst>
            </a:custGeom>
            <a:noFill/>
            <a:ln w="10160">
              <a:solidFill>
                <a:srgbClr val="747B82"/>
              </a:solidFill>
              <a:round/>
              <a:tailEnd type="triangle" w="sm" len="sm"/>
            </a:ln>
          </p:spPr>
        </p:sp>
        <p:sp>
          <p:nvSpPr>
            <p:cNvPr id="11073" name="Measured neural state"/>
            <p:cNvSpPr/>
            <p:nvPr/>
          </p:nvSpPr>
          <p:spPr>
            <a:xfrm>
              <a:off x="3035300" y="3159760"/>
              <a:ext cx="762000" cy="335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y</m:t>
                    </m:r>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grpSp>
      <p:sp>
        <p:nvSpPr>
          <p:cNvPr id="11078" name="Equivalence symbol"/>
          <p:cNvSpPr/>
          <p:nvPr/>
        </p:nvSpPr>
        <p:spPr>
          <a:xfrm>
            <a:off x="4311650" y="2205355"/>
            <a:ext cx="698500" cy="84709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900">
                      <a:solidFill>
                        <a:srgbClr val="252529"/>
                      </a:solidFill>
                      <a:latin typeface="Cambria Math"/>
                    </a:rPr>
                    <m:t xml:space="preserve">⇔</m:t>
                  </m:r>
                </m:oMath>
              </m:oMathPara>
            </a14:m>
            <a:endParaRPr sz="2900"/>
          </a:p>
        </p:txBody>
      </p:sp>
      <p:sp>
        <p:nvSpPr>
          <p:cNvPr id="11079" name="Equivalent schematic heading"/>
          <p:cNvSpPr/>
          <p:nvPr/>
        </p:nvSpPr>
        <p:spPr>
          <a:xfrm>
            <a:off x="1003300" y="835660"/>
            <a:ext cx="2540000" cy="25908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Original schematic</a:t>
            </a:r>
            <a:endParaRPr sz="1200"/>
          </a:p>
        </p:txBody>
      </p:sp>
      <p:sp>
        <p:nvSpPr>
          <p:cNvPr id="11080" name="LFR heading"/>
          <p:cNvSpPr/>
          <p:nvPr/>
        </p:nvSpPr>
        <p:spPr>
          <a:xfrm>
            <a:off x="5181600" y="835660"/>
            <a:ext cx="3302000" cy="25908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Linear fractional representation</a:t>
            </a:r>
            <a:endParaRPr sz="1200"/>
          </a:p>
        </p:txBody>
      </p:sp>
      <p:sp>
        <p:nvSpPr>
          <p:cNvPr id="11084" name="Stage 4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D61016"/>
                </a:solidFill>
                <a:latin typeface="Aptos"/>
                <a:ea typeface="Aptos"/>
                <a:cs typeface="Aptos"/>
              </a:rPr>
              <a:t xml:space="preserve">Same dynamics and signals; a different representation.</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