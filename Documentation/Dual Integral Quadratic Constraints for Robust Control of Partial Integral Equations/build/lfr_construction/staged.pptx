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08" name="Original model equations"/>
          <p:cNvGrpSpPr/>
          <p:nvPr/>
        </p:nvGrpSpPr>
        <p:grpSpPr>
          <a:xfrm>
            <a:off x="838200" y="2743200"/>
            <a:ext cx="7467600" cy="1524000"/>
            <a:chOff x="838200" y="2743200"/>
            <a:chExt cx="7467600" cy="1524000"/>
          </a:xfrm>
        </p:grpSpPr>
        <p:sp>
          <p:nvSpPr>
            <p:cNvPr id="11001"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z</m:t>
                        </m:r>
                      </m:e>
                      <m:sub>
                        <m:r>
                          <m:rPr>
                            <m:sty m:val="p"/>
                          </m:rPr>
                          <a:rPr sz="1800">
                            <a:solidFill>
                              <a:srgbClr val="252529"/>
                            </a:solidFill>
                            <a:latin typeface="Cambria Math"/>
                          </a:rPr>
                          <m:t xml:space="preserve">S</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w</m:t>
                        </m:r>
                      </m:e>
                      <m:sub>
                        <m:r>
                          <m:rPr>
                            <m:sty m:val="p"/>
                          </m:rPr>
                          <a:rPr sz="1800">
                            <a:solidFill>
                              <a:srgbClr val="252529"/>
                            </a:solidFill>
                            <a:latin typeface="Cambria Math"/>
                          </a:rPr>
                          <m:t xml:space="preserve">G</m:t>
                        </m:r>
                        <m:r>
                          <m:rPr>
                            <m:sty m:val="p"/>
                          </m:rPr>
                          <a:rPr sz="1800">
                            <a:solidFill>
                              <a:srgbClr val="252529"/>
                            </a:solidFill>
                            <a:latin typeface="Cambria Math"/>
                          </a:rPr>
                          <m:t xml:space="preserve">S</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p"/>
                          </m:rPr>
                          <a:rPr sz="1800">
                            <a:solidFill>
                              <a:srgbClr val="252529"/>
                            </a:solidFill>
                            <a:latin typeface="Cambria Math"/>
                          </a:rPr>
                          <m:t xml:space="preserve">G</m:t>
                        </m:r>
                        <m:r>
                          <m:rPr>
                            <m:sty m:val="p"/>
                          </m:rPr>
                          <a:rPr sz="1800">
                            <a:solidFill>
                              <a:srgbClr val="252529"/>
                            </a:solidFill>
                            <a:latin typeface="Cambria Math"/>
                          </a:rPr>
                          <m:t xml:space="preserve">S</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p"/>
                          </m:rPr>
                          <a:rPr sz="1800">
                            <a:solidFill>
                              <a:srgbClr val="252529"/>
                            </a:solidFill>
                            <a:latin typeface="Cambria Math"/>
                          </a:rPr>
                          <m:t xml:space="preserve">,</m:t>
                        </m:r>
                        <m:r>
                          <m:rPr>
                            <m:sty m:val="p"/>
                          </m:rPr>
                          <a:rPr sz="1800">
                            <a:solidFill>
                              <a:srgbClr val="252529"/>
                            </a:solidFill>
                            <a:latin typeface="Cambria Math"/>
                          </a:rPr>
                          <m:t xml:space="preserve">1</m:t>
                        </m:r>
                      </m:e>
                    </m:d>
                  </m:oMath>
                </m:oMathPara>
              </a14:m>
              <a:endParaRPr sz="1800"/>
            </a:p>
          </p:txBody>
        </p:sp>
        <p:sp>
          <p:nvSpPr>
            <p:cNvPr id="11002"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z</m:t>
                        </m:r>
                      </m:e>
                      <m:sub>
                        <m:r>
                          <m:rPr>
                            <m:sty m:val="p"/>
                          </m:rPr>
                          <a:rPr sz="1800">
                            <a:solidFill>
                              <a:srgbClr val="252529"/>
                            </a:solidFill>
                            <a:latin typeface="Cambria Math"/>
                          </a:rPr>
                          <m:t xml:space="preserve">G</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w</m:t>
                        </m:r>
                      </m:e>
                      <m:sub>
                        <m:r>
                          <m:rPr>
                            <m:sty m:val="p"/>
                          </m:rPr>
                          <a:rPr sz="1800">
                            <a:solidFill>
                              <a:srgbClr val="252529"/>
                            </a:solidFill>
                            <a:latin typeface="Cambria Math"/>
                          </a:rPr>
                          <m:t xml:space="preserve">S</m:t>
                        </m:r>
                        <m:r>
                          <m:rPr>
                            <m:sty m:val="p"/>
                          </m:rPr>
                          <a:rPr sz="1800">
                            <a:solidFill>
                              <a:srgbClr val="252529"/>
                            </a:solidFill>
                            <a:latin typeface="Cambria Math"/>
                          </a:rPr>
                          <m:t xml:space="preserve">G</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p"/>
                          </m:rPr>
                          <a:rPr sz="1800">
                            <a:solidFill>
                              <a:srgbClr val="252529"/>
                            </a:solidFill>
                            <a:latin typeface="Cambria Math"/>
                          </a:rPr>
                          <m:t xml:space="preserve">S</m:t>
                        </m:r>
                        <m:r>
                          <m:rPr>
                            <m:sty m:val="p"/>
                          </m:rPr>
                          <a:rPr sz="1800">
                            <a:solidFill>
                              <a:srgbClr val="252529"/>
                            </a:solidFill>
                            <a:latin typeface="Cambria Math"/>
                          </a:rPr>
                          <m:t xml:space="preserve">G</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p"/>
                          </m:rPr>
                          <a:rPr sz="1800">
                            <a:solidFill>
                              <a:srgbClr val="252529"/>
                            </a:solidFill>
                            <a:latin typeface="Cambria Math"/>
                          </a:rPr>
                          <m:t xml:space="preserve">,</m:t>
                        </m:r>
                        <m:r>
                          <m:rPr>
                            <m:sty m:val="p"/>
                          </m:rPr>
                          <a:rPr sz="1800">
                            <a:solidFill>
                              <a:srgbClr val="252529"/>
                            </a:solidFill>
                            <a:latin typeface="Cambria Math"/>
                          </a:rPr>
                          <m:t xml:space="preserve">1</m:t>
                        </m:r>
                      </m:e>
                    </m:d>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w</m:t>
                        </m:r>
                      </m:e>
                      <m:sub>
                        <m:r>
                          <m:rPr>
                            <m:sty m:val="p"/>
                          </m:rPr>
                          <a:rPr sz="1800">
                            <a:solidFill>
                              <a:srgbClr val="252529"/>
                            </a:solidFill>
                            <a:latin typeface="Cambria Math"/>
                          </a:rPr>
                          <m:t xml:space="preserve">G</m:t>
                        </m:r>
                        <m:r>
                          <m:rPr>
                            <m:sty m:val="p"/>
                          </m:rPr>
                          <a:rPr sz="1800">
                            <a:solidFill>
                              <a:srgbClr val="252529"/>
                            </a:solidFill>
                            <a:latin typeface="Cambria Math"/>
                          </a:rPr>
                          <m:t xml:space="preserve">G</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p"/>
                          </m:rPr>
                          <a:rPr sz="1800">
                            <a:solidFill>
                              <a:srgbClr val="252529"/>
                            </a:solidFill>
                            <a:latin typeface="Cambria Math"/>
                          </a:rPr>
                          <m:t xml:space="preserve">G</m:t>
                        </m:r>
                        <m:r>
                          <m:rPr>
                            <m:sty m:val="p"/>
                          </m:rPr>
                          <a:rPr sz="1800">
                            <a:solidFill>
                              <a:srgbClr val="252529"/>
                            </a:solidFill>
                            <a:latin typeface="Cambria Math"/>
                          </a:rPr>
                          <m:t xml:space="preserve">G</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p"/>
                          </m:rPr>
                          <a:rPr sz="1800">
                            <a:solidFill>
                              <a:srgbClr val="252529"/>
                            </a:solidFill>
                            <a:latin typeface="Cambria Math"/>
                          </a:rPr>
                          <m:t xml:space="preserve">,</m:t>
                        </m:r>
                        <m:r>
                          <m:rPr>
                            <m:sty m:val="p"/>
                          </m:rPr>
                          <a:rPr sz="1800">
                            <a:solidFill>
                              <a:srgbClr val="252529"/>
                            </a:solidFill>
                            <a:latin typeface="Cambria Math"/>
                          </a:rPr>
                          <m:t xml:space="preserve">1</m:t>
                        </m:r>
                      </m:e>
                    </m:d>
                  </m:oMath>
                </m:oMathPara>
              </a14:m>
              <a:endParaRPr sz="1800"/>
            </a:p>
          </p:txBody>
        </p:sp>
        <p:sp>
          <p:nvSpPr>
            <p:cNvPr id="11003"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τ</m:t>
                        </m:r>
                      </m:e>
                      <m:sub>
                        <m:r>
                          <m:rPr>
                            <m:sty m:val="p"/>
                          </m:rPr>
                          <a:rPr sz="1800">
                            <a:solidFill>
                              <a:srgbClr val="252529"/>
                            </a:solidFill>
                            <a:latin typeface="Cambria Math"/>
                          </a:rPr>
                          <m:t xml:space="preserve">S</m:t>
                        </m:r>
                      </m:sub>
                    </m:sSub>
                    <m:acc>
                      <m:accPr>
                        <m:chr m:val="̇"/>
                        <m:ctrlPr>
                          <a:rPr sz="1800">
                            <a:solidFill>
                              <a:srgbClr val="252529"/>
                            </a:solidFill>
                            <a:latin typeface="Cambria Math"/>
                          </a:rPr>
                        </m:ctrlPr>
                      </m:accPr>
                      <m:e>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p"/>
                              </m:rPr>
                              <a:rPr sz="1800">
                                <a:solidFill>
                                  <a:srgbClr val="252529"/>
                                </a:solidFill>
                                <a:latin typeface="Cambria Math"/>
                              </a:rPr>
                              <m:t xml:space="preserve">S</m:t>
                            </m:r>
                          </m:sub>
                        </m:sSub>
                      </m:e>
                    </m:acc>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oMath>
                </m:oMathPara>
              </a14:m>
              <a:endParaRPr sz="1800"/>
            </a:p>
          </p:txBody>
        </p:sp>
        <p:sp>
          <p:nvSpPr>
            <p:cNvPr id="11004"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p"/>
                          </m:rPr>
                          <a:rPr sz="1800">
                            <a:solidFill>
                              <a:srgbClr val="252529"/>
                            </a:solidFill>
                            <a:latin typeface="Cambria Math"/>
                          </a:rPr>
                          <m:t xml:space="preserve">S</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r>
                      <m:rPr>
                        <m:sty m:val="i"/>
                      </m:rPr>
                      <a:rPr sz="1800">
                        <a:solidFill>
                          <a:srgbClr val="252529"/>
                        </a:solidFill>
                        <a:latin typeface="Cambria Math"/>
                      </a:rPr>
                      <m:t xml:space="preserve">u</m:t>
                    </m: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oMath>
                </m:oMathPara>
              </a14:m>
              <a:endParaRPr sz="1800"/>
            </a:p>
          </p:txBody>
        </p:sp>
        <p:sp>
          <p:nvSpPr>
            <p:cNvPr id="11005"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τ</m:t>
                        </m:r>
                      </m:e>
                      <m:sub>
                        <m:r>
                          <m:rPr>
                            <m:sty m:val="p"/>
                          </m:rPr>
                          <a:rPr sz="1800">
                            <a:solidFill>
                              <a:srgbClr val="252529"/>
                            </a:solidFill>
                            <a:latin typeface="Cambria Math"/>
                          </a:rPr>
                          <m:t xml:space="preserve">G</m:t>
                        </m:r>
                      </m:sub>
                    </m:sSub>
                    <m:acc>
                      <m:accPr>
                        <m:chr m:val="̇"/>
                        <m:ctrlPr>
                          <a:rPr sz="1800">
                            <a:solidFill>
                              <a:srgbClr val="252529"/>
                            </a:solidFill>
                            <a:latin typeface="Cambria Math"/>
                          </a:rPr>
                        </m:ctrlPr>
                      </m:accPr>
                      <m:e>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p"/>
                              </m:rPr>
                              <a:rPr sz="1800">
                                <a:solidFill>
                                  <a:srgbClr val="252529"/>
                                </a:solidFill>
                                <a:latin typeface="Cambria Math"/>
                              </a:rPr>
                              <m:t xml:space="preserve">G</m:t>
                            </m:r>
                          </m:sub>
                        </m:sSub>
                      </m:e>
                    </m:acc>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oMath>
                </m:oMathPara>
              </a14:m>
              <a:endParaRPr sz="1800"/>
            </a:p>
          </p:txBody>
        </p:sp>
        <p:sp>
          <p:nvSpPr>
            <p:cNvPr id="11006"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p"/>
                          </m:rPr>
                          <a:rPr sz="1800">
                            <a:solidFill>
                              <a:srgbClr val="252529"/>
                            </a:solidFill>
                            <a:latin typeface="Cambria Math"/>
                          </a:rPr>
                          <m:t xml:space="preserve">G</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oMath>
                </m:oMathPara>
              </a14:m>
              <a:endParaRPr sz="1800"/>
            </a:p>
          </p:txBody>
        </p:sp>
      </p:grpSp>
      <p:sp>
        <p:nvSpPr>
          <p:cNvPr id="11010"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D61016"/>
                          </a:solidFill>
                          <a:latin typeface="Cambria Math"/>
                        </a:rPr>
                      </m:ctrlPr>
                    </m:sSubPr>
                    <m:e>
                      <m:r>
                        <m:rPr>
                          <m:sty m:val="i"/>
                        </m:rPr>
                        <a:rPr sz="1800">
                          <a:solidFill>
                            <a:srgbClr val="D61016"/>
                          </a:solidFill>
                          <a:latin typeface="Cambria Math"/>
                        </a:rPr>
                        <m:t xml:space="preserve">δ</m:t>
                      </m:r>
                    </m:e>
                    <m:sub>
                      <m:r>
                        <m:rPr>
                          <m:sty m:val="p"/>
                        </m:rPr>
                        <a:rPr sz="1800">
                          <a:solidFill>
                            <a:srgbClr val="D61016"/>
                          </a:solidFill>
                          <a:latin typeface="Cambria Math"/>
                        </a:rPr>
                        <m:t xml:space="preserve">S</m:t>
                      </m:r>
                    </m:sub>
                  </m:sSub>
                  <m:d>
                    <m:dPr>
                      <m:begChr m:val="("/>
                      <m:endChr m:val=")"/>
                      <m:ctrlPr>
                        <a:rPr sz="1800">
                          <a:solidFill>
                            <a:srgbClr val="D61016"/>
                          </a:solidFill>
                          <a:latin typeface="Cambria Math"/>
                        </a:rPr>
                      </m:ctrlPr>
                    </m:dPr>
                    <m:e>
                      <m:sSub>
                        <m:sSubPr>
                          <m:ctrlPr>
                            <a:rPr sz="1800">
                              <a:solidFill>
                                <a:srgbClr val="D61016"/>
                              </a:solidFill>
                              <a:latin typeface="Cambria Math"/>
                            </a:rPr>
                          </m:ctrlPr>
                        </m:sSubPr>
                        <m:e>
                          <m:r>
                            <m:rPr>
                              <m:sty m:val="i"/>
                            </m:rPr>
                            <a:rPr sz="1800">
                              <a:solidFill>
                                <a:srgbClr val="D61016"/>
                              </a:solidFill>
                              <a:latin typeface="Cambria Math"/>
                            </a:rPr>
                            <m:t xml:space="preserve">z</m:t>
                          </m:r>
                        </m:e>
                        <m:sub>
                          <m:r>
                            <m:rPr>
                              <m:sty m:val="p"/>
                            </m:rPr>
                            <a:rPr sz="1800">
                              <a:solidFill>
                                <a:srgbClr val="D61016"/>
                              </a:solidFill>
                              <a:latin typeface="Cambria Math"/>
                            </a:rPr>
                            <m:t xml:space="preserve">S</m:t>
                          </m:r>
                        </m:sub>
                      </m:sSub>
                      <m:d>
                        <m:dPr>
                          <m:begChr m:val="("/>
                          <m:endChr m:val=")"/>
                          <m:ctrlPr>
                            <a:rPr sz="1800">
                              <a:solidFill>
                                <a:srgbClr val="D61016"/>
                              </a:solidFill>
                              <a:latin typeface="Cambria Math"/>
                            </a:rPr>
                          </m:ctrlPr>
                        </m:dPr>
                        <m:e>
                          <m:r>
                            <m:rPr>
                              <m:sty m:val="i"/>
                            </m:rPr>
                            <a:rPr sz="1800">
                              <a:solidFill>
                                <a:srgbClr val="D61016"/>
                              </a:solidFill>
                              <a:latin typeface="Cambria Math"/>
                            </a:rPr>
                            <m:t xml:space="preserve">t</m:t>
                          </m:r>
                        </m:e>
                      </m:d>
                    </m:e>
                  </m:d>
                </m:oMath>
              </m:oMathPara>
            </a14:m>
            <a:endParaRPr sz="1800"/>
          </a:p>
        </p:txBody>
      </p:sp>
      <p:sp>
        <p:nvSpPr>
          <p:cNvPr id="11012"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D61016"/>
                          </a:solidFill>
                          <a:latin typeface="Cambria Math"/>
                        </a:rPr>
                      </m:ctrlPr>
                    </m:sSubPr>
                    <m:e>
                      <m:r>
                        <m:rPr>
                          <m:sty m:val="i"/>
                        </m:rPr>
                        <a:rPr sz="1800">
                          <a:solidFill>
                            <a:srgbClr val="D61016"/>
                          </a:solidFill>
                          <a:latin typeface="Cambria Math"/>
                        </a:rPr>
                        <m:t xml:space="preserve">δ</m:t>
                      </m:r>
                    </m:e>
                    <m:sub>
                      <m:r>
                        <m:rPr>
                          <m:sty m:val="p"/>
                        </m:rPr>
                        <a:rPr sz="1800">
                          <a:solidFill>
                            <a:srgbClr val="D61016"/>
                          </a:solidFill>
                          <a:latin typeface="Cambria Math"/>
                        </a:rPr>
                        <m:t xml:space="preserve">G</m:t>
                      </m:r>
                    </m:sub>
                  </m:sSub>
                  <m:d>
                    <m:dPr>
                      <m:begChr m:val="("/>
                      <m:endChr m:val=")"/>
                      <m:ctrlPr>
                        <a:rPr sz="1800">
                          <a:solidFill>
                            <a:srgbClr val="D61016"/>
                          </a:solidFill>
                          <a:latin typeface="Cambria Math"/>
                        </a:rPr>
                      </m:ctrlPr>
                    </m:dPr>
                    <m:e>
                      <m:sSub>
                        <m:sSubPr>
                          <m:ctrlPr>
                            <a:rPr sz="1800">
                              <a:solidFill>
                                <a:srgbClr val="D61016"/>
                              </a:solidFill>
                              <a:latin typeface="Cambria Math"/>
                            </a:rPr>
                          </m:ctrlPr>
                        </m:sSubPr>
                        <m:e>
                          <m:r>
                            <m:rPr>
                              <m:sty m:val="i"/>
                            </m:rPr>
                            <a:rPr sz="1800">
                              <a:solidFill>
                                <a:srgbClr val="D61016"/>
                              </a:solidFill>
                              <a:latin typeface="Cambria Math"/>
                            </a:rPr>
                            <m:t xml:space="preserve">z</m:t>
                          </m:r>
                        </m:e>
                        <m:sub>
                          <m:r>
                            <m:rPr>
                              <m:sty m:val="p"/>
                            </m:rPr>
                            <a:rPr sz="1800">
                              <a:solidFill>
                                <a:srgbClr val="D61016"/>
                              </a:solidFill>
                              <a:latin typeface="Cambria Math"/>
                            </a:rPr>
                            <m:t xml:space="preserve">G</m:t>
                          </m:r>
                        </m:sub>
                      </m:sSub>
                      <m:d>
                        <m:dPr>
                          <m:begChr m:val="("/>
                          <m:endChr m:val=")"/>
                          <m:ctrlPr>
                            <a:rPr sz="1800">
                              <a:solidFill>
                                <a:srgbClr val="D61016"/>
                              </a:solidFill>
                              <a:latin typeface="Cambria Math"/>
                            </a:rPr>
                          </m:ctrlPr>
                        </m:dPr>
                        <m:e>
                          <m:r>
                            <m:rPr>
                              <m:sty m:val="i"/>
                            </m:rPr>
                            <a:rPr sz="1800">
                              <a:solidFill>
                                <a:srgbClr val="D61016"/>
                              </a:solidFill>
                              <a:latin typeface="Cambria Math"/>
                            </a:rPr>
                            <m:t xml:space="preserve">t</m:t>
                          </m:r>
                        </m:e>
                      </m:d>
                    </m:e>
                  </m:d>
                </m:oMath>
              </m:oMathPara>
            </a14:m>
            <a:endParaRPr sz="1800"/>
          </a:p>
        </p:txBody>
      </p:sp>
      <p:grpSp>
        <p:nvGrpSpPr>
          <p:cNvPr id="11018" name="Moving nominal dynamics"/>
          <p:cNvGrpSpPr/>
          <p:nvPr/>
        </p:nvGrpSpPr>
        <p:grpSpPr>
          <a:xfrm>
            <a:off x="330200" y="3048000"/>
            <a:ext cx="3937000" cy="1117600"/>
            <a:chOff x="330200" y="3048000"/>
            <a:chExt cx="3937000" cy="1117600"/>
          </a:xfrm>
        </p:grpSpPr>
        <p:sp>
          <p:nvSpPr>
            <p:cNvPr id="11013"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252529"/>
                            </a:solidFill>
                            <a:latin typeface="Cambria Math"/>
                          </a:rPr>
                        </m:ctrlPr>
                      </m:sSubPr>
                      <m:e>
                        <m:r>
                          <m:rPr>
                            <m:sty m:val="i"/>
                          </m:rPr>
                          <a:rPr sz="1200">
                            <a:solidFill>
                              <a:srgbClr val="252529"/>
                            </a:solidFill>
                            <a:latin typeface="Cambria Math"/>
                          </a:rPr>
                          <m:t xml:space="preserve">z</m:t>
                        </m:r>
                      </m:e>
                      <m:sub>
                        <m:r>
                          <m:rPr>
                            <m:sty m:val="p"/>
                          </m:rPr>
                          <a:rPr sz="1200">
                            <a:solidFill>
                              <a:srgbClr val="252529"/>
                            </a:solidFill>
                            <a:latin typeface="Cambria Math"/>
                          </a:rPr>
                          <m:t xml:space="preserve">S</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G</m:t>
                        </m:r>
                        <m:r>
                          <m:rPr>
                            <m:sty m:val="p"/>
                          </m:rPr>
                          <a:rPr sz="1200">
                            <a:solidFill>
                              <a:srgbClr val="252529"/>
                            </a:solidFill>
                            <a:latin typeface="Cambria Math"/>
                          </a:rPr>
                          <m:t xml:space="preserve">S</m:t>
                        </m:r>
                      </m:sub>
                    </m:sSub>
                    <m:sSub>
                      <m:sSubPr>
                        <m:ctrlPr>
                          <a:rPr sz="1200">
                            <a:solidFill>
                              <a:srgbClr val="252529"/>
                            </a:solidFill>
                            <a:latin typeface="Cambria Math"/>
                          </a:rPr>
                        </m:ctrlPr>
                      </m:sSubPr>
                      <m:e>
                        <m:r>
                          <m:rPr>
                            <m:sty m:val="i"/>
                          </m:rPr>
                          <a:rPr sz="1200">
                            <a:solidFill>
                              <a:srgbClr val="252529"/>
                            </a:solidFill>
                            <a:latin typeface="Cambria Math"/>
                          </a:rPr>
                          <m:t xml:space="preserve">φ</m:t>
                        </m:r>
                      </m:e>
                      <m:sub>
                        <m:r>
                          <m:rPr>
                            <m:sty m:val="p"/>
                          </m:rPr>
                          <a:rPr sz="1200">
                            <a:solidFill>
                              <a:srgbClr val="252529"/>
                            </a:solidFill>
                            <a:latin typeface="Cambria Math"/>
                          </a:rPr>
                          <m:t xml:space="preserve">G</m:t>
                        </m:r>
                        <m:r>
                          <m:rPr>
                            <m:sty m:val="p"/>
                          </m:rPr>
                          <a:rPr sz="1200">
                            <a:solidFill>
                              <a:srgbClr val="252529"/>
                            </a:solidFill>
                            <a:latin typeface="Cambria Math"/>
                          </a:rPr>
                          <m:t xml:space="preserve">S</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r>
                          <m:rPr>
                            <m:sty m:val="p"/>
                          </m:rPr>
                          <a:rPr sz="1200">
                            <a:solidFill>
                              <a:srgbClr val="252529"/>
                            </a:solidFill>
                            <a:latin typeface="Cambria Math"/>
                          </a:rPr>
                          <m:t xml:space="preserve">,</m:t>
                        </m:r>
                        <m:r>
                          <m:rPr>
                            <m:sty m:val="p"/>
                          </m:rPr>
                          <a:rPr sz="1200">
                            <a:solidFill>
                              <a:srgbClr val="252529"/>
                            </a:solidFill>
                            <a:latin typeface="Cambria Math"/>
                          </a:rPr>
                          <m:t xml:space="preserve">1</m:t>
                        </m:r>
                      </m:e>
                    </m:d>
                  </m:oMath>
                </m:oMathPara>
              </a14:m>
              <a:endParaRPr sz="1200"/>
            </a:p>
          </p:txBody>
        </p:sp>
        <p:sp>
          <p:nvSpPr>
            <p:cNvPr id="11014"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252529"/>
                            </a:solidFill>
                            <a:latin typeface="Cambria Math"/>
                          </a:rPr>
                        </m:ctrlPr>
                      </m:sSubPr>
                      <m:e>
                        <m:r>
                          <m:rPr>
                            <m:sty m:val="i"/>
                          </m:rPr>
                          <a:rPr sz="1200">
                            <a:solidFill>
                              <a:srgbClr val="252529"/>
                            </a:solidFill>
                            <a:latin typeface="Cambria Math"/>
                          </a:rPr>
                          <m:t xml:space="preserve">z</m:t>
                        </m:r>
                      </m:e>
                      <m:sub>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S</m:t>
                        </m:r>
                        <m:r>
                          <m:rPr>
                            <m:sty m:val="p"/>
                          </m:rPr>
                          <a:rPr sz="1200">
                            <a:solidFill>
                              <a:srgbClr val="252529"/>
                            </a:solidFill>
                            <a:latin typeface="Cambria Math"/>
                          </a:rPr>
                          <m:t xml:space="preserve">G</m:t>
                        </m:r>
                      </m:sub>
                    </m:sSub>
                    <m:sSub>
                      <m:sSubPr>
                        <m:ctrlPr>
                          <a:rPr sz="1200">
                            <a:solidFill>
                              <a:srgbClr val="252529"/>
                            </a:solidFill>
                            <a:latin typeface="Cambria Math"/>
                          </a:rPr>
                        </m:ctrlPr>
                      </m:sSubPr>
                      <m:e>
                        <m:r>
                          <m:rPr>
                            <m:sty m:val="i"/>
                          </m:rPr>
                          <a:rPr sz="1200">
                            <a:solidFill>
                              <a:srgbClr val="252529"/>
                            </a:solidFill>
                            <a:latin typeface="Cambria Math"/>
                          </a:rPr>
                          <m:t xml:space="preserve">φ</m:t>
                        </m:r>
                      </m:e>
                      <m:sub>
                        <m:r>
                          <m:rPr>
                            <m:sty m:val="p"/>
                          </m:rPr>
                          <a:rPr sz="1200">
                            <a:solidFill>
                              <a:srgbClr val="252529"/>
                            </a:solidFill>
                            <a:latin typeface="Cambria Math"/>
                          </a:rPr>
                          <m:t xml:space="preserve">S</m:t>
                        </m:r>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r>
                          <m:rPr>
                            <m:sty m:val="p"/>
                          </m:rPr>
                          <a:rPr sz="1200">
                            <a:solidFill>
                              <a:srgbClr val="252529"/>
                            </a:solidFill>
                            <a:latin typeface="Cambria Math"/>
                          </a:rPr>
                          <m:t xml:space="preserve">,</m:t>
                        </m:r>
                        <m:r>
                          <m:rPr>
                            <m:sty m:val="p"/>
                          </m:rPr>
                          <a:rPr sz="1200">
                            <a:solidFill>
                              <a:srgbClr val="252529"/>
                            </a:solidFill>
                            <a:latin typeface="Cambria Math"/>
                          </a:rPr>
                          <m:t xml:space="preserve">1</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G</m:t>
                        </m:r>
                        <m:r>
                          <m:rPr>
                            <m:sty m:val="p"/>
                          </m:rPr>
                          <a:rPr sz="1200">
                            <a:solidFill>
                              <a:srgbClr val="252529"/>
                            </a:solidFill>
                            <a:latin typeface="Cambria Math"/>
                          </a:rPr>
                          <m:t xml:space="preserve">G</m:t>
                        </m:r>
                      </m:sub>
                    </m:sSub>
                    <m:sSub>
                      <m:sSubPr>
                        <m:ctrlPr>
                          <a:rPr sz="1200">
                            <a:solidFill>
                              <a:srgbClr val="252529"/>
                            </a:solidFill>
                            <a:latin typeface="Cambria Math"/>
                          </a:rPr>
                        </m:ctrlPr>
                      </m:sSubPr>
                      <m:e>
                        <m:r>
                          <m:rPr>
                            <m:sty m:val="i"/>
                          </m:rPr>
                          <a:rPr sz="1200">
                            <a:solidFill>
                              <a:srgbClr val="252529"/>
                            </a:solidFill>
                            <a:latin typeface="Cambria Math"/>
                          </a:rPr>
                          <m:t xml:space="preserve">φ</m:t>
                        </m:r>
                      </m:e>
                      <m:sub>
                        <m:r>
                          <m:rPr>
                            <m:sty m:val="p"/>
                          </m:rPr>
                          <a:rPr sz="1200">
                            <a:solidFill>
                              <a:srgbClr val="252529"/>
                            </a:solidFill>
                            <a:latin typeface="Cambria Math"/>
                          </a:rPr>
                          <m:t xml:space="preserve">G</m:t>
                        </m:r>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r>
                          <m:rPr>
                            <m:sty m:val="p"/>
                          </m:rPr>
                          <a:rPr sz="1200">
                            <a:solidFill>
                              <a:srgbClr val="252529"/>
                            </a:solidFill>
                            <a:latin typeface="Cambria Math"/>
                          </a:rPr>
                          <m:t xml:space="preserve">,</m:t>
                        </m:r>
                        <m:r>
                          <m:rPr>
                            <m:sty m:val="p"/>
                          </m:rPr>
                          <a:rPr sz="1200">
                            <a:solidFill>
                              <a:srgbClr val="252529"/>
                            </a:solidFill>
                            <a:latin typeface="Cambria Math"/>
                          </a:rPr>
                          <m:t xml:space="preserve">1</m:t>
                        </m:r>
                      </m:e>
                    </m:d>
                  </m:oMath>
                </m:oMathPara>
              </a14:m>
              <a:endParaRPr sz="1200"/>
            </a:p>
          </p:txBody>
        </p:sp>
        <p:sp>
          <p:nvSpPr>
            <p:cNvPr id="11015"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252529"/>
                            </a:solidFill>
                            <a:latin typeface="Cambria Math"/>
                          </a:rPr>
                        </m:ctrlPr>
                      </m:sSubPr>
                      <m:e>
                        <m:r>
                          <m:rPr>
                            <m:sty m:val="i"/>
                          </m:rPr>
                          <a:rPr sz="1200">
                            <a:solidFill>
                              <a:srgbClr val="252529"/>
                            </a:solidFill>
                            <a:latin typeface="Cambria Math"/>
                          </a:rPr>
                          <m:t xml:space="preserve">τ</m:t>
                        </m:r>
                      </m:e>
                      <m:sub>
                        <m:r>
                          <m:rPr>
                            <m:sty m:val="p"/>
                          </m:rPr>
                          <a:rPr sz="1200">
                            <a:solidFill>
                              <a:srgbClr val="252529"/>
                            </a:solidFill>
                            <a:latin typeface="Cambria Math"/>
                          </a:rPr>
                          <m:t xml:space="preserve">S</m:t>
                        </m:r>
                      </m:sub>
                    </m:sSub>
                    <m:acc>
                      <m:accPr>
                        <m:chr m:val="̇"/>
                        <m:ctrlPr>
                          <a:rPr sz="1200">
                            <a:solidFill>
                              <a:srgbClr val="252529"/>
                            </a:solidFill>
                            <a:latin typeface="Cambria Math"/>
                          </a:rPr>
                        </m:ctrlPr>
                      </m:accPr>
                      <m:e>
                        <m:sSub>
                          <m:sSubPr>
                            <m:ctrlPr>
                              <a:rPr sz="1200">
                                <a:solidFill>
                                  <a:srgbClr val="252529"/>
                                </a:solidFill>
                                <a:latin typeface="Cambria Math"/>
                              </a:rPr>
                            </m:ctrlPr>
                          </m:sSubPr>
                          <m:e>
                            <m:r>
                              <m:rPr>
                                <m:sty m:val="i"/>
                              </m:rPr>
                              <a:rPr sz="1200">
                                <a:solidFill>
                                  <a:srgbClr val="252529"/>
                                </a:solidFill>
                                <a:latin typeface="Cambria Math"/>
                              </a:rPr>
                              <m:t xml:space="preserve">x</m:t>
                            </m:r>
                          </m:e>
                          <m:sub>
                            <m:r>
                              <m:rPr>
                                <m:sty m:val="p"/>
                              </m:rPr>
                              <a:rPr sz="1200">
                                <a:solidFill>
                                  <a:srgbClr val="252529"/>
                                </a:solidFill>
                                <a:latin typeface="Cambria Math"/>
                              </a:rPr>
                              <m:t xml:space="preserve">S</m:t>
                            </m:r>
                          </m:sub>
                        </m:sSub>
                      </m:e>
                    </m:acc>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S</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x</m:t>
                        </m:r>
                      </m:e>
                      <m:sub>
                        <m:r>
                          <m:rPr>
                            <m:sty m:val="p"/>
                          </m:rPr>
                          <a:rPr sz="1200">
                            <a:solidFill>
                              <a:srgbClr val="252529"/>
                            </a:solidFill>
                            <a:latin typeface="Cambria Math"/>
                          </a:rPr>
                          <m:t xml:space="preserve">S</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r>
                      <m:rPr>
                        <m:sty m:val="i"/>
                      </m:rPr>
                      <a:rPr sz="1200">
                        <a:solidFill>
                          <a:srgbClr val="252529"/>
                        </a:solidFill>
                        <a:latin typeface="Cambria Math"/>
                      </a:rPr>
                      <m:t xml:space="preserve">u</m:t>
                    </m:r>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oMath>
                </m:oMathPara>
              </a14:m>
              <a:endParaRPr sz="1200"/>
            </a:p>
          </p:txBody>
        </p:sp>
        <p:sp>
          <p:nvSpPr>
            <p:cNvPr id="11016"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252529"/>
                            </a:solidFill>
                            <a:latin typeface="Cambria Math"/>
                          </a:rPr>
                        </m:ctrlPr>
                      </m:sSubPr>
                      <m:e>
                        <m:r>
                          <m:rPr>
                            <m:sty m:val="i"/>
                          </m:rPr>
                          <a:rPr sz="1200">
                            <a:solidFill>
                              <a:srgbClr val="252529"/>
                            </a:solidFill>
                            <a:latin typeface="Cambria Math"/>
                          </a:rPr>
                          <m:t xml:space="preserve">τ</m:t>
                        </m:r>
                      </m:e>
                      <m:sub>
                        <m:r>
                          <m:rPr>
                            <m:sty m:val="p"/>
                          </m:rPr>
                          <a:rPr sz="1200">
                            <a:solidFill>
                              <a:srgbClr val="252529"/>
                            </a:solidFill>
                            <a:latin typeface="Cambria Math"/>
                          </a:rPr>
                          <m:t xml:space="preserve">G</m:t>
                        </m:r>
                      </m:sub>
                    </m:sSub>
                    <m:acc>
                      <m:accPr>
                        <m:chr m:val="̇"/>
                        <m:ctrlPr>
                          <a:rPr sz="1200">
                            <a:solidFill>
                              <a:srgbClr val="252529"/>
                            </a:solidFill>
                            <a:latin typeface="Cambria Math"/>
                          </a:rPr>
                        </m:ctrlPr>
                      </m:accPr>
                      <m:e>
                        <m:sSub>
                          <m:sSubPr>
                            <m:ctrlPr>
                              <a:rPr sz="1200">
                                <a:solidFill>
                                  <a:srgbClr val="252529"/>
                                </a:solidFill>
                                <a:latin typeface="Cambria Math"/>
                              </a:rPr>
                            </m:ctrlPr>
                          </m:sSubPr>
                          <m:e>
                            <m:r>
                              <m:rPr>
                                <m:sty m:val="i"/>
                              </m:rPr>
                              <a:rPr sz="1200">
                                <a:solidFill>
                                  <a:srgbClr val="252529"/>
                                </a:solidFill>
                                <a:latin typeface="Cambria Math"/>
                              </a:rPr>
                              <m:t xml:space="preserve">x</m:t>
                            </m:r>
                          </m:e>
                          <m:sub>
                            <m:r>
                              <m:rPr>
                                <m:sty m:val="p"/>
                              </m:rPr>
                              <a:rPr sz="1200">
                                <a:solidFill>
                                  <a:srgbClr val="252529"/>
                                </a:solidFill>
                                <a:latin typeface="Cambria Math"/>
                              </a:rPr>
                              <m:t xml:space="preserve">G</m:t>
                            </m:r>
                          </m:sub>
                        </m:sSub>
                      </m:e>
                    </m:acc>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x</m:t>
                        </m:r>
                      </m:e>
                      <m:sub>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oMath>
                </m:oMathPara>
              </a14:m>
              <a:endParaRPr sz="1200"/>
            </a:p>
          </p:txBody>
        </p:sp>
      </p:gr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rgbClr val="D61016"/>
              </a:solidFill>
            </a:ln>
          </p:spPr>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aseline="0" b="0" i="0" u="none">
                  <a:solidFill>
                    <a:srgbClr val="D61016"/>
                  </a:solidFill>
                  <a:latin typeface="Cambria Math"/>
                  <a:ea typeface="Cambria Math"/>
                  <a:cs typeface="Cambria Math"/>
                </a:rPr>
                <a:t xml:space="preserve">Δ</a:t>
              </a:r>
              <a:endParaRPr sz="2700"/>
            </a:p>
          </p:txBody>
        </p:sp>
      </p:grpSp>
      <p:grpSp>
        <p:nvGrpSpPr>
          <p:cNvPr id="11030" name="P block"/>
          <p:cNvGrpSpPr/>
          <p:nvPr/>
        </p:nvGrpSpPr>
        <p:grpSpPr>
          <a:xfrm>
            <a:off x="6248400" y="2527300"/>
            <a:ext cx="1168400" cy="939800"/>
            <a:chOff x="6248400" y="2527300"/>
            <a:chExt cx="1168400" cy="939800"/>
          </a:xfrm>
        </p:grpSpPr>
        <p:sp>
          <p:nvSpPr>
            <p:cNvPr id="11026" name="Nominal plant block"/>
            <p:cNvSpPr/>
            <p:nvPr/>
          </p:nvSpPr>
          <p:spPr>
            <a:xfrm>
              <a:off x="6248400" y="2527300"/>
              <a:ext cx="1168400" cy="939800"/>
            </a:xfrm>
            <a:prstGeom prst="roundRect">
              <a:avLst>
                <a:gd name="adj" fmla="val 5000"/>
              </a:avLst>
            </a:prstGeom>
            <a:solidFill>
              <a:srgbClr val="FFFFFF"/>
            </a:solidFill>
            <a:ln w="10795">
              <a:solidFill>
                <a:srgbClr val="252529"/>
              </a:solidFill>
            </a:ln>
          </p:spPr>
        </p:sp>
        <p:sp>
          <p:nvSpPr>
            <p:cNvPr id="11027" name="Nominal plant block label"/>
            <p:cNvSpPr/>
            <p:nvPr/>
          </p:nvSpPr>
          <p:spPr>
            <a:xfrm>
              <a:off x="6248400" y="2720975"/>
              <a:ext cx="1168400" cy="552450"/>
            </a:xfrm>
            <a:prstGeom prst="rect">
              <a:avLst/>
            </a:prstGeom>
            <a:noFill/>
            <a:ln>
              <a:noFill/>
            </a:ln>
          </p:spPr>
          <p:txBody>
            <a:bodyPr wrap="none" lIns="0" tIns="0" rIns="0" bIns="0" anchor="ctr">
              <a:noAutofit/>
            </a:bodyPr>
            <a:lstStyle/>
            <a:p>
              <a:pPr algn="ctr">
                <a:buNone/>
              </a:pPr>
              <a:r>
                <a:rPr lang="en-GB" sz="2900" baseline="0" b="0" i="1" u="none">
                  <a:solidFill>
                    <a:srgbClr val="252529"/>
                  </a:solidFill>
                  <a:latin typeface="Cambria Math"/>
                  <a:ea typeface="Cambria Math"/>
                  <a:cs typeface="Cambria Math"/>
                </a:rPr>
                <a:t xml:space="preserve">P</a:t>
              </a:r>
              <a:endParaRPr sz="2900"/>
            </a:p>
          </p:txBody>
        </p:sp>
      </p:grpSp>
      <p:grpSp>
        <p:nvGrpSpPr>
          <p:cNvPr id="11042" name="LFR signal connections"/>
          <p:cNvGrpSpPr/>
          <p:nvPr/>
        </p:nvGrpSpPr>
        <p:grpSpPr>
          <a:xfrm>
            <a:off x="5029200" y="1422400"/>
            <a:ext cx="3657600" cy="2082800"/>
            <a:chOff x="5029200" y="1422400"/>
            <a:chExt cx="3657600" cy="2082800"/>
          </a:xfrm>
        </p:grpSpPr>
        <p:sp>
          <p:nvSpPr>
            <p:cNvPr id="11032" name="z Delta channel"/>
            <p:cNvSpPr/>
            <p:nvPr/>
          </p:nvSpPr>
          <p:spPr>
            <a:xfrm>
              <a:off x="5638800" y="1562100"/>
              <a:ext cx="622300" cy="1181100"/>
            </a:xfrm>
            <a:custGeom>
              <a:avLst/>
              <a:gdLst/>
              <a:ahLst/>
              <a:cxnLst/>
              <a:rect l="0" t="0" r="r" b="b"/>
              <a:pathLst>
                <a:path w="622300" h="1181100" fill="none">
                  <a:moveTo>
                    <a:pt x="609600" y="1168400"/>
                  </a:moveTo>
                  <a:lnTo>
                    <a:pt x="12700" y="1168400"/>
                  </a:lnTo>
                  <a:lnTo>
                    <a:pt x="12700" y="12700"/>
                  </a:lnTo>
                  <a:lnTo>
                    <a:pt x="609600" y="12700"/>
                  </a:lnTo>
                </a:path>
              </a:pathLst>
            </a:custGeom>
            <a:noFill/>
            <a:ln w="12700">
              <a:solidFill>
                <a:srgbClr val="252529"/>
              </a:solidFill>
              <a:round/>
              <a:tailEnd type="triangle" w="sm" len="sm"/>
            </a:ln>
          </p:spPr>
        </p:sp>
        <p:sp>
          <p:nvSpPr>
            <p:cNvPr id="11033" name="w Delta channel"/>
            <p:cNvSpPr/>
            <p:nvPr/>
          </p:nvSpPr>
          <p:spPr>
            <a:xfrm>
              <a:off x="7404100" y="1562100"/>
              <a:ext cx="622300" cy="1181100"/>
            </a:xfrm>
            <a:custGeom>
              <a:avLst/>
              <a:gdLst/>
              <a:ahLst/>
              <a:cxnLst/>
              <a:rect l="0" t="0" r="r" b="b"/>
              <a:pathLst>
                <a:path w="622300" h="1181100" fill="none">
                  <a:moveTo>
                    <a:pt x="12700" y="12700"/>
                  </a:moveTo>
                  <a:lnTo>
                    <a:pt x="609600" y="12700"/>
                  </a:lnTo>
                  <a:lnTo>
                    <a:pt x="609600" y="1168400"/>
                  </a:lnTo>
                  <a:lnTo>
                    <a:pt x="12700" y="1168400"/>
                  </a:lnTo>
                </a:path>
              </a:pathLst>
            </a:custGeom>
            <a:noFill/>
            <a:ln w="12700">
              <a:solidFill>
                <a:srgbClr val="252529"/>
              </a:solidFill>
              <a:round/>
              <a:tailEnd type="triangle" w="sm" len="sm"/>
            </a:ln>
          </p:spPr>
        </p:sp>
        <p:sp>
          <p:nvSpPr>
            <p:cNvPr id="11034" name="Nonlinearity input"/>
            <p:cNvSpPr/>
            <p:nvPr/>
          </p:nvSpPr>
          <p:spPr>
            <a:xfrm>
              <a:off x="5080000" y="1986280"/>
              <a:ext cx="6350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z</m:t>
                        </m:r>
                      </m:e>
                      <m:sub>
                        <m:r>
                          <m:rPr>
                            <m:sty m:val="p"/>
                          </m:rPr>
                          <a:rPr sz="1600">
                            <a:solidFill>
                              <a:srgbClr val="252529"/>
                            </a:solidFill>
                            <a:latin typeface="Cambria Math"/>
                          </a:rPr>
                          <m:t xml:space="preserve">Δ</m:t>
                        </m:r>
                      </m:sub>
                    </m:sSub>
                  </m:oMath>
                </m:oMathPara>
              </a14:m>
              <a:endParaRPr sz="1600"/>
            </a:p>
          </p:txBody>
        </p:sp>
        <p:sp>
          <p:nvSpPr>
            <p:cNvPr id="11035" name="Nonlinearity output"/>
            <p:cNvSpPr/>
            <p:nvPr/>
          </p:nvSpPr>
          <p:spPr>
            <a:xfrm>
              <a:off x="7950200" y="1986280"/>
              <a:ext cx="6350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w</m:t>
                        </m:r>
                      </m:e>
                      <m:sub>
                        <m:r>
                          <m:rPr>
                            <m:sty m:val="p"/>
                          </m:rPr>
                          <a:rPr sz="1600">
                            <a:solidFill>
                              <a:srgbClr val="252529"/>
                            </a:solidFill>
                            <a:latin typeface="Cambria Math"/>
                          </a:rPr>
                          <m:t xml:space="preserve">Δ</m:t>
                        </m:r>
                      </m:sub>
                    </m:sSub>
                  </m:oMath>
                </m:oMathPara>
              </a14:m>
              <a:endParaRPr sz="1600"/>
            </a:p>
          </p:txBody>
        </p:sp>
        <p:sp>
          <p:nvSpPr>
            <p:cNvPr id="11036" name="Open control input"/>
            <p:cNvSpPr/>
            <p:nvPr/>
          </p:nvSpPr>
          <p:spPr>
            <a:xfrm>
              <a:off x="56388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7" name="Open measured output"/>
            <p:cNvSpPr/>
            <p:nvPr/>
          </p:nvSpPr>
          <p:spPr>
            <a:xfrm>
              <a:off x="74041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8" name="Control input"/>
            <p:cNvSpPr/>
            <p:nvPr/>
          </p:nvSpPr>
          <p:spPr>
            <a:xfrm>
              <a:off x="5022850" y="3169920"/>
              <a:ext cx="6985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u</m:t>
                    </m:r>
                    <m:d>
                      <m:dPr>
                        <m:begChr m:val="("/>
                        <m:endChr m:val=")"/>
                        <m:ctrlPr>
                          <a:rPr sz="1400">
                            <a:solidFill>
                              <a:srgbClr val="252529"/>
                            </a:solidFill>
                            <a:latin typeface="Cambria Math"/>
                          </a:rPr>
                        </m:ctrlPr>
                      </m:dPr>
                      <m:e>
                        <m:r>
                          <m:rPr>
                            <m:sty m:val="i"/>
                          </m:rPr>
                          <a:rPr sz="1400">
                            <a:solidFill>
                              <a:srgbClr val="252529"/>
                            </a:solidFill>
                            <a:latin typeface="Cambria Math"/>
                          </a:rPr>
                          <m:t xml:space="preserve">t</m:t>
                        </m:r>
                      </m:e>
                    </m:d>
                  </m:oMath>
                </m:oMathPara>
              </a14:m>
              <a:endParaRPr sz="1400"/>
            </a:p>
          </p:txBody>
        </p:sp>
        <p:sp>
          <p:nvSpPr>
            <p:cNvPr id="11039" name="Measured output"/>
            <p:cNvSpPr/>
            <p:nvPr/>
          </p:nvSpPr>
          <p:spPr>
            <a:xfrm>
              <a:off x="7969250" y="3169920"/>
              <a:ext cx="6985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y</m:t>
                    </m:r>
                    <m:d>
                      <m:dPr>
                        <m:begChr m:val="("/>
                        <m:endChr m:val=")"/>
                        <m:ctrlPr>
                          <a:rPr sz="1400">
                            <a:solidFill>
                              <a:srgbClr val="252529"/>
                            </a:solidFill>
                            <a:latin typeface="Cambria Math"/>
                          </a:rPr>
                        </m:ctrlPr>
                      </m:dPr>
                      <m:e>
                        <m:r>
                          <m:rPr>
                            <m:sty m:val="i"/>
                          </m:rPr>
                          <a:rPr sz="1400">
                            <a:solidFill>
                              <a:srgbClr val="252529"/>
                            </a:solidFill>
                            <a:latin typeface="Cambria Math"/>
                          </a:rPr>
                          <m:t xml:space="preserve">t</m:t>
                        </m:r>
                      </m:e>
                    </m:d>
                  </m:oMath>
                </m:oMathPara>
              </a14:m>
              <a:endParaRPr sz="1400"/>
            </a:p>
          </p:txBody>
        </p:sp>
      </p:grpSp>
      <p:grpSp>
        <p:nvGrpSpPr>
          <p:cNvPr id="11048" name="Controller K"/>
          <p:cNvGrpSpPr/>
          <p:nvPr/>
        </p:nvGrpSpPr>
        <p:grpSpPr>
          <a:xfrm>
            <a:off x="6477000" y="3835400"/>
            <a:ext cx="711200" cy="533400"/>
            <a:chOff x="6477000" y="3835400"/>
            <a:chExt cx="711200" cy="533400"/>
          </a:xfrm>
        </p:grpSpPr>
        <p:sp>
          <p:nvSpPr>
            <p:cNvPr id="11044" name="Controller"/>
            <p:cNvSpPr/>
            <p:nvPr/>
          </p:nvSpPr>
          <p:spPr>
            <a:xfrm>
              <a:off x="6477000" y="3835400"/>
              <a:ext cx="711200" cy="533400"/>
            </a:xfrm>
            <a:prstGeom prst="roundRect">
              <a:avLst>
                <a:gd name="adj" fmla="val 5000"/>
              </a:avLst>
            </a:prstGeom>
            <a:solidFill>
              <a:srgbClr val="FFFFFF"/>
            </a:solidFill>
            <a:ln w="10795">
              <a:solidFill>
                <a:srgbClr val="252529"/>
              </a:solidFill>
            </a:ln>
          </p:spPr>
        </p:sp>
        <p:sp>
          <p:nvSpPr>
            <p:cNvPr id="11045" name="Controller label"/>
            <p:cNvSpPr/>
            <p:nvPr/>
          </p:nvSpPr>
          <p:spPr>
            <a:xfrm>
              <a:off x="6477000" y="3873500"/>
              <a:ext cx="711200" cy="457200"/>
            </a:xfrm>
            <a:prstGeom prst="rect">
              <a:avLst/>
            </a:prstGeom>
            <a:noFill/>
            <a:ln>
              <a:noFill/>
            </a:ln>
          </p:spPr>
          <p:txBody>
            <a:bodyPr wrap="none" lIns="0" tIns="0" rIns="0" bIns="0" anchor="ctr">
              <a:noAutofit/>
            </a:bodyPr>
            <a:lstStyle/>
            <a:p>
              <a:pPr algn="ctr">
                <a:buNone/>
              </a:pPr>
              <a:r>
                <a:rPr lang="en-GB" sz="2400" baseline="0" b="0" i="1" u="none">
                  <a:solidFill>
                    <a:srgbClr val="252529"/>
                  </a:solidFill>
                  <a:latin typeface="Cambria Math"/>
                  <a:ea typeface="Cambria Math"/>
                  <a:cs typeface="Cambria Math"/>
                </a:rPr>
                <a:t xml:space="preserve">K</a:t>
              </a:r>
              <a:endParaRPr sz="2400"/>
            </a:p>
          </p:txBody>
        </p:sp>
      </p:grpSp>
      <p:grpSp>
        <p:nvGrpSpPr>
          <p:cNvPr id="11054" name="Controller connections"/>
          <p:cNvGrpSpPr/>
          <p:nvPr/>
        </p:nvGrpSpPr>
        <p:grpSpPr>
          <a:xfrm>
            <a:off x="5638800" y="3225800"/>
            <a:ext cx="2387600" cy="901700"/>
            <a:chOff x="5638800" y="3225800"/>
            <a:chExt cx="2387600" cy="901700"/>
          </a:xfrm>
        </p:grpSpPr>
        <p:sp>
          <p:nvSpPr>
            <p:cNvPr id="11050" name="Measured output to K"/>
            <p:cNvSpPr/>
            <p:nvPr/>
          </p:nvSpPr>
          <p:spPr>
            <a:xfrm>
              <a:off x="7175500" y="3225800"/>
              <a:ext cx="850900" cy="889000"/>
            </a:xfrm>
            <a:custGeom>
              <a:avLst/>
              <a:gdLst/>
              <a:ahLst/>
              <a:cxnLst/>
              <a:rect l="0" t="0" r="r" b="b"/>
              <a:pathLst>
                <a:path w="850900" h="889000" fill="none">
                  <a:moveTo>
                    <a:pt x="838200" y="12700"/>
                  </a:moveTo>
                  <a:lnTo>
                    <a:pt x="838200" y="876300"/>
                  </a:lnTo>
                  <a:lnTo>
                    <a:pt x="12700" y="876300"/>
                  </a:lnTo>
                </a:path>
              </a:pathLst>
            </a:custGeom>
            <a:noFill/>
            <a:ln w="12700">
              <a:solidFill>
                <a:srgbClr val="252529"/>
              </a:solidFill>
              <a:round/>
              <a:tailEnd type="triangle" w="sm" len="sm"/>
            </a:ln>
          </p:spPr>
        </p:sp>
        <p:sp>
          <p:nvSpPr>
            <p:cNvPr id="11051" name="Controller output to plant"/>
            <p:cNvSpPr/>
            <p:nvPr/>
          </p:nvSpPr>
          <p:spPr>
            <a:xfrm>
              <a:off x="5638800" y="3225800"/>
              <a:ext cx="850900" cy="889000"/>
            </a:xfrm>
            <a:custGeom>
              <a:avLst/>
              <a:gdLst/>
              <a:ahLst/>
              <a:cxnLst/>
              <a:rect l="0" t="0" r="r" b="b"/>
              <a:pathLst>
                <a:path w="850900" h="889000" fill="none">
                  <a:moveTo>
                    <a:pt x="838200" y="876300"/>
                  </a:moveTo>
                  <a:lnTo>
                    <a:pt x="12700" y="876300"/>
                  </a:lnTo>
                  <a:lnTo>
                    <a:pt x="12700" y="12700"/>
                  </a:lnTo>
                </a:path>
              </a:pathLst>
            </a:custGeom>
            <a:noFill/>
            <a:ln w="12700">
              <a:solidFill>
                <a:srgbClr val="252529"/>
              </a:solidFill>
              <a:round/>
              <a:tailEnd type="triangle" w="sm" len="sm"/>
            </a:ln>
          </p:spPr>
        </p:sp>
      </p:grpSp>
      <p:grpSp>
        <p:nvGrpSpPr>
          <p:cNvPr id="11065" name="Equivalent original schematic">
            <a:extLst>
              <a:ext uri="{FF2B5EF4-FFF2-40B4-BE49-F238E27FC236}">
                <a16:creationId xmlns:a16="http://schemas.microsoft.com/office/drawing/2014/main" id="{C1E5EDF8-39B7-BFFC-C737-CA4AA387F766}"/>
              </a:ext>
            </a:extLst>
          </p:cNvPr>
          <p:cNvGrpSpPr/>
          <p:nvPr/>
        </p:nvGrpSpPr>
        <p:grpSpPr>
          <a:xfrm>
            <a:off x="507470" y="1322832"/>
            <a:ext cx="3582461" cy="1723136"/>
            <a:chOff x="1879600" y="241300"/>
            <a:chExt cx="5597595" cy="2692400"/>
          </a:xfrm>
        </p:grpSpPr>
        <p:pic>
          <p:nvPicPr>
            <p:cNvPr id="11056"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1057"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1058"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1059"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11060"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1"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11062"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3"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11064"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mc:Fallback/>
        </mc:AlternateContent>
      </p:grpSp>
      <p:grpSp>
        <p:nvGrpSpPr>
          <p:cNvPr id="11076" name="Schematic controller connection"/>
          <p:cNvGrpSpPr/>
          <p:nvPr/>
        </p:nvGrpSpPr>
        <p:grpSpPr>
          <a:xfrm>
            <a:off x="1155700" y="939800"/>
            <a:ext cx="3175000" cy="2514600"/>
            <a:chOff x="1155700" y="939800"/>
            <a:chExt cx="3175000" cy="2514600"/>
          </a:xfrm>
        </p:grpSpPr>
        <p:sp>
          <p:nvSpPr>
            <p:cNvPr id="11067" name="Schematic controller"/>
            <p:cNvSpPr/>
            <p:nvPr/>
          </p:nvSpPr>
          <p:spPr>
            <a:xfrm>
              <a:off x="3746500" y="952500"/>
              <a:ext cx="508000" cy="406400"/>
            </a:xfrm>
            <a:prstGeom prst="roundRect">
              <a:avLst>
                <a:gd name="adj" fmla="val 5000"/>
              </a:avLst>
            </a:prstGeom>
            <a:solidFill>
              <a:srgbClr val="FFFFFF"/>
            </a:solidFill>
            <a:ln w="10795">
              <a:solidFill>
                <a:srgbClr val="252529"/>
              </a:solidFill>
            </a:ln>
          </p:spPr>
        </p:sp>
        <p:sp>
          <p:nvSpPr>
            <p:cNvPr id="11068" name="Schematic controller label"/>
            <p:cNvSpPr/>
            <p:nvPr/>
          </p:nvSpPr>
          <p:spPr>
            <a:xfrm>
              <a:off x="3746500" y="974725"/>
              <a:ext cx="508000" cy="361950"/>
            </a:xfrm>
            <a:prstGeom prst="rect">
              <a:avLst/>
            </a:prstGeom>
            <a:noFill/>
            <a:ln>
              <a:noFill/>
            </a:ln>
          </p:spPr>
          <p:txBody>
            <a:bodyPr wrap="none" lIns="0" tIns="0" rIns="0" bIns="0" anchor="ctr">
              <a:noAutofit/>
            </a:bodyPr>
            <a:lstStyle/>
            <a:p>
              <a:pPr algn="ctr">
                <a:buNone/>
              </a:pPr>
              <a:r>
                <a:rPr lang="en-GB" sz="1900" baseline="0" b="0" i="1" u="none">
                  <a:solidFill>
                    <a:srgbClr val="252529"/>
                  </a:solidFill>
                  <a:latin typeface="Cambria Math"/>
                  <a:ea typeface="Cambria Math"/>
                  <a:cs typeface="Cambria Math"/>
                </a:rPr>
                <a:t xml:space="preserve">K</a:t>
              </a:r>
              <a:endParaRPr sz="1900"/>
            </a:p>
          </p:txBody>
        </p:sp>
        <p:sp>
          <p:nvSpPr>
            <p:cNvPr id="11069" name="Controller to probe"/>
            <p:cNvSpPr/>
            <p:nvPr/>
          </p:nvSpPr>
          <p:spPr>
            <a:xfrm>
              <a:off x="3632200" y="1143000"/>
              <a:ext cx="127000" cy="368300"/>
            </a:xfrm>
            <a:custGeom>
              <a:avLst/>
              <a:gdLst/>
              <a:ahLst/>
              <a:cxnLst/>
              <a:rect l="0" t="0" r="r" b="b"/>
              <a:pathLst>
                <a:path w="127000" h="368300" fill="none">
                  <a:moveTo>
                    <a:pt x="114300" y="12700"/>
                  </a:moveTo>
                  <a:lnTo>
                    <a:pt x="12700" y="12700"/>
                  </a:lnTo>
                  <a:lnTo>
                    <a:pt x="12700" y="355600"/>
                  </a:lnTo>
                  <a:lnTo>
                    <a:pt x="88900" y="355600"/>
                  </a:lnTo>
                </a:path>
              </a:pathLst>
            </a:custGeom>
            <a:noFill/>
            <a:ln w="10160">
              <a:solidFill>
                <a:srgbClr val="252529"/>
              </a:solidFill>
              <a:round/>
              <a:tailEnd type="triangle" w="sm" len="sm"/>
            </a:ln>
          </p:spPr>
        </p:sp>
        <p:sp>
          <p:nvSpPr>
            <p:cNvPr id="11070" name="GPe measurement"/>
            <p:cNvSpPr/>
            <p:nvPr/>
          </p:nvSpPr>
          <p:spPr>
            <a:xfrm>
              <a:off x="1155700" y="2362200"/>
              <a:ext cx="1193800" cy="660400"/>
            </a:xfrm>
            <a:custGeom>
              <a:avLst/>
              <a:gdLst/>
              <a:ahLst/>
              <a:cxnLst/>
              <a:rect l="0" t="0" r="r" b="b"/>
              <a:pathLst>
                <a:path w="1193800" h="660400" fill="none">
                  <a:moveTo>
                    <a:pt x="12700" y="12700"/>
                  </a:moveTo>
                  <a:lnTo>
                    <a:pt x="12700" y="647700"/>
                  </a:lnTo>
                  <a:lnTo>
                    <a:pt x="1181100" y="647700"/>
                  </a:lnTo>
                </a:path>
              </a:pathLst>
            </a:custGeom>
            <a:noFill/>
            <a:ln w="10160">
              <a:solidFill>
                <a:srgbClr val="747B82"/>
              </a:solidFill>
              <a:round/>
            </a:ln>
          </p:spPr>
        </p:sp>
        <p:sp>
          <p:nvSpPr>
            <p:cNvPr id="11071" name="STN measurement"/>
            <p:cNvSpPr/>
            <p:nvPr/>
          </p:nvSpPr>
          <p:spPr>
            <a:xfrm>
              <a:off x="2324100" y="2362200"/>
              <a:ext cx="1066800" cy="660400"/>
            </a:xfrm>
            <a:custGeom>
              <a:avLst/>
              <a:gdLst/>
              <a:ahLst/>
              <a:cxnLst/>
              <a:rect l="0" t="0" r="r" b="b"/>
              <a:pathLst>
                <a:path w="1066800" h="660400" fill="none">
                  <a:moveTo>
                    <a:pt x="1054100" y="12700"/>
                  </a:moveTo>
                  <a:lnTo>
                    <a:pt x="1054100" y="647700"/>
                  </a:lnTo>
                  <a:lnTo>
                    <a:pt x="12700" y="647700"/>
                  </a:lnTo>
                </a:path>
              </a:pathLst>
            </a:custGeom>
            <a:noFill/>
            <a:ln w="10160">
              <a:solidFill>
                <a:srgbClr val="747B82"/>
              </a:solidFill>
              <a:round/>
            </a:ln>
          </p:spPr>
        </p:sp>
        <p:sp>
          <p:nvSpPr>
            <p:cNvPr id="11072" name="Measurements to controller"/>
            <p:cNvSpPr/>
            <p:nvPr/>
          </p:nvSpPr>
          <p:spPr>
            <a:xfrm>
              <a:off x="2324100" y="1143000"/>
              <a:ext cx="2006600" cy="2032000"/>
            </a:xfrm>
            <a:custGeom>
              <a:avLst/>
              <a:gdLst/>
              <a:ahLst/>
              <a:cxnLst/>
              <a:rect l="0" t="0" r="r" b="b"/>
              <a:pathLst>
                <a:path w="2006600" h="2032000" fill="none">
                  <a:moveTo>
                    <a:pt x="12700" y="1866900"/>
                  </a:moveTo>
                  <a:lnTo>
                    <a:pt x="12700" y="2019300"/>
                  </a:lnTo>
                  <a:lnTo>
                    <a:pt x="1993900" y="2019300"/>
                  </a:lnTo>
                  <a:lnTo>
                    <a:pt x="1993900" y="12700"/>
                  </a:lnTo>
                  <a:lnTo>
                    <a:pt x="1930400" y="12700"/>
                  </a:lnTo>
                </a:path>
              </a:pathLst>
            </a:custGeom>
            <a:noFill/>
            <a:ln w="10160">
              <a:solidFill>
                <a:srgbClr val="747B82"/>
              </a:solidFill>
              <a:round/>
              <a:tailEnd type="triangle" w="sm" len="sm"/>
            </a:ln>
          </p:spPr>
        </p:sp>
        <p:sp>
          <p:nvSpPr>
            <p:cNvPr id="11073" name="Measured neural state"/>
            <p:cNvSpPr/>
            <p:nvPr/>
          </p:nvSpPr>
          <p:spPr>
            <a:xfrm>
              <a:off x="3035300" y="3159760"/>
              <a:ext cx="762000" cy="335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y</m:t>
                    </m:r>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oMath>
                </m:oMathPara>
              </a14:m>
              <a:endParaRPr sz="1200"/>
            </a:p>
          </p:txBody>
        </p:sp>
      </p:grpSp>
      <p:sp>
        <p:nvSpPr>
          <p:cNvPr id="11078" name="Equivalence symbol"/>
          <p:cNvSpPr/>
          <p:nvPr/>
        </p:nvSpPr>
        <p:spPr>
          <a:xfrm>
            <a:off x="4311650" y="2205355"/>
            <a:ext cx="698500" cy="84709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900">
                      <a:solidFill>
                        <a:srgbClr val="252529"/>
                      </a:solidFill>
                      <a:latin typeface="Cambria Math"/>
                    </a:rPr>
                    <m:t xml:space="preserve">⇔</m:t>
                  </m:r>
                </m:oMath>
              </m:oMathPara>
            </a14:m>
            <a:endParaRPr sz="2900"/>
          </a:p>
        </p:txBody>
      </p:sp>
      <p:sp>
        <p:nvSpPr>
          <p:cNvPr id="11079" name="Equivalent schematic heading"/>
          <p:cNvSpPr/>
          <p:nvPr/>
        </p:nvSpPr>
        <p:spPr>
          <a:xfrm>
            <a:off x="1003300" y="835660"/>
            <a:ext cx="2540000" cy="25908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Original schematic</a:t>
            </a:r>
            <a:endParaRPr sz="1200"/>
          </a:p>
        </p:txBody>
      </p:sp>
      <p:sp>
        <p:nvSpPr>
          <p:cNvPr id="11080" name="LFR heading"/>
          <p:cNvSpPr/>
          <p:nvPr/>
        </p:nvSpPr>
        <p:spPr>
          <a:xfrm>
            <a:off x="5181600" y="835660"/>
            <a:ext cx="3302000" cy="25908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Linear fractional representation</a:t>
            </a:r>
            <a:endParaRPr sz="1200"/>
          </a:p>
        </p:txBody>
      </p:sp>
      <p:sp>
        <p:nvSpPr>
          <p:cNvPr id="11081" name="Stage 1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Collect the nonlinearities in Δ.</a:t>
            </a:r>
            <a:endParaRPr sz="1500"/>
          </a:p>
        </p:txBody>
      </p:sp>
      <p:sp>
        <p:nvSpPr>
          <p:cNvPr id="11082" name="Stage 2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Collect the linear dynamics and delays in P.</a:t>
            </a:r>
            <a:endParaRPr sz="1500"/>
          </a:p>
        </p:txBody>
      </p:sp>
      <p:sp>
        <p:nvSpPr>
          <p:cNvPr id="11083" name="Stage 3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Close the open y(t)–u(t) connection with K.</a:t>
            </a:r>
            <a:endParaRPr sz="1500"/>
          </a:p>
        </p:txBody>
      </p:sp>
      <p:sp>
        <p:nvSpPr>
          <p:cNvPr id="11084" name="Stage 4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D61016"/>
                </a:solidFill>
                <a:latin typeface="Aptos"/>
                <a:ea typeface="Aptos"/>
                <a:cs typeface="Aptos"/>
              </a:rPr>
              <a:t xml:space="preserve">Same dynamics and signals; a different representation.</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