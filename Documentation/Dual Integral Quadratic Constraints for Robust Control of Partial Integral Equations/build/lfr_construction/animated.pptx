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21" r:id="rId44"/>
    <p:sldId id="427" r:id="rId45"/>
    <p:sldId id="431" r:id="rId46"/>
    <p:sldId id="428" r:id="rId47"/>
    <p:sldId id="429" r:id="rId48"/>
    <p:sldId id="432" r:id="rId49"/>
    <p:sldId id="430" r:id="rId50"/>
    <p:sldId id="433" r:id="rId51"/>
    <p:sldId id="434" r:id="rId5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530505"/>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 Type="http://schemas.openxmlformats.org/officeDocument/2006/relationships/image" Target="../media/image54.png"/><Relationship Id="rId21" Type="http://schemas.openxmlformats.org/officeDocument/2006/relationships/image" Target="../media/image81.png"/><Relationship Id="rId7" Type="http://schemas.openxmlformats.org/officeDocument/2006/relationships/image" Target="../media/image35.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2" Type="http://schemas.openxmlformats.org/officeDocument/2006/relationships/notesSlide" Target="../notesSlides/notesSlide13.xml"/><Relationship Id="rId16" Type="http://schemas.openxmlformats.org/officeDocument/2006/relationships/image" Target="../media/image76.png"/><Relationship Id="rId20" Type="http://schemas.openxmlformats.org/officeDocument/2006/relationships/image" Target="../media/image80.png"/><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71.png"/><Relationship Id="rId24" Type="http://schemas.openxmlformats.org/officeDocument/2006/relationships/image" Target="../media/image84.png"/><Relationship Id="rId5" Type="http://schemas.openxmlformats.org/officeDocument/2006/relationships/image" Target="../media/image33.png"/><Relationship Id="rId15" Type="http://schemas.openxmlformats.org/officeDocument/2006/relationships/image" Target="../media/image75.png"/><Relationship Id="rId23" Type="http://schemas.openxmlformats.org/officeDocument/2006/relationships/image" Target="../media/image83.png"/><Relationship Id="rId10" Type="http://schemas.openxmlformats.org/officeDocument/2006/relationships/image" Target="../media/image70.png"/><Relationship Id="rId19" Type="http://schemas.openxmlformats.org/officeDocument/2006/relationships/image" Target="../media/image79.png"/><Relationship Id="rId9" Type="http://schemas.openxmlformats.org/officeDocument/2006/relationships/image" Target="../media/image1.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8.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9.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90.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9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92.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2.xml.rels><?xml version="1.0" encoding="UTF-8" standalone="yes"?>
<Relationships xmlns="http://schemas.openxmlformats.org/package/2006/relationships"><Relationship Id="rId3" Type="http://schemas.openxmlformats.org/officeDocument/2006/relationships/image" Target="../media/image92.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3.xml.rels><?xml version="1.0" encoding="UTF-8" standalone="yes"?>
<Relationships xmlns="http://schemas.openxmlformats.org/package/2006/relationships"><Relationship Id="rId3" Type="http://schemas.openxmlformats.org/officeDocument/2006/relationships/image" Target="../media/image92.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5.png"/></Relationships>
</file>

<file path=ppt/slides/_rels/slide3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6.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8.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2.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0.png"/></Relationships>
</file>

<file path=ppt/slides/_rels/slide4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9.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101.png"/></Relationships>
</file>

<file path=ppt/slides/_rels/slide5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2.png"/></Relationships>
</file>

<file path=ppt/slides/_rels/slide5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5.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grpSp>
        <p:nvGrpSpPr>
          <p:cNvPr id="54"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6006"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11008" name="Original model equations"/>
          <p:cNvGrpSpPr/>
          <p:nvPr/>
        </p:nvGrpSpPr>
        <p:grpSpPr>
          <a:xfrm>
            <a:off x="838200" y="2743200"/>
            <a:ext cx="7467600" cy="1524000"/>
            <a:chOff x="838200" y="2743200"/>
            <a:chExt cx="7467600" cy="1524000"/>
          </a:xfrm>
        </p:grpSpPr>
        <mc:AlternateContent xmlns:mc="http://schemas.openxmlformats.org/markup-compatibility/2006">
          <mc:Choice xmlns:a14="http://schemas.microsoft.com/office/drawing/2010/main" Requires="a14">
            <p:sp>
              <p:nvSpPr>
                <p:cNvPr id="11001"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p:sp>
              <p:nvSpPr>
                <p:cNvPr id="11001"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2"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p:sp>
              <p:nvSpPr>
                <p:cNvPr id="11002"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3"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p:sp>
              <p:nvSpPr>
                <p:cNvPr id="11003"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p:sp>
              <p:nvSpPr>
                <p:cNvPr id="11004"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5"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p:sp>
              <p:nvSpPr>
                <p:cNvPr id="11005"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6"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p:sp>
              <p:nvSpPr>
                <p:cNvPr id="11006"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15"/>
                  <a:stretch>
                    <a:fillRect/>
                  </a:stretch>
                </a:blipFill>
                <a:ln>
                  <a:noFill/>
                </a:ln>
              </p:spPr>
              <p:txBody>
                <a:bodyPr/>
                <a:lstStyle/>
                <a:p>
                  <a:r>
                    <a:rPr lang="en-NL">
                      <a:noFill/>
                    </a:rPr>
                    <a:t> </a:t>
                  </a:r>
                </a:p>
              </p:txBody>
            </p:sp>
          </mc:Fallback>
        </mc:AlternateContent>
      </p:grpSp>
      <mc:AlternateContent xmlns:mc="http://schemas.openxmlformats.org/markup-compatibility/2006">
        <mc:Choice xmlns:a14="http://schemas.microsoft.com/office/drawing/2010/main" Requires="a14">
          <p:sp>
            <p:nvSpPr>
              <p:cNvPr id="11010"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p:sp>
            <p:nvSpPr>
              <p:cNvPr id="11010"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2"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p:sp>
            <p:nvSpPr>
              <p:cNvPr id="11012"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17"/>
                <a:stretch>
                  <a:fillRect/>
                </a:stretch>
              </a:blipFill>
              <a:ln>
                <a:noFill/>
              </a:ln>
            </p:spPr>
            <p:txBody>
              <a:bodyPr/>
              <a:lstStyle/>
              <a:p>
                <a:r>
                  <a:rPr lang="en-NL">
                    <a:noFill/>
                  </a:rPr>
                  <a:t> </a:t>
                </a:r>
              </a:p>
            </p:txBody>
          </p:sp>
        </mc:Fallback>
      </mc:AlternateContent>
      <p:grpSp>
        <p:nvGrpSpPr>
          <p:cNvPr id="11018" name="Moving nominal dynamics"/>
          <p:cNvGrpSpPr/>
          <p:nvPr/>
        </p:nvGrpSpPr>
        <p:grpSpPr>
          <a:xfrm>
            <a:off x="330200" y="3048000"/>
            <a:ext cx="3937000" cy="1117600"/>
            <a:chOff x="330200" y="3048000"/>
            <a:chExt cx="3937000" cy="1117600"/>
          </a:xfrm>
        </p:grpSpPr>
        <mc:AlternateContent xmlns:mc="http://schemas.openxmlformats.org/markup-compatibility/2006">
          <mc:Choice xmlns:a14="http://schemas.microsoft.com/office/drawing/2010/main" Requires="a14">
            <p:sp>
              <p:nvSpPr>
                <p:cNvPr id="11013"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p:sp>
              <p:nvSpPr>
                <p:cNvPr id="11013"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4"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p:sp>
              <p:nvSpPr>
                <p:cNvPr id="11014"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5"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p:sp>
              <p:nvSpPr>
                <p:cNvPr id="11015"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6"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p:sp>
              <p:nvSpPr>
                <p:cNvPr id="11016"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21"/>
                  <a:stretch>
                    <a:fillRect/>
                  </a:stretch>
                </a:blipFill>
                <a:ln>
                  <a:noFill/>
                </a:ln>
              </p:spPr>
              <p:txBody>
                <a:bodyPr/>
                <a:lstStyle/>
                <a:p>
                  <a:r>
                    <a:rPr lang="en-NL">
                      <a:noFill/>
                    </a:rPr>
                    <a:t> </a:t>
                  </a:r>
                </a:p>
              </p:txBody>
            </p:sp>
          </mc:Fallback>
        </mc:AlternateContent>
      </p:grpSp>
      <p:grpSp>
        <p:nvGrpSpPr>
          <p:cNvPr id="11024" name="Delta block"/>
          <p:cNvGrpSpPr/>
          <p:nvPr/>
        </p:nvGrpSpPr>
        <p:grpSpPr>
          <a:xfrm>
            <a:off x="6248400" y="1181100"/>
            <a:ext cx="1168400" cy="787400"/>
            <a:chOff x="6248400" y="1181100"/>
            <a:chExt cx="1168400" cy="787400"/>
          </a:xfrm>
        </p:grpSpPr>
        <p:sp>
          <p:nvSpPr>
            <p:cNvPr id="11020" name="Nonlinearity block"/>
            <p:cNvSpPr/>
            <p:nvPr/>
          </p:nvSpPr>
          <p:spPr>
            <a:xfrm>
              <a:off x="6248400" y="1181100"/>
              <a:ext cx="1168400" cy="787400"/>
            </a:xfrm>
            <a:prstGeom prst="roundRect">
              <a:avLst>
                <a:gd name="adj" fmla="val 5000"/>
              </a:avLst>
            </a:prstGeom>
            <a:solidFill>
              <a:srgbClr val="FFFFFF"/>
            </a:solidFill>
            <a:ln w="10795">
              <a:solidFill>
                <a:srgbClr val="D61016"/>
              </a:solidFill>
            </a:ln>
          </p:spPr>
        </p:sp>
        <p:sp>
          <p:nvSpPr>
            <p:cNvPr id="11021" name="Nonlinearity block label"/>
            <p:cNvSpPr/>
            <p:nvPr/>
          </p:nvSpPr>
          <p:spPr>
            <a:xfrm>
              <a:off x="6248400" y="13176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D61016"/>
                  </a:solidFill>
                  <a:latin typeface="Cambria Math"/>
                  <a:ea typeface="Cambria Math"/>
                  <a:cs typeface="Cambria Math"/>
                </a:rPr>
                <a:t>Δ</a:t>
              </a:r>
              <a:endParaRPr sz="2700"/>
            </a:p>
          </p:txBody>
        </p:sp>
      </p:grpSp>
      <p:grpSp>
        <p:nvGrpSpPr>
          <p:cNvPr id="11030" name="P block"/>
          <p:cNvGrpSpPr/>
          <p:nvPr/>
        </p:nvGrpSpPr>
        <p:grpSpPr>
          <a:xfrm>
            <a:off x="6248400" y="2527300"/>
            <a:ext cx="1168400" cy="939800"/>
            <a:chOff x="6248400" y="2527300"/>
            <a:chExt cx="1168400" cy="939800"/>
          </a:xfrm>
        </p:grpSpPr>
        <p:sp>
          <p:nvSpPr>
            <p:cNvPr id="11026" name="Nominal plant block"/>
            <p:cNvSpPr/>
            <p:nvPr/>
          </p:nvSpPr>
          <p:spPr>
            <a:xfrm>
              <a:off x="6248400" y="2527300"/>
              <a:ext cx="1168400" cy="939800"/>
            </a:xfrm>
            <a:prstGeom prst="roundRect">
              <a:avLst>
                <a:gd name="adj" fmla="val 5000"/>
              </a:avLst>
            </a:prstGeom>
            <a:solidFill>
              <a:srgbClr val="FFFFFF"/>
            </a:solidFill>
            <a:ln w="10795">
              <a:solidFill>
                <a:srgbClr val="252529"/>
              </a:solidFill>
            </a:ln>
          </p:spPr>
        </p:sp>
        <p:sp>
          <p:nvSpPr>
            <p:cNvPr id="11027" name="Nominal plant block label"/>
            <p:cNvSpPr/>
            <p:nvPr/>
          </p:nvSpPr>
          <p:spPr>
            <a:xfrm>
              <a:off x="6248400" y="2720975"/>
              <a:ext cx="1168400" cy="552450"/>
            </a:xfrm>
            <a:prstGeom prst="rect">
              <a:avLst/>
            </a:prstGeom>
            <a:noFill/>
            <a:ln>
              <a:noFill/>
            </a:ln>
          </p:spPr>
          <p:txBody>
            <a:bodyPr wrap="none" lIns="0" tIns="0" rIns="0" bIns="0" anchor="ctr">
              <a:noAutofit/>
            </a:bodyPr>
            <a:lstStyle/>
            <a:p>
              <a:pPr algn="ctr">
                <a:buNone/>
              </a:pPr>
              <a:r>
                <a:rPr lang="en-GB" sz="2900" b="0" i="1" u="none" baseline="0">
                  <a:solidFill>
                    <a:srgbClr val="252529"/>
                  </a:solidFill>
                  <a:latin typeface="Cambria Math"/>
                  <a:ea typeface="Cambria Math"/>
                  <a:cs typeface="Cambria Math"/>
                </a:rPr>
                <a:t>P</a:t>
              </a:r>
              <a:endParaRPr sz="2900"/>
            </a:p>
          </p:txBody>
        </p:sp>
      </p:grpSp>
      <p:grpSp>
        <p:nvGrpSpPr>
          <p:cNvPr id="11042" name="LFR signal connections"/>
          <p:cNvGrpSpPr/>
          <p:nvPr/>
        </p:nvGrpSpPr>
        <p:grpSpPr>
          <a:xfrm>
            <a:off x="5029200" y="1422400"/>
            <a:ext cx="3657600" cy="2082800"/>
            <a:chOff x="5029200" y="1422400"/>
            <a:chExt cx="3657600" cy="2082800"/>
          </a:xfrm>
        </p:grpSpPr>
        <p:sp>
          <p:nvSpPr>
            <p:cNvPr id="11032" name="z Delta channel"/>
            <p:cNvSpPr/>
            <p:nvPr/>
          </p:nvSpPr>
          <p:spPr>
            <a:xfrm>
              <a:off x="5638800" y="1562100"/>
              <a:ext cx="622300" cy="1181100"/>
            </a:xfrm>
            <a:custGeom>
              <a:avLst/>
              <a:gdLst/>
              <a:ahLst/>
              <a:cxnLst/>
              <a:rect l="0" t="0" r="r" b="b"/>
              <a:pathLst>
                <a:path w="622300" h="1181100" fill="none">
                  <a:moveTo>
                    <a:pt x="609600" y="1168400"/>
                  </a:moveTo>
                  <a:lnTo>
                    <a:pt x="12700" y="1168400"/>
                  </a:lnTo>
                  <a:lnTo>
                    <a:pt x="12700" y="12700"/>
                  </a:lnTo>
                  <a:lnTo>
                    <a:pt x="609600" y="12700"/>
                  </a:lnTo>
                </a:path>
              </a:pathLst>
            </a:custGeom>
            <a:noFill/>
            <a:ln w="12700">
              <a:solidFill>
                <a:srgbClr val="252529"/>
              </a:solidFill>
              <a:round/>
              <a:tailEnd type="triangle" w="sm" len="sm"/>
            </a:ln>
          </p:spPr>
        </p:sp>
        <p:sp>
          <p:nvSpPr>
            <p:cNvPr id="11033" name="w Delta channel"/>
            <p:cNvSpPr/>
            <p:nvPr/>
          </p:nvSpPr>
          <p:spPr>
            <a:xfrm>
              <a:off x="7404100" y="1562100"/>
              <a:ext cx="622300" cy="1181100"/>
            </a:xfrm>
            <a:custGeom>
              <a:avLst/>
              <a:gdLst/>
              <a:ahLst/>
              <a:cxnLst/>
              <a:rect l="0" t="0" r="r" b="b"/>
              <a:pathLst>
                <a:path w="622300" h="1181100" fill="none">
                  <a:moveTo>
                    <a:pt x="12700" y="12700"/>
                  </a:moveTo>
                  <a:lnTo>
                    <a:pt x="609600" y="12700"/>
                  </a:lnTo>
                  <a:lnTo>
                    <a:pt x="609600" y="1168400"/>
                  </a:lnTo>
                  <a:lnTo>
                    <a:pt x="12700" y="11684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1034" name="Nonlinearity input"/>
                <p:cNvSpPr/>
                <p:nvPr/>
              </p:nvSpPr>
              <p:spPr>
                <a:xfrm>
                  <a:off x="5080000" y="1986280"/>
                  <a:ext cx="6350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𝑧</m:t>
                            </m:r>
                          </m:e>
                          <m:sub>
                            <m:r>
                              <m:rPr>
                                <m:sty m:val="p"/>
                              </m:rPr>
                              <a:rPr sz="1600">
                                <a:solidFill>
                                  <a:srgbClr val="252529"/>
                                </a:solidFill>
                                <a:latin typeface="Cambria Math"/>
                              </a:rPr>
                              <m:t>Δ</m:t>
                            </m:r>
                          </m:sub>
                        </m:sSub>
                      </m:oMath>
                    </m:oMathPara>
                  </a14:m>
                  <a:endParaRPr sz="1600"/>
                </a:p>
              </p:txBody>
            </p:sp>
          </mc:Choice>
          <mc:Fallback>
            <p:sp>
              <p:nvSpPr>
                <p:cNvPr id="11034" name="Nonlinearity input"/>
                <p:cNvSpPr>
                  <a:spLocks noRot="1" noChangeAspect="1" noMove="1" noResize="1" noEditPoints="1" noAdjustHandles="1" noChangeArrowheads="1" noChangeShapeType="1" noTextEdit="1"/>
                </p:cNvSpPr>
                <p:nvPr/>
              </p:nvSpPr>
              <p:spPr>
                <a:xfrm>
                  <a:off x="5080000" y="1986280"/>
                  <a:ext cx="635000" cy="44704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35" name="Nonlinearity output"/>
                <p:cNvSpPr/>
                <p:nvPr/>
              </p:nvSpPr>
              <p:spPr>
                <a:xfrm>
                  <a:off x="7950200" y="1986280"/>
                  <a:ext cx="6350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𝑤</m:t>
                            </m:r>
                          </m:e>
                          <m:sub>
                            <m:r>
                              <m:rPr>
                                <m:sty m:val="p"/>
                              </m:rPr>
                              <a:rPr sz="1600">
                                <a:solidFill>
                                  <a:srgbClr val="252529"/>
                                </a:solidFill>
                                <a:latin typeface="Cambria Math"/>
                              </a:rPr>
                              <m:t>Δ</m:t>
                            </m:r>
                          </m:sub>
                        </m:sSub>
                      </m:oMath>
                    </m:oMathPara>
                  </a14:m>
                  <a:endParaRPr sz="1600"/>
                </a:p>
              </p:txBody>
            </p:sp>
          </mc:Choice>
          <mc:Fallback>
            <p:sp>
              <p:nvSpPr>
                <p:cNvPr id="11035" name="Nonlinearity output"/>
                <p:cNvSpPr>
                  <a:spLocks noRot="1" noChangeAspect="1" noMove="1" noResize="1" noEditPoints="1" noAdjustHandles="1" noChangeArrowheads="1" noChangeShapeType="1" noTextEdit="1"/>
                </p:cNvSpPr>
                <p:nvPr/>
              </p:nvSpPr>
              <p:spPr>
                <a:xfrm>
                  <a:off x="7950200" y="1986280"/>
                  <a:ext cx="635000" cy="447040"/>
                </a:xfrm>
                <a:prstGeom prst="rect">
                  <a:avLst/>
                </a:prstGeom>
                <a:blipFill>
                  <a:blip r:embed="rId23"/>
                  <a:stretch>
                    <a:fillRect/>
                  </a:stretch>
                </a:blipFill>
                <a:ln>
                  <a:noFill/>
                </a:ln>
              </p:spPr>
              <p:txBody>
                <a:bodyPr/>
                <a:lstStyle/>
                <a:p>
                  <a:r>
                    <a:rPr lang="en-NL">
                      <a:noFill/>
                    </a:rPr>
                    <a:t> </a:t>
                  </a:r>
                </a:p>
              </p:txBody>
            </p:sp>
          </mc:Fallback>
        </mc:AlternateContent>
        <p:sp>
          <p:nvSpPr>
            <p:cNvPr id="11036" name="Open control input"/>
            <p:cNvSpPr/>
            <p:nvPr/>
          </p:nvSpPr>
          <p:spPr>
            <a:xfrm>
              <a:off x="56388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7" name="Open measured output"/>
            <p:cNvSpPr/>
            <p:nvPr/>
          </p:nvSpPr>
          <p:spPr>
            <a:xfrm>
              <a:off x="74041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1038" name="Control input"/>
                <p:cNvSpPr/>
                <p:nvPr/>
              </p:nvSpPr>
              <p:spPr>
                <a:xfrm>
                  <a:off x="5022850" y="3169920"/>
                  <a:ext cx="6985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𝑢</m:t>
                        </m:r>
                        <m:d>
                          <m:dPr>
                            <m:ctrlPr>
                              <a:rPr sz="1400">
                                <a:solidFill>
                                  <a:srgbClr val="252529"/>
                                </a:solidFill>
                                <a:latin typeface="Cambria Math"/>
                              </a:rPr>
                            </m:ctrlPr>
                          </m:dPr>
                          <m:e>
                            <m:r>
                              <a:rPr sz="1400">
                                <a:solidFill>
                                  <a:srgbClr val="252529"/>
                                </a:solidFill>
                                <a:latin typeface="Cambria Math"/>
                              </a:rPr>
                              <m:t>𝑡</m:t>
                            </m:r>
                          </m:e>
                        </m:d>
                      </m:oMath>
                    </m:oMathPara>
                  </a14:m>
                  <a:endParaRPr sz="1400"/>
                </a:p>
              </p:txBody>
            </p:sp>
          </mc:Choice>
          <mc:Fallback>
            <p:sp>
              <p:nvSpPr>
                <p:cNvPr id="11038" name="Control input"/>
                <p:cNvSpPr>
                  <a:spLocks noRot="1" noChangeAspect="1" noMove="1" noResize="1" noEditPoints="1" noAdjustHandles="1" noChangeArrowheads="1" noChangeShapeType="1" noTextEdit="1"/>
                </p:cNvSpPr>
                <p:nvPr/>
              </p:nvSpPr>
              <p:spPr>
                <a:xfrm>
                  <a:off x="5022850" y="3169920"/>
                  <a:ext cx="698500" cy="39116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39" name="Measured output"/>
                <p:cNvSpPr/>
                <p:nvPr/>
              </p:nvSpPr>
              <p:spPr>
                <a:xfrm>
                  <a:off x="7969250" y="3169920"/>
                  <a:ext cx="6985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𝑦</m:t>
                        </m:r>
                        <m:d>
                          <m:dPr>
                            <m:ctrlPr>
                              <a:rPr sz="1400">
                                <a:solidFill>
                                  <a:srgbClr val="252529"/>
                                </a:solidFill>
                                <a:latin typeface="Cambria Math"/>
                              </a:rPr>
                            </m:ctrlPr>
                          </m:dPr>
                          <m:e>
                            <m:r>
                              <a:rPr sz="1400">
                                <a:solidFill>
                                  <a:srgbClr val="252529"/>
                                </a:solidFill>
                                <a:latin typeface="Cambria Math"/>
                              </a:rPr>
                              <m:t>𝑡</m:t>
                            </m:r>
                          </m:e>
                        </m:d>
                      </m:oMath>
                    </m:oMathPara>
                  </a14:m>
                  <a:endParaRPr sz="1400"/>
                </a:p>
              </p:txBody>
            </p:sp>
          </mc:Choice>
          <mc:Fallback>
            <p:sp>
              <p:nvSpPr>
                <p:cNvPr id="11039" name="Measured output"/>
                <p:cNvSpPr>
                  <a:spLocks noRot="1" noChangeAspect="1" noMove="1" noResize="1" noEditPoints="1" noAdjustHandles="1" noChangeArrowheads="1" noChangeShapeType="1" noTextEdit="1"/>
                </p:cNvSpPr>
                <p:nvPr/>
              </p:nvSpPr>
              <p:spPr>
                <a:xfrm>
                  <a:off x="7969250" y="3169920"/>
                  <a:ext cx="698500" cy="391160"/>
                </a:xfrm>
                <a:prstGeom prst="rect">
                  <a:avLst/>
                </a:prstGeom>
                <a:blipFill>
                  <a:blip r:embed="rId25"/>
                  <a:stretch>
                    <a:fillRect/>
                  </a:stretch>
                </a:blipFill>
                <a:ln>
                  <a:noFill/>
                </a:ln>
              </p:spPr>
              <p:txBody>
                <a:bodyPr/>
                <a:lstStyle/>
                <a:p>
                  <a:r>
                    <a:rPr lang="en-NL">
                      <a:noFill/>
                    </a:rPr>
                    <a:t> </a:t>
                  </a:r>
                </a:p>
              </p:txBody>
            </p:sp>
          </mc:Fallback>
        </mc:AlternateContent>
      </p:grpSp>
      <p:grpSp>
        <p:nvGrpSpPr>
          <p:cNvPr id="11048" name="Controller K"/>
          <p:cNvGrpSpPr/>
          <p:nvPr/>
        </p:nvGrpSpPr>
        <p:grpSpPr>
          <a:xfrm>
            <a:off x="6477000" y="3835400"/>
            <a:ext cx="711200" cy="533400"/>
            <a:chOff x="6477000" y="3835400"/>
            <a:chExt cx="711200" cy="533400"/>
          </a:xfrm>
        </p:grpSpPr>
        <p:sp>
          <p:nvSpPr>
            <p:cNvPr id="11044" name="Controller"/>
            <p:cNvSpPr/>
            <p:nvPr/>
          </p:nvSpPr>
          <p:spPr>
            <a:xfrm>
              <a:off x="6477000" y="3835400"/>
              <a:ext cx="711200" cy="533400"/>
            </a:xfrm>
            <a:prstGeom prst="roundRect">
              <a:avLst>
                <a:gd name="adj" fmla="val 5000"/>
              </a:avLst>
            </a:prstGeom>
            <a:solidFill>
              <a:srgbClr val="FFFFFF"/>
            </a:solidFill>
            <a:ln w="10795">
              <a:solidFill>
                <a:srgbClr val="252529"/>
              </a:solidFill>
            </a:ln>
          </p:spPr>
        </p:sp>
        <p:sp>
          <p:nvSpPr>
            <p:cNvPr id="11045" name="Controller label"/>
            <p:cNvSpPr/>
            <p:nvPr/>
          </p:nvSpPr>
          <p:spPr>
            <a:xfrm>
              <a:off x="6477000" y="3873500"/>
              <a:ext cx="711200" cy="457200"/>
            </a:xfrm>
            <a:prstGeom prst="rect">
              <a:avLst/>
            </a:prstGeom>
            <a:noFill/>
            <a:ln>
              <a:noFill/>
            </a:ln>
          </p:spPr>
          <p:txBody>
            <a:bodyPr wrap="none" lIns="0" tIns="0" rIns="0" bIns="0" anchor="ctr">
              <a:noAutofit/>
            </a:bodyPr>
            <a:lstStyle/>
            <a:p>
              <a:pPr algn="ctr">
                <a:buNone/>
              </a:pPr>
              <a:r>
                <a:rPr lang="en-GB" sz="2400" b="0" i="1" u="none" baseline="0">
                  <a:solidFill>
                    <a:srgbClr val="252529"/>
                  </a:solidFill>
                  <a:latin typeface="Cambria Math"/>
                  <a:ea typeface="Cambria Math"/>
                  <a:cs typeface="Cambria Math"/>
                </a:rPr>
                <a:t>K</a:t>
              </a:r>
              <a:endParaRPr sz="2400"/>
            </a:p>
          </p:txBody>
        </p:sp>
      </p:grpSp>
      <p:grpSp>
        <p:nvGrpSpPr>
          <p:cNvPr id="11054" name="Controller connections"/>
          <p:cNvGrpSpPr/>
          <p:nvPr/>
        </p:nvGrpSpPr>
        <p:grpSpPr>
          <a:xfrm>
            <a:off x="5638800" y="3225800"/>
            <a:ext cx="2387600" cy="901700"/>
            <a:chOff x="5638800" y="3225800"/>
            <a:chExt cx="2387600" cy="901700"/>
          </a:xfrm>
        </p:grpSpPr>
        <p:sp>
          <p:nvSpPr>
            <p:cNvPr id="11050" name="Measured output to K"/>
            <p:cNvSpPr/>
            <p:nvPr/>
          </p:nvSpPr>
          <p:spPr>
            <a:xfrm>
              <a:off x="7175500" y="3225800"/>
              <a:ext cx="850900" cy="889000"/>
            </a:xfrm>
            <a:custGeom>
              <a:avLst/>
              <a:gdLst/>
              <a:ahLst/>
              <a:cxnLst/>
              <a:rect l="0" t="0" r="r" b="b"/>
              <a:pathLst>
                <a:path w="850900" h="889000" fill="none">
                  <a:moveTo>
                    <a:pt x="838200" y="12700"/>
                  </a:moveTo>
                  <a:lnTo>
                    <a:pt x="838200" y="876300"/>
                  </a:lnTo>
                  <a:lnTo>
                    <a:pt x="12700" y="876300"/>
                  </a:lnTo>
                </a:path>
              </a:pathLst>
            </a:custGeom>
            <a:noFill/>
            <a:ln w="12700">
              <a:solidFill>
                <a:srgbClr val="252529"/>
              </a:solidFill>
              <a:round/>
              <a:tailEnd type="triangle" w="sm" len="sm"/>
            </a:ln>
          </p:spPr>
        </p:sp>
        <p:sp>
          <p:nvSpPr>
            <p:cNvPr id="11051" name="Controller output to plant"/>
            <p:cNvSpPr/>
            <p:nvPr/>
          </p:nvSpPr>
          <p:spPr>
            <a:xfrm>
              <a:off x="5638800" y="3225800"/>
              <a:ext cx="850900" cy="889000"/>
            </a:xfrm>
            <a:custGeom>
              <a:avLst/>
              <a:gdLst/>
              <a:ahLst/>
              <a:cxnLst/>
              <a:rect l="0" t="0" r="r" b="b"/>
              <a:pathLst>
                <a:path w="850900" h="889000" fill="none">
                  <a:moveTo>
                    <a:pt x="838200" y="876300"/>
                  </a:moveTo>
                  <a:lnTo>
                    <a:pt x="12700" y="876300"/>
                  </a:lnTo>
                  <a:lnTo>
                    <a:pt x="12700" y="12700"/>
                  </a:lnTo>
                </a:path>
              </a:pathLst>
            </a:custGeom>
            <a:noFill/>
            <a:ln w="12700">
              <a:solidFill>
                <a:srgbClr val="252529"/>
              </a:solidFill>
              <a:round/>
              <a:tailEnd type="triangle" w="sm" len="sm"/>
            </a:ln>
          </p:spPr>
        </p:sp>
      </p:grpSp>
      <p:grpSp>
        <p:nvGrpSpPr>
          <p:cNvPr id="11065" name="Equivalent original schematic">
            <a:extLst>
              <a:ext uri="{FF2B5EF4-FFF2-40B4-BE49-F238E27FC236}">
                <a16:creationId xmlns:a16="http://schemas.microsoft.com/office/drawing/2014/main" id="{C1E5EDF8-39B7-BFFC-C737-CA4AA387F766}"/>
              </a:ext>
            </a:extLst>
          </p:cNvPr>
          <p:cNvGrpSpPr/>
          <p:nvPr/>
        </p:nvGrpSpPr>
        <p:grpSpPr>
          <a:xfrm>
            <a:off x="507470" y="1322832"/>
            <a:ext cx="3582461" cy="1723136"/>
            <a:chOff x="1879600" y="241300"/>
            <a:chExt cx="5597595" cy="2692400"/>
          </a:xfrm>
        </p:grpSpPr>
        <p:pic>
          <p:nvPicPr>
            <p:cNvPr id="11056"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1057"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1058"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1059"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1060"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1"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1062"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3"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1064"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p:grpSp>
      <p:grpSp>
        <p:nvGrpSpPr>
          <p:cNvPr id="11076" name="Schematic controller connection"/>
          <p:cNvGrpSpPr/>
          <p:nvPr/>
        </p:nvGrpSpPr>
        <p:grpSpPr>
          <a:xfrm>
            <a:off x="1155700" y="939800"/>
            <a:ext cx="3175000" cy="2514600"/>
            <a:chOff x="1155700" y="939800"/>
            <a:chExt cx="3175000" cy="2514600"/>
          </a:xfrm>
        </p:grpSpPr>
        <p:sp>
          <p:nvSpPr>
            <p:cNvPr id="11067" name="Schematic controller"/>
            <p:cNvSpPr/>
            <p:nvPr/>
          </p:nvSpPr>
          <p:spPr>
            <a:xfrm>
              <a:off x="3746500" y="952500"/>
              <a:ext cx="508000" cy="406400"/>
            </a:xfrm>
            <a:prstGeom prst="roundRect">
              <a:avLst>
                <a:gd name="adj" fmla="val 5000"/>
              </a:avLst>
            </a:prstGeom>
            <a:solidFill>
              <a:srgbClr val="FFFFFF"/>
            </a:solidFill>
            <a:ln w="10795">
              <a:solidFill>
                <a:srgbClr val="252529"/>
              </a:solidFill>
            </a:ln>
          </p:spPr>
        </p:sp>
        <p:sp>
          <p:nvSpPr>
            <p:cNvPr id="11068" name="Schematic controller label"/>
            <p:cNvSpPr/>
            <p:nvPr/>
          </p:nvSpPr>
          <p:spPr>
            <a:xfrm>
              <a:off x="3746500" y="974725"/>
              <a:ext cx="508000" cy="361950"/>
            </a:xfrm>
            <a:prstGeom prst="rect">
              <a:avLst/>
            </a:prstGeom>
            <a:noFill/>
            <a:ln>
              <a:noFill/>
            </a:ln>
          </p:spPr>
          <p:txBody>
            <a:bodyPr wrap="none" lIns="0" tIns="0" rIns="0" bIns="0" anchor="ctr">
              <a:noAutofit/>
            </a:bodyPr>
            <a:lstStyle/>
            <a:p>
              <a:pPr algn="ctr">
                <a:buNone/>
              </a:pPr>
              <a:r>
                <a:rPr lang="en-GB" sz="1900" b="0" i="1" u="none" baseline="0">
                  <a:solidFill>
                    <a:srgbClr val="252529"/>
                  </a:solidFill>
                  <a:latin typeface="Cambria Math"/>
                  <a:ea typeface="Cambria Math"/>
                  <a:cs typeface="Cambria Math"/>
                </a:rPr>
                <a:t>K</a:t>
              </a:r>
              <a:endParaRPr sz="1900"/>
            </a:p>
          </p:txBody>
        </p:sp>
        <p:sp>
          <p:nvSpPr>
            <p:cNvPr id="11069" name="Controller to probe"/>
            <p:cNvSpPr/>
            <p:nvPr/>
          </p:nvSpPr>
          <p:spPr>
            <a:xfrm>
              <a:off x="3632200" y="1143000"/>
              <a:ext cx="127000" cy="368300"/>
            </a:xfrm>
            <a:custGeom>
              <a:avLst/>
              <a:gdLst/>
              <a:ahLst/>
              <a:cxnLst/>
              <a:rect l="0" t="0" r="r" b="b"/>
              <a:pathLst>
                <a:path w="127000" h="368300" fill="none">
                  <a:moveTo>
                    <a:pt x="114300" y="12700"/>
                  </a:moveTo>
                  <a:lnTo>
                    <a:pt x="12700" y="12700"/>
                  </a:lnTo>
                  <a:lnTo>
                    <a:pt x="12700" y="355600"/>
                  </a:lnTo>
                  <a:lnTo>
                    <a:pt x="88900" y="355600"/>
                  </a:lnTo>
                </a:path>
              </a:pathLst>
            </a:custGeom>
            <a:noFill/>
            <a:ln w="10160">
              <a:solidFill>
                <a:srgbClr val="252529"/>
              </a:solidFill>
              <a:round/>
              <a:tailEnd type="triangle" w="sm" len="sm"/>
            </a:ln>
          </p:spPr>
        </p:sp>
        <p:sp>
          <p:nvSpPr>
            <p:cNvPr id="11070" name="GPe measurement"/>
            <p:cNvSpPr/>
            <p:nvPr/>
          </p:nvSpPr>
          <p:spPr>
            <a:xfrm>
              <a:off x="1155700" y="2362200"/>
              <a:ext cx="1193800" cy="660400"/>
            </a:xfrm>
            <a:custGeom>
              <a:avLst/>
              <a:gdLst/>
              <a:ahLst/>
              <a:cxnLst/>
              <a:rect l="0" t="0" r="r" b="b"/>
              <a:pathLst>
                <a:path w="1193800" h="660400" fill="none">
                  <a:moveTo>
                    <a:pt x="12700" y="12700"/>
                  </a:moveTo>
                  <a:lnTo>
                    <a:pt x="12700" y="647700"/>
                  </a:lnTo>
                  <a:lnTo>
                    <a:pt x="1181100" y="647700"/>
                  </a:lnTo>
                </a:path>
              </a:pathLst>
            </a:custGeom>
            <a:noFill/>
            <a:ln w="10160">
              <a:solidFill>
                <a:srgbClr val="747B82"/>
              </a:solidFill>
              <a:round/>
            </a:ln>
          </p:spPr>
        </p:sp>
        <p:sp>
          <p:nvSpPr>
            <p:cNvPr id="11071" name="STN measurement"/>
            <p:cNvSpPr/>
            <p:nvPr/>
          </p:nvSpPr>
          <p:spPr>
            <a:xfrm>
              <a:off x="2324100" y="2362200"/>
              <a:ext cx="1066800" cy="660400"/>
            </a:xfrm>
            <a:custGeom>
              <a:avLst/>
              <a:gdLst/>
              <a:ahLst/>
              <a:cxnLst/>
              <a:rect l="0" t="0" r="r" b="b"/>
              <a:pathLst>
                <a:path w="1066800" h="660400" fill="none">
                  <a:moveTo>
                    <a:pt x="1054100" y="12700"/>
                  </a:moveTo>
                  <a:lnTo>
                    <a:pt x="1054100" y="647700"/>
                  </a:lnTo>
                  <a:lnTo>
                    <a:pt x="12700" y="647700"/>
                  </a:lnTo>
                </a:path>
              </a:pathLst>
            </a:custGeom>
            <a:noFill/>
            <a:ln w="10160">
              <a:solidFill>
                <a:srgbClr val="747B82"/>
              </a:solidFill>
              <a:round/>
            </a:ln>
          </p:spPr>
        </p:sp>
        <p:sp>
          <p:nvSpPr>
            <p:cNvPr id="11072" name="Measurements to controller"/>
            <p:cNvSpPr/>
            <p:nvPr/>
          </p:nvSpPr>
          <p:spPr>
            <a:xfrm>
              <a:off x="2324100" y="1143000"/>
              <a:ext cx="2006600" cy="2032000"/>
            </a:xfrm>
            <a:custGeom>
              <a:avLst/>
              <a:gdLst/>
              <a:ahLst/>
              <a:cxnLst/>
              <a:rect l="0" t="0" r="r" b="b"/>
              <a:pathLst>
                <a:path w="2006600" h="2032000" fill="none">
                  <a:moveTo>
                    <a:pt x="12700" y="1866900"/>
                  </a:moveTo>
                  <a:lnTo>
                    <a:pt x="12700" y="2019300"/>
                  </a:lnTo>
                  <a:lnTo>
                    <a:pt x="1993900" y="2019300"/>
                  </a:lnTo>
                  <a:lnTo>
                    <a:pt x="1993900" y="12700"/>
                  </a:lnTo>
                  <a:lnTo>
                    <a:pt x="1930400" y="12700"/>
                  </a:lnTo>
                </a:path>
              </a:pathLst>
            </a:custGeom>
            <a:noFill/>
            <a:ln w="10160">
              <a:solidFill>
                <a:srgbClr val="747B82"/>
              </a:solidFill>
              <a:round/>
              <a:tailEnd type="triangle" w="sm" len="sm"/>
            </a:ln>
          </p:spPr>
        </p:sp>
        <mc:AlternateContent xmlns:mc="http://schemas.openxmlformats.org/markup-compatibility/2006">
          <mc:Choice xmlns:a14="http://schemas.microsoft.com/office/drawing/2010/main" Requires="a14">
            <p:sp>
              <p:nvSpPr>
                <p:cNvPr id="11073" name="Measured neural state"/>
                <p:cNvSpPr/>
                <p:nvPr/>
              </p:nvSpPr>
              <p:spPr>
                <a:xfrm>
                  <a:off x="3035300" y="3159760"/>
                  <a:ext cx="762000" cy="335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𝑦</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p:sp>
              <p:nvSpPr>
                <p:cNvPr id="11073" name="Measured neural state"/>
                <p:cNvSpPr>
                  <a:spLocks noRot="1" noChangeAspect="1" noMove="1" noResize="1" noEditPoints="1" noAdjustHandles="1" noChangeArrowheads="1" noChangeShapeType="1" noTextEdit="1"/>
                </p:cNvSpPr>
                <p:nvPr/>
              </p:nvSpPr>
              <p:spPr>
                <a:xfrm>
                  <a:off x="3035300" y="3159760"/>
                  <a:ext cx="762000" cy="335280"/>
                </a:xfrm>
                <a:prstGeom prst="rect">
                  <a:avLst/>
                </a:prstGeom>
                <a:blipFill>
                  <a:blip r:embed="rId26"/>
                  <a:stretch>
                    <a:fillRect/>
                  </a:stretch>
                </a:blipFill>
                <a:ln>
                  <a:noFill/>
                </a:ln>
              </p:spPr>
              <p:txBody>
                <a:bodyPr/>
                <a:lstStyle/>
                <a:p>
                  <a:r>
                    <a:rPr lang="en-NL">
                      <a:noFill/>
                    </a:rPr>
                    <a:t> </a:t>
                  </a:r>
                </a:p>
              </p:txBody>
            </p:sp>
          </mc:Fallback>
        </mc:AlternateContent>
      </p:grpSp>
      <mc:AlternateContent xmlns:mc="http://schemas.openxmlformats.org/markup-compatibility/2006">
        <mc:Choice xmlns:a14="http://schemas.microsoft.com/office/drawing/2010/main" Requires="a14">
          <p:sp>
            <p:nvSpPr>
              <p:cNvPr id="11078" name="Equivalence symbol"/>
              <p:cNvSpPr/>
              <p:nvPr/>
            </p:nvSpPr>
            <p:spPr>
              <a:xfrm>
                <a:off x="4311650" y="2205355"/>
                <a:ext cx="698500" cy="84709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m:t>
                      </m:r>
                    </m:oMath>
                  </m:oMathPara>
                </a14:m>
                <a:endParaRPr sz="2900"/>
              </a:p>
            </p:txBody>
          </p:sp>
        </mc:Choice>
        <mc:Fallback>
          <p:sp>
            <p:nvSpPr>
              <p:cNvPr id="11078" name="Equivalence symbol"/>
              <p:cNvSpPr>
                <a:spLocks noRot="1" noChangeAspect="1" noMove="1" noResize="1" noEditPoints="1" noAdjustHandles="1" noChangeArrowheads="1" noChangeShapeType="1" noTextEdit="1"/>
              </p:cNvSpPr>
              <p:nvPr/>
            </p:nvSpPr>
            <p:spPr>
              <a:xfrm>
                <a:off x="4311650" y="2205355"/>
                <a:ext cx="698500" cy="847090"/>
              </a:xfrm>
              <a:prstGeom prst="rect">
                <a:avLst/>
              </a:prstGeom>
              <a:blipFill>
                <a:blip r:embed="rId27"/>
                <a:stretch>
                  <a:fillRect/>
                </a:stretch>
              </a:blipFill>
              <a:ln>
                <a:noFill/>
              </a:ln>
            </p:spPr>
            <p:txBody>
              <a:bodyPr/>
              <a:lstStyle/>
              <a:p>
                <a:r>
                  <a:rPr lang="en-NL">
                    <a:noFill/>
                  </a:rPr>
                  <a:t> </a:t>
                </a:r>
              </a:p>
            </p:txBody>
          </p:sp>
        </mc:Fallback>
      </mc:AlternateContent>
      <p:sp>
        <p:nvSpPr>
          <p:cNvPr id="11079" name="Equivalent schematic heading"/>
          <p:cNvSpPr/>
          <p:nvPr/>
        </p:nvSpPr>
        <p:spPr>
          <a:xfrm>
            <a:off x="1003300" y="835660"/>
            <a:ext cx="2540000" cy="25908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Original schematic</a:t>
            </a:r>
            <a:endParaRPr sz="1200"/>
          </a:p>
        </p:txBody>
      </p:sp>
      <p:sp>
        <p:nvSpPr>
          <p:cNvPr id="11080" name="LFR heading"/>
          <p:cNvSpPr/>
          <p:nvPr/>
        </p:nvSpPr>
        <p:spPr>
          <a:xfrm>
            <a:off x="5181600" y="835660"/>
            <a:ext cx="3302000" cy="25908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Linear fractional representation</a:t>
            </a:r>
            <a:endParaRPr sz="1200"/>
          </a:p>
        </p:txBody>
      </p:sp>
      <p:sp>
        <p:nvSpPr>
          <p:cNvPr id="11081" name="Stage 1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11082" name="Stage 2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P.</a:t>
            </a:r>
            <a:endParaRPr sz="1500"/>
          </a:p>
        </p:txBody>
      </p:sp>
      <p:sp>
        <p:nvSpPr>
          <p:cNvPr id="11083" name="Stage 3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Close the open y(t)–u(t) connection with K.</a:t>
            </a:r>
            <a:endParaRPr sz="1500"/>
          </a:p>
        </p:txBody>
      </p:sp>
      <p:sp>
        <p:nvSpPr>
          <p:cNvPr id="11084" name="Stage 4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D61016"/>
                </a:solidFill>
                <a:latin typeface="Aptos"/>
                <a:ea typeface="Aptos"/>
                <a:cs typeface="Aptos"/>
              </a:rPr>
              <a:t>Same dynamics and signals; a different representation.</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accel="50000" decel="50000" fill="hold" nodeType="clickEffect">
                                  <p:stCondLst>
                                    <p:cond delay="0"/>
                                  </p:stCondLst>
                                  <p:childTnLst>
                                    <p:set>
                                      <p:cBhvr>
                                        <p:cTn id="6" dur="1" fill="hold">
                                          <p:stCondLst>
                                            <p:cond delay="999"/>
                                          </p:stCondLst>
                                        </p:cTn>
                                        <p:tgtEl>
                                          <p:spTgt spid="54"/>
                                        </p:tgtEl>
                                        <p:attrNameLst>
                                          <p:attrName>style.visibility</p:attrName>
                                        </p:attrNameLst>
                                      </p:cBhvr>
                                      <p:to>
                                        <p:strVal val="visible"/>
                                      </p:to>
                                    </p:set>
                                    <p:animMotion origin="layout" path="M 0 0 L -0.26024689 0.11604938 E" pathEditMode="relative">
                                      <p:cBhvr from="" to="">
                                        <p:cTn id="7" dur="1000" fill="hold">
                                          <p:stCondLst>
                                            <p:cond delay="0"/>
                                          </p:stCondLst>
                                        </p:cTn>
                                        <p:tgtEl>
                                          <p:spTgt spid="54"/>
                                        </p:tgtEl>
                                        <p:attrNameLst>
                                          <p:attrName>ppt_x</p:attrName>
                                          <p:attrName>ppt_y</p:attrName>
                                        </p:attrNameLst>
                                      </p:cBhvr>
                                    </p:animMotion>
                                    <p:animScale>
                                      <p:cBhvr>
                                        <p:cTn id="8" dur="1000" fill="hold">
                                          <p:stCondLst>
                                            <p:cond delay="0"/>
                                          </p:stCondLst>
                                        </p:cTn>
                                        <p:tgtEl>
                                          <p:spTgt spid="54"/>
                                        </p:tgtEl>
                                      </p:cBhvr>
                                      <p:from x="100000" y="100000"/>
                                      <p:to x="64000" y="64000"/>
                                    </p:animScale>
                                  </p:childTnLst>
                                </p:cTn>
                              </p:par>
                              <p:par>
                                <p:cTn id="9" presetID="0" presetClass="entr" presetSubtype="0" accel="50000" decel="50000" fill="hold" grpId="0" nodeType="withEffect">
                                  <p:stCondLst>
                                    <p:cond delay="0"/>
                                  </p:stCondLst>
                                  <p:childTnLst>
                                    <p:set>
                                      <p:cBhvr>
                                        <p:cTn id="10" dur="1" fill="hold">
                                          <p:stCondLst>
                                            <p:cond delay="999"/>
                                          </p:stCondLst>
                                        </p:cTn>
                                        <p:tgtEl>
                                          <p:spTgt spid="11010"/>
                                        </p:tgtEl>
                                        <p:attrNameLst>
                                          <p:attrName>style.visibility</p:attrName>
                                        </p:attrNameLst>
                                      </p:cBhvr>
                                      <p:to>
                                        <p:strVal val="visible"/>
                                      </p:to>
                                    </p:set>
                                    <p:animMotion origin="layout" path="M 0 0 L 0.24027778 -0.40740738 E" pathEditMode="relative">
                                      <p:cBhvr from="" to="">
                                        <p:cTn id="11" dur="1000" fill="hold">
                                          <p:stCondLst>
                                            <p:cond delay="0"/>
                                          </p:stCondLst>
                                        </p:cTn>
                                        <p:tgtEl>
                                          <p:spTgt spid="11010"/>
                                        </p:tgtEl>
                                        <p:attrNameLst>
                                          <p:attrName>ppt_x</p:attrName>
                                          <p:attrName>ppt_y</p:attrName>
                                        </p:attrNameLst>
                                      </p:cBhvr>
                                    </p:animMotion>
                                    <p:animScale>
                                      <p:cBhvr>
                                        <p:cTn id="12" dur="1000" fill="hold">
                                          <p:stCondLst>
                                            <p:cond delay="0"/>
                                          </p:stCondLst>
                                        </p:cTn>
                                        <p:tgtEl>
                                          <p:spTgt spid="11010"/>
                                        </p:tgtEl>
                                      </p:cBhvr>
                                      <p:from x="100000" y="100000"/>
                                      <p:to x="70000" y="70000"/>
                                    </p:animScale>
                                  </p:childTnLst>
                                </p:cTn>
                              </p:par>
                              <p:par>
                                <p:cTn id="13" presetID="0" presetClass="entr" presetSubtype="0" accel="50000" decel="50000" fill="hold" grpId="0" nodeType="withEffect">
                                  <p:stCondLst>
                                    <p:cond delay="0"/>
                                  </p:stCondLst>
                                  <p:childTnLst>
                                    <p:set>
                                      <p:cBhvr>
                                        <p:cTn id="14" dur="1" fill="hold">
                                          <p:stCondLst>
                                            <p:cond delay="999"/>
                                          </p:stCondLst>
                                        </p:cTn>
                                        <p:tgtEl>
                                          <p:spTgt spid="11012"/>
                                        </p:tgtEl>
                                        <p:attrNameLst>
                                          <p:attrName>style.visibility</p:attrName>
                                        </p:attrNameLst>
                                      </p:cBhvr>
                                      <p:to>
                                        <p:strVal val="visible"/>
                                      </p:to>
                                    </p:set>
                                    <p:animMotion origin="layout" path="M 0 0 L 0.27083333 -0.44691355 E" pathEditMode="relative">
                                      <p:cBhvr from="" to="">
                                        <p:cTn id="15" dur="1000" fill="hold">
                                          <p:stCondLst>
                                            <p:cond delay="0"/>
                                          </p:stCondLst>
                                        </p:cTn>
                                        <p:tgtEl>
                                          <p:spTgt spid="11012"/>
                                        </p:tgtEl>
                                        <p:attrNameLst>
                                          <p:attrName>ppt_x</p:attrName>
                                          <p:attrName>ppt_y</p:attrName>
                                        </p:attrNameLst>
                                      </p:cBhvr>
                                    </p:animMotion>
                                    <p:animScale>
                                      <p:cBhvr>
                                        <p:cTn id="16" dur="1000" fill="hold">
                                          <p:stCondLst>
                                            <p:cond delay="0"/>
                                          </p:stCondLst>
                                        </p:cTn>
                                        <p:tgtEl>
                                          <p:spTgt spid="11012"/>
                                        </p:tgtEl>
                                      </p:cBhvr>
                                      <p:from x="100000" y="100000"/>
                                      <p:to x="70000" y="70000"/>
                                    </p:animScale>
                                  </p:childTnLst>
                                </p:cTn>
                              </p:par>
                              <p:par>
                                <p:cTn id="17" presetID="10" presetClass="exit" presetSubtype="0" fill="hold" nodeType="withEffect">
                                  <p:stCondLst>
                                    <p:cond delay="450"/>
                                  </p:stCondLst>
                                  <p:childTnLst>
                                    <p:animEffect transition="out" filter="fade">
                                      <p:cBhvr>
                                        <p:cTn id="18" dur="350"/>
                                        <p:tgtEl>
                                          <p:spTgt spid="11008"/>
                                        </p:tgtEl>
                                      </p:cBhvr>
                                    </p:animEffect>
                                    <p:set>
                                      <p:cBhvr>
                                        <p:cTn id="19" dur="1" fill="hold">
                                          <p:stCondLst>
                                            <p:cond delay="349"/>
                                          </p:stCondLst>
                                        </p:cTn>
                                        <p:tgtEl>
                                          <p:spTgt spid="11008"/>
                                        </p:tgtEl>
                                        <p:attrNameLst>
                                          <p:attrName>style.visibility</p:attrName>
                                        </p:attrNameLst>
                                      </p:cBhvr>
                                      <p:to>
                                        <p:strVal val="hidden"/>
                                      </p:to>
                                    </p:set>
                                  </p:childTnLst>
                                </p:cTn>
                              </p:par>
                              <p:par>
                                <p:cTn id="20" presetID="10" presetClass="exit" presetSubtype="0" fill="hold" grpId="1" nodeType="withEffect">
                                  <p:stCondLst>
                                    <p:cond delay="900"/>
                                  </p:stCondLst>
                                  <p:childTnLst>
                                    <p:animEffect transition="out" filter="fade">
                                      <p:cBhvr>
                                        <p:cTn id="21" dur="300"/>
                                        <p:tgtEl>
                                          <p:spTgt spid="11010"/>
                                        </p:tgtEl>
                                      </p:cBhvr>
                                    </p:animEffect>
                                    <p:set>
                                      <p:cBhvr>
                                        <p:cTn id="22" dur="1" fill="hold">
                                          <p:stCondLst>
                                            <p:cond delay="299"/>
                                          </p:stCondLst>
                                        </p:cTn>
                                        <p:tgtEl>
                                          <p:spTgt spid="11010"/>
                                        </p:tgtEl>
                                        <p:attrNameLst>
                                          <p:attrName>style.visibility</p:attrName>
                                        </p:attrNameLst>
                                      </p:cBhvr>
                                      <p:to>
                                        <p:strVal val="hidden"/>
                                      </p:to>
                                    </p:set>
                                  </p:childTnLst>
                                </p:cTn>
                              </p:par>
                              <p:par>
                                <p:cTn id="23" presetID="10" presetClass="exit" presetSubtype="0" fill="hold" grpId="1" nodeType="withEffect">
                                  <p:stCondLst>
                                    <p:cond delay="900"/>
                                  </p:stCondLst>
                                  <p:childTnLst>
                                    <p:animEffect transition="out" filter="fade">
                                      <p:cBhvr>
                                        <p:cTn id="24" dur="300"/>
                                        <p:tgtEl>
                                          <p:spTgt spid="11012"/>
                                        </p:tgtEl>
                                      </p:cBhvr>
                                    </p:animEffect>
                                    <p:set>
                                      <p:cBhvr>
                                        <p:cTn id="25" dur="1" fill="hold">
                                          <p:stCondLst>
                                            <p:cond delay="299"/>
                                          </p:stCondLst>
                                        </p:cTn>
                                        <p:tgtEl>
                                          <p:spTgt spid="11012"/>
                                        </p:tgtEl>
                                        <p:attrNameLst>
                                          <p:attrName>style.visibility</p:attrName>
                                        </p:attrNameLst>
                                      </p:cBhvr>
                                      <p:to>
                                        <p:strVal val="hidden"/>
                                      </p:to>
                                    </p:set>
                                  </p:childTnLst>
                                </p:cTn>
                              </p:par>
                              <p:par>
                                <p:cTn id="26" presetID="10" presetClass="entr" presetSubtype="0" fill="hold" nodeType="withEffect">
                                  <p:stCondLst>
                                    <p:cond delay="880"/>
                                  </p:stCondLst>
                                  <p:childTnLst>
                                    <p:set>
                                      <p:cBhvr>
                                        <p:cTn id="27" dur="1" fill="hold">
                                          <p:stCondLst>
                                            <p:cond delay="0"/>
                                          </p:stCondLst>
                                        </p:cTn>
                                        <p:tgtEl>
                                          <p:spTgt spid="11024"/>
                                        </p:tgtEl>
                                        <p:attrNameLst>
                                          <p:attrName>style.visibility</p:attrName>
                                        </p:attrNameLst>
                                      </p:cBhvr>
                                      <p:to>
                                        <p:strVal val="visible"/>
                                      </p:to>
                                    </p:set>
                                    <p:animEffect transition="in" filter="fade">
                                      <p:cBhvr>
                                        <p:cTn id="28" dur="400"/>
                                        <p:tgtEl>
                                          <p:spTgt spid="11024"/>
                                        </p:tgtEl>
                                      </p:cBhvr>
                                    </p:animEffect>
                                  </p:childTnLst>
                                </p:cTn>
                              </p:par>
                              <p:par>
                                <p:cTn id="29" presetID="10" presetClass="entr" presetSubtype="0" fill="hold" nodeType="withEffect">
                                  <p:stCondLst>
                                    <p:cond delay="800"/>
                                  </p:stCondLst>
                                  <p:childTnLst>
                                    <p:set>
                                      <p:cBhvr>
                                        <p:cTn id="30" dur="1" fill="hold">
                                          <p:stCondLst>
                                            <p:cond delay="0"/>
                                          </p:stCondLst>
                                        </p:cTn>
                                        <p:tgtEl>
                                          <p:spTgt spid="11018"/>
                                        </p:tgtEl>
                                        <p:attrNameLst>
                                          <p:attrName>style.visibility</p:attrName>
                                        </p:attrNameLst>
                                      </p:cBhvr>
                                      <p:to>
                                        <p:strVal val="visible"/>
                                      </p:to>
                                    </p:set>
                                    <p:animEffect transition="in" filter="fade">
                                      <p:cBhvr>
                                        <p:cTn id="31" dur="400"/>
                                        <p:tgtEl>
                                          <p:spTgt spid="11018"/>
                                        </p:tgtEl>
                                      </p:cBhvr>
                                    </p:animEffect>
                                  </p:childTnLst>
                                </p:cTn>
                              </p:par>
                              <p:par>
                                <p:cTn id="32" presetID="10" presetClass="entr" presetSubtype="0" fill="hold" grpId="0" nodeType="withEffect">
                                  <p:stCondLst>
                                    <p:cond delay="700"/>
                                  </p:stCondLst>
                                  <p:childTnLst>
                                    <p:set>
                                      <p:cBhvr>
                                        <p:cTn id="33" dur="1" fill="hold">
                                          <p:stCondLst>
                                            <p:cond delay="0"/>
                                          </p:stCondLst>
                                        </p:cTn>
                                        <p:tgtEl>
                                          <p:spTgt spid="11081"/>
                                        </p:tgtEl>
                                        <p:attrNameLst>
                                          <p:attrName>style.visibility</p:attrName>
                                        </p:attrNameLst>
                                      </p:cBhvr>
                                      <p:to>
                                        <p:strVal val="visible"/>
                                      </p:to>
                                    </p:set>
                                    <p:animEffect transition="in" filter="fade">
                                      <p:cBhvr>
                                        <p:cTn id="34" dur="300"/>
                                        <p:tgtEl>
                                          <p:spTgt spid="11081"/>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entr" presetSubtype="0" accel="50000" decel="50000" fill="hold" nodeType="clickEffect">
                                  <p:stCondLst>
                                    <p:cond delay="0"/>
                                  </p:stCondLst>
                                  <p:childTnLst>
                                    <p:set>
                                      <p:cBhvr>
                                        <p:cTn id="38" dur="1" fill="hold">
                                          <p:stCondLst>
                                            <p:cond delay="999"/>
                                          </p:stCondLst>
                                        </p:cTn>
                                        <p:tgtEl>
                                          <p:spTgt spid="11018"/>
                                        </p:tgtEl>
                                        <p:attrNameLst>
                                          <p:attrName>style.visibility</p:attrName>
                                        </p:attrNameLst>
                                      </p:cBhvr>
                                      <p:to>
                                        <p:strVal val="visible"/>
                                      </p:to>
                                    </p:set>
                                    <p:animMotion origin="layout" path="M 0 0 L 0.49583333 -0.11851852 E" pathEditMode="relative">
                                      <p:cBhvr from="" to="">
                                        <p:cTn id="39" dur="1000" fill="hold">
                                          <p:stCondLst>
                                            <p:cond delay="0"/>
                                          </p:stCondLst>
                                        </p:cTn>
                                        <p:tgtEl>
                                          <p:spTgt spid="11018"/>
                                        </p:tgtEl>
                                        <p:attrNameLst>
                                          <p:attrName>ppt_x</p:attrName>
                                          <p:attrName>ppt_y</p:attrName>
                                        </p:attrNameLst>
                                      </p:cBhvr>
                                    </p:animMotion>
                                    <p:animScale>
                                      <p:cBhvr>
                                        <p:cTn id="40" dur="1000" fill="hold">
                                          <p:stCondLst>
                                            <p:cond delay="0"/>
                                          </p:stCondLst>
                                        </p:cTn>
                                        <p:tgtEl>
                                          <p:spTgt spid="11018"/>
                                        </p:tgtEl>
                                      </p:cBhvr>
                                      <p:from x="100000" y="100000"/>
                                      <p:to x="25000" y="25000"/>
                                    </p:animScale>
                                  </p:childTnLst>
                                </p:cTn>
                              </p:par>
                              <p:par>
                                <p:cTn id="41" presetID="10" presetClass="exit" presetSubtype="0" fill="hold" nodeType="withEffect">
                                  <p:stCondLst>
                                    <p:cond delay="750"/>
                                  </p:stCondLst>
                                  <p:childTnLst>
                                    <p:animEffect transition="out" filter="fade">
                                      <p:cBhvr>
                                        <p:cTn id="42" dur="350"/>
                                        <p:tgtEl>
                                          <p:spTgt spid="11018"/>
                                        </p:tgtEl>
                                      </p:cBhvr>
                                    </p:animEffect>
                                    <p:set>
                                      <p:cBhvr>
                                        <p:cTn id="43" dur="1" fill="hold">
                                          <p:stCondLst>
                                            <p:cond delay="349"/>
                                          </p:stCondLst>
                                        </p:cTn>
                                        <p:tgtEl>
                                          <p:spTgt spid="11018"/>
                                        </p:tgtEl>
                                        <p:attrNameLst>
                                          <p:attrName>style.visibility</p:attrName>
                                        </p:attrNameLst>
                                      </p:cBhvr>
                                      <p:to>
                                        <p:strVal val="hidden"/>
                                      </p:to>
                                    </p:set>
                                  </p:childTnLst>
                                </p:cTn>
                              </p:par>
                              <p:par>
                                <p:cTn id="44" presetID="10" presetClass="entr" presetSubtype="0" fill="hold" nodeType="withEffect">
                                  <p:stCondLst>
                                    <p:cond delay="800"/>
                                  </p:stCondLst>
                                  <p:childTnLst>
                                    <p:set>
                                      <p:cBhvr>
                                        <p:cTn id="45" dur="1" fill="hold">
                                          <p:stCondLst>
                                            <p:cond delay="0"/>
                                          </p:stCondLst>
                                        </p:cTn>
                                        <p:tgtEl>
                                          <p:spTgt spid="11030"/>
                                        </p:tgtEl>
                                        <p:attrNameLst>
                                          <p:attrName>style.visibility</p:attrName>
                                        </p:attrNameLst>
                                      </p:cBhvr>
                                      <p:to>
                                        <p:strVal val="visible"/>
                                      </p:to>
                                    </p:set>
                                    <p:animEffect transition="in" filter="fade">
                                      <p:cBhvr>
                                        <p:cTn id="46" dur="400"/>
                                        <p:tgtEl>
                                          <p:spTgt spid="11030"/>
                                        </p:tgtEl>
                                      </p:cBhvr>
                                    </p:animEffect>
                                  </p:childTnLst>
                                </p:cTn>
                              </p:par>
                              <p:par>
                                <p:cTn id="47" presetID="10" presetClass="entr" presetSubtype="0" fill="hold" nodeType="withEffect">
                                  <p:stCondLst>
                                    <p:cond delay="1050"/>
                                  </p:stCondLst>
                                  <p:childTnLst>
                                    <p:set>
                                      <p:cBhvr>
                                        <p:cTn id="48" dur="1" fill="hold">
                                          <p:stCondLst>
                                            <p:cond delay="0"/>
                                          </p:stCondLst>
                                        </p:cTn>
                                        <p:tgtEl>
                                          <p:spTgt spid="11042"/>
                                        </p:tgtEl>
                                        <p:attrNameLst>
                                          <p:attrName>style.visibility</p:attrName>
                                        </p:attrNameLst>
                                      </p:cBhvr>
                                      <p:to>
                                        <p:strVal val="visible"/>
                                      </p:to>
                                    </p:set>
                                    <p:animEffect transition="in" filter="fade">
                                      <p:cBhvr>
                                        <p:cTn id="49" dur="450"/>
                                        <p:tgtEl>
                                          <p:spTgt spid="11042"/>
                                        </p:tgtEl>
                                      </p:cBhvr>
                                    </p:animEffect>
                                  </p:childTnLst>
                                </p:cTn>
                              </p:par>
                              <p:par>
                                <p:cTn id="50" presetID="10" presetClass="exit" presetSubtype="0" fill="hold" grpId="1" nodeType="withEffect">
                                  <p:stCondLst>
                                    <p:cond delay="0"/>
                                  </p:stCondLst>
                                  <p:childTnLst>
                                    <p:animEffect transition="out" filter="fade">
                                      <p:cBhvr>
                                        <p:cTn id="51" dur="200"/>
                                        <p:tgtEl>
                                          <p:spTgt spid="11081"/>
                                        </p:tgtEl>
                                      </p:cBhvr>
                                    </p:animEffect>
                                    <p:set>
                                      <p:cBhvr>
                                        <p:cTn id="52" dur="1" fill="hold">
                                          <p:stCondLst>
                                            <p:cond delay="199"/>
                                          </p:stCondLst>
                                        </p:cTn>
                                        <p:tgtEl>
                                          <p:spTgt spid="11081"/>
                                        </p:tgtEl>
                                        <p:attrNameLst>
                                          <p:attrName>style.visibility</p:attrName>
                                        </p:attrNameLst>
                                      </p:cBhvr>
                                      <p:to>
                                        <p:strVal val="hidden"/>
                                      </p:to>
                                    </p:set>
                                  </p:childTnLst>
                                </p:cTn>
                              </p:par>
                              <p:par>
                                <p:cTn id="53" presetID="10" presetClass="entr" presetSubtype="0" fill="hold" grpId="0" nodeType="withEffect">
                                  <p:stCondLst>
                                    <p:cond delay="300"/>
                                  </p:stCondLst>
                                  <p:childTnLst>
                                    <p:set>
                                      <p:cBhvr>
                                        <p:cTn id="54" dur="1" fill="hold">
                                          <p:stCondLst>
                                            <p:cond delay="0"/>
                                          </p:stCondLst>
                                        </p:cTn>
                                        <p:tgtEl>
                                          <p:spTgt spid="11082"/>
                                        </p:tgtEl>
                                        <p:attrNameLst>
                                          <p:attrName>style.visibility</p:attrName>
                                        </p:attrNameLst>
                                      </p:cBhvr>
                                      <p:to>
                                        <p:strVal val="visible"/>
                                      </p:to>
                                    </p:set>
                                    <p:animEffect transition="in" filter="fade">
                                      <p:cBhvr>
                                        <p:cTn id="55" dur="300"/>
                                        <p:tgtEl>
                                          <p:spTgt spid="1108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1048"/>
                                        </p:tgtEl>
                                        <p:attrNameLst>
                                          <p:attrName>style.visibility</p:attrName>
                                        </p:attrNameLst>
                                      </p:cBhvr>
                                      <p:to>
                                        <p:strVal val="visible"/>
                                      </p:to>
                                    </p:set>
                                    <p:animEffect transition="in" filter="fade">
                                      <p:cBhvr>
                                        <p:cTn id="60" dur="650"/>
                                        <p:tgtEl>
                                          <p:spTgt spid="11048"/>
                                        </p:tgtEl>
                                      </p:cBhvr>
                                    </p:animEffect>
                                  </p:childTnLst>
                                </p:cTn>
                              </p:par>
                              <p:par>
                                <p:cTn id="61" presetID="10" presetClass="entr" presetSubtype="0" fill="hold" nodeType="withEffect">
                                  <p:stCondLst>
                                    <p:cond delay="350"/>
                                  </p:stCondLst>
                                  <p:childTnLst>
                                    <p:set>
                                      <p:cBhvr>
                                        <p:cTn id="62" dur="1" fill="hold">
                                          <p:stCondLst>
                                            <p:cond delay="0"/>
                                          </p:stCondLst>
                                        </p:cTn>
                                        <p:tgtEl>
                                          <p:spTgt spid="11054"/>
                                        </p:tgtEl>
                                        <p:attrNameLst>
                                          <p:attrName>style.visibility</p:attrName>
                                        </p:attrNameLst>
                                      </p:cBhvr>
                                      <p:to>
                                        <p:strVal val="visible"/>
                                      </p:to>
                                    </p:set>
                                    <p:animEffect transition="in" filter="fade">
                                      <p:cBhvr>
                                        <p:cTn id="63" dur="700"/>
                                        <p:tgtEl>
                                          <p:spTgt spid="11054"/>
                                        </p:tgtEl>
                                      </p:cBhvr>
                                    </p:animEffect>
                                  </p:childTnLst>
                                </p:cTn>
                              </p:par>
                              <p:par>
                                <p:cTn id="64" presetID="10" presetClass="exit" presetSubtype="0" fill="hold" grpId="1" nodeType="withEffect">
                                  <p:stCondLst>
                                    <p:cond delay="0"/>
                                  </p:stCondLst>
                                  <p:childTnLst>
                                    <p:animEffect transition="out" filter="fade">
                                      <p:cBhvr>
                                        <p:cTn id="65" dur="200"/>
                                        <p:tgtEl>
                                          <p:spTgt spid="11082"/>
                                        </p:tgtEl>
                                      </p:cBhvr>
                                    </p:animEffect>
                                    <p:set>
                                      <p:cBhvr>
                                        <p:cTn id="66" dur="1" fill="hold">
                                          <p:stCondLst>
                                            <p:cond delay="199"/>
                                          </p:stCondLst>
                                        </p:cTn>
                                        <p:tgtEl>
                                          <p:spTgt spid="11082"/>
                                        </p:tgtEl>
                                        <p:attrNameLst>
                                          <p:attrName>style.visibility</p:attrName>
                                        </p:attrNameLst>
                                      </p:cBhvr>
                                      <p:to>
                                        <p:strVal val="hidden"/>
                                      </p:to>
                                    </p:set>
                                  </p:childTnLst>
                                </p:cTn>
                              </p:par>
                              <p:par>
                                <p:cTn id="67" presetID="10" presetClass="entr" presetSubtype="0" fill="hold" grpId="0" nodeType="withEffect">
                                  <p:stCondLst>
                                    <p:cond delay="300"/>
                                  </p:stCondLst>
                                  <p:childTnLst>
                                    <p:set>
                                      <p:cBhvr>
                                        <p:cTn id="68" dur="1" fill="hold">
                                          <p:stCondLst>
                                            <p:cond delay="0"/>
                                          </p:stCondLst>
                                        </p:cTn>
                                        <p:tgtEl>
                                          <p:spTgt spid="11083"/>
                                        </p:tgtEl>
                                        <p:attrNameLst>
                                          <p:attrName>style.visibility</p:attrName>
                                        </p:attrNameLst>
                                      </p:cBhvr>
                                      <p:to>
                                        <p:strVal val="visible"/>
                                      </p:to>
                                    </p:set>
                                    <p:animEffect transition="in" filter="fade">
                                      <p:cBhvr>
                                        <p:cTn id="69" dur="300"/>
                                        <p:tgtEl>
                                          <p:spTgt spid="1108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nodeType="clickEffect">
                                  <p:stCondLst>
                                    <p:cond delay="0"/>
                                  </p:stCondLst>
                                  <p:childTnLst>
                                    <p:animEffect transition="out" filter="fade">
                                      <p:cBhvr>
                                        <p:cTn id="73" dur="200"/>
                                        <p:tgtEl>
                                          <p:spTgt spid="54"/>
                                        </p:tgtEl>
                                      </p:cBhvr>
                                    </p:animEffect>
                                    <p:set>
                                      <p:cBhvr>
                                        <p:cTn id="74" dur="1" fill="hold">
                                          <p:stCondLst>
                                            <p:cond delay="199"/>
                                          </p:stCondLst>
                                        </p:cTn>
                                        <p:tgtEl>
                                          <p:spTgt spid="54"/>
                                        </p:tgtEl>
                                        <p:attrNameLst>
                                          <p:attrName>style.visibility</p:attrName>
                                        </p:attrNameLst>
                                      </p:cBhvr>
                                      <p:to>
                                        <p:strVal val="hidden"/>
                                      </p:to>
                                    </p:set>
                                  </p:childTnLst>
                                </p:cTn>
                              </p:par>
                              <p:par>
                                <p:cTn id="75" presetID="10" presetClass="entr" presetSubtype="0" fill="hold" nodeType="withEffect">
                                  <p:stCondLst>
                                    <p:cond delay="0"/>
                                  </p:stCondLst>
                                  <p:childTnLst>
                                    <p:set>
                                      <p:cBhvr>
                                        <p:cTn id="76" dur="1" fill="hold">
                                          <p:stCondLst>
                                            <p:cond delay="0"/>
                                          </p:stCondLst>
                                        </p:cTn>
                                        <p:tgtEl>
                                          <p:spTgt spid="11065"/>
                                        </p:tgtEl>
                                        <p:attrNameLst>
                                          <p:attrName>style.visibility</p:attrName>
                                        </p:attrNameLst>
                                      </p:cBhvr>
                                      <p:to>
                                        <p:strVal val="visible"/>
                                      </p:to>
                                    </p:set>
                                    <p:animEffect transition="in" filter="fade">
                                      <p:cBhvr>
                                        <p:cTn id="77" dur="200"/>
                                        <p:tgtEl>
                                          <p:spTgt spid="11065"/>
                                        </p:tgtEl>
                                      </p:cBhvr>
                                    </p:animEffect>
                                  </p:childTnLst>
                                </p:cTn>
                              </p:par>
                              <p:par>
                                <p:cTn id="78" presetID="10" presetClass="entr" presetSubtype="0" fill="hold" nodeType="withEffect">
                                  <p:stCondLst>
                                    <p:cond delay="200"/>
                                  </p:stCondLst>
                                  <p:childTnLst>
                                    <p:set>
                                      <p:cBhvr>
                                        <p:cTn id="79" dur="1" fill="hold">
                                          <p:stCondLst>
                                            <p:cond delay="0"/>
                                          </p:stCondLst>
                                        </p:cTn>
                                        <p:tgtEl>
                                          <p:spTgt spid="11076"/>
                                        </p:tgtEl>
                                        <p:attrNameLst>
                                          <p:attrName>style.visibility</p:attrName>
                                        </p:attrNameLst>
                                      </p:cBhvr>
                                      <p:to>
                                        <p:strVal val="visible"/>
                                      </p:to>
                                    </p:set>
                                    <p:animEffect transition="in" filter="fade">
                                      <p:cBhvr>
                                        <p:cTn id="80" dur="650"/>
                                        <p:tgtEl>
                                          <p:spTgt spid="11076"/>
                                        </p:tgtEl>
                                      </p:cBhvr>
                                    </p:animEffect>
                                  </p:childTnLst>
                                </p:cTn>
                              </p:par>
                              <p:par>
                                <p:cTn id="81" presetID="10" presetClass="entr" presetSubtype="0" fill="hold" grpId="0" nodeType="withEffect">
                                  <p:stCondLst>
                                    <p:cond delay="650"/>
                                  </p:stCondLst>
                                  <p:childTnLst>
                                    <p:set>
                                      <p:cBhvr>
                                        <p:cTn id="82" dur="1" fill="hold">
                                          <p:stCondLst>
                                            <p:cond delay="0"/>
                                          </p:stCondLst>
                                        </p:cTn>
                                        <p:tgtEl>
                                          <p:spTgt spid="11078"/>
                                        </p:tgtEl>
                                        <p:attrNameLst>
                                          <p:attrName>style.visibility</p:attrName>
                                        </p:attrNameLst>
                                      </p:cBhvr>
                                      <p:to>
                                        <p:strVal val="visible"/>
                                      </p:to>
                                    </p:set>
                                    <p:animEffect transition="in" filter="fade">
                                      <p:cBhvr>
                                        <p:cTn id="83" dur="450"/>
                                        <p:tgtEl>
                                          <p:spTgt spid="11078"/>
                                        </p:tgtEl>
                                      </p:cBhvr>
                                    </p:animEffect>
                                  </p:childTnLst>
                                </p:cTn>
                              </p:par>
                              <p:par>
                                <p:cTn id="84" presetID="10" presetClass="entr" presetSubtype="0" fill="hold" grpId="0" nodeType="withEffect">
                                  <p:stCondLst>
                                    <p:cond delay="500"/>
                                  </p:stCondLst>
                                  <p:childTnLst>
                                    <p:set>
                                      <p:cBhvr>
                                        <p:cTn id="85" dur="1" fill="hold">
                                          <p:stCondLst>
                                            <p:cond delay="0"/>
                                          </p:stCondLst>
                                        </p:cTn>
                                        <p:tgtEl>
                                          <p:spTgt spid="11079"/>
                                        </p:tgtEl>
                                        <p:attrNameLst>
                                          <p:attrName>style.visibility</p:attrName>
                                        </p:attrNameLst>
                                      </p:cBhvr>
                                      <p:to>
                                        <p:strVal val="visible"/>
                                      </p:to>
                                    </p:set>
                                    <p:animEffect transition="in" filter="fade">
                                      <p:cBhvr>
                                        <p:cTn id="86" dur="350"/>
                                        <p:tgtEl>
                                          <p:spTgt spid="11079"/>
                                        </p:tgtEl>
                                      </p:cBhvr>
                                    </p:animEffect>
                                  </p:childTnLst>
                                </p:cTn>
                              </p:par>
                              <p:par>
                                <p:cTn id="87" presetID="10" presetClass="entr" presetSubtype="0" fill="hold" grpId="0" nodeType="withEffect">
                                  <p:stCondLst>
                                    <p:cond delay="500"/>
                                  </p:stCondLst>
                                  <p:childTnLst>
                                    <p:set>
                                      <p:cBhvr>
                                        <p:cTn id="88" dur="1" fill="hold">
                                          <p:stCondLst>
                                            <p:cond delay="0"/>
                                          </p:stCondLst>
                                        </p:cTn>
                                        <p:tgtEl>
                                          <p:spTgt spid="11080"/>
                                        </p:tgtEl>
                                        <p:attrNameLst>
                                          <p:attrName>style.visibility</p:attrName>
                                        </p:attrNameLst>
                                      </p:cBhvr>
                                      <p:to>
                                        <p:strVal val="visible"/>
                                      </p:to>
                                    </p:set>
                                    <p:animEffect transition="in" filter="fade">
                                      <p:cBhvr>
                                        <p:cTn id="89" dur="350"/>
                                        <p:tgtEl>
                                          <p:spTgt spid="11080"/>
                                        </p:tgtEl>
                                      </p:cBhvr>
                                    </p:animEffect>
                                  </p:childTnLst>
                                </p:cTn>
                              </p:par>
                              <p:par>
                                <p:cTn id="90" presetID="10" presetClass="exit" presetSubtype="0" fill="hold" grpId="1" nodeType="withEffect">
                                  <p:stCondLst>
                                    <p:cond delay="0"/>
                                  </p:stCondLst>
                                  <p:childTnLst>
                                    <p:animEffect transition="out" filter="fade">
                                      <p:cBhvr>
                                        <p:cTn id="91" dur="200"/>
                                        <p:tgtEl>
                                          <p:spTgt spid="11083"/>
                                        </p:tgtEl>
                                      </p:cBhvr>
                                    </p:animEffect>
                                    <p:set>
                                      <p:cBhvr>
                                        <p:cTn id="92" dur="1" fill="hold">
                                          <p:stCondLst>
                                            <p:cond delay="199"/>
                                          </p:stCondLst>
                                        </p:cTn>
                                        <p:tgtEl>
                                          <p:spTgt spid="11083"/>
                                        </p:tgtEl>
                                        <p:attrNameLst>
                                          <p:attrName>style.visibility</p:attrName>
                                        </p:attrNameLst>
                                      </p:cBhvr>
                                      <p:to>
                                        <p:strVal val="hidden"/>
                                      </p:to>
                                    </p:set>
                                  </p:childTnLst>
                                </p:cTn>
                              </p:par>
                              <p:par>
                                <p:cTn id="93" presetID="10" presetClass="entr" presetSubtype="0" fill="hold" grpId="0" nodeType="withEffect">
                                  <p:stCondLst>
                                    <p:cond delay="650"/>
                                  </p:stCondLst>
                                  <p:childTnLst>
                                    <p:set>
                                      <p:cBhvr>
                                        <p:cTn id="94" dur="1" fill="hold">
                                          <p:stCondLst>
                                            <p:cond delay="0"/>
                                          </p:stCondLst>
                                        </p:cTn>
                                        <p:tgtEl>
                                          <p:spTgt spid="11084"/>
                                        </p:tgtEl>
                                        <p:attrNameLst>
                                          <p:attrName>style.visibility</p:attrName>
                                        </p:attrNameLst>
                                      </p:cBhvr>
                                      <p:to>
                                        <p:strVal val="visible"/>
                                      </p:to>
                                    </p:set>
                                    <p:animEffect transition="in" filter="fade">
                                      <p:cBhvr>
                                        <p:cTn id="95" dur="400"/>
                                        <p:tgtEl>
                                          <p:spTgt spid="11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0" grpId="0"/>
      <p:bldP spid="11010" grpId="1"/>
      <p:bldP spid="11012" grpId="0"/>
      <p:bldP spid="11012" grpId="1"/>
      <p:bldP spid="11078" grpId="0"/>
      <p:bldP spid="11079" grpId="0"/>
      <p:bldP spid="11080" grpId="0"/>
      <p:bldP spid="11081" grpId="0"/>
      <p:bldP spid="11081" grpId="1"/>
      <p:bldP spid="11082" grpId="0"/>
      <p:bldP spid="11082" grpId="1"/>
      <p:bldP spid="11083" grpId="0"/>
      <p:bldP spid="11083" grpId="1"/>
      <p:bldP spid="11084"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44</a:t>
            </a:r>
            <a:endParaRPr sz="800"/>
          </a:p>
        </p:txBody>
      </p:sp>
    </p:spTree>
    <p:extLst>
      <p:ext uri="{BB962C8B-B14F-4D97-AF65-F5344CB8AC3E}">
        <p14:creationId xmlns:p14="http://schemas.microsoft.com/office/powerpoint/2010/main" val="196267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5254</TotalTime>
  <Words>5893</Words>
  <Application>Microsoft Office PowerPoint</Application>
  <PresentationFormat>On-screen Show (16:9)</PresentationFormat>
  <Paragraphs>937</Paragraphs>
  <Slides>51</Slides>
  <Notes>35</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2026-09-27T09:37:00Z</dcterms:modified>
</cp:coreProperties>
</file>