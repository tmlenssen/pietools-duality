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18" name="Moving nominal dynamics"/>
          <p:cNvGrpSpPr/>
          <p:nvPr/>
        </p:nvGrpSpPr>
        <p:grpSpPr>
          <a:xfrm>
            <a:off x="330200" y="3048000"/>
            <a:ext cx="3937000" cy="1117600"/>
            <a:chOff x="330200" y="3048000"/>
            <a:chExt cx="3937000" cy="1117600"/>
          </a:xfrm>
        </p:grpSpPr>
        <p:sp>
          <p:nvSpPr>
            <p:cNvPr id="11013"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z</m:t>
                        </m:r>
                      </m:e>
                      <m:sub>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G</m:t>
                        </m:r>
                        <m:r>
                          <m:rPr>
                            <m:sty m:val="p"/>
                          </m:rPr>
                          <a:rPr sz="1200">
                            <a:solidFill>
                              <a:srgbClr val="252529"/>
                            </a:solidFill>
                            <a:latin typeface="Cambria Math"/>
                          </a:rPr>
                          <m:t xml:space="preserve">S</m:t>
                        </m:r>
                      </m:sub>
                    </m:sSub>
                    <m:sSub>
                      <m:sSubPr>
                        <m:ctrlPr>
                          <a:rPr sz="1200">
                            <a:solidFill>
                              <a:srgbClr val="252529"/>
                            </a:solidFill>
                            <a:latin typeface="Cambria Math"/>
                          </a:rPr>
                        </m:ctrlPr>
                      </m:sSubPr>
                      <m:e>
                        <m:r>
                          <m:rPr>
                            <m:sty m:val="i"/>
                          </m:rPr>
                          <a:rPr sz="1200">
                            <a:solidFill>
                              <a:srgbClr val="252529"/>
                            </a:solidFill>
                            <a:latin typeface="Cambria Math"/>
                          </a:rPr>
                          <m:t xml:space="preserve">φ</m:t>
                        </m:r>
                      </m:e>
                      <m:sub>
                        <m:r>
                          <m:rPr>
                            <m:sty m:val="p"/>
                          </m:rPr>
                          <a:rPr sz="1200">
                            <a:solidFill>
                              <a:srgbClr val="252529"/>
                            </a:solidFill>
                            <a:latin typeface="Cambria Math"/>
                          </a:rPr>
                          <m:t xml:space="preserve">G</m:t>
                        </m:r>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r>
                          <m:rPr>
                            <m:sty m:val="p"/>
                          </m:rPr>
                          <a:rPr sz="1200">
                            <a:solidFill>
                              <a:srgbClr val="252529"/>
                            </a:solidFill>
                            <a:latin typeface="Cambria Math"/>
                          </a:rPr>
                          <m:t xml:space="preserve">,</m:t>
                        </m:r>
                        <m:r>
                          <m:rPr>
                            <m:sty m:val="p"/>
                          </m:rPr>
                          <a:rPr sz="1200">
                            <a:solidFill>
                              <a:srgbClr val="252529"/>
                            </a:solidFill>
                            <a:latin typeface="Cambria Math"/>
                          </a:rPr>
                          <m:t xml:space="preserve">1</m:t>
                        </m:r>
                      </m:e>
                    </m:d>
                  </m:oMath>
                </m:oMathPara>
              </a14:m>
              <a:endParaRPr sz="1200"/>
            </a:p>
          </p:txBody>
        </p:sp>
        <p:sp>
          <p:nvSpPr>
            <p:cNvPr id="11014"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z</m:t>
                        </m:r>
                      </m:e>
                      <m:sub>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S</m:t>
                        </m:r>
                        <m:r>
                          <m:rPr>
                            <m:sty m:val="p"/>
                          </m:rPr>
                          <a:rPr sz="1200">
                            <a:solidFill>
                              <a:srgbClr val="252529"/>
                            </a:solidFill>
                            <a:latin typeface="Cambria Math"/>
                          </a:rPr>
                          <m:t xml:space="preserve">G</m:t>
                        </m:r>
                      </m:sub>
                    </m:sSub>
                    <m:sSub>
                      <m:sSubPr>
                        <m:ctrlPr>
                          <a:rPr sz="1200">
                            <a:solidFill>
                              <a:srgbClr val="252529"/>
                            </a:solidFill>
                            <a:latin typeface="Cambria Math"/>
                          </a:rPr>
                        </m:ctrlPr>
                      </m:sSubPr>
                      <m:e>
                        <m:r>
                          <m:rPr>
                            <m:sty m:val="i"/>
                          </m:rPr>
                          <a:rPr sz="1200">
                            <a:solidFill>
                              <a:srgbClr val="252529"/>
                            </a:solidFill>
                            <a:latin typeface="Cambria Math"/>
                          </a:rPr>
                          <m:t xml:space="preserve">φ</m:t>
                        </m:r>
                      </m:e>
                      <m:sub>
                        <m:r>
                          <m:rPr>
                            <m:sty m:val="p"/>
                          </m:rPr>
                          <a:rPr sz="1200">
                            <a:solidFill>
                              <a:srgbClr val="252529"/>
                            </a:solidFill>
                            <a:latin typeface="Cambria Math"/>
                          </a:rPr>
                          <m:t xml:space="preserve">S</m:t>
                        </m:r>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r>
                          <m:rPr>
                            <m:sty m:val="p"/>
                          </m:rPr>
                          <a:rPr sz="1200">
                            <a:solidFill>
                              <a:srgbClr val="252529"/>
                            </a:solidFill>
                            <a:latin typeface="Cambria Math"/>
                          </a:rPr>
                          <m:t xml:space="preserve">,</m:t>
                        </m:r>
                        <m:r>
                          <m:rPr>
                            <m:sty m:val="p"/>
                          </m:rPr>
                          <a:rPr sz="1200">
                            <a:solidFill>
                              <a:srgbClr val="252529"/>
                            </a:solidFill>
                            <a:latin typeface="Cambria Math"/>
                          </a:rPr>
                          <m:t xml:space="preserve">1</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G</m:t>
                        </m:r>
                        <m:r>
                          <m:rPr>
                            <m:sty m:val="p"/>
                          </m:rPr>
                          <a:rPr sz="1200">
                            <a:solidFill>
                              <a:srgbClr val="252529"/>
                            </a:solidFill>
                            <a:latin typeface="Cambria Math"/>
                          </a:rPr>
                          <m:t xml:space="preserve">G</m:t>
                        </m:r>
                      </m:sub>
                    </m:sSub>
                    <m:sSub>
                      <m:sSubPr>
                        <m:ctrlPr>
                          <a:rPr sz="1200">
                            <a:solidFill>
                              <a:srgbClr val="252529"/>
                            </a:solidFill>
                            <a:latin typeface="Cambria Math"/>
                          </a:rPr>
                        </m:ctrlPr>
                      </m:sSubPr>
                      <m:e>
                        <m:r>
                          <m:rPr>
                            <m:sty m:val="i"/>
                          </m:rPr>
                          <a:rPr sz="1200">
                            <a:solidFill>
                              <a:srgbClr val="252529"/>
                            </a:solidFill>
                            <a:latin typeface="Cambria Math"/>
                          </a:rPr>
                          <m:t xml:space="preserve">φ</m:t>
                        </m:r>
                      </m:e>
                      <m:sub>
                        <m:r>
                          <m:rPr>
                            <m:sty m:val="p"/>
                          </m:rPr>
                          <a:rPr sz="1200">
                            <a:solidFill>
                              <a:srgbClr val="252529"/>
                            </a:solidFill>
                            <a:latin typeface="Cambria Math"/>
                          </a:rPr>
                          <m:t xml:space="preserve">G</m:t>
                        </m:r>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r>
                          <m:rPr>
                            <m:sty m:val="p"/>
                          </m:rPr>
                          <a:rPr sz="1200">
                            <a:solidFill>
                              <a:srgbClr val="252529"/>
                            </a:solidFill>
                            <a:latin typeface="Cambria Math"/>
                          </a:rPr>
                          <m:t xml:space="preserve">,</m:t>
                        </m:r>
                        <m:r>
                          <m:rPr>
                            <m:sty m:val="p"/>
                          </m:rPr>
                          <a:rPr sz="1200">
                            <a:solidFill>
                              <a:srgbClr val="252529"/>
                            </a:solidFill>
                            <a:latin typeface="Cambria Math"/>
                          </a:rPr>
                          <m:t xml:space="preserve">1</m:t>
                        </m:r>
                      </m:e>
                    </m:d>
                  </m:oMath>
                </m:oMathPara>
              </a14:m>
              <a:endParaRPr sz="1200"/>
            </a:p>
          </p:txBody>
        </p:sp>
        <p:sp>
          <p:nvSpPr>
            <p:cNvPr id="11015"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τ</m:t>
                        </m:r>
                      </m:e>
                      <m:sub>
                        <m:r>
                          <m:rPr>
                            <m:sty m:val="p"/>
                          </m:rPr>
                          <a:rPr sz="1200">
                            <a:solidFill>
                              <a:srgbClr val="252529"/>
                            </a:solidFill>
                            <a:latin typeface="Cambria Math"/>
                          </a:rPr>
                          <m:t xml:space="preserve">S</m:t>
                        </m:r>
                      </m:sub>
                    </m:sSub>
                    <m:acc>
                      <m:accPr>
                        <m:chr m:val="̇"/>
                        <m:ctrlPr>
                          <a:rPr sz="1200">
                            <a:solidFill>
                              <a:srgbClr val="252529"/>
                            </a:solidFill>
                            <a:latin typeface="Cambria Math"/>
                          </a:rPr>
                        </m:ctrlPr>
                      </m:accPr>
                      <m:e>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S</m:t>
                            </m:r>
                          </m:sub>
                        </m:sSub>
                      </m:e>
                    </m:acc>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S</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r>
                      <m:rPr>
                        <m:sty m:val="i"/>
                      </m:rPr>
                      <a:rPr sz="1200">
                        <a:solidFill>
                          <a:srgbClr val="252529"/>
                        </a:solidFill>
                        <a:latin typeface="Cambria Math"/>
                      </a:rPr>
                      <m:t xml:space="preserve">u</m:t>
                    </m:r>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sp>
          <p:nvSpPr>
            <p:cNvPr id="11016"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252529"/>
                            </a:solidFill>
                            <a:latin typeface="Cambria Math"/>
                          </a:rPr>
                        </m:ctrlPr>
                      </m:sSubPr>
                      <m:e>
                        <m:r>
                          <m:rPr>
                            <m:sty m:val="i"/>
                          </m:rPr>
                          <a:rPr sz="1200">
                            <a:solidFill>
                              <a:srgbClr val="252529"/>
                            </a:solidFill>
                            <a:latin typeface="Cambria Math"/>
                          </a:rPr>
                          <m:t xml:space="preserve">τ</m:t>
                        </m:r>
                      </m:e>
                      <m:sub>
                        <m:r>
                          <m:rPr>
                            <m:sty m:val="p"/>
                          </m:rPr>
                          <a:rPr sz="1200">
                            <a:solidFill>
                              <a:srgbClr val="252529"/>
                            </a:solidFill>
                            <a:latin typeface="Cambria Math"/>
                          </a:rPr>
                          <m:t xml:space="preserve">G</m:t>
                        </m:r>
                      </m:sub>
                    </m:sSub>
                    <m:acc>
                      <m:accPr>
                        <m:chr m:val="̇"/>
                        <m:ctrlPr>
                          <a:rPr sz="1200">
                            <a:solidFill>
                              <a:srgbClr val="252529"/>
                            </a:solidFill>
                            <a:latin typeface="Cambria Math"/>
                          </a:rPr>
                        </m:ctrlPr>
                      </m:accPr>
                      <m:e>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G</m:t>
                            </m:r>
                          </m:sub>
                        </m:sSub>
                      </m:e>
                    </m:acc>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w</m:t>
                        </m:r>
                      </m:e>
                      <m:sub>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r>
                      <m:rPr>
                        <m:sty m:val="i"/>
                      </m:rPr>
                      <a:rPr sz="1200">
                        <a:solidFill>
                          <a:srgbClr val="252529"/>
                        </a:solidFill>
                        <a:latin typeface="Cambria Math"/>
                      </a:rPr>
                      <m:t xml:space="preserve">−</m:t>
                    </m:r>
                    <m:sSub>
                      <m:sSubPr>
                        <m:ctrlPr>
                          <a:rPr sz="1200">
                            <a:solidFill>
                              <a:srgbClr val="252529"/>
                            </a:solidFill>
                            <a:latin typeface="Cambria Math"/>
                          </a:rPr>
                        </m:ctrlPr>
                      </m:sSubPr>
                      <m:e>
                        <m:r>
                          <m:rPr>
                            <m:sty m:val="i"/>
                          </m:rPr>
                          <a:rPr sz="1200">
                            <a:solidFill>
                              <a:srgbClr val="252529"/>
                            </a:solidFill>
                            <a:latin typeface="Cambria Math"/>
                          </a:rPr>
                          <m:t xml:space="preserve">x</m:t>
                        </m:r>
                      </m:e>
                      <m:sub>
                        <m:r>
                          <m:rPr>
                            <m:sty m:val="p"/>
                          </m:rPr>
                          <a:rPr sz="1200">
                            <a:solidFill>
                              <a:srgbClr val="252529"/>
                            </a:solidFill>
                            <a:latin typeface="Cambria Math"/>
                          </a:rPr>
                          <m:t xml:space="preserve">G</m:t>
                        </m:r>
                      </m:sub>
                    </m:sSub>
                    <m:d>
                      <m:dPr>
                        <m:begChr m:val="("/>
                        <m:endChr m:val=")"/>
                        <m:ctrlPr>
                          <a:rPr sz="1200">
                            <a:solidFill>
                              <a:srgbClr val="252529"/>
                            </a:solidFill>
                            <a:latin typeface="Cambria Math"/>
                          </a:rPr>
                        </m:ctrlPr>
                      </m:dPr>
                      <m:e>
                        <m:r>
                          <m:rPr>
                            <m:sty m:val="i"/>
                          </m:rPr>
                          <a:rPr sz="1200">
                            <a:solidFill>
                              <a:srgbClr val="252529"/>
                            </a:solidFill>
                            <a:latin typeface="Cambria Math"/>
                          </a:rPr>
                          <m:t xml:space="preserve">t</m:t>
                        </m:r>
                      </m:e>
                    </m:d>
                  </m:oMath>
                </m:oMathPara>
              </a14:m>
              <a:endParaRPr sz="1200"/>
            </a:p>
          </p:txBody>
        </p:sp>
      </p:gr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aseline="0" b="0" i="0" u="none">
                  <a:solidFill>
                    <a:srgbClr val="D61016"/>
                  </a:solidFill>
                  <a:latin typeface="Cambria Math"/>
                  <a:ea typeface="Cambria Math"/>
                  <a:cs typeface="Cambria Math"/>
                </a:rPr>
                <a:t xml:space="preserve">Δ</a:t>
              </a:r>
              <a:endParaRPr sz="2700"/>
            </a:p>
          </p:txBody>
        </p:sp>
      </p:grpSp>
      <p:sp>
        <p:nvSpPr>
          <p:cNvPr id="11081" name="Stage 1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aseline="0" b="0" i="0" u="none">
                <a:solidFill>
                  <a:srgbClr val="252529"/>
                </a:solidFill>
                <a:latin typeface="Aptos"/>
                <a:ea typeface="Aptos"/>
                <a:cs typeface="Aptos"/>
              </a:rPr>
              <a:t xml:space="preserve">Collect the nonlinearities in Δ.</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