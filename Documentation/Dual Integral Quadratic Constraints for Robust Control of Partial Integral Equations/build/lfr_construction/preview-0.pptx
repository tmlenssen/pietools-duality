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3"/>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5" r:id="rId22"/>
    <p:sldId id="406" r:id="rId23"/>
    <p:sldId id="407" r:id="rId24"/>
    <p:sldId id="408" r:id="rId25"/>
    <p:sldId id="409" r:id="rId26"/>
    <p:sldId id="426" r:id="rId27"/>
    <p:sldId id="453" r:id="rId28"/>
    <p:sldId id="441" r:id="rId29"/>
    <p:sldId id="442" r:id="rId30"/>
    <p:sldId id="443" r:id="rId31"/>
    <p:sldId id="435" r:id="rId32"/>
    <p:sldId id="436" r:id="rId33"/>
    <p:sldId id="437" r:id="rId34"/>
    <p:sldId id="438" r:id="rId35"/>
    <p:sldId id="446" r:id="rId36"/>
    <p:sldId id="447" r:id="rId37"/>
    <p:sldId id="450" r:id="rId38"/>
    <p:sldId id="451" r:id="rId39"/>
    <p:sldId id="452" r:id="rId40"/>
    <p:sldId id="448" r:id="rId41"/>
    <p:sldId id="449" r:id="rId42"/>
    <p:sldId id="439" r:id="rId43"/>
    <p:sldId id="421" r:id="rId44"/>
    <p:sldId id="427" r:id="rId45"/>
    <p:sldId id="431" r:id="rId46"/>
    <p:sldId id="428" r:id="rId47"/>
    <p:sldId id="429" r:id="rId48"/>
    <p:sldId id="432" r:id="rId49"/>
    <p:sldId id="430" r:id="rId50"/>
    <p:sldId id="433" r:id="rId51"/>
    <p:sldId id="434" r:id="rId52"/>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530505"/>
    <a:srgbClr val="000000"/>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8" autoAdjust="0"/>
    <p:restoredTop sz="85122" autoAdjust="0"/>
  </p:normalViewPr>
  <p:slideViewPr>
    <p:cSldViewPr snapToGrid="0" showGuides="1">
      <p:cViewPr varScale="1">
        <p:scale>
          <a:sx n="108" d="100"/>
          <a:sy n="108" d="100"/>
        </p:scale>
        <p:origin x="588" y="64"/>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26</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33</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34</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46</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47</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48</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49</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50</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70.png"/><Relationship Id="rId7"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6.mp4"/><Relationship Id="rId16" Type="http://schemas.openxmlformats.org/officeDocument/2006/relationships/image" Target="../media/image701.png"/><Relationship Id="rId1" Type="http://schemas.microsoft.com/office/2007/relationships/media" Target="../media/media6.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71.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28.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7.mp4"/><Relationship Id="rIdEditable107" Type="http://schemas.openxmlformats.org/officeDocument/2006/relationships/image" Target="../media/editable_385_image159.png"/><Relationship Id="rId1" Type="http://schemas.microsoft.com/office/2007/relationships/media" Target="../media/media7.mp4"/><Relationship Id="rIdEditable102" Type="http://schemas.openxmlformats.org/officeDocument/2006/relationships/image" Target="../media/editable_380_image155.png"/><Relationship Id="rId6" Type="http://schemas.openxmlformats.org/officeDocument/2006/relationships/image" Target="../media/image721.png"/><Relationship Id="rId5" Type="http://schemas.openxmlformats.org/officeDocument/2006/relationships/image" Target="../media/image72.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21.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29.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8.mp4"/><Relationship Id="rId1" Type="http://schemas.microsoft.com/office/2007/relationships/media" Target="../media/media8.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73.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22.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30.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6_image171.png"/><Relationship Id="rId6" Type="http://schemas.openxmlformats.org/officeDocument/2006/relationships/image" Target="../media/image75.png"/><Relationship Id="rId5" Type="http://schemas.openxmlformats.org/officeDocument/2006/relationships/image" Target="../media/image74.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23.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31.xml.rels><?xml version="1.0" encoding="UTF-8" standalone="yes"?>
<Relationships xmlns="http://schemas.openxmlformats.org/package/2006/relationships"><Relationship Id="rId3" Type="http://schemas.openxmlformats.org/officeDocument/2006/relationships/image" Target="../media/image76.png"/><Relationship Id="rId12" Type="http://schemas.openxmlformats.org/officeDocument/2006/relationships/image" Target="../media/image341.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77.png"/></Relationships>
</file>

<file path=ppt/slides/_rels/slide32.xml.rels><?xml version="1.0" encoding="UTF-8" standalone="yes"?>
<Relationships xmlns="http://schemas.openxmlformats.org/package/2006/relationships"><Relationship Id="rId3" Type="http://schemas.openxmlformats.org/officeDocument/2006/relationships/image" Target="../media/image76.png"/><Relationship Id="rId12" Type="http://schemas.openxmlformats.org/officeDocument/2006/relationships/image" Target="../media/image381.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78.png"/></Relationships>
</file>

<file path=ppt/slides/_rels/slide33.xml.rels><?xml version="1.0" encoding="UTF-8" standalone="yes"?>
<Relationships xmlns="http://schemas.openxmlformats.org/package/2006/relationships"><Relationship Id="rId3" Type="http://schemas.openxmlformats.org/officeDocument/2006/relationships/image" Target="../media/image76.png"/><Relationship Id="rId12" Type="http://schemas.openxmlformats.org/officeDocument/2006/relationships/image" Target="../media/image40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79.png"/></Relationships>
</file>

<file path=ppt/slides/_rels/slide3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80.png"/></Relationships>
</file>

<file path=ppt/slides/_rels/slide35.xml.rels><?xml version="1.0" encoding="UTF-8" standalone="yes"?>
<Relationships xmlns="http://schemas.openxmlformats.org/package/2006/relationships"><Relationship Id="rId13" Type="http://schemas.openxmlformats.org/officeDocument/2006/relationships/image" Target="../media/image342.png"/><Relationship Id="rId12" Type="http://schemas.openxmlformats.org/officeDocument/2006/relationships/image" Target="../media/image331.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png"/><Relationship Id="rId5" Type="http://schemas.openxmlformats.org/officeDocument/2006/relationships/image" Target="../media/image97.png"/><Relationship Id="rId4" Type="http://schemas.openxmlformats.org/officeDocument/2006/relationships/image" Target="../media/image96.png"/><Relationship Id="rId14" Type="http://schemas.openxmlformats.org/officeDocument/2006/relationships/image" Target="../media/image352.png"/></Relationships>
</file>

<file path=ppt/slides/_rels/slide36.xml.rels><?xml version="1.0" encoding="UTF-8" standalone="yes"?>
<Relationships xmlns="http://schemas.openxmlformats.org/package/2006/relationships"><Relationship Id="rId8" Type="http://schemas.openxmlformats.org/officeDocument/2006/relationships/image" Target="../media/image460.png"/><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37.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png"/><Relationship Id="rId5" Type="http://schemas.openxmlformats.org/officeDocument/2006/relationships/image" Target="../media/image97.png"/><Relationship Id="rId15" Type="http://schemas.openxmlformats.org/officeDocument/2006/relationships/image" Target="../media/image490.png"/><Relationship Id="rId4" Type="http://schemas.openxmlformats.org/officeDocument/2006/relationships/image" Target="../media/image96.png"/><Relationship Id="rId14" Type="http://schemas.openxmlformats.org/officeDocument/2006/relationships/image" Target="../media/image480.png"/></Relationships>
</file>

<file path=ppt/slides/_rels/slide38.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11" Type="http://schemas.openxmlformats.org/officeDocument/2006/relationships/image" Target="../media/image84.png"/><Relationship Id="rId5" Type="http://schemas.openxmlformats.org/officeDocument/2006/relationships/image" Target="../media/image411.png"/><Relationship Id="rId10" Type="http://schemas.openxmlformats.org/officeDocument/2006/relationships/image" Target="../media/image83.png"/><Relationship Id="rId4" Type="http://schemas.openxmlformats.org/officeDocument/2006/relationships/image" Target="../media/image402.png"/><Relationship Id="rId9" Type="http://schemas.openxmlformats.org/officeDocument/2006/relationships/image" Target="../media/image82.png"/></Relationships>
</file>

<file path=ppt/slides/_rels/slide39.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0.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1.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5.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46.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7.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8.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2.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88.png"/></Relationships>
</file>

<file path=ppt/slides/_rels/slide49.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87.png"/><Relationship Id="rId2" Type="http://schemas.openxmlformats.org/officeDocument/2006/relationships/notesSlide" Target="../notesSlides/notesSlide33.xml"/><Relationship Id="rId1" Type="http://schemas.openxmlformats.org/officeDocument/2006/relationships/slideLayout" Target="../slideLayouts/slideLayout12.xml"/><Relationship Id="rId4" Type="http://schemas.openxmlformats.org/officeDocument/2006/relationships/image" Target="../media/image89.png"/></Relationships>
</file>

<file path=ppt/slides/_rels/slide50.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4.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90.png"/></Relationships>
</file>

<file path=ppt/slides/_rels/slide51.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5.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91.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xmlns:m="http://schemas.openxmlformats.org/officeDocument/2006/math">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grpSp>
        <p:nvGrpSpPr>
          <p:cNvPr id="54"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006"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p:sp>
              <p:nvSpPr>
                <p:cNvPr id="6006"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11008" name="Original model equations"/>
          <p:cNvGrpSpPr/>
          <p:nvPr/>
        </p:nvGrpSpPr>
        <p:grpSpPr>
          <a:xfrm>
            <a:off x="838200" y="2743200"/>
            <a:ext cx="7467600" cy="1524000"/>
            <a:chOff x="838200" y="2743200"/>
            <a:chExt cx="7467600" cy="1524000"/>
          </a:xfrm>
        </p:grpSpPr>
        <p:sp>
          <p:nvSpPr>
            <p:cNvPr id="11001" name="Delay dynamics S"/>
            <p:cNvSpPr/>
            <p:nvPr/>
          </p:nvSpPr>
          <p:spPr>
            <a:xfrm>
              <a:off x="1333500" y="2759710"/>
              <a:ext cx="6477000" cy="52578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800">
                            <a:solidFill>
                              <a:srgbClr val="252529"/>
                            </a:solidFill>
                            <a:latin typeface="Cambria Math"/>
                          </a:rPr>
                        </m:ctrlPr>
                      </m:sSubPr>
                      <m:e>
                        <m:r>
                          <m:rPr>
                            <m:sty m:val="i"/>
                          </m:rPr>
                          <a:rPr sz="1800">
                            <a:solidFill>
                              <a:srgbClr val="252529"/>
                            </a:solidFill>
                            <a:latin typeface="Cambria Math"/>
                          </a:rPr>
                          <m:t xml:space="preserve">z</m:t>
                        </m:r>
                      </m:e>
                      <m:sub>
                        <m:r>
                          <m:rPr>
                            <m:sty m:val="p"/>
                          </m:rPr>
                          <a:rPr sz="1800">
                            <a:solidFill>
                              <a:srgbClr val="252529"/>
                            </a:solidFill>
                            <a:latin typeface="Cambria Math"/>
                          </a:rPr>
                          <m:t xml:space="preserve">S</m:t>
                        </m:r>
                      </m:sub>
                    </m:sSub>
                    <m:d>
                      <m:dPr>
                        <m:begChr m:val="("/>
                        <m:endChr m:val=")"/>
                        <m:ctrlPr>
                          <a:rPr sz="1800">
                            <a:solidFill>
                              <a:srgbClr val="252529"/>
                            </a:solidFill>
                            <a:latin typeface="Cambria Math"/>
                          </a:rPr>
                        </m:ctrlPr>
                      </m:dPr>
                      <m:e>
                        <m:r>
                          <m:rPr>
                            <m:sty m:val="i"/>
                          </m:rPr>
                          <a:rPr sz="1800">
                            <a:solidFill>
                              <a:srgbClr val="252529"/>
                            </a:solidFill>
                            <a:latin typeface="Cambria Math"/>
                          </a:rPr>
                          <m:t xml:space="preserve">t</m:t>
                        </m:r>
                      </m:e>
                    </m:d>
                    <m:r>
                      <m:rPr>
                        <m:sty m:val="i"/>
                      </m:rPr>
                      <a:rPr sz="1800">
                        <a:solidFill>
                          <a:srgbClr val="252529"/>
                        </a:solidFill>
                        <a:latin typeface="Cambria Math"/>
                      </a:rPr>
                      <m:t xml:space="preserve">=</m:t>
                    </m:r>
                    <m:r>
                      <m:rPr>
                        <m:sty m:val="i"/>
                      </m:rPr>
                      <a:rPr sz="1800">
                        <a:solidFill>
                          <a:srgbClr val="252529"/>
                        </a:solidFill>
                        <a:latin typeface="Cambria Math"/>
                      </a:rPr>
                      <m:t xml:space="preserve">−</m:t>
                    </m:r>
                    <m:sSub>
                      <m:sSubPr>
                        <m:ctrlPr>
                          <a:rPr sz="1800">
                            <a:solidFill>
                              <a:srgbClr val="252529"/>
                            </a:solidFill>
                            <a:latin typeface="Cambria Math"/>
                          </a:rPr>
                        </m:ctrlPr>
                      </m:sSubPr>
                      <m:e>
                        <m:r>
                          <m:rPr>
                            <m:sty m:val="i"/>
                          </m:rPr>
                          <a:rPr sz="1800">
                            <a:solidFill>
                              <a:srgbClr val="252529"/>
                            </a:solidFill>
                            <a:latin typeface="Cambria Math"/>
                          </a:rPr>
                          <m:t xml:space="preserve">w</m:t>
                        </m:r>
                      </m:e>
                      <m:sub>
                        <m:r>
                          <m:rPr>
                            <m:sty m:val="p"/>
                          </m:rPr>
                          <a:rPr sz="1800">
                            <a:solidFill>
                              <a:srgbClr val="252529"/>
                            </a:solidFill>
                            <a:latin typeface="Cambria Math"/>
                          </a:rPr>
                          <m:t xml:space="preserve">G</m:t>
                        </m:r>
                        <m:r>
                          <m:rPr>
                            <m:sty m:val="p"/>
                          </m:rPr>
                          <a:rPr sz="1800">
                            <a:solidFill>
                              <a:srgbClr val="252529"/>
                            </a:solidFill>
                            <a:latin typeface="Cambria Math"/>
                          </a:rPr>
                          <m:t xml:space="preserve">S</m:t>
                        </m:r>
                      </m:sub>
                    </m:sSub>
                    <m:sSub>
                      <m:sSubPr>
                        <m:ctrlPr>
                          <a:rPr sz="1800">
                            <a:solidFill>
                              <a:srgbClr val="252529"/>
                            </a:solidFill>
                            <a:latin typeface="Cambria Math"/>
                          </a:rPr>
                        </m:ctrlPr>
                      </m:sSubPr>
                      <m:e>
                        <m:r>
                          <m:rPr>
                            <m:sty m:val="i"/>
                          </m:rPr>
                          <a:rPr sz="1800">
                            <a:solidFill>
                              <a:srgbClr val="252529"/>
                            </a:solidFill>
                            <a:latin typeface="Cambria Math"/>
                          </a:rPr>
                          <m:t xml:space="preserve">φ</m:t>
                        </m:r>
                      </m:e>
                      <m:sub>
                        <m:r>
                          <m:rPr>
                            <m:sty m:val="p"/>
                          </m:rPr>
                          <a:rPr sz="1800">
                            <a:solidFill>
                              <a:srgbClr val="252529"/>
                            </a:solidFill>
                            <a:latin typeface="Cambria Math"/>
                          </a:rPr>
                          <m:t xml:space="preserve">G</m:t>
                        </m:r>
                        <m:r>
                          <m:rPr>
                            <m:sty m:val="p"/>
                          </m:rPr>
                          <a:rPr sz="1800">
                            <a:solidFill>
                              <a:srgbClr val="252529"/>
                            </a:solidFill>
                            <a:latin typeface="Cambria Math"/>
                          </a:rPr>
                          <m:t xml:space="preserve">S</m:t>
                        </m:r>
                      </m:sub>
                    </m:sSub>
                    <m:d>
                      <m:dPr>
                        <m:begChr m:val="("/>
                        <m:endChr m:val=")"/>
                        <m:ctrlPr>
                          <a:rPr sz="1800">
                            <a:solidFill>
                              <a:srgbClr val="252529"/>
                            </a:solidFill>
                            <a:latin typeface="Cambria Math"/>
                          </a:rPr>
                        </m:ctrlPr>
                      </m:dPr>
                      <m:e>
                        <m:r>
                          <m:rPr>
                            <m:sty m:val="i"/>
                          </m:rPr>
                          <a:rPr sz="1800">
                            <a:solidFill>
                              <a:srgbClr val="252529"/>
                            </a:solidFill>
                            <a:latin typeface="Cambria Math"/>
                          </a:rPr>
                          <m:t xml:space="preserve">t</m:t>
                        </m:r>
                        <m:r>
                          <m:rPr>
                            <m:sty m:val="p"/>
                          </m:rPr>
                          <a:rPr sz="1800">
                            <a:solidFill>
                              <a:srgbClr val="252529"/>
                            </a:solidFill>
                            <a:latin typeface="Cambria Math"/>
                          </a:rPr>
                          <m:t xml:space="preserve">,</m:t>
                        </m:r>
                        <m:r>
                          <m:rPr>
                            <m:sty m:val="p"/>
                          </m:rPr>
                          <a:rPr sz="1800">
                            <a:solidFill>
                              <a:srgbClr val="252529"/>
                            </a:solidFill>
                            <a:latin typeface="Cambria Math"/>
                          </a:rPr>
                          <m:t xml:space="preserve">1</m:t>
                        </m:r>
                      </m:e>
                    </m:d>
                  </m:oMath>
                </m:oMathPara>
              </a14:m>
              <a:endParaRPr sz="1800"/>
            </a:p>
          </p:txBody>
        </p:sp>
        <p:sp>
          <p:nvSpPr>
            <p:cNvPr id="11002" name="Delay dynamics G"/>
            <p:cNvSpPr/>
            <p:nvPr/>
          </p:nvSpPr>
          <p:spPr>
            <a:xfrm>
              <a:off x="952500" y="3039110"/>
              <a:ext cx="7239000" cy="52578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800">
                            <a:solidFill>
                              <a:srgbClr val="252529"/>
                            </a:solidFill>
                            <a:latin typeface="Cambria Math"/>
                          </a:rPr>
                        </m:ctrlPr>
                      </m:sSubPr>
                      <m:e>
                        <m:r>
                          <m:rPr>
                            <m:sty m:val="i"/>
                          </m:rPr>
                          <a:rPr sz="1800">
                            <a:solidFill>
                              <a:srgbClr val="252529"/>
                            </a:solidFill>
                            <a:latin typeface="Cambria Math"/>
                          </a:rPr>
                          <m:t xml:space="preserve">z</m:t>
                        </m:r>
                      </m:e>
                      <m:sub>
                        <m:r>
                          <m:rPr>
                            <m:sty m:val="p"/>
                          </m:rPr>
                          <a:rPr sz="1800">
                            <a:solidFill>
                              <a:srgbClr val="252529"/>
                            </a:solidFill>
                            <a:latin typeface="Cambria Math"/>
                          </a:rPr>
                          <m:t xml:space="preserve">G</m:t>
                        </m:r>
                      </m:sub>
                    </m:sSub>
                    <m:d>
                      <m:dPr>
                        <m:begChr m:val="("/>
                        <m:endChr m:val=")"/>
                        <m:ctrlPr>
                          <a:rPr sz="1800">
                            <a:solidFill>
                              <a:srgbClr val="252529"/>
                            </a:solidFill>
                            <a:latin typeface="Cambria Math"/>
                          </a:rPr>
                        </m:ctrlPr>
                      </m:dPr>
                      <m:e>
                        <m:r>
                          <m:rPr>
                            <m:sty m:val="i"/>
                          </m:rPr>
                          <a:rPr sz="1800">
                            <a:solidFill>
                              <a:srgbClr val="252529"/>
                            </a:solidFill>
                            <a:latin typeface="Cambria Math"/>
                          </a:rPr>
                          <m:t xml:space="preserve">t</m:t>
                        </m:r>
                      </m:e>
                    </m:d>
                    <m:r>
                      <m:rPr>
                        <m:sty m:val="i"/>
                      </m:rPr>
                      <a:rPr sz="1800">
                        <a:solidFill>
                          <a:srgbClr val="252529"/>
                        </a:solidFill>
                        <a:latin typeface="Cambria Math"/>
                      </a:rPr>
                      <m:t xml:space="preserve">=</m:t>
                    </m:r>
                    <m:sSub>
                      <m:sSubPr>
                        <m:ctrlPr>
                          <a:rPr sz="1800">
                            <a:solidFill>
                              <a:srgbClr val="252529"/>
                            </a:solidFill>
                            <a:latin typeface="Cambria Math"/>
                          </a:rPr>
                        </m:ctrlPr>
                      </m:sSubPr>
                      <m:e>
                        <m:r>
                          <m:rPr>
                            <m:sty m:val="i"/>
                          </m:rPr>
                          <a:rPr sz="1800">
                            <a:solidFill>
                              <a:srgbClr val="252529"/>
                            </a:solidFill>
                            <a:latin typeface="Cambria Math"/>
                          </a:rPr>
                          <m:t xml:space="preserve">w</m:t>
                        </m:r>
                      </m:e>
                      <m:sub>
                        <m:r>
                          <m:rPr>
                            <m:sty m:val="p"/>
                          </m:rPr>
                          <a:rPr sz="1800">
                            <a:solidFill>
                              <a:srgbClr val="252529"/>
                            </a:solidFill>
                            <a:latin typeface="Cambria Math"/>
                          </a:rPr>
                          <m:t xml:space="preserve">S</m:t>
                        </m:r>
                        <m:r>
                          <m:rPr>
                            <m:sty m:val="p"/>
                          </m:rPr>
                          <a:rPr sz="1800">
                            <a:solidFill>
                              <a:srgbClr val="252529"/>
                            </a:solidFill>
                            <a:latin typeface="Cambria Math"/>
                          </a:rPr>
                          <m:t xml:space="preserve">G</m:t>
                        </m:r>
                      </m:sub>
                    </m:sSub>
                    <m:sSub>
                      <m:sSubPr>
                        <m:ctrlPr>
                          <a:rPr sz="1800">
                            <a:solidFill>
                              <a:srgbClr val="252529"/>
                            </a:solidFill>
                            <a:latin typeface="Cambria Math"/>
                          </a:rPr>
                        </m:ctrlPr>
                      </m:sSubPr>
                      <m:e>
                        <m:r>
                          <m:rPr>
                            <m:sty m:val="i"/>
                          </m:rPr>
                          <a:rPr sz="1800">
                            <a:solidFill>
                              <a:srgbClr val="252529"/>
                            </a:solidFill>
                            <a:latin typeface="Cambria Math"/>
                          </a:rPr>
                          <m:t xml:space="preserve">φ</m:t>
                        </m:r>
                      </m:e>
                      <m:sub>
                        <m:r>
                          <m:rPr>
                            <m:sty m:val="p"/>
                          </m:rPr>
                          <a:rPr sz="1800">
                            <a:solidFill>
                              <a:srgbClr val="252529"/>
                            </a:solidFill>
                            <a:latin typeface="Cambria Math"/>
                          </a:rPr>
                          <m:t xml:space="preserve">S</m:t>
                        </m:r>
                        <m:r>
                          <m:rPr>
                            <m:sty m:val="p"/>
                          </m:rPr>
                          <a:rPr sz="1800">
                            <a:solidFill>
                              <a:srgbClr val="252529"/>
                            </a:solidFill>
                            <a:latin typeface="Cambria Math"/>
                          </a:rPr>
                          <m:t xml:space="preserve">G</m:t>
                        </m:r>
                      </m:sub>
                    </m:sSub>
                    <m:d>
                      <m:dPr>
                        <m:begChr m:val="("/>
                        <m:endChr m:val=")"/>
                        <m:ctrlPr>
                          <a:rPr sz="1800">
                            <a:solidFill>
                              <a:srgbClr val="252529"/>
                            </a:solidFill>
                            <a:latin typeface="Cambria Math"/>
                          </a:rPr>
                        </m:ctrlPr>
                      </m:dPr>
                      <m:e>
                        <m:r>
                          <m:rPr>
                            <m:sty m:val="i"/>
                          </m:rPr>
                          <a:rPr sz="1800">
                            <a:solidFill>
                              <a:srgbClr val="252529"/>
                            </a:solidFill>
                            <a:latin typeface="Cambria Math"/>
                          </a:rPr>
                          <m:t xml:space="preserve">t</m:t>
                        </m:r>
                        <m:r>
                          <m:rPr>
                            <m:sty m:val="p"/>
                          </m:rPr>
                          <a:rPr sz="1800">
                            <a:solidFill>
                              <a:srgbClr val="252529"/>
                            </a:solidFill>
                            <a:latin typeface="Cambria Math"/>
                          </a:rPr>
                          <m:t xml:space="preserve">,</m:t>
                        </m:r>
                        <m:r>
                          <m:rPr>
                            <m:sty m:val="p"/>
                          </m:rPr>
                          <a:rPr sz="1800">
                            <a:solidFill>
                              <a:srgbClr val="252529"/>
                            </a:solidFill>
                            <a:latin typeface="Cambria Math"/>
                          </a:rPr>
                          <m:t xml:space="preserve">1</m:t>
                        </m:r>
                      </m:e>
                    </m:d>
                    <m:r>
                      <m:rPr>
                        <m:sty m:val="i"/>
                      </m:rPr>
                      <a:rPr sz="1800">
                        <a:solidFill>
                          <a:srgbClr val="252529"/>
                        </a:solidFill>
                        <a:latin typeface="Cambria Math"/>
                      </a:rPr>
                      <m:t xml:space="preserve">−</m:t>
                    </m:r>
                    <m:sSub>
                      <m:sSubPr>
                        <m:ctrlPr>
                          <a:rPr sz="1800">
                            <a:solidFill>
                              <a:srgbClr val="252529"/>
                            </a:solidFill>
                            <a:latin typeface="Cambria Math"/>
                          </a:rPr>
                        </m:ctrlPr>
                      </m:sSubPr>
                      <m:e>
                        <m:r>
                          <m:rPr>
                            <m:sty m:val="i"/>
                          </m:rPr>
                          <a:rPr sz="1800">
                            <a:solidFill>
                              <a:srgbClr val="252529"/>
                            </a:solidFill>
                            <a:latin typeface="Cambria Math"/>
                          </a:rPr>
                          <m:t xml:space="preserve">w</m:t>
                        </m:r>
                      </m:e>
                      <m:sub>
                        <m:r>
                          <m:rPr>
                            <m:sty m:val="p"/>
                          </m:rPr>
                          <a:rPr sz="1800">
                            <a:solidFill>
                              <a:srgbClr val="252529"/>
                            </a:solidFill>
                            <a:latin typeface="Cambria Math"/>
                          </a:rPr>
                          <m:t xml:space="preserve">G</m:t>
                        </m:r>
                        <m:r>
                          <m:rPr>
                            <m:sty m:val="p"/>
                          </m:rPr>
                          <a:rPr sz="1800">
                            <a:solidFill>
                              <a:srgbClr val="252529"/>
                            </a:solidFill>
                            <a:latin typeface="Cambria Math"/>
                          </a:rPr>
                          <m:t xml:space="preserve">G</m:t>
                        </m:r>
                      </m:sub>
                    </m:sSub>
                    <m:sSub>
                      <m:sSubPr>
                        <m:ctrlPr>
                          <a:rPr sz="1800">
                            <a:solidFill>
                              <a:srgbClr val="252529"/>
                            </a:solidFill>
                            <a:latin typeface="Cambria Math"/>
                          </a:rPr>
                        </m:ctrlPr>
                      </m:sSubPr>
                      <m:e>
                        <m:r>
                          <m:rPr>
                            <m:sty m:val="i"/>
                          </m:rPr>
                          <a:rPr sz="1800">
                            <a:solidFill>
                              <a:srgbClr val="252529"/>
                            </a:solidFill>
                            <a:latin typeface="Cambria Math"/>
                          </a:rPr>
                          <m:t xml:space="preserve">φ</m:t>
                        </m:r>
                      </m:e>
                      <m:sub>
                        <m:r>
                          <m:rPr>
                            <m:sty m:val="p"/>
                          </m:rPr>
                          <a:rPr sz="1800">
                            <a:solidFill>
                              <a:srgbClr val="252529"/>
                            </a:solidFill>
                            <a:latin typeface="Cambria Math"/>
                          </a:rPr>
                          <m:t xml:space="preserve">G</m:t>
                        </m:r>
                        <m:r>
                          <m:rPr>
                            <m:sty m:val="p"/>
                          </m:rPr>
                          <a:rPr sz="1800">
                            <a:solidFill>
                              <a:srgbClr val="252529"/>
                            </a:solidFill>
                            <a:latin typeface="Cambria Math"/>
                          </a:rPr>
                          <m:t xml:space="preserve">G</m:t>
                        </m:r>
                      </m:sub>
                    </m:sSub>
                    <m:d>
                      <m:dPr>
                        <m:begChr m:val="("/>
                        <m:endChr m:val=")"/>
                        <m:ctrlPr>
                          <a:rPr sz="1800">
                            <a:solidFill>
                              <a:srgbClr val="252529"/>
                            </a:solidFill>
                            <a:latin typeface="Cambria Math"/>
                          </a:rPr>
                        </m:ctrlPr>
                      </m:dPr>
                      <m:e>
                        <m:r>
                          <m:rPr>
                            <m:sty m:val="i"/>
                          </m:rPr>
                          <a:rPr sz="1800">
                            <a:solidFill>
                              <a:srgbClr val="252529"/>
                            </a:solidFill>
                            <a:latin typeface="Cambria Math"/>
                          </a:rPr>
                          <m:t xml:space="preserve">t</m:t>
                        </m:r>
                        <m:r>
                          <m:rPr>
                            <m:sty m:val="p"/>
                          </m:rPr>
                          <a:rPr sz="1800">
                            <a:solidFill>
                              <a:srgbClr val="252529"/>
                            </a:solidFill>
                            <a:latin typeface="Cambria Math"/>
                          </a:rPr>
                          <m:t xml:space="preserve">,</m:t>
                        </m:r>
                        <m:r>
                          <m:rPr>
                            <m:sty m:val="p"/>
                          </m:rPr>
                          <a:rPr sz="1800">
                            <a:solidFill>
                              <a:srgbClr val="252529"/>
                            </a:solidFill>
                            <a:latin typeface="Cambria Math"/>
                          </a:rPr>
                          <m:t xml:space="preserve">1</m:t>
                        </m:r>
                      </m:e>
                    </m:d>
                  </m:oMath>
                </m:oMathPara>
              </a14:m>
              <a:endParaRPr sz="1800"/>
            </a:p>
          </p:txBody>
        </p:sp>
        <p:sp>
          <p:nvSpPr>
            <p:cNvPr id="11003"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800">
                            <a:solidFill>
                              <a:srgbClr val="252529"/>
                            </a:solidFill>
                            <a:latin typeface="Cambria Math"/>
                          </a:rPr>
                        </m:ctrlPr>
                      </m:sSubPr>
                      <m:e>
                        <m:r>
                          <m:rPr>
                            <m:sty m:val="i"/>
                          </m:rPr>
                          <a:rPr sz="1800">
                            <a:solidFill>
                              <a:srgbClr val="252529"/>
                            </a:solidFill>
                            <a:latin typeface="Cambria Math"/>
                          </a:rPr>
                          <m:t xml:space="preserve">τ</m:t>
                        </m:r>
                      </m:e>
                      <m:sub>
                        <m:r>
                          <m:rPr>
                            <m:sty m:val="p"/>
                          </m:rPr>
                          <a:rPr sz="1800">
                            <a:solidFill>
                              <a:srgbClr val="252529"/>
                            </a:solidFill>
                            <a:latin typeface="Cambria Math"/>
                          </a:rPr>
                          <m:t xml:space="preserve">S</m:t>
                        </m:r>
                      </m:sub>
                    </m:sSub>
                    <m:acc>
                      <m:accPr>
                        <m:chr m:val="̇"/>
                        <m:ctrlPr>
                          <a:rPr sz="1800">
                            <a:solidFill>
                              <a:srgbClr val="252529"/>
                            </a:solidFill>
                            <a:latin typeface="Cambria Math"/>
                          </a:rPr>
                        </m:ctrlPr>
                      </m:accPr>
                      <m:e>
                        <m:sSub>
                          <m:sSubPr>
                            <m:ctrlPr>
                              <a:rPr sz="1800">
                                <a:solidFill>
                                  <a:srgbClr val="252529"/>
                                </a:solidFill>
                                <a:latin typeface="Cambria Math"/>
                              </a:rPr>
                            </m:ctrlPr>
                          </m:sSubPr>
                          <m:e>
                            <m:r>
                              <m:rPr>
                                <m:sty m:val="i"/>
                              </m:rPr>
                              <a:rPr sz="1800">
                                <a:solidFill>
                                  <a:srgbClr val="252529"/>
                                </a:solidFill>
                                <a:latin typeface="Cambria Math"/>
                              </a:rPr>
                              <m:t xml:space="preserve">x</m:t>
                            </m:r>
                          </m:e>
                          <m:sub>
                            <m:r>
                              <m:rPr>
                                <m:sty m:val="p"/>
                              </m:rPr>
                              <a:rPr sz="1800">
                                <a:solidFill>
                                  <a:srgbClr val="252529"/>
                                </a:solidFill>
                                <a:latin typeface="Cambria Math"/>
                              </a:rPr>
                              <m:t xml:space="preserve">S</m:t>
                            </m:r>
                          </m:sub>
                        </m:sSub>
                      </m:e>
                    </m:acc>
                    <m:d>
                      <m:dPr>
                        <m:begChr m:val="("/>
                        <m:endChr m:val=")"/>
                        <m:ctrlPr>
                          <a:rPr sz="1800">
                            <a:solidFill>
                              <a:srgbClr val="252529"/>
                            </a:solidFill>
                            <a:latin typeface="Cambria Math"/>
                          </a:rPr>
                        </m:ctrlPr>
                      </m:dPr>
                      <m:e>
                        <m:r>
                          <m:rPr>
                            <m:sty m:val="i"/>
                          </m:rPr>
                          <a:rPr sz="1800">
                            <a:solidFill>
                              <a:srgbClr val="252529"/>
                            </a:solidFill>
                            <a:latin typeface="Cambria Math"/>
                          </a:rPr>
                          <m:t xml:space="preserve">t</m:t>
                        </m:r>
                      </m:e>
                    </m:d>
                    <m:r>
                      <m:rPr>
                        <m:sty m:val="i"/>
                      </m:rPr>
                      <a:rPr sz="1800">
                        <a:solidFill>
                          <a:srgbClr val="252529"/>
                        </a:solidFill>
                        <a:latin typeface="Cambria Math"/>
                      </a:rPr>
                      <m:t xml:space="preserve">=</m:t>
                    </m:r>
                  </m:oMath>
                </m:oMathPara>
              </a14:m>
              <a:endParaRPr sz="1800"/>
            </a:p>
          </p:txBody>
        </p:sp>
        <p:sp>
          <p:nvSpPr>
            <p:cNvPr id="11004"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800">
                        <a:solidFill>
                          <a:srgbClr val="252529"/>
                        </a:solidFill>
                        <a:latin typeface="Cambria Math"/>
                      </a:rPr>
                      <m:t xml:space="preserve">−</m:t>
                    </m:r>
                    <m:sSub>
                      <m:sSubPr>
                        <m:ctrlPr>
                          <a:rPr sz="1800">
                            <a:solidFill>
                              <a:srgbClr val="252529"/>
                            </a:solidFill>
                            <a:latin typeface="Cambria Math"/>
                          </a:rPr>
                        </m:ctrlPr>
                      </m:sSubPr>
                      <m:e>
                        <m:r>
                          <m:rPr>
                            <m:sty m:val="i"/>
                          </m:rPr>
                          <a:rPr sz="1800">
                            <a:solidFill>
                              <a:srgbClr val="252529"/>
                            </a:solidFill>
                            <a:latin typeface="Cambria Math"/>
                          </a:rPr>
                          <m:t xml:space="preserve">x</m:t>
                        </m:r>
                      </m:e>
                      <m:sub>
                        <m:r>
                          <m:rPr>
                            <m:sty m:val="p"/>
                          </m:rPr>
                          <a:rPr sz="1800">
                            <a:solidFill>
                              <a:srgbClr val="252529"/>
                            </a:solidFill>
                            <a:latin typeface="Cambria Math"/>
                          </a:rPr>
                          <m:t xml:space="preserve">S</m:t>
                        </m:r>
                      </m:sub>
                    </m:sSub>
                    <m:d>
                      <m:dPr>
                        <m:begChr m:val="("/>
                        <m:endChr m:val=")"/>
                        <m:ctrlPr>
                          <a:rPr sz="1800">
                            <a:solidFill>
                              <a:srgbClr val="252529"/>
                            </a:solidFill>
                            <a:latin typeface="Cambria Math"/>
                          </a:rPr>
                        </m:ctrlPr>
                      </m:dPr>
                      <m:e>
                        <m:r>
                          <m:rPr>
                            <m:sty m:val="i"/>
                          </m:rPr>
                          <a:rPr sz="1800">
                            <a:solidFill>
                              <a:srgbClr val="252529"/>
                            </a:solidFill>
                            <a:latin typeface="Cambria Math"/>
                          </a:rPr>
                          <m:t xml:space="preserve">t</m:t>
                        </m:r>
                      </m:e>
                    </m:d>
                    <m:r>
                      <m:rPr>
                        <m:sty m:val="i"/>
                      </m:rPr>
                      <a:rPr sz="1800">
                        <a:solidFill>
                          <a:srgbClr val="252529"/>
                        </a:solidFill>
                        <a:latin typeface="Cambria Math"/>
                      </a:rPr>
                      <m:t xml:space="preserve">+</m:t>
                    </m:r>
                    <m:r>
                      <m:rPr>
                        <m:sty m:val="i"/>
                      </m:rPr>
                      <a:rPr sz="1800">
                        <a:solidFill>
                          <a:srgbClr val="252529"/>
                        </a:solidFill>
                        <a:latin typeface="Cambria Math"/>
                      </a:rPr>
                      <m:t xml:space="preserve">u</m:t>
                    </m:r>
                    <m:d>
                      <m:dPr>
                        <m:begChr m:val="("/>
                        <m:endChr m:val=")"/>
                        <m:ctrlPr>
                          <a:rPr sz="1800">
                            <a:solidFill>
                              <a:srgbClr val="252529"/>
                            </a:solidFill>
                            <a:latin typeface="Cambria Math"/>
                          </a:rPr>
                        </m:ctrlPr>
                      </m:dPr>
                      <m:e>
                        <m:r>
                          <m:rPr>
                            <m:sty m:val="i"/>
                          </m:rPr>
                          <a:rPr sz="1800">
                            <a:solidFill>
                              <a:srgbClr val="252529"/>
                            </a:solidFill>
                            <a:latin typeface="Cambria Math"/>
                          </a:rPr>
                          <m:t xml:space="preserve">t</m:t>
                        </m:r>
                      </m:e>
                    </m:d>
                  </m:oMath>
                </m:oMathPara>
              </a14:m>
              <a:endParaRPr sz="1800"/>
            </a:p>
          </p:txBody>
        </p:sp>
        <p:sp>
          <p:nvSpPr>
            <p:cNvPr id="11005" name="State dynamics left G"/>
            <p:cNvSpPr/>
            <p:nvPr/>
          </p:nvSpPr>
          <p:spPr>
            <a:xfrm>
              <a:off x="2578100" y="3699510"/>
              <a:ext cx="1371600" cy="52578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800">
                            <a:solidFill>
                              <a:srgbClr val="252529"/>
                            </a:solidFill>
                            <a:latin typeface="Cambria Math"/>
                          </a:rPr>
                        </m:ctrlPr>
                      </m:sSubPr>
                      <m:e>
                        <m:r>
                          <m:rPr>
                            <m:sty m:val="i"/>
                          </m:rPr>
                          <a:rPr sz="1800">
                            <a:solidFill>
                              <a:srgbClr val="252529"/>
                            </a:solidFill>
                            <a:latin typeface="Cambria Math"/>
                          </a:rPr>
                          <m:t xml:space="preserve">τ</m:t>
                        </m:r>
                      </m:e>
                      <m:sub>
                        <m:r>
                          <m:rPr>
                            <m:sty m:val="p"/>
                          </m:rPr>
                          <a:rPr sz="1800">
                            <a:solidFill>
                              <a:srgbClr val="252529"/>
                            </a:solidFill>
                            <a:latin typeface="Cambria Math"/>
                          </a:rPr>
                          <m:t xml:space="preserve">G</m:t>
                        </m:r>
                      </m:sub>
                    </m:sSub>
                    <m:acc>
                      <m:accPr>
                        <m:chr m:val="̇"/>
                        <m:ctrlPr>
                          <a:rPr sz="1800">
                            <a:solidFill>
                              <a:srgbClr val="252529"/>
                            </a:solidFill>
                            <a:latin typeface="Cambria Math"/>
                          </a:rPr>
                        </m:ctrlPr>
                      </m:accPr>
                      <m:e>
                        <m:sSub>
                          <m:sSubPr>
                            <m:ctrlPr>
                              <a:rPr sz="1800">
                                <a:solidFill>
                                  <a:srgbClr val="252529"/>
                                </a:solidFill>
                                <a:latin typeface="Cambria Math"/>
                              </a:rPr>
                            </m:ctrlPr>
                          </m:sSubPr>
                          <m:e>
                            <m:r>
                              <m:rPr>
                                <m:sty m:val="i"/>
                              </m:rPr>
                              <a:rPr sz="1800">
                                <a:solidFill>
                                  <a:srgbClr val="252529"/>
                                </a:solidFill>
                                <a:latin typeface="Cambria Math"/>
                              </a:rPr>
                              <m:t xml:space="preserve">x</m:t>
                            </m:r>
                          </m:e>
                          <m:sub>
                            <m:r>
                              <m:rPr>
                                <m:sty m:val="p"/>
                              </m:rPr>
                              <a:rPr sz="1800">
                                <a:solidFill>
                                  <a:srgbClr val="252529"/>
                                </a:solidFill>
                                <a:latin typeface="Cambria Math"/>
                              </a:rPr>
                              <m:t xml:space="preserve">G</m:t>
                            </m:r>
                          </m:sub>
                        </m:sSub>
                      </m:e>
                    </m:acc>
                    <m:d>
                      <m:dPr>
                        <m:begChr m:val="("/>
                        <m:endChr m:val=")"/>
                        <m:ctrlPr>
                          <a:rPr sz="1800">
                            <a:solidFill>
                              <a:srgbClr val="252529"/>
                            </a:solidFill>
                            <a:latin typeface="Cambria Math"/>
                          </a:rPr>
                        </m:ctrlPr>
                      </m:dPr>
                      <m:e>
                        <m:r>
                          <m:rPr>
                            <m:sty m:val="i"/>
                          </m:rPr>
                          <a:rPr sz="1800">
                            <a:solidFill>
                              <a:srgbClr val="252529"/>
                            </a:solidFill>
                            <a:latin typeface="Cambria Math"/>
                          </a:rPr>
                          <m:t xml:space="preserve">t</m:t>
                        </m:r>
                      </m:e>
                    </m:d>
                    <m:r>
                      <m:rPr>
                        <m:sty m:val="i"/>
                      </m:rPr>
                      <a:rPr sz="1800">
                        <a:solidFill>
                          <a:srgbClr val="252529"/>
                        </a:solidFill>
                        <a:latin typeface="Cambria Math"/>
                      </a:rPr>
                      <m:t xml:space="preserve">=</m:t>
                    </m:r>
                  </m:oMath>
                </m:oMathPara>
              </a14:m>
              <a:endParaRPr sz="1800"/>
            </a:p>
          </p:txBody>
        </p:sp>
        <p:sp>
          <p:nvSpPr>
            <p:cNvPr id="11006"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800">
                        <a:solidFill>
                          <a:srgbClr val="252529"/>
                        </a:solidFill>
                        <a:latin typeface="Cambria Math"/>
                      </a:rPr>
                      <m:t xml:space="preserve">−</m:t>
                    </m:r>
                    <m:sSub>
                      <m:sSubPr>
                        <m:ctrlPr>
                          <a:rPr sz="1800">
                            <a:solidFill>
                              <a:srgbClr val="252529"/>
                            </a:solidFill>
                            <a:latin typeface="Cambria Math"/>
                          </a:rPr>
                        </m:ctrlPr>
                      </m:sSubPr>
                      <m:e>
                        <m:r>
                          <m:rPr>
                            <m:sty m:val="i"/>
                          </m:rPr>
                          <a:rPr sz="1800">
                            <a:solidFill>
                              <a:srgbClr val="252529"/>
                            </a:solidFill>
                            <a:latin typeface="Cambria Math"/>
                          </a:rPr>
                          <m:t xml:space="preserve">x</m:t>
                        </m:r>
                      </m:e>
                      <m:sub>
                        <m:r>
                          <m:rPr>
                            <m:sty m:val="p"/>
                          </m:rPr>
                          <a:rPr sz="1800">
                            <a:solidFill>
                              <a:srgbClr val="252529"/>
                            </a:solidFill>
                            <a:latin typeface="Cambria Math"/>
                          </a:rPr>
                          <m:t xml:space="preserve">G</m:t>
                        </m:r>
                      </m:sub>
                    </m:sSub>
                    <m:d>
                      <m:dPr>
                        <m:begChr m:val="("/>
                        <m:endChr m:val=")"/>
                        <m:ctrlPr>
                          <a:rPr sz="1800">
                            <a:solidFill>
                              <a:srgbClr val="252529"/>
                            </a:solidFill>
                            <a:latin typeface="Cambria Math"/>
                          </a:rPr>
                        </m:ctrlPr>
                      </m:dPr>
                      <m:e>
                        <m:r>
                          <m:rPr>
                            <m:sty m:val="i"/>
                          </m:rPr>
                          <a:rPr sz="1800">
                            <a:solidFill>
                              <a:srgbClr val="252529"/>
                            </a:solidFill>
                            <a:latin typeface="Cambria Math"/>
                          </a:rPr>
                          <m:t xml:space="preserve">t</m:t>
                        </m:r>
                      </m:e>
                    </m:d>
                  </m:oMath>
                </m:oMathPara>
              </a14:m>
              <a:endParaRPr sz="1800"/>
            </a:p>
          </p:txBody>
        </p:sp>
      </p:grpSp>
      <p:sp>
        <p:nvSpPr>
          <p:cNvPr id="11010"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800">
                          <a:solidFill>
                            <a:srgbClr val="D61016"/>
                          </a:solidFill>
                          <a:latin typeface="Cambria Math"/>
                        </a:rPr>
                      </m:ctrlPr>
                    </m:sSubPr>
                    <m:e>
                      <m:r>
                        <m:rPr>
                          <m:sty m:val="i"/>
                        </m:rPr>
                        <a:rPr sz="1800">
                          <a:solidFill>
                            <a:srgbClr val="D61016"/>
                          </a:solidFill>
                          <a:latin typeface="Cambria Math"/>
                        </a:rPr>
                        <m:t xml:space="preserve">δ</m:t>
                      </m:r>
                    </m:e>
                    <m:sub>
                      <m:r>
                        <m:rPr>
                          <m:sty m:val="p"/>
                        </m:rPr>
                        <a:rPr sz="1800">
                          <a:solidFill>
                            <a:srgbClr val="D61016"/>
                          </a:solidFill>
                          <a:latin typeface="Cambria Math"/>
                        </a:rPr>
                        <m:t xml:space="preserve">S</m:t>
                      </m:r>
                    </m:sub>
                  </m:sSub>
                  <m:d>
                    <m:dPr>
                      <m:begChr m:val="("/>
                      <m:endChr m:val=")"/>
                      <m:ctrlPr>
                        <a:rPr sz="1800">
                          <a:solidFill>
                            <a:srgbClr val="D61016"/>
                          </a:solidFill>
                          <a:latin typeface="Cambria Math"/>
                        </a:rPr>
                      </m:ctrlPr>
                    </m:dPr>
                    <m:e>
                      <m:sSub>
                        <m:sSubPr>
                          <m:ctrlPr>
                            <a:rPr sz="1800">
                              <a:solidFill>
                                <a:srgbClr val="D61016"/>
                              </a:solidFill>
                              <a:latin typeface="Cambria Math"/>
                            </a:rPr>
                          </m:ctrlPr>
                        </m:sSubPr>
                        <m:e>
                          <m:r>
                            <m:rPr>
                              <m:sty m:val="i"/>
                            </m:rPr>
                            <a:rPr sz="1800">
                              <a:solidFill>
                                <a:srgbClr val="D61016"/>
                              </a:solidFill>
                              <a:latin typeface="Cambria Math"/>
                            </a:rPr>
                            <m:t xml:space="preserve">z</m:t>
                          </m:r>
                        </m:e>
                        <m:sub>
                          <m:r>
                            <m:rPr>
                              <m:sty m:val="p"/>
                            </m:rPr>
                            <a:rPr sz="1800">
                              <a:solidFill>
                                <a:srgbClr val="D61016"/>
                              </a:solidFill>
                              <a:latin typeface="Cambria Math"/>
                            </a:rPr>
                            <m:t xml:space="preserve">S</m:t>
                          </m:r>
                        </m:sub>
                      </m:sSub>
                      <m:d>
                        <m:dPr>
                          <m:begChr m:val="("/>
                          <m:endChr m:val=")"/>
                          <m:ctrlPr>
                            <a:rPr sz="1800">
                              <a:solidFill>
                                <a:srgbClr val="D61016"/>
                              </a:solidFill>
                              <a:latin typeface="Cambria Math"/>
                            </a:rPr>
                          </m:ctrlPr>
                        </m:dPr>
                        <m:e>
                          <m:r>
                            <m:rPr>
                              <m:sty m:val="i"/>
                            </m:rPr>
                            <a:rPr sz="1800">
                              <a:solidFill>
                                <a:srgbClr val="D61016"/>
                              </a:solidFill>
                              <a:latin typeface="Cambria Math"/>
                            </a:rPr>
                            <m:t xml:space="preserve">t</m:t>
                          </m:r>
                        </m:e>
                      </m:d>
                    </m:e>
                  </m:d>
                </m:oMath>
              </m:oMathPara>
            </a14:m>
            <a:endParaRPr sz="1800"/>
          </a:p>
        </p:txBody>
      </p:sp>
      <p:sp>
        <p:nvSpPr>
          <p:cNvPr id="11012"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800">
                          <a:solidFill>
                            <a:srgbClr val="D61016"/>
                          </a:solidFill>
                          <a:latin typeface="Cambria Math"/>
                        </a:rPr>
                      </m:ctrlPr>
                    </m:sSubPr>
                    <m:e>
                      <m:r>
                        <m:rPr>
                          <m:sty m:val="i"/>
                        </m:rPr>
                        <a:rPr sz="1800">
                          <a:solidFill>
                            <a:srgbClr val="D61016"/>
                          </a:solidFill>
                          <a:latin typeface="Cambria Math"/>
                        </a:rPr>
                        <m:t xml:space="preserve">δ</m:t>
                      </m:r>
                    </m:e>
                    <m:sub>
                      <m:r>
                        <m:rPr>
                          <m:sty m:val="p"/>
                        </m:rPr>
                        <a:rPr sz="1800">
                          <a:solidFill>
                            <a:srgbClr val="D61016"/>
                          </a:solidFill>
                          <a:latin typeface="Cambria Math"/>
                        </a:rPr>
                        <m:t xml:space="preserve">G</m:t>
                      </m:r>
                    </m:sub>
                  </m:sSub>
                  <m:d>
                    <m:dPr>
                      <m:begChr m:val="("/>
                      <m:endChr m:val=")"/>
                      <m:ctrlPr>
                        <a:rPr sz="1800">
                          <a:solidFill>
                            <a:srgbClr val="D61016"/>
                          </a:solidFill>
                          <a:latin typeface="Cambria Math"/>
                        </a:rPr>
                      </m:ctrlPr>
                    </m:dPr>
                    <m:e>
                      <m:sSub>
                        <m:sSubPr>
                          <m:ctrlPr>
                            <a:rPr sz="1800">
                              <a:solidFill>
                                <a:srgbClr val="D61016"/>
                              </a:solidFill>
                              <a:latin typeface="Cambria Math"/>
                            </a:rPr>
                          </m:ctrlPr>
                        </m:sSubPr>
                        <m:e>
                          <m:r>
                            <m:rPr>
                              <m:sty m:val="i"/>
                            </m:rPr>
                            <a:rPr sz="1800">
                              <a:solidFill>
                                <a:srgbClr val="D61016"/>
                              </a:solidFill>
                              <a:latin typeface="Cambria Math"/>
                            </a:rPr>
                            <m:t xml:space="preserve">z</m:t>
                          </m:r>
                        </m:e>
                        <m:sub>
                          <m:r>
                            <m:rPr>
                              <m:sty m:val="p"/>
                            </m:rPr>
                            <a:rPr sz="1800">
                              <a:solidFill>
                                <a:srgbClr val="D61016"/>
                              </a:solidFill>
                              <a:latin typeface="Cambria Math"/>
                            </a:rPr>
                            <m:t xml:space="preserve">G</m:t>
                          </m:r>
                        </m:sub>
                      </m:sSub>
                      <m:d>
                        <m:dPr>
                          <m:begChr m:val="("/>
                          <m:endChr m:val=")"/>
                          <m:ctrlPr>
                            <a:rPr sz="1800">
                              <a:solidFill>
                                <a:srgbClr val="D61016"/>
                              </a:solidFill>
                              <a:latin typeface="Cambria Math"/>
                            </a:rPr>
                          </m:ctrlPr>
                        </m:dPr>
                        <m:e>
                          <m:r>
                            <m:rPr>
                              <m:sty m:val="i"/>
                            </m:rPr>
                            <a:rPr sz="1800">
                              <a:solidFill>
                                <a:srgbClr val="D61016"/>
                              </a:solidFill>
                              <a:latin typeface="Cambria Math"/>
                            </a:rPr>
                            <m:t xml:space="preserve">t</m:t>
                          </m:r>
                        </m:e>
                      </m:d>
                    </m:e>
                  </m:d>
                </m:oMath>
              </m:oMathPara>
            </a14:m>
            <a:endParaRPr sz="180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25</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spTree>
    <p:extLst>
      <p:ext uri="{BB962C8B-B14F-4D97-AF65-F5344CB8AC3E}">
        <p14:creationId xmlns:p14="http://schemas.microsoft.com/office/powerpoint/2010/main" val="25523275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15</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Supply function</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3000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3" name="Vertical axis Supply function">
                <a:extLst>
                  <a:ext uri="{FF2B5EF4-FFF2-40B4-BE49-F238E27FC236}">
                    <a16:creationId xmlns:a16="http://schemas.microsoft.com/office/drawing/2014/main" id="{ADD78D67-64F8-3727-6C55-0D8B00DA0662}"/>
                  </a:ext>
                </a:extLst>
              </p:cNvPr>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3" name="Vertical axis Supply function">
                <a:extLst>
                  <a:ext uri="{FF2B5EF4-FFF2-40B4-BE49-F238E27FC236}">
                    <a16:creationId xmlns:a16="http://schemas.microsoft.com/office/drawing/2014/main" id="{ADD78D67-64F8-3727-6C55-0D8B00DA0662}"/>
                  </a:ext>
                </a:extLst>
              </p:cNvPr>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ar-AE" sz="1200" i="1">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30</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31</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32</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33</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Absorbing the controller into the filter</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𝐺</m:t>
                      </m:r>
                      <m:r>
                        <a:rPr lang="en-US" sz="1550">
                          <a:solidFill>
                            <a:srgbClr val="252529"/>
                          </a:solidFill>
                          <a:latin typeface="Cambria Math"/>
                        </a:rPr>
                        <m:t>: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r>
                        <a:rPr lang="en-US" sz="1550">
                          <a:solidFill>
                            <a:srgbClr val="252529"/>
                          </a:solidFill>
                          <a:latin typeface="Cambria Math"/>
                        </a:rPr>
                        <m:t>𝐴𝑥</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𝑢</m:t>
                      </m:r>
                      <m:r>
                        <a:rPr lang="en-US" sz="1550">
                          <a:solidFill>
                            <a:srgbClr val="252529"/>
                          </a:solidFill>
                          <a:latin typeface="Cambria Math"/>
                        </a:rPr>
                        <m:t>,  </m:t>
                      </m:r>
                      <m:r>
                        <a:rPr lang="en-US" sz="1550">
                          <a:solidFill>
                            <a:srgbClr val="252529"/>
                          </a:solidFill>
                          <a:latin typeface="Cambria Math"/>
                        </a:rPr>
                        <m:t>𝑦</m:t>
                      </m:r>
                      <m:r>
                        <a:rPr lang="en-US" sz="1550">
                          <a:solidFill>
                            <a:srgbClr val="252529"/>
                          </a:solidFill>
                          <a:latin typeface="Cambria Math"/>
                        </a:rPr>
                        <m:t>=</m:t>
                      </m:r>
                      <m:r>
                        <a:rPr lang="en-US" sz="1550">
                          <a:solidFill>
                            <a:srgbClr val="252529"/>
                          </a:solidFill>
                          <a:latin typeface="Cambria Math"/>
                        </a:rPr>
                        <m:t>𝑥</m:t>
                      </m:r>
                    </m:oMath>
                  </m:oMathPara>
                </a14:m>
                <a:endParaRPr sz="1550">
                  <a:latin typeface="Cambria Math"/>
                </a:endParaRPr>
              </a:p>
            </p:txBody>
          </p:sp>
        </mc:Choice>
        <mc:Fallback xmlns="" xmlns:m="http://schemas.openxmlformats.org/officeDocument/2006/math">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𝑢</m:t>
                      </m:r>
                      <m:r>
                        <a:rPr lang="en-US" sz="1550">
                          <a:solidFill>
                            <a:srgbClr val="252529"/>
                          </a:solidFill>
                          <a:latin typeface="Cambria Math"/>
                        </a:rPr>
                        <m:t>=</m:t>
                      </m:r>
                      <m:r>
                        <a:rPr lang="en-US" sz="1550">
                          <a:solidFill>
                            <a:srgbClr val="252529"/>
                          </a:solidFill>
                          <a:latin typeface="Cambria Math"/>
                        </a:rPr>
                        <m:t>𝐾𝑦</m:t>
                      </m:r>
                      <m:r>
                        <a:rPr lang="en-US" sz="1550">
                          <a:solidFill>
                            <a:srgbClr val="252529"/>
                          </a:solidFill>
                          <a:latin typeface="Cambria Math"/>
                        </a:rPr>
                        <m:t>  ⇒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d>
                        <m:dPr>
                          <m:ctrlPr>
                            <a:rPr lang="en-US" sz="1550">
                              <a:solidFill>
                                <a:srgbClr val="252529"/>
                              </a:solidFill>
                              <a:latin typeface="Cambria Math"/>
                            </a:rPr>
                          </m:ctrlPr>
                        </m:dPr>
                        <m:e>
                          <m:r>
                            <a:rPr lang="en-US" sz="1550">
                              <a:solidFill>
                                <a:srgbClr val="252529"/>
                              </a:solidFill>
                              <a:latin typeface="Cambria Math"/>
                            </a:rPr>
                            <m:t>𝐴</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𝐾</m:t>
                          </m:r>
                        </m:e>
                      </m:d>
                      <m:r>
                        <a:rPr lang="en-US" sz="1550">
                          <a:solidFill>
                            <a:srgbClr val="252529"/>
                          </a:solidFill>
                          <a:latin typeface="Cambria Math"/>
                        </a:rPr>
                        <m:t>𝑥</m:t>
                      </m:r>
                    </m:oMath>
                  </m:oMathPara>
                </a14:m>
                <a:endParaRPr sz="1550">
                  <a:latin typeface="Cambria Math"/>
                </a:endParaRPr>
              </a:p>
            </p:txBody>
          </p:sp>
        </mc:Choice>
        <mc:Fallback xmlns="" xmlns:m="http://schemas.openxmlformats.org/officeDocument/2006/math">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752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m:rPr>
                          <m:sty m:val="p"/>
                        </m:rPr>
                        <a:rPr lang="en-US" sz="1550">
                          <a:solidFill>
                            <a:srgbClr val="252529"/>
                          </a:solidFill>
                          <a:latin typeface="Cambria Math"/>
                        </a:rPr>
                        <m:t>Θ</m:t>
                      </m:r>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a:solidFill>
                                                  <a:srgbClr val="252529"/>
                                                </a:solidFill>
                                                <a:latin typeface="Cambria Math"/>
                                              </a:rPr>
                                            </m:ctrlPr>
                                          </m:accPr>
                                          <m:e>
                                            <m:r>
                                              <a:rPr lang="en-US" sz="1550">
                                                <a:solidFill>
                                                  <a:srgbClr val="252529"/>
                                                </a:solidFill>
                                                <a:latin typeface="Cambria Math"/>
                                              </a:rPr>
                                              <m:t>𝑦</m:t>
                                            </m:r>
                                          </m:e>
                                        </m:acc>
                                      </m:e>
                                    </m:mr>
                                    <m:mr>
                                      <m:e>
                                        <m:acc>
                                          <m:accPr>
                                            <m:chr m:val="̃"/>
                                            <m:ctrlPr>
                                              <a:rPr lang="en-US" sz="1550">
                                                <a:solidFill>
                                                  <a:srgbClr val="252529"/>
                                                </a:solidFill>
                                                <a:latin typeface="Cambria Math"/>
                                              </a:rPr>
                                            </m:ctrlPr>
                                          </m:accPr>
                                          <m:e>
                                            <m:r>
                                              <a:rPr lang="en-US" sz="1550">
                                                <a:solidFill>
                                                  <a:srgbClr val="252529"/>
                                                </a:solidFill>
                                                <a:latin typeface="Cambria Math"/>
                                              </a:rPr>
                                              <m:t>𝑢</m:t>
                                            </m: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r>
                                          <a:rPr lang="en-US" sz="1550">
                                            <a:solidFill>
                                              <a:srgbClr val="252529"/>
                                            </a:solidFill>
                                            <a:latin typeface="Cambria Math"/>
                                          </a:rPr>
                                          <m:t>𝐾</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𝑦</m:t>
                                        </m:r>
                                      </m:e>
                                    </m:mr>
                                    <m:mr>
                                      <m:e>
                                        <m:r>
                                          <a:rPr lang="en-US" sz="1550">
                                            <a:solidFill>
                                              <a:srgbClr val="252529"/>
                                            </a:solidFill>
                                            <a:latin typeface="Cambria Math"/>
                                          </a:rPr>
                                          <m:t>𝑢</m:t>
                                        </m:r>
                                      </m:e>
                                    </m:mr>
                                  </m:m>
                                </m:e>
                              </m:d>
                            </m:e>
                          </m:eqArr>
                        </m:e>
                      </m:d>
                    </m:oMath>
                  </m:oMathPara>
                </a14:m>
                <a:endParaRPr sz="1550">
                  <a:latin typeface="Cambria Math"/>
                </a:endParaRPr>
              </a:p>
            </p:txBody>
          </p:sp>
        </mc:Choice>
        <mc:Fallback xmlns="" xmlns:m="http://schemas.openxmlformats.org/officeDocument/2006/math">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50">
                              <a:solidFill>
                                <a:srgbClr val="252529"/>
                              </a:solidFill>
                              <a:latin typeface="Cambria Math"/>
                            </a:rPr>
                          </m:ctrlPr>
                        </m:accPr>
                        <m:e>
                          <m:r>
                            <a:rPr lang="en-US" sz="1650">
                              <a:solidFill>
                                <a:srgbClr val="252529"/>
                              </a:solidFill>
                              <a:latin typeface="Cambria Math"/>
                            </a:rPr>
                            <m:t>𝑢</m:t>
                          </m:r>
                        </m:e>
                      </m:acc>
                      <m:r>
                        <a:rPr lang="en-US" sz="1650">
                          <a:solidFill>
                            <a:srgbClr val="252529"/>
                          </a:solidFill>
                          <a:latin typeface="Cambria Math"/>
                        </a:rPr>
                        <m:t>=</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  ⇔  </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m:t>
                      </m:r>
                      <m:acc>
                        <m:accPr>
                          <m:chr m:val="̃"/>
                          <m:ctrlPr>
                            <a:rPr lang="en-US" sz="1650">
                              <a:solidFill>
                                <a:srgbClr val="252529"/>
                              </a:solidFill>
                              <a:latin typeface="Cambria Math"/>
                            </a:rPr>
                          </m:ctrlPr>
                        </m:accPr>
                        <m:e>
                          <m:r>
                            <a:rPr lang="en-US" sz="1650">
                              <a:solidFill>
                                <a:srgbClr val="252529"/>
                              </a:solidFill>
                              <a:latin typeface="Cambria Math"/>
                            </a:rPr>
                            <m:t>𝑢</m:t>
                          </m:r>
                        </m:e>
                      </m:acc>
                    </m:oMath>
                  </m:oMathPara>
                </a14:m>
                <a:endParaRPr sz="1650">
                  <a:latin typeface="Cambria Math"/>
                </a:endParaRPr>
              </a:p>
            </p:txBody>
          </p:sp>
        </mc:Choice>
        <mc:Fallback xmlns="" xmlns:m="http://schemas.openxmlformats.org/officeDocument/2006/math">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r>
                                <a:rPr lang="en-US" sz="1600">
                                  <a:solidFill>
                                    <a:srgbClr val="252529"/>
                                  </a:solidFill>
                                  <a:latin typeface="Cambria Math"/>
                                </a:rPr>
                                <m:t>𝑇</m:t>
                              </m:r>
                              <m:acc>
                                <m:accPr>
                                  <m:chr m:val="̇"/>
                                  <m:ctrlPr>
                                    <a:rPr lang="en-US" sz="1600">
                                      <a:solidFill>
                                        <a:srgbClr val="252529"/>
                                      </a:solidFill>
                                      <a:latin typeface="Cambria Math"/>
                                    </a:rPr>
                                  </m:ctrlPr>
                                </m:accPr>
                                <m:e>
                                  <m:r>
                                    <a:rPr lang="en-US" sz="1600">
                                      <a:solidFill>
                                        <a:srgbClr val="252529"/>
                                      </a:solidFill>
                                      <a:latin typeface="Cambria Math"/>
                                    </a:rPr>
                                    <m:t>𝑥</m:t>
                                  </m:r>
                                </m:e>
                              </m:acc>
                              <m:r>
                                <a:rPr lang="en-US" sz="1600">
                                  <a:solidFill>
                                    <a:srgbClr val="252529"/>
                                  </a:solidFill>
                                  <a:latin typeface="Cambria Math"/>
                                </a:rPr>
                                <m:t>=</m:t>
                              </m:r>
                              <m:d>
                                <m:dPr>
                                  <m:ctrlPr>
                                    <a:rPr lang="en-US" sz="1600">
                                      <a:solidFill>
                                        <a:srgbClr val="252529"/>
                                      </a:solidFill>
                                      <a:latin typeface="Cambria Math"/>
                                    </a:rPr>
                                  </m:ctrlPr>
                                </m:dPr>
                                <m:e>
                                  <m:r>
                                    <a:rPr lang="en-US" sz="1600">
                                      <a:solidFill>
                                        <a:srgbClr val="252529"/>
                                      </a:solidFill>
                                      <a:latin typeface="Cambria Math"/>
                                    </a:rPr>
                                    <m:t>𝐴</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r>
                                    <a:rPr lang="en-US" sz="1600">
                                      <a:solidFill>
                                        <a:srgbClr val="252529"/>
                                      </a:solidFill>
                                      <a:latin typeface="Cambria Math"/>
                                    </a:rPr>
                                    <m:t>𝐾</m:t>
                                  </m:r>
                                </m:e>
                              </m:d>
                              <m:r>
                                <a:rPr lang="en-US" sz="1600">
                                  <a:solidFill>
                                    <a:srgbClr val="252529"/>
                                  </a:solidFill>
                                  <a:latin typeface="Cambria Math"/>
                                </a:rPr>
                                <m:t>𝑥</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acc>
                                <m:accPr>
                                  <m:chr m:val="̃"/>
                                  <m:ctrlPr>
                                    <a:rPr lang="en-US" sz="1600">
                                      <a:solidFill>
                                        <a:srgbClr val="252529"/>
                                      </a:solidFill>
                                      <a:latin typeface="Cambria Math"/>
                                    </a:rPr>
                                  </m:ctrlPr>
                                </m:accPr>
                                <m:e>
                                  <m:r>
                                    <a:rPr lang="en-US" sz="1600">
                                      <a:solidFill>
                                        <a:srgbClr val="252529"/>
                                      </a:solidFill>
                                      <a:latin typeface="Cambria Math"/>
                                    </a:rPr>
                                    <m:t>𝑢</m:t>
                                  </m:r>
                                </m:e>
                              </m:acc>
                            </m:e>
                            <m:e>
                              <m:acc>
                                <m:accPr>
                                  <m:chr m:val="̃"/>
                                  <m:ctrlPr>
                                    <a:rPr lang="en-US" sz="1600">
                                      <a:solidFill>
                                        <a:srgbClr val="252529"/>
                                      </a:solidFill>
                                      <a:latin typeface="Cambria Math"/>
                                    </a:rPr>
                                  </m:ctrlPr>
                                </m:accPr>
                                <m:e>
                                  <m:r>
                                    <a:rPr lang="en-US" sz="1600">
                                      <a:solidFill>
                                        <a:srgbClr val="252529"/>
                                      </a:solidFill>
                                      <a:latin typeface="Cambria Math"/>
                                    </a:rPr>
                                    <m:t>𝑦</m:t>
                                  </m:r>
                                </m:e>
                              </m:acc>
                              <m:r>
                                <a:rPr lang="en-US" sz="1600">
                                  <a:solidFill>
                                    <a:srgbClr val="252529"/>
                                  </a:solidFill>
                                  <a:latin typeface="Cambria Math"/>
                                </a:rPr>
                                <m:t>=</m:t>
                              </m:r>
                              <m:r>
                                <a:rPr lang="en-US" sz="1600">
                                  <a:solidFill>
                                    <a:srgbClr val="252529"/>
                                  </a:solidFill>
                                  <a:latin typeface="Cambria Math"/>
                                </a:rPr>
                                <m:t>𝑦</m:t>
                              </m:r>
                              <m:r>
                                <a:rPr lang="en-US" sz="1600">
                                  <a:solidFill>
                                    <a:srgbClr val="252529"/>
                                  </a:solidFill>
                                  <a:latin typeface="Cambria Math"/>
                                </a:rPr>
                                <m:t>=</m:t>
                              </m:r>
                              <m:r>
                                <a:rPr lang="en-US" sz="1600">
                                  <a:solidFill>
                                    <a:srgbClr val="252529"/>
                                  </a:solidFill>
                                  <a:latin typeface="Cambria Math"/>
                                </a:rPr>
                                <m:t>𝑥</m:t>
                              </m:r>
                            </m:e>
                          </m:eqArr>
                        </m:e>
                      </m:d>
                    </m:oMath>
                  </m:oMathPara>
                </a14:m>
                <a:endParaRPr sz="1600">
                  <a:latin typeface="Cambria Math"/>
                </a:endParaRPr>
              </a:p>
            </p:txBody>
          </p:sp>
        </mc:Choice>
        <mc:Fallback xmlns="" xmlns:m="http://schemas.openxmlformats.org/officeDocument/2006/math">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8227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a:solidFill>
                                <a:srgbClr val="252529"/>
                              </a:solidFill>
                              <a:latin typeface="Cambria Math"/>
                            </a:rPr>
                          </m:ctrlPr>
                        </m:accPr>
                        <m:e>
                          <m:r>
                            <a:rPr lang="en-US" sz="1800">
                              <a:solidFill>
                                <a:srgbClr val="252529"/>
                              </a:solidFill>
                              <a:latin typeface="Cambria Math"/>
                            </a:rPr>
                            <m:t>𝑢</m:t>
                          </m:r>
                        </m:e>
                      </m:acc>
                      <m:r>
                        <a:rPr lang="en-US" sz="1800">
                          <a:solidFill>
                            <a:srgbClr val="252529"/>
                          </a:solidFill>
                          <a:latin typeface="Cambria Math"/>
                        </a:rPr>
                        <m:t>=0  ⇔  </m:t>
                      </m:r>
                      <m:r>
                        <a:rPr lang="en-US" sz="1800">
                          <a:solidFill>
                            <a:srgbClr val="252529"/>
                          </a:solidFill>
                          <a:latin typeface="Cambria Math"/>
                        </a:rPr>
                        <m:t>𝑢</m:t>
                      </m:r>
                      <m:r>
                        <a:rPr lang="en-US" sz="1800">
                          <a:solidFill>
                            <a:srgbClr val="252529"/>
                          </a:solidFill>
                          <a:latin typeface="Cambria Math"/>
                        </a:rPr>
                        <m:t>=</m:t>
                      </m:r>
                      <m:r>
                        <a:rPr lang="en-US" sz="1800">
                          <a:solidFill>
                            <a:srgbClr val="252529"/>
                          </a:solidFill>
                          <a:latin typeface="Cambria Math"/>
                        </a:rPr>
                        <m:t>𝐾𝑦</m:t>
                      </m:r>
                    </m:oMath>
                  </m:oMathPara>
                </a14:m>
                <a:endParaRPr sz="1800">
                  <a:latin typeface="Cambria Math"/>
                </a:endParaRPr>
              </a:p>
            </p:txBody>
          </p:sp>
        </mc:Choice>
        <mc:Fallback xmlns="" xmlns:m="http://schemas.openxmlformats.org/officeDocument/2006/math">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dirty="0">
                <a:solidFill>
                  <a:srgbClr val="C81919"/>
                </a:solidFill>
                <a:latin typeface="Aptos"/>
              </a:rPr>
              <a:t>Yes: filtered input recovers the original closed loop.</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m="http://schemas.openxmlformats.org/officeDocument/2006/math" xmlns="">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r>
                        <a:rPr lang="en-US" sz="1800">
                          <a:solidFill>
                            <a:srgbClr val="252529"/>
                          </a:solidFill>
                          <a:latin typeface="Cambria Math"/>
                        </a:rPr>
                        <m:t>=0  ⇔  </m:t>
                      </m:r>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oMath>
                  </m:oMathPara>
                </a14:m>
                <a:endParaRPr sz="1800">
                  <a:latin typeface="Cambria Math"/>
                </a:endParaRPr>
              </a:p>
            </p:txBody>
          </p:sp>
        </mc:Choice>
        <mc:Fallback xmlns="" xmlns:m="http://schemas.openxmlformats.org/officeDocument/2006/math">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a:rPr lang="en-US" sz="1550">
                              <a:solidFill>
                                <a:srgbClr val="252529"/>
                              </a:solidFill>
                              <a:latin typeface="Cambria Math"/>
                            </a:rPr>
                            <m:t>𝐺</m:t>
                          </m:r>
                        </m:e>
                        <m:sup>
                          <m:r>
                            <a:rPr lang="en-US" sz="1550">
                              <a:solidFill>
                                <a:srgbClr val="252529"/>
                              </a:solidFill>
                              <a:latin typeface="Cambria Math"/>
                            </a:rPr>
                            <m:t>⊤</m:t>
                          </m:r>
                        </m:sup>
                      </m:sSup>
                      <m:r>
                        <a:rPr lang="en-US" sz="1550">
                          <a:solidFill>
                            <a:srgbClr val="252529"/>
                          </a:solidFill>
                          <a:latin typeface="Cambria Math"/>
                        </a:rPr>
                        <m:t>: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bar>
                                <m:barPr>
                                  <m:pos m:val="bot"/>
                                  <m:ctrlPr>
                                    <a:rPr lang="en-US" sz="1550">
                                      <a:solidFill>
                                        <a:srgbClr val="252529"/>
                                      </a:solidFill>
                                      <a:latin typeface="Cambria Math"/>
                                    </a:rPr>
                                  </m:ctrlPr>
                                </m:barPr>
                                <m:e>
                                  <m:r>
                                    <a:rPr lang="en-US" sz="1550">
                                      <a:solidFill>
                                        <a:srgbClr val="252529"/>
                                      </a:solidFill>
                                      <a:latin typeface="Cambria Math"/>
                                    </a:rPr>
                                    <m:t>𝑢</m:t>
                                  </m:r>
                                </m:e>
                              </m:bar>
                            </m:e>
                            <m:e>
                              <m:bar>
                                <m:barPr>
                                  <m:pos m:val="bot"/>
                                  <m:ctrlPr>
                                    <a:rPr lang="en-US" sz="1550">
                                      <a:solidFill>
                                        <a:srgbClr val="252529"/>
                                      </a:solidFill>
                                      <a:latin typeface="Cambria Math"/>
                                    </a:rPr>
                                  </m:ctrlPr>
                                </m:barPr>
                                <m:e>
                                  <m:r>
                                    <a:rPr lang="en-US" sz="1550">
                                      <a:solidFill>
                                        <a:srgbClr val="252529"/>
                                      </a:solidFill>
                                      <a:latin typeface="Cambria Math"/>
                                    </a:rPr>
                                    <m:t>𝑦</m:t>
                                  </m:r>
                                </m:e>
                              </m:bar>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 xmlns:m="http://schemas.openxmlformats.org/officeDocument/2006/math">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Θ</m:t>
                          </m:r>
                        </m:e>
                        <m:sup>
                          <m:r>
                            <a:rPr lang="en-US" sz="1550">
                              <a:solidFill>
                                <a:srgbClr val="252529"/>
                              </a:solidFill>
                              <a:latin typeface="Cambria Math"/>
                            </a:rPr>
                            <m:t>⊤</m:t>
                          </m:r>
                        </m:sup>
                      </m:sSup>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mr>
                                    <m:mr>
                                      <m:e>
                                        <m:r>
                                          <a:rPr lang="en-US" sz="1550">
                                            <a:solidFill>
                                              <a:srgbClr val="252529"/>
                                            </a:solidFill>
                                            <a:latin typeface="Cambria Math"/>
                                          </a:rPr>
                                          <m:t>0</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 xmlns:m="http://schemas.openxmlformats.org/officeDocument/2006/math">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657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900" i="1">
                              <a:solidFill>
                                <a:srgbClr val="252529"/>
                              </a:solidFill>
                              <a:latin typeface="Cambria Math" panose="02040503050406030204" pitchFamily="18" charset="0"/>
                            </a:rPr>
                          </m:ctrlPr>
                        </m:accPr>
                        <m:e>
                          <m:bar>
                            <m:barPr>
                              <m:pos m:val="bot"/>
                              <m:ctrlPr>
                                <a:rPr lang="en-US" sz="1900">
                                  <a:solidFill>
                                    <a:srgbClr val="252529"/>
                                  </a:solidFill>
                                  <a:latin typeface="Cambria Math"/>
                                </a:rPr>
                              </m:ctrlPr>
                            </m:barPr>
                            <m:e>
                              <m:r>
                                <a:rPr lang="en-US" sz="1900">
                                  <a:solidFill>
                                    <a:srgbClr val="252529"/>
                                  </a:solidFill>
                                  <a:latin typeface="Cambria Math"/>
                                </a:rPr>
                                <m:t>𝑢</m:t>
                              </m:r>
                            </m:e>
                          </m:bar>
                        </m:e>
                      </m:acc>
                      <m:r>
                        <a:rPr lang="en-US" sz="1900">
                          <a:solidFill>
                            <a:srgbClr val="252529"/>
                          </a:solidFill>
                          <a:latin typeface="Cambria Math"/>
                        </a:rPr>
                        <m:t>=</m:t>
                      </m:r>
                      <m:bar>
                        <m:barPr>
                          <m:pos m:val="bot"/>
                          <m:ctrlPr>
                            <a:rPr lang="en-US" sz="1900">
                              <a:solidFill>
                                <a:srgbClr val="252529"/>
                              </a:solidFill>
                              <a:latin typeface="Cambria Math"/>
                            </a:rPr>
                          </m:ctrlPr>
                        </m:barPr>
                        <m:e>
                          <m:r>
                            <a:rPr lang="en-US" sz="1900">
                              <a:solidFill>
                                <a:srgbClr val="252529"/>
                              </a:solidFill>
                              <a:latin typeface="Cambria Math"/>
                            </a:rPr>
                            <m:t>𝑢</m:t>
                          </m:r>
                        </m:e>
                      </m:bar>
                      <m:r>
                        <a:rPr lang="en-US" sz="1900">
                          <a:solidFill>
                            <a:srgbClr val="252529"/>
                          </a:solidFill>
                          <a:latin typeface="Cambria Math"/>
                        </a:rPr>
                        <m:t>=</m:t>
                      </m:r>
                      <m:sSup>
                        <m:sSupPr>
                          <m:ctrlPr>
                            <a:rPr lang="en-US" sz="1900">
                              <a:solidFill>
                                <a:srgbClr val="252529"/>
                              </a:solidFill>
                              <a:latin typeface="Cambria Math"/>
                            </a:rPr>
                          </m:ctrlPr>
                        </m:sSupPr>
                        <m:e>
                          <m:r>
                            <a:rPr lang="en-US" sz="1900">
                              <a:solidFill>
                                <a:srgbClr val="252529"/>
                              </a:solidFill>
                              <a:latin typeface="Cambria Math"/>
                            </a:rPr>
                            <m:t>𝐾</m:t>
                          </m:r>
                        </m:e>
                        <m:sup>
                          <m:r>
                            <a:rPr lang="en-US" sz="1900">
                              <a:solidFill>
                                <a:srgbClr val="252529"/>
                              </a:solidFill>
                              <a:latin typeface="Cambria Math"/>
                            </a:rPr>
                            <m:t>∗</m:t>
                          </m:r>
                        </m:sup>
                      </m:sSup>
                      <m:bar>
                        <m:barPr>
                          <m:pos m:val="bot"/>
                          <m:ctrlPr>
                            <a:rPr lang="en-US" sz="1900">
                              <a:solidFill>
                                <a:srgbClr val="252529"/>
                              </a:solidFill>
                              <a:latin typeface="Cambria Math"/>
                            </a:rPr>
                          </m:ctrlPr>
                        </m:barPr>
                        <m:e>
                          <m:r>
                            <a:rPr lang="en-US" sz="1900">
                              <a:solidFill>
                                <a:srgbClr val="252529"/>
                              </a:solidFill>
                              <a:latin typeface="Cambria Math"/>
                            </a:rPr>
                            <m:t>𝑦</m:t>
                          </m:r>
                        </m:e>
                      </m:bar>
                      <m:r>
                        <a:rPr lang="en-US" sz="1900">
                          <a:solidFill>
                            <a:srgbClr val="C81919"/>
                          </a:solidFill>
                          <a:latin typeface="Cambria Math"/>
                        </a:rPr>
                        <m:t>≠0</m:t>
                      </m:r>
                    </m:oMath>
                  </m:oMathPara>
                </a14:m>
                <a:endParaRPr sz="1900">
                  <a:latin typeface="Cambria Math"/>
                </a:endParaRPr>
              </a:p>
            </p:txBody>
          </p:sp>
        </mc:Choice>
        <mc:Fallback xmlns="" xmlns:m="http://schemas.openxmlformats.org/officeDocument/2006/math">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3 qualification"/>
          <p:cNvSpPr txBox="1"/>
          <p:nvPr/>
        </p:nvSpPr>
        <p:spPr>
          <a:xfrm>
            <a:off x="4953000" y="4305300"/>
            <a:ext cx="3733800" cy="177800"/>
          </a:xfrm>
          <a:prstGeom prst="rect">
            <a:avLst/>
          </a:prstGeom>
          <a:noFill/>
          <a:ln>
            <a:noFill/>
          </a:ln>
        </p:spPr>
        <p:txBody>
          <a:bodyPr wrap="square" lIns="0" tIns="0" rIns="0" bIns="0" anchor="ctr">
            <a:noAutofit/>
          </a:bodyPr>
          <a:lstStyle/>
          <a:p>
            <a:pPr algn="l"/>
            <a:r>
              <a:rPr lang="en-US" sz="1050" b="0">
                <a:solidFill>
                  <a:srgbClr val="66717C"/>
                </a:solidFill>
                <a:latin typeface="Aptos"/>
              </a:rPr>
              <a:t>Generally nonzero under dual feedback.</a:t>
            </a:r>
          </a:p>
        </p:txBody>
      </p:sp>
      <p:sp>
        <p:nvSpPr>
          <p:cNvPr id="310" name="Stage3 conclusion"/>
          <p:cNvSpPr txBox="1"/>
          <p:nvPr/>
        </p:nvSpPr>
        <p:spPr>
          <a:xfrm>
            <a:off x="457200" y="45339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No: zero filtered input imposes the wrong constraint.</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37</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pic>
        <p:nvPicPr>
          <p:cNvPr id="28" name="Picture 27">
            <a:extLst>
              <a:ext uri="{FF2B5EF4-FFF2-40B4-BE49-F238E27FC236}">
                <a16:creationId xmlns:a16="http://schemas.microsoft.com/office/drawing/2014/main" id="{EA68EA87-82CF-D441-A709-D2C4643B9776}"/>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061850" y="2519422"/>
            <a:ext cx="3167750" cy="2093971"/>
          </a:xfrm>
          <a:prstGeom prst="rect">
            <a:avLst/>
          </a:prstGeom>
        </p:spPr>
      </p:pic>
    </p:spTree>
    <p:extLst>
      <p:ext uri="{BB962C8B-B14F-4D97-AF65-F5344CB8AC3E}">
        <p14:creationId xmlns:p14="http://schemas.microsoft.com/office/powerpoint/2010/main" val="26223884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39</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m="http://schemas.openxmlformats.org/officeDocument/2006/math"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operation</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40</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 xmlns:m="http://schemas.openxmlformats.org/officeDocument/2006/math">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66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p:sp>
        <p:nvSpPr>
          <p:cNvPr id="303" name="Stage1 expected description"/>
          <p:cNvSpPr txBox="1"/>
          <p:nvPr/>
        </p:nvSpPr>
        <p:spPr>
          <a:xfrm>
            <a:off x="4876800" y="1384300"/>
            <a:ext cx="3759200" cy="596900"/>
          </a:xfrm>
          <a:prstGeom prst="rect">
            <a:avLst/>
          </a:prstGeom>
          <a:noFill/>
          <a:ln>
            <a:noFill/>
          </a:ln>
        </p:spPr>
        <p:txBody>
          <a:bodyPr wrap="square" lIns="0" tIns="0" rIns="0" bIns="0" anchor="ctr">
            <a:noAutofit/>
          </a:bodyPr>
          <a:lstStyle/>
          <a:p>
            <a:pPr algn="l"/>
            <a:r>
              <a:rPr lang="en-US" sz="1400" b="0">
                <a:solidFill>
                  <a:srgbClr val="252529"/>
                </a:solidFill>
                <a:latin typeface="Aptos"/>
              </a:rPr>
              <a:t>Filtering the dual system must give</a:t>
            </a:r>
          </a:p>
          <a:p>
            <a:pPr algn="l"/>
            <a:r>
              <a:rPr lang="en-US" sz="1400" b="0">
                <a:solidFill>
                  <a:srgbClr val="252529"/>
                </a:solidFill>
                <a:latin typeface="Aptos"/>
              </a:rPr>
              <a:t>the dual of the transformed system.</a:t>
            </a:r>
          </a:p>
        </p:txBody>
      </p:sp>
      <p:sp>
        <p:nvSpPr>
          <p:cNvPr id="304" name="Stage2 operation heading"/>
          <p:cNvSpPr txBox="1"/>
          <p:nvPr/>
        </p:nvSpPr>
        <p:spPr>
          <a:xfrm>
            <a:off x="4876800" y="2159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100">
                          <a:solidFill>
                            <a:srgbClr val="252529"/>
                          </a:solidFill>
                          <a:latin typeface="Cambria Math"/>
                        </a:rPr>
                        <m:t>𝐃</m:t>
                      </m:r>
                      <m:d>
                        <m:dPr>
                          <m:ctrlPr>
                            <a:rPr lang="en-US" sz="2100">
                              <a:solidFill>
                                <a:srgbClr val="252529"/>
                              </a:solidFill>
                              <a:latin typeface="Cambria Math"/>
                            </a:rPr>
                          </m:ctrlPr>
                        </m:dPr>
                        <m:e>
                          <m:r>
                            <m:rPr>
                              <m:sty m:val="p"/>
                            </m:rPr>
                            <a:rPr lang="en-US" sz="2100">
                              <a:solidFill>
                                <a:srgbClr val="252529"/>
                              </a:solidFill>
                              <a:latin typeface="Cambria Math"/>
                            </a:rPr>
                            <m:t>Θ</m:t>
                          </m:r>
                        </m:e>
                      </m:d>
                      <m:r>
                        <a:rPr lang="en-US" sz="2100">
                          <a:solidFill>
                            <a:srgbClr val="252529"/>
                          </a:solidFill>
                          <a:latin typeface="Cambria Math"/>
                        </a:rPr>
                        <m:t>:=</m:t>
                      </m:r>
                      <m:sSup>
                        <m:sSupPr>
                          <m:ctrlPr>
                            <a:rPr lang="en-US" sz="2100" i="1">
                              <a:solidFill>
                                <a:srgbClr val="252529"/>
                              </a:solidFill>
                              <a:latin typeface="Cambria Math" panose="02040503050406030204" pitchFamily="18" charset="0"/>
                            </a:rPr>
                          </m:ctrlPr>
                        </m:sSupPr>
                        <m:e>
                          <m:d>
                            <m:dPr>
                              <m:ctrlPr>
                                <a:rPr lang="en-US" sz="2100" i="1">
                                  <a:solidFill>
                                    <a:srgbClr val="252529"/>
                                  </a:solidFill>
                                  <a:latin typeface="Cambria Math" panose="02040503050406030204" pitchFamily="18" charset="0"/>
                                </a:rPr>
                              </m:ctrlPr>
                            </m:dPr>
                            <m:e>
                              <m:sSup>
                                <m:sSupPr>
                                  <m:ctrlPr>
                                    <a:rPr lang="en-US" sz="2100" i="1">
                                      <a:solidFill>
                                        <a:srgbClr val="252529"/>
                                      </a:solidFill>
                                      <a:latin typeface="Cambria Math" panose="02040503050406030204" pitchFamily="18" charset="0"/>
                                    </a:rPr>
                                  </m:ctrlPr>
                                </m:sSupPr>
                                <m:e>
                                  <m:acc>
                                    <m:accPr>
                                      <m:chr m:val="̂"/>
                                      <m:ctrlPr>
                                        <a:rPr lang="en-US" sz="2100">
                                          <a:solidFill>
                                            <a:srgbClr val="252529"/>
                                          </a:solidFill>
                                          <a:latin typeface="Cambria Math"/>
                                        </a:rPr>
                                      </m:ctrlPr>
                                    </m:accPr>
                                    <m:e>
                                      <m:r>
                                        <a:rPr lang="en-US" sz="2100">
                                          <a:solidFill>
                                            <a:srgbClr val="252529"/>
                                          </a:solidFill>
                                          <a:latin typeface="Cambria Math"/>
                                        </a:rPr>
                                        <m:t>𝐽</m:t>
                                      </m:r>
                                    </m:e>
                                  </m:acc>
                                </m:e>
                                <m:sup>
                                  <m:r>
                                    <a:rPr lang="en-US" sz="2100">
                                      <a:solidFill>
                                        <a:srgbClr val="252529"/>
                                      </a:solidFill>
                                      <a:latin typeface="Cambria Math"/>
                                    </a:rPr>
                                    <m:t>∗</m:t>
                                  </m:r>
                                </m:sup>
                              </m:sSup>
                              <m:sSup>
                                <m:sSupPr>
                                  <m:ctrlPr>
                                    <a:rPr lang="en-US" sz="2100">
                                      <a:solidFill>
                                        <a:srgbClr val="252529"/>
                                      </a:solidFill>
                                      <a:latin typeface="Cambria Math"/>
                                    </a:rPr>
                                  </m:ctrlPr>
                                </m:sSupPr>
                                <m:e>
                                  <m:r>
                                    <m:rPr>
                                      <m:sty m:val="p"/>
                                    </m:rPr>
                                    <a:rPr lang="en-US" sz="2100">
                                      <a:solidFill>
                                        <a:srgbClr val="252529"/>
                                      </a:solidFill>
                                      <a:latin typeface="Cambria Math"/>
                                    </a:rPr>
                                    <m:t>Θ</m:t>
                                  </m:r>
                                </m:e>
                                <m:sup>
                                  <m:r>
                                    <a:rPr lang="en-US" sz="2100">
                                      <a:solidFill>
                                        <a:srgbClr val="252529"/>
                                      </a:solidFill>
                                      <a:latin typeface="Cambria Math"/>
                                    </a:rPr>
                                    <m:t>⊤</m:t>
                                  </m:r>
                                </m:sup>
                              </m:sSup>
                              <m:acc>
                                <m:accPr>
                                  <m:chr m:val="̂"/>
                                  <m:ctrlPr>
                                    <a:rPr lang="en-US" sz="2100">
                                      <a:solidFill>
                                        <a:srgbClr val="252529"/>
                                      </a:solidFill>
                                      <a:latin typeface="Cambria Math"/>
                                    </a:rPr>
                                  </m:ctrlPr>
                                </m:accPr>
                                <m:e>
                                  <m:r>
                                    <a:rPr lang="en-US" sz="2100">
                                      <a:solidFill>
                                        <a:srgbClr val="252529"/>
                                      </a:solidFill>
                                      <a:latin typeface="Cambria Math"/>
                                    </a:rPr>
                                    <m:t>𝐽</m:t>
                                  </m:r>
                                </m:e>
                              </m:acc>
                            </m:e>
                          </m:d>
                        </m:e>
                        <m:sup>
                          <m:r>
                            <a:rPr lang="en-US" sz="2100">
                              <a:solidFill>
                                <a:srgbClr val="252529"/>
                              </a:solidFill>
                              <a:latin typeface="Cambria Math"/>
                            </a:rPr>
                            <m:t>−1</m:t>
                          </m:r>
                        </m:sup>
                      </m:sSup>
                    </m:oMath>
                  </m:oMathPara>
                </a14:m>
                <a:endParaRPr sz="2100">
                  <a:latin typeface="Cambria Math"/>
                </a:endParaRPr>
              </a:p>
            </p:txBody>
          </p:sp>
        </mc:Choice>
        <mc:Fallback xmlns="" xmlns:m="http://schemas.openxmlformats.org/officeDocument/2006/math">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00">
                              <a:solidFill>
                                <a:srgbClr val="252529"/>
                              </a:solidFill>
                              <a:latin typeface="Cambria Math"/>
                            </a:rPr>
                          </m:ctrlPr>
                        </m:accPr>
                        <m:e>
                          <m:r>
                            <a:rPr lang="en-US" sz="1600">
                              <a:solidFill>
                                <a:srgbClr val="252529"/>
                              </a:solidFill>
                              <a:latin typeface="Cambria Math"/>
                            </a:rPr>
                            <m:t>𝐽</m:t>
                          </m:r>
                        </m:e>
                      </m:acc>
                      <m:r>
                        <a:rPr lang="en-US" sz="1600">
                          <a:solidFill>
                            <a:srgbClr val="252529"/>
                          </a:solidFill>
                          <a:latin typeface="Cambria Math"/>
                        </a:rPr>
                        <m:t>=</m:t>
                      </m:r>
                      <m:d>
                        <m:dPr>
                          <m:begChr m:val="["/>
                          <m:endChr m:val="]"/>
                          <m:ctrlPr>
                            <a:rPr lang="en-US" sz="1600" i="1">
                              <a:solidFill>
                                <a:srgbClr val="252529"/>
                              </a:solidFill>
                              <a:latin typeface="Cambria Math" panose="02040503050406030204" pitchFamily="18" charset="0"/>
                            </a:rPr>
                          </m:ctrlPr>
                        </m:dPr>
                        <m:e>
                          <m:m>
                            <m:mPr>
                              <m:mcs>
                                <m:mc>
                                  <m:mcPr>
                                    <m:count m:val="2"/>
                                    <m:mcJc m:val="center"/>
                                  </m:mcPr>
                                </m:mc>
                              </m:mcs>
                              <m:ctrlPr>
                                <a:rPr lang="en-US" sz="1600" i="1">
                                  <a:solidFill>
                                    <a:srgbClr val="252529"/>
                                  </a:solidFill>
                                  <a:latin typeface="Cambria Math" panose="02040503050406030204" pitchFamily="18" charset="0"/>
                                </a:rPr>
                              </m:ctrlPr>
                            </m:mPr>
                            <m:mr>
                              <m:e>
                                <m:r>
                                  <a:rPr lang="en-US" sz="1600">
                                    <a:solidFill>
                                      <a:srgbClr val="252529"/>
                                    </a:solidFill>
                                    <a:latin typeface="Cambria Math"/>
                                  </a:rPr>
                                  <m:t>0</m:t>
                                </m:r>
                              </m:e>
                              <m:e>
                                <m:r>
                                  <a:rPr lang="en-US" sz="1600">
                                    <a:solidFill>
                                      <a:srgbClr val="252529"/>
                                    </a:solidFill>
                                    <a:latin typeface="Cambria Math"/>
                                  </a:rPr>
                                  <m:t>𝐼</m:t>
                                </m:r>
                              </m:e>
                            </m:mr>
                            <m:mr>
                              <m:e>
                                <m:r>
                                  <a:rPr lang="en-US" sz="1600">
                                    <a:solidFill>
                                      <a:srgbClr val="252529"/>
                                    </a:solidFill>
                                    <a:latin typeface="Cambria Math"/>
                                  </a:rPr>
                                  <m:t>−</m:t>
                                </m:r>
                                <m:r>
                                  <a:rPr lang="en-US" sz="1600">
                                    <a:solidFill>
                                      <a:srgbClr val="252529"/>
                                    </a:solidFill>
                                    <a:latin typeface="Cambria Math"/>
                                  </a:rPr>
                                  <m:t>𝐼</m:t>
                                </m:r>
                              </m:e>
                              <m:e>
                                <m:r>
                                  <a:rPr lang="en-US" sz="1600">
                                    <a:solidFill>
                                      <a:srgbClr val="252529"/>
                                    </a:solidFill>
                                    <a:latin typeface="Cambria Math"/>
                                  </a:rPr>
                                  <m:t>0</m:t>
                                </m:r>
                              </m:e>
                            </m:mr>
                          </m:m>
                        </m:e>
                      </m:d>
                    </m:oMath>
                  </m:oMathPara>
                </a14:m>
                <a:endParaRPr sz="1600">
                  <a:latin typeface="Cambria Math"/>
                </a:endParaRPr>
              </a:p>
            </p:txBody>
          </p:sp>
        </mc:Choice>
        <mc:Fallback xmlns="" xmlns:m="http://schemas.openxmlformats.org/officeDocument/2006/math">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784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p:sp>
        <p:nvSpPr>
          <p:cNvPr id="308" name="Stage3 check description"/>
          <p:cNvSpPr txBox="1"/>
          <p:nvPr/>
        </p:nvSpPr>
        <p:spPr>
          <a:xfrm>
            <a:off x="4876800" y="4102100"/>
            <a:ext cx="3797300" cy="292100"/>
          </a:xfrm>
          <a:prstGeom prst="rect">
            <a:avLst/>
          </a:prstGeom>
          <a:noFill/>
          <a:ln>
            <a:noFill/>
          </a:ln>
        </p:spPr>
        <p:txBody>
          <a:bodyPr wrap="square" lIns="0" tIns="0" rIns="0" bIns="0" anchor="ctr">
            <a:noAutofit/>
          </a:bodyPr>
          <a:lstStyle/>
          <a:p>
            <a:pPr algn="l"/>
            <a:r>
              <a:rPr lang="en-US" sz="1350" b="0">
                <a:solidFill>
                  <a:srgbClr val="252529"/>
                </a:solidFill>
                <a:latin typeface="Aptos"/>
              </a:rPr>
              <a:t>Recover the expected dual closed loop.</a:t>
            </a:r>
          </a:p>
        </p:txBody>
      </p:sp>
      <p:sp>
        <p:nvSpPr>
          <p:cNvPr id="309"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Next: apply this operation and verify the resulting system.</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Applying 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 xmlns:m="http://schemas.openxmlformats.org/officeDocument/2006/math">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650">
                              <a:solidFill>
                                <a:srgbClr val="252529"/>
                              </a:solidFill>
                              <a:latin typeface="Cambria Math"/>
                            </a:rPr>
                          </m:ctrlPr>
                        </m:sSupPr>
                        <m:e>
                          <m:r>
                            <a:rPr lang="en-US" sz="1650">
                              <a:solidFill>
                                <a:srgbClr val="252529"/>
                              </a:solidFill>
                              <a:latin typeface="Cambria Math"/>
                            </a:rPr>
                            <m:t>𝑇</m:t>
                          </m:r>
                        </m:e>
                        <m:sup>
                          <m:r>
                            <a:rPr lang="en-US" sz="1650">
                              <a:solidFill>
                                <a:srgbClr val="252529"/>
                              </a:solidFill>
                              <a:latin typeface="Cambria Math"/>
                            </a:rPr>
                            <m:t>∗</m:t>
                          </m:r>
                        </m:sup>
                      </m:sSup>
                      <m:acc>
                        <m:accPr>
                          <m:chr m:val="̇"/>
                          <m:ctrlPr>
                            <a:rPr lang="en-US" sz="1650" i="1">
                              <a:solidFill>
                                <a:srgbClr val="252529"/>
                              </a:solidFill>
                              <a:latin typeface="Cambria Math" panose="02040503050406030204" pitchFamily="18" charset="0"/>
                            </a:rPr>
                          </m:ctrlPr>
                        </m:accPr>
                        <m:e>
                          <m:bar>
                            <m:barPr>
                              <m:pos m:val="bot"/>
                              <m:ctrlPr>
                                <a:rPr lang="en-US" sz="1650">
                                  <a:solidFill>
                                    <a:srgbClr val="252529"/>
                                  </a:solidFill>
                                  <a:latin typeface="Cambria Math"/>
                                </a:rPr>
                              </m:ctrlPr>
                            </m:barPr>
                            <m:e>
                              <m:r>
                                <a:rPr lang="en-US" sz="1650">
                                  <a:solidFill>
                                    <a:srgbClr val="252529"/>
                                  </a:solidFill>
                                  <a:latin typeface="Cambria Math"/>
                                </a:rPr>
                                <m:t>𝑥</m:t>
                              </m:r>
                            </m:e>
                          </m:bar>
                        </m:e>
                      </m:acc>
                      <m:r>
                        <a:rPr lang="en-US" sz="1650">
                          <a:solidFill>
                            <a:srgbClr val="252529"/>
                          </a:solidFill>
                          <a:latin typeface="Cambria Math"/>
                        </a:rPr>
                        <m:t>=</m:t>
                      </m:r>
                      <m:d>
                        <m:dPr>
                          <m:ctrlPr>
                            <a:rPr lang="en-US" sz="1650" i="1">
                              <a:solidFill>
                                <a:srgbClr val="252529"/>
                              </a:solidFill>
                              <a:latin typeface="Cambria Math" panose="02040503050406030204" pitchFamily="18" charset="0"/>
                            </a:rPr>
                          </m:ctrlPr>
                        </m:dPr>
                        <m:e>
                          <m:sSup>
                            <m:sSupPr>
                              <m:ctrlPr>
                                <a:rPr lang="en-US" sz="1650">
                                  <a:solidFill>
                                    <a:srgbClr val="252529"/>
                                  </a:solidFill>
                                  <a:latin typeface="Cambria Math"/>
                                </a:rPr>
                              </m:ctrlPr>
                            </m:sSupPr>
                            <m:e>
                              <m:r>
                                <a:rPr lang="en-US" sz="1650">
                                  <a:solidFill>
                                    <a:srgbClr val="252529"/>
                                  </a:solidFill>
                                  <a:latin typeface="Cambria Math"/>
                                </a:rPr>
                                <m:t>𝐴</m:t>
                              </m:r>
                            </m:e>
                            <m:sup>
                              <m:r>
                                <a:rPr lang="en-US" sz="1650">
                                  <a:solidFill>
                                    <a:srgbClr val="252529"/>
                                  </a:solidFill>
                                  <a:latin typeface="Cambria Math"/>
                                </a:rPr>
                                <m:t>∗</m:t>
                              </m:r>
                            </m:sup>
                          </m:sSup>
                          <m:r>
                            <a:rPr lang="en-US" sz="1650">
                              <a:solidFill>
                                <a:srgbClr val="252529"/>
                              </a:solidFill>
                              <a:latin typeface="Cambria Math"/>
                            </a:rPr>
                            <m:t>+</m:t>
                          </m:r>
                          <m:sSup>
                            <m:sSupPr>
                              <m:ctrlPr>
                                <a:rPr lang="en-US" sz="1650">
                                  <a:solidFill>
                                    <a:srgbClr val="252529"/>
                                  </a:solidFill>
                                  <a:latin typeface="Cambria Math"/>
                                </a:rPr>
                              </m:ctrlPr>
                            </m:sSupPr>
                            <m:e>
                              <m:r>
                                <a:rPr lang="en-US" sz="1650">
                                  <a:solidFill>
                                    <a:srgbClr val="252529"/>
                                  </a:solidFill>
                                  <a:latin typeface="Cambria Math"/>
                                </a:rPr>
                                <m:t>𝐾</m:t>
                              </m:r>
                            </m:e>
                            <m:sup>
                              <m:r>
                                <a:rPr lang="en-US" sz="1650">
                                  <a:solidFill>
                                    <a:srgbClr val="252529"/>
                                  </a:solidFill>
                                  <a:latin typeface="Cambria Math"/>
                                </a:rPr>
                                <m:t>∗</m:t>
                              </m:r>
                            </m:sup>
                          </m:sSup>
                          <m:sSup>
                            <m:sSupPr>
                              <m:ctrlPr>
                                <a:rPr lang="en-US" sz="1650" i="1">
                                  <a:solidFill>
                                    <a:srgbClr val="252529"/>
                                  </a:solidFill>
                                  <a:latin typeface="Cambria Math" panose="02040503050406030204" pitchFamily="18" charset="0"/>
                                </a:rPr>
                              </m:ctrlPr>
                            </m:sSupPr>
                            <m:e>
                              <m:sSub>
                                <m:sSubPr>
                                  <m:ctrlPr>
                                    <a:rPr lang="en-US" sz="1650">
                                      <a:solidFill>
                                        <a:srgbClr val="252529"/>
                                      </a:solidFill>
                                      <a:latin typeface="Cambria Math"/>
                                    </a:rPr>
                                  </m:ctrlPr>
                                </m:sSubPr>
                                <m:e>
                                  <m:r>
                                    <a:rPr lang="en-US" sz="1650">
                                      <a:solidFill>
                                        <a:srgbClr val="252529"/>
                                      </a:solidFill>
                                      <a:latin typeface="Cambria Math"/>
                                    </a:rPr>
                                    <m:t>𝐵</m:t>
                                  </m:r>
                                </m:e>
                                <m:sub>
                                  <m:r>
                                    <m:rPr>
                                      <m:sty m:val="p"/>
                                    </m:rPr>
                                    <a:rPr lang="en-US" sz="1650">
                                      <a:solidFill>
                                        <a:srgbClr val="252529"/>
                                      </a:solidFill>
                                      <a:latin typeface="Cambria Math"/>
                                    </a:rPr>
                                    <m:t>u</m:t>
                                  </m:r>
                                </m:sub>
                              </m:sSub>
                            </m:e>
                            <m:sup>
                              <m:r>
                                <a:rPr lang="en-US" sz="1650">
                                  <a:solidFill>
                                    <a:srgbClr val="252529"/>
                                  </a:solidFill>
                                  <a:latin typeface="Cambria Math"/>
                                </a:rPr>
                                <m:t>∗</m:t>
                              </m:r>
                            </m:sup>
                          </m:sSup>
                        </m:e>
                      </m:d>
                      <m:bar>
                        <m:barPr>
                          <m:pos m:val="bot"/>
                          <m:ctrlPr>
                            <a:rPr lang="en-US" sz="1650">
                              <a:solidFill>
                                <a:srgbClr val="252529"/>
                              </a:solidFill>
                              <a:latin typeface="Cambria Math"/>
                            </a:rPr>
                          </m:ctrlPr>
                        </m:barPr>
                        <m:e>
                          <m:r>
                            <a:rPr lang="en-US" sz="1650">
                              <a:solidFill>
                                <a:srgbClr val="252529"/>
                              </a:solidFill>
                              <a:latin typeface="Cambria Math"/>
                            </a:rPr>
                            <m:t>𝑥</m:t>
                          </m:r>
                        </m:e>
                      </m:bar>
                    </m:oMath>
                  </m:oMathPara>
                </a14:m>
                <a:endParaRPr sz="1650">
                  <a:latin typeface="Cambria Math"/>
                </a:endParaRPr>
              </a:p>
            </p:txBody>
          </p:sp>
        </mc:Choice>
        <mc:Fallback xmlns="" xmlns:m="http://schemas.openxmlformats.org/officeDocument/2006/math">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𝐃</m:t>
                      </m:r>
                      <m:d>
                        <m:dPr>
                          <m:ctrlPr>
                            <a:rPr lang="en-US" sz="1550">
                              <a:solidFill>
                                <a:srgbClr val="252529"/>
                              </a:solidFill>
                              <a:latin typeface="Cambria Math"/>
                            </a:rPr>
                          </m:ctrlPr>
                        </m:dPr>
                        <m:e>
                          <m:r>
                            <m:rPr>
                              <m:sty m:val="p"/>
                            </m:rPr>
                            <a:rPr lang="en-US" sz="1550">
                              <a:solidFill>
                                <a:srgbClr val="252529"/>
                              </a:solidFill>
                              <a:latin typeface="Cambria Math"/>
                            </a:rPr>
                            <m:t>Θ</m:t>
                          </m:r>
                        </m:e>
                      </m:d>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 xmlns:m="http://schemas.openxmlformats.org/officeDocument/2006/math">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r>
                        <a:rPr lang="en-US" sz="1800">
                          <a:solidFill>
                            <a:srgbClr val="252529"/>
                          </a:solidFill>
                          <a:latin typeface="Cambria Math"/>
                        </a:rPr>
                        <m:t>+</m:t>
                      </m:r>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oMath>
                  </m:oMathPara>
                </a14:m>
                <a:endParaRPr sz="1800">
                  <a:latin typeface="Cambria Math"/>
                </a:endParaRPr>
              </a:p>
            </p:txBody>
          </p:sp>
        </mc:Choice>
        <mc:Fallback xmlns="" xmlns:m="http://schemas.openxmlformats.org/officeDocument/2006/math">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d>
                                <m:dPr>
                                  <m:ctrlPr>
                                    <a:rPr lang="en-US" sz="1550" i="1">
                                      <a:solidFill>
                                        <a:srgbClr val="252529"/>
                                      </a:solidFill>
                                      <a:latin typeface="Cambria Math" panose="02040503050406030204" pitchFamily="18" charset="0"/>
                                    </a:rPr>
                                  </m:ctrlPr>
                                </m:dPr>
                                <m:e>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e>
                              </m:d>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 xmlns:m="http://schemas.openxmlformats.org/officeDocument/2006/math">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987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700" i="1">
                              <a:solidFill>
                                <a:srgbClr val="252529"/>
                              </a:solidFill>
                              <a:latin typeface="Cambria Math" panose="02040503050406030204" pitchFamily="18" charset="0"/>
                            </a:rPr>
                          </m:ctrlPr>
                        </m:accPr>
                        <m:e>
                          <m:bar>
                            <m:barPr>
                              <m:pos m:val="bot"/>
                              <m:ctrlPr>
                                <a:rPr lang="en-US" sz="1700">
                                  <a:solidFill>
                                    <a:srgbClr val="252529"/>
                                  </a:solidFill>
                                  <a:latin typeface="Cambria Math"/>
                                </a:rPr>
                              </m:ctrlPr>
                            </m:barPr>
                            <m:e>
                              <m:r>
                                <a:rPr lang="en-US" sz="1700">
                                  <a:solidFill>
                                    <a:srgbClr val="252529"/>
                                  </a:solidFill>
                                  <a:latin typeface="Cambria Math"/>
                                </a:rPr>
                                <m:t>𝑢</m:t>
                              </m:r>
                            </m:e>
                          </m:bar>
                        </m:e>
                      </m:acc>
                      <m:r>
                        <a:rPr lang="en-US" sz="1700">
                          <a:solidFill>
                            <a:srgbClr val="252529"/>
                          </a:solidFill>
                          <a:latin typeface="Cambria Math"/>
                        </a:rPr>
                        <m:t>=0  ⇔  </m:t>
                      </m:r>
                      <m:bar>
                        <m:barPr>
                          <m:pos m:val="bot"/>
                          <m:ctrlPr>
                            <a:rPr lang="en-US" sz="1700">
                              <a:solidFill>
                                <a:srgbClr val="252529"/>
                              </a:solidFill>
                              <a:latin typeface="Cambria Math"/>
                            </a:rPr>
                          </m:ctrlPr>
                        </m:barPr>
                        <m:e>
                          <m:r>
                            <a:rPr lang="en-US" sz="1700">
                              <a:solidFill>
                                <a:srgbClr val="252529"/>
                              </a:solidFill>
                              <a:latin typeface="Cambria Math"/>
                            </a:rPr>
                            <m:t>𝑢</m:t>
                          </m:r>
                        </m:e>
                      </m:bar>
                      <m:r>
                        <a:rPr lang="en-US" sz="1700">
                          <a:solidFill>
                            <a:srgbClr val="252529"/>
                          </a:solidFill>
                          <a:latin typeface="Cambria Math"/>
                        </a:rPr>
                        <m:t>=</m:t>
                      </m:r>
                      <m:sSup>
                        <m:sSupPr>
                          <m:ctrlPr>
                            <a:rPr lang="en-US" sz="1700">
                              <a:solidFill>
                                <a:srgbClr val="252529"/>
                              </a:solidFill>
                              <a:latin typeface="Cambria Math"/>
                            </a:rPr>
                          </m:ctrlPr>
                        </m:sSupPr>
                        <m:e>
                          <m:r>
                            <a:rPr lang="en-US" sz="1700">
                              <a:solidFill>
                                <a:srgbClr val="252529"/>
                              </a:solidFill>
                              <a:latin typeface="Cambria Math"/>
                            </a:rPr>
                            <m:t>𝐾</m:t>
                          </m:r>
                        </m:e>
                        <m:sup>
                          <m:r>
                            <a:rPr lang="en-US" sz="1700">
                              <a:solidFill>
                                <a:srgbClr val="252529"/>
                              </a:solidFill>
                              <a:latin typeface="Cambria Math"/>
                            </a:rPr>
                            <m:t>∗</m:t>
                          </m:r>
                        </m:sup>
                      </m:sSup>
                      <m:bar>
                        <m:barPr>
                          <m:pos m:val="bot"/>
                          <m:ctrlPr>
                            <a:rPr lang="en-US" sz="1700">
                              <a:solidFill>
                                <a:srgbClr val="252529"/>
                              </a:solidFill>
                              <a:latin typeface="Cambria Math"/>
                            </a:rPr>
                          </m:ctrlPr>
                        </m:barPr>
                        <m:e>
                          <m:r>
                            <a:rPr lang="en-US" sz="1700">
                              <a:solidFill>
                                <a:srgbClr val="252529"/>
                              </a:solidFill>
                              <a:latin typeface="Cambria Math"/>
                            </a:rPr>
                            <m:t>𝑦</m:t>
                          </m:r>
                        </m:e>
                      </m:bar>
                    </m:oMath>
                  </m:oMathPara>
                </a14:m>
                <a:endParaRPr sz="1700">
                  <a:latin typeface="Cambria Math"/>
                </a:endParaRPr>
              </a:p>
            </p:txBody>
          </p:sp>
        </mc:Choice>
        <mc:Fallback xmlns="" xmlns:m="http://schemas.openxmlformats.org/officeDocument/2006/math">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5847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Yes: zero filtered input recovers the dual closed loop.</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43</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43</a:t>
            </a:r>
            <a:endParaRPr sz="8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44</a:t>
            </a:r>
            <a:endParaRPr sz="800"/>
          </a:p>
        </p:txBody>
      </p:sp>
    </p:spTree>
    <p:extLst>
      <p:ext uri="{BB962C8B-B14F-4D97-AF65-F5344CB8AC3E}">
        <p14:creationId xmlns:p14="http://schemas.microsoft.com/office/powerpoint/2010/main" val="19626724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45</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47</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5254</TotalTime>
  <Words>5534</Words>
  <Application>Microsoft Office PowerPoint</Application>
  <PresentationFormat>On-screen Show (16:9)</PresentationFormat>
  <Paragraphs>910</Paragraphs>
  <Slides>51</Slides>
  <Notes>35</Notes>
  <HiddenSlides>0</HiddenSlides>
  <MMClips>9</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51</vt:i4>
      </vt:variant>
    </vt:vector>
  </HeadingPairs>
  <TitlesOfParts>
    <vt:vector size="57"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Feedback stabilization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Absorbing the controller into the filter</vt:lpstr>
      <vt:lpstr>Transposing the systems</vt:lpstr>
      <vt:lpstr>Thought experiment replace K by \Θ</vt:lpstr>
      <vt:lpstr>Thought experiment replace K^⊤ by ▁Θ</vt:lpstr>
      <vt:lpstr>Comparing our results</vt:lpstr>
      <vt:lpstr>The dual operation</vt:lpstr>
      <vt:lpstr>Applying the dual filter</vt:lpstr>
      <vt:lpstr>Future work</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27</cp:revision>
  <dcterms:created xsi:type="dcterms:W3CDTF">2019-11-27T15:26:32Z</dcterms:created>
  <dcterms:modified xsi:type="dcterms:W3CDTF">2026-09-27T09:23:23Z</dcterms:modified>
</cp:coreProperties>
</file>