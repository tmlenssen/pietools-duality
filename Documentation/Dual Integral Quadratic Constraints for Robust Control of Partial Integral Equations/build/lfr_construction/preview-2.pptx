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D61016"/>
                  </a:solidFill>
                  <a:latin typeface="Cambria Math"/>
                  <a:ea typeface="Cambria Math"/>
                  <a:cs typeface="Cambria Math"/>
                </a:rPr>
                <a:t xml:space="preserve">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aseline="0" b="0" i="1" u="none">
                  <a:solidFill>
                    <a:srgbClr val="252529"/>
                  </a:solidFill>
                  <a:latin typeface="Cambria Math"/>
                  <a:ea typeface="Cambria Math"/>
                  <a:cs typeface="Cambria Math"/>
                </a:rPr>
                <a:t xml:space="preserve">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z</m:t>
                        </m:r>
                      </m:e>
                      <m:sub>
                        <m:r>
                          <m:rPr>
                            <m:sty m:val="p"/>
                          </m:rPr>
                          <a:rPr sz="1600">
                            <a:solidFill>
                              <a:srgbClr val="252529"/>
                            </a:solidFill>
                            <a:latin typeface="Cambria Math"/>
                          </a:rPr>
                          <m:t xml:space="preserve">Δ</m:t>
                        </m:r>
                      </m:sub>
                    </m:sSub>
                  </m:oMath>
                </m:oMathPara>
              </a14:m>
              <a:endParaRPr sz="1600"/>
            </a:p>
          </p:txBody>
        </p:sp>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w</m:t>
                        </m:r>
                      </m:e>
                      <m:sub>
                        <m:r>
                          <m:rPr>
                            <m:sty m:val="p"/>
                          </m:rPr>
                          <a:rPr sz="1600">
                            <a:solidFill>
                              <a:srgbClr val="252529"/>
                            </a:solidFill>
                            <a:latin typeface="Cambria Math"/>
                          </a:rPr>
                          <m:t xml:space="preserve">Δ</m:t>
                        </m:r>
                      </m:sub>
                    </m:sSub>
                  </m:oMath>
                </m:oMathPara>
              </a14:m>
              <a:endParaRPr sz="1600"/>
            </a:p>
          </p:txBody>
        </p:sp>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u</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y</m:t>
                    </m:r>
                    <m:d>
                      <m:dPr>
                        <m:begChr m:val="("/>
                        <m:endChr m:val=")"/>
                        <m:ctrlPr>
                          <a:rPr sz="1400">
                            <a:solidFill>
                              <a:srgbClr val="252529"/>
                            </a:solidFill>
                            <a:latin typeface="Cambria Math"/>
                          </a:rPr>
                        </m:ctrlPr>
                      </m:dPr>
                      <m:e>
                        <m:r>
                          <m:rPr>
                            <m:sty m:val="i"/>
                          </m:rPr>
                          <a:rPr sz="1400">
                            <a:solidFill>
                              <a:srgbClr val="252529"/>
                            </a:solidFill>
                            <a:latin typeface="Cambria Math"/>
                          </a:rPr>
                          <m:t xml:space="preserve">t</m:t>
                        </m:r>
                      </m:e>
                    </m:d>
                  </m:oMath>
                </m:oMathPara>
              </a14:m>
              <a:endParaRPr sz="1400"/>
            </a:p>
          </p:txBody>
        </p:sp>
      </p:gr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linear dynamics and delays in P.</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