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75" d="100"/>
          <a:sy n="75" d="100"/>
        </p:scale>
        <p:origin x="3678" y="89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narrative_image111.png"/><Relationship Id="rId3" Type="http://schemas.openxmlformats.org/officeDocument/2006/relationships/image" Target="../media/slide37narrative_image106.png"/><Relationship Id="rId7" Type="http://schemas.openxmlformats.org/officeDocument/2006/relationships/image" Target="../media/slide37narrative_image110.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slide37narrative_image108.png"/><Relationship Id="rId4" Type="http://schemas.openxmlformats.org/officeDocument/2006/relationships/image" Target="../media/image106.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1.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4.png"/></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mc:Choice xmlns:a14="http://schemas.microsoft.com/office/drawing/2010/main"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09" name="Supply identity"/>
              <p:cNvSpPr/>
              <p:nvPr/>
            </p:nvSpPr>
            <p:spPr>
              <a:xfrm>
                <a:off x="254000" y="3314700"/>
                <a:ext cx="863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𝜎</m:t>
                      </m:r>
                      <m:r>
                        <a:rPr sz="2000">
                          <a:solidFill>
                            <a:srgbClr val="252529"/>
                          </a:solidFill>
                          <a:latin typeface="Cambria Math"/>
                        </a:rPr>
                        <m:t>=</m:t>
                      </m:r>
                      <m:sSup>
                        <m:sSupPr>
                          <m:ctrlPr>
                            <a:rPr sz="2000" i="1">
                              <a:solidFill>
                                <a:srgbClr val="252529"/>
                              </a:solidFill>
                              <a:latin typeface="Cambria Math" panose="02040503050406030204" pitchFamily="18" charset="0"/>
                            </a:rPr>
                          </m:ctrlPr>
                        </m:sSupPr>
                        <m:e>
                          <m:acc>
                            <m:accPr>
                              <m:chr m:val="̃"/>
                              <m:ctrlPr>
                                <a:rPr sz="2000">
                                  <a:solidFill>
                                    <a:srgbClr val="252529"/>
                                  </a:solidFill>
                                  <a:latin typeface="Cambria Math"/>
                                </a:rPr>
                              </m:ctrlPr>
                            </m:accPr>
                            <m:e>
                              <m:r>
                                <a:rPr sz="2000">
                                  <a:solidFill>
                                    <a:srgbClr val="252529"/>
                                  </a:solidFill>
                                  <a:latin typeface="Cambria Math"/>
                                </a:rPr>
                                <m:t>𝑧</m:t>
                              </m:r>
                            </m:e>
                          </m:acc>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acc>
                            <m:accPr>
                              <m:chr m:val="̃"/>
                              <m:ctrlPr>
                                <a:rPr sz="2000">
                                  <a:solidFill>
                                    <a:srgbClr val="252529"/>
                                  </a:solidFill>
                                  <a:latin typeface="Cambria Math"/>
                                </a:rPr>
                              </m:ctrlPr>
                            </m:accPr>
                            <m:e>
                              <m:r>
                                <a:rPr sz="2000">
                                  <a:solidFill>
                                    <a:srgbClr val="252529"/>
                                  </a:solidFill>
                                  <a:latin typeface="Cambria Math"/>
                                </a:rPr>
                                <m:t>𝑤</m:t>
                              </m:r>
                            </m:e>
                          </m:acc>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ctrlPr>
                                <a:rPr sz="2000">
                                  <a:solidFill>
                                    <a:srgbClr val="252529"/>
                                  </a:solidFill>
                                  <a:latin typeface="Cambria Math"/>
                                </a:rPr>
                              </m:ctrlPr>
                            </m:dPr>
                            <m:e>
                              <m:r>
                                <a:rPr sz="2000">
                                  <a:solidFill>
                                    <a:srgbClr val="252529"/>
                                  </a:solidFill>
                                  <a:latin typeface="Cambria Math"/>
                                </a:rPr>
                                <m:t>𝑣𝑎</m:t>
                              </m:r>
                              <m:r>
                                <a:rPr sz="2000">
                                  <a:solidFill>
                                    <a:srgbClr val="252529"/>
                                  </a:solidFill>
                                  <a:latin typeface="Cambria Math"/>
                                </a:rPr>
                                <m:t>+</m:t>
                              </m:r>
                              <m:r>
                                <a:rPr sz="2000">
                                  <a:solidFill>
                                    <a:srgbClr val="252529"/>
                                  </a:solidFill>
                                  <a:latin typeface="Cambria Math"/>
                                </a:rPr>
                                <m:t>𝑏</m:t>
                              </m:r>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ctrlPr>
                                <a:rPr sz="2000">
                                  <a:solidFill>
                                    <a:srgbClr val="252529"/>
                                  </a:solidFill>
                                  <a:latin typeface="Cambria Math"/>
                                </a:rPr>
                              </m:ctrlPr>
                            </m:dPr>
                            <m:e>
                              <m:r>
                                <a:rPr sz="2000">
                                  <a:solidFill>
                                    <a:srgbClr val="252529"/>
                                  </a:solidFill>
                                  <a:latin typeface="Cambria Math"/>
                                </a:rPr>
                                <m:t>𝑣𝑎</m:t>
                              </m:r>
                              <m:r>
                                <a:rPr sz="2000">
                                  <a:solidFill>
                                    <a:srgbClr val="252529"/>
                                  </a:solidFill>
                                  <a:latin typeface="Cambria Math"/>
                                </a:rPr>
                                <m:t>−</m:t>
                              </m:r>
                              <m:r>
                                <a:rPr sz="2000">
                                  <a:solidFill>
                                    <a:srgbClr val="252529"/>
                                  </a:solidFill>
                                  <a:latin typeface="Cambria Math"/>
                                </a:rPr>
                                <m:t>𝑏</m:t>
                              </m:r>
                            </m:e>
                          </m:d>
                        </m:e>
                        <m:sup>
                          <m:r>
                            <a:rPr sz="2000">
                              <a:solidFill>
                                <a:srgbClr val="252529"/>
                              </a:solidFill>
                              <a:latin typeface="Cambria Math"/>
                            </a:rPr>
                            <m:t>2</m:t>
                          </m:r>
                        </m:sup>
                      </m:sSup>
                      <m:r>
                        <a:rPr sz="2000">
                          <a:solidFill>
                            <a:srgbClr val="147C60"/>
                          </a:solidFill>
                          <a:latin typeface="Cambria Math"/>
                        </a:rPr>
                        <m:t>=4</m:t>
                      </m:r>
                      <m:r>
                        <a:rPr sz="2000">
                          <a:solidFill>
                            <a:srgbClr val="147C60"/>
                          </a:solidFill>
                          <a:latin typeface="Cambria Math"/>
                        </a:rPr>
                        <m:t>𝑣𝑎𝑏</m:t>
                      </m:r>
                      <m:r>
                        <a:rPr sz="2000">
                          <a:solidFill>
                            <a:srgbClr val="147C60"/>
                          </a:solidFill>
                          <a:latin typeface="Cambria Math"/>
                        </a:rPr>
                        <m:t>≥0</m:t>
                      </m:r>
                    </m:oMath>
                  </m:oMathPara>
                </a14:m>
                <a:endParaRPr sz="2000" dirty="0"/>
              </a:p>
            </p:txBody>
          </p:sp>
        </mc:Choice>
        <mc:Fallback xmlns="">
          <p:sp>
            <p:nvSpPr>
              <p:cNvPr id="8009" name="Supply identity"/>
              <p:cNvSpPr>
                <a:spLocks noRot="1" noChangeAspect="1" noMove="1" noResize="1" noEditPoints="1" noAdjustHandles="1" noChangeArrowheads="1" noChangeShapeType="1" noTextEdit="1"/>
              </p:cNvSpPr>
              <p:nvPr/>
            </p:nvSpPr>
            <p:spPr>
              <a:xfrm>
                <a:off x="254000" y="3314700"/>
                <a:ext cx="8636000" cy="7112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10" name="Delta dissipativity"/>
              <p:cNvSpPr/>
              <p:nvPr/>
            </p:nvSpPr>
            <p:spPr>
              <a:xfrm>
                <a:off x="508000" y="3924300"/>
                <a:ext cx="8128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000">
                              <a:solidFill>
                                <a:srgbClr val="252529"/>
                              </a:solidFill>
                              <a:latin typeface="Cambria Math"/>
                            </a:rPr>
                          </m:ctrlPr>
                        </m:naryPr>
                        <m:sub>
                          <m:r>
                            <a:rPr sz="2000">
                              <a:solidFill>
                                <a:srgbClr val="252529"/>
                              </a:solidFill>
                              <a:latin typeface="Cambria Math"/>
                            </a:rPr>
                            <m:t>0</m:t>
                          </m:r>
                        </m:sub>
                        <m:sup>
                          <m:r>
                            <a:rPr sz="2000">
                              <a:solidFill>
                                <a:srgbClr val="252529"/>
                              </a:solidFill>
                              <a:latin typeface="Cambria Math"/>
                            </a:rPr>
                            <m:t>𝑇</m:t>
                          </m:r>
                        </m:sup>
                        <m:e>
                          <m:r>
                            <a:rPr sz="2000">
                              <a:solidFill>
                                <a:srgbClr val="252529"/>
                              </a:solidFill>
                              <a:latin typeface="Cambria Math"/>
                            </a:rPr>
                            <m:t>𝜎</m:t>
                          </m:r>
                          <m:d>
                            <m:dPr>
                              <m:ctrlPr>
                                <a:rPr sz="2000">
                                  <a:solidFill>
                                    <a:srgbClr val="252529"/>
                                  </a:solidFill>
                                  <a:latin typeface="Cambria Math"/>
                                </a:rPr>
                              </m:ctrlPr>
                            </m:dPr>
                            <m:e>
                              <m:r>
                                <a:rPr sz="2000">
                                  <a:solidFill>
                                    <a:srgbClr val="252529"/>
                                  </a:solidFill>
                                  <a:latin typeface="Cambria Math"/>
                                </a:rPr>
                                <m:t>𝑡</m:t>
                              </m:r>
                            </m:e>
                          </m:d>
                          <m:r>
                            <a:rPr sz="2000">
                              <a:solidFill>
                                <a:srgbClr val="252529"/>
                              </a:solidFill>
                              <a:latin typeface="Cambria Math"/>
                            </a:rPr>
                            <m:t>𝑑𝑡</m:t>
                          </m:r>
                        </m:e>
                      </m:nary>
                      <m:r>
                        <a:rPr sz="2000">
                          <a:solidFill>
                            <a:srgbClr val="252529"/>
                          </a:solidFill>
                          <a:latin typeface="Cambria Math"/>
                        </a:rPr>
                        <m:t>≥0,   ∀</m:t>
                      </m:r>
                      <m:r>
                        <a:rPr sz="2000">
                          <a:solidFill>
                            <a:srgbClr val="252529"/>
                          </a:solidFill>
                          <a:latin typeface="Cambria Math"/>
                        </a:rPr>
                        <m:t>𝑇</m:t>
                      </m:r>
                      <m:r>
                        <a:rPr sz="2000">
                          <a:solidFill>
                            <a:srgbClr val="252529"/>
                          </a:solidFill>
                          <a:latin typeface="Cambria Math"/>
                        </a:rPr>
                        <m:t>≥0</m:t>
                      </m:r>
                    </m:oMath>
                  </m:oMathPara>
                </a14:m>
                <a:endParaRPr sz="2000"/>
              </a:p>
            </p:txBody>
          </p:sp>
        </mc:Choice>
        <mc:Fallback xmlns="">
          <p:sp>
            <p:nvSpPr>
              <p:cNvPr id="8010" name="Delta dissipativity"/>
              <p:cNvSpPr>
                <a:spLocks noRot="1" noChangeAspect="1" noMove="1" noResize="1" noEditPoints="1" noAdjustHandles="1" noChangeArrowheads="1" noChangeShapeType="1" noTextEdit="1"/>
              </p:cNvSpPr>
              <p:nvPr/>
            </p:nvSpPr>
            <p:spPr>
              <a:xfrm>
                <a:off x="508000" y="3924300"/>
                <a:ext cx="8128000" cy="711200"/>
              </a:xfrm>
              <a:prstGeom prst="rect">
                <a:avLst/>
              </a:prstGeom>
              <a:blipFill>
                <a:blip r:embed="rId8"/>
                <a:stretch>
                  <a:fillRect/>
                </a:stretch>
              </a:blipFill>
              <a:ln>
                <a:noFill/>
              </a:ln>
            </p:spPr>
            <p:txBody>
              <a:bodyPr/>
              <a:lstStyle/>
              <a:p>
                <a:r>
                  <a:rPr lang="en-NL">
                    <a:noFill/>
                  </a:rPr>
                  <a:t> </a:t>
                </a:r>
              </a:p>
            </p:txBody>
          </p:sp>
        </mc:Fallback>
      </mc:AlternateContent>
      <p:sp>
        <p:nvSpPr>
          <p:cNvPr id="8011" name="Dissipativity meaning"/>
          <p:cNvSpPr/>
          <p:nvPr/>
        </p:nvSpPr>
        <p:spPr>
          <a:xfrm>
            <a:off x="317500" y="45656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09"/>
                                        </p:tgtEl>
                                        <p:attrNameLst>
                                          <p:attrName>style.visibility</p:attrName>
                                        </p:attrNameLst>
                                      </p:cBhvr>
                                      <p:to>
                                        <p:strVal val="visible"/>
                                      </p:to>
                                    </p:set>
                                    <p:animEffect transition="in" filter="fade">
                                      <p:cBhvr>
                                        <p:cTn id="15" dur="350"/>
                                        <p:tgtEl>
                                          <p:spTgt spid="800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10"/>
                                        </p:tgtEl>
                                        <p:attrNameLst>
                                          <p:attrName>style.visibility</p:attrName>
                                        </p:attrNameLst>
                                      </p:cBhvr>
                                      <p:to>
                                        <p:strVal val="visible"/>
                                      </p:to>
                                    </p:set>
                                    <p:animEffect transition="in" filter="fade">
                                      <p:cBhvr>
                                        <p:cTn id="20" dur="350"/>
                                        <p:tgtEl>
                                          <p:spTgt spid="80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011"/>
                                        </p:tgtEl>
                                        <p:attrNameLst>
                                          <p:attrName>style.visibility</p:attrName>
                                        </p:attrNameLst>
                                      </p:cBhvr>
                                      <p:to>
                                        <p:strVal val="visible"/>
                                      </p:to>
                                    </p:set>
                                    <p:animEffect transition="in" filter="fade">
                                      <p:cBhvr>
                                        <p:cTn id="23" dur="350"/>
                                        <p:tgtEl>
                                          <p:spTgt spid="8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09" grpId="0"/>
      <p:bldP spid="8010" grpId="0"/>
      <p:bldP spid="8011"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5543</TotalTime>
  <Words>7828</Words>
  <Application>Microsoft Office PowerPoint</Application>
  <PresentationFormat>On-screen Show (16:9)</PresentationFormat>
  <Paragraphs>1035</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38</cp:revision>
  <dcterms:created xsi:type="dcterms:W3CDTF">2019-11-27T15:26:32Z</dcterms:created>
  <dcterms:modified xsi:type="dcterms:W3CDTF">2026-09-27T16:37:26Z</dcterms:modified>
</cp:coreProperties>
</file>