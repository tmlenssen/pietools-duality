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8"/>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53" r:id="rId39"/>
    <p:sldId id="441" r:id="rId40"/>
    <p:sldId id="471" r:id="rId41"/>
    <p:sldId id="442" r:id="rId42"/>
    <p:sldId id="443" r:id="rId43"/>
    <p:sldId id="450" r:id="rId44"/>
    <p:sldId id="451" r:id="rId45"/>
    <p:sldId id="452" r:id="rId46"/>
    <p:sldId id="439" r:id="rId47"/>
    <p:sldId id="458" r:id="rId48"/>
    <p:sldId id="421" r:id="rId49"/>
    <p:sldId id="427" r:id="rId50"/>
    <p:sldId id="431" r:id="rId51"/>
    <p:sldId id="428" r:id="rId52"/>
    <p:sldId id="429" r:id="rId53"/>
    <p:sldId id="432" r:id="rId54"/>
    <p:sldId id="430" r:id="rId55"/>
    <p:sldId id="433" r:id="rId56"/>
    <p:sldId id="434" r:id="rId57"/>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p:scale>
          <a:sx n="75" d="100"/>
          <a:sy n="75" d="100"/>
        </p:scale>
        <p:origin x="3678" y="894"/>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54.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RevisedLFR121" Type="http://schemas.openxmlformats.org/officeDocument/2006/relationships/image" Target="../media/revised_lfr19_image103.png"/><Relationship Id="rId4" Type="http://schemas.openxmlformats.org/officeDocument/2006/relationships/image" Target="../media/image68.jpeg"/><Relationship Id="rId9" Type="http://schemas.openxmlformats.org/officeDocument/2006/relationships/image" Target="../media/image72.png"/><Relationship Id="rId14" Type="http://schemas.openxmlformats.org/officeDocument/2006/relationships/image" Target="../media/image702.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81.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730.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780.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82.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780.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5.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4.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46.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105.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Relationships xmlns="http://schemas.openxmlformats.org/package/2006/relationships"><Relationship Id="rId3" Type="http://schemas.openxmlformats.org/officeDocument/2006/relationships/image" Target="../media/slide37norm_slide37narrative_image106.png"/><Relationship Id="rId7" Type="http://schemas.openxmlformats.org/officeDocument/2006/relationships/image" Target="../media/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slide37norm_image107.png"/><Relationship Id="rId5" Type="http://schemas.openxmlformats.org/officeDocument/2006/relationships/image" Target="../media/slide37norm_slide37narrative_image108.png"/><Relationship Id="rId4" Type="http://schemas.openxmlformats.org/officeDocument/2006/relationships/image" Target="../media/slide37norm_image106.png"/></Relationships>
</file>

<file path=ppt/slides/_rels/slide3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07.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3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08.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2.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0.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3.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1.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09.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4.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2.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10.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5.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3.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11.png"/><Relationship Id="rIdClosing4" Type="http://schemas.openxmlformats.org/officeDocument/2006/relationships/image" Target="../media/image33.png"/><Relationship Id="rId4" Type="http://schemas.openxmlformats.org/officeDocument/2006/relationships/image" Target="../media/image7.jpg"/></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0.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1.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41.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13.png"/></Relationships>
</file>

<file path=ppt/slides/_rels/slide54.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12.png"/><Relationship Id="rId2" Type="http://schemas.openxmlformats.org/officeDocument/2006/relationships/notesSlide" Target="../notesSlides/notesSlide42.xml"/><Relationship Id="rId1" Type="http://schemas.openxmlformats.org/officeDocument/2006/relationships/slideLayout" Target="../slideLayouts/slideLayout12.xml"/><Relationship Id="rId4" Type="http://schemas.openxmlformats.org/officeDocument/2006/relationships/image" Target="../media/image114.png"/></Relationships>
</file>

<file path=ppt/slides/_rels/slide55.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15.png"/></Relationships>
</file>

<file path=ppt/slides/_rels/slide56.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44.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16.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xmlns="" xmlns:m="http://schemas.openxmlformats.org/officeDocument/2006/math">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107282"/>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107282"/>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0637" y="-1235081"/>
            <a:ext cx="3607759"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Describe the nonlinearity Δ</a:t>
            </a:r>
            <a:endParaRPr sz="250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5397218" y="480801"/>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5397218" y="480801"/>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147C60"/>
                          </a:solidFill>
                          <a:latin typeface="Cambria Math"/>
                        </a:rPr>
                        <m:t>𝑎𝑏</m:t>
                      </m:r>
                      <m:r>
                        <a:rPr sz="1800">
                          <a:solidFill>
                            <a:srgbClr val="147C60"/>
                          </a:solidFill>
                          <a:latin typeface="Cambria Math"/>
                        </a:rPr>
                        <m:t>≥0</m:t>
                      </m:r>
                    </m:oMath>
                  </m:oMathPara>
                </a14:m>
                <a:endParaRPr sz="1800"/>
              </a:p>
            </p:txBody>
          </p:sp>
        </mc:Choice>
        <mc:Fallback xmlns="" xmlns:m="http://schemas.openxmlformats.org/officeDocument/2006/math">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16F9C"/>
                          </a:solidFill>
                          <a:latin typeface="Cambria Math"/>
                        </a:rPr>
                        <m:t>𝑣𝑎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m="http://schemas.openxmlformats.org/officeDocument/2006/math"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 xmlns:m="http://schemas.openxmlformats.org/officeDocument/2006/math">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mc:Choice xmlns:a14="http://schemas.microsoft.com/office/drawing/2010/main" Requires="a14">
          <p:sp>
            <p:nvSpPr>
              <p:cNvPr id="8022" name="Pointwise inequality"/>
              <p:cNvSpPr/>
              <p:nvPr/>
            </p:nvSpPr>
            <p:spPr>
              <a:xfrm>
                <a:off x="444500" y="2555240"/>
                <a:ext cx="8255000" cy="9601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700" i="1">
                              <a:solidFill>
                                <a:srgbClr val="252529"/>
                              </a:solidFill>
                              <a:latin typeface="Cambria Math" panose="02040503050406030204" pitchFamily="18" charset="0"/>
                            </a:rPr>
                          </m:ctrlPr>
                        </m:sSupPr>
                        <m:e>
                          <m:d>
                            <m:dPr>
                              <m:begChr m:val="‖"/>
                              <m:endChr m:val="‖"/>
                              <m:ctrlPr>
                                <a:rPr sz="2700" i="1">
                                  <a:solidFill>
                                    <a:srgbClr val="252529"/>
                                  </a:solidFill>
                                  <a:latin typeface="Cambria Math" panose="02040503050406030204" pitchFamily="18" charset="0"/>
                                </a:rPr>
                              </m:ctrlPr>
                            </m:dPr>
                            <m:e>
                              <m:acc>
                                <m:accPr>
                                  <m:chr m:val="̃"/>
                                  <m:ctrlPr>
                                    <a:rPr sz="2700">
                                      <a:solidFill>
                                        <a:srgbClr val="252529"/>
                                      </a:solidFill>
                                      <a:latin typeface="Cambria Math"/>
                                    </a:rPr>
                                  </m:ctrlPr>
                                </m:accPr>
                                <m:e>
                                  <m:r>
                                    <a:rPr sz="2700">
                                      <a:solidFill>
                                        <a:srgbClr val="252529"/>
                                      </a:solidFill>
                                      <a:latin typeface="Cambria Math"/>
                                    </a:rPr>
                                    <m:t>𝑤</m:t>
                                  </m:r>
                                </m:e>
                              </m:acc>
                            </m:e>
                          </m:d>
                        </m:e>
                        <m:sup>
                          <m:r>
                            <a:rPr sz="2700">
                              <a:solidFill>
                                <a:srgbClr val="252529"/>
                              </a:solidFill>
                              <a:latin typeface="Cambria Math"/>
                            </a:rPr>
                            <m:t>2</m:t>
                          </m:r>
                        </m:sup>
                      </m:sSup>
                      <m:r>
                        <a:rPr sz="2700">
                          <a:solidFill>
                            <a:srgbClr val="252529"/>
                          </a:solidFill>
                          <a:latin typeface="Cambria Math"/>
                        </a:rPr>
                        <m:t>≤</m:t>
                      </m:r>
                      <m:sSup>
                        <m:sSupPr>
                          <m:ctrlPr>
                            <a:rPr sz="2700" i="1">
                              <a:solidFill>
                                <a:srgbClr val="252529"/>
                              </a:solidFill>
                              <a:latin typeface="Cambria Math" panose="02040503050406030204" pitchFamily="18" charset="0"/>
                            </a:rPr>
                          </m:ctrlPr>
                        </m:sSupPr>
                        <m:e>
                          <m:d>
                            <m:dPr>
                              <m:begChr m:val="‖"/>
                              <m:endChr m:val="‖"/>
                              <m:ctrlPr>
                                <a:rPr sz="2700" i="1">
                                  <a:solidFill>
                                    <a:srgbClr val="252529"/>
                                  </a:solidFill>
                                  <a:latin typeface="Cambria Math" panose="02040503050406030204" pitchFamily="18" charset="0"/>
                                </a:rPr>
                              </m:ctrlPr>
                            </m:dPr>
                            <m:e>
                              <m:acc>
                                <m:accPr>
                                  <m:chr m:val="̃"/>
                                  <m:ctrlPr>
                                    <a:rPr sz="2700">
                                      <a:solidFill>
                                        <a:srgbClr val="252529"/>
                                      </a:solidFill>
                                      <a:latin typeface="Cambria Math"/>
                                    </a:rPr>
                                  </m:ctrlPr>
                                </m:accPr>
                                <m:e>
                                  <m:r>
                                    <a:rPr sz="2700">
                                      <a:solidFill>
                                        <a:srgbClr val="252529"/>
                                      </a:solidFill>
                                      <a:latin typeface="Cambria Math"/>
                                    </a:rPr>
                                    <m:t>𝑧</m:t>
                                  </m:r>
                                </m:e>
                              </m:acc>
                            </m:e>
                          </m:d>
                        </m:e>
                        <m:sup>
                          <m:r>
                            <a:rPr sz="2700">
                              <a:solidFill>
                                <a:srgbClr val="252529"/>
                              </a:solidFill>
                              <a:latin typeface="Cambria Math"/>
                            </a:rPr>
                            <m:t>2</m:t>
                          </m:r>
                        </m:sup>
                      </m:sSup>
                    </m:oMath>
                  </m:oMathPara>
                </a14:m>
                <a:endParaRPr sz="2700"/>
              </a:p>
            </p:txBody>
          </p:sp>
        </mc:Choice>
        <mc:Fallback>
          <p:sp>
            <p:nvSpPr>
              <p:cNvPr id="8022" name="Pointwise inequality"/>
              <p:cNvSpPr>
                <a:spLocks noRot="1" noChangeAspect="1" noMove="1" noResize="1" noEditPoints="1" noAdjustHandles="1" noChangeArrowheads="1" noChangeShapeType="1" noTextEdit="1"/>
              </p:cNvSpPr>
              <p:nvPr/>
            </p:nvSpPr>
            <p:spPr>
              <a:xfrm>
                <a:off x="444500" y="2555240"/>
                <a:ext cx="8255000" cy="96012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8023" name="Energy inequality"/>
              <p:cNvSpPr/>
              <p:nvPr/>
            </p:nvSpPr>
            <p:spPr>
              <a:xfrm>
                <a:off x="444500" y="3548380"/>
                <a:ext cx="8255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2400">
                              <a:solidFill>
                                <a:srgbClr val="147C60"/>
                              </a:solidFill>
                              <a:latin typeface="Cambria Math"/>
                            </a:rPr>
                          </m:ctrlPr>
                        </m:naryPr>
                        <m:sub>
                          <m:r>
                            <a:rPr sz="2400">
                              <a:solidFill>
                                <a:srgbClr val="147C60"/>
                              </a:solidFill>
                              <a:latin typeface="Cambria Math"/>
                            </a:rPr>
                            <m:t>0</m:t>
                          </m:r>
                        </m:sub>
                        <m:sup>
                          <m:r>
                            <a:rPr sz="2400">
                              <a:solidFill>
                                <a:srgbClr val="147C60"/>
                              </a:solidFill>
                              <a:latin typeface="Cambria Math"/>
                            </a:rPr>
                            <m:t>𝑇</m:t>
                          </m:r>
                        </m:sup>
                        <m:e>
                          <m:sSup>
                            <m:sSupPr>
                              <m:ctrlPr>
                                <a:rPr sz="2400" i="1">
                                  <a:solidFill>
                                    <a:srgbClr val="147C60"/>
                                  </a:solidFill>
                                  <a:latin typeface="Cambria Math" panose="02040503050406030204" pitchFamily="18" charset="0"/>
                                </a:rPr>
                              </m:ctrlPr>
                            </m:sSupPr>
                            <m:e>
                              <m:d>
                                <m:dPr>
                                  <m:begChr m:val="‖"/>
                                  <m:endChr m:val="‖"/>
                                  <m:ctrlPr>
                                    <a:rPr sz="2400" i="1">
                                      <a:solidFill>
                                        <a:srgbClr val="147C60"/>
                                      </a:solidFill>
                                      <a:latin typeface="Cambria Math" panose="02040503050406030204" pitchFamily="18" charset="0"/>
                                    </a:rPr>
                                  </m:ctrlPr>
                                </m:dPr>
                                <m:e>
                                  <m:acc>
                                    <m:accPr>
                                      <m:chr m:val="̃"/>
                                      <m:ctrlPr>
                                        <a:rPr sz="2400">
                                          <a:solidFill>
                                            <a:srgbClr val="147C60"/>
                                          </a:solidFill>
                                          <a:latin typeface="Cambria Math"/>
                                        </a:rPr>
                                      </m:ctrlPr>
                                    </m:accPr>
                                    <m:e>
                                      <m:r>
                                        <a:rPr sz="2400">
                                          <a:solidFill>
                                            <a:srgbClr val="147C60"/>
                                          </a:solidFill>
                                          <a:latin typeface="Cambria Math"/>
                                        </a:rPr>
                                        <m:t>𝑤</m:t>
                                      </m:r>
                                    </m:e>
                                  </m:acc>
                                  <m:d>
                                    <m:dPr>
                                      <m:ctrlPr>
                                        <a:rPr sz="2400">
                                          <a:solidFill>
                                            <a:srgbClr val="147C60"/>
                                          </a:solidFill>
                                          <a:latin typeface="Cambria Math"/>
                                        </a:rPr>
                                      </m:ctrlPr>
                                    </m:dPr>
                                    <m:e>
                                      <m:r>
                                        <a:rPr sz="2400">
                                          <a:solidFill>
                                            <a:srgbClr val="147C60"/>
                                          </a:solidFill>
                                          <a:latin typeface="Cambria Math"/>
                                        </a:rPr>
                                        <m:t>𝑡</m:t>
                                      </m:r>
                                    </m:e>
                                  </m:d>
                                </m:e>
                              </m:d>
                            </m:e>
                            <m:sup>
                              <m:r>
                                <a:rPr sz="2400">
                                  <a:solidFill>
                                    <a:srgbClr val="147C60"/>
                                  </a:solidFill>
                                  <a:latin typeface="Cambria Math"/>
                                </a:rPr>
                                <m:t>2</m:t>
                              </m:r>
                            </m:sup>
                          </m:sSup>
                          <m:r>
                            <a:rPr sz="2400">
                              <a:solidFill>
                                <a:srgbClr val="147C60"/>
                              </a:solidFill>
                              <a:latin typeface="Cambria Math"/>
                            </a:rPr>
                            <m:t>𝑑𝑡</m:t>
                          </m:r>
                        </m:e>
                      </m:nary>
                      <m:r>
                        <a:rPr sz="2400">
                          <a:solidFill>
                            <a:srgbClr val="147C60"/>
                          </a:solidFill>
                          <a:latin typeface="Cambria Math"/>
                        </a:rPr>
                        <m:t>≤</m:t>
                      </m:r>
                      <m:nary>
                        <m:naryPr>
                          <m:limLoc m:val="subSup"/>
                          <m:ctrlPr>
                            <a:rPr sz="2400">
                              <a:solidFill>
                                <a:srgbClr val="147C60"/>
                              </a:solidFill>
                              <a:latin typeface="Cambria Math"/>
                            </a:rPr>
                          </m:ctrlPr>
                        </m:naryPr>
                        <m:sub>
                          <m:r>
                            <a:rPr sz="2400">
                              <a:solidFill>
                                <a:srgbClr val="147C60"/>
                              </a:solidFill>
                              <a:latin typeface="Cambria Math"/>
                            </a:rPr>
                            <m:t>0</m:t>
                          </m:r>
                        </m:sub>
                        <m:sup>
                          <m:r>
                            <a:rPr sz="2400">
                              <a:solidFill>
                                <a:srgbClr val="147C60"/>
                              </a:solidFill>
                              <a:latin typeface="Cambria Math"/>
                            </a:rPr>
                            <m:t>𝑇</m:t>
                          </m:r>
                        </m:sup>
                        <m:e>
                          <m:sSup>
                            <m:sSupPr>
                              <m:ctrlPr>
                                <a:rPr sz="2400" i="1">
                                  <a:solidFill>
                                    <a:srgbClr val="147C60"/>
                                  </a:solidFill>
                                  <a:latin typeface="Cambria Math" panose="02040503050406030204" pitchFamily="18" charset="0"/>
                                </a:rPr>
                              </m:ctrlPr>
                            </m:sSupPr>
                            <m:e>
                              <m:d>
                                <m:dPr>
                                  <m:begChr m:val="‖"/>
                                  <m:endChr m:val="‖"/>
                                  <m:ctrlPr>
                                    <a:rPr sz="2400" i="1">
                                      <a:solidFill>
                                        <a:srgbClr val="147C60"/>
                                      </a:solidFill>
                                      <a:latin typeface="Cambria Math" panose="02040503050406030204" pitchFamily="18" charset="0"/>
                                    </a:rPr>
                                  </m:ctrlPr>
                                </m:dPr>
                                <m:e>
                                  <m:acc>
                                    <m:accPr>
                                      <m:chr m:val="̃"/>
                                      <m:ctrlPr>
                                        <a:rPr sz="2400">
                                          <a:solidFill>
                                            <a:srgbClr val="147C60"/>
                                          </a:solidFill>
                                          <a:latin typeface="Cambria Math"/>
                                        </a:rPr>
                                      </m:ctrlPr>
                                    </m:accPr>
                                    <m:e>
                                      <m:r>
                                        <a:rPr sz="2400">
                                          <a:solidFill>
                                            <a:srgbClr val="147C60"/>
                                          </a:solidFill>
                                          <a:latin typeface="Cambria Math"/>
                                        </a:rPr>
                                        <m:t>𝑧</m:t>
                                      </m:r>
                                    </m:e>
                                  </m:acc>
                                  <m:d>
                                    <m:dPr>
                                      <m:ctrlPr>
                                        <a:rPr sz="2400">
                                          <a:solidFill>
                                            <a:srgbClr val="147C60"/>
                                          </a:solidFill>
                                          <a:latin typeface="Cambria Math"/>
                                        </a:rPr>
                                      </m:ctrlPr>
                                    </m:dPr>
                                    <m:e>
                                      <m:r>
                                        <a:rPr sz="2400">
                                          <a:solidFill>
                                            <a:srgbClr val="147C60"/>
                                          </a:solidFill>
                                          <a:latin typeface="Cambria Math"/>
                                        </a:rPr>
                                        <m:t>𝑡</m:t>
                                      </m:r>
                                    </m:e>
                                  </m:d>
                                </m:e>
                              </m:d>
                            </m:e>
                            <m:sup>
                              <m:r>
                                <a:rPr sz="2400">
                                  <a:solidFill>
                                    <a:srgbClr val="147C60"/>
                                  </a:solidFill>
                                  <a:latin typeface="Cambria Math"/>
                                </a:rPr>
                                <m:t>2</m:t>
                              </m:r>
                            </m:sup>
                          </m:sSup>
                          <m:r>
                            <a:rPr sz="2400">
                              <a:solidFill>
                                <a:srgbClr val="147C60"/>
                              </a:solidFill>
                              <a:latin typeface="Cambria Math"/>
                            </a:rPr>
                            <m:t>𝑑𝑡</m:t>
                          </m:r>
                        </m:e>
                      </m:nary>
                      <m:r>
                        <a:rPr sz="2400">
                          <a:solidFill>
                            <a:srgbClr val="147C60"/>
                          </a:solidFill>
                          <a:latin typeface="Cambria Math"/>
                        </a:rPr>
                        <m:t>,   ∀</m:t>
                      </m:r>
                      <m:r>
                        <a:rPr sz="2400">
                          <a:solidFill>
                            <a:srgbClr val="147C60"/>
                          </a:solidFill>
                          <a:latin typeface="Cambria Math"/>
                        </a:rPr>
                        <m:t>𝑇</m:t>
                      </m:r>
                      <m:r>
                        <a:rPr sz="2400">
                          <a:solidFill>
                            <a:srgbClr val="147C60"/>
                          </a:solidFill>
                          <a:latin typeface="Cambria Math"/>
                        </a:rPr>
                        <m:t>≥0</m:t>
                      </m:r>
                    </m:oMath>
                  </m:oMathPara>
                </a14:m>
                <a:endParaRPr sz="2400"/>
              </a:p>
            </p:txBody>
          </p:sp>
        </mc:Choice>
        <mc:Fallback>
          <p:sp>
            <p:nvSpPr>
              <p:cNvPr id="8023" name="Energy inequality"/>
              <p:cNvSpPr>
                <a:spLocks noRot="1" noChangeAspect="1" noMove="1" noResize="1" noEditPoints="1" noAdjustHandles="1" noChangeArrowheads="1" noChangeShapeType="1" noTextEdit="1"/>
              </p:cNvSpPr>
              <p:nvPr/>
            </p:nvSpPr>
            <p:spPr>
              <a:xfrm>
                <a:off x="444500" y="3548380"/>
                <a:ext cx="8255000" cy="8534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animEffect transition="in" filter="fade">
                                      <p:cBhvr>
                                        <p:cTn id="7" dur="350"/>
                                        <p:tgtEl>
                                          <p:spTgt spid="8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006"/>
                                        </p:tgtEl>
                                        <p:attrNameLst>
                                          <p:attrName>style.visibility</p:attrName>
                                        </p:attrNameLst>
                                      </p:cBhvr>
                                      <p:to>
                                        <p:strVal val="visible"/>
                                      </p:to>
                                    </p:set>
                                    <p:animEffect transition="in" filter="fade">
                                      <p:cBhvr>
                                        <p:cTn id="10" dur="350"/>
                                        <p:tgtEl>
                                          <p:spTgt spid="8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022"/>
                                        </p:tgtEl>
                                        <p:attrNameLst>
                                          <p:attrName>style.visibility</p:attrName>
                                        </p:attrNameLst>
                                      </p:cBhvr>
                                      <p:to>
                                        <p:strVal val="visible"/>
                                      </p:to>
                                    </p:set>
                                    <p:animEffect transition="in" filter="fade">
                                      <p:cBhvr>
                                        <p:cTn id="15" dur="350"/>
                                        <p:tgtEl>
                                          <p:spTgt spid="802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023"/>
                                        </p:tgtEl>
                                        <p:attrNameLst>
                                          <p:attrName>style.visibility</p:attrName>
                                        </p:attrNameLst>
                                      </p:cBhvr>
                                      <p:to>
                                        <p:strVal val="visible"/>
                                      </p:to>
                                    </p:set>
                                    <p:animEffect transition="in" filter="fade">
                                      <p:cBhvr>
                                        <p:cTn id="20" dur="350"/>
                                        <p:tgtEl>
                                          <p:spTgt spid="802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024"/>
                                        </p:tgtEl>
                                        <p:attrNameLst>
                                          <p:attrName>style.visibility</p:attrName>
                                        </p:attrNameLst>
                                      </p:cBhvr>
                                      <p:to>
                                        <p:strVal val="visible"/>
                                      </p:to>
                                    </p:set>
                                    <p:animEffect transition="in" filter="fade">
                                      <p:cBhvr>
                                        <p:cTn id="23" dur="350"/>
                                        <p:tgtEl>
                                          <p:spTgt spid="80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2" grpId="0"/>
      <p:bldP spid="8023" grpId="0"/>
      <p:bldP spid="8024" grpId="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46</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48</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5543</TotalTime>
  <Words>7828</Words>
  <Application>Microsoft Office PowerPoint</Application>
  <PresentationFormat>On-screen Show (16:9)</PresentationFormat>
  <Paragraphs>1035</Paragraphs>
  <Slides>56</Slides>
  <Notes>44</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38</cp:revision>
  <dcterms:created xsi:type="dcterms:W3CDTF">2019-11-27T15:26:32Z</dcterms:created>
  <dcterms:modified xsi:type="dcterms:W3CDTF">2026-09-27T16:37:26Z</dcterms:modified>
</cp:coreProperties>
</file>