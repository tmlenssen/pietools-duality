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75" d="100"/>
          <a:sy n="75" d="100"/>
        </p:scale>
        <p:origin x="3678" y="89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narrative_image111.png"/><Relationship Id="rId3" Type="http://schemas.openxmlformats.org/officeDocument/2006/relationships/image" Target="../media/slide37narrative_image106.png"/><Relationship Id="rId7" Type="http://schemas.openxmlformats.org/officeDocument/2006/relationships/image" Target="../media/slide37narrative_image110.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slide37narrative_image108.png"/><Relationship Id="rId4" Type="http://schemas.openxmlformats.org/officeDocument/2006/relationships/image" Target="../media/image106.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1.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4.png"/></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mc:Choice xmlns:a14="http://schemas.microsoft.com/office/drawing/2010/main"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p:sp>
        <p:nvSpPr>
          <p:cNvPr id="8022" name="Pointwise inequality"/>
          <p:cNvSpPr/>
          <p:nvPr/>
        </p:nvSpPr>
        <p:spPr>
          <a:xfrm>
            <a:off x="444500" y="2555240"/>
            <a:ext cx="8255000" cy="96012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700">
                          <a:solidFill>
                            <a:srgbClr val="252529"/>
                          </a:solidFill>
                          <a:latin typeface="Cambria Math"/>
                        </a:rPr>
                      </m:ctrlPr>
                    </m:sSupPr>
                    <m:e>
                      <m:d>
                        <m:dPr>
                          <m:begChr m:val="‖"/>
                          <m:endChr m:val="‖"/>
                          <m:ctrlPr>
                            <a:rPr sz="2700">
                              <a:solidFill>
                                <a:srgbClr val="252529"/>
                              </a:solidFill>
                              <a:latin typeface="Cambria Math"/>
                            </a:rPr>
                          </m:ctrlPr>
                        </m:dPr>
                        <m:e>
                          <m:acc>
                            <m:accPr>
                              <m:chr m:val="̃"/>
                              <m:ctrlPr>
                                <a:rPr sz="2700">
                                  <a:solidFill>
                                    <a:srgbClr val="252529"/>
                                  </a:solidFill>
                                  <a:latin typeface="Cambria Math"/>
                                </a:rPr>
                              </m:ctrlPr>
                            </m:accPr>
                            <m:e>
                              <m:r>
                                <m:rPr>
                                  <m:sty m:val="i"/>
                                </m:rPr>
                                <a:rPr sz="2700">
                                  <a:solidFill>
                                    <a:srgbClr val="252529"/>
                                  </a:solidFill>
                                  <a:latin typeface="Cambria Math"/>
                                </a:rPr>
                                <m:t xml:space="preserve">w</m:t>
                              </m:r>
                            </m:e>
                          </m:acc>
                        </m:e>
                      </m:d>
                    </m:e>
                    <m:sup>
                      <m:r>
                        <m:rPr>
                          <m:sty m:val="p"/>
                        </m:rPr>
                        <a:rPr sz="2700">
                          <a:solidFill>
                            <a:srgbClr val="252529"/>
                          </a:solidFill>
                          <a:latin typeface="Cambria Math"/>
                        </a:rPr>
                        <m:t xml:space="preserve">2</m:t>
                      </m:r>
                    </m:sup>
                  </m:sSup>
                  <m:r>
                    <m:rPr>
                      <m:sty m:val="p"/>
                    </m:rPr>
                    <a:rPr sz="2700">
                      <a:solidFill>
                        <a:srgbClr val="252529"/>
                      </a:solidFill>
                      <a:latin typeface="Cambria Math"/>
                    </a:rPr>
                    <m:t xml:space="preserve">≤</m:t>
                  </m:r>
                  <m:sSup>
                    <m:sSupPr>
                      <m:ctrlPr>
                        <a:rPr sz="2700">
                          <a:solidFill>
                            <a:srgbClr val="252529"/>
                          </a:solidFill>
                          <a:latin typeface="Cambria Math"/>
                        </a:rPr>
                      </m:ctrlPr>
                    </m:sSupPr>
                    <m:e>
                      <m:d>
                        <m:dPr>
                          <m:begChr m:val="‖"/>
                          <m:endChr m:val="‖"/>
                          <m:ctrlPr>
                            <a:rPr sz="2700">
                              <a:solidFill>
                                <a:srgbClr val="252529"/>
                              </a:solidFill>
                              <a:latin typeface="Cambria Math"/>
                            </a:rPr>
                          </m:ctrlPr>
                        </m:dPr>
                        <m:e>
                          <m:acc>
                            <m:accPr>
                              <m:chr m:val="̃"/>
                              <m:ctrlPr>
                                <a:rPr sz="2700">
                                  <a:solidFill>
                                    <a:srgbClr val="252529"/>
                                  </a:solidFill>
                                  <a:latin typeface="Cambria Math"/>
                                </a:rPr>
                              </m:ctrlPr>
                            </m:accPr>
                            <m:e>
                              <m:r>
                                <m:rPr>
                                  <m:sty m:val="i"/>
                                </m:rPr>
                                <a:rPr sz="2700">
                                  <a:solidFill>
                                    <a:srgbClr val="252529"/>
                                  </a:solidFill>
                                  <a:latin typeface="Cambria Math"/>
                                </a:rPr>
                                <m:t xml:space="preserve">z</m:t>
                              </m:r>
                            </m:e>
                          </m:acc>
                        </m:e>
                      </m:d>
                    </m:e>
                    <m:sup>
                      <m:r>
                        <m:rPr>
                          <m:sty m:val="p"/>
                        </m:rPr>
                        <a:rPr sz="2700">
                          <a:solidFill>
                            <a:srgbClr val="252529"/>
                          </a:solidFill>
                          <a:latin typeface="Cambria Math"/>
                        </a:rPr>
                        <m:t xml:space="preserve">2</m:t>
                      </m:r>
                    </m:sup>
                  </m:sSup>
                </m:oMath>
              </m:oMathPara>
            </a14:m>
            <a:endParaRPr sz="2700"/>
          </a:p>
        </p:txBody>
      </p:sp>
      <p:sp>
        <p:nvSpPr>
          <p:cNvPr id="8023" name="Energy inequality"/>
          <p:cNvSpPr/>
          <p:nvPr/>
        </p:nvSpPr>
        <p:spPr>
          <a:xfrm>
            <a:off x="444500" y="3548380"/>
            <a:ext cx="8255000" cy="8534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2400">
                          <a:solidFill>
                            <a:srgbClr val="147C60"/>
                          </a:solidFill>
                          <a:latin typeface="Cambria Math"/>
                        </a:rPr>
                      </m:ctrlPr>
                    </m:naryPr>
                    <m:sub>
                      <m:r>
                        <m:rPr>
                          <m:sty m:val="p"/>
                        </m:rPr>
                        <a:rPr sz="2400">
                          <a:solidFill>
                            <a:srgbClr val="147C60"/>
                          </a:solidFill>
                          <a:latin typeface="Cambria Math"/>
                        </a:rPr>
                        <m:t xml:space="preserve">0</m:t>
                      </m:r>
                    </m:sub>
                    <m:sup>
                      <m:r>
                        <m:rPr>
                          <m:sty m:val="i"/>
                        </m:rPr>
                        <a:rPr sz="2400">
                          <a:solidFill>
                            <a:srgbClr val="147C60"/>
                          </a:solidFill>
                          <a:latin typeface="Cambria Math"/>
                        </a:rPr>
                        <m:t xml:space="preserve">T</m:t>
                      </m:r>
                    </m:sup>
                    <m:e>
                      <m:sSup>
                        <m:sSupPr>
                          <m:ctrlPr>
                            <a:rPr sz="2400">
                              <a:solidFill>
                                <a:srgbClr val="147C60"/>
                              </a:solidFill>
                              <a:latin typeface="Cambria Math"/>
                            </a:rPr>
                          </m:ctrlPr>
                        </m:sSupPr>
                        <m:e>
                          <m:d>
                            <m:dPr>
                              <m:begChr m:val="‖"/>
                              <m:endChr m:val="‖"/>
                              <m:ctrlPr>
                                <a:rPr sz="2400">
                                  <a:solidFill>
                                    <a:srgbClr val="147C60"/>
                                  </a:solidFill>
                                  <a:latin typeface="Cambria Math"/>
                                </a:rPr>
                              </m:ctrlPr>
                            </m:dPr>
                            <m:e>
                              <m:acc>
                                <m:accPr>
                                  <m:chr m:val="̃"/>
                                  <m:ctrlPr>
                                    <a:rPr sz="2400">
                                      <a:solidFill>
                                        <a:srgbClr val="147C60"/>
                                      </a:solidFill>
                                      <a:latin typeface="Cambria Math"/>
                                    </a:rPr>
                                  </m:ctrlPr>
                                </m:accPr>
                                <m:e>
                                  <m:r>
                                    <m:rPr>
                                      <m:sty m:val="i"/>
                                    </m:rPr>
                                    <a:rPr sz="2400">
                                      <a:solidFill>
                                        <a:srgbClr val="147C60"/>
                                      </a:solidFill>
                                      <a:latin typeface="Cambria Math"/>
                                    </a:rPr>
                                    <m:t xml:space="preserve">w</m:t>
                                  </m:r>
                                </m:e>
                              </m:acc>
                              <m:d>
                                <m:dPr>
                                  <m:begChr m:val="("/>
                                  <m:endChr m:val=")"/>
                                  <m:ctrlPr>
                                    <a:rPr sz="2400">
                                      <a:solidFill>
                                        <a:srgbClr val="147C60"/>
                                      </a:solidFill>
                                      <a:latin typeface="Cambria Math"/>
                                    </a:rPr>
                                  </m:ctrlPr>
                                </m:dPr>
                                <m:e>
                                  <m:r>
                                    <m:rPr>
                                      <m:sty m:val="i"/>
                                    </m:rPr>
                                    <a:rPr sz="2400">
                                      <a:solidFill>
                                        <a:srgbClr val="147C60"/>
                                      </a:solidFill>
                                      <a:latin typeface="Cambria Math"/>
                                    </a:rPr>
                                    <m:t xml:space="preserve">t</m:t>
                                  </m:r>
                                </m:e>
                              </m:d>
                            </m:e>
                          </m:d>
                        </m:e>
                        <m:sup>
                          <m:r>
                            <m:rPr>
                              <m:sty m:val="p"/>
                            </m:rPr>
                            <a:rPr sz="2400">
                              <a:solidFill>
                                <a:srgbClr val="147C60"/>
                              </a:solidFill>
                              <a:latin typeface="Cambria Math"/>
                            </a:rPr>
                            <m:t xml:space="preserve">2</m:t>
                          </m:r>
                        </m:sup>
                      </m:sSup>
                      <m:r>
                        <m:rPr>
                          <m:sty m:val="i"/>
                        </m:rPr>
                        <a:rPr sz="2400">
                          <a:solidFill>
                            <a:srgbClr val="147C60"/>
                          </a:solidFill>
                          <a:latin typeface="Cambria Math"/>
                        </a:rPr>
                        <m:t xml:space="preserve">dt</m:t>
                      </m:r>
                    </m:e>
                  </m:nary>
                  <m:r>
                    <m:rPr>
                      <m:sty m:val="p"/>
                    </m:rPr>
                    <a:rPr sz="2400">
                      <a:solidFill>
                        <a:srgbClr val="147C60"/>
                      </a:solidFill>
                      <a:latin typeface="Cambria Math"/>
                    </a:rPr>
                    <m:t xml:space="preserve">≤</m:t>
                  </m:r>
                  <m:nary>
                    <m:naryPr>
                      <m:chr m:val="∫"/>
                      <m:limLoc m:val="subSup"/>
                      <m:ctrlPr>
                        <a:rPr sz="2400">
                          <a:solidFill>
                            <a:srgbClr val="147C60"/>
                          </a:solidFill>
                          <a:latin typeface="Cambria Math"/>
                        </a:rPr>
                      </m:ctrlPr>
                    </m:naryPr>
                    <m:sub>
                      <m:r>
                        <m:rPr>
                          <m:sty m:val="p"/>
                        </m:rPr>
                        <a:rPr sz="2400">
                          <a:solidFill>
                            <a:srgbClr val="147C60"/>
                          </a:solidFill>
                          <a:latin typeface="Cambria Math"/>
                        </a:rPr>
                        <m:t xml:space="preserve">0</m:t>
                      </m:r>
                    </m:sub>
                    <m:sup>
                      <m:r>
                        <m:rPr>
                          <m:sty m:val="i"/>
                        </m:rPr>
                        <a:rPr sz="2400">
                          <a:solidFill>
                            <a:srgbClr val="147C60"/>
                          </a:solidFill>
                          <a:latin typeface="Cambria Math"/>
                        </a:rPr>
                        <m:t xml:space="preserve">T</m:t>
                      </m:r>
                    </m:sup>
                    <m:e>
                      <m:sSup>
                        <m:sSupPr>
                          <m:ctrlPr>
                            <a:rPr sz="2400">
                              <a:solidFill>
                                <a:srgbClr val="147C60"/>
                              </a:solidFill>
                              <a:latin typeface="Cambria Math"/>
                            </a:rPr>
                          </m:ctrlPr>
                        </m:sSupPr>
                        <m:e>
                          <m:d>
                            <m:dPr>
                              <m:begChr m:val="‖"/>
                              <m:endChr m:val="‖"/>
                              <m:ctrlPr>
                                <a:rPr sz="2400">
                                  <a:solidFill>
                                    <a:srgbClr val="147C60"/>
                                  </a:solidFill>
                                  <a:latin typeface="Cambria Math"/>
                                </a:rPr>
                              </m:ctrlPr>
                            </m:dPr>
                            <m:e>
                              <m:acc>
                                <m:accPr>
                                  <m:chr m:val="̃"/>
                                  <m:ctrlPr>
                                    <a:rPr sz="2400">
                                      <a:solidFill>
                                        <a:srgbClr val="147C60"/>
                                      </a:solidFill>
                                      <a:latin typeface="Cambria Math"/>
                                    </a:rPr>
                                  </m:ctrlPr>
                                </m:accPr>
                                <m:e>
                                  <m:r>
                                    <m:rPr>
                                      <m:sty m:val="i"/>
                                    </m:rPr>
                                    <a:rPr sz="2400">
                                      <a:solidFill>
                                        <a:srgbClr val="147C60"/>
                                      </a:solidFill>
                                      <a:latin typeface="Cambria Math"/>
                                    </a:rPr>
                                    <m:t xml:space="preserve">z</m:t>
                                  </m:r>
                                </m:e>
                              </m:acc>
                              <m:d>
                                <m:dPr>
                                  <m:begChr m:val="("/>
                                  <m:endChr m:val=")"/>
                                  <m:ctrlPr>
                                    <a:rPr sz="2400">
                                      <a:solidFill>
                                        <a:srgbClr val="147C60"/>
                                      </a:solidFill>
                                      <a:latin typeface="Cambria Math"/>
                                    </a:rPr>
                                  </m:ctrlPr>
                                </m:dPr>
                                <m:e>
                                  <m:r>
                                    <m:rPr>
                                      <m:sty m:val="i"/>
                                    </m:rPr>
                                    <a:rPr sz="2400">
                                      <a:solidFill>
                                        <a:srgbClr val="147C60"/>
                                      </a:solidFill>
                                      <a:latin typeface="Cambria Math"/>
                                    </a:rPr>
                                    <m:t xml:space="preserve">t</m:t>
                                  </m:r>
                                </m:e>
                              </m:d>
                            </m:e>
                          </m:d>
                        </m:e>
                        <m:sup>
                          <m:r>
                            <m:rPr>
                              <m:sty m:val="p"/>
                            </m:rPr>
                            <a:rPr sz="2400">
                              <a:solidFill>
                                <a:srgbClr val="147C60"/>
                              </a:solidFill>
                              <a:latin typeface="Cambria Math"/>
                            </a:rPr>
                            <m:t xml:space="preserve">2</m:t>
                          </m:r>
                        </m:sup>
                      </m:sSup>
                      <m:r>
                        <m:rPr>
                          <m:sty m:val="i"/>
                        </m:rPr>
                        <a:rPr sz="2400">
                          <a:solidFill>
                            <a:srgbClr val="147C60"/>
                          </a:solidFill>
                          <a:latin typeface="Cambria Math"/>
                        </a:rPr>
                        <m:t xml:space="preserve">dt</m:t>
                      </m:r>
                    </m:e>
                  </m:nary>
                  <m:r>
                    <m:rPr>
                      <m:sty m:val="i"/>
                    </m:rPr>
                    <a:rPr sz="2400">
                      <a:solidFill>
                        <a:srgbClr val="147C60"/>
                      </a:solidFill>
                      <a:latin typeface="Cambria Math"/>
                    </a:rPr>
                    <m:t xml:space="preserve">,   ∀T≥0</m:t>
                  </m:r>
                </m:oMath>
              </m:oMathPara>
            </a14:m>
            <a:endParaRPr sz="2400"/>
          </a:p>
        </p:txBody>
      </p:sp>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aseline="0" b="0" i="0" u="none">
                <a:solidFill>
                  <a:srgbClr val="147C60"/>
                </a:solidFill>
                <a:latin typeface="Aptos"/>
                <a:ea typeface="Aptos"/>
                <a:cs typeface="Aptos"/>
              </a:rPr>
              <a:t xml:space="preserve">The transformed output energy cannot exceed the input energy.</a:t>
            </a:r>
            <a:endParaRPr sz="14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5543</TotalTime>
  <Words>7828</Words>
  <Application>Microsoft Office PowerPoint</Application>
  <PresentationFormat>On-screen Show (16:9)</PresentationFormat>
  <Paragraphs>1035</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38</cp:revision>
  <dcterms:created xsi:type="dcterms:W3CDTF">2019-11-27T15:26:32Z</dcterms:created>
  <dcterms:modified xsi:type="dcterms:W3CDTF">2026-09-27T16:37:26Z</dcterms:modified>
</cp:coreProperties>
</file>