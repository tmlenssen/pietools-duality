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75" d="100"/>
          <a:sy n="75" d="100"/>
        </p:scale>
        <p:origin x="3678" y="89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3" Type="http://schemas.openxmlformats.org/officeDocument/2006/relationships/image" Target="../media/slide37narrative_image106.png"/><Relationship Id="rId7" Type="http://schemas.openxmlformats.org/officeDocument/2006/relationships/image" Target="../media/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107.png"/><Relationship Id="rId5" Type="http://schemas.openxmlformats.org/officeDocument/2006/relationships/image" Target="../media/slide37narrative_image108.png"/><Relationship Id="rId4" Type="http://schemas.openxmlformats.org/officeDocument/2006/relationships/image" Target="../media/image106.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1.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2.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3.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5.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4.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6.png"/></Relationships>
</file>

<file path=ppt/slides/_rels/slide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7.png"/></Relationships>
</file>

<file path=ppt/slides/_rels/slide5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 xmlns:m="http://schemas.openxmlformats.org/officeDocument/2006/math">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m="http://schemas.openxmlformats.org/officeDocument/2006/math"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mc:Choice xmlns:a14="http://schemas.microsoft.com/office/drawing/2010/main" Requires="a14">
          <p:sp>
            <p:nvSpPr>
              <p:cNvPr id="8022" name="Pointwise inequality"/>
              <p:cNvSpPr/>
              <p:nvPr/>
            </p:nvSpPr>
            <p:spPr>
              <a:xfrm>
                <a:off x="444500" y="25552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oMath>
                  </m:oMathPara>
                </a14:m>
                <a:endParaRPr sz="2700"/>
              </a:p>
            </p:txBody>
          </p:sp>
        </mc:Choice>
        <mc:Fallback>
          <p:sp>
            <p:nvSpPr>
              <p:cNvPr id="8022" name="Pointwise inequality"/>
              <p:cNvSpPr>
                <a:spLocks noRot="1" noChangeAspect="1" noMove="1" noResize="1" noEditPoints="1" noAdjustHandles="1" noChangeArrowheads="1" noChangeShapeType="1" noTextEdit="1"/>
              </p:cNvSpPr>
              <p:nvPr/>
            </p:nvSpPr>
            <p:spPr>
              <a:xfrm>
                <a:off x="444500" y="2555240"/>
                <a:ext cx="8255000" cy="96012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23" name="Energy inequality"/>
              <p:cNvSpPr/>
              <p:nvPr/>
            </p:nvSpPr>
            <p:spPr>
              <a:xfrm>
                <a:off x="444500" y="35483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400">
                              <a:solidFill>
                                <a:srgbClr val="147C60"/>
                              </a:solidFill>
                              <a:latin typeface="Cambria Math"/>
                            </a:rPr>
                          </m:ctrlPr>
                        </m:naryPr>
                        <m:sub>
                          <m:r>
                            <a:rPr sz="2400">
                              <a:solidFill>
                                <a:srgbClr val="147C60"/>
                              </a:solidFill>
                              <a:latin typeface="Cambria Math"/>
                            </a:rPr>
                            <m:t>0</m:t>
                          </m:r>
                        </m:sub>
                        <m:sup>
                          <m:r>
                            <a:rPr sz="2400">
                              <a:solidFill>
                                <a:srgbClr val="147C60"/>
                              </a:solidFill>
                              <a:latin typeface="Cambria Math"/>
                            </a:rPr>
                            <m:t>𝑇</m:t>
                          </m:r>
                        </m:sup>
                        <m:e>
                          <m:sSup>
                            <m:sSupPr>
                              <m:ctrlPr>
                                <a:rPr sz="2400" i="1">
                                  <a:solidFill>
                                    <a:srgbClr val="147C60"/>
                                  </a:solidFill>
                                  <a:latin typeface="Cambria Math" panose="02040503050406030204" pitchFamily="18" charset="0"/>
                                </a:rPr>
                              </m:ctrlPr>
                            </m:sSupPr>
                            <m:e>
                              <m:d>
                                <m:dPr>
                                  <m:begChr m:val="‖"/>
                                  <m:endChr m:val="‖"/>
                                  <m:ctrlPr>
                                    <a:rPr sz="2400" i="1">
                                      <a:solidFill>
                                        <a:srgbClr val="147C60"/>
                                      </a:solidFill>
                                      <a:latin typeface="Cambria Math" panose="02040503050406030204" pitchFamily="18" charset="0"/>
                                    </a:rPr>
                                  </m:ctrlPr>
                                </m:dPr>
                                <m:e>
                                  <m:acc>
                                    <m:accPr>
                                      <m:chr m:val="̃"/>
                                      <m:ctrlPr>
                                        <a:rPr sz="2400">
                                          <a:solidFill>
                                            <a:srgbClr val="147C60"/>
                                          </a:solidFill>
                                          <a:latin typeface="Cambria Math"/>
                                        </a:rPr>
                                      </m:ctrlPr>
                                    </m:accPr>
                                    <m:e>
                                      <m:r>
                                        <a:rPr sz="2400">
                                          <a:solidFill>
                                            <a:srgbClr val="147C60"/>
                                          </a:solidFill>
                                          <a:latin typeface="Cambria Math"/>
                                        </a:rPr>
                                        <m:t>𝑤</m:t>
                                      </m:r>
                                    </m:e>
                                  </m:acc>
                                  <m:d>
                                    <m:dPr>
                                      <m:ctrlPr>
                                        <a:rPr sz="2400">
                                          <a:solidFill>
                                            <a:srgbClr val="147C60"/>
                                          </a:solidFill>
                                          <a:latin typeface="Cambria Math"/>
                                        </a:rPr>
                                      </m:ctrlPr>
                                    </m:dPr>
                                    <m:e>
                                      <m:r>
                                        <a:rPr sz="2400">
                                          <a:solidFill>
                                            <a:srgbClr val="147C60"/>
                                          </a:solidFill>
                                          <a:latin typeface="Cambria Math"/>
                                        </a:rPr>
                                        <m:t>𝑡</m:t>
                                      </m:r>
                                    </m:e>
                                  </m:d>
                                </m:e>
                              </m:d>
                            </m:e>
                            <m:sup>
                              <m:r>
                                <a:rPr sz="2400">
                                  <a:solidFill>
                                    <a:srgbClr val="147C60"/>
                                  </a:solidFill>
                                  <a:latin typeface="Cambria Math"/>
                                </a:rPr>
                                <m:t>2</m:t>
                              </m:r>
                            </m:sup>
                          </m:sSup>
                          <m:r>
                            <a:rPr sz="2400">
                              <a:solidFill>
                                <a:srgbClr val="147C60"/>
                              </a:solidFill>
                              <a:latin typeface="Cambria Math"/>
                            </a:rPr>
                            <m:t>𝑑𝑡</m:t>
                          </m:r>
                        </m:e>
                      </m:nary>
                      <m:r>
                        <a:rPr sz="2400">
                          <a:solidFill>
                            <a:srgbClr val="147C60"/>
                          </a:solidFill>
                          <a:latin typeface="Cambria Math"/>
                        </a:rPr>
                        <m:t>≤</m:t>
                      </m:r>
                      <m:nary>
                        <m:naryPr>
                          <m:limLoc m:val="subSup"/>
                          <m:ctrlPr>
                            <a:rPr sz="2400">
                              <a:solidFill>
                                <a:srgbClr val="147C60"/>
                              </a:solidFill>
                              <a:latin typeface="Cambria Math"/>
                            </a:rPr>
                          </m:ctrlPr>
                        </m:naryPr>
                        <m:sub>
                          <m:r>
                            <a:rPr sz="2400">
                              <a:solidFill>
                                <a:srgbClr val="147C60"/>
                              </a:solidFill>
                              <a:latin typeface="Cambria Math"/>
                            </a:rPr>
                            <m:t>0</m:t>
                          </m:r>
                        </m:sub>
                        <m:sup>
                          <m:r>
                            <a:rPr sz="2400">
                              <a:solidFill>
                                <a:srgbClr val="147C60"/>
                              </a:solidFill>
                              <a:latin typeface="Cambria Math"/>
                            </a:rPr>
                            <m:t>𝑇</m:t>
                          </m:r>
                        </m:sup>
                        <m:e>
                          <m:sSup>
                            <m:sSupPr>
                              <m:ctrlPr>
                                <a:rPr sz="2400" i="1">
                                  <a:solidFill>
                                    <a:srgbClr val="147C60"/>
                                  </a:solidFill>
                                  <a:latin typeface="Cambria Math" panose="02040503050406030204" pitchFamily="18" charset="0"/>
                                </a:rPr>
                              </m:ctrlPr>
                            </m:sSupPr>
                            <m:e>
                              <m:d>
                                <m:dPr>
                                  <m:begChr m:val="‖"/>
                                  <m:endChr m:val="‖"/>
                                  <m:ctrlPr>
                                    <a:rPr sz="2400" i="1">
                                      <a:solidFill>
                                        <a:srgbClr val="147C60"/>
                                      </a:solidFill>
                                      <a:latin typeface="Cambria Math" panose="02040503050406030204" pitchFamily="18" charset="0"/>
                                    </a:rPr>
                                  </m:ctrlPr>
                                </m:dPr>
                                <m:e>
                                  <m:acc>
                                    <m:accPr>
                                      <m:chr m:val="̃"/>
                                      <m:ctrlPr>
                                        <a:rPr sz="2400">
                                          <a:solidFill>
                                            <a:srgbClr val="147C60"/>
                                          </a:solidFill>
                                          <a:latin typeface="Cambria Math"/>
                                        </a:rPr>
                                      </m:ctrlPr>
                                    </m:accPr>
                                    <m:e>
                                      <m:r>
                                        <a:rPr sz="2400">
                                          <a:solidFill>
                                            <a:srgbClr val="147C60"/>
                                          </a:solidFill>
                                          <a:latin typeface="Cambria Math"/>
                                        </a:rPr>
                                        <m:t>𝑧</m:t>
                                      </m:r>
                                    </m:e>
                                  </m:acc>
                                  <m:d>
                                    <m:dPr>
                                      <m:ctrlPr>
                                        <a:rPr sz="2400">
                                          <a:solidFill>
                                            <a:srgbClr val="147C60"/>
                                          </a:solidFill>
                                          <a:latin typeface="Cambria Math"/>
                                        </a:rPr>
                                      </m:ctrlPr>
                                    </m:dPr>
                                    <m:e>
                                      <m:r>
                                        <a:rPr sz="2400">
                                          <a:solidFill>
                                            <a:srgbClr val="147C60"/>
                                          </a:solidFill>
                                          <a:latin typeface="Cambria Math"/>
                                        </a:rPr>
                                        <m:t>𝑡</m:t>
                                      </m:r>
                                    </m:e>
                                  </m:d>
                                </m:e>
                              </m:d>
                            </m:e>
                            <m:sup>
                              <m:r>
                                <a:rPr sz="2400">
                                  <a:solidFill>
                                    <a:srgbClr val="147C60"/>
                                  </a:solidFill>
                                  <a:latin typeface="Cambria Math"/>
                                </a:rPr>
                                <m:t>2</m:t>
                              </m:r>
                            </m:sup>
                          </m:sSup>
                          <m:r>
                            <a:rPr sz="2400">
                              <a:solidFill>
                                <a:srgbClr val="147C60"/>
                              </a:solidFill>
                              <a:latin typeface="Cambria Math"/>
                            </a:rPr>
                            <m:t>𝑑𝑡</m:t>
                          </m:r>
                        </m:e>
                      </m:nary>
                      <m:r>
                        <a:rPr sz="2400">
                          <a:solidFill>
                            <a:srgbClr val="147C60"/>
                          </a:solidFill>
                          <a:latin typeface="Cambria Math"/>
                        </a:rPr>
                        <m:t>,   ∀</m:t>
                      </m:r>
                      <m:r>
                        <a:rPr sz="2400">
                          <a:solidFill>
                            <a:srgbClr val="147C60"/>
                          </a:solidFill>
                          <a:latin typeface="Cambria Math"/>
                        </a:rPr>
                        <m:t>𝑇</m:t>
                      </m:r>
                      <m:r>
                        <a:rPr sz="2400">
                          <a:solidFill>
                            <a:srgbClr val="147C60"/>
                          </a:solidFill>
                          <a:latin typeface="Cambria Math"/>
                        </a:rPr>
                        <m:t>≥0</m:t>
                      </m:r>
                    </m:oMath>
                  </m:oMathPara>
                </a14:m>
                <a:endParaRPr sz="2400"/>
              </a:p>
            </p:txBody>
          </p:sp>
        </mc:Choice>
        <mc:Fallback>
          <p:sp>
            <p:nvSpPr>
              <p:cNvPr id="8023" name="Energy inequality"/>
              <p:cNvSpPr>
                <a:spLocks noRot="1" noChangeAspect="1" noMove="1" noResize="1" noEditPoints="1" noAdjustHandles="1" noChangeArrowheads="1" noChangeShapeType="1" noTextEdit="1"/>
              </p:cNvSpPr>
              <p:nvPr/>
            </p:nvSpPr>
            <p:spPr>
              <a:xfrm>
                <a:off x="444500" y="3548380"/>
                <a:ext cx="8255000" cy="8534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22"/>
                                        </p:tgtEl>
                                        <p:attrNameLst>
                                          <p:attrName>style.visibility</p:attrName>
                                        </p:attrNameLst>
                                      </p:cBhvr>
                                      <p:to>
                                        <p:strVal val="visible"/>
                                      </p:to>
                                    </p:set>
                                    <p:animEffect transition="in" filter="fade">
                                      <p:cBhvr>
                                        <p:cTn id="15" dur="350"/>
                                        <p:tgtEl>
                                          <p:spTgt spid="80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23"/>
                                        </p:tgtEl>
                                        <p:attrNameLst>
                                          <p:attrName>style.visibility</p:attrName>
                                        </p:attrNameLst>
                                      </p:cBhvr>
                                      <p:to>
                                        <p:strVal val="visible"/>
                                      </p:to>
                                    </p:set>
                                    <p:animEffect transition="in" filter="fade">
                                      <p:cBhvr>
                                        <p:cTn id="20" dur="350"/>
                                        <p:tgtEl>
                                          <p:spTgt spid="80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024"/>
                                        </p:tgtEl>
                                        <p:attrNameLst>
                                          <p:attrName>style.visibility</p:attrName>
                                        </p:attrNameLst>
                                      </p:cBhvr>
                                      <p:to>
                                        <p:strVal val="visible"/>
                                      </p:to>
                                    </p:set>
                                    <p:animEffect transition="in" filter="fade">
                                      <p:cBhvr>
                                        <p:cTn id="23"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2" grpId="0"/>
      <p:bldP spid="8023" grpId="0"/>
      <p:bldP spid="802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5543</TotalTime>
  <Words>7817</Words>
  <Application>Microsoft Office PowerPoint</Application>
  <PresentationFormat>On-screen Show (16:9)</PresentationFormat>
  <Paragraphs>1035</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39</cp:revision>
  <dcterms:created xsi:type="dcterms:W3CDTF">2019-11-27T15:26:32Z</dcterms:created>
  <dcterms:modified xsi:type="dcterms:W3CDTF">2026-09-27T16:40:19Z</dcterms:modified>
</cp:coreProperties>
</file>