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8"/>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472" r:id="rId35"/>
    <p:sldId id="256" r:id="rId36"/>
    <p:sldId id="257" r:id="rId37"/>
    <p:sldId id="258" r:id="rId38"/>
    <p:sldId id="453" r:id="rId39"/>
    <p:sldId id="441" r:id="rId40"/>
    <p:sldId id="471" r:id="rId41"/>
    <p:sldId id="442" r:id="rId42"/>
    <p:sldId id="443" r:id="rId43"/>
    <p:sldId id="450" r:id="rId44"/>
    <p:sldId id="451" r:id="rId45"/>
    <p:sldId id="452" r:id="rId46"/>
    <p:sldId id="439" r:id="rId47"/>
    <p:sldId id="458" r:id="rId48"/>
    <p:sldId id="421" r:id="rId49"/>
    <p:sldId id="427" r:id="rId50"/>
    <p:sldId id="431" r:id="rId51"/>
    <p:sldId id="428" r:id="rId52"/>
    <p:sldId id="429" r:id="rId53"/>
    <p:sldId id="432" r:id="rId54"/>
    <p:sldId id="430" r:id="rId55"/>
    <p:sldId id="433" r:id="rId56"/>
    <p:sldId id="434" r:id="rId57"/>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C81919"/>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24" d="100"/>
          <a:sy n="124" d="100"/>
        </p:scale>
        <p:origin x="2820" y="102"/>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51</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52</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53</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54</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55</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editable_370_image34.png"/><Relationship Id="rIdEditable109" Type="http://schemas.openxmlformats.org/officeDocument/2006/relationships/image" Target="../media/editable_375_image3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editable_369_image33.png"/><Relationship Id="rIdEditable108" Type="http://schemas.openxmlformats.org/officeDocument/2006/relationships/image" Target="../media/editable_374_image38.png"/><Relationship Id="rIdEditable111" Type="http://schemas.openxmlformats.org/officeDocument/2006/relationships/image" Target="../media/editable_377_image41.png"/><Relationship Id="rId2" Type="http://schemas.openxmlformats.org/officeDocument/2006/relationships/video" Target="../media/media1.mp4"/><Relationship Id="rIdEditable107" Type="http://schemas.openxmlformats.org/officeDocument/2006/relationships/image" Target="../media/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editable_368_image32.png"/><Relationship Id="rIdEditable110" Type="http://schemas.openxmlformats.org/officeDocument/2006/relationships/image" Target="../media/editable_376_image40.png"/><Relationship Id="rId5" Type="http://schemas.openxmlformats.org/officeDocument/2006/relationships/slideLayout" Target="../slideLayouts/slideLayout5.xml"/><Relationship Id="rIdEditable101" Type="http://schemas.openxmlformats.org/officeDocument/2006/relationships/image" Target="../media/editable_367_image31.png"/><Relationship Id="rIdEditable106" Type="http://schemas.openxmlformats.org/officeDocument/2006/relationships/image" Target="../media/editable_372_image3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editable_366_image30.png"/><Relationship Id="rIdEditable105" Type="http://schemas.openxmlformats.org/officeDocument/2006/relationships/image" Target="../media/editable_371_image35.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neurosim_s4_5.png"/><Relationship Id="rId15" Type="http://schemas.openxmlformats.org/officeDocument/2006/relationships/image" Target="../media/image18.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pn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4.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5.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46.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54.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6.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63.png"/><Relationship Id="rId11" Type="http://schemas.openxmlformats.org/officeDocument/2006/relationships/image" Target="../media/image65.png"/><Relationship Id="rId5" Type="http://schemas.openxmlformats.org/officeDocument/2006/relationships/image" Target="../media/image1.png"/><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7.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7.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54.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RevisedLFR121" Type="http://schemas.openxmlformats.org/officeDocument/2006/relationships/image" Target="../media/revised_lfr19_image103.png"/><Relationship Id="rId4" Type="http://schemas.openxmlformats.org/officeDocument/2006/relationships/image" Target="../media/image68.jpeg"/><Relationship Id="rId9" Type="http://schemas.openxmlformats.org/officeDocument/2006/relationships/image" Target="../media/image72.png"/><Relationship Id="rId14" Type="http://schemas.openxmlformats.org/officeDocument/2006/relationships/image" Target="../media/image702.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0.png"/><Relationship Id="rId5" Type="http://schemas.openxmlformats.org/officeDocument/2006/relationships/image" Target="../media/image752.png"/><Relationship Id="rId4" Type="http://schemas.openxmlformats.org/officeDocument/2006/relationships/image" Target="../media/image74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81.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730.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780.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82.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780.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5.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4.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png"/><Relationship Id="rId10" Type="http://schemas.openxmlformats.org/officeDocument/2006/relationships/image" Target="../media/image790.png"/><Relationship Id="rId4" Type="http://schemas.openxmlformats.org/officeDocument/2006/relationships/image" Target="../media/image97.png"/><Relationship Id="rId9" Type="http://schemas.openxmlformats.org/officeDocument/2006/relationships/image" Target="../media/image780.png"/></Relationships>
</file>

<file path=ppt/slides/_rels/slide3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0.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46.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19" Type="http://schemas.openxmlformats.org/officeDocument/2006/relationships/image" Target="../media/image105.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slide36product_image108.png"/><Relationship Id="rId3" Type="http://schemas.openxmlformats.org/officeDocument/2006/relationships/slideLayout" Target="../slideLayouts/slideLayout12.xml"/><Relationship Id="rIdSectorRefinement35_325" Type="http://schemas.openxmlformats.org/officeDocument/2006/relationships/image" Target="../media/slide36product_slide36smooth_sectorrefinement35_image116.png"/><Relationship Id="rIdSectorRefinement35_105" Type="http://schemas.openxmlformats.org/officeDocument/2006/relationships/image" Target="../media/slide36product_slide36smooth_sectorrefinement35_image119.png"/><Relationship Id="rId7" Type="http://schemas.openxmlformats.org/officeDocument/2006/relationships/image" Target="../media/slide36product_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slide36product_image106.png"/><Relationship Id="rId5" Type="http://schemas.openxmlformats.org/officeDocument/2006/relationships/image" Target="../media/image106.png"/><Relationship Id="rId4" Type="http://schemas.openxmlformats.org/officeDocument/2006/relationships/notesSlide" Target="../notesSlides/notesSlide30.xml"/><Relationship Id="rIdSectorRefinement35_60" Type="http://schemas.openxmlformats.org/officeDocument/2006/relationships/image" Target="../media/slide36product_slide36smooth_sectorrefinement35_image117.png"/></Relationships>
</file>

<file path=ppt/slides/_rels/slide37.xml.rels><?xml version="1.0" encoding="UTF-8" standalone="yes"?>
<Relationships xmlns="http://schemas.openxmlformats.org/package/2006/relationships"><Relationship Id="rId3" Type="http://schemas.openxmlformats.org/officeDocument/2006/relationships/image" Target="../media/slide37norm_slide37narrative_image106.png"/><Relationship Id="rId7" Type="http://schemas.openxmlformats.org/officeDocument/2006/relationships/image" Target="../media/slide37norm_image108.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slide37norm_image107.png"/><Relationship Id="rId5" Type="http://schemas.openxmlformats.org/officeDocument/2006/relationships/image" Target="../media/slide37norm_slide37narrative_image108.png"/><Relationship Id="rId4" Type="http://schemas.openxmlformats.org/officeDocument/2006/relationships/image" Target="../media/slide37norm_image106.png"/></Relationships>
</file>

<file path=ppt/slides/_rels/slide38.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07.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39.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08.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2.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0.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33.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41.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09.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4.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42.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10.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35.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43.xml.rels><?xml version="1.0" encoding="UTF-8" standalone="yes"?>
<Relationships xmlns="http://schemas.openxmlformats.org/package/2006/relationships"><Relationship Id="rId13" Type="http://schemas.openxmlformats.org/officeDocument/2006/relationships/image" Target="../media/image391.png"/><Relationship Id="rId18" Type="http://schemas.openxmlformats.org/officeDocument/2006/relationships/image" Target="../media/image521.png"/><Relationship Id="rId3" Type="http://schemas.openxmlformats.org/officeDocument/2006/relationships/image" Target="../media/image371.png"/><Relationship Id="rId12" Type="http://schemas.openxmlformats.org/officeDocument/2006/relationships/image" Target="../media/image382.png"/><Relationship Id="rId17" Type="http://schemas.openxmlformats.org/officeDocument/2006/relationships/image" Target="../media/image510.png"/><Relationship Id="rId2" Type="http://schemas.openxmlformats.org/officeDocument/2006/relationships/image" Target="../media/image361.png"/><Relationship Id="rId16" Type="http://schemas.openxmlformats.org/officeDocument/2006/relationships/image" Target="../media/image500.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15" Type="http://schemas.openxmlformats.org/officeDocument/2006/relationships/image" Target="../media/image490.png"/><Relationship Id="rId4" Type="http://schemas.openxmlformats.org/officeDocument/2006/relationships/image" Target="../media/image960.png"/><Relationship Id="rId14" Type="http://schemas.openxmlformats.org/officeDocument/2006/relationships/image" Target="../media/image480.png"/></Relationships>
</file>

<file path=ppt/slides/_rels/slide44.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45.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0.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36.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11.png"/><Relationship Id="rIdClosing4" Type="http://schemas.openxmlformats.org/officeDocument/2006/relationships/image" Target="../media/image33.png"/><Relationship Id="rId4" Type="http://schemas.openxmlformats.org/officeDocument/2006/relationships/image" Target="../media/image7.jpg"/></Relationships>
</file>

<file path=ppt/slides/_rels/slide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49.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7.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0.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8.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1.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9.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2.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0.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3.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41.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13.png"/></Relationships>
</file>

<file path=ppt/slides/_rels/slide54.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12.png"/><Relationship Id="rId2" Type="http://schemas.openxmlformats.org/officeDocument/2006/relationships/notesSlide" Target="../notesSlides/notesSlide42.xml"/><Relationship Id="rId1" Type="http://schemas.openxmlformats.org/officeDocument/2006/relationships/slideLayout" Target="../slideLayouts/slideLayout12.xml"/><Relationship Id="rId4" Type="http://schemas.openxmlformats.org/officeDocument/2006/relationships/image" Target="../media/image114.png"/></Relationships>
</file>

<file path=ppt/slides/_rels/slide55.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43.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15.png"/></Relationships>
</file>

<file path=ppt/slides/_rels/slide56.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44.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16.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m="http://schemas.openxmlformats.org/officeDocument/2006/math" xmlns="">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m="http://schemas.openxmlformats.org/officeDocument/2006/math" xmlns="">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m="http://schemas.openxmlformats.org/officeDocument/2006/math" xmlns="">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10000" fill="hold"/>
                                        <p:tgtEl>
                                          <p:spTgt spid="21"/>
                                        </p:tgtEl>
                                      </p:cBhvr>
                                    </p:cmd>
                                    <p:anim calcmode="lin" valueType="num">
                                      <p:cBhvr additive="base">
                                        <p:cTn id="14"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15"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16"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17"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18" fill="hold" display="0">
                  <p:stCondLst>
                    <p:cond delay="indefinite"/>
                  </p:stCondLst>
                </p:cTn>
                <p:tgtEl>
                  <p:spTgt spid="20"/>
                </p:tgtEl>
              </p:cMediaNode>
            </p:video>
            <p:seq concurrent="1" nextAc="seek">
              <p:cTn id="19" restart="whenNotActive" fill="hold" evtFilter="cancelBubble" nodeType="interactiveSeq">
                <p:stCondLst>
                  <p:cond evt="onClick" delay="0">
                    <p:tgtEl>
                      <p:spTgt spid="20"/>
                    </p:tgtEl>
                  </p:cond>
                </p:stCondLst>
                <p:endSync evt="end" delay="0">
                  <p:rtn val="all"/>
                </p:endSync>
                <p:childTnLst>
                  <p:par>
                    <p:cTn id="20" fill="hold">
                      <p:stCondLst>
                        <p:cond delay="0"/>
                      </p:stCondLst>
                      <p:childTnLst>
                        <p:par>
                          <p:cTn id="21" fill="hold">
                            <p:stCondLst>
                              <p:cond delay="0"/>
                            </p:stCondLst>
                            <p:childTnLst>
                              <p:par>
                                <p:cTn id="22" presetID="2" presetClass="mediacall" presetSubtype="0" fill="hold" nodeType="clickEffect">
                                  <p:stCondLst>
                                    <p:cond delay="0"/>
                                  </p:stCondLst>
                                  <p:childTnLst>
                                    <p:cmd type="call" cmd="togglePause">
                                      <p:cBhvr>
                                        <p:cTn id="23" dur="1" fill="hold"/>
                                        <p:tgtEl>
                                          <p:spTgt spid="20"/>
                                        </p:tgtEl>
                                      </p:cBhvr>
                                    </p:cmd>
                                  </p:childTnLst>
                                </p:cTn>
                              </p:par>
                            </p:childTnLst>
                          </p:cTn>
                        </p:par>
                      </p:childTnLst>
                    </p:cTn>
                  </p:par>
                </p:childTnLst>
              </p:cTn>
              <p:nextCondLst>
                <p:cond evt="onClick" delay="0">
                  <p:tgtEl>
                    <p:spTgt spid="20"/>
                  </p:tgtEl>
                </p:cond>
              </p:nextCondLst>
            </p:seq>
            <p:video>
              <p:cMediaNode vol="80000">
                <p:cTn id="24" fill="hold" display="0">
                  <p:stCondLst>
                    <p:cond delay="indefinite"/>
                  </p:stCondLst>
                </p:cTn>
                <p:tgtEl>
                  <p:spTgt spid="21"/>
                </p:tgtEl>
              </p:cMediaNode>
            </p:video>
            <p:seq concurrent="1" nextAc="seek">
              <p:cTn id="25" restart="whenNotActive" fill="hold" evtFilter="cancelBubble" nodeType="interactiveSeq">
                <p:stCondLst>
                  <p:cond evt="onClick" delay="0">
                    <p:tgtEl>
                      <p:spTgt spid="21"/>
                    </p:tgtEl>
                  </p:cond>
                </p:stCondLst>
                <p:endSync evt="end" delay="0">
                  <p:rtn val="all"/>
                </p:endSync>
                <p:childTnLst>
                  <p:par>
                    <p:cTn id="26" fill="hold">
                      <p:stCondLst>
                        <p:cond delay="0"/>
                      </p:stCondLst>
                      <p:childTnLst>
                        <p:par>
                          <p:cTn id="27" fill="hold">
                            <p:stCondLst>
                              <p:cond delay="0"/>
                            </p:stCondLst>
                            <p:childTnLst>
                              <p:par>
                                <p:cTn id="28" presetID="2" presetClass="mediacall" presetSubtype="0" fill="hold" nodeType="clickEffect">
                                  <p:stCondLst>
                                    <p:cond delay="0"/>
                                  </p:stCondLst>
                                  <p:childTnLst>
                                    <p:cmd type="call" cmd="togglePause">
                                      <p:cBhvr>
                                        <p:cTn id="29"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m="http://schemas.openxmlformats.org/officeDocument/2006/math"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5"/>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m="http://schemas.openxmlformats.org/officeDocument/2006/math"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4"/>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xit" presetSubtype="0" fill="hold" grpId="0" nodeType="withEffect">
                                  <p:stCondLst>
                                    <p:cond delay="0"/>
                                  </p:stCondLst>
                                  <p:childTnLst>
                                    <p:set>
                                      <p:cBhvr>
                                        <p:cTn id="14" dur="1" fill="hold">
                                          <p:stCondLst>
                                            <p:cond delay="0"/>
                                          </p:stCondLst>
                                        </p:cTn>
                                        <p:tgtEl>
                                          <p:spTgt spid="5009"/>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7"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xmlns:a14="http://schemas.microsoft.com/office/drawing/2010/main">
          <mc:Choice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 xmlns:m="http://schemas.openxmlformats.org/officeDocument/2006/math">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xmlns="">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 xmlns:m="http://schemas.openxmlformats.org/officeDocument/2006/math">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 xmlns:m="http://schemas.openxmlformats.org/officeDocument/2006/math">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xmlns:a14="http://schemas.microsoft.com/office/drawing/2010/main">
          <mc:Choice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8"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20030"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RevisedLFR121"/>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 xmlns:m="http://schemas.openxmlformats.org/officeDocument/2006/math">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m="http://schemas.openxmlformats.org/officeDocument/2006/math" xmlns="">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m="http://schemas.openxmlformats.org/officeDocument/2006/math" xmlns="">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m="http://schemas.openxmlformats.org/officeDocument/2006/math" xmlns="">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m="http://schemas.openxmlformats.org/officeDocument/2006/math" xmlns="">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NL" sz="1998" smtClean="0">
                                <a:solidFill>
                                  <a:srgbClr val="252529"/>
                                </a:solidFill>
                                <a:latin typeface="Cambria Math"/>
                              </a:rPr>
                            </m:ctrlPr>
                          </m:sSubPr>
                          <m:e>
                            <m:r>
                              <a:rPr lang="en-NL" sz="1998" smtClean="0">
                                <a:solidFill>
                                  <a:srgbClr val="252529"/>
                                </a:solidFill>
                                <a:latin typeface="Cambria Math"/>
                              </a:rPr>
                              <m:t>𝑦</m:t>
                            </m:r>
                          </m:e>
                          <m:sub/>
                        </m:sSub>
                      </m:oMath>
                    </m:oMathPara>
                  </a14:m>
                  <a:endParaRPr sz="1998" dirty="0"/>
                </a:p>
              </p:txBody>
            </p:sp>
          </mc:Choice>
          <mc:Fallback xmlns:m="http://schemas.openxmlformats.org/officeDocument/2006/math"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m="http://schemas.openxmlformats.org/officeDocument/2006/math" xmlns="">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Nominal Controller Synthesis</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107282"/>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107282"/>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70637" y="-1235081"/>
            <a:ext cx="3607759"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89581" y="2570632"/>
            <a:ext cx="1809448"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m="http://schemas.openxmlformats.org/officeDocument/2006/math" xmlns="">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20" name="!!Delta focus">
            <a:extLst>
              <a:ext uri="{FF2B5EF4-FFF2-40B4-BE49-F238E27FC236}">
                <a16:creationId xmlns:a16="http://schemas.microsoft.com/office/drawing/2014/main" id="{B0E20DEB-37B9-460B-FC30-349657C7288C}"/>
              </a:ext>
            </a:extLst>
          </p:cNvPr>
          <p:cNvGrpSpPr/>
          <p:nvPr/>
        </p:nvGrpSpPr>
        <p:grpSpPr>
          <a:xfrm>
            <a:off x="5979171" y="785460"/>
            <a:ext cx="262285" cy="262752"/>
            <a:chOff x="3274060" y="1819146"/>
            <a:chExt cx="563880" cy="563879"/>
          </a:xfrm>
        </p:grpSpPr>
        <p:sp>
          <p:nvSpPr>
            <p:cNvPr id="21" name="Uncertainty">
              <a:extLst>
                <a:ext uri="{FF2B5EF4-FFF2-40B4-BE49-F238E27FC236}">
                  <a16:creationId xmlns:a16="http://schemas.microsoft.com/office/drawing/2014/main" id="{59903BC7-2561-EE93-1E41-DA8E23398F51}"/>
                </a:ext>
              </a:extLst>
            </p:cNvPr>
            <p:cNvSpPr/>
            <p:nvPr/>
          </p:nvSpPr>
          <p:spPr>
            <a:xfrm>
              <a:off x="3274060" y="1819146"/>
              <a:ext cx="563880" cy="563879"/>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3" name="Uncertainty label">
                  <a:extLst>
                    <a:ext uri="{FF2B5EF4-FFF2-40B4-BE49-F238E27FC236}">
                      <a16:creationId xmlns:a16="http://schemas.microsoft.com/office/drawing/2014/main" id="{92613ED2-156A-040B-BFF1-368DF8282A89}"/>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sz="2590" dirty="0"/>
                </a:p>
              </p:txBody>
            </p:sp>
          </mc:Choice>
          <mc:Fallback xmlns="">
            <p:sp>
              <p:nvSpPr>
                <p:cNvPr id="23" name="Uncertainty label">
                  <a:extLst>
                    <a:ext uri="{FF2B5EF4-FFF2-40B4-BE49-F238E27FC236}">
                      <a16:creationId xmlns:a16="http://schemas.microsoft.com/office/drawing/2014/main" id="{92613ED2-156A-040B-BFF1-368DF8282A89}"/>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3"/>
                  <a:stretch>
                    <a:fillRect/>
                  </a:stretch>
                </a:blipFill>
                <a:ln>
                  <a:noFill/>
                  <a:prstDash val="solid"/>
                </a:ln>
              </p:spPr>
              <p:txBody>
                <a:bodyPr/>
                <a:lstStyle/>
                <a:p>
                  <a:r>
                    <a:rPr lang="en-NL">
                      <a:noFill/>
                    </a:rPr>
                    <a:t> </a:t>
                  </a:r>
                </a:p>
              </p:txBody>
            </p:sp>
          </mc:Fallback>
        </mc:AlternateContent>
      </p:grpSp>
      <p:cxnSp>
        <p:nvCxnSpPr>
          <p:cNvPr id="24" name="Straight Arrow Connector 23">
            <a:extLst>
              <a:ext uri="{FF2B5EF4-FFF2-40B4-BE49-F238E27FC236}">
                <a16:creationId xmlns:a16="http://schemas.microsoft.com/office/drawing/2014/main" id="{F3095E5B-5129-11A9-9AAA-FF13ED148A0F}"/>
              </a:ext>
            </a:extLst>
          </p:cNvPr>
          <p:cNvCxnSpPr>
            <a:cxnSpLocks/>
            <a:endCxn id="21" idx="1"/>
          </p:cNvCxnSpPr>
          <p:nvPr/>
        </p:nvCxnSpPr>
        <p:spPr>
          <a:xfrm>
            <a:off x="5635625" y="916835"/>
            <a:ext cx="343546" cy="1"/>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F35EE39-51E3-3250-E12C-6696F14A3121}"/>
              </a:ext>
            </a:extLst>
          </p:cNvPr>
          <p:cNvCxnSpPr>
            <a:cxnSpLocks/>
            <a:stCxn id="23" idx="3"/>
          </p:cNvCxnSpPr>
          <p:nvPr/>
        </p:nvCxnSpPr>
        <p:spPr>
          <a:xfrm>
            <a:off x="6241455" y="916835"/>
            <a:ext cx="35937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Describe the nonlinearity Δ</a:t>
            </a:r>
            <a:endParaRPr sz="2500" dirty="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 xmlns:m="http://schemas.openxmlformats.org/officeDocument/2006/math">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 xmlns:m="http://schemas.openxmlformats.org/officeDocument/2006/math">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 xmlns:m="http://schemas.openxmlformats.org/officeDocument/2006/math">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10" name="Introduce Theta"/>
              <p:cNvSpPr/>
              <p:nvPr/>
            </p:nvSpPr>
            <p:spPr>
              <a:xfrm>
                <a:off x="6329030" y="458375"/>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p:sp>
            <p:nvSpPr>
              <p:cNvPr id="1410" name="Introduce Theta"/>
              <p:cNvSpPr>
                <a:spLocks noRot="1" noChangeAspect="1" noMove="1" noResize="1" noEditPoints="1" noAdjustHandles="1" noChangeArrowheads="1" noChangeShapeType="1" noTextEdit="1"/>
              </p:cNvSpPr>
              <p:nvPr/>
            </p:nvSpPr>
            <p:spPr>
              <a:xfrm>
                <a:off x="6329030" y="458375"/>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60FB63A8-F91E-82A0-2104-2E3294463163}"/>
                  </a:ext>
                </a:extLst>
              </p:cNvPr>
              <p:cNvSpPr txBox="1"/>
              <p:nvPr/>
            </p:nvSpPr>
            <p:spPr>
              <a:xfrm>
                <a:off x="4514850" y="570341"/>
                <a:ext cx="2474395" cy="559640"/>
              </a:xfrm>
              <a:prstGeom prst="rect">
                <a:avLst/>
              </a:prstGeom>
              <a:noFill/>
            </p:spPr>
            <p:txBody>
              <a:bodyPr wrap="none" rtlCol="0">
                <a:spAutoFit/>
              </a:bodyPr>
              <a:lstStyle/>
              <a:p>
                <a14:m>
                  <m:oMathPara xmlns:m="http://schemas.openxmlformats.org/officeDocument/2006/math">
                    <m:oMath>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𝑤</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m:t>
                      </m:r>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oMath>
                  </m:oMathPara>
                </a14:m>
                <a:endParaRPr lang="en-NL" dirty="0"/>
              </a:p>
            </p:txBody>
          </p:sp>
        </mc:Choice>
        <mc:Fallback>
          <p:sp>
            <p:nvSpPr>
              <p:cNvPr id="2" name="TextBox 1">
                <a:extLst>
                  <a:ext uri="{FF2B5EF4-FFF2-40B4-BE49-F238E27FC236}">
                    <a16:creationId xmlns:a16="http://schemas.microsoft.com/office/drawing/2014/main" id="{60FB63A8-F91E-82A0-2104-2E3294463163}"/>
                  </a:ext>
                </a:extLst>
              </p:cNvPr>
              <p:cNvSpPr txBox="1">
                <a:spLocks noRot="1" noChangeAspect="1" noMove="1" noResize="1" noEditPoints="1" noAdjustHandles="1" noChangeArrowheads="1" noChangeShapeType="1" noTextEdit="1"/>
              </p:cNvSpPr>
              <p:nvPr/>
            </p:nvSpPr>
            <p:spPr>
              <a:xfrm>
                <a:off x="4514850" y="570341"/>
                <a:ext cx="2474395" cy="559640"/>
              </a:xfrm>
              <a:prstGeom prst="rect">
                <a:avLst/>
              </a:prstGeom>
              <a:blipFill>
                <a:blip r:embed="rId19"/>
                <a:stretch>
                  <a:fillRect l="-24877" t="-145055" r="-3695" b="-217582"/>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822CA000-9E64-D9DE-899B-05979CC7D4F9}"/>
              </a:ext>
            </a:extLst>
          </p:cNvPr>
          <p:cNvSpPr txBox="1"/>
          <p:nvPr/>
        </p:nvSpPr>
        <p:spPr>
          <a:xfrm>
            <a:off x="4683261" y="262262"/>
            <a:ext cx="1553182" cy="300082"/>
          </a:xfrm>
          <a:prstGeom prst="rect">
            <a:avLst/>
          </a:prstGeom>
          <a:noFill/>
        </p:spPr>
        <p:txBody>
          <a:bodyPr wrap="none" rtlCol="0">
            <a:spAutoFit/>
          </a:bodyPr>
          <a:lstStyle/>
          <a:p>
            <a:r>
              <a:rPr lang="en-US" dirty="0"/>
              <a:t>Delta loses energy</a:t>
            </a:r>
            <a:endParaRPr lang="en-NL" dirty="0"/>
          </a:p>
        </p:txBody>
      </p:sp>
      <p:sp>
        <p:nvSpPr>
          <p:cNvPr id="8" name="Rectangle 7">
            <a:extLst>
              <a:ext uri="{FF2B5EF4-FFF2-40B4-BE49-F238E27FC236}">
                <a16:creationId xmlns:a16="http://schemas.microsoft.com/office/drawing/2014/main" id="{389E3BD7-9B7A-1002-42C4-D0401AB5A3B6}"/>
              </a:ext>
            </a:extLst>
          </p:cNvPr>
          <p:cNvSpPr/>
          <p:nvPr/>
        </p:nvSpPr>
        <p:spPr>
          <a:xfrm>
            <a:off x="4609888" y="562344"/>
            <a:ext cx="2379357" cy="55964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P spid="2" grpId="0"/>
      <p:bldP spid="7" grpId="0"/>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7D595140-159F-D08C-FE56-AACD7E33AE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 xmlns:m="http://schemas.openxmlformats.org/officeDocument/2006/math">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 xmlns:m="http://schemas.openxmlformats.org/officeDocument/2006/math">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 xmlns:m="http://schemas.openxmlformats.org/officeDocument/2006/math">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par>
                                <p:cTn id="7" presetID="1" presetClass="exit" presetSubtype="0" fill="hold"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 product into an energy inequality</a:t>
            </a:r>
            <a:endParaRPr sz="2500"/>
          </a:p>
        </p:txBody>
      </p:sp>
      <mc:AlternateContent xmlns:mc="http://schemas.openxmlformats.org/markup-compatibility/2006" xmlns:a14="http://schemas.microsoft.com/office/drawing/2010/main">
        <mc:Choice Requires="a14">
          <p:sp>
            <p:nvSpPr>
              <p:cNvPr id="8002" name="Known product"/>
              <p:cNvSpPr/>
              <p:nvPr/>
            </p:nvSpPr>
            <p:spPr>
              <a:xfrm>
                <a:off x="2032000" y="721360"/>
                <a:ext cx="5080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147C60"/>
                          </a:solidFill>
                          <a:latin typeface="Cambria Math"/>
                        </a:rPr>
                        <m:t>𝑎𝑏</m:t>
                      </m:r>
                      <m:r>
                        <a:rPr sz="1800">
                          <a:solidFill>
                            <a:srgbClr val="147C60"/>
                          </a:solidFill>
                          <a:latin typeface="Cambria Math"/>
                        </a:rPr>
                        <m:t>≥0</m:t>
                      </m:r>
                    </m:oMath>
                  </m:oMathPara>
                </a14:m>
                <a:endParaRPr sz="1800"/>
              </a:p>
            </p:txBody>
          </p:sp>
        </mc:Choice>
        <mc:Fallback xmlns:m="http://schemas.openxmlformats.org/officeDocument/2006/math" xmlns="">
          <p:sp>
            <p:nvSpPr>
              <p:cNvPr id="8002" name="Known product"/>
              <p:cNvSpPr>
                <a:spLocks noRot="1" noChangeAspect="1" noMove="1" noResize="1" noEditPoints="1" noAdjustHandles="1" noChangeArrowheads="1" noChangeShapeType="1" noTextEdit="1"/>
              </p:cNvSpPr>
              <p:nvPr/>
            </p:nvSpPr>
            <p:spPr>
              <a:xfrm>
                <a:off x="2032000" y="721360"/>
                <a:ext cx="5080000" cy="640080"/>
              </a:xfrm>
              <a:prstGeom prst="rect">
                <a:avLst/>
              </a:prstGeom>
              <a:blipFill>
                <a:blip r:embed="rId3"/>
                <a:stretch>
                  <a:fillRect/>
                </a:stretch>
              </a:blipFill>
              <a:ln>
                <a:noFill/>
              </a:ln>
            </p:spPr>
            <p:txBody>
              <a:bodyPr/>
              <a:lstStyle/>
              <a:p>
                <a:r>
                  <a:rPr lang="en-NL">
                    <a:noFill/>
                  </a:rPr>
                  <a:t> </a:t>
                </a:r>
              </a:p>
            </p:txBody>
          </p:sp>
        </mc:Fallback>
      </mc:AlternateContent>
      <p:sp>
        <p:nvSpPr>
          <p:cNvPr id="8003" name="Scale explanation"/>
          <p:cNvSpPr/>
          <p:nvPr/>
        </p:nvSpPr>
        <p:spPr>
          <a:xfrm>
            <a:off x="457200" y="13493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1  Scale a</a:t>
            </a:r>
            <a:endParaRPr sz="1700"/>
          </a:p>
        </p:txBody>
      </p:sp>
      <mc:AlternateContent xmlns:mc="http://schemas.openxmlformats.org/markup-compatibility/2006" xmlns:a14="http://schemas.microsoft.com/office/drawing/2010/main">
        <mc:Choice Requires="a14">
          <p:sp>
            <p:nvSpPr>
              <p:cNvPr id="8004" name="Positive scaling"/>
              <p:cNvSpPr/>
              <p:nvPr/>
            </p:nvSpPr>
            <p:spPr>
              <a:xfrm>
                <a:off x="3562350" y="11201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16F9C"/>
                          </a:solidFill>
                          <a:latin typeface="Cambria Math"/>
                        </a:rPr>
                        <m:t>𝑣𝑎</m:t>
                      </m:r>
                      <m:r>
                        <a:rPr sz="2200">
                          <a:solidFill>
                            <a:srgbClr val="252529"/>
                          </a:solidFill>
                          <a:latin typeface="Cambria Math"/>
                        </a:rPr>
                        <m:t>,   </m:t>
                      </m:r>
                      <m:r>
                        <a:rPr sz="2200">
                          <a:solidFill>
                            <a:srgbClr val="252529"/>
                          </a:solidFill>
                          <a:latin typeface="Cambria Math"/>
                        </a:rPr>
                        <m:t>𝑣</m:t>
                      </m:r>
                      <m:r>
                        <a:rPr sz="2200">
                          <a:solidFill>
                            <a:srgbClr val="252529"/>
                          </a:solidFill>
                          <a:latin typeface="Cambria Math"/>
                        </a:rPr>
                        <m:t>&gt;0</m:t>
                      </m:r>
                    </m:oMath>
                  </m:oMathPara>
                </a14:m>
                <a:endParaRPr sz="2200" dirty="0"/>
              </a:p>
            </p:txBody>
          </p:sp>
        </mc:Choice>
        <mc:Fallback xmlns="" xmlns:m="http://schemas.openxmlformats.org/officeDocument/2006/math">
          <p:sp>
            <p:nvSpPr>
              <p:cNvPr id="8004" name="Positive scaling"/>
              <p:cNvSpPr>
                <a:spLocks noRot="1" noChangeAspect="1" noMove="1" noResize="1" noEditPoints="1" noAdjustHandles="1" noChangeArrowheads="1" noChangeShapeType="1" noTextEdit="1"/>
              </p:cNvSpPr>
              <p:nvPr/>
            </p:nvSpPr>
            <p:spPr>
              <a:xfrm>
                <a:off x="3562350" y="1120140"/>
                <a:ext cx="5143500" cy="782320"/>
              </a:xfrm>
              <a:prstGeom prst="rect">
                <a:avLst/>
              </a:prstGeom>
              <a:blipFill>
                <a:blip r:embed="rId4"/>
                <a:stretch>
                  <a:fillRect/>
                </a:stretch>
              </a:blipFill>
              <a:ln>
                <a:noFill/>
              </a:ln>
            </p:spPr>
            <p:txBody>
              <a:bodyPr/>
              <a:lstStyle/>
              <a:p>
                <a:r>
                  <a:rPr lang="en-NL">
                    <a:noFill/>
                  </a:rPr>
                  <a:t> </a:t>
                </a:r>
              </a:p>
            </p:txBody>
          </p:sp>
        </mc:Fallback>
      </mc:AlternateContent>
      <p:sp>
        <p:nvSpPr>
          <p:cNvPr id="8005" name="Sum difference explanation"/>
          <p:cNvSpPr/>
          <p:nvPr/>
        </p:nvSpPr>
        <p:spPr>
          <a:xfrm>
            <a:off x="457200" y="18954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2  Add and subtract b</a:t>
            </a:r>
            <a:endParaRPr sz="1700"/>
          </a:p>
        </p:txBody>
      </p:sp>
      <mc:AlternateContent xmlns:mc="http://schemas.openxmlformats.org/markup-compatibility/2006" xmlns:a14="http://schemas.microsoft.com/office/drawing/2010/main">
        <mc:Choice Requires="a14">
          <p:sp>
            <p:nvSpPr>
              <p:cNvPr id="8006" name="Transformed gaps"/>
              <p:cNvSpPr/>
              <p:nvPr/>
            </p:nvSpPr>
            <p:spPr>
              <a:xfrm>
                <a:off x="3562350" y="16662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𝑧</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r>
                        <a:rPr sz="2200">
                          <a:solidFill>
                            <a:srgbClr val="252529"/>
                          </a:solidFill>
                          <a:latin typeface="Cambria Math"/>
                        </a:rPr>
                        <m:t>,   </m:t>
                      </m:r>
                      <m:acc>
                        <m:accPr>
                          <m:chr m:val="̃"/>
                          <m:ctrlPr>
                            <a:rPr sz="2200">
                              <a:solidFill>
                                <a:srgbClr val="252529"/>
                              </a:solidFill>
                              <a:latin typeface="Cambria Math"/>
                            </a:rPr>
                          </m:ctrlPr>
                        </m:accPr>
                        <m:e>
                          <m:r>
                            <a:rPr sz="2200">
                              <a:solidFill>
                                <a:srgbClr val="252529"/>
                              </a:solidFill>
                              <a:latin typeface="Cambria Math"/>
                            </a:rPr>
                            <m:t>𝑤</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oMath>
                  </m:oMathPara>
                </a14:m>
                <a:endParaRPr sz="2200"/>
              </a:p>
            </p:txBody>
          </p:sp>
        </mc:Choice>
        <mc:Fallback xmlns:m="http://schemas.openxmlformats.org/officeDocument/2006/math" xmlns="">
          <p:sp>
            <p:nvSpPr>
              <p:cNvPr id="8006" name="Transformed gaps"/>
              <p:cNvSpPr>
                <a:spLocks noRot="1" noChangeAspect="1" noMove="1" noResize="1" noEditPoints="1" noAdjustHandles="1" noChangeArrowheads="1" noChangeShapeType="1" noTextEdit="1"/>
              </p:cNvSpPr>
              <p:nvPr/>
            </p:nvSpPr>
            <p:spPr>
              <a:xfrm>
                <a:off x="3562350" y="1666240"/>
                <a:ext cx="5143500" cy="782320"/>
              </a:xfrm>
              <a:prstGeom prst="rect">
                <a:avLst/>
              </a:prstGeom>
              <a:blipFill>
                <a:blip r:embed="rId5"/>
                <a:stretch>
                  <a:fillRect/>
                </a:stretch>
              </a:blipFill>
              <a:ln>
                <a:noFill/>
              </a:ln>
            </p:spPr>
            <p:txBody>
              <a:bodyPr/>
              <a:lstStyle/>
              <a:p>
                <a:r>
                  <a:rPr lang="en-NL">
                    <a:noFill/>
                  </a:rPr>
                  <a:t> </a:t>
                </a:r>
              </a:p>
            </p:txBody>
          </p:sp>
        </mc:Fallback>
      </mc:AlternateContent>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
        <p:nvSpPr>
          <p:cNvPr id="5" name="TextBox 4">
            <a:extLst>
              <a:ext uri="{FF2B5EF4-FFF2-40B4-BE49-F238E27FC236}">
                <a16:creationId xmlns:a16="http://schemas.microsoft.com/office/drawing/2014/main" id="{DBD1DF88-1BF5-B206-CE20-ABD8BBBD94D1}"/>
              </a:ext>
            </a:extLst>
          </p:cNvPr>
          <p:cNvSpPr txBox="1"/>
          <p:nvPr/>
        </p:nvSpPr>
        <p:spPr>
          <a:xfrm>
            <a:off x="3683000" y="2692400"/>
            <a:ext cx="184731" cy="300082"/>
          </a:xfrm>
          <a:prstGeom prst="rect">
            <a:avLst/>
          </a:prstGeom>
          <a:noFill/>
        </p:spPr>
        <p:txBody>
          <a:bodyPr wrap="none" rtlCol="0">
            <a:spAutoFit/>
          </a:bodyPr>
          <a:lstStyle/>
          <a:p>
            <a:endParaRPr lang="en-NL" dirty="0"/>
          </a:p>
        </p:txBody>
      </p:sp>
      <mc:AlternateContent xmlns:mc="http://schemas.openxmlformats.org/markup-compatibility/2006" xmlns:a14="http://schemas.microsoft.com/office/drawing/2010/main">
        <mc:Choice Requires="a14">
          <p:sp>
            <p:nvSpPr>
              <p:cNvPr id="8022" name="Pointwise inequality"/>
              <p:cNvSpPr/>
              <p:nvPr/>
            </p:nvSpPr>
            <p:spPr>
              <a:xfrm>
                <a:off x="444500" y="2555240"/>
                <a:ext cx="8255000" cy="9601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700" i="1">
                              <a:solidFill>
                                <a:srgbClr val="252529"/>
                              </a:solidFill>
                              <a:latin typeface="Cambria Math" panose="02040503050406030204" pitchFamily="18" charset="0"/>
                            </a:rPr>
                          </m:ctrlPr>
                        </m:sSupPr>
                        <m:e>
                          <m:d>
                            <m:dPr>
                              <m:begChr m:val="‖"/>
                              <m:endChr m:val="‖"/>
                              <m:ctrlPr>
                                <a:rPr sz="2700" i="1">
                                  <a:solidFill>
                                    <a:srgbClr val="252529"/>
                                  </a:solidFill>
                                  <a:latin typeface="Cambria Math" panose="02040503050406030204" pitchFamily="18" charset="0"/>
                                </a:rPr>
                              </m:ctrlPr>
                            </m:dPr>
                            <m:e>
                              <m:acc>
                                <m:accPr>
                                  <m:chr m:val="̃"/>
                                  <m:ctrlPr>
                                    <a:rPr sz="2700">
                                      <a:solidFill>
                                        <a:srgbClr val="252529"/>
                                      </a:solidFill>
                                      <a:latin typeface="Cambria Math"/>
                                    </a:rPr>
                                  </m:ctrlPr>
                                </m:accPr>
                                <m:e>
                                  <m:r>
                                    <a:rPr sz="2700">
                                      <a:solidFill>
                                        <a:srgbClr val="252529"/>
                                      </a:solidFill>
                                      <a:latin typeface="Cambria Math"/>
                                    </a:rPr>
                                    <m:t>𝑤</m:t>
                                  </m:r>
                                </m:e>
                              </m:acc>
                            </m:e>
                          </m:d>
                        </m:e>
                        <m:sup>
                          <m:r>
                            <a:rPr sz="2700">
                              <a:solidFill>
                                <a:srgbClr val="252529"/>
                              </a:solidFill>
                              <a:latin typeface="Cambria Math"/>
                            </a:rPr>
                            <m:t>2</m:t>
                          </m:r>
                        </m:sup>
                      </m:sSup>
                      <m:r>
                        <a:rPr sz="2700">
                          <a:solidFill>
                            <a:srgbClr val="252529"/>
                          </a:solidFill>
                          <a:latin typeface="Cambria Math"/>
                        </a:rPr>
                        <m:t>≤</m:t>
                      </m:r>
                      <m:sSup>
                        <m:sSupPr>
                          <m:ctrlPr>
                            <a:rPr sz="2700" i="1">
                              <a:solidFill>
                                <a:srgbClr val="252529"/>
                              </a:solidFill>
                              <a:latin typeface="Cambria Math" panose="02040503050406030204" pitchFamily="18" charset="0"/>
                            </a:rPr>
                          </m:ctrlPr>
                        </m:sSupPr>
                        <m:e>
                          <m:d>
                            <m:dPr>
                              <m:begChr m:val="‖"/>
                              <m:endChr m:val="‖"/>
                              <m:ctrlPr>
                                <a:rPr sz="2700" i="1">
                                  <a:solidFill>
                                    <a:srgbClr val="252529"/>
                                  </a:solidFill>
                                  <a:latin typeface="Cambria Math" panose="02040503050406030204" pitchFamily="18" charset="0"/>
                                </a:rPr>
                              </m:ctrlPr>
                            </m:dPr>
                            <m:e>
                              <m:acc>
                                <m:accPr>
                                  <m:chr m:val="̃"/>
                                  <m:ctrlPr>
                                    <a:rPr sz="2700">
                                      <a:solidFill>
                                        <a:srgbClr val="252529"/>
                                      </a:solidFill>
                                      <a:latin typeface="Cambria Math"/>
                                    </a:rPr>
                                  </m:ctrlPr>
                                </m:accPr>
                                <m:e>
                                  <m:r>
                                    <a:rPr sz="2700">
                                      <a:solidFill>
                                        <a:srgbClr val="252529"/>
                                      </a:solidFill>
                                      <a:latin typeface="Cambria Math"/>
                                    </a:rPr>
                                    <m:t>𝑧</m:t>
                                  </m:r>
                                </m:e>
                              </m:acc>
                            </m:e>
                          </m:d>
                        </m:e>
                        <m:sup>
                          <m:r>
                            <a:rPr sz="2700">
                              <a:solidFill>
                                <a:srgbClr val="252529"/>
                              </a:solidFill>
                              <a:latin typeface="Cambria Math"/>
                            </a:rPr>
                            <m:t>2</m:t>
                          </m:r>
                        </m:sup>
                      </m:sSup>
                    </m:oMath>
                  </m:oMathPara>
                </a14:m>
                <a:endParaRPr sz="2700" dirty="0"/>
              </a:p>
            </p:txBody>
          </p:sp>
        </mc:Choice>
        <mc:Fallback xmlns="">
          <p:sp>
            <p:nvSpPr>
              <p:cNvPr id="8022" name="Pointwise inequality"/>
              <p:cNvSpPr>
                <a:spLocks noRot="1" noChangeAspect="1" noMove="1" noResize="1" noEditPoints="1" noAdjustHandles="1" noChangeArrowheads="1" noChangeShapeType="1" noTextEdit="1"/>
              </p:cNvSpPr>
              <p:nvPr/>
            </p:nvSpPr>
            <p:spPr>
              <a:xfrm>
                <a:off x="444500" y="2555240"/>
                <a:ext cx="8255000" cy="96012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23" name="Energy inequality"/>
              <p:cNvSpPr/>
              <p:nvPr/>
            </p:nvSpPr>
            <p:spPr>
              <a:xfrm>
                <a:off x="444500" y="3548380"/>
                <a:ext cx="8255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2400">
                              <a:solidFill>
                                <a:srgbClr val="147C60"/>
                              </a:solidFill>
                              <a:latin typeface="Cambria Math"/>
                            </a:rPr>
                          </m:ctrlPr>
                        </m:naryPr>
                        <m:sub>
                          <m:r>
                            <a:rPr sz="2400">
                              <a:solidFill>
                                <a:srgbClr val="147C60"/>
                              </a:solidFill>
                              <a:latin typeface="Cambria Math"/>
                            </a:rPr>
                            <m:t>0</m:t>
                          </m:r>
                        </m:sub>
                        <m:sup>
                          <m:r>
                            <a:rPr sz="2400">
                              <a:solidFill>
                                <a:srgbClr val="147C60"/>
                              </a:solidFill>
                              <a:latin typeface="Cambria Math"/>
                            </a:rPr>
                            <m:t>𝑇</m:t>
                          </m:r>
                        </m:sup>
                        <m:e>
                          <m:sSup>
                            <m:sSupPr>
                              <m:ctrlPr>
                                <a:rPr sz="2400" i="1">
                                  <a:solidFill>
                                    <a:srgbClr val="147C60"/>
                                  </a:solidFill>
                                  <a:latin typeface="Cambria Math" panose="02040503050406030204" pitchFamily="18" charset="0"/>
                                </a:rPr>
                              </m:ctrlPr>
                            </m:sSupPr>
                            <m:e>
                              <m:d>
                                <m:dPr>
                                  <m:begChr m:val="‖"/>
                                  <m:endChr m:val="‖"/>
                                  <m:ctrlPr>
                                    <a:rPr sz="2400" i="1">
                                      <a:solidFill>
                                        <a:srgbClr val="147C60"/>
                                      </a:solidFill>
                                      <a:latin typeface="Cambria Math" panose="02040503050406030204" pitchFamily="18" charset="0"/>
                                    </a:rPr>
                                  </m:ctrlPr>
                                </m:dPr>
                                <m:e>
                                  <m:acc>
                                    <m:accPr>
                                      <m:chr m:val="̃"/>
                                      <m:ctrlPr>
                                        <a:rPr sz="2400">
                                          <a:solidFill>
                                            <a:srgbClr val="147C60"/>
                                          </a:solidFill>
                                          <a:latin typeface="Cambria Math"/>
                                        </a:rPr>
                                      </m:ctrlPr>
                                    </m:accPr>
                                    <m:e>
                                      <m:r>
                                        <a:rPr sz="2400">
                                          <a:solidFill>
                                            <a:srgbClr val="147C60"/>
                                          </a:solidFill>
                                          <a:latin typeface="Cambria Math"/>
                                        </a:rPr>
                                        <m:t>𝑤</m:t>
                                      </m:r>
                                    </m:e>
                                  </m:acc>
                                  <m:d>
                                    <m:dPr>
                                      <m:ctrlPr>
                                        <a:rPr sz="2400">
                                          <a:solidFill>
                                            <a:srgbClr val="147C60"/>
                                          </a:solidFill>
                                          <a:latin typeface="Cambria Math"/>
                                        </a:rPr>
                                      </m:ctrlPr>
                                    </m:dPr>
                                    <m:e>
                                      <m:r>
                                        <a:rPr sz="2400">
                                          <a:solidFill>
                                            <a:srgbClr val="147C60"/>
                                          </a:solidFill>
                                          <a:latin typeface="Cambria Math"/>
                                        </a:rPr>
                                        <m:t>𝑡</m:t>
                                      </m:r>
                                    </m:e>
                                  </m:d>
                                </m:e>
                              </m:d>
                            </m:e>
                            <m:sup>
                              <m:r>
                                <a:rPr sz="2400">
                                  <a:solidFill>
                                    <a:srgbClr val="147C60"/>
                                  </a:solidFill>
                                  <a:latin typeface="Cambria Math"/>
                                </a:rPr>
                                <m:t>2</m:t>
                              </m:r>
                            </m:sup>
                          </m:sSup>
                          <m:r>
                            <a:rPr sz="2400">
                              <a:solidFill>
                                <a:srgbClr val="147C60"/>
                              </a:solidFill>
                              <a:latin typeface="Cambria Math"/>
                            </a:rPr>
                            <m:t>𝑑𝑡</m:t>
                          </m:r>
                        </m:e>
                      </m:nary>
                      <m:r>
                        <a:rPr sz="2400">
                          <a:solidFill>
                            <a:srgbClr val="147C60"/>
                          </a:solidFill>
                          <a:latin typeface="Cambria Math"/>
                        </a:rPr>
                        <m:t>≤</m:t>
                      </m:r>
                      <m:nary>
                        <m:naryPr>
                          <m:limLoc m:val="subSup"/>
                          <m:ctrlPr>
                            <a:rPr sz="2400">
                              <a:solidFill>
                                <a:srgbClr val="147C60"/>
                              </a:solidFill>
                              <a:latin typeface="Cambria Math"/>
                            </a:rPr>
                          </m:ctrlPr>
                        </m:naryPr>
                        <m:sub>
                          <m:r>
                            <a:rPr sz="2400">
                              <a:solidFill>
                                <a:srgbClr val="147C60"/>
                              </a:solidFill>
                              <a:latin typeface="Cambria Math"/>
                            </a:rPr>
                            <m:t>0</m:t>
                          </m:r>
                        </m:sub>
                        <m:sup>
                          <m:r>
                            <a:rPr sz="2400">
                              <a:solidFill>
                                <a:srgbClr val="147C60"/>
                              </a:solidFill>
                              <a:latin typeface="Cambria Math"/>
                            </a:rPr>
                            <m:t>𝑇</m:t>
                          </m:r>
                        </m:sup>
                        <m:e>
                          <m:sSup>
                            <m:sSupPr>
                              <m:ctrlPr>
                                <a:rPr sz="2400" i="1">
                                  <a:solidFill>
                                    <a:srgbClr val="147C60"/>
                                  </a:solidFill>
                                  <a:latin typeface="Cambria Math" panose="02040503050406030204" pitchFamily="18" charset="0"/>
                                </a:rPr>
                              </m:ctrlPr>
                            </m:sSupPr>
                            <m:e>
                              <m:d>
                                <m:dPr>
                                  <m:begChr m:val="‖"/>
                                  <m:endChr m:val="‖"/>
                                  <m:ctrlPr>
                                    <a:rPr sz="2400" i="1">
                                      <a:solidFill>
                                        <a:srgbClr val="147C60"/>
                                      </a:solidFill>
                                      <a:latin typeface="Cambria Math" panose="02040503050406030204" pitchFamily="18" charset="0"/>
                                    </a:rPr>
                                  </m:ctrlPr>
                                </m:dPr>
                                <m:e>
                                  <m:acc>
                                    <m:accPr>
                                      <m:chr m:val="̃"/>
                                      <m:ctrlPr>
                                        <a:rPr sz="2400">
                                          <a:solidFill>
                                            <a:srgbClr val="147C60"/>
                                          </a:solidFill>
                                          <a:latin typeface="Cambria Math"/>
                                        </a:rPr>
                                      </m:ctrlPr>
                                    </m:accPr>
                                    <m:e>
                                      <m:r>
                                        <a:rPr sz="2400">
                                          <a:solidFill>
                                            <a:srgbClr val="147C60"/>
                                          </a:solidFill>
                                          <a:latin typeface="Cambria Math"/>
                                        </a:rPr>
                                        <m:t>𝑧</m:t>
                                      </m:r>
                                    </m:e>
                                  </m:acc>
                                  <m:d>
                                    <m:dPr>
                                      <m:ctrlPr>
                                        <a:rPr sz="2400">
                                          <a:solidFill>
                                            <a:srgbClr val="147C60"/>
                                          </a:solidFill>
                                          <a:latin typeface="Cambria Math"/>
                                        </a:rPr>
                                      </m:ctrlPr>
                                    </m:dPr>
                                    <m:e>
                                      <m:r>
                                        <a:rPr sz="2400">
                                          <a:solidFill>
                                            <a:srgbClr val="147C60"/>
                                          </a:solidFill>
                                          <a:latin typeface="Cambria Math"/>
                                        </a:rPr>
                                        <m:t>𝑡</m:t>
                                      </m:r>
                                    </m:e>
                                  </m:d>
                                </m:e>
                              </m:d>
                            </m:e>
                            <m:sup>
                              <m:r>
                                <a:rPr sz="2400">
                                  <a:solidFill>
                                    <a:srgbClr val="147C60"/>
                                  </a:solidFill>
                                  <a:latin typeface="Cambria Math"/>
                                </a:rPr>
                                <m:t>2</m:t>
                              </m:r>
                            </m:sup>
                          </m:sSup>
                          <m:r>
                            <a:rPr sz="2400">
                              <a:solidFill>
                                <a:srgbClr val="147C60"/>
                              </a:solidFill>
                              <a:latin typeface="Cambria Math"/>
                            </a:rPr>
                            <m:t>𝑑𝑡</m:t>
                          </m:r>
                        </m:e>
                      </m:nary>
                      <m:r>
                        <a:rPr sz="2400">
                          <a:solidFill>
                            <a:srgbClr val="147C60"/>
                          </a:solidFill>
                          <a:latin typeface="Cambria Math"/>
                        </a:rPr>
                        <m:t>,   ∀</m:t>
                      </m:r>
                      <m:r>
                        <a:rPr sz="2400">
                          <a:solidFill>
                            <a:srgbClr val="147C60"/>
                          </a:solidFill>
                          <a:latin typeface="Cambria Math"/>
                        </a:rPr>
                        <m:t>𝑇</m:t>
                      </m:r>
                      <m:r>
                        <a:rPr sz="2400">
                          <a:solidFill>
                            <a:srgbClr val="147C60"/>
                          </a:solidFill>
                          <a:latin typeface="Cambria Math"/>
                        </a:rPr>
                        <m:t>≥0</m:t>
                      </m:r>
                    </m:oMath>
                  </m:oMathPara>
                </a14:m>
                <a:endParaRPr sz="2400"/>
              </a:p>
            </p:txBody>
          </p:sp>
        </mc:Choice>
        <mc:Fallback xmlns="">
          <p:sp>
            <p:nvSpPr>
              <p:cNvPr id="8023" name="Energy inequality"/>
              <p:cNvSpPr>
                <a:spLocks noRot="1" noChangeAspect="1" noMove="1" noResize="1" noEditPoints="1" noAdjustHandles="1" noChangeArrowheads="1" noChangeShapeType="1" noTextEdit="1"/>
              </p:cNvSpPr>
              <p:nvPr/>
            </p:nvSpPr>
            <p:spPr>
              <a:xfrm>
                <a:off x="444500" y="3548380"/>
                <a:ext cx="8255000" cy="853440"/>
              </a:xfrm>
              <a:prstGeom prst="rect">
                <a:avLst/>
              </a:prstGeom>
              <a:blipFill>
                <a:blip r:embed="rId7"/>
                <a:stretch>
                  <a:fillRect/>
                </a:stretch>
              </a:blipFill>
              <a:ln>
                <a:noFill/>
              </a:ln>
            </p:spPr>
            <p:txBody>
              <a:bodyPr/>
              <a:lstStyle/>
              <a:p>
                <a:r>
                  <a:rPr lang="en-NL">
                    <a:noFill/>
                  </a:rPr>
                  <a:t> </a:t>
                </a:r>
              </a:p>
            </p:txBody>
          </p:sp>
        </mc:Fallback>
      </mc:AlternateContent>
      <p:sp>
        <p:nvSpPr>
          <p:cNvPr id="8024" name="Energy interpretation"/>
          <p:cNvSpPr/>
          <p:nvPr/>
        </p:nvSpPr>
        <p:spPr>
          <a:xfrm>
            <a:off x="317500" y="4552950"/>
            <a:ext cx="8509000" cy="266700"/>
          </a:xfrm>
          <a:prstGeom prst="rect">
            <a:avLst/>
          </a:prstGeom>
          <a:noFill/>
          <a:ln>
            <a:noFill/>
          </a:ln>
        </p:spPr>
        <p:txBody>
          <a:bodyPr wrap="none" lIns="0" tIns="0" rIns="0" bIns="0" anchor="ctr">
            <a:noAutofit/>
          </a:bodyPr>
          <a:lstStyle/>
          <a:p>
            <a:pPr algn="ctr">
              <a:buNone/>
            </a:pPr>
            <a:r>
              <a:rPr lang="en-GB" sz="1400" b="0" i="0" u="none" baseline="0">
                <a:solidFill>
                  <a:srgbClr val="147C60"/>
                </a:solidFill>
                <a:latin typeface="Aptos"/>
                <a:ea typeface="Aptos"/>
                <a:cs typeface="Aptos"/>
              </a:rPr>
              <a:t>The transformed output energy cannot exceed the input energy.</a:t>
            </a:r>
            <a:endParaRPr sz="1400"/>
          </a:p>
        </p:txBody>
      </p:sp>
    </p:spTree>
  </p:cSld>
  <p:clrMapOvr>
    <a:masterClrMapping/>
  </p:clrMapOvr>
  <mc:AlternateContent xmlns:mc="http://schemas.openxmlformats.org/markup-compatibility/2006" xmlns:p14="http://schemas.microsoft.com/office/powerpoint/2010/main">
    <mc:Choice Requires="p14">
      <p:transition p14:dur="450">
        <p:fade/>
      </p:transition>
    </mc:Choice>
    <mc:Fallback xmlns="" xmlns:m="http://schemas.openxmlformats.org/officeDocument/2006/math" xmlns:a14="http://schemas.microsoft.com/office/drawing/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005"/>
                                        </p:tgtEl>
                                        <p:attrNameLst>
                                          <p:attrName>style.visibility</p:attrName>
                                        </p:attrNameLst>
                                      </p:cBhvr>
                                      <p:to>
                                        <p:strVal val="visible"/>
                                      </p:to>
                                    </p:set>
                                    <p:animEffect transition="in" filter="fade">
                                      <p:cBhvr>
                                        <p:cTn id="7" dur="350"/>
                                        <p:tgtEl>
                                          <p:spTgt spid="800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006"/>
                                        </p:tgtEl>
                                        <p:attrNameLst>
                                          <p:attrName>style.visibility</p:attrName>
                                        </p:attrNameLst>
                                      </p:cBhvr>
                                      <p:to>
                                        <p:strVal val="visible"/>
                                      </p:to>
                                    </p:set>
                                    <p:animEffect transition="in" filter="fade">
                                      <p:cBhvr>
                                        <p:cTn id="10" dur="350"/>
                                        <p:tgtEl>
                                          <p:spTgt spid="800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022"/>
                                        </p:tgtEl>
                                        <p:attrNameLst>
                                          <p:attrName>style.visibility</p:attrName>
                                        </p:attrNameLst>
                                      </p:cBhvr>
                                      <p:to>
                                        <p:strVal val="visible"/>
                                      </p:to>
                                    </p:set>
                                    <p:animEffect transition="in" filter="fade">
                                      <p:cBhvr>
                                        <p:cTn id="15" dur="350"/>
                                        <p:tgtEl>
                                          <p:spTgt spid="802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8023"/>
                                        </p:tgtEl>
                                        <p:attrNameLst>
                                          <p:attrName>style.visibility</p:attrName>
                                        </p:attrNameLst>
                                      </p:cBhvr>
                                      <p:to>
                                        <p:strVal val="visible"/>
                                      </p:to>
                                    </p:set>
                                    <p:animEffect transition="in" filter="fade">
                                      <p:cBhvr>
                                        <p:cTn id="20" dur="350"/>
                                        <p:tgtEl>
                                          <p:spTgt spid="8023"/>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8024"/>
                                        </p:tgtEl>
                                        <p:attrNameLst>
                                          <p:attrName>style.visibility</p:attrName>
                                        </p:attrNameLst>
                                      </p:cBhvr>
                                      <p:to>
                                        <p:strVal val="visible"/>
                                      </p:to>
                                    </p:set>
                                    <p:animEffect transition="in" filter="fade">
                                      <p:cBhvr>
                                        <p:cTn id="23" dur="350"/>
                                        <p:tgtEl>
                                          <p:spTgt spid="80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5" grpId="0"/>
      <p:bldP spid="8006" grpId="0"/>
      <p:bldP spid="8022" grpId="0"/>
      <p:bldP spid="8023" grpId="0"/>
      <p:bldP spid="8024" grpId="0"/>
    </p:bldLst>
  </p:timing>
</p:sld>
</file>

<file path=ppt/slides/slide3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m="http://schemas.openxmlformats.org/officeDocument/2006/math" xmlns="">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 xmlns:m="http://schemas.openxmlformats.org/officeDocument/2006/math" xmlns:a14="http://schemas.microsoft.com/office/drawing/2010/main">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 xmlns:m="http://schemas.openxmlformats.org/officeDocument/2006/math">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 xmlns:m="http://schemas.openxmlformats.org/officeDocument/2006/math">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 xmlns:m="http://schemas.openxmlformats.org/officeDocument/2006/math">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 xmlns:m="http://schemas.openxmlformats.org/officeDocument/2006/math">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xmlns:m="http://schemas.openxmlformats.org/officeDocument/2006/math">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xmlns:m="http://schemas.openxmlformats.org/officeDocument/2006/math">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xmlns:m="http://schemas.openxmlformats.org/officeDocument/2006/math">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 xmlns:m="http://schemas.openxmlformats.org/officeDocument/2006/math" xmlns:a14="http://schemas.microsoft.com/office/drawing/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4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replace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56B0FE0-ED39-2A0D-C1C7-40D486BC1A35}"/>
                  </a:ext>
                </a:extLst>
              </p:cNvPr>
              <p:cNvSpPr txBox="1"/>
              <p:nvPr/>
            </p:nvSpPr>
            <p:spPr>
              <a:xfrm>
                <a:off x="4861470" y="984289"/>
                <a:ext cx="3590727" cy="374718"/>
              </a:xfrm>
              <a:prstGeom prst="rect">
                <a:avLst/>
              </a:prstGeom>
              <a:noFill/>
            </p:spPr>
            <p:txBody>
              <a:bodyPr wrap="none" rtlCol="0">
                <a:spAutoFit/>
              </a:bodyPr>
              <a:lstStyle/>
              <a:p>
                <a:r>
                  <a:rPr lang="en-US" dirty="0"/>
                  <a:t>Find </a:t>
                </a:r>
                <a14:m>
                  <m:oMath xmlns:m="http://schemas.openxmlformats.org/officeDocument/2006/math">
                    <m:r>
                      <a:rPr lang="el-GR" i="1" smtClean="0">
                        <a:latin typeface="Cambria Math" panose="02040503050406030204" pitchFamily="18" charset="0"/>
                        <a:ea typeface="Cambria Math" panose="02040503050406030204" pitchFamily="18" charset="0"/>
                      </a:rPr>
                      <m:t>𝛩</m:t>
                    </m:r>
                  </m:oMath>
                </a14:m>
                <a:r>
                  <a:rPr lang="en-US" dirty="0"/>
                  <a:t> such that </a:t>
                </a:r>
                <a14:m>
                  <m:oMath xmlns:m="http://schemas.openxmlformats.org/officeDocument/2006/math">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𝑢</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r>
                      <a:rPr lang="en-US" b="0" i="0" smtClean="0">
                        <a:latin typeface="Cambria Math" panose="02040503050406030204" pitchFamily="18" charset="0"/>
                      </a:rPr>
                      <m:t>≤</m:t>
                    </m:r>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𝑦</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oMath>
                </a14:m>
                <a:endParaRPr lang="en-NL" dirty="0"/>
              </a:p>
            </p:txBody>
          </p:sp>
        </mc:Choice>
        <mc:Fallback xmlns="">
          <p:sp>
            <p:nvSpPr>
              <p:cNvPr id="47" name="TextBox 46">
                <a:extLst>
                  <a:ext uri="{FF2B5EF4-FFF2-40B4-BE49-F238E27FC236}">
                    <a16:creationId xmlns:a16="http://schemas.microsoft.com/office/drawing/2014/main" id="{556B0FE0-ED39-2A0D-C1C7-40D486BC1A35}"/>
                  </a:ext>
                </a:extLst>
              </p:cNvPr>
              <p:cNvSpPr txBox="1">
                <a:spLocks noRot="1" noChangeAspect="1" noMove="1" noResize="1" noEditPoints="1" noAdjustHandles="1" noChangeArrowheads="1" noChangeShapeType="1" noTextEdit="1"/>
              </p:cNvSpPr>
              <p:nvPr/>
            </p:nvSpPr>
            <p:spPr>
              <a:xfrm>
                <a:off x="4861470" y="984289"/>
                <a:ext cx="3590727" cy="374718"/>
              </a:xfrm>
              <a:prstGeom prst="rect">
                <a:avLst/>
              </a:prstGeom>
              <a:blipFill>
                <a:blip r:embed="rId3"/>
                <a:stretch>
                  <a:fillRect l="-339" t="-95161" b="-156452"/>
                </a:stretch>
              </a:blipFill>
            </p:spPr>
            <p:txBody>
              <a:bodyPr/>
              <a:lstStyle/>
              <a:p>
                <a:r>
                  <a:rPr lang="en-NL">
                    <a:noFill/>
                  </a:rPr>
                  <a:t> </a:t>
                </a:r>
              </a:p>
            </p:txBody>
          </p:sp>
        </mc:Fallback>
      </mc:AlternateContent>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984289"/>
            <a:ext cx="3138932" cy="1845056"/>
            <a:chOff x="1995932" y="2514600"/>
            <a:chExt cx="3138932" cy="1845056"/>
          </a:xfrm>
        </p:grpSpPr>
        <p:sp>
          <p:nvSpPr>
            <p:cNvPr id="51" name="Controller plant channel">
              <a:extLst>
                <a:ext uri="{FF2B5EF4-FFF2-40B4-BE49-F238E27FC236}">
                  <a16:creationId xmlns:a16="http://schemas.microsoft.com/office/drawing/2014/main" id="{40F47906-50AD-3131-824D-F0474AE48D23}"/>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4" name="Plant controller channel">
              <a:extLst>
                <a:ext uri="{FF2B5EF4-FFF2-40B4-BE49-F238E27FC236}">
                  <a16:creationId xmlns:a16="http://schemas.microsoft.com/office/drawing/2014/main" id="{8014A7C6-31FB-1455-A9D0-FAF79A5CA9A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60" name="Plant">
              <a:extLst>
                <a:ext uri="{FF2B5EF4-FFF2-40B4-BE49-F238E27FC236}">
                  <a16:creationId xmlns:a16="http://schemas.microsoft.com/office/drawing/2014/main" id="{7EA661EF-0B01-B12F-9056-31406A777935}"/>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2" name="Plant label">
                  <a:extLst>
                    <a:ext uri="{FF2B5EF4-FFF2-40B4-BE49-F238E27FC236}">
                      <a16:creationId xmlns:a16="http://schemas.microsoft.com/office/drawing/2014/main" id="{650F0D8C-FBFC-5213-C158-AF735FFCA28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672070" y="311680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672070" y="349272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744970" y="284756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079354" y="310176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079354" y="3101765"/>
                <a:ext cx="283732" cy="398571"/>
              </a:xfrm>
              <a:prstGeom prst="rect">
                <a:avLst/>
              </a:prstGeom>
              <a:blipFill>
                <a:blip r:embed="rId12"/>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474468" y="247831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241246" y="247831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469388" y="2473237"/>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236166" y="247323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1C440B46-D247-33E4-5530-6344AC85E059}"/>
                  </a:ext>
                </a:extLst>
              </p:cNvPr>
              <p:cNvSpPr txBox="1"/>
              <p:nvPr/>
            </p:nvSpPr>
            <p:spPr>
              <a:xfrm>
                <a:off x="4861470" y="1699232"/>
                <a:ext cx="3141181" cy="300082"/>
              </a:xfrm>
              <a:prstGeom prst="rect">
                <a:avLst/>
              </a:prstGeom>
              <a:noFill/>
            </p:spPr>
            <p:txBody>
              <a:bodyPr wrap="none" rtlCol="0">
                <a:spAutoFit/>
              </a:bodyPr>
              <a:lstStyle/>
              <a:p>
                <a:r>
                  <a:rPr lang="en-US" dirty="0"/>
                  <a:t>Set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then this holds for any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endParaRPr lang="en-NL" dirty="0"/>
              </a:p>
            </p:txBody>
          </p:sp>
        </mc:Choice>
        <mc:Fallback xmlns="">
          <p:sp>
            <p:nvSpPr>
              <p:cNvPr id="199" name="TextBox 198">
                <a:extLst>
                  <a:ext uri="{FF2B5EF4-FFF2-40B4-BE49-F238E27FC236}">
                    <a16:creationId xmlns:a16="http://schemas.microsoft.com/office/drawing/2014/main" id="{1C440B46-D247-33E4-5530-6344AC85E059}"/>
                  </a:ext>
                </a:extLst>
              </p:cNvPr>
              <p:cNvSpPr txBox="1">
                <a:spLocks noRot="1" noChangeAspect="1" noMove="1" noResize="1" noEditPoints="1" noAdjustHandles="1" noChangeArrowheads="1" noChangeShapeType="1" noTextEdit="1"/>
              </p:cNvSpPr>
              <p:nvPr/>
            </p:nvSpPr>
            <p:spPr>
              <a:xfrm>
                <a:off x="4861470" y="1699232"/>
                <a:ext cx="3141181" cy="300082"/>
              </a:xfrm>
              <a:prstGeom prst="rect">
                <a:avLst/>
              </a:prstGeom>
              <a:blipFill>
                <a:blip r:embed="rId13"/>
                <a:stretch>
                  <a:fillRect l="-388"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39C00BB5-DEDD-34ED-5F43-B5E93515CE84}"/>
                  </a:ext>
                </a:extLst>
              </p:cNvPr>
              <p:cNvSpPr txBox="1"/>
              <p:nvPr/>
            </p:nvSpPr>
            <p:spPr>
              <a:xfrm>
                <a:off x="4861470" y="2244319"/>
                <a:ext cx="2038570" cy="46237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en-US" b="0" i="1" smtClean="0">
                                    <a:latin typeface="Cambria Math" panose="02040503050406030204" pitchFamily="18" charset="0"/>
                                  </a:rPr>
                                  <m:t>0</m:t>
                                </m:r>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12</m:t>
                                    </m:r>
                                  </m:sub>
                                </m:sSub>
                              </m:e>
                            </m:m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22</m:t>
                                    </m:r>
                                  </m:sub>
                                </m:sSub>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oMath>
                  </m:oMathPara>
                </a14:m>
                <a:endParaRPr lang="en-NL" dirty="0"/>
              </a:p>
            </p:txBody>
          </p:sp>
        </mc:Choice>
        <mc:Fallback xmlns="">
          <p:sp>
            <p:nvSpPr>
              <p:cNvPr id="204" name="TextBox 203">
                <a:extLst>
                  <a:ext uri="{FF2B5EF4-FFF2-40B4-BE49-F238E27FC236}">
                    <a16:creationId xmlns:a16="http://schemas.microsoft.com/office/drawing/2014/main" id="{39C00BB5-DEDD-34ED-5F43-B5E93515CE84}"/>
                  </a:ext>
                </a:extLst>
              </p:cNvPr>
              <p:cNvSpPr txBox="1">
                <a:spLocks noRot="1" noChangeAspect="1" noMove="1" noResize="1" noEditPoints="1" noAdjustHandles="1" noChangeArrowheads="1" noChangeShapeType="1" noTextEdit="1"/>
              </p:cNvSpPr>
              <p:nvPr/>
            </p:nvSpPr>
            <p:spPr>
              <a:xfrm>
                <a:off x="4861470" y="2244319"/>
                <a:ext cx="2038570" cy="462371"/>
              </a:xfrm>
              <a:prstGeom prst="rect">
                <a:avLst/>
              </a:prstGeom>
              <a:blipFill>
                <a:blip r:embed="rId14"/>
                <a:stretch>
                  <a:fillRect b="-131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6D2AABB4-3B2E-6D4B-551F-3FA7EEDB1E54}"/>
                  </a:ext>
                </a:extLst>
              </p:cNvPr>
              <p:cNvSpPr txBox="1"/>
              <p:nvPr/>
            </p:nvSpPr>
            <p:spPr>
              <a:xfrm>
                <a:off x="7127764" y="2347627"/>
                <a:ext cx="1749774" cy="300082"/>
              </a:xfrm>
              <a:prstGeom prst="rect">
                <a:avLst/>
              </a:prstGeom>
              <a:noFill/>
            </p:spPr>
            <p:txBody>
              <a:bodyPr wrap="none" rtlCol="0">
                <a:spAutoFit/>
              </a:bodyPr>
              <a:lstStyle/>
              <a:p>
                <a:r>
                  <a:rPr lang="en-US" dirty="0"/>
                  <a:t>Pick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11</m:t>
                        </m:r>
                      </m:sub>
                    </m:sSub>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12</m:t>
                        </m:r>
                      </m:sub>
                    </m:sSub>
                    <m:r>
                      <a:rPr lang="en-US" b="0" i="1" smtClean="0">
                        <a:latin typeface="Cambria Math" panose="02040503050406030204" pitchFamily="18" charset="0"/>
                      </a:rPr>
                      <m:t>=0</m:t>
                    </m:r>
                  </m:oMath>
                </a14:m>
                <a:endParaRPr lang="en-NL" dirty="0"/>
              </a:p>
            </p:txBody>
          </p:sp>
        </mc:Choice>
        <mc:Fallback xmlns="">
          <p:sp>
            <p:nvSpPr>
              <p:cNvPr id="205" name="TextBox 204">
                <a:extLst>
                  <a:ext uri="{FF2B5EF4-FFF2-40B4-BE49-F238E27FC236}">
                    <a16:creationId xmlns:a16="http://schemas.microsoft.com/office/drawing/2014/main" id="{6D2AABB4-3B2E-6D4B-551F-3FA7EEDB1E54}"/>
                  </a:ext>
                </a:extLst>
              </p:cNvPr>
              <p:cNvSpPr txBox="1">
                <a:spLocks noRot="1" noChangeAspect="1" noMove="1" noResize="1" noEditPoints="1" noAdjustHandles="1" noChangeArrowheads="1" noChangeShapeType="1" noTextEdit="1"/>
              </p:cNvSpPr>
              <p:nvPr/>
            </p:nvSpPr>
            <p:spPr>
              <a:xfrm>
                <a:off x="7127764" y="2347627"/>
                <a:ext cx="1749774" cy="300082"/>
              </a:xfrm>
              <a:prstGeom prst="rect">
                <a:avLst/>
              </a:prstGeom>
              <a:blipFill>
                <a:blip r:embed="rId15"/>
                <a:stretch>
                  <a:fillRect l="-697"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6" name="TextBox 205">
                <a:extLst>
                  <a:ext uri="{FF2B5EF4-FFF2-40B4-BE49-F238E27FC236}">
                    <a16:creationId xmlns:a16="http://schemas.microsoft.com/office/drawing/2014/main" id="{21C1290D-619C-5DA4-C5C2-38E468EAE0AB}"/>
                  </a:ext>
                </a:extLst>
              </p:cNvPr>
              <p:cNvSpPr txBox="1"/>
              <p:nvPr/>
            </p:nvSpPr>
            <p:spPr>
              <a:xfrm>
                <a:off x="4861470" y="2951695"/>
                <a:ext cx="1221809"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206" name="TextBox 205">
                <a:extLst>
                  <a:ext uri="{FF2B5EF4-FFF2-40B4-BE49-F238E27FC236}">
                    <a16:creationId xmlns:a16="http://schemas.microsoft.com/office/drawing/2014/main" id="{21C1290D-619C-5DA4-C5C2-38E468EAE0AB}"/>
                  </a:ext>
                </a:extLst>
              </p:cNvPr>
              <p:cNvSpPr txBox="1">
                <a:spLocks noRot="1" noChangeAspect="1" noMove="1" noResize="1" noEditPoints="1" noAdjustHandles="1" noChangeArrowheads="1" noChangeShapeType="1" noTextEdit="1"/>
              </p:cNvSpPr>
              <p:nvPr/>
            </p:nvSpPr>
            <p:spPr>
              <a:xfrm>
                <a:off x="4861470" y="2951695"/>
                <a:ext cx="1221809" cy="300082"/>
              </a:xfrm>
              <a:prstGeom prst="rect">
                <a:avLst/>
              </a:prstGeom>
              <a:blipFill>
                <a:blip r:embed="rId16"/>
                <a:stretch>
                  <a:fillRect b="-816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F4DAAE59-F3C1-C479-FF6A-0C4CA7E1C6F4}"/>
                  </a:ext>
                </a:extLst>
              </p:cNvPr>
              <p:cNvSpPr txBox="1"/>
              <p:nvPr/>
            </p:nvSpPr>
            <p:spPr>
              <a:xfrm>
                <a:off x="4861470" y="3390177"/>
                <a:ext cx="1958678" cy="300082"/>
              </a:xfrm>
              <a:prstGeom prst="rect">
                <a:avLst/>
              </a:prstGeom>
              <a:noFill/>
            </p:spPr>
            <p:txBody>
              <a:bodyPr wrap="none" rtlCol="0">
                <a:spAutoFit/>
              </a:bodyPr>
              <a:lstStyle/>
              <a:p>
                <a:r>
                  <a:rPr lang="en-US" dirty="0"/>
                  <a:t>Thus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21</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22</m:t>
                        </m:r>
                      </m:sub>
                    </m:sSub>
                    <m:r>
                      <a:rPr lang="en-US" b="0" i="1" smtClean="0">
                        <a:latin typeface="Cambria Math" panose="02040503050406030204" pitchFamily="18" charset="0"/>
                      </a:rPr>
                      <m:t>=</m:t>
                    </m:r>
                    <m:r>
                      <a:rPr lang="en-US" b="0" i="1" smtClean="0">
                        <a:latin typeface="Cambria Math" panose="02040503050406030204" pitchFamily="18" charset="0"/>
                      </a:rPr>
                      <m:t>𝐼</m:t>
                    </m:r>
                  </m:oMath>
                </a14:m>
                <a:endParaRPr lang="en-NL" dirty="0"/>
              </a:p>
            </p:txBody>
          </p:sp>
        </mc:Choice>
        <mc:Fallback xmlns="">
          <p:sp>
            <p:nvSpPr>
              <p:cNvPr id="207" name="TextBox 206">
                <a:extLst>
                  <a:ext uri="{FF2B5EF4-FFF2-40B4-BE49-F238E27FC236}">
                    <a16:creationId xmlns:a16="http://schemas.microsoft.com/office/drawing/2014/main" id="{F4DAAE59-F3C1-C479-FF6A-0C4CA7E1C6F4}"/>
                  </a:ext>
                </a:extLst>
              </p:cNvPr>
              <p:cNvSpPr txBox="1">
                <a:spLocks noRot="1" noChangeAspect="1" noMove="1" noResize="1" noEditPoints="1" noAdjustHandles="1" noChangeArrowheads="1" noChangeShapeType="1" noTextEdit="1"/>
              </p:cNvSpPr>
              <p:nvPr/>
            </p:nvSpPr>
            <p:spPr>
              <a:xfrm>
                <a:off x="4861470" y="3390177"/>
                <a:ext cx="1958678" cy="300082"/>
              </a:xfrm>
              <a:prstGeom prst="rect">
                <a:avLst/>
              </a:prstGeom>
              <a:blipFill>
                <a:blip r:embed="rId17"/>
                <a:stretch>
                  <a:fillRect l="-621"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1016D2EC-3E51-21D0-F981-C80AFFD89621}"/>
                  </a:ext>
                </a:extLst>
              </p:cNvPr>
              <p:cNvSpPr txBox="1"/>
              <p:nvPr/>
            </p:nvSpPr>
            <p:spPr>
              <a:xfrm>
                <a:off x="5057101" y="4093224"/>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1016D2EC-3E51-21D0-F981-C80AFFD89621}"/>
                  </a:ext>
                </a:extLst>
              </p:cNvPr>
              <p:cNvSpPr txBox="1">
                <a:spLocks noRot="1" noChangeAspect="1" noMove="1" noResize="1" noEditPoints="1" noAdjustHandles="1" noChangeArrowheads="1" noChangeShapeType="1" noTextEdit="1"/>
              </p:cNvSpPr>
              <p:nvPr/>
            </p:nvSpPr>
            <p:spPr>
              <a:xfrm>
                <a:off x="5057101" y="4093224"/>
                <a:ext cx="1026178" cy="345094"/>
              </a:xfrm>
              <a:prstGeom prst="rect">
                <a:avLst/>
              </a:prstGeom>
              <a:blipFill>
                <a:blip r:embed="rId18"/>
                <a:stretch>
                  <a:fillRect l="-3571" t="-1754" b="-15789"/>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44</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spTree>
    <p:extLst>
      <p:ext uri="{BB962C8B-B14F-4D97-AF65-F5344CB8AC3E}">
        <p14:creationId xmlns:p14="http://schemas.microsoft.com/office/powerpoint/2010/main" val="26223884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45</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xmlns:m="http://schemas.openxmlformats.org/officeDocument/2006/math">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 xmlns:m="http://schemas.openxmlformats.org/officeDocument/2006/math">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46</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48</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m="http://schemas.openxmlformats.org/officeDocument/2006/math"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5548</TotalTime>
  <Words>7825</Words>
  <Application>Microsoft Office PowerPoint</Application>
  <PresentationFormat>On-screen Show (16:9)</PresentationFormat>
  <Paragraphs>1037</Paragraphs>
  <Slides>56</Slides>
  <Notes>44</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56</vt:i4>
      </vt:variant>
    </vt:vector>
  </HeadingPairs>
  <TitlesOfParts>
    <vt:vector size="62"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Nominal Controller Synthesis</vt:lpstr>
      <vt:lpstr>PowerPoint Presentation</vt:lpstr>
      <vt:lpstr>PowerPoint Presentation</vt:lpstr>
      <vt:lpstr>PowerPoint Presentation</vt:lpstr>
      <vt:lpstr>PowerPoint Presentation</vt:lpstr>
      <vt:lpstr>PowerPoint Presentation</vt:lpstr>
      <vt:lpstr>PowerPoint Presentation</vt:lpstr>
      <vt:lpstr>Feedback stabilization</vt:lpstr>
      <vt:lpstr>PowerPoint Presentation</vt:lpstr>
      <vt:lpstr>PowerPoint Presentation</vt:lpstr>
      <vt:lpstr>PowerPoint Presentation</vt:lpstr>
      <vt:lpstr>PowerPoint Presentation</vt:lpstr>
      <vt:lpstr>Thought experiment replace K by \Θ</vt:lpstr>
      <vt:lpstr>Thought experiment replace K^⊤ by ▁Θ</vt:lpstr>
      <vt:lpstr>Comparing our results</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39</cp:revision>
  <dcterms:created xsi:type="dcterms:W3CDTF">2019-11-27T15:26:32Z</dcterms:created>
  <dcterms:modified xsi:type="dcterms:W3CDTF">2026-09-27T16:46:13Z</dcterms:modified>
</cp:coreProperties>
</file>