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106.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3" Type="http://schemas.openxmlformats.org/officeDocument/2006/relationships/image" Target="../media/slide37norm_slide37narrative_image106.png"/><Relationship Id="rId7" Type="http://schemas.openxmlformats.org/officeDocument/2006/relationships/image" Target="../media/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slide37norm_image107.png"/><Relationship Id="rId5" Type="http://schemas.openxmlformats.org/officeDocument/2006/relationships/image" Target="../media/slide37norm_slide37narrative_image108.png"/><Relationship Id="rId4" Type="http://schemas.openxmlformats.org/officeDocument/2006/relationships/image" Target="../media/slide37norm_image106.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0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1.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3.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2.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4.png"/></Relationships>
</file>

<file path=ppt/slides/_rels/slide5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5.png"/></Relationships>
</file>

<file path=ppt/slides/_rels/slide5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2474395" cy="559640"/>
              </a:xfrm>
              <a:prstGeom prst="rect">
                <a:avLst/>
              </a:prstGeom>
              <a:noFill/>
            </p:spPr>
            <p:txBody>
              <a:bodyPr wrap="none" rtlCol="0">
                <a:spAutoFit/>
              </a:bodyPr>
              <a:lstStyle/>
              <a:p>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oMath>
                  </m:oMathPara>
                </a14:m>
                <a:endParaRPr lang="en-NL" dirty="0"/>
              </a:p>
            </p:txBody>
          </p:sp>
        </mc:Choice>
        <mc:Fallback>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2474395" cy="559640"/>
              </a:xfrm>
              <a:prstGeom prst="rect">
                <a:avLst/>
              </a:prstGeom>
              <a:blipFill>
                <a:blip r:embed="rId19"/>
                <a:stretch>
                  <a:fillRect l="-24877" t="-145055" r="-369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379357"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147C60"/>
                          </a:solidFill>
                          <a:latin typeface="Cambria Math"/>
                        </a:rPr>
                        <m:t>𝑎𝑏</m:t>
                      </m:r>
                      <m:r>
                        <a:rPr sz="1800">
                          <a:solidFill>
                            <a:srgbClr val="147C60"/>
                          </a:solidFill>
                          <a:latin typeface="Cambria Math"/>
                        </a:rPr>
                        <m:t>≥0</m:t>
                      </m:r>
                    </m:oMath>
                  </m:oMathPara>
                </a14:m>
                <a:endParaRPr sz="1800"/>
              </a:p>
            </p:txBody>
          </p:sp>
        </mc:Choice>
        <mc:Fallback xmlns:m="http://schemas.openxmlformats.org/officeDocument/2006/math"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16F9C"/>
                          </a:solidFill>
                          <a:latin typeface="Cambria Math"/>
                        </a:rPr>
                        <m:t>𝑣𝑎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xmlns:m="http://schemas.openxmlformats.org/officeDocument/2006/math">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1900">
                          <a:solidFill>
                            <a:srgbClr val="252529"/>
                          </a:solidFill>
                          <a:latin typeface="Cambria Math"/>
                        </a:rPr>
                      </m:ctrlPr>
                    </m:sSupPr>
                    <m:e>
                      <m:d>
                        <m:dPr>
                          <m:begChr m:val="‖"/>
                          <m:endChr m:val="‖"/>
                          <m:ctrlPr>
                            <a:rPr sz="1900">
                              <a:solidFill>
                                <a:srgbClr val="252529"/>
                              </a:solidFill>
                              <a:latin typeface="Cambria Math"/>
                            </a:rPr>
                          </m:ctrlPr>
                        </m:dPr>
                        <m:e>
                          <m:acc>
                            <m:accPr>
                              <m:chr m:val="̃"/>
                              <m:ctrlPr>
                                <a:rPr sz="1900">
                                  <a:solidFill>
                                    <a:srgbClr val="252529"/>
                                  </a:solidFill>
                                  <a:latin typeface="Cambria Math"/>
                                </a:rPr>
                              </m:ctrlPr>
                            </m:accPr>
                            <m:e>
                              <m:r>
                                <m:rPr>
                                  <m:sty m:val="i"/>
                                </m:rPr>
                                <a:rPr sz="1900">
                                  <a:solidFill>
                                    <a:srgbClr val="252529"/>
                                  </a:solidFill>
                                  <a:latin typeface="Cambria Math"/>
                                </a:rPr>
                                <m:t xml:space="preserve">z</m:t>
                              </m:r>
                            </m:e>
                          </m:acc>
                        </m:e>
                      </m:d>
                    </m:e>
                    <m:sup>
                      <m:r>
                        <m:rPr>
                          <m:sty m:val="p"/>
                        </m:rPr>
                        <a:rPr sz="1900">
                          <a:solidFill>
                            <a:srgbClr val="252529"/>
                          </a:solidFill>
                          <a:latin typeface="Cambria Math"/>
                        </a:rPr>
                        <m:t xml:space="preserve">2</m:t>
                      </m:r>
                    </m:sup>
                  </m:sSup>
                  <m:r>
                    <m:rPr>
                      <m:sty m:val="p"/>
                    </m:rPr>
                    <a:rPr sz="1900">
                      <a:solidFill>
                        <a:srgbClr val="252529"/>
                      </a:solidFill>
                      <a:latin typeface="Cambria Math"/>
                    </a:rPr>
                    <m:t xml:space="preserve">−</m:t>
                  </m:r>
                  <m:sSup>
                    <m:sSupPr>
                      <m:ctrlPr>
                        <a:rPr sz="1900">
                          <a:solidFill>
                            <a:srgbClr val="252529"/>
                          </a:solidFill>
                          <a:latin typeface="Cambria Math"/>
                        </a:rPr>
                      </m:ctrlPr>
                    </m:sSupPr>
                    <m:e>
                      <m:d>
                        <m:dPr>
                          <m:begChr m:val="‖"/>
                          <m:endChr m:val="‖"/>
                          <m:ctrlPr>
                            <a:rPr sz="1900">
                              <a:solidFill>
                                <a:srgbClr val="252529"/>
                              </a:solidFill>
                              <a:latin typeface="Cambria Math"/>
                            </a:rPr>
                          </m:ctrlPr>
                        </m:dPr>
                        <m:e>
                          <m:acc>
                            <m:accPr>
                              <m:chr m:val="̃"/>
                              <m:ctrlPr>
                                <a:rPr sz="1900">
                                  <a:solidFill>
                                    <a:srgbClr val="252529"/>
                                  </a:solidFill>
                                  <a:latin typeface="Cambria Math"/>
                                </a:rPr>
                              </m:ctrlPr>
                            </m:accPr>
                            <m:e>
                              <m:r>
                                <m:rPr>
                                  <m:sty m:val="i"/>
                                </m:rPr>
                                <a:rPr sz="1900">
                                  <a:solidFill>
                                    <a:srgbClr val="252529"/>
                                  </a:solidFill>
                                  <a:latin typeface="Cambria Math"/>
                                </a:rPr>
                                <m:t xml:space="preserve">w</m:t>
                              </m:r>
                            </m:e>
                          </m:acc>
                        </m:e>
                      </m:d>
                    </m:e>
                    <m:sup>
                      <m:r>
                        <m:rPr>
                          <m:sty m:val="p"/>
                        </m:rPr>
                        <a:rPr sz="1900">
                          <a:solidFill>
                            <a:srgbClr val="252529"/>
                          </a:solidFill>
                          <a:latin typeface="Cambria Math"/>
                        </a:rPr>
                        <m:t xml:space="preserve">2</m:t>
                      </m:r>
                    </m:sup>
                  </m:sSup>
                  <m:r>
                    <m:rPr>
                      <m:sty m:val="p"/>
                    </m:rPr>
                    <a:rPr sz="1900">
                      <a:solidFill>
                        <a:srgbClr val="252529"/>
                      </a:solidFill>
                      <a:latin typeface="Cambria Math"/>
                    </a:rPr>
                    <m:t xml:space="preserve">=</m:t>
                  </m:r>
                  <m:sSup>
                    <m:sSupPr>
                      <m:ctrlPr>
                        <a:rPr sz="1900">
                          <a:solidFill>
                            <a:srgbClr val="252529"/>
                          </a:solidFill>
                          <a:latin typeface="Cambria Math"/>
                        </a:rPr>
                      </m:ctrlPr>
                    </m:sSupPr>
                    <m:e>
                      <m:d>
                        <m:dPr>
                          <m:begChr m:val="("/>
                          <m:endChr m:val=")"/>
                          <m:ctrlPr>
                            <a:rPr sz="1900">
                              <a:solidFill>
                                <a:srgbClr val="252529"/>
                              </a:solidFill>
                              <a:latin typeface="Cambria Math"/>
                            </a:rPr>
                          </m:ctrlPr>
                        </m:dPr>
                        <m:e>
                          <m:r>
                            <m:rPr>
                              <m:sty m:val="i"/>
                            </m:rPr>
                            <a:rPr sz="1900">
                              <a:solidFill>
                                <a:srgbClr val="252529"/>
                              </a:solidFill>
                              <a:latin typeface="Cambria Math"/>
                            </a:rPr>
                            <m:t xml:space="preserve">va+b</m:t>
                          </m:r>
                        </m:e>
                      </m:d>
                    </m:e>
                    <m:sup>
                      <m:r>
                        <m:rPr>
                          <m:sty m:val="p"/>
                        </m:rPr>
                        <a:rPr sz="1900">
                          <a:solidFill>
                            <a:srgbClr val="252529"/>
                          </a:solidFill>
                          <a:latin typeface="Cambria Math"/>
                        </a:rPr>
                        <m:t xml:space="preserve">2</m:t>
                      </m:r>
                    </m:sup>
                  </m:sSup>
                  <m:r>
                    <m:rPr>
                      <m:sty m:val="p"/>
                    </m:rPr>
                    <a:rPr sz="1900">
                      <a:solidFill>
                        <a:srgbClr val="252529"/>
                      </a:solidFill>
                      <a:latin typeface="Cambria Math"/>
                    </a:rPr>
                    <m:t xml:space="preserve">−</m:t>
                  </m:r>
                  <m:sSup>
                    <m:sSupPr>
                      <m:ctrlPr>
                        <a:rPr sz="1900">
                          <a:solidFill>
                            <a:srgbClr val="252529"/>
                          </a:solidFill>
                          <a:latin typeface="Cambria Math"/>
                        </a:rPr>
                      </m:ctrlPr>
                    </m:sSupPr>
                    <m:e>
                      <m:d>
                        <m:dPr>
                          <m:begChr m:val="("/>
                          <m:endChr m:val=")"/>
                          <m:ctrlPr>
                            <a:rPr sz="1900">
                              <a:solidFill>
                                <a:srgbClr val="252529"/>
                              </a:solidFill>
                              <a:latin typeface="Cambria Math"/>
                            </a:rPr>
                          </m:ctrlPr>
                        </m:dPr>
                        <m:e>
                          <m:r>
                            <m:rPr>
                              <m:sty m:val="i"/>
                            </m:rPr>
                            <a:rPr sz="1900">
                              <a:solidFill>
                                <a:srgbClr val="252529"/>
                              </a:solidFill>
                              <a:latin typeface="Cambria Math"/>
                            </a:rPr>
                            <m:t xml:space="preserve">va−b</m:t>
                          </m:r>
                        </m:e>
                      </m:d>
                    </m:e>
                    <m:sup>
                      <m:r>
                        <m:rPr>
                          <m:sty m:val="p"/>
                        </m:rPr>
                        <a:rPr sz="1900">
                          <a:solidFill>
                            <a:srgbClr val="252529"/>
                          </a:solidFill>
                          <a:latin typeface="Cambria Math"/>
                        </a:rPr>
                        <m:t xml:space="preserve">2</m:t>
                      </m:r>
                    </m:sup>
                  </m:sSup>
                </m:oMath>
              </m:oMathPara>
            </a14:m>
            <a:endParaRPr sz="1900"/>
          </a:p>
        </p:txBody>
      </p:sp>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900">
                      <a:solidFill>
                        <a:srgbClr val="252529"/>
                      </a:solidFill>
                      <a:latin typeface="Cambria Math"/>
                    </a:rPr>
                    <m:t xml:space="preserve">=</m:t>
                  </m:r>
                  <m:d>
                    <m:dPr>
                      <m:begChr m:val="("/>
                      <m:endChr m:val=")"/>
                      <m:ctrlPr>
                        <a:rPr sz="1900">
                          <a:solidFill>
                            <a:srgbClr val="252529"/>
                          </a:solidFill>
                          <a:latin typeface="Cambria Math"/>
                        </a:rPr>
                      </m:ctrlPr>
                    </m:dPr>
                    <m:e>
                      <m:sSup>
                        <m:sSupPr>
                          <m:ctrlPr>
                            <a:rPr sz="1900">
                              <a:solidFill>
                                <a:srgbClr val="252529"/>
                              </a:solidFill>
                              <a:latin typeface="Cambria Math"/>
                            </a:rPr>
                          </m:ctrlPr>
                        </m:sSupPr>
                        <m:e>
                          <m:r>
                            <m:rPr>
                              <m:sty m:val="i"/>
                            </m:rPr>
                            <a:rPr sz="1900">
                              <a:solidFill>
                                <a:srgbClr val="252529"/>
                              </a:solidFill>
                              <a:latin typeface="Cambria Math"/>
                            </a:rPr>
                            <m:t xml:space="preserve">v</m:t>
                          </m:r>
                        </m:e>
                        <m:sup>
                          <m:r>
                            <m:rPr>
                              <m:sty m:val="p"/>
                            </m:rPr>
                            <a:rPr sz="1900">
                              <a:solidFill>
                                <a:srgbClr val="252529"/>
                              </a:solidFill>
                              <a:latin typeface="Cambria Math"/>
                            </a:rPr>
                            <m:t xml:space="preserve">2</m:t>
                          </m:r>
                        </m:sup>
                      </m:sSup>
                      <m:sSup>
                        <m:sSupPr>
                          <m:ctrlPr>
                            <a:rPr sz="1900">
                              <a:solidFill>
                                <a:srgbClr val="252529"/>
                              </a:solidFill>
                              <a:latin typeface="Cambria Math"/>
                            </a:rPr>
                          </m:ctrlPr>
                        </m:sSupPr>
                        <m:e>
                          <m:r>
                            <m:rPr>
                              <m:sty m:val="i"/>
                            </m:rPr>
                            <a:rPr sz="1900">
                              <a:solidFill>
                                <a:srgbClr val="252529"/>
                              </a:solidFill>
                              <a:latin typeface="Cambria Math"/>
                            </a:rPr>
                            <m:t xml:space="preserve">a</m:t>
                          </m:r>
                        </m:e>
                        <m:sup>
                          <m:r>
                            <m:rPr>
                              <m:sty m:val="p"/>
                            </m:rPr>
                            <a:rPr sz="1900">
                              <a:solidFill>
                                <a:srgbClr val="252529"/>
                              </a:solidFill>
                              <a:latin typeface="Cambria Math"/>
                            </a:rPr>
                            <m:t xml:space="preserve">2</m:t>
                          </m:r>
                        </m:sup>
                      </m:sSup>
                      <m:r>
                        <m:rPr>
                          <m:sty m:val="i"/>
                        </m:rPr>
                        <a:rPr sz="1900">
                          <a:solidFill>
                            <a:srgbClr val="252529"/>
                          </a:solidFill>
                          <a:latin typeface="Cambria Math"/>
                        </a:rPr>
                        <m:t xml:space="preserve">+2vab</m:t>
                      </m:r>
                      <m:r>
                        <m:rPr>
                          <m:sty m:val="p"/>
                        </m:rPr>
                        <a:rPr sz="1900">
                          <a:solidFill>
                            <a:srgbClr val="252529"/>
                          </a:solidFill>
                          <a:latin typeface="Cambria Math"/>
                        </a:rPr>
                        <m:t xml:space="preserve">+</m:t>
                      </m:r>
                      <m:sSup>
                        <m:sSupPr>
                          <m:ctrlPr>
                            <a:rPr sz="1900">
                              <a:solidFill>
                                <a:srgbClr val="252529"/>
                              </a:solidFill>
                              <a:latin typeface="Cambria Math"/>
                            </a:rPr>
                          </m:ctrlPr>
                        </m:sSupPr>
                        <m:e>
                          <m:r>
                            <m:rPr>
                              <m:sty m:val="i"/>
                            </m:rPr>
                            <a:rPr sz="1900">
                              <a:solidFill>
                                <a:srgbClr val="252529"/>
                              </a:solidFill>
                              <a:latin typeface="Cambria Math"/>
                            </a:rPr>
                            <m:t xml:space="preserve">b</m:t>
                          </m:r>
                        </m:e>
                        <m:sup>
                          <m:r>
                            <m:rPr>
                              <m:sty m:val="p"/>
                            </m:rPr>
                            <a:rPr sz="1900">
                              <a:solidFill>
                                <a:srgbClr val="252529"/>
                              </a:solidFill>
                              <a:latin typeface="Cambria Math"/>
                            </a:rPr>
                            <m:t xml:space="preserve">2</m:t>
                          </m:r>
                        </m:sup>
                      </m:sSup>
                    </m:e>
                  </m:d>
                  <m:r>
                    <m:rPr>
                      <m:sty m:val="p"/>
                    </m:rPr>
                    <a:rPr sz="1900">
                      <a:solidFill>
                        <a:srgbClr val="252529"/>
                      </a:solidFill>
                      <a:latin typeface="Cambria Math"/>
                    </a:rPr>
                    <m:t xml:space="preserve">−</m:t>
                  </m:r>
                  <m:d>
                    <m:dPr>
                      <m:begChr m:val="("/>
                      <m:endChr m:val=")"/>
                      <m:ctrlPr>
                        <a:rPr sz="1900">
                          <a:solidFill>
                            <a:srgbClr val="252529"/>
                          </a:solidFill>
                          <a:latin typeface="Cambria Math"/>
                        </a:rPr>
                      </m:ctrlPr>
                    </m:dPr>
                    <m:e>
                      <m:sSup>
                        <m:sSupPr>
                          <m:ctrlPr>
                            <a:rPr sz="1900">
                              <a:solidFill>
                                <a:srgbClr val="252529"/>
                              </a:solidFill>
                              <a:latin typeface="Cambria Math"/>
                            </a:rPr>
                          </m:ctrlPr>
                        </m:sSupPr>
                        <m:e>
                          <m:r>
                            <m:rPr>
                              <m:sty m:val="i"/>
                            </m:rPr>
                            <a:rPr sz="1900">
                              <a:solidFill>
                                <a:srgbClr val="252529"/>
                              </a:solidFill>
                              <a:latin typeface="Cambria Math"/>
                            </a:rPr>
                            <m:t xml:space="preserve">v</m:t>
                          </m:r>
                        </m:e>
                        <m:sup>
                          <m:r>
                            <m:rPr>
                              <m:sty m:val="p"/>
                            </m:rPr>
                            <a:rPr sz="1900">
                              <a:solidFill>
                                <a:srgbClr val="252529"/>
                              </a:solidFill>
                              <a:latin typeface="Cambria Math"/>
                            </a:rPr>
                            <m:t xml:space="preserve">2</m:t>
                          </m:r>
                        </m:sup>
                      </m:sSup>
                      <m:sSup>
                        <m:sSupPr>
                          <m:ctrlPr>
                            <a:rPr sz="1900">
                              <a:solidFill>
                                <a:srgbClr val="252529"/>
                              </a:solidFill>
                              <a:latin typeface="Cambria Math"/>
                            </a:rPr>
                          </m:ctrlPr>
                        </m:sSupPr>
                        <m:e>
                          <m:r>
                            <m:rPr>
                              <m:sty m:val="i"/>
                            </m:rPr>
                            <a:rPr sz="1900">
                              <a:solidFill>
                                <a:srgbClr val="252529"/>
                              </a:solidFill>
                              <a:latin typeface="Cambria Math"/>
                            </a:rPr>
                            <m:t xml:space="preserve">a</m:t>
                          </m:r>
                        </m:e>
                        <m:sup>
                          <m:r>
                            <m:rPr>
                              <m:sty m:val="p"/>
                            </m:rPr>
                            <a:rPr sz="1900">
                              <a:solidFill>
                                <a:srgbClr val="252529"/>
                              </a:solidFill>
                              <a:latin typeface="Cambria Math"/>
                            </a:rPr>
                            <m:t xml:space="preserve">2</m:t>
                          </m:r>
                        </m:sup>
                      </m:sSup>
                      <m:r>
                        <m:rPr>
                          <m:sty m:val="i"/>
                        </m:rPr>
                        <a:rPr sz="1900">
                          <a:solidFill>
                            <a:srgbClr val="252529"/>
                          </a:solidFill>
                          <a:latin typeface="Cambria Math"/>
                        </a:rPr>
                        <m:t xml:space="preserve">−2vab</m:t>
                      </m:r>
                      <m:r>
                        <m:rPr>
                          <m:sty m:val="p"/>
                        </m:rPr>
                        <a:rPr sz="1900">
                          <a:solidFill>
                            <a:srgbClr val="252529"/>
                          </a:solidFill>
                          <a:latin typeface="Cambria Math"/>
                        </a:rPr>
                        <m:t xml:space="preserve">+</m:t>
                      </m:r>
                      <m:sSup>
                        <m:sSupPr>
                          <m:ctrlPr>
                            <a:rPr sz="1900">
                              <a:solidFill>
                                <a:srgbClr val="252529"/>
                              </a:solidFill>
                              <a:latin typeface="Cambria Math"/>
                            </a:rPr>
                          </m:ctrlPr>
                        </m:sSupPr>
                        <m:e>
                          <m:r>
                            <m:rPr>
                              <m:sty m:val="i"/>
                            </m:rPr>
                            <a:rPr sz="1900">
                              <a:solidFill>
                                <a:srgbClr val="252529"/>
                              </a:solidFill>
                              <a:latin typeface="Cambria Math"/>
                            </a:rPr>
                            <m:t xml:space="preserve">b</m:t>
                          </m:r>
                        </m:e>
                        <m:sup>
                          <m:r>
                            <m:rPr>
                              <m:sty m:val="p"/>
                            </m:rPr>
                            <a:rPr sz="1900">
                              <a:solidFill>
                                <a:srgbClr val="252529"/>
                              </a:solidFill>
                              <a:latin typeface="Cambria Math"/>
                            </a:rPr>
                            <m:t xml:space="preserve">2</m:t>
                          </m:r>
                        </m:sup>
                      </m:sSup>
                    </m:e>
                  </m:d>
                </m:oMath>
              </m:oMathPara>
            </a14:m>
            <a:endParaRPr sz="1900"/>
          </a:p>
        </p:txBody>
      </p:sp>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200">
                      <a:solidFill>
                        <a:srgbClr val="147C60"/>
                      </a:solidFill>
                      <a:latin typeface="Cambria Math"/>
                    </a:rPr>
                    <m:t xml:space="preserve">=4vab≥0</m:t>
                  </m:r>
                </m:oMath>
              </m:oMathPara>
            </a14:m>
            <a:endParaRPr sz="2200"/>
          </a:p>
        </p:txBody>
      </p:sp>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2100">
                          <a:solidFill>
                            <a:srgbClr val="252529"/>
                          </a:solidFill>
                          <a:latin typeface="Cambria Math"/>
                        </a:rPr>
                      </m:ctrlPr>
                    </m:sSupPr>
                    <m:e>
                      <m:d>
                        <m:dPr>
                          <m:begChr m:val="‖"/>
                          <m:endChr m:val="‖"/>
                          <m:ctrlPr>
                            <a:rPr sz="2100">
                              <a:solidFill>
                                <a:srgbClr val="252529"/>
                              </a:solidFill>
                              <a:latin typeface="Cambria Math"/>
                            </a:rPr>
                          </m:ctrlPr>
                        </m:dPr>
                        <m:e>
                          <m:acc>
                            <m:accPr>
                              <m:chr m:val="̃"/>
                              <m:ctrlPr>
                                <a:rPr sz="2100">
                                  <a:solidFill>
                                    <a:srgbClr val="252529"/>
                                  </a:solidFill>
                                  <a:latin typeface="Cambria Math"/>
                                </a:rPr>
                              </m:ctrlPr>
                            </m:accPr>
                            <m:e>
                              <m:r>
                                <m:rPr>
                                  <m:sty m:val="i"/>
                                </m:rPr>
                                <a:rPr sz="2100">
                                  <a:solidFill>
                                    <a:srgbClr val="252529"/>
                                  </a:solidFill>
                                  <a:latin typeface="Cambria Math"/>
                                </a:rPr>
                                <m:t xml:space="preserve">w</m:t>
                              </m:r>
                            </m:e>
                          </m:acc>
                        </m:e>
                      </m:d>
                    </m:e>
                    <m:sup>
                      <m:r>
                        <m:rPr>
                          <m:sty m:val="p"/>
                        </m:rPr>
                        <a:rPr sz="2100">
                          <a:solidFill>
                            <a:srgbClr val="252529"/>
                          </a:solidFill>
                          <a:latin typeface="Cambria Math"/>
                        </a:rPr>
                        <m:t xml:space="preserve">2</m:t>
                      </m:r>
                    </m:sup>
                  </m:sSup>
                  <m:r>
                    <m:rPr>
                      <m:sty m:val="p"/>
                    </m:rPr>
                    <a:rPr sz="2100">
                      <a:solidFill>
                        <a:srgbClr val="252529"/>
                      </a:solidFill>
                      <a:latin typeface="Cambria Math"/>
                    </a:rPr>
                    <m:t xml:space="preserve">≤</m:t>
                  </m:r>
                  <m:sSup>
                    <m:sSupPr>
                      <m:ctrlPr>
                        <a:rPr sz="2100">
                          <a:solidFill>
                            <a:srgbClr val="252529"/>
                          </a:solidFill>
                          <a:latin typeface="Cambria Math"/>
                        </a:rPr>
                      </m:ctrlPr>
                    </m:sSupPr>
                    <m:e>
                      <m:d>
                        <m:dPr>
                          <m:begChr m:val="‖"/>
                          <m:endChr m:val="‖"/>
                          <m:ctrlPr>
                            <a:rPr sz="2100">
                              <a:solidFill>
                                <a:srgbClr val="252529"/>
                              </a:solidFill>
                              <a:latin typeface="Cambria Math"/>
                            </a:rPr>
                          </m:ctrlPr>
                        </m:dPr>
                        <m:e>
                          <m:acc>
                            <m:accPr>
                              <m:chr m:val="̃"/>
                              <m:ctrlPr>
                                <a:rPr sz="2100">
                                  <a:solidFill>
                                    <a:srgbClr val="252529"/>
                                  </a:solidFill>
                                  <a:latin typeface="Cambria Math"/>
                                </a:rPr>
                              </m:ctrlPr>
                            </m:accPr>
                            <m:e>
                              <m:r>
                                <m:rPr>
                                  <m:sty m:val="i"/>
                                </m:rPr>
                                <a:rPr sz="2100">
                                  <a:solidFill>
                                    <a:srgbClr val="252529"/>
                                  </a:solidFill>
                                  <a:latin typeface="Cambria Math"/>
                                </a:rPr>
                                <m:t xml:space="preserve">z</m:t>
                              </m:r>
                            </m:e>
                          </m:acc>
                        </m:e>
                      </m:d>
                    </m:e>
                    <m:sup>
                      <m:r>
                        <m:rPr>
                          <m:sty m:val="p"/>
                        </m:rPr>
                        <a:rPr sz="2100">
                          <a:solidFill>
                            <a:srgbClr val="252529"/>
                          </a:solidFill>
                          <a:latin typeface="Cambria Math"/>
                        </a:rPr>
                        <m:t xml:space="preserve">2</m:t>
                      </m:r>
                    </m:sup>
                  </m:sSup>
                  <m:r>
                    <m:rPr>
                      <m:sty m:val="p"/>
                    </m:rPr>
                    <a:rPr sz="2100">
                      <a:solidFill>
                        <a:srgbClr val="252529"/>
                      </a:solidFill>
                      <a:latin typeface="Cambria Math"/>
                    </a:rPr>
                    <m:t xml:space="preserve">  ⇒  </m:t>
                  </m:r>
                  <m:d>
                    <m:dPr>
                      <m:begChr m:val="‖"/>
                      <m:endChr m:val="‖"/>
                      <m:ctrlPr>
                        <a:rPr sz="2100">
                          <a:solidFill>
                            <a:srgbClr val="252529"/>
                          </a:solidFill>
                          <a:latin typeface="Cambria Math"/>
                        </a:rPr>
                      </m:ctrlPr>
                    </m:dPr>
                    <m:e>
                      <m:acc>
                        <m:accPr>
                          <m:chr m:val="̃"/>
                          <m:ctrlPr>
                            <a:rPr sz="2100">
                              <a:solidFill>
                                <a:srgbClr val="252529"/>
                              </a:solidFill>
                              <a:latin typeface="Cambria Math"/>
                            </a:rPr>
                          </m:ctrlPr>
                        </m:accPr>
                        <m:e>
                          <m:r>
                            <m:rPr>
                              <m:sty m:val="i"/>
                            </m:rPr>
                            <a:rPr sz="2100">
                              <a:solidFill>
                                <a:srgbClr val="252529"/>
                              </a:solidFill>
                              <a:latin typeface="Cambria Math"/>
                            </a:rPr>
                            <m:t xml:space="preserve">w</m:t>
                          </m:r>
                        </m:e>
                      </m:acc>
                    </m:e>
                  </m:d>
                  <m:r>
                    <m:rPr>
                      <m:sty m:val="p"/>
                    </m:rPr>
                    <a:rPr sz="2100">
                      <a:solidFill>
                        <a:srgbClr val="252529"/>
                      </a:solidFill>
                      <a:latin typeface="Cambria Math"/>
                    </a:rPr>
                    <m:t xml:space="preserve">≤</m:t>
                  </m:r>
                  <m:d>
                    <m:dPr>
                      <m:begChr m:val="‖"/>
                      <m:endChr m:val="‖"/>
                      <m:ctrlPr>
                        <a:rPr sz="2100">
                          <a:solidFill>
                            <a:srgbClr val="252529"/>
                          </a:solidFill>
                          <a:latin typeface="Cambria Math"/>
                        </a:rPr>
                      </m:ctrlPr>
                    </m:dPr>
                    <m:e>
                      <m:acc>
                        <m:accPr>
                          <m:chr m:val="̃"/>
                          <m:ctrlPr>
                            <a:rPr sz="2100">
                              <a:solidFill>
                                <a:srgbClr val="252529"/>
                              </a:solidFill>
                              <a:latin typeface="Cambria Math"/>
                            </a:rPr>
                          </m:ctrlPr>
                        </m:accPr>
                        <m:e>
                          <m:r>
                            <m:rPr>
                              <m:sty m:val="i"/>
                            </m:rPr>
                            <a:rPr sz="2100">
                              <a:solidFill>
                                <a:srgbClr val="252529"/>
                              </a:solidFill>
                              <a:latin typeface="Cambria Math"/>
                            </a:rPr>
                            <m:t xml:space="preserve">z</m:t>
                          </m:r>
                        </m:e>
                      </m:acc>
                    </m:e>
                  </m:d>
                </m:oMath>
              </m:oMathPara>
            </a14:m>
            <a:endParaRPr sz="21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5548</TotalTime>
  <Words>7825</Words>
  <Application>Microsoft Office PowerPoint</Application>
  <PresentationFormat>On-screen Show (16:9)</PresentationFormat>
  <Paragraphs>1037</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39</cp:revision>
  <dcterms:created xsi:type="dcterms:W3CDTF">2019-11-27T15:26:32Z</dcterms:created>
  <dcterms:modified xsi:type="dcterms:W3CDTF">2026-09-27T16:46:13Z</dcterms:modified>
</cp:coreProperties>
</file>