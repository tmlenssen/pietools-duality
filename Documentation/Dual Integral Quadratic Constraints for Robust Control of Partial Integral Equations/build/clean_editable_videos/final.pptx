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53" r:id="rId56"/>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50" r:id="rId36"/>
    <p:sldId id="451" r:id="rId37"/>
    <p:sldId id="452" r:id="rId38"/>
    <p:sldId id="448" r:id="rId39"/>
    <p:sldId id="449" r:id="rId40"/>
    <p:sldId id="439" r:id="rId41"/>
    <p:sldId id="421" r:id="rId42"/>
    <p:sldId id="427" r:id="rId43"/>
    <p:sldId id="431" r:id="rId44"/>
    <p:sldId id="428" r:id="rId45"/>
    <p:sldId id="429" r:id="rId46"/>
    <p:sldId id="432" r:id="rId47"/>
    <p:sldId id="430" r:id="rId48"/>
    <p:sldId id="433" r:id="rId49"/>
    <p:sldId id="434" r:id="rId5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p:scale>
          <a:sx n="100" d="100"/>
          <a:sy n="100" d="100"/>
        </p:scale>
        <p:origin x="1896" y="49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 Id="rId10" Type="http://schemas.openxmlformats.org/officeDocument/2006/relationships/image" Target="../media/neurosim_firstframe_1.png"/><Relationship Id="rId11" Type="http://schemas.openxmlformats.org/officeDocument/2006/relationships/image" Target="../media/neurosim_firstframe_2.png"/><Relationship Id="rIdEditable100" Type="http://schemas.openxmlformats.org/officeDocument/2006/relationships/image" Target="../media/editable_366_image30.png"/><Relationship Id="rIdEditable101" Type="http://schemas.openxmlformats.org/officeDocument/2006/relationships/image" Target="../media/editable_367_image31.png"/><Relationship Id="rIdEditable102" Type="http://schemas.openxmlformats.org/officeDocument/2006/relationships/image" Target="../media/editable_368_image32.png"/><Relationship Id="rIdEditable103" Type="http://schemas.openxmlformats.org/officeDocument/2006/relationships/image" Target="../media/editable_369_image33.png"/><Relationship Id="rIdEditable104" Type="http://schemas.openxmlformats.org/officeDocument/2006/relationships/image" Target="../media/editable_370_image34.png"/><Relationship Id="rIdEditable105" Type="http://schemas.openxmlformats.org/officeDocument/2006/relationships/image" Target="../media/editable_371_image35.png"/><Relationship Id="rIdEditable106" Type="http://schemas.openxmlformats.org/officeDocument/2006/relationships/image" Target="../media/editable_372_image36.png"/><Relationship Id="rIdEditable107" Type="http://schemas.openxmlformats.org/officeDocument/2006/relationships/image" Target="../media/editable_373_image37.png"/><Relationship Id="rIdEditable108" Type="http://schemas.openxmlformats.org/officeDocument/2006/relationships/image" Target="../media/editable_374_image38.png"/><Relationship Id="rIdEditable109" Type="http://schemas.openxmlformats.org/officeDocument/2006/relationships/image" Target="../media/editable_375_image39.png"/><Relationship Id="rIdEditable110" Type="http://schemas.openxmlformats.org/officeDocument/2006/relationships/image" Target="../media/editable_376_image40.png"/><Relationship Id="rIdEditable111" Type="http://schemas.openxmlformats.org/officeDocument/2006/relationships/image" Target="../media/editable_377_image4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Relationships xmlns="http://schemas.openxmlformats.org/package/2006/relationships"><Relationship Id="rId8" Type="http://schemas.openxmlformats.org/officeDocument/2006/relationships/image" Target="../media/neurosim_s4_1.png"/><Relationship Id="rId3" Type="http://schemas.openxmlformats.org/officeDocument/2006/relationships/slideLayout" Target="../slideLayouts/slideLayout5.xml"/><Relationship Id="rId7" Type="http://schemas.openxmlformats.org/officeDocument/2006/relationships/image" Target="../media/neurosim_s4_2.png"/><Relationship Id="rId2" Type="http://schemas.openxmlformats.org/officeDocument/2006/relationships/video" Target="../media/neurosim_s4_3.mp4"/><Relationship Id="rId1" Type="http://schemas.microsoft.com/office/2007/relationships/media" Target="../media/neurosim_s4_3.mp4"/><Relationship Id="rId6" Type="http://schemas.openxmlformats.org/officeDocument/2006/relationships/image" Target="../media/neurosim_s4_4.png"/><Relationship Id="rId5" Type="http://schemas.openxmlformats.org/officeDocument/2006/relationships/image" Target="../media/neurosim_s4_5.png"/><Relationship Id="rId9" Type="http://schemas.openxmlformats.org/officeDocument/2006/relationships/image" Target="../media/neurosim_s4_6.png"/><Relationship Id="rId10" Type="http://schemas.openxmlformats.org/officeDocument/2006/relationships/notesSlide" Target="../notesSlides/notesSlide4.xml"/><Relationship Id="rId11" Type="http://schemas.openxmlformats.org/officeDocument/2006/relationships/image" Target="../media/neurosim_firstframe_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3_1.mp4"/><Relationship Id="rId1" Type="http://schemas.microsoft.com/office/2007/relationships/media" Target="../media/neurosim_s13_1.mp4"/><Relationship Id="rId6" Type="http://schemas.openxmlformats.org/officeDocument/2006/relationships/image" Target="../media/neurosim_s13_2.png"/><Relationship Id="rId5" Type="http://schemas.openxmlformats.org/officeDocument/2006/relationships/image" Target="../media/neurosim_s13_3.png"/><Relationship Id="rId7" Type="http://schemas.openxmlformats.org/officeDocument/2006/relationships/notesSlide" Target="../notesSlides/notesSlide11.xml"/><Relationship Id="rId8" Type="http://schemas.openxmlformats.org/officeDocument/2006/relationships/image" Target="../media/neurosim_firstframe_7.png"/></Relationships>
</file>

<file path=ppt/slides/_rels/slide14.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4_1.mp4"/><Relationship Id="rId1" Type="http://schemas.microsoft.com/office/2007/relationships/media" Target="../media/neurosim_s14_1.mp4"/><Relationship Id="rId6" Type="http://schemas.openxmlformats.org/officeDocument/2006/relationships/image" Target="../media/neurosim_s14_2.png"/><Relationship Id="rId5" Type="http://schemas.openxmlformats.org/officeDocument/2006/relationships/image" Target="../media/neurosim_s14_3.png"/><Relationship Id="rId7" Type="http://schemas.openxmlformats.org/officeDocument/2006/relationships/notesSlide" Target="../notesSlides/notesSlide12.xml"/><Relationship Id="rId8" Type="http://schemas.openxmlformats.org/officeDocument/2006/relationships/image" Target="../media/neurosim_firstframe_8.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 Id="rId6" Type="http://schemas.openxmlformats.org/officeDocument/2006/relationships/image" Target="../media/neurosim_firstframe_3.png"/><Relationship Id="rIdEditable100" Type="http://schemas.openxmlformats.org/officeDocument/2006/relationships/image" Target="../media/editable_378_image153.png"/><Relationship Id="rIdEditable101" Type="http://schemas.openxmlformats.org/officeDocument/2006/relationships/image" Target="../media/editable_379_image154.png"/><Relationship Id="rIdEditable102" Type="http://schemas.openxmlformats.org/officeDocument/2006/relationships/image" Target="../media/editable_380_image155.png"/><Relationship Id="rIdEditable103" Type="http://schemas.openxmlformats.org/officeDocument/2006/relationships/image" Target="../media/editable_381_image156.png"/><Relationship Id="rIdEditable104" Type="http://schemas.openxmlformats.org/officeDocument/2006/relationships/image" Target="../media/editable_382_image157.png"/><Relationship Id="rIdEditable105" Type="http://schemas.openxmlformats.org/officeDocument/2006/relationships/image" Target="../media/editable_383_image158.png"/><Relationship Id="rIdEditable106" Type="http://schemas.openxmlformats.org/officeDocument/2006/relationships/image" Target="../media/editable_384_image161.png"/><Relationship Id="rIdEditable107" Type="http://schemas.openxmlformats.org/officeDocument/2006/relationships/image" Target="../media/editable_385_image159.png"/><Relationship Id="rIdEditable108" Type="http://schemas.openxmlformats.org/officeDocument/2006/relationships/image" Target="../media/editable_386_image160.png"/><Relationship Id="rIdEditable109" Type="http://schemas.openxmlformats.org/officeDocument/2006/relationships/image" Target="../media/editable_387_image162.png"/></Relationships>
</file>

<file path=ppt/slides/_rels/slide27.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 Id="rId6" Type="http://schemas.openxmlformats.org/officeDocument/2006/relationships/image" Target="../media/neurosim_firstframe_4.png"/><Relationship Id="rIdEditable100" Type="http://schemas.openxmlformats.org/officeDocument/2006/relationships/image" Target="../media/editable_388_image168.png"/><Relationship Id="rIdEditable101" Type="http://schemas.openxmlformats.org/officeDocument/2006/relationships/image" Target="../media/editable_389_image169.png"/><Relationship Id="rIdEditable102" Type="http://schemas.openxmlformats.org/officeDocument/2006/relationships/image" Target="../media/editable_390_image171.png"/><Relationship Id="rIdEditable103" Type="http://schemas.openxmlformats.org/officeDocument/2006/relationships/image" Target="../media/editable_391_image172.png"/><Relationship Id="rIdEditable104" Type="http://schemas.openxmlformats.org/officeDocument/2006/relationships/image" Target="../media/editable_392_image173.png"/><Relationship Id="rIdEditable105" Type="http://schemas.openxmlformats.org/officeDocument/2006/relationships/image" Target="../media/editable_393_image162.png"/></Relationships>
</file>

<file path=ppt/slides/_rels/slide28.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 Id="rId6" Type="http://schemas.openxmlformats.org/officeDocument/2006/relationships/image" Target="../media/neurosim_firstframe_5.png"/><Relationship Id="rIdEditable100" Type="http://schemas.openxmlformats.org/officeDocument/2006/relationships/image" Target="../media/editable_394_image168.png"/><Relationship Id="rIdEditable101" Type="http://schemas.openxmlformats.org/officeDocument/2006/relationships/image" Target="../media/editable_395_image169.png"/><Relationship Id="rIdEditable102" Type="http://schemas.openxmlformats.org/officeDocument/2006/relationships/image" Target="../media/editable_396_image171.png"/><Relationship Id="rIdEditable103" Type="http://schemas.openxmlformats.org/officeDocument/2006/relationships/image" Target="../media/editable_397_image172.png"/><Relationship Id="rIdEditable104" Type="http://schemas.openxmlformats.org/officeDocument/2006/relationships/image" Target="../media/editable_398_image175.png"/><Relationship Id="rIdEditable105" Type="http://schemas.openxmlformats.org/officeDocument/2006/relationships/image" Target="../media/editable_399_image17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7.png"/></Relationships>
</file>

<file path=ppt/slides/_rels/slide50.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5_1.mp4"/><Relationship Id="rId1" Type="http://schemas.microsoft.com/office/2007/relationships/media" Target="../media/neurosim_s15_1.mp4"/><Relationship Id="rId6" Type="http://schemas.openxmlformats.org/officeDocument/2006/relationships/image" Target="../media/neurosim_s15_2.png"/><Relationship Id="rId5" Type="http://schemas.openxmlformats.org/officeDocument/2006/relationships/image" Target="../media/neurosim_s15_3.png"/><Relationship Id="rId7" Type="http://schemas.openxmlformats.org/officeDocument/2006/relationships/image" Target="../media/neurosim_firstframe_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7" name="Baked figure with larger labels"/>
          <p:cNvPicPr>
            <a:picLocks noChangeAspect="1"/>
          </p:cNvPicPr>
          <p:nvPr/>
        </p:nvPicPr>
        <p:blipFill>
          <a:blip r:embed="rId8"/>
          <a:stretch>
            <a:fillRect/>
          </a:stretch>
        </p:blipFill>
        <p:spPr>
          <a:xfrm>
            <a:off x="1057275" y="366712"/>
            <a:ext cx="6581775" cy="1109662"/>
          </a:xfrm>
          <a:prstGeom prst="rect">
            <a:avLst/>
          </a:prstGeom>
        </p:spPr>
      </p:pic>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016000" y="2590800"/>
            <a:ext cx="7493000" cy="2107406"/>
          </a:xfrm>
          <a:prstGeom prst="rect">
            <a:avLst/>
          </a:prstGeom>
        </p:spPr>
      </p:pic>
      <p:sp>
        <p:nvSpPr>
          <p:cNvPr id="1000"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aseline="0" b="0" i="0" u="none">
                <a:solidFill>
                  <a:srgbClr val="252529"/>
                </a:solidFill>
                <a:latin typeface="Arial"/>
                <a:ea typeface="Arial"/>
                <a:cs typeface="Arial"/>
              </a:rPr>
              <a:t xml:space="preserve">Average temperature deviation</a:t>
            </a:r>
            <a:endParaRPr sz="983"/>
          </a:p>
        </p:txBody>
      </p:sp>
      <p:sp>
        <p:nvSpPr>
          <p:cNvPr id="1001"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0</a:t>
            </a:r>
            <a:endParaRPr sz="860"/>
          </a:p>
        </p:txBody>
      </p:sp>
      <p:sp>
        <p:nvSpPr>
          <p:cNvPr id="1002"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20</a:t>
            </a:r>
            <a:endParaRPr sz="860"/>
          </a:p>
        </p:txBody>
      </p:sp>
      <p:sp>
        <p:nvSpPr>
          <p:cNvPr id="1003"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40</a:t>
            </a:r>
            <a:endParaRPr sz="860"/>
          </a:p>
        </p:txBody>
      </p:sp>
      <p:sp>
        <p:nvSpPr>
          <p:cNvPr id="1004"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60</a:t>
            </a:r>
            <a:endParaRPr sz="860"/>
          </a:p>
        </p:txBody>
      </p:sp>
      <p:sp>
        <p:nvSpPr>
          <p:cNvPr id="1005"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80</a:t>
            </a:r>
            <a:endParaRPr sz="860"/>
          </a:p>
        </p:txBody>
      </p:sp>
      <p:sp>
        <p:nvSpPr>
          <p:cNvPr id="1006"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100</a:t>
            </a:r>
            <a:endParaRPr sz="860"/>
          </a:p>
        </p:txBody>
      </p:sp>
      <p:sp>
        <p:nvSpPr>
          <p:cNvPr id="1007"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0</a:t>
            </a:r>
            <a:endParaRPr sz="860"/>
          </a:p>
        </p:txBody>
      </p:sp>
      <p:sp>
        <p:nvSpPr>
          <p:cNvPr id="1008"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5</a:t>
            </a:r>
            <a:endParaRPr sz="860"/>
          </a:p>
        </p:txBody>
      </p:sp>
      <p:sp>
        <p:nvSpPr>
          <p:cNvPr id="1009"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10</a:t>
            </a:r>
            <a:endParaRPr sz="860"/>
          </a:p>
        </p:txBody>
      </p:sp>
      <p:sp>
        <p:nvSpPr>
          <p:cNvPr id="1010"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15</a:t>
            </a:r>
            <a:endParaRPr sz="860"/>
          </a:p>
        </p:txBody>
      </p:sp>
      <p:sp>
        <p:nvSpPr>
          <p:cNvPr id="1011"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20</a:t>
            </a:r>
            <a:endParaRPr sz="860"/>
          </a:p>
        </p:txBody>
      </p:sp>
      <p:sp>
        <p:nvSpPr>
          <p:cNvPr id="1012"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25</a:t>
            </a:r>
            <a:endParaRPr sz="860"/>
          </a:p>
        </p:txBody>
      </p:sp>
      <p:sp>
        <p:nvSpPr>
          <p:cNvPr id="1013"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aseline="0" b="0" i="0" u="none">
                <a:solidFill>
                  <a:srgbClr val="737D85"/>
                </a:solidFill>
                <a:latin typeface="Arial"/>
                <a:ea typeface="Arial"/>
                <a:cs typeface="Arial"/>
              </a:rPr>
              <a:t xml:space="preserve">30</a:t>
            </a:r>
            <a:endParaRPr sz="860"/>
          </a:p>
        </p:txBody>
      </p:sp>
      <p:sp>
        <p:nvSpPr>
          <p:cNvPr id="1014"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aseline="0" b="0" i="0" u="none">
                <a:solidFill>
                  <a:srgbClr val="737D85"/>
                </a:solidFill>
                <a:latin typeface="Arial"/>
                <a:ea typeface="Arial"/>
                <a:cs typeface="Arial"/>
              </a:rPr>
              <a:t xml:space="preserve">Time (s)</a:t>
            </a:r>
            <a:endParaRPr sz="891"/>
          </a:p>
        </p:txBody>
      </p:sp>
      <p:sp>
        <p:nvSpPr>
          <p:cNvPr id="1015"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aseline="0" b="0" i="0" u="none">
                <a:solidFill>
                  <a:srgbClr val="737D85"/>
                </a:solidFill>
                <a:latin typeface="Arial"/>
                <a:ea typeface="Arial"/>
                <a:cs typeface="Arial"/>
              </a:rPr>
              <a:t xml:space="preserve">Heater off</a:t>
            </a:r>
            <a:endParaRPr sz="830"/>
          </a:p>
        </p:txBody>
      </p:sp>
      <p:sp>
        <p:nvSpPr>
          <p:cNvPr id="1016" name="Editable video label: δ = +0.338"/>
          <p:cNvSpPr/>
          <p:nvPr/>
        </p:nvSpPr>
        <p:spPr>
          <a:xfrm>
            <a:off x="6834717" y="2905740"/>
            <a:ext cx="706504" cy="224790"/>
          </a:xfrm>
          <a:prstGeom prst="rect">
            <a:avLst/>
          </a:prstGeom>
          <a:noFill/>
          <a:ln>
            <a:noFill/>
          </a:ln>
        </p:spPr>
        <p:txBody>
          <a:bodyPr wrap="none" lIns="0" tIns="0" rIns="0" bIns="0" anchor="ctr">
            <a:noAutofit/>
          </a:bodyPr>
          <a:lstStyle/>
          <a:p>
            <a:pPr algn="ctr">
              <a:buNone/>
            </a:pPr>
            <a:r>
              <a:rPr lang="en-GB" sz="983" baseline="0" b="0" i="0" u="none">
                <a:solidFill>
                  <a:srgbClr val="C81919"/>
                </a:solidFill>
                <a:latin typeface="Arial"/>
                <a:ea typeface="Arial"/>
                <a:cs typeface="Arial"/>
              </a:rPr>
              <a:t xml:space="preserve">δ = +0.338</a:t>
            </a:r>
            <a:endParaRPr sz="983"/>
          </a:p>
        </p:txBody>
      </p:sp>
      <p:sp>
        <p:nvSpPr>
          <p:cNvPr id="1017" name="Editable video label: δ = +0.326"/>
          <p:cNvSpPr/>
          <p:nvPr/>
        </p:nvSpPr>
        <p:spPr>
          <a:xfrm>
            <a:off x="6834717" y="3120383"/>
            <a:ext cx="706504" cy="224790"/>
          </a:xfrm>
          <a:prstGeom prst="rect">
            <a:avLst/>
          </a:prstGeom>
          <a:noFill/>
          <a:ln>
            <a:noFill/>
          </a:ln>
        </p:spPr>
        <p:txBody>
          <a:bodyPr wrap="none" lIns="0" tIns="0" rIns="0" bIns="0" anchor="ctr">
            <a:noAutofit/>
          </a:bodyPr>
          <a:lstStyle/>
          <a:p>
            <a:pPr algn="ctr">
              <a:buNone/>
            </a:pPr>
            <a:r>
              <a:rPr lang="en-GB" sz="983" baseline="0" b="0" i="0" u="none">
                <a:solidFill>
                  <a:srgbClr val="C81919"/>
                </a:solidFill>
                <a:latin typeface="Arial"/>
                <a:ea typeface="Arial"/>
                <a:cs typeface="Arial"/>
              </a:rPr>
              <a:t xml:space="preserve">δ = +0.326</a:t>
            </a:r>
            <a:endParaRPr sz="983"/>
          </a:p>
        </p:txBody>
      </p:sp>
      <p:sp>
        <p:nvSpPr>
          <p:cNvPr id="1018" name="Editable video label: δ = +0.110"/>
          <p:cNvSpPr/>
          <p:nvPr/>
        </p:nvSpPr>
        <p:spPr>
          <a:xfrm>
            <a:off x="6834717" y="3335027"/>
            <a:ext cx="706504" cy="224790"/>
          </a:xfrm>
          <a:prstGeom prst="rect">
            <a:avLst/>
          </a:prstGeom>
          <a:noFill/>
          <a:ln>
            <a:noFill/>
          </a:ln>
        </p:spPr>
        <p:txBody>
          <a:bodyPr wrap="none" lIns="0" tIns="0" rIns="0" bIns="0" anchor="ctr">
            <a:noAutofit/>
          </a:bodyPr>
          <a:lstStyle/>
          <a:p>
            <a:pPr algn="ctr">
              <a:buNone/>
            </a:pPr>
            <a:r>
              <a:rPr lang="en-GB" sz="983" baseline="0" b="0" i="0" u="none">
                <a:solidFill>
                  <a:srgbClr val="174A80"/>
                </a:solidFill>
                <a:latin typeface="Arial"/>
                <a:ea typeface="Arial"/>
                <a:cs typeface="Arial"/>
              </a:rPr>
              <a:t xml:space="preserve">δ = +0.110</a:t>
            </a:r>
            <a:endParaRPr sz="983"/>
          </a:p>
        </p:txBody>
      </p:sp>
      <p:sp>
        <p:nvSpPr>
          <p:cNvPr id="1019" name="Editable video label: δ = +0.292"/>
          <p:cNvSpPr/>
          <p:nvPr/>
        </p:nvSpPr>
        <p:spPr>
          <a:xfrm>
            <a:off x="6834717" y="3549670"/>
            <a:ext cx="706504" cy="224790"/>
          </a:xfrm>
          <a:prstGeom prst="rect">
            <a:avLst/>
          </a:prstGeom>
          <a:noFill/>
          <a:ln>
            <a:noFill/>
          </a:ln>
        </p:spPr>
        <p:txBody>
          <a:bodyPr wrap="none" lIns="0" tIns="0" rIns="0" bIns="0" anchor="ctr">
            <a:noAutofit/>
          </a:bodyPr>
          <a:lstStyle/>
          <a:p>
            <a:pPr algn="ctr">
              <a:buNone/>
            </a:pPr>
            <a:r>
              <a:rPr lang="en-GB" sz="983" baseline="0" b="0" i="0" u="none">
                <a:solidFill>
                  <a:srgbClr val="C81919"/>
                </a:solidFill>
                <a:latin typeface="Arial"/>
                <a:ea typeface="Arial"/>
                <a:cs typeface="Arial"/>
              </a:rPr>
              <a:t xml:space="preserve">δ = +0.292</a:t>
            </a:r>
            <a:endParaRPr sz="983"/>
          </a:p>
        </p:txBody>
      </p:sp>
      <p:sp>
        <p:nvSpPr>
          <p:cNvPr id="1020" name="Editable video label: δ = +0.472"/>
          <p:cNvSpPr/>
          <p:nvPr/>
        </p:nvSpPr>
        <p:spPr>
          <a:xfrm>
            <a:off x="6834717" y="3764313"/>
            <a:ext cx="706504" cy="224790"/>
          </a:xfrm>
          <a:prstGeom prst="rect">
            <a:avLst/>
          </a:prstGeom>
          <a:noFill/>
          <a:ln>
            <a:noFill/>
          </a:ln>
        </p:spPr>
        <p:txBody>
          <a:bodyPr wrap="none" lIns="0" tIns="0" rIns="0" bIns="0" anchor="ctr">
            <a:noAutofit/>
          </a:bodyPr>
          <a:lstStyle/>
          <a:p>
            <a:pPr algn="ctr">
              <a:buNone/>
            </a:pPr>
            <a:r>
              <a:rPr lang="en-GB" sz="983" baseline="0" b="0" i="0" u="none">
                <a:solidFill>
                  <a:srgbClr val="C81919"/>
                </a:solidFill>
                <a:latin typeface="Arial"/>
                <a:ea typeface="Arial"/>
                <a:cs typeface="Arial"/>
              </a:rPr>
              <a:t xml:space="preserve">δ = +0.472</a:t>
            </a:r>
            <a:endParaRPr sz="983"/>
          </a:p>
        </p:txBody>
      </p:sp>
      <p:sp>
        <p:nvSpPr>
          <p:cNvPr id="1021" name="Editable video label: δ = -0.206"/>
          <p:cNvSpPr/>
          <p:nvPr/>
        </p:nvSpPr>
        <p:spPr>
          <a:xfrm>
            <a:off x="6834717" y="3978956"/>
            <a:ext cx="675283" cy="224790"/>
          </a:xfrm>
          <a:prstGeom prst="rect">
            <a:avLst/>
          </a:prstGeom>
          <a:noFill/>
          <a:ln>
            <a:noFill/>
          </a:ln>
        </p:spPr>
        <p:txBody>
          <a:bodyPr wrap="none" lIns="0" tIns="0" rIns="0" bIns="0" anchor="ctr">
            <a:noAutofit/>
          </a:bodyPr>
          <a:lstStyle/>
          <a:p>
            <a:pPr algn="ctr">
              <a:buNone/>
            </a:pPr>
            <a:r>
              <a:rPr lang="en-GB" sz="983" baseline="0" b="0" i="0" u="none">
                <a:solidFill>
                  <a:srgbClr val="174A80"/>
                </a:solidFill>
                <a:latin typeface="Arial"/>
                <a:ea typeface="Arial"/>
                <a:cs typeface="Arial"/>
              </a:rPr>
              <a:t xml:space="preserve">δ = -0.206</a:t>
            </a:r>
            <a:endParaRPr sz="983"/>
          </a:p>
        </p:txBody>
      </p:sp>
      <p:sp>
        <p:nvSpPr>
          <p:cNvPr id="1022"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aseline="0" b="0" i="0" u="none">
                <a:solidFill>
                  <a:srgbClr val="C81919"/>
                </a:solidFill>
                <a:latin typeface="Arial"/>
                <a:ea typeface="Arial"/>
                <a:cs typeface="Arial"/>
              </a:rPr>
              <a:t xml:space="preserve">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STN</a:t>
            </a:r>
            <a:endParaRPr sz="1318"/>
          </a:p>
        </p:txBody>
      </p:sp>
      <p:sp>
        <p:nvSpPr>
          <p:cNvPr id="1002" name="Editable video label: +"/>
          <p:cNvSpPr/>
          <p:nvPr/>
        </p:nvSpPr>
        <p:spPr>
          <a:xfrm>
            <a:off x="880745" y="1996020"/>
            <a:ext cx="202922" cy="309253"/>
          </a:xfrm>
          <a:prstGeom prst="rect">
            <a:avLst/>
          </a:prstGeom>
          <a:noFill/>
          <a:ln>
            <a:noFill/>
          </a:ln>
        </p:spPr>
        <p:txBody>
          <a:bodyPr wrap="none" lIns="0" tIns="0" rIns="0" bIns="0" anchor="ctr">
            <a:noAutofit/>
          </a:bodyPr>
          <a:lstStyle/>
          <a:p>
            <a:pPr algn="ctr">
              <a:buNone/>
            </a:pPr>
            <a:r>
              <a:rPr lang="en-GB" sz="1353" baseline="0" b="0" i="0" u="none">
                <a:solidFill>
                  <a:srgbClr val="174A80"/>
                </a:solidFill>
                <a:latin typeface="Arial"/>
                <a:ea typeface="Arial"/>
                <a:cs typeface="Arial"/>
              </a:rPr>
              <a:t xml:space="preserve">+</a:t>
            </a:r>
            <a:endParaRPr sz="1353"/>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aseline="0" b="0" i="0" u="none">
                <a:solidFill>
                  <a:srgbClr val="FF484D"/>
                </a:solidFill>
                <a:latin typeface="Arial"/>
                <a:ea typeface="Arial"/>
                <a:cs typeface="Arial"/>
              </a:rPr>
              <a:t xml:space="preserve">−</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aseline="0" b="0" i="0" u="none">
                <a:solidFill>
                  <a:srgbClr val="FF484D"/>
                </a:solidFill>
                <a:latin typeface="Arial"/>
                <a:ea typeface="Arial"/>
                <a:cs typeface="Arial"/>
              </a:rPr>
              <a:t xml:space="preserve">−</a:t>
            </a:r>
            <a:endParaRPr sz="1179"/>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aseline="0" b="0" i="0" u="none">
                <a:solidFill>
                  <a:srgbClr val="252529"/>
                </a:solidFill>
                <a:latin typeface="Arial"/>
                <a:ea typeface="Arial"/>
                <a:cs typeface="Arial"/>
              </a:rPr>
              <a:t xml:space="preserve">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174A80"/>
                </a:solidFill>
                <a:latin typeface="Arial"/>
                <a:ea typeface="Arial"/>
                <a:cs typeface="Arial"/>
              </a:rPr>
              <a:t xml:space="preserve">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FF484D"/>
                </a:solidFill>
                <a:latin typeface="Arial"/>
                <a:ea typeface="Arial"/>
                <a:cs typeface="Arial"/>
              </a:rPr>
              <a:t xml:space="preserve">GPe</a:t>
            </a:r>
            <a:endParaRPr sz="832"/>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STN</a:t>
            </a:r>
            <a:endParaRPr sz="1318"/>
          </a:p>
        </p:txBody>
      </p:sp>
      <p:sp>
        <p:nvSpPr>
          <p:cNvPr id="1002" name="Editable video label: +"/>
          <p:cNvSpPr/>
          <p:nvPr/>
        </p:nvSpPr>
        <p:spPr>
          <a:xfrm>
            <a:off x="880745" y="1996020"/>
            <a:ext cx="202922" cy="309253"/>
          </a:xfrm>
          <a:prstGeom prst="rect">
            <a:avLst/>
          </a:prstGeom>
          <a:noFill/>
          <a:ln>
            <a:noFill/>
          </a:ln>
        </p:spPr>
        <p:txBody>
          <a:bodyPr wrap="none" lIns="0" tIns="0" rIns="0" bIns="0" anchor="ctr">
            <a:noAutofit/>
          </a:bodyPr>
          <a:lstStyle/>
          <a:p>
            <a:pPr algn="ctr">
              <a:buNone/>
            </a:pPr>
            <a:r>
              <a:rPr lang="en-GB" sz="1353" baseline="0" b="0" i="0" u="none">
                <a:solidFill>
                  <a:srgbClr val="174A80"/>
                </a:solidFill>
                <a:latin typeface="Arial"/>
                <a:ea typeface="Arial"/>
                <a:cs typeface="Arial"/>
              </a:rPr>
              <a:t xml:space="preserve">+</a:t>
            </a:r>
            <a:endParaRPr sz="1353"/>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aseline="0" b="0" i="0" u="none">
                <a:solidFill>
                  <a:srgbClr val="FF484D"/>
                </a:solidFill>
                <a:latin typeface="Arial"/>
                <a:ea typeface="Arial"/>
                <a:cs typeface="Arial"/>
              </a:rPr>
              <a:t xml:space="preserve">−</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aseline="0" b="0" i="0" u="none">
                <a:solidFill>
                  <a:srgbClr val="FF484D"/>
                </a:solidFill>
                <a:latin typeface="Arial"/>
                <a:ea typeface="Arial"/>
                <a:cs typeface="Arial"/>
              </a:rPr>
              <a:t xml:space="preserve">−</a:t>
            </a:r>
            <a:endParaRPr sz="1179"/>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174A80"/>
                </a:solidFill>
                <a:latin typeface="Arial"/>
                <a:ea typeface="Arial"/>
                <a:cs typeface="Arial"/>
              </a:rPr>
              <a:t xml:space="preserve">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FF484D"/>
                </a:solidFill>
                <a:latin typeface="Arial"/>
                <a:ea typeface="Arial"/>
                <a:cs typeface="Arial"/>
              </a:rPr>
              <a:t xml:space="preserve">GPe</a:t>
            </a:r>
            <a:endParaRPr sz="832"/>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6"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9"/>
                <a:stretch>
                  <a:fillRect l="-126667" r="-194444" b="-125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l="-126667" r="-194444" b="-12546"/>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a:t>
            </a:r>
            <a:endParaRPr sz="1000"/>
          </a:p>
        </p:txBody>
      </p:sp>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oMath>
              </m:oMathPara>
            </a14:m>
            <a:endParaRPr sz="1200"/>
          </a:p>
        </p:txBody>
      </p:sp>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δ′</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z</m:t>
                      </m:r>
                    </m:e>
                  </m:d>
                </m:oMath>
              </m:oMathPara>
            </a14:m>
            <a:endParaRPr sz="1200"/>
          </a:p>
        </p:txBody>
      </p:sp>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a:t>
            </a:r>
            <a:endParaRPr sz="1000"/>
          </a:p>
        </p:txBody>
      </p:sp>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oMath>
              </m:oMathPara>
            </a14:m>
            <a:endParaRPr sz="1200"/>
          </a:p>
        </p:txBody>
      </p:sp>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δ′</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z</m:t>
                      </m:r>
                    </m:e>
                  </m:d>
                </m:oMath>
              </m:oMathPara>
            </a14:m>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a:t>
            </a:r>
            <a:endParaRPr sz="1000"/>
          </a:p>
        </p:txBody>
      </p:sp>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oMath>
              </m:oMathPara>
            </a14:m>
            <a:endParaRPr sz="1200"/>
          </a:p>
        </p:txBody>
      </p:sp>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δ′</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z</m:t>
                      </m:r>
                    </m:e>
                  </m:d>
                </m:oMath>
              </m:oMathPara>
            </a14:m>
            <a:endParaRPr sz="1200"/>
          </a:p>
        </p:txBody>
      </p:sp>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a:t>
            </a:r>
            <a:endParaRPr sz="1000"/>
          </a:p>
        </p:txBody>
      </p:sp>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oMath>
              </m:oMathPara>
            </a14:m>
            <a:endParaRPr sz="1200"/>
          </a:p>
        </p:txBody>
      </p:sp>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δ′</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z</m:t>
                      </m:r>
                    </m:e>
                  </m:d>
                </m:oMath>
              </m:oMathPara>
            </a14:m>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mc:Choice xmlns:a14="http://schemas.microsoft.com/office/drawing/2010/main"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42</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aseline="0" b="0" i="0" u="none">
                <a:solidFill>
                  <a:srgbClr val="252529"/>
                </a:solidFill>
                <a:latin typeface="Arial"/>
                <a:ea typeface="Arial"/>
                <a:cs typeface="Arial"/>
              </a:rPr>
              <a:t xml:space="preserve">STN</a:t>
            </a:r>
            <a:endParaRPr sz="1318"/>
          </a:p>
        </p:txBody>
      </p:sp>
      <p:sp>
        <p:nvSpPr>
          <p:cNvPr id="1002" name="Editable video label: +"/>
          <p:cNvSpPr/>
          <p:nvPr/>
        </p:nvSpPr>
        <p:spPr>
          <a:xfrm>
            <a:off x="880745" y="1996020"/>
            <a:ext cx="202922" cy="309253"/>
          </a:xfrm>
          <a:prstGeom prst="rect">
            <a:avLst/>
          </a:prstGeom>
          <a:noFill/>
          <a:ln>
            <a:noFill/>
          </a:ln>
        </p:spPr>
        <p:txBody>
          <a:bodyPr wrap="none" lIns="0" tIns="0" rIns="0" bIns="0" anchor="ctr">
            <a:noAutofit/>
          </a:bodyPr>
          <a:lstStyle/>
          <a:p>
            <a:pPr algn="ctr">
              <a:buNone/>
            </a:pPr>
            <a:r>
              <a:rPr lang="en-GB" sz="1353" baseline="0" b="0" i="0" u="none">
                <a:solidFill>
                  <a:srgbClr val="174A80"/>
                </a:solidFill>
                <a:latin typeface="Arial"/>
                <a:ea typeface="Arial"/>
                <a:cs typeface="Arial"/>
              </a:rPr>
              <a:t xml:space="preserve">+</a:t>
            </a:r>
            <a:endParaRPr sz="1353"/>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aseline="0" b="0" i="0" u="none">
                <a:solidFill>
                  <a:srgbClr val="FF484D"/>
                </a:solidFill>
                <a:latin typeface="Arial"/>
                <a:ea typeface="Arial"/>
                <a:cs typeface="Arial"/>
              </a:rPr>
              <a:t xml:space="preserve">−</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aseline="0" b="0" i="0" u="none">
                <a:solidFill>
                  <a:srgbClr val="FF484D"/>
                </a:solidFill>
                <a:latin typeface="Arial"/>
                <a:ea typeface="Arial"/>
                <a:cs typeface="Arial"/>
              </a:rPr>
              <a:t xml:space="preserve">−</a:t>
            </a:r>
            <a:endParaRPr sz="1179"/>
          </a:p>
        </p:txBody>
      </p:sp>
      <p:sp>
        <p:nvSpPr>
          <p:cNvPr id="1005" name="Editable video label: dG"/>
          <p:cNvSpPr/>
          <p:nvPr/>
        </p:nvSpPr>
        <p:spPr>
          <a:xfrm>
            <a:off x="488672" y="2093378"/>
            <a:ext cx="246975" cy="198239"/>
          </a:xfrm>
          <a:prstGeom prst="rect">
            <a:avLst/>
          </a:prstGeom>
          <a:noFill/>
          <a:ln>
            <a:noFill/>
          </a:ln>
        </p:spPr>
        <p:txBody>
          <a:bodyPr wrap="none" lIns="0" tIns="0" rIns="0" bIns="0" anchor="ctr">
            <a:noAutofit/>
          </a:bodyPr>
          <a:lstStyle/>
          <a:p>
            <a:pPr algn="ctr">
              <a:buNone/>
            </a:pPr>
            <a:r>
              <a:rPr lang="en-GB" sz="867" baseline="0" b="0" i="0" u="none">
                <a:solidFill>
                  <a:srgbClr val="D68B22"/>
                </a:solidFill>
                <a:latin typeface="Arial"/>
                <a:ea typeface="Arial"/>
                <a:cs typeface="Arial"/>
              </a:rPr>
              <a:t xml:space="preserve">dG</a:t>
            </a:r>
            <a:endParaRPr sz="867"/>
          </a:p>
        </p:txBody>
      </p:sp>
      <p:sp>
        <p:nvSpPr>
          <p:cNvPr id="1006" name="Editable video label: dS"/>
          <p:cNvSpPr/>
          <p:nvPr/>
        </p:nvSpPr>
        <p:spPr>
          <a:xfrm>
            <a:off x="4162703" y="2093378"/>
            <a:ext cx="238165" cy="198239"/>
          </a:xfrm>
          <a:prstGeom prst="rect">
            <a:avLst/>
          </a:prstGeom>
          <a:noFill/>
          <a:ln>
            <a:noFill/>
          </a:ln>
        </p:spPr>
        <p:txBody>
          <a:bodyPr wrap="none" lIns="0" tIns="0" rIns="0" bIns="0" anchor="ctr">
            <a:noAutofit/>
          </a:bodyPr>
          <a:lstStyle/>
          <a:p>
            <a:pPr algn="ctr">
              <a:buNone/>
            </a:pPr>
            <a:r>
              <a:rPr lang="en-GB" sz="867" baseline="0" b="0" i="0" u="none">
                <a:solidFill>
                  <a:srgbClr val="D68B22"/>
                </a:solidFill>
                <a:latin typeface="Arial"/>
                <a:ea typeface="Arial"/>
                <a:cs typeface="Arial"/>
              </a:rPr>
              <a:t xml:space="preserve">dS</a:t>
            </a:r>
            <a:endParaRPr sz="867"/>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aseline="0" b="0" i="0" u="none">
                <a:solidFill>
                  <a:srgbClr val="7461A5"/>
                </a:solidFill>
                <a:latin typeface="Arial"/>
                <a:ea typeface="Arial"/>
                <a:cs typeface="Arial"/>
              </a:rPr>
              <a:t xml:space="preserve">u: control</a:t>
            </a:r>
            <a:endParaRPr sz="971"/>
          </a:p>
        </p:txBody>
      </p:sp>
      <p:sp>
        <p:nvSpPr>
          <p:cNvPr id="1008" name="Editable video label: dS, dG: external pulse"/>
          <p:cNvSpPr/>
          <p:nvPr/>
        </p:nvSpPr>
        <p:spPr>
          <a:xfrm>
            <a:off x="1686917" y="3689422"/>
            <a:ext cx="1343898" cy="222028"/>
          </a:xfrm>
          <a:prstGeom prst="rect">
            <a:avLst/>
          </a:prstGeom>
          <a:noFill/>
          <a:ln>
            <a:noFill/>
          </a:ln>
        </p:spPr>
        <p:txBody>
          <a:bodyPr wrap="none" lIns="0" tIns="0" rIns="0" bIns="0" anchor="ctr">
            <a:noAutofit/>
          </a:bodyPr>
          <a:lstStyle/>
          <a:p>
            <a:pPr algn="ctr">
              <a:buNone/>
            </a:pPr>
            <a:r>
              <a:rPr lang="en-GB" sz="971" baseline="0" b="0" i="0" u="none">
                <a:solidFill>
                  <a:srgbClr val="D68B22"/>
                </a:solidFill>
                <a:latin typeface="Arial"/>
                <a:ea typeface="Arial"/>
                <a:cs typeface="Arial"/>
              </a:rPr>
              <a:t xml:space="preserve">dS, dG: external pulse</a:t>
            </a:r>
            <a:endParaRPr sz="971"/>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aseline="0" b="0" i="0" u="none">
                <a:solidFill>
                  <a:srgbClr val="252529"/>
                </a:solidFill>
                <a:latin typeface="Arial"/>
                <a:ea typeface="Arial"/>
                <a:cs typeface="Arial"/>
              </a:rPr>
              <a:t xml:space="preserve">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aseline="0" b="0" i="0" u="none">
                <a:solidFill>
                  <a:srgbClr val="737D85"/>
                </a:solidFill>
                <a:latin typeface="Arial"/>
                <a:ea typeface="Arial"/>
                <a:cs typeface="Arial"/>
              </a:rPr>
              <a:t xml:space="preserve">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174A80"/>
                </a:solidFill>
                <a:latin typeface="Arial"/>
                <a:ea typeface="Arial"/>
                <a:cs typeface="Arial"/>
              </a:rPr>
              <a:t xml:space="preserve">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aseline="0" b="0" i="0" u="none">
                <a:solidFill>
                  <a:srgbClr val="FF484D"/>
                </a:solidFill>
                <a:latin typeface="Arial"/>
                <a:ea typeface="Arial"/>
                <a:cs typeface="Arial"/>
              </a:rPr>
              <a:t xml:space="preserve">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65">
                      <a:solidFill>
                        <a:srgbClr val="333333"/>
                      </a:solidFill>
                      <a:latin typeface="Cambria Math"/>
                    </a:rPr>
                    <m:t xml:space="preserve">K</m:t>
                  </m:r>
                </m:oMath>
              </m:oMathPara>
            </a14:m>
            <a:endParaRPr sz="1665"/>
          </a:p>
        </p:txBody>
      </p:sp>
    </p:spTree>
    <p:extLst>
      <p:ext uri="{BB962C8B-B14F-4D97-AF65-F5344CB8AC3E}">
        <p14:creationId xmlns:p14="http://schemas.microsoft.com/office/powerpoint/2010/main" val="39605702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3834</TotalTime>
  <Words>4841</Words>
  <Application>Microsoft Office PowerPoint</Application>
  <PresentationFormat>On-screen Show (16:9)</PresentationFormat>
  <Paragraphs>552</Paragraphs>
  <Slides>49</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24</cp:revision>
  <dcterms:created xsi:type="dcterms:W3CDTF">2019-11-27T15:26:32Z</dcterms:created>
  <dcterms:modified xsi:type="dcterms:W3CDTF">2026-09-26T08:28:56Z</dcterms:modified>
</cp:coreProperties>
</file>