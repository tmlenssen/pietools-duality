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1" r:id="rId45"/>
    <p:sldId id="452" r:id="rId46"/>
    <p:sldId id="453" r:id="rId47"/>
    <p:sldId id="441" r:id="rId48"/>
    <p:sldId id="471" r:id="rId49"/>
    <p:sldId id="442" r:id="rId50"/>
    <p:sldId id="443" r:id="rId51"/>
    <p:sldId id="439" r:id="rId52"/>
    <p:sldId id="458" r:id="rId53"/>
    <p:sldId id="421" r:id="rId54"/>
    <p:sldId id="427" r:id="rId55"/>
    <p:sldId id="431" r:id="rId56"/>
    <p:sldId id="428" r:id="rId57"/>
    <p:sldId id="429" r:id="rId58"/>
    <p:sldId id="432" r:id="rId59"/>
    <p:sldId id="430" r:id="rId60"/>
    <p:sldId id="433" r:id="rId61"/>
    <p:sldId id="434" r:id="rId6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animated_slide43theta_image145.png"/><Relationship Id="rId13" Type="http://schemas.openxmlformats.org/officeDocument/2006/relationships/image" Target="../media/slide43animated_image144.png"/><Relationship Id="rId18" Type="http://schemas.openxmlformats.org/officeDocument/2006/relationships/image" Target="../media/slide43animated_image149.png"/><Relationship Id="rId3" Type="http://schemas.openxmlformats.org/officeDocument/2006/relationships/image" Target="../media/slide43animated_slide43theta_image140.png"/><Relationship Id="rId21" Type="http://schemas.openxmlformats.org/officeDocument/2006/relationships/image" Target="../media/slide43animated_image153.png"/><Relationship Id="rId7" Type="http://schemas.openxmlformats.org/officeDocument/2006/relationships/image" Target="../media/slide43animated_slide43theta_image144.png"/><Relationship Id="rId12" Type="http://schemas.openxmlformats.org/officeDocument/2006/relationships/image" Target="../media/slide43animated_image143.png"/><Relationship Id="rId17" Type="http://schemas.openxmlformats.org/officeDocument/2006/relationships/image" Target="../media/slide43animated_image148.png"/><Relationship Id="rId2" Type="http://schemas.openxmlformats.org/officeDocument/2006/relationships/notesSlide" Target="../notesSlides/notesSlide36.xml"/><Relationship Id="rId16" Type="http://schemas.openxmlformats.org/officeDocument/2006/relationships/image" Target="../media/slide43animated_image147.png"/><Relationship Id="rId20" Type="http://schemas.openxmlformats.org/officeDocument/2006/relationships/image" Target="../media/slide43animated_image152.png"/><Relationship Id="rId1" Type="http://schemas.openxmlformats.org/officeDocument/2006/relationships/slideLayout" Target="../slideLayouts/slideLayout12.xml"/><Relationship Id="rId6" Type="http://schemas.openxmlformats.org/officeDocument/2006/relationships/image" Target="../media/slide43animated_slide43theta_image143.png"/><Relationship Id="rId11" Type="http://schemas.openxmlformats.org/officeDocument/2006/relationships/image" Target="../media/slide43animated_image142.png"/><Relationship Id="rId5" Type="http://schemas.openxmlformats.org/officeDocument/2006/relationships/image" Target="../media/slide43animated_slide43theta_image142.png"/><Relationship Id="rId15" Type="http://schemas.openxmlformats.org/officeDocument/2006/relationships/image" Target="../media/slide43animated_image146.png"/><Relationship Id="rId23" Type="http://schemas.openxmlformats.org/officeDocument/2006/relationships/image" Target="../media/slide43animated_image155.png"/><Relationship Id="rId10" Type="http://schemas.openxmlformats.org/officeDocument/2006/relationships/image" Target="../media/slide43animated_image141.png"/><Relationship Id="rId19" Type="http://schemas.openxmlformats.org/officeDocument/2006/relationships/image" Target="../media/slide43animated_image151.png"/><Relationship Id="rId4" Type="http://schemas.openxmlformats.org/officeDocument/2006/relationships/image" Target="../media/slide43animated_slide43theta_image141.png"/><Relationship Id="rId9" Type="http://schemas.openxmlformats.org/officeDocument/2006/relationships/image" Target="../media/slide43animated_image140.png"/><Relationship Id="rId14" Type="http://schemas.openxmlformats.org/officeDocument/2006/relationships/image" Target="../media/slide43animated_image145.png"/><Relationship Id="rId22" Type="http://schemas.openxmlformats.org/officeDocument/2006/relationships/image" Target="../media/slide43animated_image154.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8.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5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52.png"/><Relationship Id="rIdClosing4" Type="http://schemas.openxmlformats.org/officeDocument/2006/relationships/image" Target="../media/image33.png"/><Relationship Id="rId4" Type="http://schemas.openxmlformats.org/officeDocument/2006/relationships/image" Target="../media/image7.jpg"/></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54.png"/></Relationships>
</file>

<file path=ppt/slides/_rels/slide5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53.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5.png"/></Relationships>
</file>

<file path=ppt/slides/_rels/slide6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6.png"/></Relationships>
</file>

<file path=ppt/slides/_rels/slide6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𝛩</m:t>
                      </m: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252529"/>
                                    </a:solidFill>
                                    <a:latin typeface="Cambria Math"/>
                                  </a:rPr>
                                  <m:t>−</m:t>
                                </m:r>
                                <m:r>
                                  <a:rPr sz="2300">
                                    <a:solidFill>
                                      <a:srgbClr val="252529"/>
                                    </a:solidFill>
                                    <a:latin typeface="Cambria Math"/>
                                  </a:rPr>
                                  <m:t>𝐾</m:t>
                                </m:r>
                              </m:e>
                              <m:e>
                                <m:r>
                                  <m:rPr>
                                    <m:sty m:val="p"/>
                                  </m:rPr>
                                  <a:rPr sz="2300">
                                    <a:solidFill>
                                      <a:srgbClr val="252529"/>
                                    </a:solidFill>
                                    <a:latin typeface="Cambria Math"/>
                                  </a:rPr>
                                  <m:t>I</m:t>
                                </m:r>
                              </m:e>
                            </m:mr>
                          </m:m>
                        </m:e>
                      </m:d>
                    </m:oMath>
                  </m:oMathPara>
                </a14:m>
                <a:endParaRPr sz="2300"/>
              </a:p>
            </p:txBody>
          </p:sp>
        </mc:Choice>
        <mc:Fallback xmlns:m="http://schemas.openxmlformats.org/officeDocument/2006/math" xmlns="">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300">
                              <a:solidFill>
                                <a:srgbClr val="252529"/>
                              </a:solidFill>
                              <a:latin typeface="Cambria Math"/>
                            </a:rPr>
                          </m:ctrlPr>
                        </m:barPr>
                        <m:e>
                          <m:r>
                            <a:rPr sz="2300">
                              <a:solidFill>
                                <a:srgbClr val="252529"/>
                              </a:solidFill>
                              <a:latin typeface="Cambria Math"/>
                            </a:rPr>
                            <m:t>𝛩</m:t>
                          </m:r>
                        </m:e>
                      </m:ba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e>
                              <m:e>
                                <m:r>
                                  <m:rPr>
                                    <m:sty m:val="p"/>
                                  </m:rPr>
                                  <a:rPr sz="2300">
                                    <a:solidFill>
                                      <a:srgbClr val="252529"/>
                                    </a:solidFill>
                                    <a:latin typeface="Cambria Math"/>
                                  </a:rPr>
                                  <m:t>I</m:t>
                                </m:r>
                              </m:e>
                            </m:mr>
                          </m:m>
                        </m:e>
                      </m:d>
                    </m:oMath>
                  </m:oMathPara>
                </a14:m>
                <a:endParaRPr sz="2300"/>
              </a:p>
            </p:txBody>
          </p:sp>
        </mc:Choice>
        <mc:Fallback xmlns:m="http://schemas.openxmlformats.org/officeDocument/2006/math" xmlns="">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p:sp>
        <p:nvSpPr>
          <p:cNvPr id="11007" name="Dual operation arrow"/>
          <p:cNvSpPr/>
          <p:nvPr/>
        </p:nvSpPr>
        <p:spPr>
          <a:xfrm>
            <a:off x="3695700" y="1574800"/>
            <a:ext cx="1752600" cy="25400"/>
          </a:xfrm>
          <a:custGeom>
            <a:avLst/>
            <a:gdLst/>
            <a:ahLst/>
            <a:cxnLst/>
            <a:rect l="0" t="0" r="r" b="b"/>
            <a:pathLst>
              <a:path w="1752600" h="25400" fill="none">
                <a:moveTo>
                  <a:pt x="12700" y="12700"/>
                </a:moveTo>
                <a:lnTo>
                  <a:pt x="1739900" y="12700"/>
                </a:lnTo>
              </a:path>
            </a:pathLst>
          </a:custGeom>
          <a:noFill/>
          <a:ln w="22860">
            <a:solidFill>
              <a:srgbClr val="C81919"/>
            </a:solidFill>
            <a:round/>
            <a:tailEnd type="triangle" w="sm" len="sm"/>
          </a:ln>
        </p:spPr>
      </p:sp>
      <mc:AlternateContent xmlns:mc="http://schemas.openxmlformats.org/markup-compatibility/2006" xmlns:a14="http://schemas.microsoft.com/office/drawing/2010/main">
        <mc:Choice Requires="a14">
          <p:sp>
            <p:nvSpPr>
              <p:cNvPr id="11008" name="Dual operation arrow label"/>
              <p:cNvSpPr/>
              <p:nvPr/>
            </p:nvSpPr>
            <p:spPr>
              <a:xfrm>
                <a:off x="4095750" y="1003300"/>
                <a:ext cx="952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000">
                          <a:solidFill>
                            <a:srgbClr val="C81919"/>
                          </a:solidFill>
                          <a:latin typeface="Cambria Math"/>
                        </a:rPr>
                        <m:t>D</m:t>
                      </m:r>
                    </m:oMath>
                  </m:oMathPara>
                </a14:m>
                <a:endParaRPr sz="2000"/>
              </a:p>
            </p:txBody>
          </p:sp>
        </mc:Choice>
        <mc:Fallback xmlns:m="http://schemas.openxmlformats.org/officeDocument/2006/math" xmlns="">
          <p:sp>
            <p:nvSpPr>
              <p:cNvPr id="11008" name="Dual operation arrow label"/>
              <p:cNvSpPr>
                <a:spLocks noRot="1" noChangeAspect="1" noMove="1" noResize="1" noEditPoints="1" noAdjustHandles="1" noChangeArrowheads="1" noChangeShapeType="1" noTextEdit="1"/>
              </p:cNvSpPr>
              <p:nvPr/>
            </p:nvSpPr>
            <p:spPr>
              <a:xfrm>
                <a:off x="4095750" y="1003300"/>
                <a:ext cx="952500" cy="711200"/>
              </a:xfrm>
              <a:prstGeom prst="rect">
                <a:avLst/>
              </a:prstGeom>
              <a:blipFill>
                <a:blip r:embed="rId7"/>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Transpose · exchange the blocks · invert</a:t>
            </a:r>
            <a:endParaRPr sz="1500"/>
          </a:p>
        </p:txBody>
      </p:sp>
      <p:sp>
        <p:nvSpPr>
          <p:cNvPr id="11010" name="Dual operation result box"/>
          <p:cNvSpPr/>
          <p:nvPr/>
        </p:nvSpPr>
        <p:spPr>
          <a:xfrm>
            <a:off x="762000" y="2489200"/>
            <a:ext cx="7620000" cy="990600"/>
          </a:xfrm>
          <a:prstGeom prst="rect">
            <a:avLst/>
          </a:prstGeom>
          <a:noFill/>
          <a:ln w="22860">
            <a:solidFill>
              <a:srgbClr val="C81919"/>
            </a:solidFill>
          </a:ln>
        </p:spPr>
      </p:sp>
      <mc:AlternateContent xmlns:mc="http://schemas.openxmlformats.org/markup-compatibility/2006">
        <mc:Choice xmlns:a14="http://schemas.microsoft.com/office/drawing/2010/main" Requires="a14">
          <p:sp>
            <p:nvSpPr>
              <p:cNvPr id="12018" name="D stage 3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18" name="D stage 3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9" name="D stage 3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p:sp>
            <p:nvSpPr>
              <p:cNvPr id="12019" name="D stage 3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0" name="D stage 3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C81919"/>
                          </a:solidFill>
                          <a:latin typeface="Cambria Math"/>
                        </a:rPr>
                        <m:t>−</m:t>
                      </m:r>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oMath>
                  </m:oMathPara>
                </a14:m>
                <a:endParaRPr sz="2200"/>
              </a:p>
            </p:txBody>
          </p:sp>
        </mc:Choice>
        <mc:Fallback>
          <p:sp>
            <p:nvSpPr>
              <p:cNvPr id="12020" name="D stage 3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1" name="D stage 3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21" name="D stage 3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22" name="D stage 3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3. Invert: recover the required dual filter</a:t>
            </a:r>
            <a:endParaRPr sz="1400"/>
          </a:p>
        </p:txBody>
      </p:sp>
      <mc:AlternateContent xmlns:mc="http://schemas.openxmlformats.org/markup-compatibility/2006">
        <mc:Choice xmlns:a14="http://schemas.microsoft.com/office/drawing/2010/main" Requires="a14">
          <p:sp>
            <p:nvSpPr>
              <p:cNvPr id="12023" name="D stage 3 prefix"/>
              <p:cNvSpPr/>
              <p:nvPr/>
            </p:nvSpPr>
            <p:spPr>
              <a:xfrm>
                <a:off x="2705100" y="3685540"/>
                <a:ext cx="1422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D</m:t>
                      </m:r>
                      <m:d>
                        <m:dPr>
                          <m:ctrlPr>
                            <a:rPr sz="2200">
                              <a:solidFill>
                                <a:srgbClr val="252529"/>
                              </a:solidFill>
                              <a:latin typeface="Cambria Math"/>
                            </a:rPr>
                          </m:ctrlPr>
                        </m:dPr>
                        <m:e>
                          <m:r>
                            <a:rPr sz="2200">
                              <a:solidFill>
                                <a:srgbClr val="252529"/>
                              </a:solidFill>
                              <a:latin typeface="Cambria Math"/>
                            </a:rPr>
                            <m:t>𝛩</m:t>
                          </m:r>
                        </m:e>
                      </m:d>
                      <m:r>
                        <a:rPr sz="2200">
                          <a:solidFill>
                            <a:srgbClr val="252529"/>
                          </a:solidFill>
                          <a:latin typeface="Cambria Math"/>
                        </a:rPr>
                        <m:t>=</m:t>
                      </m:r>
                    </m:oMath>
                  </m:oMathPara>
                </a14:m>
                <a:endParaRPr sz="2200"/>
              </a:p>
            </p:txBody>
          </p:sp>
        </mc:Choice>
        <mc:Fallback>
          <p:sp>
            <p:nvSpPr>
              <p:cNvPr id="12023" name="D stage 3 prefix"/>
              <p:cNvSpPr>
                <a:spLocks noRot="1" noChangeAspect="1" noMove="1" noResize="1" noEditPoints="1" noAdjustHandles="1" noChangeArrowheads="1" noChangeShapeType="1" noTextEdit="1"/>
              </p:cNvSpPr>
              <p:nvPr/>
            </p:nvSpPr>
            <p:spPr>
              <a:xfrm>
                <a:off x="2705100" y="3685540"/>
                <a:ext cx="1422400" cy="7823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4" name="D result suffix"/>
              <p:cNvSpPr/>
              <p:nvPr/>
            </p:nvSpPr>
            <p:spPr>
              <a:xfrm>
                <a:off x="5283200" y="3685540"/>
                <a:ext cx="1016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bar>
                        <m:barPr>
                          <m:pos m:val="bot"/>
                          <m:ctrlPr>
                            <a:rPr sz="2200">
                              <a:solidFill>
                                <a:srgbClr val="252529"/>
                              </a:solidFill>
                              <a:latin typeface="Cambria Math"/>
                            </a:rPr>
                          </m:ctrlPr>
                        </m:barPr>
                        <m:e>
                          <m:r>
                            <a:rPr sz="2200">
                              <a:solidFill>
                                <a:srgbClr val="252529"/>
                              </a:solidFill>
                              <a:latin typeface="Cambria Math"/>
                            </a:rPr>
                            <m:t>𝛩</m:t>
                          </m:r>
                        </m:e>
                      </m:bar>
                    </m:oMath>
                  </m:oMathPara>
                </a14:m>
                <a:endParaRPr sz="2200"/>
              </a:p>
            </p:txBody>
          </p:sp>
        </mc:Choice>
        <mc:Fallback>
          <p:sp>
            <p:nvSpPr>
              <p:cNvPr id="12024" name="D result suffix"/>
              <p:cNvSpPr>
                <a:spLocks noRot="1" noChangeAspect="1" noMove="1" noResize="1" noEditPoints="1" noAdjustHandles="1" noChangeArrowheads="1" noChangeShapeType="1" noTextEdit="1"/>
              </p:cNvSpPr>
              <p:nvPr/>
            </p:nvSpPr>
            <p:spPr>
              <a:xfrm>
                <a:off x="5283200" y="3685540"/>
                <a:ext cx="1016000" cy="782320"/>
              </a:xfrm>
              <a:prstGeom prst="rect">
                <a:avLst/>
              </a:prstGeom>
              <a:blipFill>
                <a:blip r:embed="rId20"/>
                <a:stretch>
                  <a:fillRect/>
                </a:stretch>
              </a:blipFill>
              <a:ln>
                <a:noFill/>
              </a:ln>
            </p:spPr>
            <p:txBody>
              <a:bodyPr/>
              <a:lstStyle/>
              <a:p>
                <a:r>
                  <a:rPr lang="en-NL">
                    <a:noFill/>
                  </a:rPr>
                  <a:t> </a:t>
                </a:r>
              </a:p>
            </p:txBody>
          </p:sp>
        </mc:Fallback>
      </mc:AlternateContent>
      <p:sp>
        <p:nvSpPr>
          <p:cNvPr id="12025" name="D left bracket"/>
          <p:cNvSpPr/>
          <p:nvPr/>
        </p:nvSpPr>
        <p:spPr>
          <a:xfrm>
            <a:off x="3911600" y="3632200"/>
            <a:ext cx="127000" cy="889000"/>
          </a:xfrm>
          <a:custGeom>
            <a:avLst/>
            <a:gdLst/>
            <a:ahLst/>
            <a:cxnLst/>
            <a:rect l="0" t="0" r="r" b="b"/>
            <a:pathLst>
              <a:path w="127000" h="889000" fill="none">
                <a:moveTo>
                  <a:pt x="114300" y="12700"/>
                </a:moveTo>
                <a:lnTo>
                  <a:pt x="12700" y="12700"/>
                </a:lnTo>
                <a:lnTo>
                  <a:pt x="12700" y="876300"/>
                </a:lnTo>
                <a:lnTo>
                  <a:pt x="114300" y="876300"/>
                </a:lnTo>
              </a:path>
            </a:pathLst>
          </a:custGeom>
          <a:noFill/>
          <a:ln w="15240">
            <a:solidFill>
              <a:srgbClr val="252529"/>
            </a:solidFill>
          </a:ln>
        </p:spPr>
      </p:sp>
      <p:sp>
        <p:nvSpPr>
          <p:cNvPr id="12026" name="D right bracket"/>
          <p:cNvSpPr/>
          <p:nvPr/>
        </p:nvSpPr>
        <p:spPr>
          <a:xfrm>
            <a:off x="5105400" y="3632200"/>
            <a:ext cx="127000" cy="889000"/>
          </a:xfrm>
          <a:custGeom>
            <a:avLst/>
            <a:gdLst/>
            <a:ahLst/>
            <a:cxnLst/>
            <a:rect l="0" t="0" r="r" b="b"/>
            <a:pathLst>
              <a:path w="127000" h="889000" fill="none">
                <a:moveTo>
                  <a:pt x="12700" y="12700"/>
                </a:moveTo>
                <a:lnTo>
                  <a:pt x="114300" y="12700"/>
                </a:lnTo>
                <a:lnTo>
                  <a:pt x="114300" y="876300"/>
                </a:lnTo>
                <a:lnTo>
                  <a:pt x="12700" y="876300"/>
                </a:lnTo>
              </a:path>
            </a:pathLst>
          </a:custGeom>
          <a:noFill/>
          <a:ln w="15240">
            <a:solidFill>
              <a:srgbClr val="252529"/>
            </a:solidFill>
          </a:ln>
        </p:spPr>
      </p:sp>
      <mc:AlternateContent xmlns:mc="http://schemas.openxmlformats.org/markup-compatibility/2006">
        <mc:Choice xmlns:a14="http://schemas.microsoft.com/office/drawing/2010/main" Requires="a14">
          <p:sp>
            <p:nvSpPr>
              <p:cNvPr id="12029" name="D active formula 3"/>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C81919"/>
                              </a:solidFill>
                              <a:latin typeface="Cambria Math"/>
                            </a:rPr>
                            <m:t>−1</m:t>
                          </m:r>
                        </m:sup>
                      </m:sSup>
                    </m:oMath>
                  </m:oMathPara>
                </a14:m>
                <a:endParaRPr sz="2400"/>
              </a:p>
            </p:txBody>
          </p:sp>
        </mc:Choice>
        <mc:Fallback>
          <p:sp>
            <p:nvSpPr>
              <p:cNvPr id="12029" name="D active formula 3"/>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23"/>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5704</TotalTime>
  <Words>8253</Words>
  <Application>Microsoft Office PowerPoint</Application>
  <PresentationFormat>On-screen Show (16:9)</PresentationFormat>
  <Paragraphs>1125</Paragraphs>
  <Slides>61</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54</cp:revision>
  <dcterms:created xsi:type="dcterms:W3CDTF">2019-11-27T15:26:32Z</dcterms:created>
  <dcterms:modified xsi:type="dcterms:W3CDTF">2026-09-27T21:05:24Z</dcterms:modified>
</cp:coreProperties>
</file>