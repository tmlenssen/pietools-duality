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2007" name="D stage 1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7" name="D stage 1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8" name="D stage 1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oMath>
                  </m:oMathPara>
                </a14:m>
                <a:endParaRPr sz="2200"/>
              </a:p>
            </p:txBody>
          </p:sp>
        </mc:Choice>
        <mc:Fallback>
          <p:sp>
            <p:nvSpPr>
              <p:cNvPr id="12008" name="D stage 1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9" name="D stage 1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9" name="D stage 1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10" name="D stage 1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10" name="D stage 1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11" name="D stage 1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1. Transpose: exchange rows and columns</a:t>
            </a:r>
            <a:endParaRPr sz="1400"/>
          </a:p>
        </p:txBody>
      </p:sp>
      <mc:AlternateContent xmlns:mc="http://schemas.openxmlformats.org/markup-compatibility/2006">
        <mc:Choice xmlns:a14="http://schemas.microsoft.com/office/drawing/2010/main" Requires="a14">
          <p:sp>
            <p:nvSpPr>
              <p:cNvPr id="12012" name="D stage 1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200">
                              <a:solidFill>
                                <a:srgbClr val="252529"/>
                              </a:solidFill>
                              <a:latin typeface="Cambria Math"/>
                            </a:rPr>
                          </m:ctrlPr>
                        </m:sSupPr>
                        <m:e>
                          <m:r>
                            <a:rPr sz="2200">
                              <a:solidFill>
                                <a:srgbClr val="252529"/>
                              </a:solidFill>
                              <a:latin typeface="Cambria Math"/>
                            </a:rPr>
                            <m:t>𝛩</m:t>
                          </m:r>
                        </m:e>
                        <m:sup>
                          <m:r>
                            <a:rPr sz="2200">
                              <a:solidFill>
                                <a:srgbClr val="252529"/>
                              </a:solidFill>
                              <a:latin typeface="Cambria Math"/>
                            </a:rPr>
                            <m:t>⊤</m:t>
                          </m:r>
                        </m:sup>
                      </m:sSup>
                      <m:r>
                        <a:rPr sz="2200">
                          <a:solidFill>
                            <a:srgbClr val="252529"/>
                          </a:solidFill>
                          <a:latin typeface="Cambria Math"/>
                        </a:rPr>
                        <m:t>=</m:t>
                      </m:r>
                    </m:oMath>
                  </m:oMathPara>
                </a14:m>
                <a:endParaRPr sz="2200"/>
              </a:p>
            </p:txBody>
          </p:sp>
        </mc:Choice>
        <mc:Fallback>
          <p:sp>
            <p:nvSpPr>
              <p:cNvPr id="12012" name="D stage 1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6"/>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mc:AlternateContent xmlns:mc="http://schemas.openxmlformats.org/markup-compatibility/2006">
        <mc:Choice xmlns:a14="http://schemas.microsoft.com/office/drawing/2010/main" Requires="a14">
          <p:sp>
            <p:nvSpPr>
              <p:cNvPr id="12027" name="D active formula 1"/>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C81919"/>
                                      </a:solidFill>
                                      <a:latin typeface="Cambria Math"/>
                                    </a:rPr>
                                  </m:ctrlPr>
                                </m:sSupPr>
                                <m:e>
                                  <m:r>
                                    <a:rPr sz="2400">
                                      <a:solidFill>
                                        <a:srgbClr val="C81919"/>
                                      </a:solidFill>
                                      <a:latin typeface="Cambria Math"/>
                                    </a:rPr>
                                    <m:t>𝛩</m:t>
                                  </m:r>
                                </m:e>
                                <m:sup>
                                  <m:r>
                                    <a:rPr sz="2400">
                                      <a:solidFill>
                                        <a:srgbClr val="C8191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2027" name="D active formula 1"/>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21"/>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