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3" name="D stage 2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4" name="D stage 2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15" name="D stage 2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6" name="D stage 2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2. Rotate the blocks and reverse the off-diagonal signs</a:t>
            </a:r>
            <a:endParaRPr sz="1400"/>
          </a:p>
        </p:txBody>
      </p:sp>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a:rPr sz="2400">
                                            <a:solidFill>
                                              <a:srgbClr val="C81919"/>
                                            </a:solidFill>
                                            <a:latin typeface="Cambria Math"/>
                                          </a:rPr>
                                          <m:t>−</m:t>
                                        </m:r>
                                        <m:r>
                                          <m:rPr>
                                            <m:sty m:val="p"/>
                                          </m:rPr>
                                          <a:rPr sz="2400">
                                            <a:solidFill>
                                              <a:srgbClr val="C81919"/>
                                            </a:solidFill>
                                            <a:latin typeface="Cambria Math"/>
                                          </a:rPr>
                                          <m:t>I</m:t>
                                        </m:r>
                                      </m:e>
                                    </m:mr>
                                    <m:mr>
                                      <m:e>
                                        <m:r>
                                          <m:rPr>
                                            <m:sty m:val="p"/>
                                          </m:rPr>
                                          <a:rPr sz="2400">
                                            <a:solidFill>
                                              <a:srgbClr val="C81919"/>
                                            </a:solidFill>
                                            <a:latin typeface="Cambria Math"/>
                                          </a:rPr>
                                          <m:t>I</m:t>
                                        </m:r>
                                      </m:e>
                                      <m:e>
                                        <m:r>
                                          <a:rPr sz="2400">
                                            <a:solidFill>
                                              <a:srgbClr val="C8191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m:rPr>
                                            <m:sty m:val="p"/>
                                          </m:rPr>
                                          <a:rPr sz="2400">
                                            <a:solidFill>
                                              <a:srgbClr val="C81919"/>
                                            </a:solidFill>
                                            <a:latin typeface="Cambria Math"/>
                                          </a:rPr>
                                          <m:t>I</m:t>
                                        </m:r>
                                      </m:e>
                                    </m:mr>
                                    <m:mr>
                                      <m:e>
                                        <m:r>
                                          <a:rPr sz="2400">
                                            <a:solidFill>
                                              <a:srgbClr val="C81919"/>
                                            </a:solidFill>
                                            <a:latin typeface="Cambria Math"/>
                                          </a:rPr>
                                          <m:t>−</m:t>
                                        </m:r>
                                        <m:r>
                                          <m:rPr>
                                            <m:sty m:val="p"/>
                                          </m:rPr>
                                          <a:rPr sz="2400">
                                            <a:solidFill>
                                              <a:srgbClr val="C81919"/>
                                            </a:solidFill>
                                            <a:latin typeface="Cambria Math"/>
                                          </a:rPr>
                                          <m:t>I</m:t>
                                        </m:r>
                                      </m:e>
                                      <m:e>
                                        <m:r>
                                          <a:rPr sz="2400">
                                            <a:solidFill>
                                              <a:srgbClr val="C8191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8" name="D active formula 2"/>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2"/>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