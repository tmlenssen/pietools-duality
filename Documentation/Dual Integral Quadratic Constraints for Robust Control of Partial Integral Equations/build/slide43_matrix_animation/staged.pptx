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theta_image145.png"/><Relationship Id="rId3" Type="http://schemas.openxmlformats.org/officeDocument/2006/relationships/image" Target="../media/slide43theta_image140.png"/><Relationship Id="rId7" Type="http://schemas.openxmlformats.org/officeDocument/2006/relationships/image" Target="../media/slide43theta_image144.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slide43theta_image143.png"/><Relationship Id="rId5" Type="http://schemas.openxmlformats.org/officeDocument/2006/relationships/image" Target="../media/slide43theta_image142.png"/><Relationship Id="rId4" Type="http://schemas.openxmlformats.org/officeDocument/2006/relationships/image" Target="../media/slide43theta_image141.png"/><Relationship Id="rId9" Type="http://schemas.openxmlformats.org/officeDocument/2006/relationships/image" Target="../media/slide43theta_image146.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mc:Choice xmlns:a14="http://schemas.microsoft.com/office/drawing/2010/main"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mc:Choice xmlns:a14="http://schemas.microsoft.com/office/drawing/2010/main"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mc:Choice xmlns:a14="http://schemas.microsoft.com/office/drawing/2010/main" Requires="a14">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1011" name="Dual operation definition"/>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8"/>
                <a:stretch>
                  <a:fillRect/>
                </a:stretch>
              </a:blipFill>
              <a:ln>
                <a:noFill/>
              </a:ln>
            </p:spPr>
            <p:txBody>
              <a:bodyPr/>
              <a:lstStyle/>
              <a:p>
                <a:r>
                  <a:rPr lang="en-NL">
                    <a:noFill/>
                  </a:rPr>
                  <a:t> </a:t>
                </a:r>
              </a:p>
            </p:txBody>
          </p:sp>
        </mc:Fallback>
      </mc:AlternateContent>
      <p:sp>
        <p:nvSpPr>
          <p:cNvPr id="12001" name="D stage 0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I</m:t>
                  </m:r>
                </m:oMath>
              </m:oMathPara>
            </a14:m>
            <a:endParaRPr sz="2200"/>
          </a:p>
        </p:txBody>
      </p:sp>
      <p:sp>
        <p:nvSpPr>
          <p:cNvPr id="12002" name="D stage 0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0</m:t>
                  </m:r>
                </m:oMath>
              </m:oMathPara>
            </a14:m>
            <a:endParaRPr sz="2200"/>
          </a:p>
        </p:txBody>
      </p:sp>
      <p:sp>
        <p:nvSpPr>
          <p:cNvPr id="12003" name="D stage 0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200">
                      <a:solidFill>
                        <a:srgbClr val="C81919"/>
                      </a:solidFill>
                      <a:latin typeface="Cambria Math"/>
                    </a:rPr>
                    <m:t xml:space="preserve">−</m:t>
                  </m:r>
                  <m:r>
                    <m:rPr>
                      <m:sty m:val="i"/>
                    </m:rPr>
                    <a:rPr sz="2200">
                      <a:solidFill>
                        <a:srgbClr val="C81919"/>
                      </a:solidFill>
                      <a:latin typeface="Cambria Math"/>
                    </a:rPr>
                    <m:t xml:space="preserve">K</m:t>
                  </m:r>
                </m:oMath>
              </m:oMathPara>
            </a14:m>
            <a:endParaRPr sz="2200"/>
          </a:p>
        </p:txBody>
      </p:sp>
      <p:sp>
        <p:nvSpPr>
          <p:cNvPr id="12004" name="D stage 0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I</m:t>
                  </m:r>
                </m:oMath>
              </m:oMathPara>
            </a14:m>
            <a:endParaRPr sz="2200"/>
          </a:p>
        </p:txBody>
      </p:sp>
      <p:sp>
        <p:nvSpPr>
          <p:cNvPr id="12005" name="D stage 0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Start with the original filter</a:t>
            </a:r>
            <a:endParaRPr sz="1400"/>
          </a:p>
        </p:txBody>
      </p:sp>
      <p:sp>
        <p:nvSpPr>
          <p:cNvPr id="12006" name="D stage 0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200">
                      <a:solidFill>
                        <a:srgbClr val="252529"/>
                      </a:solidFill>
                      <a:latin typeface="Cambria Math"/>
                    </a:rPr>
                    <m:t xml:space="preserve">Θ</m:t>
                  </m:r>
                  <m:r>
                    <m:rPr>
                      <m:sty m:val="i"/>
                    </m:rPr>
                    <a:rPr sz="2200">
                      <a:solidFill>
                        <a:srgbClr val="252529"/>
                      </a:solidFill>
                      <a:latin typeface="Cambria Math"/>
                    </a:rPr>
                    <m:t xml:space="preserve">=</m:t>
                  </m:r>
                </m:oMath>
              </m:oMathPara>
            </a14:m>
            <a:endParaRPr sz="2200"/>
          </a:p>
        </p:txBody>
      </p:sp>
      <p:sp>
        <p:nvSpPr>
          <p:cNvPr id="12007" name="D stage 1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I</m:t>
                  </m:r>
                </m:oMath>
              </m:oMathPara>
            </a14:m>
            <a:endParaRPr sz="2200"/>
          </a:p>
        </p:txBody>
      </p:sp>
      <p:sp>
        <p:nvSpPr>
          <p:cNvPr id="12008" name="D stage 1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200">
                      <a:solidFill>
                        <a:srgbClr val="C81919"/>
                      </a:solidFill>
                      <a:latin typeface="Cambria Math"/>
                    </a:rPr>
                    <m:t xml:space="preserve">−</m:t>
                  </m:r>
                  <m:sSup>
                    <m:sSupPr>
                      <m:ctrlPr>
                        <a:rPr sz="2200">
                          <a:solidFill>
                            <a:srgbClr val="252529"/>
                          </a:solidFill>
                          <a:latin typeface="Cambria Math"/>
                        </a:rPr>
                      </m:ctrlPr>
                    </m:sSupPr>
                    <m:e>
                      <m:r>
                        <m:rPr>
                          <m:sty m:val="i"/>
                        </m:rPr>
                        <a:rPr sz="2200">
                          <a:solidFill>
                            <a:srgbClr val="C81919"/>
                          </a:solidFill>
                          <a:latin typeface="Cambria Math"/>
                        </a:rPr>
                        <m:t xml:space="preserve">K</m:t>
                      </m:r>
                    </m:e>
                    <m:sup>
                      <m:r>
                        <m:rPr>
                          <m:sty m:val="p"/>
                        </m:rPr>
                        <a:rPr sz="2200">
                          <a:solidFill>
                            <a:srgbClr val="C81919"/>
                          </a:solidFill>
                          <a:latin typeface="Cambria Math"/>
                        </a:rPr>
                        <m:t xml:space="preserve">⊤</m:t>
                      </m:r>
                    </m:sup>
                  </m:sSup>
                </m:oMath>
              </m:oMathPara>
            </a14:m>
            <a:endParaRPr sz="2200"/>
          </a:p>
        </p:txBody>
      </p:sp>
      <p:sp>
        <p:nvSpPr>
          <p:cNvPr id="12009" name="D stage 1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0</m:t>
                  </m:r>
                </m:oMath>
              </m:oMathPara>
            </a14:m>
            <a:endParaRPr sz="2200"/>
          </a:p>
        </p:txBody>
      </p:sp>
      <p:sp>
        <p:nvSpPr>
          <p:cNvPr id="12010" name="D stage 1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I</m:t>
                  </m:r>
                </m:oMath>
              </m:oMathPara>
            </a14:m>
            <a:endParaRPr sz="2200"/>
          </a:p>
        </p:txBody>
      </p:sp>
      <p:sp>
        <p:nvSpPr>
          <p:cNvPr id="12011" name="D stage 1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1. Transpose: exchange rows and columns</a:t>
            </a:r>
            <a:endParaRPr sz="1400"/>
          </a:p>
        </p:txBody>
      </p:sp>
      <p:sp>
        <p:nvSpPr>
          <p:cNvPr id="12012" name="D stage 1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200">
                          <a:solidFill>
                            <a:srgbClr val="252529"/>
                          </a:solidFill>
                          <a:latin typeface="Cambria Math"/>
                        </a:rPr>
                      </m:ctrlPr>
                    </m:sSupPr>
                    <m:e>
                      <m:r>
                        <m:rPr>
                          <m:sty m:val="i"/>
                        </m:rPr>
                        <a:rPr sz="2200">
                          <a:solidFill>
                            <a:srgbClr val="252529"/>
                          </a:solidFill>
                          <a:latin typeface="Cambria Math"/>
                        </a:rPr>
                        <m:t xml:space="preserve">Θ</m:t>
                      </m:r>
                    </m:e>
                    <m:sup>
                      <m:r>
                        <m:rPr>
                          <m:sty m:val="p"/>
                        </m:rPr>
                        <a:rPr sz="2200">
                          <a:solidFill>
                            <a:srgbClr val="252529"/>
                          </a:solidFill>
                          <a:latin typeface="Cambria Math"/>
                        </a:rPr>
                        <m:t xml:space="preserve">⊤</m:t>
                      </m:r>
                    </m:sup>
                  </m:sSup>
                  <m:r>
                    <m:rPr>
                      <m:sty m:val="i"/>
                    </m:rPr>
                    <a:rPr sz="2200">
                      <a:solidFill>
                        <a:srgbClr val="252529"/>
                      </a:solidFill>
                      <a:latin typeface="Cambria Math"/>
                    </a:rPr>
                    <m:t xml:space="preserve">=</m:t>
                  </m:r>
                </m:oMath>
              </m:oMathPara>
            </a14:m>
            <a:endParaRPr sz="2200"/>
          </a:p>
        </p:txBody>
      </p:sp>
      <p:sp>
        <p:nvSpPr>
          <p:cNvPr id="12013" name="D stage 2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I</m:t>
                  </m:r>
                </m:oMath>
              </m:oMathPara>
            </a14:m>
            <a:endParaRPr sz="2200"/>
          </a:p>
        </p:txBody>
      </p:sp>
      <p:sp>
        <p:nvSpPr>
          <p:cNvPr id="12014" name="D stage 2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0</m:t>
                  </m:r>
                </m:oMath>
              </m:oMathPara>
            </a14:m>
            <a:endParaRPr sz="2200"/>
          </a:p>
        </p:txBody>
      </p:sp>
      <p:sp>
        <p:nvSpPr>
          <p:cNvPr id="12015" name="D stage 2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200">
                          <a:solidFill>
                            <a:srgbClr val="252529"/>
                          </a:solidFill>
                          <a:latin typeface="Cambria Math"/>
                        </a:rPr>
                      </m:ctrlPr>
                    </m:sSupPr>
                    <m:e>
                      <m:r>
                        <m:rPr>
                          <m:sty m:val="i"/>
                        </m:rPr>
                        <a:rPr sz="2200">
                          <a:solidFill>
                            <a:srgbClr val="C81919"/>
                          </a:solidFill>
                          <a:latin typeface="Cambria Math"/>
                        </a:rPr>
                        <m:t xml:space="preserve">K</m:t>
                      </m:r>
                    </m:e>
                    <m:sup>
                      <m:r>
                        <m:rPr>
                          <m:sty m:val="p"/>
                        </m:rPr>
                        <a:rPr sz="2200">
                          <a:solidFill>
                            <a:srgbClr val="C81919"/>
                          </a:solidFill>
                          <a:latin typeface="Cambria Math"/>
                        </a:rPr>
                        <m:t xml:space="preserve">⊤</m:t>
                      </m:r>
                    </m:sup>
                  </m:sSup>
                </m:oMath>
              </m:oMathPara>
            </a14:m>
            <a:endParaRPr sz="2200"/>
          </a:p>
        </p:txBody>
      </p:sp>
      <p:sp>
        <p:nvSpPr>
          <p:cNvPr id="12016" name="D stage 2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I</m:t>
                  </m:r>
                </m:oMath>
              </m:oMathPara>
            </a14:m>
            <a:endParaRPr sz="2200"/>
          </a:p>
        </p:txBody>
      </p:sp>
      <p:sp>
        <p:nvSpPr>
          <p:cNvPr id="12017" name="D stage 2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2. Rotate the blocks and reverse the off-diagonal signs</a:t>
            </a:r>
            <a:endParaRPr sz="1400"/>
          </a:p>
        </p:txBody>
      </p:sp>
      <p:sp>
        <p:nvSpPr>
          <p:cNvPr id="12018" name="D stage 3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I</m:t>
                  </m:r>
                </m:oMath>
              </m:oMathPara>
            </a14:m>
            <a:endParaRPr sz="2200"/>
          </a:p>
        </p:txBody>
      </p:sp>
      <p:sp>
        <p:nvSpPr>
          <p:cNvPr id="12019" name="D stage 3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0</m:t>
                  </m:r>
                </m:oMath>
              </m:oMathPara>
            </a14:m>
            <a:endParaRPr sz="2200"/>
          </a:p>
        </p:txBody>
      </p:sp>
      <p:sp>
        <p:nvSpPr>
          <p:cNvPr id="12020" name="D stage 3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200">
                      <a:solidFill>
                        <a:srgbClr val="C81919"/>
                      </a:solidFill>
                      <a:latin typeface="Cambria Math"/>
                    </a:rPr>
                    <m:t xml:space="preserve">−</m:t>
                  </m:r>
                  <m:sSup>
                    <m:sSupPr>
                      <m:ctrlPr>
                        <a:rPr sz="2200">
                          <a:solidFill>
                            <a:srgbClr val="252529"/>
                          </a:solidFill>
                          <a:latin typeface="Cambria Math"/>
                        </a:rPr>
                      </m:ctrlPr>
                    </m:sSupPr>
                    <m:e>
                      <m:r>
                        <m:rPr>
                          <m:sty m:val="i"/>
                        </m:rPr>
                        <a:rPr sz="2200">
                          <a:solidFill>
                            <a:srgbClr val="C81919"/>
                          </a:solidFill>
                          <a:latin typeface="Cambria Math"/>
                        </a:rPr>
                        <m:t xml:space="preserve">K</m:t>
                      </m:r>
                    </m:e>
                    <m:sup>
                      <m:r>
                        <m:rPr>
                          <m:sty m:val="p"/>
                        </m:rPr>
                        <a:rPr sz="2200">
                          <a:solidFill>
                            <a:srgbClr val="C81919"/>
                          </a:solidFill>
                          <a:latin typeface="Cambria Math"/>
                        </a:rPr>
                        <m:t xml:space="preserve">⊤</m:t>
                      </m:r>
                    </m:sup>
                  </m:sSup>
                </m:oMath>
              </m:oMathPara>
            </a14:m>
            <a:endParaRPr sz="2200"/>
          </a:p>
        </p:txBody>
      </p:sp>
      <p:sp>
        <p:nvSpPr>
          <p:cNvPr id="12021" name="D stage 3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I</m:t>
                  </m:r>
                </m:oMath>
              </m:oMathPara>
            </a14:m>
            <a:endParaRPr sz="2200"/>
          </a:p>
        </p:txBody>
      </p:sp>
      <p:sp>
        <p:nvSpPr>
          <p:cNvPr id="12022" name="D stage 3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3. Invert: recover the required dual filter</a:t>
            </a:r>
            <a:endParaRPr sz="1400"/>
          </a:p>
        </p:txBody>
      </p:sp>
      <p:sp>
        <p:nvSpPr>
          <p:cNvPr id="12023" name="D stage 3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D</m:t>
                  </m:r>
                  <m:d>
                    <m:dPr>
                      <m:begChr m:val="("/>
                      <m:endChr m:val=")"/>
                      <m:ctrlPr>
                        <a:rPr sz="2200">
                          <a:solidFill>
                            <a:srgbClr val="252529"/>
                          </a:solidFill>
                          <a:latin typeface="Cambria Math"/>
                        </a:rPr>
                      </m:ctrlPr>
                    </m:dPr>
                    <m:e>
                      <m:r>
                        <m:rPr>
                          <m:sty m:val="i"/>
                        </m:rPr>
                        <a:rPr sz="2200">
                          <a:solidFill>
                            <a:srgbClr val="252529"/>
                          </a:solidFill>
                          <a:latin typeface="Cambria Math"/>
                        </a:rPr>
                        <m:t xml:space="preserve">Θ</m:t>
                      </m:r>
                    </m:e>
                  </m:d>
                  <m:r>
                    <m:rPr>
                      <m:sty m:val="i"/>
                    </m:rPr>
                    <a:rPr sz="2200">
                      <a:solidFill>
                        <a:srgbClr val="252529"/>
                      </a:solidFill>
                      <a:latin typeface="Cambria Math"/>
                    </a:rPr>
                    <m:t xml:space="preserve">=</m:t>
                  </m:r>
                </m:oMath>
              </m:oMathPara>
            </a14:m>
            <a:endParaRPr sz="2200"/>
          </a:p>
        </p:txBody>
      </p:sp>
      <p:sp>
        <p:nvSpPr>
          <p:cNvPr id="12024" name="D result suffix"/>
          <p:cNvSpPr/>
          <p:nvPr/>
        </p:nvSpPr>
        <p:spPr>
          <a:xfrm>
            <a:off x="5283200" y="3685540"/>
            <a:ext cx="10160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200">
                      <a:solidFill>
                        <a:srgbClr val="252529"/>
                      </a:solidFill>
                      <a:latin typeface="Cambria Math"/>
                    </a:rPr>
                    <m:t xml:space="preserve">=</m:t>
                  </m:r>
                  <m:bar>
                    <m:barPr>
                      <m:pos m:val="bot"/>
                      <m:ctrlPr>
                        <a:rPr sz="2200">
                          <a:solidFill>
                            <a:srgbClr val="252529"/>
                          </a:solidFill>
                          <a:latin typeface="Cambria Math"/>
                        </a:rPr>
                      </m:ctrlPr>
                    </m:barPr>
                    <m:e>
                      <m:r>
                        <m:rPr>
                          <m:sty m:val="i"/>
                        </m:rPr>
                        <a:rPr sz="2200">
                          <a:solidFill>
                            <a:srgbClr val="252529"/>
                          </a:solidFill>
                          <a:latin typeface="Cambria Math"/>
                        </a:rPr>
                        <m:t xml:space="preserve">Θ</m:t>
                      </m:r>
                    </m:e>
                  </m:bar>
                </m:oMath>
              </m:oMathPara>
            </a14:m>
            <a:endParaRPr sz="2200"/>
          </a:p>
        </p:txBody>
      </p:sp>
      <p:sp>
        <p:nvSpPr>
          <p:cNvPr id="12025" name="D left bracket"/>
          <p:cNvSpPr/>
          <p:nvPr/>
        </p:nvSpPr>
        <p:spPr>
          <a:xfrm>
            <a:off x="3911600" y="3632200"/>
            <a:ext cx="127000" cy="889000"/>
          </a:xfrm>
          <a:custGeom>
            <a:avLst/>
            <a:gdLst/>
            <a:ahLst/>
            <a:cxnLst/>
            <a:rect l="0" t="0" r="r" b="b"/>
            <a:pathLst>
              <a:path w="127000" h="889000" fill="none">
                <a:moveTo>
                  <a:pt x="114300" y="12700"/>
                </a:moveTo>
                <a:lnTo>
                  <a:pt x="12700" y="12700"/>
                </a:lnTo>
                <a:lnTo>
                  <a:pt x="12700" y="876300"/>
                </a:lnTo>
                <a:lnTo>
                  <a:pt x="114300" y="876300"/>
                </a:lnTo>
              </a:path>
            </a:pathLst>
          </a:custGeom>
          <a:noFill/>
          <a:ln w="15240">
            <a:solidFill>
              <a:srgbClr val="252529"/>
            </a:solidFill>
          </a:ln>
        </p:spPr>
      </p:sp>
      <p:sp>
        <p:nvSpPr>
          <p:cNvPr id="12026" name="D right bracket"/>
          <p:cNvSpPr/>
          <p:nvPr/>
        </p:nvSpPr>
        <p:spPr>
          <a:xfrm>
            <a:off x="5105400" y="3632200"/>
            <a:ext cx="127000" cy="889000"/>
          </a:xfrm>
          <a:custGeom>
            <a:avLst/>
            <a:gdLst/>
            <a:ahLst/>
            <a:cxnLst/>
            <a:rect l="0" t="0" r="r" b="b"/>
            <a:pathLst>
              <a:path w="127000" h="889000" fill="none">
                <a:moveTo>
                  <a:pt x="12700" y="12700"/>
                </a:moveTo>
                <a:lnTo>
                  <a:pt x="114300" y="12700"/>
                </a:lnTo>
                <a:lnTo>
                  <a:pt x="114300" y="876300"/>
                </a:lnTo>
                <a:lnTo>
                  <a:pt x="12700" y="876300"/>
                </a:lnTo>
              </a:path>
            </a:pathLst>
          </a:custGeom>
          <a:noFill/>
          <a:ln w="15240">
            <a:solidFill>
              <a:srgbClr val="252529"/>
            </a:solidFill>
          </a:ln>
        </p:spPr>
      </p:sp>
      <p:sp>
        <p:nvSpPr>
          <p:cNvPr id="12027" name="D active formula 1"/>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m:oMathParaPr>
                  <m:jc m:val="center"/>
                </m:oMathParaPr>
                <m:oMath>
                  <m:bar>
                    <m:barPr>
                      <m:pos m:val="bot"/>
                      <m:ctrlPr>
                        <a:rPr sz="2400">
                          <a:solidFill>
                            <a:srgbClr val="252529"/>
                          </a:solidFill>
                          <a:latin typeface="Cambria Math"/>
                        </a:rPr>
                      </m:ctrlPr>
                    </m:barPr>
                    <m:e>
                      <m:r>
                        <m:rPr>
                          <m:sty m:val="i"/>
                        </m:rPr>
                        <a:rPr sz="2400">
                          <a:solidFill>
                            <a:srgbClr val="252529"/>
                          </a:solidFill>
                          <a:latin typeface="Cambria Math"/>
                        </a:rPr>
                        <m:t xml:space="preserve">Θ</m:t>
                      </m:r>
                    </m:e>
                  </m:bar>
                  <m:r>
                    <m:rPr>
                      <m:sty m:val="i"/>
                    </m:rPr>
                    <a:rPr sz="2400">
                      <a:solidFill>
                        <a:srgbClr val="252529"/>
                      </a:solidFill>
                      <a:latin typeface="Cambria Math"/>
                    </a:rPr>
                    <m:t xml:space="preserve">=</m:t>
                  </m:r>
                  <m:r>
                    <m:rPr>
                      <m:sty m:val="p"/>
                    </m:rPr>
                    <a:rPr sz="2400">
                      <a:solidFill>
                        <a:srgbClr val="252529"/>
                      </a:solidFill>
                      <a:latin typeface="Cambria Math"/>
                    </a:rPr>
                    <m:t xml:space="preserve">D</m:t>
                  </m:r>
                  <m:d>
                    <m:dPr>
                      <m:begChr m:val="("/>
                      <m:endChr m:val=")"/>
                      <m:ctrlPr>
                        <a:rPr sz="2400">
                          <a:solidFill>
                            <a:srgbClr val="252529"/>
                          </a:solidFill>
                          <a:latin typeface="Cambria Math"/>
                        </a:rPr>
                      </m:ctrlPr>
                    </m:dPr>
                    <m:e>
                      <m:r>
                        <m:rPr>
                          <m:sty m:val="i"/>
                        </m:rPr>
                        <a:rPr sz="2400">
                          <a:solidFill>
                            <a:srgbClr val="252529"/>
                          </a:solidFill>
                          <a:latin typeface="Cambria Math"/>
                        </a:rPr>
                        <m:t xml:space="preserve">Θ</m:t>
                      </m:r>
                    </m:e>
                  </m:d>
                  <m:r>
                    <m:rPr>
                      <m:sty m:val="i"/>
                    </m:rPr>
                    <a:rPr sz="2400">
                      <a:solidFill>
                        <a:srgbClr val="252529"/>
                      </a:solidFill>
                      <a:latin typeface="Cambria Math"/>
                    </a:rPr>
                    <m:t xml:space="preserve">=</m:t>
                  </m:r>
                  <m:sSup>
                    <m:sSupPr>
                      <m:ctrlPr>
                        <a:rPr sz="2400">
                          <a:solidFill>
                            <a:srgbClr val="252529"/>
                          </a:solidFill>
                          <a:latin typeface="Cambria Math"/>
                        </a:rPr>
                      </m:ctrlPr>
                    </m:sSupPr>
                    <m:e>
                      <m:d>
                        <m:dPr>
                          <m:begChr m:val="("/>
                          <m:endChr m:val=")"/>
                          <m:ctrlPr>
                            <a:rPr sz="2400">
                              <a:solidFill>
                                <a:srgbClr val="252529"/>
                              </a:solidFill>
                              <a:latin typeface="Cambria Math"/>
                            </a:rPr>
                          </m:ctrlPr>
                        </m:dPr>
                        <m:e>
                          <m:d>
                            <m:dPr>
                              <m:begChr m:val="["/>
                              <m:endChr m:val="]"/>
                              <m:ctrlPr>
                                <a:rPr sz="2400">
                                  <a:solidFill>
                                    <a:srgbClr val="252529"/>
                                  </a:solidFill>
                                  <a:latin typeface="Cambria Math"/>
                                </a:rPr>
                              </m:ctrlPr>
                            </m:dPr>
                            <m:e>
                              <m:m>
                                <m:mPr>
                                  <m:mcs>
                                    <m:mc>
                                      <m:mcPr>
                                        <m:count m:val="2"/>
                                        <m:mcJc m:val="center"/>
                                      </m:mcPr>
                                    </m:mc>
                                  </m:mcs>
                                  <m:ctrlPr>
                                    <a:rPr sz="2400">
                                      <a:solidFill>
                                        <a:srgbClr val="252529"/>
                                      </a:solidFill>
                                      <a:latin typeface="Cambria Math"/>
                                    </a:rPr>
                                  </m:ctrlPr>
                                </m:mPr>
                                <m:mr>
                                  <m:e>
                                    <m:r>
                                      <m:rPr>
                                        <m:sty m:val="p"/>
                                      </m:rPr>
                                      <a:rPr sz="2400">
                                        <a:solidFill>
                                          <a:srgbClr val="252529"/>
                                        </a:solidFill>
                                        <a:latin typeface="Cambria Math"/>
                                      </a:rPr>
                                      <m:t xml:space="preserve">0</m:t>
                                    </m:r>
                                  </m:e>
                                  <m:e>
                                    <m:r>
                                      <m:rPr>
                                        <m:sty m:val="p"/>
                                      </m:rPr>
                                      <a:rPr sz="2400">
                                        <a:solidFill>
                                          <a:srgbClr val="252529"/>
                                        </a:solidFill>
                                        <a:latin typeface="Cambria Math"/>
                                      </a:rPr>
                                      <m:t xml:space="preserve">−</m:t>
                                    </m:r>
                                    <m:r>
                                      <m:rPr>
                                        <m:sty m:val="p"/>
                                      </m:rPr>
                                      <a:rPr sz="2400">
                                        <a:solidFill>
                                          <a:srgbClr val="252529"/>
                                        </a:solidFill>
                                        <a:latin typeface="Cambria Math"/>
                                      </a:rPr>
                                      <m:t xml:space="preserve">I</m:t>
                                    </m:r>
                                  </m:e>
                                </m:mr>
                                <m:mr>
                                  <m:e>
                                    <m:r>
                                      <m:rPr>
                                        <m:sty m:val="p"/>
                                      </m:rPr>
                                      <a:rPr sz="2400">
                                        <a:solidFill>
                                          <a:srgbClr val="252529"/>
                                        </a:solidFill>
                                        <a:latin typeface="Cambria Math"/>
                                      </a:rPr>
                                      <m:t xml:space="preserve">I</m:t>
                                    </m:r>
                                  </m:e>
                                  <m:e>
                                    <m:r>
                                      <m:rPr>
                                        <m:sty m:val="p"/>
                                      </m:rPr>
                                      <a:rPr sz="2400">
                                        <a:solidFill>
                                          <a:srgbClr val="252529"/>
                                        </a:solidFill>
                                        <a:latin typeface="Cambria Math"/>
                                      </a:rPr>
                                      <m:t xml:space="preserve">0</m:t>
                                    </m:r>
                                  </m:e>
                                </m:mr>
                              </m:m>
                            </m:e>
                          </m:d>
                          <m:sSup>
                            <m:sSupPr>
                              <m:ctrlPr>
                                <a:rPr sz="2400">
                                  <a:solidFill>
                                    <a:srgbClr val="252529"/>
                                  </a:solidFill>
                                  <a:latin typeface="Cambria Math"/>
                                </a:rPr>
                              </m:ctrlPr>
                            </m:sSupPr>
                            <m:e>
                              <m:r>
                                <m:rPr>
                                  <m:sty m:val="i"/>
                                </m:rPr>
                                <a:rPr sz="2400">
                                  <a:solidFill>
                                    <a:srgbClr val="C81919"/>
                                  </a:solidFill>
                                  <a:latin typeface="Cambria Math"/>
                                </a:rPr>
                                <m:t xml:space="preserve">Θ</m:t>
                              </m:r>
                            </m:e>
                            <m:sup>
                              <m:r>
                                <m:rPr>
                                  <m:sty m:val="p"/>
                                </m:rPr>
                                <a:rPr sz="2400">
                                  <a:solidFill>
                                    <a:srgbClr val="C81919"/>
                                  </a:solidFill>
                                  <a:latin typeface="Cambria Math"/>
                                </a:rPr>
                                <m:t xml:space="preserve">⊤</m:t>
                              </m:r>
                            </m:sup>
                          </m:sSup>
                          <m:d>
                            <m:dPr>
                              <m:begChr m:val="["/>
                              <m:endChr m:val="]"/>
                              <m:ctrlPr>
                                <a:rPr sz="2400">
                                  <a:solidFill>
                                    <a:srgbClr val="252529"/>
                                  </a:solidFill>
                                  <a:latin typeface="Cambria Math"/>
                                </a:rPr>
                              </m:ctrlPr>
                            </m:dPr>
                            <m:e>
                              <m:m>
                                <m:mPr>
                                  <m:mcs>
                                    <m:mc>
                                      <m:mcPr>
                                        <m:count m:val="2"/>
                                        <m:mcJc m:val="center"/>
                                      </m:mcPr>
                                    </m:mc>
                                  </m:mcs>
                                  <m:ctrlPr>
                                    <a:rPr sz="2400">
                                      <a:solidFill>
                                        <a:srgbClr val="252529"/>
                                      </a:solidFill>
                                      <a:latin typeface="Cambria Math"/>
                                    </a:rPr>
                                  </m:ctrlPr>
                                </m:mPr>
                                <m:mr>
                                  <m:e>
                                    <m:r>
                                      <m:rPr>
                                        <m:sty m:val="p"/>
                                      </m:rPr>
                                      <a:rPr sz="2400">
                                        <a:solidFill>
                                          <a:srgbClr val="252529"/>
                                        </a:solidFill>
                                        <a:latin typeface="Cambria Math"/>
                                      </a:rPr>
                                      <m:t xml:space="preserve">0</m:t>
                                    </m:r>
                                  </m:e>
                                  <m:e>
                                    <m:r>
                                      <m:rPr>
                                        <m:sty m:val="p"/>
                                      </m:rPr>
                                      <a:rPr sz="2400">
                                        <a:solidFill>
                                          <a:srgbClr val="252529"/>
                                        </a:solidFill>
                                        <a:latin typeface="Cambria Math"/>
                                      </a:rPr>
                                      <m:t xml:space="preserve">I</m:t>
                                    </m:r>
                                  </m:e>
                                </m:mr>
                                <m:mr>
                                  <m:e>
                                    <m:r>
                                      <m:rPr>
                                        <m:sty m:val="p"/>
                                      </m:rPr>
                                      <a:rPr sz="2400">
                                        <a:solidFill>
                                          <a:srgbClr val="252529"/>
                                        </a:solidFill>
                                        <a:latin typeface="Cambria Math"/>
                                      </a:rPr>
                                      <m:t xml:space="preserve">−</m:t>
                                    </m:r>
                                    <m:r>
                                      <m:rPr>
                                        <m:sty m:val="p"/>
                                      </m:rPr>
                                      <a:rPr sz="2400">
                                        <a:solidFill>
                                          <a:srgbClr val="252529"/>
                                        </a:solidFill>
                                        <a:latin typeface="Cambria Math"/>
                                      </a:rPr>
                                      <m:t xml:space="preserve">I</m:t>
                                    </m:r>
                                  </m:e>
                                  <m:e>
                                    <m:r>
                                      <m:rPr>
                                        <m:sty m:val="p"/>
                                      </m:rPr>
                                      <a:rPr sz="2400">
                                        <a:solidFill>
                                          <a:srgbClr val="252529"/>
                                        </a:solidFill>
                                        <a:latin typeface="Cambria Math"/>
                                      </a:rPr>
                                      <m:t xml:space="preserve">0</m:t>
                                    </m:r>
                                  </m:e>
                                </m:mr>
                              </m:m>
                            </m:e>
                          </m:d>
                        </m:e>
                      </m:d>
                    </m:e>
                    <m:sup>
                      <m:r>
                        <m:rPr>
                          <m:sty m:val="p"/>
                        </m:rPr>
                        <a:rPr sz="2400">
                          <a:solidFill>
                            <a:srgbClr val="252529"/>
                          </a:solidFill>
                          <a:latin typeface="Cambria Math"/>
                        </a:rPr>
                        <m:t xml:space="preserve">−</m:t>
                      </m:r>
                      <m:r>
                        <m:rPr>
                          <m:sty m:val="p"/>
                        </m:rPr>
                        <a:rPr sz="2400">
                          <a:solidFill>
                            <a:srgbClr val="252529"/>
                          </a:solidFill>
                          <a:latin typeface="Cambria Math"/>
                        </a:rPr>
                        <m:t xml:space="preserve">1</m:t>
                      </m:r>
                    </m:sup>
                  </m:sSup>
                </m:oMath>
              </m:oMathPara>
            </a14:m>
            <a:endParaRPr sz="2400"/>
          </a:p>
        </p:txBody>
      </p:sp>
      <p:sp>
        <p:nvSpPr>
          <p:cNvPr id="12028" name="D active formula 2"/>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m:oMathParaPr>
                  <m:jc m:val="center"/>
                </m:oMathParaPr>
                <m:oMath>
                  <m:bar>
                    <m:barPr>
                      <m:pos m:val="bot"/>
                      <m:ctrlPr>
                        <a:rPr sz="2400">
                          <a:solidFill>
                            <a:srgbClr val="252529"/>
                          </a:solidFill>
                          <a:latin typeface="Cambria Math"/>
                        </a:rPr>
                      </m:ctrlPr>
                    </m:barPr>
                    <m:e>
                      <m:r>
                        <m:rPr>
                          <m:sty m:val="i"/>
                        </m:rPr>
                        <a:rPr sz="2400">
                          <a:solidFill>
                            <a:srgbClr val="252529"/>
                          </a:solidFill>
                          <a:latin typeface="Cambria Math"/>
                        </a:rPr>
                        <m:t xml:space="preserve">Θ</m:t>
                      </m:r>
                    </m:e>
                  </m:bar>
                  <m:r>
                    <m:rPr>
                      <m:sty m:val="i"/>
                    </m:rPr>
                    <a:rPr sz="2400">
                      <a:solidFill>
                        <a:srgbClr val="252529"/>
                      </a:solidFill>
                      <a:latin typeface="Cambria Math"/>
                    </a:rPr>
                    <m:t xml:space="preserve">=</m:t>
                  </m:r>
                  <m:r>
                    <m:rPr>
                      <m:sty m:val="p"/>
                    </m:rPr>
                    <a:rPr sz="2400">
                      <a:solidFill>
                        <a:srgbClr val="252529"/>
                      </a:solidFill>
                      <a:latin typeface="Cambria Math"/>
                    </a:rPr>
                    <m:t xml:space="preserve">D</m:t>
                  </m:r>
                  <m:d>
                    <m:dPr>
                      <m:begChr m:val="("/>
                      <m:endChr m:val=")"/>
                      <m:ctrlPr>
                        <a:rPr sz="2400">
                          <a:solidFill>
                            <a:srgbClr val="252529"/>
                          </a:solidFill>
                          <a:latin typeface="Cambria Math"/>
                        </a:rPr>
                      </m:ctrlPr>
                    </m:dPr>
                    <m:e>
                      <m:r>
                        <m:rPr>
                          <m:sty m:val="i"/>
                        </m:rPr>
                        <a:rPr sz="2400">
                          <a:solidFill>
                            <a:srgbClr val="252529"/>
                          </a:solidFill>
                          <a:latin typeface="Cambria Math"/>
                        </a:rPr>
                        <m:t xml:space="preserve">Θ</m:t>
                      </m:r>
                    </m:e>
                  </m:d>
                  <m:r>
                    <m:rPr>
                      <m:sty m:val="i"/>
                    </m:rPr>
                    <a:rPr sz="2400">
                      <a:solidFill>
                        <a:srgbClr val="252529"/>
                      </a:solidFill>
                      <a:latin typeface="Cambria Math"/>
                    </a:rPr>
                    <m:t xml:space="preserve">=</m:t>
                  </m:r>
                  <m:sSup>
                    <m:sSupPr>
                      <m:ctrlPr>
                        <a:rPr sz="2400">
                          <a:solidFill>
                            <a:srgbClr val="252529"/>
                          </a:solidFill>
                          <a:latin typeface="Cambria Math"/>
                        </a:rPr>
                      </m:ctrlPr>
                    </m:sSupPr>
                    <m:e>
                      <m:d>
                        <m:dPr>
                          <m:begChr m:val="("/>
                          <m:endChr m:val=")"/>
                          <m:ctrlPr>
                            <a:rPr sz="2400">
                              <a:solidFill>
                                <a:srgbClr val="252529"/>
                              </a:solidFill>
                              <a:latin typeface="Cambria Math"/>
                            </a:rPr>
                          </m:ctrlPr>
                        </m:dPr>
                        <m:e>
                          <m:d>
                            <m:dPr>
                              <m:begChr m:val="["/>
                              <m:endChr m:val="]"/>
                              <m:ctrlPr>
                                <a:rPr sz="2400">
                                  <a:solidFill>
                                    <a:srgbClr val="252529"/>
                                  </a:solidFill>
                                  <a:latin typeface="Cambria Math"/>
                                </a:rPr>
                              </m:ctrlPr>
                            </m:dPr>
                            <m:e>
                              <m:m>
                                <m:mPr>
                                  <m:mcs>
                                    <m:mc>
                                      <m:mcPr>
                                        <m:count m:val="2"/>
                                        <m:mcJc m:val="center"/>
                                      </m:mcPr>
                                    </m:mc>
                                  </m:mcs>
                                  <m:ctrlPr>
                                    <a:rPr sz="2400">
                                      <a:solidFill>
                                        <a:srgbClr val="252529"/>
                                      </a:solidFill>
                                      <a:latin typeface="Cambria Math"/>
                                    </a:rPr>
                                  </m:ctrlPr>
                                </m:mPr>
                                <m:mr>
                                  <m:e>
                                    <m:r>
                                      <m:rPr>
                                        <m:sty m:val="p"/>
                                      </m:rPr>
                                      <a:rPr sz="2400">
                                        <a:solidFill>
                                          <a:srgbClr val="C81919"/>
                                        </a:solidFill>
                                        <a:latin typeface="Cambria Math"/>
                                      </a:rPr>
                                      <m:t xml:space="preserve">0</m:t>
                                    </m:r>
                                  </m:e>
                                  <m:e>
                                    <m:r>
                                      <m:rPr>
                                        <m:sty m:val="p"/>
                                      </m:rPr>
                                      <a:rPr sz="2400">
                                        <a:solidFill>
                                          <a:srgbClr val="C81919"/>
                                        </a:solidFill>
                                        <a:latin typeface="Cambria Math"/>
                                      </a:rPr>
                                      <m:t xml:space="preserve">−</m:t>
                                    </m:r>
                                    <m:r>
                                      <m:rPr>
                                        <m:sty m:val="p"/>
                                      </m:rPr>
                                      <a:rPr sz="2400">
                                        <a:solidFill>
                                          <a:srgbClr val="C81919"/>
                                        </a:solidFill>
                                        <a:latin typeface="Cambria Math"/>
                                      </a:rPr>
                                      <m:t xml:space="preserve">I</m:t>
                                    </m:r>
                                  </m:e>
                                </m:mr>
                                <m:mr>
                                  <m:e>
                                    <m:r>
                                      <m:rPr>
                                        <m:sty m:val="p"/>
                                      </m:rPr>
                                      <a:rPr sz="2400">
                                        <a:solidFill>
                                          <a:srgbClr val="C81919"/>
                                        </a:solidFill>
                                        <a:latin typeface="Cambria Math"/>
                                      </a:rPr>
                                      <m:t xml:space="preserve">I</m:t>
                                    </m:r>
                                  </m:e>
                                  <m:e>
                                    <m:r>
                                      <m:rPr>
                                        <m:sty m:val="p"/>
                                      </m:rPr>
                                      <a:rPr sz="2400">
                                        <a:solidFill>
                                          <a:srgbClr val="C81919"/>
                                        </a:solidFill>
                                        <a:latin typeface="Cambria Math"/>
                                      </a:rPr>
                                      <m:t xml:space="preserve">0</m:t>
                                    </m:r>
                                  </m:e>
                                </m:mr>
                              </m:m>
                            </m:e>
                          </m:d>
                          <m:sSup>
                            <m:sSupPr>
                              <m:ctrlPr>
                                <a:rPr sz="2400">
                                  <a:solidFill>
                                    <a:srgbClr val="252529"/>
                                  </a:solidFill>
                                  <a:latin typeface="Cambria Math"/>
                                </a:rPr>
                              </m:ctrlPr>
                            </m:sSupPr>
                            <m:e>
                              <m:r>
                                <m:rPr>
                                  <m:sty m:val="i"/>
                                </m:rPr>
                                <a:rPr sz="2400">
                                  <a:solidFill>
                                    <a:srgbClr val="252529"/>
                                  </a:solidFill>
                                  <a:latin typeface="Cambria Math"/>
                                </a:rPr>
                                <m:t xml:space="preserve">Θ</m:t>
                              </m:r>
                            </m:e>
                            <m:sup>
                              <m:r>
                                <m:rPr>
                                  <m:sty m:val="p"/>
                                </m:rPr>
                                <a:rPr sz="2400">
                                  <a:solidFill>
                                    <a:srgbClr val="252529"/>
                                  </a:solidFill>
                                  <a:latin typeface="Cambria Math"/>
                                </a:rPr>
                                <m:t xml:space="preserve">⊤</m:t>
                              </m:r>
                            </m:sup>
                          </m:sSup>
                          <m:d>
                            <m:dPr>
                              <m:begChr m:val="["/>
                              <m:endChr m:val="]"/>
                              <m:ctrlPr>
                                <a:rPr sz="2400">
                                  <a:solidFill>
                                    <a:srgbClr val="252529"/>
                                  </a:solidFill>
                                  <a:latin typeface="Cambria Math"/>
                                </a:rPr>
                              </m:ctrlPr>
                            </m:dPr>
                            <m:e>
                              <m:m>
                                <m:mPr>
                                  <m:mcs>
                                    <m:mc>
                                      <m:mcPr>
                                        <m:count m:val="2"/>
                                        <m:mcJc m:val="center"/>
                                      </m:mcPr>
                                    </m:mc>
                                  </m:mcs>
                                  <m:ctrlPr>
                                    <a:rPr sz="2400">
                                      <a:solidFill>
                                        <a:srgbClr val="252529"/>
                                      </a:solidFill>
                                      <a:latin typeface="Cambria Math"/>
                                    </a:rPr>
                                  </m:ctrlPr>
                                </m:mPr>
                                <m:mr>
                                  <m:e>
                                    <m:r>
                                      <m:rPr>
                                        <m:sty m:val="p"/>
                                      </m:rPr>
                                      <a:rPr sz="2400">
                                        <a:solidFill>
                                          <a:srgbClr val="C81919"/>
                                        </a:solidFill>
                                        <a:latin typeface="Cambria Math"/>
                                      </a:rPr>
                                      <m:t xml:space="preserve">0</m:t>
                                    </m:r>
                                  </m:e>
                                  <m:e>
                                    <m:r>
                                      <m:rPr>
                                        <m:sty m:val="p"/>
                                      </m:rPr>
                                      <a:rPr sz="2400">
                                        <a:solidFill>
                                          <a:srgbClr val="C81919"/>
                                        </a:solidFill>
                                        <a:latin typeface="Cambria Math"/>
                                      </a:rPr>
                                      <m:t xml:space="preserve">I</m:t>
                                    </m:r>
                                  </m:e>
                                </m:mr>
                                <m:mr>
                                  <m:e>
                                    <m:r>
                                      <m:rPr>
                                        <m:sty m:val="p"/>
                                      </m:rPr>
                                      <a:rPr sz="2400">
                                        <a:solidFill>
                                          <a:srgbClr val="C81919"/>
                                        </a:solidFill>
                                        <a:latin typeface="Cambria Math"/>
                                      </a:rPr>
                                      <m:t xml:space="preserve">−</m:t>
                                    </m:r>
                                    <m:r>
                                      <m:rPr>
                                        <m:sty m:val="p"/>
                                      </m:rPr>
                                      <a:rPr sz="2400">
                                        <a:solidFill>
                                          <a:srgbClr val="C81919"/>
                                        </a:solidFill>
                                        <a:latin typeface="Cambria Math"/>
                                      </a:rPr>
                                      <m:t xml:space="preserve">I</m:t>
                                    </m:r>
                                  </m:e>
                                  <m:e>
                                    <m:r>
                                      <m:rPr>
                                        <m:sty m:val="p"/>
                                      </m:rPr>
                                      <a:rPr sz="2400">
                                        <a:solidFill>
                                          <a:srgbClr val="C81919"/>
                                        </a:solidFill>
                                        <a:latin typeface="Cambria Math"/>
                                      </a:rPr>
                                      <m:t xml:space="preserve">0</m:t>
                                    </m:r>
                                  </m:e>
                                </m:mr>
                              </m:m>
                            </m:e>
                          </m:d>
                        </m:e>
                      </m:d>
                    </m:e>
                    <m:sup>
                      <m:r>
                        <m:rPr>
                          <m:sty m:val="p"/>
                        </m:rPr>
                        <a:rPr sz="2400">
                          <a:solidFill>
                            <a:srgbClr val="252529"/>
                          </a:solidFill>
                          <a:latin typeface="Cambria Math"/>
                        </a:rPr>
                        <m:t xml:space="preserve">−</m:t>
                      </m:r>
                      <m:r>
                        <m:rPr>
                          <m:sty m:val="p"/>
                        </m:rPr>
                        <a:rPr sz="2400">
                          <a:solidFill>
                            <a:srgbClr val="252529"/>
                          </a:solidFill>
                          <a:latin typeface="Cambria Math"/>
                        </a:rPr>
                        <m:t xml:space="preserve">1</m:t>
                      </m:r>
                    </m:sup>
                  </m:sSup>
                </m:oMath>
              </m:oMathPara>
            </a14:m>
            <a:endParaRPr sz="2400"/>
          </a:p>
        </p:txBody>
      </p:sp>
      <p:sp>
        <p:nvSpPr>
          <p:cNvPr id="12029" name="D active formula 3"/>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m:oMathParaPr>
                  <m:jc m:val="center"/>
                </m:oMathParaPr>
                <m:oMath>
                  <m:bar>
                    <m:barPr>
                      <m:pos m:val="bot"/>
                      <m:ctrlPr>
                        <a:rPr sz="2400">
                          <a:solidFill>
                            <a:srgbClr val="252529"/>
                          </a:solidFill>
                          <a:latin typeface="Cambria Math"/>
                        </a:rPr>
                      </m:ctrlPr>
                    </m:barPr>
                    <m:e>
                      <m:r>
                        <m:rPr>
                          <m:sty m:val="i"/>
                        </m:rPr>
                        <a:rPr sz="2400">
                          <a:solidFill>
                            <a:srgbClr val="252529"/>
                          </a:solidFill>
                          <a:latin typeface="Cambria Math"/>
                        </a:rPr>
                        <m:t xml:space="preserve">Θ</m:t>
                      </m:r>
                    </m:e>
                  </m:bar>
                  <m:r>
                    <m:rPr>
                      <m:sty m:val="i"/>
                    </m:rPr>
                    <a:rPr sz="2400">
                      <a:solidFill>
                        <a:srgbClr val="252529"/>
                      </a:solidFill>
                      <a:latin typeface="Cambria Math"/>
                    </a:rPr>
                    <m:t xml:space="preserve">=</m:t>
                  </m:r>
                  <m:r>
                    <m:rPr>
                      <m:sty m:val="p"/>
                    </m:rPr>
                    <a:rPr sz="2400">
                      <a:solidFill>
                        <a:srgbClr val="252529"/>
                      </a:solidFill>
                      <a:latin typeface="Cambria Math"/>
                    </a:rPr>
                    <m:t xml:space="preserve">D</m:t>
                  </m:r>
                  <m:d>
                    <m:dPr>
                      <m:begChr m:val="("/>
                      <m:endChr m:val=")"/>
                      <m:ctrlPr>
                        <a:rPr sz="2400">
                          <a:solidFill>
                            <a:srgbClr val="252529"/>
                          </a:solidFill>
                          <a:latin typeface="Cambria Math"/>
                        </a:rPr>
                      </m:ctrlPr>
                    </m:dPr>
                    <m:e>
                      <m:r>
                        <m:rPr>
                          <m:sty m:val="i"/>
                        </m:rPr>
                        <a:rPr sz="2400">
                          <a:solidFill>
                            <a:srgbClr val="252529"/>
                          </a:solidFill>
                          <a:latin typeface="Cambria Math"/>
                        </a:rPr>
                        <m:t xml:space="preserve">Θ</m:t>
                      </m:r>
                    </m:e>
                  </m:d>
                  <m:r>
                    <m:rPr>
                      <m:sty m:val="i"/>
                    </m:rPr>
                    <a:rPr sz="2400">
                      <a:solidFill>
                        <a:srgbClr val="252529"/>
                      </a:solidFill>
                      <a:latin typeface="Cambria Math"/>
                    </a:rPr>
                    <m:t xml:space="preserve">=</m:t>
                  </m:r>
                  <m:sSup>
                    <m:sSupPr>
                      <m:ctrlPr>
                        <a:rPr sz="2400">
                          <a:solidFill>
                            <a:srgbClr val="252529"/>
                          </a:solidFill>
                          <a:latin typeface="Cambria Math"/>
                        </a:rPr>
                      </m:ctrlPr>
                    </m:sSupPr>
                    <m:e>
                      <m:d>
                        <m:dPr>
                          <m:begChr m:val="("/>
                          <m:endChr m:val=")"/>
                          <m:ctrlPr>
                            <a:rPr sz="2400">
                              <a:solidFill>
                                <a:srgbClr val="252529"/>
                              </a:solidFill>
                              <a:latin typeface="Cambria Math"/>
                            </a:rPr>
                          </m:ctrlPr>
                        </m:dPr>
                        <m:e>
                          <m:d>
                            <m:dPr>
                              <m:begChr m:val="["/>
                              <m:endChr m:val="]"/>
                              <m:ctrlPr>
                                <a:rPr sz="2400">
                                  <a:solidFill>
                                    <a:srgbClr val="252529"/>
                                  </a:solidFill>
                                  <a:latin typeface="Cambria Math"/>
                                </a:rPr>
                              </m:ctrlPr>
                            </m:dPr>
                            <m:e>
                              <m:m>
                                <m:mPr>
                                  <m:mcs>
                                    <m:mc>
                                      <m:mcPr>
                                        <m:count m:val="2"/>
                                        <m:mcJc m:val="center"/>
                                      </m:mcPr>
                                    </m:mc>
                                  </m:mcs>
                                  <m:ctrlPr>
                                    <a:rPr sz="2400">
                                      <a:solidFill>
                                        <a:srgbClr val="252529"/>
                                      </a:solidFill>
                                      <a:latin typeface="Cambria Math"/>
                                    </a:rPr>
                                  </m:ctrlPr>
                                </m:mPr>
                                <m:mr>
                                  <m:e>
                                    <m:r>
                                      <m:rPr>
                                        <m:sty m:val="p"/>
                                      </m:rPr>
                                      <a:rPr sz="2400">
                                        <a:solidFill>
                                          <a:srgbClr val="252529"/>
                                        </a:solidFill>
                                        <a:latin typeface="Cambria Math"/>
                                      </a:rPr>
                                      <m:t xml:space="preserve">0</m:t>
                                    </m:r>
                                  </m:e>
                                  <m:e>
                                    <m:r>
                                      <m:rPr>
                                        <m:sty m:val="p"/>
                                      </m:rPr>
                                      <a:rPr sz="2400">
                                        <a:solidFill>
                                          <a:srgbClr val="252529"/>
                                        </a:solidFill>
                                        <a:latin typeface="Cambria Math"/>
                                      </a:rPr>
                                      <m:t xml:space="preserve">−</m:t>
                                    </m:r>
                                    <m:r>
                                      <m:rPr>
                                        <m:sty m:val="p"/>
                                      </m:rPr>
                                      <a:rPr sz="2400">
                                        <a:solidFill>
                                          <a:srgbClr val="252529"/>
                                        </a:solidFill>
                                        <a:latin typeface="Cambria Math"/>
                                      </a:rPr>
                                      <m:t xml:space="preserve">I</m:t>
                                    </m:r>
                                  </m:e>
                                </m:mr>
                                <m:mr>
                                  <m:e>
                                    <m:r>
                                      <m:rPr>
                                        <m:sty m:val="p"/>
                                      </m:rPr>
                                      <a:rPr sz="2400">
                                        <a:solidFill>
                                          <a:srgbClr val="252529"/>
                                        </a:solidFill>
                                        <a:latin typeface="Cambria Math"/>
                                      </a:rPr>
                                      <m:t xml:space="preserve">I</m:t>
                                    </m:r>
                                  </m:e>
                                  <m:e>
                                    <m:r>
                                      <m:rPr>
                                        <m:sty m:val="p"/>
                                      </m:rPr>
                                      <a:rPr sz="2400">
                                        <a:solidFill>
                                          <a:srgbClr val="252529"/>
                                        </a:solidFill>
                                        <a:latin typeface="Cambria Math"/>
                                      </a:rPr>
                                      <m:t xml:space="preserve">0</m:t>
                                    </m:r>
                                  </m:e>
                                </m:mr>
                              </m:m>
                            </m:e>
                          </m:d>
                          <m:sSup>
                            <m:sSupPr>
                              <m:ctrlPr>
                                <a:rPr sz="2400">
                                  <a:solidFill>
                                    <a:srgbClr val="252529"/>
                                  </a:solidFill>
                                  <a:latin typeface="Cambria Math"/>
                                </a:rPr>
                              </m:ctrlPr>
                            </m:sSupPr>
                            <m:e>
                              <m:r>
                                <m:rPr>
                                  <m:sty m:val="i"/>
                                </m:rPr>
                                <a:rPr sz="2400">
                                  <a:solidFill>
                                    <a:srgbClr val="252529"/>
                                  </a:solidFill>
                                  <a:latin typeface="Cambria Math"/>
                                </a:rPr>
                                <m:t xml:space="preserve">Θ</m:t>
                              </m:r>
                            </m:e>
                            <m:sup>
                              <m:r>
                                <m:rPr>
                                  <m:sty m:val="p"/>
                                </m:rPr>
                                <a:rPr sz="2400">
                                  <a:solidFill>
                                    <a:srgbClr val="252529"/>
                                  </a:solidFill>
                                  <a:latin typeface="Cambria Math"/>
                                </a:rPr>
                                <m:t xml:space="preserve">⊤</m:t>
                              </m:r>
                            </m:sup>
                          </m:sSup>
                          <m:d>
                            <m:dPr>
                              <m:begChr m:val="["/>
                              <m:endChr m:val="]"/>
                              <m:ctrlPr>
                                <a:rPr sz="2400">
                                  <a:solidFill>
                                    <a:srgbClr val="252529"/>
                                  </a:solidFill>
                                  <a:latin typeface="Cambria Math"/>
                                </a:rPr>
                              </m:ctrlPr>
                            </m:dPr>
                            <m:e>
                              <m:m>
                                <m:mPr>
                                  <m:mcs>
                                    <m:mc>
                                      <m:mcPr>
                                        <m:count m:val="2"/>
                                        <m:mcJc m:val="center"/>
                                      </m:mcPr>
                                    </m:mc>
                                  </m:mcs>
                                  <m:ctrlPr>
                                    <a:rPr sz="2400">
                                      <a:solidFill>
                                        <a:srgbClr val="252529"/>
                                      </a:solidFill>
                                      <a:latin typeface="Cambria Math"/>
                                    </a:rPr>
                                  </m:ctrlPr>
                                </m:mPr>
                                <m:mr>
                                  <m:e>
                                    <m:r>
                                      <m:rPr>
                                        <m:sty m:val="p"/>
                                      </m:rPr>
                                      <a:rPr sz="2400">
                                        <a:solidFill>
                                          <a:srgbClr val="252529"/>
                                        </a:solidFill>
                                        <a:latin typeface="Cambria Math"/>
                                      </a:rPr>
                                      <m:t xml:space="preserve">0</m:t>
                                    </m:r>
                                  </m:e>
                                  <m:e>
                                    <m:r>
                                      <m:rPr>
                                        <m:sty m:val="p"/>
                                      </m:rPr>
                                      <a:rPr sz="2400">
                                        <a:solidFill>
                                          <a:srgbClr val="252529"/>
                                        </a:solidFill>
                                        <a:latin typeface="Cambria Math"/>
                                      </a:rPr>
                                      <m:t xml:space="preserve">I</m:t>
                                    </m:r>
                                  </m:e>
                                </m:mr>
                                <m:mr>
                                  <m:e>
                                    <m:r>
                                      <m:rPr>
                                        <m:sty m:val="p"/>
                                      </m:rPr>
                                      <a:rPr sz="2400">
                                        <a:solidFill>
                                          <a:srgbClr val="252529"/>
                                        </a:solidFill>
                                        <a:latin typeface="Cambria Math"/>
                                      </a:rPr>
                                      <m:t xml:space="preserve">−</m:t>
                                    </m:r>
                                    <m:r>
                                      <m:rPr>
                                        <m:sty m:val="p"/>
                                      </m:rPr>
                                      <a:rPr sz="2400">
                                        <a:solidFill>
                                          <a:srgbClr val="252529"/>
                                        </a:solidFill>
                                        <a:latin typeface="Cambria Math"/>
                                      </a:rPr>
                                      <m:t xml:space="preserve">I</m:t>
                                    </m:r>
                                  </m:e>
                                  <m:e>
                                    <m:r>
                                      <m:rPr>
                                        <m:sty m:val="p"/>
                                      </m:rPr>
                                      <a:rPr sz="2400">
                                        <a:solidFill>
                                          <a:srgbClr val="252529"/>
                                        </a:solidFill>
                                        <a:latin typeface="Cambria Math"/>
                                      </a:rPr>
                                      <m:t xml:space="preserve">0</m:t>
                                    </m:r>
                                  </m:e>
                                </m:mr>
                              </m:m>
                            </m:e>
                          </m:d>
                        </m:e>
                      </m:d>
                    </m:e>
                    <m:sup>
                      <m:r>
                        <m:rPr>
                          <m:sty m:val="p"/>
                        </m:rPr>
                        <a:rPr sz="2400">
                          <a:solidFill>
                            <a:srgbClr val="C81919"/>
                          </a:solidFill>
                          <a:latin typeface="Cambria Math"/>
                        </a:rPr>
                        <m:t xml:space="preserve">−</m:t>
                      </m:r>
                      <m:r>
                        <m:rPr>
                          <m:sty m:val="p"/>
                        </m:rPr>
                        <a:rPr sz="2400">
                          <a:solidFill>
                            <a:srgbClr val="C81919"/>
                          </a:solidFill>
                          <a:latin typeface="Cambria Math"/>
                        </a:rPr>
                        <m:t xml:space="preserve">1</m:t>
                      </m:r>
                    </m:sup>
                  </m:sSup>
                </m:oMath>
              </m:oMathPara>
            </a14:m>
            <a:endParaRPr sz="2400"/>
          </a:p>
        </p:txBody>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nodeType="withEffect">
                                  <p:stCondLst>
                                    <p:cond delay="300"/>
                                  </p:stCondLst>
                                  <p:childTnLst>
                                    <p:set>
                                      <p:cBhvr>
                                        <p:cTn id="20" dur="1" fill="hold">
                                          <p:stCondLst>
                                            <p:cond delay="0"/>
                                          </p:stCondLst>
                                        </p:cTn>
                                        <p:tgtEl>
                                          <p:spTgt spid="11007"/>
                                        </p:tgtEl>
                                        <p:attrNameLst>
                                          <p:attrName>style.visibility</p:attrName>
                                        </p:attrNameLst>
                                      </p:cBhvr>
                                      <p:to>
                                        <p:strVal val="visible"/>
                                      </p:to>
                                    </p:set>
                                    <p:animEffect transition="in" filter="fade">
                                      <p:cBhvr>
                                        <p:cTn id="21" dur="400"/>
                                        <p:tgtEl>
                                          <p:spTgt spid="1100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11008"/>
                                        </p:tgtEl>
                                        <p:attrNameLst>
                                          <p:attrName>style.visibility</p:attrName>
                                        </p:attrNameLst>
                                      </p:cBhvr>
                                      <p:to>
                                        <p:strVal val="visible"/>
                                      </p:to>
                                    </p:set>
                                    <p:animEffect transition="in" filter="fade">
                                      <p:cBhvr>
                                        <p:cTn id="24" dur="400"/>
                                        <p:tgtEl>
                                          <p:spTgt spid="11008"/>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11009"/>
                                        </p:tgtEl>
                                        <p:attrNameLst>
                                          <p:attrName>style.visibility</p:attrName>
                                        </p:attrNameLst>
                                      </p:cBhvr>
                                      <p:to>
                                        <p:strVal val="visible"/>
                                      </p:to>
                                    </p:set>
                                    <p:animEffect transition="in" filter="fade">
                                      <p:cBhvr>
                                        <p:cTn id="27" dur="400"/>
                                        <p:tgtEl>
                                          <p:spTgt spid="11009"/>
                                        </p:tgtEl>
                                      </p:cBhvr>
                                    </p:animEffect>
                                  </p:childTnLst>
                                </p:cTn>
                              </p:par>
                              <p:par>
                                <p:cTn id="28" presetID="10" presetClass="entr" presetSubtype="0" fill="hold" nodeType="withEffect">
                                  <p:stCondLst>
                                    <p:cond delay="300"/>
                                  </p:stCondLst>
                                  <p:childTnLst>
                                    <p:set>
                                      <p:cBhvr>
                                        <p:cTn id="29" dur="1" fill="hold">
                                          <p:stCondLst>
                                            <p:cond delay="0"/>
                                          </p:stCondLst>
                                        </p:cTn>
                                        <p:tgtEl>
                                          <p:spTgt spid="11010"/>
                                        </p:tgtEl>
                                        <p:attrNameLst>
                                          <p:attrName>style.visibility</p:attrName>
                                        </p:attrNameLst>
                                      </p:cBhvr>
                                      <p:to>
                                        <p:strVal val="visible"/>
                                      </p:to>
                                    </p:set>
                                    <p:animEffect transition="in" filter="fade">
                                      <p:cBhvr>
                                        <p:cTn id="30" dur="400"/>
                                        <p:tgtEl>
                                          <p:spTgt spid="11010"/>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11011"/>
                                        </p:tgtEl>
                                        <p:attrNameLst>
                                          <p:attrName>style.visibility</p:attrName>
                                        </p:attrNameLst>
                                      </p:cBhvr>
                                      <p:to>
                                        <p:strVal val="visible"/>
                                      </p:to>
                                    </p:set>
                                    <p:animEffect transition="in" filter="fade">
                                      <p:cBhvr>
                                        <p:cTn id="33" dur="400"/>
                                        <p:tgtEl>
                                          <p:spTgt spid="11011"/>
                                        </p:tgtEl>
                                      </p:cBhvr>
                                    </p:animEffect>
                                  </p:childTnLst>
                                </p:cTn>
                              </p:par>
                              <p:par>
                                <p:cTn id="34" presetID="10" presetClass="entr" presetSubtype="0" fill="hold" nodeType="withEffect">
                                  <p:stCondLst>
                                    <p:cond delay="300"/>
                                  </p:stCondLst>
                                  <p:childTnLst>
                                    <p:animEffect transition="in" filter="fade">
                                      <p:cBhvr>
                                        <p:cTn id="35" dur="400"/>
                                        <p:tgtEl>
                                          <p:spTgt spid="12001"/>
                                        </p:tgtEl>
                                      </p:cBhvr>
                                    </p:animEffect>
                                    <p:set>
                                      <p:cBhvr>
                                        <p:cTn id="36" dur="1" fill="hold">
                                          <p:stCondLst>
                                            <p:cond delay="0"/>
                                          </p:stCondLst>
                                        </p:cTn>
                                        <p:tgtEl>
                                          <p:spTgt spid="12001"/>
                                        </p:tgtEl>
                                        <p:attrNameLst>
                                          <p:attrName>style.visibility</p:attrName>
                                        </p:attrNameLst>
                                      </p:cBhvr>
                                      <p:to>
                                        <p:strVal val="visible"/>
                                      </p:to>
                                    </p:set>
                                  </p:childTnLst>
                                </p:cTn>
                              </p:par>
                              <p:par>
                                <p:cTn id="37" presetID="10" presetClass="entr" presetSubtype="0" fill="hold" nodeType="withEffect">
                                  <p:stCondLst>
                                    <p:cond delay="300"/>
                                  </p:stCondLst>
                                  <p:childTnLst>
                                    <p:animEffect transition="in" filter="fade">
                                      <p:cBhvr>
                                        <p:cTn id="38" dur="400"/>
                                        <p:tgtEl>
                                          <p:spTgt spid="12002"/>
                                        </p:tgtEl>
                                      </p:cBhvr>
                                    </p:animEffect>
                                    <p:set>
                                      <p:cBhvr>
                                        <p:cTn id="39" dur="1" fill="hold">
                                          <p:stCondLst>
                                            <p:cond delay="0"/>
                                          </p:stCondLst>
                                        </p:cTn>
                                        <p:tgtEl>
                                          <p:spTgt spid="12002"/>
                                        </p:tgtEl>
                                        <p:attrNameLst>
                                          <p:attrName>style.visibility</p:attrName>
                                        </p:attrNameLst>
                                      </p:cBhvr>
                                      <p:to>
                                        <p:strVal val="visible"/>
                                      </p:to>
                                    </p:set>
                                  </p:childTnLst>
                                </p:cTn>
                              </p:par>
                              <p:par>
                                <p:cTn id="40" presetID="10" presetClass="entr" presetSubtype="0" fill="hold" nodeType="withEffect">
                                  <p:stCondLst>
                                    <p:cond delay="300"/>
                                  </p:stCondLst>
                                  <p:childTnLst>
                                    <p:animEffect transition="in" filter="fade">
                                      <p:cBhvr>
                                        <p:cTn id="41" dur="400"/>
                                        <p:tgtEl>
                                          <p:spTgt spid="12003"/>
                                        </p:tgtEl>
                                      </p:cBhvr>
                                    </p:animEffect>
                                    <p:set>
                                      <p:cBhvr>
                                        <p:cTn id="42" dur="1" fill="hold">
                                          <p:stCondLst>
                                            <p:cond delay="0"/>
                                          </p:stCondLst>
                                        </p:cTn>
                                        <p:tgtEl>
                                          <p:spTgt spid="12003"/>
                                        </p:tgtEl>
                                        <p:attrNameLst>
                                          <p:attrName>style.visibility</p:attrName>
                                        </p:attrNameLst>
                                      </p:cBhvr>
                                      <p:to>
                                        <p:strVal val="visible"/>
                                      </p:to>
                                    </p:set>
                                  </p:childTnLst>
                                </p:cTn>
                              </p:par>
                              <p:par>
                                <p:cTn id="43" presetID="10" presetClass="entr" presetSubtype="0" fill="hold" nodeType="withEffect">
                                  <p:stCondLst>
                                    <p:cond delay="300"/>
                                  </p:stCondLst>
                                  <p:childTnLst>
                                    <p:animEffect transition="in" filter="fade">
                                      <p:cBhvr>
                                        <p:cTn id="44" dur="400"/>
                                        <p:tgtEl>
                                          <p:spTgt spid="12004"/>
                                        </p:tgtEl>
                                      </p:cBhvr>
                                    </p:animEffect>
                                    <p:set>
                                      <p:cBhvr>
                                        <p:cTn id="45" dur="1" fill="hold">
                                          <p:stCondLst>
                                            <p:cond delay="0"/>
                                          </p:stCondLst>
                                        </p:cTn>
                                        <p:tgtEl>
                                          <p:spTgt spid="12004"/>
                                        </p:tgtEl>
                                        <p:attrNameLst>
                                          <p:attrName>style.visibility</p:attrName>
                                        </p:attrNameLst>
                                      </p:cBhvr>
                                      <p:to>
                                        <p:strVal val="visible"/>
                                      </p:to>
                                    </p:set>
                                  </p:childTnLst>
                                </p:cTn>
                              </p:par>
                              <p:par>
                                <p:cTn id="46" presetID="10" presetClass="entr" presetSubtype="0" fill="hold" nodeType="withEffect">
                                  <p:stCondLst>
                                    <p:cond delay="300"/>
                                  </p:stCondLst>
                                  <p:childTnLst>
                                    <p:animEffect transition="in" filter="fade">
                                      <p:cBhvr>
                                        <p:cTn id="47" dur="400"/>
                                        <p:tgtEl>
                                          <p:spTgt spid="12005"/>
                                        </p:tgtEl>
                                      </p:cBhvr>
                                    </p:animEffect>
                                    <p:set>
                                      <p:cBhvr>
                                        <p:cTn id="48" dur="1" fill="hold">
                                          <p:stCondLst>
                                            <p:cond delay="0"/>
                                          </p:stCondLst>
                                        </p:cTn>
                                        <p:tgtEl>
                                          <p:spTgt spid="12005"/>
                                        </p:tgtEl>
                                        <p:attrNameLst>
                                          <p:attrName>style.visibility</p:attrName>
                                        </p:attrNameLst>
                                      </p:cBhvr>
                                      <p:to>
                                        <p:strVal val="visible"/>
                                      </p:to>
                                    </p:set>
                                  </p:childTnLst>
                                </p:cTn>
                              </p:par>
                              <p:par>
                                <p:cTn id="49" presetID="10" presetClass="entr" presetSubtype="0" fill="hold" nodeType="withEffect">
                                  <p:stCondLst>
                                    <p:cond delay="300"/>
                                  </p:stCondLst>
                                  <p:childTnLst>
                                    <p:animEffect transition="in" filter="fade">
                                      <p:cBhvr>
                                        <p:cTn id="50" dur="400"/>
                                        <p:tgtEl>
                                          <p:spTgt spid="12006"/>
                                        </p:tgtEl>
                                      </p:cBhvr>
                                    </p:animEffect>
                                    <p:set>
                                      <p:cBhvr>
                                        <p:cTn id="51" dur="1" fill="hold">
                                          <p:stCondLst>
                                            <p:cond delay="0"/>
                                          </p:stCondLst>
                                        </p:cTn>
                                        <p:tgtEl>
                                          <p:spTgt spid="12006"/>
                                        </p:tgtEl>
                                        <p:attrNameLst>
                                          <p:attrName>style.visibility</p:attrName>
                                        </p:attrNameLst>
                                      </p:cBhvr>
                                      <p:to>
                                        <p:strVal val="visible"/>
                                      </p:to>
                                    </p:set>
                                  </p:childTnLst>
                                </p:cTn>
                              </p:par>
                              <p:par>
                                <p:cTn id="52" presetID="10" presetClass="entr" presetSubtype="0" fill="hold" nodeType="withEffect">
                                  <p:stCondLst>
                                    <p:cond delay="300"/>
                                  </p:stCondLst>
                                  <p:childTnLst>
                                    <p:animEffect transition="in" filter="fade">
                                      <p:cBhvr>
                                        <p:cTn id="53" dur="400"/>
                                        <p:tgtEl>
                                          <p:spTgt spid="12025"/>
                                        </p:tgtEl>
                                      </p:cBhvr>
                                    </p:animEffect>
                                    <p:set>
                                      <p:cBhvr>
                                        <p:cTn id="54" dur="1" fill="hold">
                                          <p:stCondLst>
                                            <p:cond delay="0"/>
                                          </p:stCondLst>
                                        </p:cTn>
                                        <p:tgtEl>
                                          <p:spTgt spid="12025"/>
                                        </p:tgtEl>
                                        <p:attrNameLst>
                                          <p:attrName>style.visibility</p:attrName>
                                        </p:attrNameLst>
                                      </p:cBhvr>
                                      <p:to>
                                        <p:strVal val="visible"/>
                                      </p:to>
                                    </p:set>
                                  </p:childTnLst>
                                </p:cTn>
                              </p:par>
                              <p:par>
                                <p:cTn id="55" presetID="10" presetClass="entr" presetSubtype="0" fill="hold" nodeType="withEffect">
                                  <p:stCondLst>
                                    <p:cond delay="300"/>
                                  </p:stCondLst>
                                  <p:childTnLst>
                                    <p:animEffect transition="in" filter="fade">
                                      <p:cBhvr>
                                        <p:cTn id="56" dur="400"/>
                                        <p:tgtEl>
                                          <p:spTgt spid="12026"/>
                                        </p:tgtEl>
                                      </p:cBhvr>
                                    </p:animEffect>
                                    <p:set>
                                      <p:cBhvr>
                                        <p:cTn id="57" dur="1" fill="hold">
                                          <p:stCondLst>
                                            <p:cond delay="0"/>
                                          </p:stCondLst>
                                        </p:cTn>
                                        <p:tgtEl>
                                          <p:spTgt spid="12026"/>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58" presetID="10" presetClass="exit" presetSubtype="0" fill="hold" nodeType="clickEffect">
                                  <p:stCondLst>
                                    <p:cond delay="750"/>
                                  </p:stCondLst>
                                  <p:childTnLst>
                                    <p:animEffect transition="out" filter="fade">
                                      <p:cBhvr>
                                        <p:cTn id="59" dur="250"/>
                                        <p:tgtEl>
                                          <p:spTgt spid="12001"/>
                                        </p:tgtEl>
                                      </p:cBhvr>
                                    </p:animEffect>
                                    <p:set>
                                      <p:cBhvr>
                                        <p:cTn id="60" dur="1" fill="hold">
                                          <p:stCondLst>
                                            <p:cond delay="249"/>
                                          </p:stCondLst>
                                        </p:cTn>
                                        <p:tgtEl>
                                          <p:spTgt spid="12001"/>
                                        </p:tgtEl>
                                        <p:attrNameLst>
                                          <p:attrName>style.visibility</p:attrName>
                                        </p:attrNameLst>
                                      </p:cBhvr>
                                      <p:to>
                                        <p:strVal val="hidden"/>
                                      </p:to>
                                    </p:set>
                                  </p:childTnLst>
                                </p:cTn>
                              </p:par>
                              <p:par>
                                <p:cTn id="61"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62" dur="1000" fill="hold" accel="20000" decel="20000"/>
                                        <p:tgtEl>
                                          <p:spTgt spid="12002"/>
                                        </p:tgtEl>
                                        <p:attrNameLst>
                                          <p:attrName>ppt_x</p:attrName>
                                          <p:attrName>ppt_y</p:attrName>
                                        </p:attrNameLst>
                                      </p:cBhvr>
                                      <p:rCtr x="0" y="0"/>
                                    </p:animMotion>
                                  </p:childTnLst>
                                </p:cTn>
                              </p:par>
                              <p:par>
                                <p:cTn id="63" presetID="10" presetClass="exit" presetSubtype="0" fill="hold" nodeType="withEffect">
                                  <p:stCondLst>
                                    <p:cond delay="750"/>
                                  </p:stCondLst>
                                  <p:childTnLst>
                                    <p:animEffect transition="out" filter="fade">
                                      <p:cBhvr>
                                        <p:cTn id="64" dur="250"/>
                                        <p:tgtEl>
                                          <p:spTgt spid="12002"/>
                                        </p:tgtEl>
                                      </p:cBhvr>
                                    </p:animEffect>
                                    <p:set>
                                      <p:cBhvr>
                                        <p:cTn id="65" dur="1" fill="hold">
                                          <p:stCondLst>
                                            <p:cond delay="249"/>
                                          </p:stCondLst>
                                        </p:cTn>
                                        <p:tgtEl>
                                          <p:spTgt spid="12002"/>
                                        </p:tgtEl>
                                        <p:attrNameLst>
                                          <p:attrName>style.visibility</p:attrName>
                                        </p:attrNameLst>
                                      </p:cBhvr>
                                      <p:to>
                                        <p:strVal val="hidden"/>
                                      </p:to>
                                    </p:set>
                                  </p:childTnLst>
                                </p:cTn>
                              </p:par>
                              <p:par>
                                <p:cTn id="66"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67" dur="1000" fill="hold" accel="20000" decel="20000"/>
                                        <p:tgtEl>
                                          <p:spTgt spid="12003"/>
                                        </p:tgtEl>
                                        <p:attrNameLst>
                                          <p:attrName>ppt_x</p:attrName>
                                          <p:attrName>ppt_y</p:attrName>
                                        </p:attrNameLst>
                                      </p:cBhvr>
                                      <p:rCtr x="0" y="0"/>
                                    </p:animMotion>
                                  </p:childTnLst>
                                </p:cTn>
                              </p:par>
                              <p:par>
                                <p:cTn id="68" presetID="10" presetClass="exit" presetSubtype="0" fill="hold" nodeType="withEffect">
                                  <p:stCondLst>
                                    <p:cond delay="750"/>
                                  </p:stCondLst>
                                  <p:childTnLst>
                                    <p:animEffect transition="out" filter="fade">
                                      <p:cBhvr>
                                        <p:cTn id="69" dur="250"/>
                                        <p:tgtEl>
                                          <p:spTgt spid="12003"/>
                                        </p:tgtEl>
                                      </p:cBhvr>
                                    </p:animEffect>
                                    <p:set>
                                      <p:cBhvr>
                                        <p:cTn id="70" dur="1" fill="hold">
                                          <p:stCondLst>
                                            <p:cond delay="249"/>
                                          </p:stCondLst>
                                        </p:cTn>
                                        <p:tgtEl>
                                          <p:spTgt spid="12003"/>
                                        </p:tgtEl>
                                        <p:attrNameLst>
                                          <p:attrName>style.visibility</p:attrName>
                                        </p:attrNameLst>
                                      </p:cBhvr>
                                      <p:to>
                                        <p:strVal val="hidden"/>
                                      </p:to>
                                    </p:set>
                                  </p:childTnLst>
                                </p:cTn>
                              </p:par>
                              <p:par>
                                <p:cTn id="71" presetID="10" presetClass="exit" presetSubtype="0" fill="hold" nodeType="withEffect">
                                  <p:stCondLst>
                                    <p:cond delay="750"/>
                                  </p:stCondLst>
                                  <p:childTnLst>
                                    <p:animEffect transition="out" filter="fade">
                                      <p:cBhvr>
                                        <p:cTn id="72" dur="250"/>
                                        <p:tgtEl>
                                          <p:spTgt spid="12004"/>
                                        </p:tgtEl>
                                      </p:cBhvr>
                                    </p:animEffect>
                                    <p:set>
                                      <p:cBhvr>
                                        <p:cTn id="73" dur="1" fill="hold">
                                          <p:stCondLst>
                                            <p:cond delay="249"/>
                                          </p:stCondLst>
                                        </p:cTn>
                                        <p:tgtEl>
                                          <p:spTgt spid="12004"/>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250"/>
                                        <p:tgtEl>
                                          <p:spTgt spid="12005"/>
                                        </p:tgtEl>
                                      </p:cBhvr>
                                    </p:animEffect>
                                    <p:set>
                                      <p:cBhvr>
                                        <p:cTn id="76" dur="1" fill="hold">
                                          <p:stCondLst>
                                            <p:cond delay="249"/>
                                          </p:stCondLst>
                                        </p:cTn>
                                        <p:tgtEl>
                                          <p:spTgt spid="12005"/>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250"/>
                                        <p:tgtEl>
                                          <p:spTgt spid="12006"/>
                                        </p:tgtEl>
                                      </p:cBhvr>
                                    </p:animEffect>
                                    <p:set>
                                      <p:cBhvr>
                                        <p:cTn id="79" dur="1" fill="hold">
                                          <p:stCondLst>
                                            <p:cond delay="249"/>
                                          </p:stCondLst>
                                        </p:cTn>
                                        <p:tgtEl>
                                          <p:spTgt spid="12006"/>
                                        </p:tgtEl>
                                        <p:attrNameLst>
                                          <p:attrName>style.visibility</p:attrName>
                                        </p:attrNameLst>
                                      </p:cBhvr>
                                      <p:to>
                                        <p:strVal val="hidden"/>
                                      </p:to>
                                    </p:set>
                                  </p:childTnLst>
                                </p:cTn>
                              </p:par>
                              <p:par>
                                <p:cTn id="80" presetID="10" presetClass="entr" presetSubtype="0" fill="hold" nodeType="withEffect">
                                  <p:stCondLst>
                                    <p:cond delay="750"/>
                                  </p:stCondLst>
                                  <p:childTnLst>
                                    <p:animEffect transition="in" filter="fade">
                                      <p:cBhvr>
                                        <p:cTn id="81" dur="300"/>
                                        <p:tgtEl>
                                          <p:spTgt spid="12007"/>
                                        </p:tgtEl>
                                      </p:cBhvr>
                                    </p:animEffect>
                                    <p:set>
                                      <p:cBhvr>
                                        <p:cTn id="82" dur="1" fill="hold">
                                          <p:stCondLst>
                                            <p:cond delay="0"/>
                                          </p:stCondLst>
                                        </p:cTn>
                                        <p:tgtEl>
                                          <p:spTgt spid="12007"/>
                                        </p:tgtEl>
                                        <p:attrNameLst>
                                          <p:attrName>style.visibility</p:attrName>
                                        </p:attrNameLst>
                                      </p:cBhvr>
                                      <p:to>
                                        <p:strVal val="visible"/>
                                      </p:to>
                                    </p:set>
                                  </p:childTnLst>
                                </p:cTn>
                              </p:par>
                              <p:par>
                                <p:cTn id="83" presetID="10" presetClass="entr" presetSubtype="0" fill="hold" nodeType="withEffect">
                                  <p:stCondLst>
                                    <p:cond delay="750"/>
                                  </p:stCondLst>
                                  <p:childTnLst>
                                    <p:animEffect transition="in" filter="fade">
                                      <p:cBhvr>
                                        <p:cTn id="84" dur="300"/>
                                        <p:tgtEl>
                                          <p:spTgt spid="12008"/>
                                        </p:tgtEl>
                                      </p:cBhvr>
                                    </p:animEffect>
                                    <p:set>
                                      <p:cBhvr>
                                        <p:cTn id="85" dur="1" fill="hold">
                                          <p:stCondLst>
                                            <p:cond delay="0"/>
                                          </p:stCondLst>
                                        </p:cTn>
                                        <p:tgtEl>
                                          <p:spTgt spid="12008"/>
                                        </p:tgtEl>
                                        <p:attrNameLst>
                                          <p:attrName>style.visibility</p:attrName>
                                        </p:attrNameLst>
                                      </p:cBhvr>
                                      <p:to>
                                        <p:strVal val="visible"/>
                                      </p:to>
                                    </p:set>
                                  </p:childTnLst>
                                </p:cTn>
                              </p:par>
                              <p:par>
                                <p:cTn id="86" presetID="10" presetClass="entr" presetSubtype="0" fill="hold" nodeType="withEffect">
                                  <p:stCondLst>
                                    <p:cond delay="750"/>
                                  </p:stCondLst>
                                  <p:childTnLst>
                                    <p:animEffect transition="in" filter="fade">
                                      <p:cBhvr>
                                        <p:cTn id="87" dur="300"/>
                                        <p:tgtEl>
                                          <p:spTgt spid="12009"/>
                                        </p:tgtEl>
                                      </p:cBhvr>
                                    </p:animEffect>
                                    <p:set>
                                      <p:cBhvr>
                                        <p:cTn id="88" dur="1" fill="hold">
                                          <p:stCondLst>
                                            <p:cond delay="0"/>
                                          </p:stCondLst>
                                        </p:cTn>
                                        <p:tgtEl>
                                          <p:spTgt spid="12009"/>
                                        </p:tgtEl>
                                        <p:attrNameLst>
                                          <p:attrName>style.visibility</p:attrName>
                                        </p:attrNameLst>
                                      </p:cBhvr>
                                      <p:to>
                                        <p:strVal val="visible"/>
                                      </p:to>
                                    </p:set>
                                  </p:childTnLst>
                                </p:cTn>
                              </p:par>
                              <p:par>
                                <p:cTn id="89" presetID="10" presetClass="entr" presetSubtype="0" fill="hold" nodeType="withEffect">
                                  <p:stCondLst>
                                    <p:cond delay="750"/>
                                  </p:stCondLst>
                                  <p:childTnLst>
                                    <p:animEffect transition="in" filter="fade">
                                      <p:cBhvr>
                                        <p:cTn id="90" dur="300"/>
                                        <p:tgtEl>
                                          <p:spTgt spid="12010"/>
                                        </p:tgtEl>
                                      </p:cBhvr>
                                    </p:animEffect>
                                    <p:set>
                                      <p:cBhvr>
                                        <p:cTn id="91" dur="1" fill="hold">
                                          <p:stCondLst>
                                            <p:cond delay="0"/>
                                          </p:stCondLst>
                                        </p:cTn>
                                        <p:tgtEl>
                                          <p:spTgt spid="12010"/>
                                        </p:tgtEl>
                                        <p:attrNameLst>
                                          <p:attrName>style.visibility</p:attrName>
                                        </p:attrNameLst>
                                      </p:cBhvr>
                                      <p:to>
                                        <p:strVal val="visible"/>
                                      </p:to>
                                    </p:set>
                                  </p:childTnLst>
                                </p:cTn>
                              </p:par>
                              <p:par>
                                <p:cTn id="92" presetID="10" presetClass="entr" presetSubtype="0" fill="hold" nodeType="withEffect">
                                  <p:stCondLst>
                                    <p:cond delay="750"/>
                                  </p:stCondLst>
                                  <p:childTnLst>
                                    <p:animEffect transition="in" filter="fade">
                                      <p:cBhvr>
                                        <p:cTn id="93" dur="300"/>
                                        <p:tgtEl>
                                          <p:spTgt spid="12011"/>
                                        </p:tgtEl>
                                      </p:cBhvr>
                                    </p:animEffect>
                                    <p:set>
                                      <p:cBhvr>
                                        <p:cTn id="94" dur="1" fill="hold">
                                          <p:stCondLst>
                                            <p:cond delay="0"/>
                                          </p:stCondLst>
                                        </p:cTn>
                                        <p:tgtEl>
                                          <p:spTgt spid="12011"/>
                                        </p:tgtEl>
                                        <p:attrNameLst>
                                          <p:attrName>style.visibility</p:attrName>
                                        </p:attrNameLst>
                                      </p:cBhvr>
                                      <p:to>
                                        <p:strVal val="visible"/>
                                      </p:to>
                                    </p:set>
                                  </p:childTnLst>
                                </p:cTn>
                              </p:par>
                              <p:par>
                                <p:cTn id="95" presetID="10" presetClass="entr" presetSubtype="0" fill="hold" nodeType="withEffect">
                                  <p:stCondLst>
                                    <p:cond delay="750"/>
                                  </p:stCondLst>
                                  <p:childTnLst>
                                    <p:animEffect transition="in" filter="fade">
                                      <p:cBhvr>
                                        <p:cTn id="96" dur="300"/>
                                        <p:tgtEl>
                                          <p:spTgt spid="12012"/>
                                        </p:tgtEl>
                                      </p:cBhvr>
                                    </p:animEffect>
                                    <p:set>
                                      <p:cBhvr>
                                        <p:cTn id="97" dur="1" fill="hold">
                                          <p:stCondLst>
                                            <p:cond delay="0"/>
                                          </p:stCondLst>
                                        </p:cTn>
                                        <p:tgtEl>
                                          <p:spTgt spid="12012"/>
                                        </p:tgtEl>
                                        <p:attrNameLst>
                                          <p:attrName>style.visibility</p:attrName>
                                        </p:attrNameLst>
                                      </p:cBhvr>
                                      <p:to>
                                        <p:strVal val="visible"/>
                                      </p:to>
                                    </p:set>
                                  </p:childTnLst>
                                </p:cTn>
                              </p:par>
                              <p:par>
                                <p:cTn id="98" presetID="10" presetClass="exit" presetSubtype="0" fill="hold" nodeType="withEffect">
                                  <p:stCondLst>
                                    <p:cond delay="0"/>
                                  </p:stCondLst>
                                  <p:childTnLst>
                                    <p:animEffect transition="out" filter="fade">
                                      <p:cBhvr>
                                        <p:cTn id="99" dur="300"/>
                                        <p:tgtEl>
                                          <p:spTgt spid="11011"/>
                                        </p:tgtEl>
                                      </p:cBhvr>
                                    </p:animEffect>
                                    <p:set>
                                      <p:cBhvr>
                                        <p:cTn id="100" dur="1" fill="hold">
                                          <p:stCondLst>
                                            <p:cond delay="299"/>
                                          </p:stCondLst>
                                        </p:cTn>
                                        <p:tgtEl>
                                          <p:spTgt spid="11011"/>
                                        </p:tgtEl>
                                        <p:attrNameLst>
                                          <p:attrName>style.visibility</p:attrName>
                                        </p:attrNameLst>
                                      </p:cBhvr>
                                      <p:to>
                                        <p:strVal val="hidden"/>
                                      </p:to>
                                    </p:set>
                                  </p:childTnLst>
                                </p:cTn>
                              </p:par>
                              <p:par>
                                <p:cTn id="101" presetID="10" presetClass="entr" presetSubtype="0" fill="hold" nodeType="withEffect">
                                  <p:stCondLst>
                                    <p:cond delay="0"/>
                                  </p:stCondLst>
                                  <p:childTnLst>
                                    <p:animEffect transition="in" filter="fade">
                                      <p:cBhvr>
                                        <p:cTn id="102" dur="300"/>
                                        <p:tgtEl>
                                          <p:spTgt spid="12027"/>
                                        </p:tgtEl>
                                      </p:cBhvr>
                                    </p:animEffect>
                                    <p:set>
                                      <p:cBhvr>
                                        <p:cTn id="103" dur="1" fill="hold">
                                          <p:stCondLst>
                                            <p:cond delay="0"/>
                                          </p:stCondLst>
                                        </p:cTn>
                                        <p:tgtEl>
                                          <p:spTgt spid="12027"/>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06" presetID="0" presetClass="path" presetSubtype="0" fill="hold" nodeType="clickEffect">
                                  <p:stCondLst>
                                    <p:cond delay="0"/>
                                  </p:stCondLst>
                                  <p:childTnLst>
                                    <p:animMotion origin="layout" path="M 0 0 C 0.012272994 -0.035455317 0.038389717 -0.046510015 0.058333333 -0.024691358 C 0.078276949 -0.002872701 0.084495217 0.043557028 0.072222222 0.079012346 E" pathEditMode="relative" rAng="0">
                                      <p:cBhvr>
                                        <p:cTn id="107" dur="1400" fill="hold" accel="20000" decel="20000"/>
                                        <p:tgtEl>
                                          <p:spTgt spid="12007"/>
                                        </p:tgtEl>
                                        <p:attrNameLst>
                                          <p:attrName>ppt_x</p:attrName>
                                          <p:attrName>ppt_y</p:attrName>
                                        </p:attrNameLst>
                                      </p:cBhvr>
                                      <p:rCtr x="0" y="0"/>
                                    </p:animMotion>
                                  </p:childTnLst>
                                </p:cTn>
                              </p:par>
                              <p:par>
                                <p:cTn id="108" presetID="10" presetClass="exit" presetSubtype="0" fill="hold" nodeType="withEffect">
                                  <p:stCondLst>
                                    <p:cond delay="1150"/>
                                  </p:stCondLst>
                                  <p:childTnLst>
                                    <p:animEffect transition="out" filter="fade">
                                      <p:cBhvr>
                                        <p:cTn id="109" dur="250"/>
                                        <p:tgtEl>
                                          <p:spTgt spid="12007"/>
                                        </p:tgtEl>
                                      </p:cBhvr>
                                    </p:animEffect>
                                    <p:set>
                                      <p:cBhvr>
                                        <p:cTn id="110" dur="1" fill="hold">
                                          <p:stCondLst>
                                            <p:cond delay="249"/>
                                          </p:stCondLst>
                                        </p:cTn>
                                        <p:tgtEl>
                                          <p:spTgt spid="12007"/>
                                        </p:tgtEl>
                                        <p:attrNameLst>
                                          <p:attrName>style.visibility</p:attrName>
                                        </p:attrNameLst>
                                      </p:cBhvr>
                                      <p:to>
                                        <p:strVal val="hidden"/>
                                      </p:to>
                                    </p:set>
                                  </p:childTnLst>
                                </p:cTn>
                              </p:par>
                              <p:par>
                                <p:cTn id="111"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112" dur="1400" fill="hold" accel="20000" decel="20000"/>
                                        <p:tgtEl>
                                          <p:spTgt spid="12008"/>
                                        </p:tgtEl>
                                        <p:attrNameLst>
                                          <p:attrName>ppt_x</p:attrName>
                                          <p:attrName>ppt_y</p:attrName>
                                        </p:attrNameLst>
                                      </p:cBhvr>
                                      <p:rCtr x="0" y="0"/>
                                    </p:animMotion>
                                  </p:childTnLst>
                                </p:cTn>
                              </p:par>
                              <p:par>
                                <p:cTn id="113" presetID="10" presetClass="exit" presetSubtype="0" fill="hold" nodeType="withEffect">
                                  <p:stCondLst>
                                    <p:cond delay="1150"/>
                                  </p:stCondLst>
                                  <p:childTnLst>
                                    <p:animEffect transition="out" filter="fade">
                                      <p:cBhvr>
                                        <p:cTn id="114" dur="250"/>
                                        <p:tgtEl>
                                          <p:spTgt spid="12008"/>
                                        </p:tgtEl>
                                      </p:cBhvr>
                                    </p:animEffect>
                                    <p:set>
                                      <p:cBhvr>
                                        <p:cTn id="115" dur="1" fill="hold">
                                          <p:stCondLst>
                                            <p:cond delay="249"/>
                                          </p:stCondLst>
                                        </p:cTn>
                                        <p:tgtEl>
                                          <p:spTgt spid="12008"/>
                                        </p:tgtEl>
                                        <p:attrNameLst>
                                          <p:attrName>style.visibility</p:attrName>
                                        </p:attrNameLst>
                                      </p:cBhvr>
                                      <p:to>
                                        <p:strVal val="hidden"/>
                                      </p:to>
                                    </p:set>
                                  </p:childTnLst>
                                </p:cTn>
                              </p:par>
                              <p:par>
                                <p:cTn id="116"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117" dur="1400" fill="hold" accel="20000" decel="20000"/>
                                        <p:tgtEl>
                                          <p:spTgt spid="12009"/>
                                        </p:tgtEl>
                                        <p:attrNameLst>
                                          <p:attrName>ppt_x</p:attrName>
                                          <p:attrName>ppt_y</p:attrName>
                                        </p:attrNameLst>
                                      </p:cBhvr>
                                      <p:rCtr x="0" y="0"/>
                                    </p:animMotion>
                                  </p:childTnLst>
                                </p:cTn>
                              </p:par>
                              <p:par>
                                <p:cTn id="118" presetID="10" presetClass="exit" presetSubtype="0" fill="hold" nodeType="withEffect">
                                  <p:stCondLst>
                                    <p:cond delay="1150"/>
                                  </p:stCondLst>
                                  <p:childTnLst>
                                    <p:animEffect transition="out" filter="fade">
                                      <p:cBhvr>
                                        <p:cTn id="119" dur="250"/>
                                        <p:tgtEl>
                                          <p:spTgt spid="12009"/>
                                        </p:tgtEl>
                                      </p:cBhvr>
                                    </p:animEffect>
                                    <p:set>
                                      <p:cBhvr>
                                        <p:cTn id="120" dur="1" fill="hold">
                                          <p:stCondLst>
                                            <p:cond delay="249"/>
                                          </p:stCondLst>
                                        </p:cTn>
                                        <p:tgtEl>
                                          <p:spTgt spid="12009"/>
                                        </p:tgtEl>
                                        <p:attrNameLst>
                                          <p:attrName>style.visibility</p:attrName>
                                        </p:attrNameLst>
                                      </p:cBhvr>
                                      <p:to>
                                        <p:strVal val="hidden"/>
                                      </p:to>
                                    </p:set>
                                  </p:childTnLst>
                                </p:cTn>
                              </p:par>
                              <p:par>
                                <p:cTn id="121" presetID="0" presetClass="path" presetSubtype="0" fill="hold" nodeType="withEffect">
                                  <p:stCondLst>
                                    <p:cond delay="0"/>
                                  </p:stCondLst>
                                  <p:childTnLst>
                                    <p:animMotion origin="layout" path="M 0 0 C -0.012272994 0.035455317 -0.038389717 0.046510015 -0.058333333 0.024691358 C -0.078276949 0.002872701 -0.084495217 -0.043557028 -0.072222222 -0.079012346 E" pathEditMode="relative" rAng="0">
                                      <p:cBhvr>
                                        <p:cTn id="122" dur="1400" fill="hold" accel="20000" decel="20000"/>
                                        <p:tgtEl>
                                          <p:spTgt spid="12010"/>
                                        </p:tgtEl>
                                        <p:attrNameLst>
                                          <p:attrName>ppt_x</p:attrName>
                                          <p:attrName>ppt_y</p:attrName>
                                        </p:attrNameLst>
                                      </p:cBhvr>
                                      <p:rCtr x="0" y="0"/>
                                    </p:animMotion>
                                  </p:childTnLst>
                                </p:cTn>
                              </p:par>
                              <p:par>
                                <p:cTn id="123" presetID="10" presetClass="exit" presetSubtype="0" fill="hold" nodeType="withEffect">
                                  <p:stCondLst>
                                    <p:cond delay="1150"/>
                                  </p:stCondLst>
                                  <p:childTnLst>
                                    <p:animEffect transition="out" filter="fade">
                                      <p:cBhvr>
                                        <p:cTn id="124" dur="250"/>
                                        <p:tgtEl>
                                          <p:spTgt spid="12010"/>
                                        </p:tgtEl>
                                      </p:cBhvr>
                                    </p:animEffect>
                                    <p:set>
                                      <p:cBhvr>
                                        <p:cTn id="125" dur="1" fill="hold">
                                          <p:stCondLst>
                                            <p:cond delay="249"/>
                                          </p:stCondLst>
                                        </p:cTn>
                                        <p:tgtEl>
                                          <p:spTgt spid="12010"/>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250"/>
                                        <p:tgtEl>
                                          <p:spTgt spid="12011"/>
                                        </p:tgtEl>
                                      </p:cBhvr>
                                    </p:animEffect>
                                    <p:set>
                                      <p:cBhvr>
                                        <p:cTn id="128" dur="1" fill="hold">
                                          <p:stCondLst>
                                            <p:cond delay="249"/>
                                          </p:stCondLst>
                                        </p:cTn>
                                        <p:tgtEl>
                                          <p:spTgt spid="12011"/>
                                        </p:tgtEl>
                                        <p:attrNameLst>
                                          <p:attrName>style.visibility</p:attrName>
                                        </p:attrNameLst>
                                      </p:cBhvr>
                                      <p:to>
                                        <p:strVal val="hidden"/>
                                      </p:to>
                                    </p:set>
                                  </p:childTnLst>
                                </p:cTn>
                              </p:par>
                              <p:par>
                                <p:cTn id="129" presetID="10" presetClass="exit" presetSubtype="0" fill="hold" nodeType="withEffect">
                                  <p:stCondLst>
                                    <p:cond delay="0"/>
                                  </p:stCondLst>
                                  <p:childTnLst>
                                    <p:animEffect transition="out" filter="fade">
                                      <p:cBhvr>
                                        <p:cTn id="130" dur="250"/>
                                        <p:tgtEl>
                                          <p:spTgt spid="12012"/>
                                        </p:tgtEl>
                                      </p:cBhvr>
                                    </p:animEffect>
                                    <p:set>
                                      <p:cBhvr>
                                        <p:cTn id="131" dur="1" fill="hold">
                                          <p:stCondLst>
                                            <p:cond delay="249"/>
                                          </p:stCondLst>
                                        </p:cTn>
                                        <p:tgtEl>
                                          <p:spTgt spid="12012"/>
                                        </p:tgtEl>
                                        <p:attrNameLst>
                                          <p:attrName>style.visibility</p:attrName>
                                        </p:attrNameLst>
                                      </p:cBhvr>
                                      <p:to>
                                        <p:strVal val="hidden"/>
                                      </p:to>
                                    </p:set>
                                  </p:childTnLst>
                                </p:cTn>
                              </p:par>
                              <p:par>
                                <p:cTn id="132" presetID="10" presetClass="entr" presetSubtype="0" fill="hold" nodeType="withEffect">
                                  <p:stCondLst>
                                    <p:cond delay="1150"/>
                                  </p:stCondLst>
                                  <p:childTnLst>
                                    <p:animEffect transition="in" filter="fade">
                                      <p:cBhvr>
                                        <p:cTn id="133" dur="300"/>
                                        <p:tgtEl>
                                          <p:spTgt spid="12013"/>
                                        </p:tgtEl>
                                      </p:cBhvr>
                                    </p:animEffect>
                                    <p:set>
                                      <p:cBhvr>
                                        <p:cTn id="134" dur="1" fill="hold">
                                          <p:stCondLst>
                                            <p:cond delay="0"/>
                                          </p:stCondLst>
                                        </p:cTn>
                                        <p:tgtEl>
                                          <p:spTgt spid="12013"/>
                                        </p:tgtEl>
                                        <p:attrNameLst>
                                          <p:attrName>style.visibility</p:attrName>
                                        </p:attrNameLst>
                                      </p:cBhvr>
                                      <p:to>
                                        <p:strVal val="visible"/>
                                      </p:to>
                                    </p:set>
                                  </p:childTnLst>
                                </p:cTn>
                              </p:par>
                              <p:par>
                                <p:cTn id="135" presetID="10" presetClass="entr" presetSubtype="0" fill="hold" nodeType="withEffect">
                                  <p:stCondLst>
                                    <p:cond delay="1150"/>
                                  </p:stCondLst>
                                  <p:childTnLst>
                                    <p:animEffect transition="in" filter="fade">
                                      <p:cBhvr>
                                        <p:cTn id="136" dur="300"/>
                                        <p:tgtEl>
                                          <p:spTgt spid="12014"/>
                                        </p:tgtEl>
                                      </p:cBhvr>
                                    </p:animEffect>
                                    <p:set>
                                      <p:cBhvr>
                                        <p:cTn id="137" dur="1" fill="hold">
                                          <p:stCondLst>
                                            <p:cond delay="0"/>
                                          </p:stCondLst>
                                        </p:cTn>
                                        <p:tgtEl>
                                          <p:spTgt spid="12014"/>
                                        </p:tgtEl>
                                        <p:attrNameLst>
                                          <p:attrName>style.visibility</p:attrName>
                                        </p:attrNameLst>
                                      </p:cBhvr>
                                      <p:to>
                                        <p:strVal val="visible"/>
                                      </p:to>
                                    </p:set>
                                  </p:childTnLst>
                                </p:cTn>
                              </p:par>
                              <p:par>
                                <p:cTn id="138" presetID="10" presetClass="entr" presetSubtype="0" fill="hold" nodeType="withEffect">
                                  <p:stCondLst>
                                    <p:cond delay="1150"/>
                                  </p:stCondLst>
                                  <p:childTnLst>
                                    <p:animEffect transition="in" filter="fade">
                                      <p:cBhvr>
                                        <p:cTn id="139" dur="300"/>
                                        <p:tgtEl>
                                          <p:spTgt spid="12015"/>
                                        </p:tgtEl>
                                      </p:cBhvr>
                                    </p:animEffect>
                                    <p:set>
                                      <p:cBhvr>
                                        <p:cTn id="140" dur="1" fill="hold">
                                          <p:stCondLst>
                                            <p:cond delay="0"/>
                                          </p:stCondLst>
                                        </p:cTn>
                                        <p:tgtEl>
                                          <p:spTgt spid="12015"/>
                                        </p:tgtEl>
                                        <p:attrNameLst>
                                          <p:attrName>style.visibility</p:attrName>
                                        </p:attrNameLst>
                                      </p:cBhvr>
                                      <p:to>
                                        <p:strVal val="visible"/>
                                      </p:to>
                                    </p:set>
                                  </p:childTnLst>
                                </p:cTn>
                              </p:par>
                              <p:par>
                                <p:cTn id="141" presetID="10" presetClass="entr" presetSubtype="0" fill="hold" nodeType="withEffect">
                                  <p:stCondLst>
                                    <p:cond delay="1150"/>
                                  </p:stCondLst>
                                  <p:childTnLst>
                                    <p:animEffect transition="in" filter="fade">
                                      <p:cBhvr>
                                        <p:cTn id="142" dur="300"/>
                                        <p:tgtEl>
                                          <p:spTgt spid="12016"/>
                                        </p:tgtEl>
                                      </p:cBhvr>
                                    </p:animEffect>
                                    <p:set>
                                      <p:cBhvr>
                                        <p:cTn id="143" dur="1" fill="hold">
                                          <p:stCondLst>
                                            <p:cond delay="0"/>
                                          </p:stCondLst>
                                        </p:cTn>
                                        <p:tgtEl>
                                          <p:spTgt spid="12016"/>
                                        </p:tgtEl>
                                        <p:attrNameLst>
                                          <p:attrName>style.visibility</p:attrName>
                                        </p:attrNameLst>
                                      </p:cBhvr>
                                      <p:to>
                                        <p:strVal val="visible"/>
                                      </p:to>
                                    </p:set>
                                  </p:childTnLst>
                                </p:cTn>
                              </p:par>
                              <p:par>
                                <p:cTn id="144" presetID="10" presetClass="entr" presetSubtype="0" fill="hold" nodeType="withEffect">
                                  <p:stCondLst>
                                    <p:cond delay="1150"/>
                                  </p:stCondLst>
                                  <p:childTnLst>
                                    <p:animEffect transition="in" filter="fade">
                                      <p:cBhvr>
                                        <p:cTn id="145" dur="300"/>
                                        <p:tgtEl>
                                          <p:spTgt spid="12017"/>
                                        </p:tgtEl>
                                      </p:cBhvr>
                                    </p:animEffect>
                                    <p:set>
                                      <p:cBhvr>
                                        <p:cTn id="146" dur="1" fill="hold">
                                          <p:stCondLst>
                                            <p:cond delay="0"/>
                                          </p:stCondLst>
                                        </p:cTn>
                                        <p:tgtEl>
                                          <p:spTgt spid="12017"/>
                                        </p:tgtEl>
                                        <p:attrNameLst>
                                          <p:attrName>style.visibility</p:attrName>
                                        </p:attrNameLst>
                                      </p:cBhvr>
                                      <p:to>
                                        <p:strVal val="visible"/>
                                      </p:to>
                                    </p:set>
                                  </p:childTnLst>
                                </p:cTn>
                              </p:par>
                              <p:par>
                                <p:cTn id="147" presetID="10" presetClass="exit" presetSubtype="0" fill="hold" nodeType="withEffect">
                                  <p:stCondLst>
                                    <p:cond delay="0"/>
                                  </p:stCondLst>
                                  <p:childTnLst>
                                    <p:animEffect transition="out" filter="fade">
                                      <p:cBhvr>
                                        <p:cTn id="148" dur="300"/>
                                        <p:tgtEl>
                                          <p:spTgt spid="12027"/>
                                        </p:tgtEl>
                                      </p:cBhvr>
                                    </p:animEffect>
                                    <p:set>
                                      <p:cBhvr>
                                        <p:cTn id="149" dur="1" fill="hold">
                                          <p:stCondLst>
                                            <p:cond delay="299"/>
                                          </p:stCondLst>
                                        </p:cTn>
                                        <p:tgtEl>
                                          <p:spTgt spid="12027"/>
                                        </p:tgtEl>
                                        <p:attrNameLst>
                                          <p:attrName>style.visibility</p:attrName>
                                        </p:attrNameLst>
                                      </p:cBhvr>
                                      <p:to>
                                        <p:strVal val="hidden"/>
                                      </p:to>
                                    </p:set>
                                  </p:childTnLst>
                                </p:cTn>
                              </p:par>
                              <p:par>
                                <p:cTn id="150" presetID="10" presetClass="entr" presetSubtype="0" fill="hold" nodeType="withEffect">
                                  <p:stCondLst>
                                    <p:cond delay="0"/>
                                  </p:stCondLst>
                                  <p:childTnLst>
                                    <p:animEffect transition="in" filter="fade">
                                      <p:cBhvr>
                                        <p:cTn id="151" dur="300"/>
                                        <p:tgtEl>
                                          <p:spTgt spid="12028"/>
                                        </p:tgtEl>
                                      </p:cBhvr>
                                    </p:animEffect>
                                    <p:set>
                                      <p:cBhvr>
                                        <p:cTn id="152" dur="1" fill="hold">
                                          <p:stCondLst>
                                            <p:cond delay="0"/>
                                          </p:stCondLst>
                                        </p:cTn>
                                        <p:tgtEl>
                                          <p:spTgt spid="12028"/>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55" presetID="10" presetClass="exit" presetSubtype="0" fill="hold" nodeType="clickEffect">
                                  <p:stCondLst>
                                    <p:cond delay="400"/>
                                  </p:stCondLst>
                                  <p:childTnLst>
                                    <p:animEffect transition="out" filter="fade">
                                      <p:cBhvr>
                                        <p:cTn id="156" dur="250"/>
                                        <p:tgtEl>
                                          <p:spTgt spid="12013"/>
                                        </p:tgtEl>
                                      </p:cBhvr>
                                    </p:animEffect>
                                    <p:set>
                                      <p:cBhvr>
                                        <p:cTn id="157" dur="1" fill="hold">
                                          <p:stCondLst>
                                            <p:cond delay="249"/>
                                          </p:stCondLst>
                                        </p:cTn>
                                        <p:tgtEl>
                                          <p:spTgt spid="12013"/>
                                        </p:tgtEl>
                                        <p:attrNameLst>
                                          <p:attrName>style.visibility</p:attrName>
                                        </p:attrNameLst>
                                      </p:cBhvr>
                                      <p:to>
                                        <p:strVal val="hidden"/>
                                      </p:to>
                                    </p:set>
                                  </p:childTnLst>
                                </p:cTn>
                              </p:par>
                              <p:par>
                                <p:cTn id="158" presetID="10" presetClass="exit" presetSubtype="0" fill="hold" nodeType="withEffect">
                                  <p:stCondLst>
                                    <p:cond delay="400"/>
                                  </p:stCondLst>
                                  <p:childTnLst>
                                    <p:animEffect transition="out" filter="fade">
                                      <p:cBhvr>
                                        <p:cTn id="159" dur="250"/>
                                        <p:tgtEl>
                                          <p:spTgt spid="12014"/>
                                        </p:tgtEl>
                                      </p:cBhvr>
                                    </p:animEffect>
                                    <p:set>
                                      <p:cBhvr>
                                        <p:cTn id="160" dur="1" fill="hold">
                                          <p:stCondLst>
                                            <p:cond delay="249"/>
                                          </p:stCondLst>
                                        </p:cTn>
                                        <p:tgtEl>
                                          <p:spTgt spid="12014"/>
                                        </p:tgtEl>
                                        <p:attrNameLst>
                                          <p:attrName>style.visibility</p:attrName>
                                        </p:attrNameLst>
                                      </p:cBhvr>
                                      <p:to>
                                        <p:strVal val="hidden"/>
                                      </p:to>
                                    </p:set>
                                  </p:childTnLst>
                                </p:cTn>
                              </p:par>
                              <p:par>
                                <p:cTn id="161" presetID="10" presetClass="exit" presetSubtype="0" fill="hold" nodeType="withEffect">
                                  <p:stCondLst>
                                    <p:cond delay="400"/>
                                  </p:stCondLst>
                                  <p:childTnLst>
                                    <p:animEffect transition="out" filter="fade">
                                      <p:cBhvr>
                                        <p:cTn id="162" dur="250"/>
                                        <p:tgtEl>
                                          <p:spTgt spid="12015"/>
                                        </p:tgtEl>
                                      </p:cBhvr>
                                    </p:animEffect>
                                    <p:set>
                                      <p:cBhvr>
                                        <p:cTn id="163" dur="1" fill="hold">
                                          <p:stCondLst>
                                            <p:cond delay="249"/>
                                          </p:stCondLst>
                                        </p:cTn>
                                        <p:tgtEl>
                                          <p:spTgt spid="12015"/>
                                        </p:tgtEl>
                                        <p:attrNameLst>
                                          <p:attrName>style.visibility</p:attrName>
                                        </p:attrNameLst>
                                      </p:cBhvr>
                                      <p:to>
                                        <p:strVal val="hidden"/>
                                      </p:to>
                                    </p:set>
                                  </p:childTnLst>
                                </p:cTn>
                              </p:par>
                              <p:par>
                                <p:cTn id="164" presetID="10" presetClass="exit" presetSubtype="0" fill="hold" nodeType="withEffect">
                                  <p:stCondLst>
                                    <p:cond delay="400"/>
                                  </p:stCondLst>
                                  <p:childTnLst>
                                    <p:animEffect transition="out" filter="fade">
                                      <p:cBhvr>
                                        <p:cTn id="165" dur="250"/>
                                        <p:tgtEl>
                                          <p:spTgt spid="12016"/>
                                        </p:tgtEl>
                                      </p:cBhvr>
                                    </p:animEffect>
                                    <p:set>
                                      <p:cBhvr>
                                        <p:cTn id="166" dur="1" fill="hold">
                                          <p:stCondLst>
                                            <p:cond delay="249"/>
                                          </p:stCondLst>
                                        </p:cTn>
                                        <p:tgtEl>
                                          <p:spTgt spid="12016"/>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250"/>
                                        <p:tgtEl>
                                          <p:spTgt spid="12017"/>
                                        </p:tgtEl>
                                      </p:cBhvr>
                                    </p:animEffect>
                                    <p:set>
                                      <p:cBhvr>
                                        <p:cTn id="169" dur="1" fill="hold">
                                          <p:stCondLst>
                                            <p:cond delay="249"/>
                                          </p:stCondLst>
                                        </p:cTn>
                                        <p:tgtEl>
                                          <p:spTgt spid="12017"/>
                                        </p:tgtEl>
                                        <p:attrNameLst>
                                          <p:attrName>style.visibility</p:attrName>
                                        </p:attrNameLst>
                                      </p:cBhvr>
                                      <p:to>
                                        <p:strVal val="hidden"/>
                                      </p:to>
                                    </p:set>
                                  </p:childTnLst>
                                </p:cTn>
                              </p:par>
                              <p:par>
                                <p:cTn id="170" presetID="10" presetClass="entr" presetSubtype="0" fill="hold" nodeType="withEffect">
                                  <p:stCondLst>
                                    <p:cond delay="400"/>
                                  </p:stCondLst>
                                  <p:childTnLst>
                                    <p:animEffect transition="in" filter="fade">
                                      <p:cBhvr>
                                        <p:cTn id="171" dur="300"/>
                                        <p:tgtEl>
                                          <p:spTgt spid="12018"/>
                                        </p:tgtEl>
                                      </p:cBhvr>
                                    </p:animEffect>
                                    <p:set>
                                      <p:cBhvr>
                                        <p:cTn id="172" dur="1" fill="hold">
                                          <p:stCondLst>
                                            <p:cond delay="0"/>
                                          </p:stCondLst>
                                        </p:cTn>
                                        <p:tgtEl>
                                          <p:spTgt spid="12018"/>
                                        </p:tgtEl>
                                        <p:attrNameLst>
                                          <p:attrName>style.visibility</p:attrName>
                                        </p:attrNameLst>
                                      </p:cBhvr>
                                      <p:to>
                                        <p:strVal val="visible"/>
                                      </p:to>
                                    </p:set>
                                  </p:childTnLst>
                                </p:cTn>
                              </p:par>
                              <p:par>
                                <p:cTn id="173" presetID="10" presetClass="entr" presetSubtype="0" fill="hold" nodeType="withEffect">
                                  <p:stCondLst>
                                    <p:cond delay="400"/>
                                  </p:stCondLst>
                                  <p:childTnLst>
                                    <p:animEffect transition="in" filter="fade">
                                      <p:cBhvr>
                                        <p:cTn id="174" dur="300"/>
                                        <p:tgtEl>
                                          <p:spTgt spid="12019"/>
                                        </p:tgtEl>
                                      </p:cBhvr>
                                    </p:animEffect>
                                    <p:set>
                                      <p:cBhvr>
                                        <p:cTn id="175" dur="1" fill="hold">
                                          <p:stCondLst>
                                            <p:cond delay="0"/>
                                          </p:stCondLst>
                                        </p:cTn>
                                        <p:tgtEl>
                                          <p:spTgt spid="12019"/>
                                        </p:tgtEl>
                                        <p:attrNameLst>
                                          <p:attrName>style.visibility</p:attrName>
                                        </p:attrNameLst>
                                      </p:cBhvr>
                                      <p:to>
                                        <p:strVal val="visible"/>
                                      </p:to>
                                    </p:set>
                                  </p:childTnLst>
                                </p:cTn>
                              </p:par>
                              <p:par>
                                <p:cTn id="176" presetID="10" presetClass="entr" presetSubtype="0" fill="hold" nodeType="withEffect">
                                  <p:stCondLst>
                                    <p:cond delay="400"/>
                                  </p:stCondLst>
                                  <p:childTnLst>
                                    <p:animEffect transition="in" filter="fade">
                                      <p:cBhvr>
                                        <p:cTn id="177" dur="300"/>
                                        <p:tgtEl>
                                          <p:spTgt spid="12020"/>
                                        </p:tgtEl>
                                      </p:cBhvr>
                                    </p:animEffect>
                                    <p:set>
                                      <p:cBhvr>
                                        <p:cTn id="178" dur="1" fill="hold">
                                          <p:stCondLst>
                                            <p:cond delay="0"/>
                                          </p:stCondLst>
                                        </p:cTn>
                                        <p:tgtEl>
                                          <p:spTgt spid="12020"/>
                                        </p:tgtEl>
                                        <p:attrNameLst>
                                          <p:attrName>style.visibility</p:attrName>
                                        </p:attrNameLst>
                                      </p:cBhvr>
                                      <p:to>
                                        <p:strVal val="visible"/>
                                      </p:to>
                                    </p:set>
                                  </p:childTnLst>
                                </p:cTn>
                              </p:par>
                              <p:par>
                                <p:cTn id="179" presetID="10" presetClass="entr" presetSubtype="0" fill="hold" nodeType="withEffect">
                                  <p:stCondLst>
                                    <p:cond delay="400"/>
                                  </p:stCondLst>
                                  <p:childTnLst>
                                    <p:animEffect transition="in" filter="fade">
                                      <p:cBhvr>
                                        <p:cTn id="180" dur="300"/>
                                        <p:tgtEl>
                                          <p:spTgt spid="12021"/>
                                        </p:tgtEl>
                                      </p:cBhvr>
                                    </p:animEffect>
                                    <p:set>
                                      <p:cBhvr>
                                        <p:cTn id="181" dur="1" fill="hold">
                                          <p:stCondLst>
                                            <p:cond delay="0"/>
                                          </p:stCondLst>
                                        </p:cTn>
                                        <p:tgtEl>
                                          <p:spTgt spid="12021"/>
                                        </p:tgtEl>
                                        <p:attrNameLst>
                                          <p:attrName>style.visibility</p:attrName>
                                        </p:attrNameLst>
                                      </p:cBhvr>
                                      <p:to>
                                        <p:strVal val="visible"/>
                                      </p:to>
                                    </p:set>
                                  </p:childTnLst>
                                </p:cTn>
                              </p:par>
                              <p:par>
                                <p:cTn id="182" presetID="10" presetClass="entr" presetSubtype="0" fill="hold" nodeType="withEffect">
                                  <p:stCondLst>
                                    <p:cond delay="400"/>
                                  </p:stCondLst>
                                  <p:childTnLst>
                                    <p:animEffect transition="in" filter="fade">
                                      <p:cBhvr>
                                        <p:cTn id="183" dur="300"/>
                                        <p:tgtEl>
                                          <p:spTgt spid="12022"/>
                                        </p:tgtEl>
                                      </p:cBhvr>
                                    </p:animEffect>
                                    <p:set>
                                      <p:cBhvr>
                                        <p:cTn id="184" dur="1" fill="hold">
                                          <p:stCondLst>
                                            <p:cond delay="0"/>
                                          </p:stCondLst>
                                        </p:cTn>
                                        <p:tgtEl>
                                          <p:spTgt spid="12022"/>
                                        </p:tgtEl>
                                        <p:attrNameLst>
                                          <p:attrName>style.visibility</p:attrName>
                                        </p:attrNameLst>
                                      </p:cBhvr>
                                      <p:to>
                                        <p:strVal val="visible"/>
                                      </p:to>
                                    </p:set>
                                  </p:childTnLst>
                                </p:cTn>
                              </p:par>
                              <p:par>
                                <p:cTn id="185" presetID="10" presetClass="entr" presetSubtype="0" fill="hold" nodeType="withEffect">
                                  <p:stCondLst>
                                    <p:cond delay="400"/>
                                  </p:stCondLst>
                                  <p:childTnLst>
                                    <p:animEffect transition="in" filter="fade">
                                      <p:cBhvr>
                                        <p:cTn id="186" dur="300"/>
                                        <p:tgtEl>
                                          <p:spTgt spid="12023"/>
                                        </p:tgtEl>
                                      </p:cBhvr>
                                    </p:animEffect>
                                    <p:set>
                                      <p:cBhvr>
                                        <p:cTn id="187" dur="1" fill="hold">
                                          <p:stCondLst>
                                            <p:cond delay="0"/>
                                          </p:stCondLst>
                                        </p:cTn>
                                        <p:tgtEl>
                                          <p:spTgt spid="12023"/>
                                        </p:tgtEl>
                                        <p:attrNameLst>
                                          <p:attrName>style.visibility</p:attrName>
                                        </p:attrNameLst>
                                      </p:cBhvr>
                                      <p:to>
                                        <p:strVal val="visible"/>
                                      </p:to>
                                    </p:set>
                                  </p:childTnLst>
                                </p:cTn>
                              </p:par>
                              <p:par>
                                <p:cTn id="188" presetID="10" presetClass="entr" presetSubtype="0" fill="hold" nodeType="withEffect">
                                  <p:stCondLst>
                                    <p:cond delay="400"/>
                                  </p:stCondLst>
                                  <p:childTnLst>
                                    <p:animEffect transition="in" filter="fade">
                                      <p:cBhvr>
                                        <p:cTn id="189" dur="300"/>
                                        <p:tgtEl>
                                          <p:spTgt spid="12024"/>
                                        </p:tgtEl>
                                      </p:cBhvr>
                                    </p:animEffect>
                                    <p:set>
                                      <p:cBhvr>
                                        <p:cTn id="190" dur="1" fill="hold">
                                          <p:stCondLst>
                                            <p:cond delay="0"/>
                                          </p:stCondLst>
                                        </p:cTn>
                                        <p:tgtEl>
                                          <p:spTgt spid="12024"/>
                                        </p:tgtEl>
                                        <p:attrNameLst>
                                          <p:attrName>style.visibility</p:attrName>
                                        </p:attrNameLst>
                                      </p:cBhvr>
                                      <p:to>
                                        <p:strVal val="visible"/>
                                      </p:to>
                                    </p:set>
                                  </p:childTnLst>
                                </p:cTn>
                              </p:par>
                              <p:par>
                                <p:cTn id="191" presetID="10" presetClass="exit" presetSubtype="0" fill="hold" nodeType="withEffect">
                                  <p:stCondLst>
                                    <p:cond delay="0"/>
                                  </p:stCondLst>
                                  <p:childTnLst>
                                    <p:animEffect transition="out" filter="fade">
                                      <p:cBhvr>
                                        <p:cTn id="192" dur="300"/>
                                        <p:tgtEl>
                                          <p:spTgt spid="12028"/>
                                        </p:tgtEl>
                                      </p:cBhvr>
                                    </p:animEffect>
                                    <p:set>
                                      <p:cBhvr>
                                        <p:cTn id="193" dur="1" fill="hold">
                                          <p:stCondLst>
                                            <p:cond delay="299"/>
                                          </p:stCondLst>
                                        </p:cTn>
                                        <p:tgtEl>
                                          <p:spTgt spid="12028"/>
                                        </p:tgtEl>
                                        <p:attrNameLst>
                                          <p:attrName>style.visibility</p:attrName>
                                        </p:attrNameLst>
                                      </p:cBhvr>
                                      <p:to>
                                        <p:strVal val="hidden"/>
                                      </p:to>
                                    </p:set>
                                  </p:childTnLst>
                                </p:cTn>
                              </p:par>
                              <p:par>
                                <p:cTn id="194" presetID="10" presetClass="entr" presetSubtype="0" fill="hold" nodeType="withEffect">
                                  <p:stCondLst>
                                    <p:cond delay="0"/>
                                  </p:stCondLst>
                                  <p:childTnLst>
                                    <p:animEffect transition="in" filter="fade">
                                      <p:cBhvr>
                                        <p:cTn id="195" dur="300"/>
                                        <p:tgtEl>
                                          <p:spTgt spid="12029"/>
                                        </p:tgtEl>
                                      </p:cBhvr>
                                    </p:animEffect>
                                    <p:set>
                                      <p:cBhvr>
                                        <p:cTn id="196" dur="1" fill="hold">
                                          <p:stCondLst>
                                            <p:cond delay="0"/>
                                          </p:stCondLst>
                                        </p:cTn>
                                        <p:tgtEl>
                                          <p:spTgt spid="12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8" grpId="0"/>
      <p:bldP spid="11009" grpId="0"/>
      <p:bldP spid="110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