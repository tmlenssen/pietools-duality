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1554"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Relationships xmlns="http://schemas.openxmlformats.org/package/2006/relationships"><Relationship Id="rId13" Type="http://schemas.openxmlformats.org/officeDocument/2006/relationships/image" Target="../media/slide41original_restore41_image124.png"/><Relationship Id="rId18" Type="http://schemas.openxmlformats.org/officeDocument/2006/relationships/image" Target="../media/slide41original_restore41_image131.png"/><Relationship Id="rId26" Type="http://schemas.openxmlformats.org/officeDocument/2006/relationships/image" Target="../media/slide41original_image119.png"/><Relationship Id="rId21" Type="http://schemas.openxmlformats.org/officeDocument/2006/relationships/image" Target="../media/slide41original_restore41_image134.png"/><Relationship Id="rId7" Type="http://schemas.openxmlformats.org/officeDocument/2006/relationships/image" Target="../media/slide41original_restore41_image118.png"/><Relationship Id="rId12" Type="http://schemas.openxmlformats.org/officeDocument/2006/relationships/image" Target="../media/slide41original_restore41_image123.png"/><Relationship Id="rId17" Type="http://schemas.openxmlformats.org/officeDocument/2006/relationships/image" Target="../media/slide41original_restore41_image129.png"/><Relationship Id="rId25" Type="http://schemas.openxmlformats.org/officeDocument/2006/relationships/image" Target="../media/slide41original_image118.png"/><Relationship Id="rId2" Type="http://schemas.openxmlformats.org/officeDocument/2006/relationships/image" Target="../media/slide41original_restore41_image115.png"/><Relationship Id="rId16" Type="http://schemas.openxmlformats.org/officeDocument/2006/relationships/image" Target="../media/slide41original_restore41_image128.png"/><Relationship Id="rId20" Type="http://schemas.openxmlformats.org/officeDocument/2006/relationships/image" Target="../media/slide41original_restore41_image133.png"/><Relationship Id="rId29" Type="http://schemas.openxmlformats.org/officeDocument/2006/relationships/image" Target="../media/slide41original_image122.png"/><Relationship Id="rId1" Type="http://schemas.openxmlformats.org/officeDocument/2006/relationships/slideLayout" Target="../slideLayouts/slideLayout12.xml"/><Relationship Id="rId6" Type="http://schemas.openxmlformats.org/officeDocument/2006/relationships/image" Target="../media/slide41original_restore41_image117.png"/><Relationship Id="rId11" Type="http://schemas.openxmlformats.org/officeDocument/2006/relationships/image" Target="../media/slide41original_restore41_image122.png"/><Relationship Id="rId24" Type="http://schemas.openxmlformats.org/officeDocument/2006/relationships/image" Target="../media/slide41original_image117.png"/><Relationship Id="rId5" Type="http://schemas.openxmlformats.org/officeDocument/2006/relationships/image" Target="../media/slide41original_restore41_image116.png"/><Relationship Id="rId23" Type="http://schemas.openxmlformats.org/officeDocument/2006/relationships/image" Target="../media/slide41original_image116.png"/><Relationship Id="rId28" Type="http://schemas.openxmlformats.org/officeDocument/2006/relationships/image" Target="../media/slide41original_image121.png"/><Relationship Id="rId10" Type="http://schemas.openxmlformats.org/officeDocument/2006/relationships/image" Target="../media/slide41original_restore41_image121.png"/><Relationship Id="rId19" Type="http://schemas.openxmlformats.org/officeDocument/2006/relationships/image" Target="../media/slide41original_restore41_image132.png"/><Relationship Id="rId4" Type="http://schemas.openxmlformats.org/officeDocument/2006/relationships/image" Target="../media/slide41original_restore41_image960.png"/><Relationship Id="rId22" Type="http://schemas.openxmlformats.org/officeDocument/2006/relationships/image" Target="../media/slide41original_image115.png"/><Relationship Id="rId27" Type="http://schemas.openxmlformats.org/officeDocument/2006/relationships/image" Target="../media/slide41original_image120.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2.png"/></Relationships>
</file>

<file path=ppt/slides/_rels/slide5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889000"/>
            <a:ext cx="3452988" cy="676656"/>
            <a:chOff x="1904320" y="3683000"/>
            <a:chExt cx="3452988" cy="676656"/>
          </a:xfrm>
        </p:grpSpPr>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6"/>
                  <a:stretch>
                    <a:fillRect b="-9524"/>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42157"/>
                <a:ext cx="134396"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42157"/>
                <a:ext cx="134396" cy="207749"/>
              </a:xfrm>
              <a:prstGeom prst="rect">
                <a:avLst/>
              </a:prstGeom>
              <a:blipFill>
                <a:blip r:embed="rId10"/>
                <a:stretch>
                  <a:fillRect l="-31818" t="-11765" r="-7272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132772"/>
                <a:ext cx="139077" cy="207749"/>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oMath>
                  </m:oMathPara>
                </a14:m>
                <a:endParaRPr lang="en-NL"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132772"/>
                <a:ext cx="139077" cy="207749"/>
              </a:xfrm>
              <a:prstGeom prst="rect">
                <a:avLst/>
              </a:prstGeom>
              <a:blipFill>
                <a:blip r:embed="rId11"/>
                <a:stretch>
                  <a:fillRect l="-17391" t="-11765" r="-695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1" smtClean="0">
                        <a:solidFill>
                          <a:srgbClr val="C81919"/>
                        </a:solidFill>
                        <a:latin typeface="Cambria Math" panose="02040503050406030204" pitchFamily="18" charset="0"/>
                        <a:ea typeface="Cambria Math" panose="02040503050406030204" pitchFamily="18" charset="0"/>
                      </a:rPr>
                      <m:t>𝜣</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2"/>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grpSp>
        <p:nvGrpSpPr>
          <p:cNvPr id="22" name="Editable paper diagram">
            <a:extLst>
              <a:ext uri="{FF2B5EF4-FFF2-40B4-BE49-F238E27FC236}">
                <a16:creationId xmlns:a16="http://schemas.microsoft.com/office/drawing/2014/main" id="{71B52B0D-A2A7-ACB1-A277-1292563A878D}"/>
              </a:ext>
            </a:extLst>
          </p:cNvPr>
          <p:cNvGrpSpPr/>
          <p:nvPr/>
        </p:nvGrpSpPr>
        <p:grpSpPr>
          <a:xfrm>
            <a:off x="4572000" y="889000"/>
            <a:ext cx="3452988" cy="676656"/>
            <a:chOff x="1904320" y="3683000"/>
            <a:chExt cx="3452988" cy="676656"/>
          </a:xfrm>
        </p:grpSpPr>
        <p:sp>
          <p:nvSpPr>
            <p:cNvPr id="23" name="Controller">
              <a:extLst>
                <a:ext uri="{FF2B5EF4-FFF2-40B4-BE49-F238E27FC236}">
                  <a16:creationId xmlns:a16="http://schemas.microsoft.com/office/drawing/2014/main" id="{1D411108-A9EF-EA44-DABF-FA5387A75CD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6"/>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18"/>
                  <a:stretch>
                    <a:fillRect b="-3175"/>
                  </a:stretch>
                </a:blipFill>
                <a:ln>
                  <a:noFill/>
                </a:ln>
              </p:spPr>
              <p:txBody>
                <a:bodyPr/>
                <a:lstStyle/>
                <a:p>
                  <a:r>
                    <a:rPr lang="en-NL">
                      <a:noFill/>
                    </a:rPr>
                    <a:t> </a:t>
                  </a:r>
                </a:p>
              </p:txBody>
            </p:sp>
          </mc:Fallback>
        </mc:AlternateContent>
      </p:grpSp>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742157"/>
                <a:ext cx="134396" cy="25295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742157"/>
                <a:ext cx="134396" cy="252954"/>
              </a:xfrm>
              <a:prstGeom prst="rect">
                <a:avLst/>
              </a:prstGeom>
              <a:blipFill>
                <a:blip r:embed="rId20"/>
                <a:stretch>
                  <a:fillRect l="-31818" t="-7317" r="-72727" b="-487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78928" y="2132772"/>
                <a:ext cx="139077" cy="217432"/>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oMath>
                  </m:oMathPara>
                </a14:m>
                <a:endParaRPr lang="en-NL"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78928" y="2132772"/>
                <a:ext cx="139077" cy="217432"/>
              </a:xfrm>
              <a:prstGeom prst="rect">
                <a:avLst/>
              </a:prstGeom>
              <a:blipFill>
                <a:blip r:embed="rId21"/>
                <a:stretch>
                  <a:fillRect l="-17391" t="-8333" r="-695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4" name="Primal final inequality"/>
              <p:cNvSpPr/>
              <p:nvPr/>
            </p:nvSpPr>
            <p:spPr>
              <a:xfrm>
                <a:off x="444500" y="41376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0≤</m:t>
                      </m:r>
                      <m:sSup>
                        <m:sSupPr>
                          <m:ctrlPr>
                            <a:rPr sz="1800" i="1">
                              <a:solidFill>
                                <a:srgbClr val="252529"/>
                              </a:solidFill>
                              <a:latin typeface="Cambria Math" panose="02040503050406030204" pitchFamily="18" charset="0"/>
                            </a:rPr>
                          </m:ctrlPr>
                        </m:sSupPr>
                        <m:e>
                          <m:d>
                            <m:dPr>
                              <m:begChr m:val="‖"/>
                              <m:endChr m:val="‖"/>
                              <m:ctrlPr>
                                <a:rPr sz="1800">
                                  <a:solidFill>
                                    <a:srgbClr val="252529"/>
                                  </a:solidFill>
                                  <a:latin typeface="Cambria Math"/>
                                </a:rPr>
                              </m:ctrlPr>
                            </m:dPr>
                            <m:e>
                              <m:r>
                                <a:rPr sz="1800">
                                  <a:solidFill>
                                    <a:srgbClr val="252529"/>
                                  </a:solidFill>
                                  <a:latin typeface="Cambria Math"/>
                                </a:rPr>
                                <m:t>𝑦</m:t>
                              </m:r>
                              <m:d>
                                <m:dPr>
                                  <m:ctrlPr>
                                    <a:rPr sz="1800">
                                      <a:solidFill>
                                        <a:srgbClr val="252529"/>
                                      </a:solidFill>
                                      <a:latin typeface="Cambria Math"/>
                                    </a:rPr>
                                  </m:ctrlPr>
                                </m:dPr>
                                <m:e>
                                  <m:r>
                                    <a:rPr sz="1800">
                                      <a:solidFill>
                                        <a:srgbClr val="252529"/>
                                      </a:solidFill>
                                      <a:latin typeface="Cambria Math"/>
                                    </a:rPr>
                                    <m:t>𝑡</m:t>
                                  </m:r>
                                </m:e>
                              </m:d>
                            </m:e>
                          </m:d>
                        </m:e>
                        <m:sup>
                          <m:r>
                            <a:rPr sz="1800">
                              <a:solidFill>
                                <a:srgbClr val="252529"/>
                              </a:solidFill>
                              <a:latin typeface="Cambria Math"/>
                            </a:rPr>
                            <m:t>2</m:t>
                          </m:r>
                        </m:sup>
                      </m:sSup>
                    </m:oMath>
                  </m:oMathPara>
                </a14:m>
                <a:endParaRPr sz="1800"/>
              </a:p>
            </p:txBody>
          </p:sp>
        </mc:Choice>
        <mc:Fallback>
          <p:sp>
            <p:nvSpPr>
              <p:cNvPr id="10004" name="Primal final inequality"/>
              <p:cNvSpPr>
                <a:spLocks noRot="1" noChangeAspect="1" noMove="1" noResize="1" noEditPoints="1" noAdjustHandles="1" noChangeArrowheads="1" noChangeShapeType="1" noTextEdit="1"/>
              </p:cNvSpPr>
              <p:nvPr/>
            </p:nvSpPr>
            <p:spPr>
              <a:xfrm>
                <a:off x="444500" y="4137660"/>
                <a:ext cx="3937000" cy="640080"/>
              </a:xfrm>
              <a:prstGeom prst="rect">
                <a:avLst/>
              </a:prstGeom>
              <a:blipFill>
                <a:blip r:embed="rId25"/>
                <a:stretch>
                  <a:fillRect/>
                </a:stretch>
              </a:blipFill>
              <a:ln>
                <a:noFill/>
              </a:ln>
            </p:spPr>
            <p:txBody>
              <a:bodyPr/>
              <a:lstStyle/>
              <a:p>
                <a:r>
                  <a:rPr lang="en-NL">
                    <a:noFill/>
                  </a:rPr>
                  <a:t> </a:t>
                </a:r>
              </a:p>
            </p:txBody>
          </p:sp>
        </mc:Fallback>
      </mc:AlternateContent>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a:solidFill>
                  <a:srgbClr val="C81919"/>
                </a:solidFill>
                <a:latin typeface="Aptos"/>
                <a:ea typeface="Aptos"/>
                <a:cs typeface="Aptos"/>
              </a:rPr>
              <a:t>Pick Θ</a:t>
            </a:r>
            <a:endParaRPr sz="1300"/>
          </a:p>
        </p:txBody>
      </p:sp>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pPr algn="l">
              <a:buNone/>
            </a:pPr>
            <a:r>
              <a:rPr lang="en-GB" sz="1300" b="1" i="0" u="none" baseline="0">
                <a:solidFill>
                  <a:srgbClr val="C81919"/>
                </a:solidFill>
                <a:latin typeface="Aptos"/>
                <a:ea typeface="Aptos"/>
                <a:cs typeface="Aptos"/>
              </a:rPr>
              <a:t>Energy loss through Θ</a:t>
            </a:r>
            <a:endParaRPr sz="1300"/>
          </a:p>
        </p:txBody>
      </p:sp>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10" name="Dual final inequality"/>
              <p:cNvSpPr/>
              <p:nvPr/>
            </p:nvSpPr>
            <p:spPr>
              <a:xfrm>
                <a:off x="4762500" y="413766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0≤</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bar>
                                <m:barPr>
                                  <m:pos m:val="bot"/>
                                  <m:ctrlPr>
                                    <a:rPr sz="1800">
                                      <a:solidFill>
                                        <a:srgbClr val="252529"/>
                                      </a:solidFill>
                                      <a:latin typeface="Cambria Math"/>
                                    </a:rPr>
                                  </m:ctrlPr>
                                </m:barPr>
                                <m:e>
                                  <m:r>
                                    <a:rPr sz="1800">
                                      <a:solidFill>
                                        <a:srgbClr val="252529"/>
                                      </a:solidFill>
                                      <a:latin typeface="Cambria Math"/>
                                    </a:rPr>
                                    <m:t>𝑦</m:t>
                                  </m:r>
                                </m:e>
                              </m:bar>
                              <m:d>
                                <m:dPr>
                                  <m:ctrlPr>
                                    <a:rPr sz="1800">
                                      <a:solidFill>
                                        <a:srgbClr val="252529"/>
                                      </a:solidFill>
                                      <a:latin typeface="Cambria Math"/>
                                    </a:rPr>
                                  </m:ctrlPr>
                                </m:dPr>
                                <m:e>
                                  <m:r>
                                    <a:rPr sz="1800">
                                      <a:solidFill>
                                        <a:srgbClr val="252529"/>
                                      </a:solidFill>
                                      <a:latin typeface="Cambria Math"/>
                                    </a:rPr>
                                    <m:t>𝑡</m:t>
                                  </m:r>
                                </m:e>
                              </m:d>
                            </m:e>
                          </m:d>
                        </m:e>
                        <m:sup>
                          <m:r>
                            <a:rPr sz="1800">
                              <a:solidFill>
                                <a:srgbClr val="252529"/>
                              </a:solidFill>
                              <a:latin typeface="Cambria Math"/>
                            </a:rPr>
                            <m:t>2</m:t>
                          </m:r>
                        </m:sup>
                      </m:sSup>
                    </m:oMath>
                  </m:oMathPara>
                </a14:m>
                <a:endParaRPr sz="1800"/>
              </a:p>
            </p:txBody>
          </p:sp>
        </mc:Choice>
        <mc:Fallback>
          <p:sp>
            <p:nvSpPr>
              <p:cNvPr id="10010" name="Dual final inequality"/>
              <p:cNvSpPr>
                <a:spLocks noRot="1" noChangeAspect="1" noMove="1" noResize="1" noEditPoints="1" noAdjustHandles="1" noChangeArrowheads="1" noChangeShapeType="1" noTextEdit="1"/>
              </p:cNvSpPr>
              <p:nvPr/>
            </p:nvSpPr>
            <p:spPr>
              <a:xfrm>
                <a:off x="4762500" y="4137660"/>
                <a:ext cx="3937000" cy="640080"/>
              </a:xfrm>
              <a:prstGeom prst="rect">
                <a:avLst/>
              </a:prstGeom>
              <a:blipFill>
                <a:blip r:embed="rId29"/>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5670</TotalTime>
  <Words>8211</Words>
  <Application>Microsoft Office PowerPoint</Application>
  <PresentationFormat>On-screen Show (16:9)</PresentationFormat>
  <Paragraphs>1097</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49</cp:revision>
  <dcterms:created xsi:type="dcterms:W3CDTF">2019-11-27T15:26:32Z</dcterms:created>
  <dcterms:modified xsi:type="dcterms:W3CDTF">2026-09-27T20:03:50Z</dcterms:modified>
</cp:coreProperties>
</file>