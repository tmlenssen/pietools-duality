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5"/>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5" r:id="rId22"/>
    <p:sldId id="406" r:id="rId23"/>
    <p:sldId id="407" r:id="rId24"/>
    <p:sldId id="408" r:id="rId25"/>
    <p:sldId id="409" r:id="rId26"/>
    <p:sldId id="459" r:id="rId27"/>
    <p:sldId id="426" r:id="rId28"/>
    <p:sldId id="453" r:id="rId29"/>
    <p:sldId id="441" r:id="rId30"/>
    <p:sldId id="442" r:id="rId31"/>
    <p:sldId id="443" r:id="rId32"/>
    <p:sldId id="435" r:id="rId33"/>
    <p:sldId id="436" r:id="rId34"/>
    <p:sldId id="437" r:id="rId35"/>
    <p:sldId id="438" r:id="rId36"/>
    <p:sldId id="446" r:id="rId37"/>
    <p:sldId id="447" r:id="rId38"/>
    <p:sldId id="450" r:id="rId39"/>
    <p:sldId id="451" r:id="rId40"/>
    <p:sldId id="452" r:id="rId41"/>
    <p:sldId id="448" r:id="rId42"/>
    <p:sldId id="449" r:id="rId43"/>
    <p:sldId id="439" r:id="rId44"/>
    <p:sldId id="458" r:id="rId45"/>
    <p:sldId id="421" r:id="rId46"/>
    <p:sldId id="427" r:id="rId47"/>
    <p:sldId id="431" r:id="rId48"/>
    <p:sldId id="428" r:id="rId49"/>
    <p:sldId id="429" r:id="rId50"/>
    <p:sldId id="432" r:id="rId51"/>
    <p:sldId id="430" r:id="rId52"/>
    <p:sldId id="433" r:id="rId53"/>
    <p:sldId id="434" r:id="rId54"/>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C81919"/>
    <a:srgbClr val="530505"/>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58" autoAdjust="0"/>
    <p:restoredTop sz="85122" autoAdjust="0"/>
  </p:normalViewPr>
  <p:slideViewPr>
    <p:cSldViewPr snapToGrid="0" showGuides="1">
      <p:cViewPr varScale="1">
        <p:scale>
          <a:sx n="108" d="100"/>
          <a:sy n="108" d="100"/>
        </p:scale>
        <p:origin x="588" y="64"/>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20</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Manner prose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21</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22</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23</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Five steps PDE to PIE,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25</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27</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33</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34</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35</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48</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49</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50</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52</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53</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RevisedLFR120" Type="http://schemas.openxmlformats.org/officeDocument/2006/relationships/image" Target="../media/revised_lfr19_lfr19_image76.png"/><Relationship Id="rIdRevisedLFR125" Type="http://schemas.openxmlformats.org/officeDocument/2006/relationships/image" Target="../media/revised_lfr19_image97.png"/><Relationship Id="rId3" Type="http://schemas.openxmlformats.org/officeDocument/2006/relationships/image" Target="../media/image1.png"/><Relationship Id="rIdRevisedLFR108" Type="http://schemas.openxmlformats.org/officeDocument/2006/relationships/image" Target="../media/revised_lfr19_lfr19_image55.png"/><Relationship Id="rIdRevisedLFR124" Type="http://schemas.openxmlformats.org/officeDocument/2006/relationships/image" Target="../media/revised_lfr19_lfr19_image78.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RevisedLFR107" Type="http://schemas.openxmlformats.org/officeDocument/2006/relationships/image" Target="../media/revised_lfr19_lfr19_image81.png"/><Relationship Id="rId7" Type="http://schemas.openxmlformats.org/officeDocument/2006/relationships/image" Target="../media/image7.jp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RevisedLFR101" Type="http://schemas.openxmlformats.org/officeDocument/2006/relationships/image" Target="../media/revised_lfr19_lfr19_image35.png"/><Relationship Id="rIdRevisedLFR127" Type="http://schemas.openxmlformats.org/officeDocument/2006/relationships/image" Target="../media/revised_lfr19_lfr19_image74.png"/><Relationship Id="rIdRevisedLFR106" Type="http://schemas.openxmlformats.org/officeDocument/2006/relationships/image" Target="../media/revised_lfr19_lfr19_image75.png"/><Relationship Id="rIdRevisedLFR114" Type="http://schemas.openxmlformats.org/officeDocument/2006/relationships/image" Target="../media/revised_lfr19_lfr19_image80.png"/><Relationship Id="rIdRevisedLFR119" Type="http://schemas.openxmlformats.org/officeDocument/2006/relationships/image" Target="../media/revised_lfr19_image74.png"/><Relationship Id="rId6" Type="http://schemas.openxmlformats.org/officeDocument/2006/relationships/image" Target="../media/image71.jpeg"/><Relationship Id="rIdRevisedLFR122" Type="http://schemas.openxmlformats.org/officeDocument/2006/relationships/image" Target="../media/revised_lfr19_lfr19_image71.png"/><Relationship Id="rId5" Type="http://schemas.openxmlformats.org/officeDocument/2006/relationships/image" Target="../media/image70.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RevisedLFR121" Type="http://schemas.openxmlformats.org/officeDocument/2006/relationships/image" Target="../media/revised_lfr19_image103.png"/><Relationship Id="rId4" Type="http://schemas.openxmlformats.org/officeDocument/2006/relationships/image" Target="../media/image54.png"/><Relationship Id="rIdRevisedLFR117" Type="http://schemas.openxmlformats.org/officeDocument/2006/relationships/image" Target="../media/revised_lfr19_lfr19_image70.png"/><Relationship Id="rIdRevisedLFR109" Type="http://schemas.openxmlformats.org/officeDocument/2006/relationships/image" Target="../media/revised_lfr19_lfr19_image79.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100.png"/><Relationship Id="rId2" Type="http://schemas.openxmlformats.org/officeDocument/2006/relationships/notesSlide" Target="../notesSlides/notesSlide15.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200.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8" Type="http://schemas.openxmlformats.org/officeDocument/2006/relationships/image" Target="../media/image78.png"/><Relationship Id="rId13" Type="http://schemas.openxmlformats.org/officeDocument/2006/relationships/image" Target="../media/image83.png"/><Relationship Id="rIdRevisedLFR129" Type="http://schemas.openxmlformats.org/officeDocument/2006/relationships/image" Target="../media/revised_lfr19_image96.png"/><Relationship Id="rId3" Type="http://schemas.openxmlformats.org/officeDocument/2006/relationships/image" Target="../media/image73.png"/><Relationship Id="rIdRevisedLFR108" Type="http://schemas.openxmlformats.org/officeDocument/2006/relationships/image" Target="../media/revised_lfr19_lfr19_image55.png"/><Relationship Id="rId7" Type="http://schemas.openxmlformats.org/officeDocument/2006/relationships/image" Target="../media/image77.png"/><Relationship Id="rId12" Type="http://schemas.openxmlformats.org/officeDocument/2006/relationships/image" Target="../media/image82.png"/><Relationship Id="rId2" Type="http://schemas.openxmlformats.org/officeDocument/2006/relationships/image" Target="../media/image72.png"/><Relationship Id="rIdRevisedLFR128" Type="http://schemas.openxmlformats.org/officeDocument/2006/relationships/image" Target="../media/revised_lfr19_image102.png"/><Relationship Id="rId16" Type="http://schemas.openxmlformats.org/officeDocument/2006/relationships/image" Target="../media/image7.jpg"/><Relationship Id="rId1" Type="http://schemas.openxmlformats.org/officeDocument/2006/relationships/slideLayout" Target="../slideLayouts/slideLayout6.xml"/><Relationship Id="rId6" Type="http://schemas.openxmlformats.org/officeDocument/2006/relationships/image" Target="../media/image76.png"/><Relationship Id="rId11" Type="http://schemas.openxmlformats.org/officeDocument/2006/relationships/image" Target="../media/image81.png"/><Relationship Id="rIdRevisedLFR101" Type="http://schemas.openxmlformats.org/officeDocument/2006/relationships/image" Target="../media/revised_lfr19_lfr19_image35.png"/><Relationship Id="rId5" Type="http://schemas.openxmlformats.org/officeDocument/2006/relationships/image" Target="../media/image75.png"/><Relationship Id="rId15" Type="http://schemas.openxmlformats.org/officeDocument/2006/relationships/image" Target="../media/image85.jpeg"/><Relationship Id="rId10" Type="http://schemas.openxmlformats.org/officeDocument/2006/relationships/image" Target="../media/image80.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4" Type="http://schemas.openxmlformats.org/officeDocument/2006/relationships/image" Target="../media/image74.png"/><Relationship Id="rId9" Type="http://schemas.openxmlformats.org/officeDocument/2006/relationships/image" Target="../media/image79.png"/><Relationship Id="rId14" Type="http://schemas.openxmlformats.org/officeDocument/2006/relationships/image" Target="../media/image84.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6.mp4"/><Relationship Id="rId16" Type="http://schemas.openxmlformats.org/officeDocument/2006/relationships/image" Target="../media/image701.png"/><Relationship Id="rId1" Type="http://schemas.microsoft.com/office/2007/relationships/media" Target="../media/media6.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86.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29.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7.mp4"/><Relationship Id="rIdEditable107" Type="http://schemas.openxmlformats.org/officeDocument/2006/relationships/image" Target="../media/editable_385_image159.png"/><Relationship Id="rId1" Type="http://schemas.microsoft.com/office/2007/relationships/media" Target="../media/media7.mp4"/><Relationship Id="rIdEditable102" Type="http://schemas.openxmlformats.org/officeDocument/2006/relationships/image" Target="../media/editable_380_image155.png"/><Relationship Id="rId6" Type="http://schemas.openxmlformats.org/officeDocument/2006/relationships/image" Target="../media/image721.png"/><Relationship Id="rId5" Type="http://schemas.openxmlformats.org/officeDocument/2006/relationships/image" Target="../media/image87.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21.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30.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8.mp4"/><Relationship Id="rId1" Type="http://schemas.microsoft.com/office/2007/relationships/media" Target="../media/media8.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88.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22.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31.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89.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23.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32.xml.rels><?xml version="1.0" encoding="UTF-8" standalone="yes"?>
<Relationships xmlns="http://schemas.openxmlformats.org/package/2006/relationships"><Relationship Id="rId3" Type="http://schemas.openxmlformats.org/officeDocument/2006/relationships/image" Target="../media/image90.png"/><Relationship Id="rId12" Type="http://schemas.openxmlformats.org/officeDocument/2006/relationships/image" Target="../media/image341.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91.png"/></Relationships>
</file>

<file path=ppt/slides/_rels/slide33.xml.rels><?xml version="1.0" encoding="UTF-8" standalone="yes"?>
<Relationships xmlns="http://schemas.openxmlformats.org/package/2006/relationships"><Relationship Id="rId3" Type="http://schemas.openxmlformats.org/officeDocument/2006/relationships/image" Target="../media/image90.png"/><Relationship Id="rId12" Type="http://schemas.openxmlformats.org/officeDocument/2006/relationships/image" Target="../media/image381.pn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92.png"/></Relationships>
</file>

<file path=ppt/slides/_rels/slide34.xml.rels><?xml version="1.0" encoding="UTF-8" standalone="yes"?>
<Relationships xmlns="http://schemas.openxmlformats.org/package/2006/relationships"><Relationship Id="rId3" Type="http://schemas.openxmlformats.org/officeDocument/2006/relationships/image" Target="../media/image90.png"/><Relationship Id="rId12" Type="http://schemas.openxmlformats.org/officeDocument/2006/relationships/image" Target="../media/image40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93.png"/></Relationships>
</file>

<file path=ppt/slides/_rels/slide35.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94.png"/></Relationships>
</file>

<file path=ppt/slides/_rels/slide36.xml.rels><?xml version="1.0" encoding="UTF-8" standalone="yes"?>
<Relationships xmlns="http://schemas.openxmlformats.org/package/2006/relationships"><Relationship Id="rId13" Type="http://schemas.openxmlformats.org/officeDocument/2006/relationships/image" Target="../media/image342.png"/><Relationship Id="rId12" Type="http://schemas.openxmlformats.org/officeDocument/2006/relationships/image" Target="../media/image331.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4" Type="http://schemas.openxmlformats.org/officeDocument/2006/relationships/image" Target="../media/image960.png"/><Relationship Id="rId14" Type="http://schemas.openxmlformats.org/officeDocument/2006/relationships/image" Target="../media/image352.png"/></Relationships>
</file>

<file path=ppt/slides/_rels/slide37.xml.rels><?xml version="1.0" encoding="UTF-8" standalone="yes"?>
<Relationships xmlns="http://schemas.openxmlformats.org/package/2006/relationships"><Relationship Id="rId8" Type="http://schemas.openxmlformats.org/officeDocument/2006/relationships/image" Target="../media/image460.png"/><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38.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39.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11" Type="http://schemas.openxmlformats.org/officeDocument/2006/relationships/image" Target="../media/image95.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0.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1.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2.xml.rels><?xml version="1.0" encoding="UTF-8" standalone="yes"?>
<Relationships xmlns="http://schemas.openxmlformats.org/package/2006/relationships"><Relationship Id="rId3" Type="http://schemas.openxmlformats.org/officeDocument/2006/relationships/image" Target="../media/image411.png"/><Relationship Id="rId7" Type="http://schemas.openxmlformats.org/officeDocument/2006/relationships/image" Target="../media/image450.png"/><Relationship Id="rId2" Type="http://schemas.openxmlformats.org/officeDocument/2006/relationships/image" Target="../media/image402.png"/><Relationship Id="rId1" Type="http://schemas.openxmlformats.org/officeDocument/2006/relationships/slideLayout" Target="../slideLayouts/slideLayout12.xml"/><Relationship Id="rId6" Type="http://schemas.openxmlformats.org/officeDocument/2006/relationships/image" Target="../media/image440.png"/><Relationship Id="rId5" Type="http://schemas.openxmlformats.org/officeDocument/2006/relationships/image" Target="../media/image430.png"/><Relationship Id="rId4" Type="http://schemas.openxmlformats.org/officeDocument/2006/relationships/image" Target="../media/image42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28.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96.png"/><Relationship Id="rIdClosing4" Type="http://schemas.openxmlformats.org/officeDocument/2006/relationships/image" Target="../media/image33.png"/><Relationship Id="rId4" Type="http://schemas.openxmlformats.org/officeDocument/2006/relationships/image" Target="../media/image7.jpg"/></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6.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29.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47.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48.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49.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0.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33.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98.png"/></Relationships>
</file>

<file path=ppt/slides/_rels/slide51.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97.png"/><Relationship Id="rId2" Type="http://schemas.openxmlformats.org/officeDocument/2006/relationships/notesSlide" Target="../notesSlides/notesSlide34.xml"/><Relationship Id="rId1" Type="http://schemas.openxmlformats.org/officeDocument/2006/relationships/slideLayout" Target="../slideLayouts/slideLayout12.xml"/><Relationship Id="rId4" Type="http://schemas.openxmlformats.org/officeDocument/2006/relationships/image" Target="../media/image99.png"/></Relationships>
</file>

<file path=ppt/slides/_rels/slide5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35.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00.png"/></Relationships>
</file>

<file path=ppt/slides/_rels/slide53.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36.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01.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xmlns:m="http://schemas.openxmlformats.org/officeDocument/2006/math">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3"/>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38200" y="2743200"/>
            <a:ext cx="7467600" cy="1524000"/>
            <a:chOff x="838200" y="2743200"/>
            <a:chExt cx="7467600" cy="1524000"/>
          </a:xfrm>
        </p:grpSpPr>
        <mc:AlternateContent xmlns:mc="http://schemas.openxmlformats.org/markup-compatibility/2006" xmlns:a14="http://schemas.microsoft.com/office/drawing/2010/main">
          <mc:Choice Requires="a14">
            <p:sp>
              <p:nvSpPr>
                <p:cNvPr id="20010" name="Delay dynamics S"/>
                <p:cNvSpPr/>
                <p:nvPr/>
              </p:nvSpPr>
              <p:spPr>
                <a:xfrm>
                  <a:off x="1333500" y="2759710"/>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m="http://schemas.openxmlformats.org/officeDocument/2006/math" xmlns="">
            <p:sp>
              <p:nvSpPr>
                <p:cNvPr id="20010" name="Delay dynamics S"/>
                <p:cNvSpPr>
                  <a:spLocks noRot="1" noChangeAspect="1" noMove="1" noResize="1" noEditPoints="1" noAdjustHandles="1" noChangeArrowheads="1" noChangeShapeType="1" noTextEdit="1"/>
                </p:cNvSpPr>
                <p:nvPr/>
              </p:nvSpPr>
              <p:spPr>
                <a:xfrm>
                  <a:off x="1333500" y="2759710"/>
                  <a:ext cx="6477000" cy="525780"/>
                </a:xfrm>
                <a:prstGeom prst="rect">
                  <a:avLst/>
                </a:prstGeom>
                <a:blipFill>
                  <a:blip r:embed="rIdRevisedLFR1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952500" y="303911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m="http://schemas.openxmlformats.org/officeDocument/2006/math" xmlns="">
            <p:sp>
              <p:nvSpPr>
                <p:cNvPr id="20011" name="Delay dynamics G"/>
                <p:cNvSpPr>
                  <a:spLocks noRot="1" noChangeAspect="1" noMove="1" noResize="1" noEditPoints="1" noAdjustHandles="1" noChangeArrowheads="1" noChangeShapeType="1" noTextEdit="1"/>
                </p:cNvSpPr>
                <p:nvPr/>
              </p:nvSpPr>
              <p:spPr>
                <a:xfrm>
                  <a:off x="952500" y="3039110"/>
                  <a:ext cx="7239000" cy="525780"/>
                </a:xfrm>
                <a:prstGeom prst="rect">
                  <a:avLst/>
                </a:prstGeom>
                <a:blipFill>
                  <a:blip r:embed="rIdRevisedLFR1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7810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4" name="State dynamics left G"/>
                <p:cNvSpPr>
                  <a:spLocks noRot="1" noChangeAspect="1" noMove="1" noResize="1" noEditPoints="1" noAdjustHandles="1" noChangeArrowheads="1" noChangeShapeType="1" noTextEdit="1"/>
                </p:cNvSpPr>
                <p:nvPr/>
              </p:nvSpPr>
              <p:spPr>
                <a:xfrm>
                  <a:off x="2578100" y="3699510"/>
                  <a:ext cx="1371600" cy="525780"/>
                </a:xfrm>
                <a:prstGeom prst="rect">
                  <a:avLst/>
                </a:prstGeom>
                <a:blipFill>
                  <a:blip r:embed="rIdRevisedLFR1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711700" y="3086100"/>
            <a:ext cx="3937000" cy="1117600"/>
            <a:chOff x="330200" y="3048000"/>
            <a:chExt cx="3937000" cy="1117600"/>
          </a:xfrm>
        </p:grpSpPr>
        <mc:AlternateContent xmlns:mc="http://schemas.openxmlformats.org/markup-compatibility/2006" xmlns:a14="http://schemas.microsoft.com/office/drawing/2010/main">
          <mc:Choice Requires="a14">
            <p:sp>
              <p:nvSpPr>
                <p:cNvPr id="20019" name="Nominal delay relation S"/>
                <p:cNvSpPr/>
                <p:nvPr/>
              </p:nvSpPr>
              <p:spPr>
                <a:xfrm>
                  <a:off x="330200" y="3063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m="http://schemas.openxmlformats.org/officeDocument/2006/math" xmlns="">
            <p:sp>
              <p:nvSpPr>
                <p:cNvPr id="20019" name="Nominal delay relation S"/>
                <p:cNvSpPr>
                  <a:spLocks noRot="1" noChangeAspect="1" noMove="1" noResize="1" noEditPoints="1" noAdjustHandles="1" noChangeArrowheads="1" noChangeShapeType="1" noTextEdit="1"/>
                </p:cNvSpPr>
                <p:nvPr/>
              </p:nvSpPr>
              <p:spPr>
                <a:xfrm>
                  <a:off x="330200" y="3063240"/>
                  <a:ext cx="3937000" cy="350520"/>
                </a:xfrm>
                <a:prstGeom prst="rect">
                  <a:avLst/>
                </a:prstGeom>
                <a:blipFill>
                  <a:blip r:embed="rIdRevisedLFR1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30200" y="32918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m="http://schemas.openxmlformats.org/officeDocument/2006/math" xmlns="">
            <p:sp>
              <p:nvSpPr>
                <p:cNvPr id="20020" name="Nominal delay relation G"/>
                <p:cNvSpPr>
                  <a:spLocks noRot="1" noChangeAspect="1" noMove="1" noResize="1" noEditPoints="1" noAdjustHandles="1" noChangeArrowheads="1" noChangeShapeType="1" noTextEdit="1"/>
                </p:cNvSpPr>
                <p:nvPr/>
              </p:nvSpPr>
              <p:spPr>
                <a:xfrm>
                  <a:off x="330200" y="3291840"/>
                  <a:ext cx="3937000" cy="350520"/>
                </a:xfrm>
                <a:prstGeom prst="rect">
                  <a:avLst/>
                </a:prstGeom>
                <a:blipFill>
                  <a:blip r:embed="rIdRevisedLFR10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330200" y="3571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m="http://schemas.openxmlformats.org/officeDocument/2006/math" xmlns="">
            <p:sp>
              <p:nvSpPr>
                <p:cNvPr id="20021" name="Nominal state equation S"/>
                <p:cNvSpPr>
                  <a:spLocks noRot="1" noChangeAspect="1" noMove="1" noResize="1" noEditPoints="1" noAdjustHandles="1" noChangeArrowheads="1" noChangeShapeType="1" noTextEdit="1"/>
                </p:cNvSpPr>
                <p:nvPr/>
              </p:nvSpPr>
              <p:spPr>
                <a:xfrm>
                  <a:off x="330200" y="3571240"/>
                  <a:ext cx="3937000" cy="350520"/>
                </a:xfrm>
                <a:prstGeom prst="rect">
                  <a:avLst/>
                </a:prstGeom>
                <a:blipFill>
                  <a:blip r:embed="rIdRevisedLFR1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330200" y="38125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m="http://schemas.openxmlformats.org/officeDocument/2006/math" xmlns="">
            <p:sp>
              <p:nvSpPr>
                <p:cNvPr id="20022" name="Nominal state equation G"/>
                <p:cNvSpPr>
                  <a:spLocks noRot="1" noChangeAspect="1" noMove="1" noResize="1" noEditPoints="1" noAdjustHandles="1" noChangeArrowheads="1" noChangeShapeType="1" noTextEdit="1"/>
                </p:cNvSpPr>
                <p:nvPr/>
              </p:nvSpPr>
              <p:spPr>
                <a:xfrm>
                  <a:off x="330200" y="3812540"/>
                  <a:ext cx="3937000" cy="350520"/>
                </a:xfrm>
                <a:prstGeom prst="rect">
                  <a:avLst/>
                </a:prstGeom>
                <a:blipFill>
                  <a:blip r:embed="rIdRevisedLFR107"/>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8"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20030"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RevisedLFR121"/>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mc:Choice xmlns:a14="http://schemas.microsoft.com/office/drawing/2010/main" Requires="a14">
            <p:sp>
              <p:nvSpPr>
                <p:cNvPr id="20076"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a:t>
            </a:r>
            <a:endParaRPr sz="2500" dirty="0"/>
          </a:p>
        </p:txBody>
      </p:sp>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6"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7"/>
          <a:stretch>
            <a:fillRect/>
          </a:stretch>
        </p:blipFill>
        <p:spPr>
          <a:xfrm>
            <a:off x="6896100" y="3302000"/>
            <a:ext cx="1778000" cy="871220"/>
          </a:xfrm>
          <a:prstGeom prst="rect">
            <a:avLst/>
          </a:prstGeom>
        </p:spPr>
      </p:pic>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m="http://schemas.openxmlformats.org/officeDocument/2006/math" xmlns="">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animEffect transition="in" filter="fade">
                                      <p:cBhvr>
                                        <p:cTn id="86" dur="600"/>
                                        <p:tgtEl>
                                          <p:spTgt spid="20079"/>
                                        </p:tgtEl>
                                      </p:cBhvr>
                                    </p:animEffect>
                                  </p:childTnLst>
                                </p:cTn>
                              </p:par>
                              <p:par>
                                <p:cTn id="87" presetID="10" presetClass="entr" presetSubtype="0" fill="hold" nodeType="withEffect">
                                  <p:stCondLst>
                                    <p:cond delay="150"/>
                                  </p:stCondLst>
                                  <p:childTnLst>
                                    <p:set>
                                      <p:cBhvr>
                                        <p:cTn id="88" dur="1" fill="hold">
                                          <p:stCondLst>
                                            <p:cond delay="0"/>
                                          </p:stCondLst>
                                        </p:cTn>
                                        <p:tgtEl>
                                          <p:spTgt spid="20080"/>
                                        </p:tgtEl>
                                        <p:attrNameLst>
                                          <p:attrName>style.visibility</p:attrName>
                                        </p:attrNameLst>
                                      </p:cBhvr>
                                      <p:to>
                                        <p:strVal val="visible"/>
                                      </p:to>
                                    </p:set>
                                    <p:animEffect transition="in" filter="fade">
                                      <p:cBhvr>
                                        <p:cTn id="89" dur="600"/>
                                        <p:tgtEl>
                                          <p:spTgt spid="20080"/>
                                        </p:tgtEl>
                                      </p:cBhvr>
                                    </p:animEffect>
                                  </p:childTnLst>
                                </p:cTn>
                              </p:par>
                              <p:par>
                                <p:cTn id="90" presetID="10" presetClass="entr" presetSubtype="0" fill="hold" grpId="0" nodeType="withEffect">
                                  <p:stCondLst>
                                    <p:cond delay="150"/>
                                  </p:stCondLst>
                                  <p:childTnLst>
                                    <p:set>
                                      <p:cBhvr>
                                        <p:cTn id="91" dur="1" fill="hold">
                                          <p:stCondLst>
                                            <p:cond delay="0"/>
                                          </p:stCondLst>
                                        </p:cTn>
                                        <p:tgtEl>
                                          <p:spTgt spid="20081"/>
                                        </p:tgtEl>
                                        <p:attrNameLst>
                                          <p:attrName>style.visibility</p:attrName>
                                        </p:attrNameLst>
                                      </p:cBhvr>
                                      <p:to>
                                        <p:strVal val="visible"/>
                                      </p:to>
                                    </p:set>
                                    <p:animEffect transition="in" filter="fade">
                                      <p:cBhvr>
                                        <p:cTn id="92" dur="600"/>
                                        <p:tgtEl>
                                          <p:spTgt spid="20081"/>
                                        </p:tgtEl>
                                      </p:cBhvr>
                                    </p:animEffect>
                                  </p:childTnLst>
                                </p:cTn>
                              </p:par>
                              <p:par>
                                <p:cTn id="93" presetID="10" presetClass="entr" presetSubtype="0" fill="hold" grpId="0" nodeType="withEffect">
                                  <p:stCondLst>
                                    <p:cond delay="150"/>
                                  </p:stCondLst>
                                  <p:childTnLst>
                                    <p:set>
                                      <p:cBhvr>
                                        <p:cTn id="94" dur="1" fill="hold">
                                          <p:stCondLst>
                                            <p:cond delay="0"/>
                                          </p:stCondLst>
                                        </p:cTn>
                                        <p:tgtEl>
                                          <p:spTgt spid="20082"/>
                                        </p:tgtEl>
                                        <p:attrNameLst>
                                          <p:attrName>style.visibility</p:attrName>
                                        </p:attrNameLst>
                                      </p:cBhvr>
                                      <p:to>
                                        <p:strVal val="visible"/>
                                      </p:to>
                                    </p:set>
                                    <p:animEffect transition="in" filter="fade">
                                      <p:cBhvr>
                                        <p:cTn id="95" dur="600"/>
                                        <p:tgtEl>
                                          <p:spTgt spid="20082"/>
                                        </p:tgtEl>
                                      </p:cBhvr>
                                    </p:animEffect>
                                  </p:childTnLst>
                                </p:cTn>
                              </p:par>
                              <p:par>
                                <p:cTn id="96" presetID="10" presetClass="entr" presetSubtype="0" fill="hold" grpId="0" nodeType="withEffect">
                                  <p:stCondLst>
                                    <p:cond delay="150"/>
                                  </p:stCondLst>
                                  <p:childTnLst>
                                    <p:set>
                                      <p:cBhvr>
                                        <p:cTn id="97" dur="1" fill="hold">
                                          <p:stCondLst>
                                            <p:cond delay="0"/>
                                          </p:stCondLst>
                                        </p:cTn>
                                        <p:tgtEl>
                                          <p:spTgt spid="20083"/>
                                        </p:tgtEl>
                                        <p:attrNameLst>
                                          <p:attrName>style.visibility</p:attrName>
                                        </p:attrNameLst>
                                      </p:cBhvr>
                                      <p:to>
                                        <p:strVal val="visible"/>
                                      </p:to>
                                    </p:set>
                                    <p:animEffect transition="in" filter="fade">
                                      <p:cBhvr>
                                        <p:cTn id="98" dur="600"/>
                                        <p:tgtEl>
                                          <p:spTgt spid="20083"/>
                                        </p:tgtEl>
                                      </p:cBhvr>
                                    </p:animEffect>
                                  </p:childTnLst>
                                </p:cTn>
                              </p:par>
                              <p:par>
                                <p:cTn id="99" presetID="10" presetClass="entr" presetSubtype="0" fill="hold" nodeType="withEffect">
                                  <p:stCondLst>
                                    <p:cond delay="150"/>
                                  </p:stCondLst>
                                  <p:childTnLst>
                                    <p:set>
                                      <p:cBhvr>
                                        <p:cTn id="100" dur="1" fill="hold">
                                          <p:stCondLst>
                                            <p:cond delay="0"/>
                                          </p:stCondLst>
                                        </p:cTn>
                                        <p:tgtEl>
                                          <p:spTgt spid="20088"/>
                                        </p:tgtEl>
                                        <p:attrNameLst>
                                          <p:attrName>style.visibility</p:attrName>
                                        </p:attrNameLst>
                                      </p:cBhvr>
                                      <p:to>
                                        <p:strVal val="visible"/>
                                      </p:to>
                                    </p:set>
                                    <p:animEffect transition="in" filter="fade">
                                      <p:cBhvr>
                                        <p:cTn id="101" dur="600"/>
                                        <p:tgtEl>
                                          <p:spTgt spid="20088"/>
                                        </p:tgtEl>
                                      </p:cBhvr>
                                    </p:animEffect>
                                  </p:childTnLst>
                                </p:cTn>
                              </p:par>
                              <p:par>
                                <p:cTn id="102" presetID="10" presetClass="exit" presetSubtype="0" fill="hold" grpId="1" nodeType="withEffect">
                                  <p:stCondLst>
                                    <p:cond delay="0"/>
                                  </p:stCondLst>
                                  <p:childTnLst>
                                    <p:animEffect transition="out" filter="fade">
                                      <p:cBhvr>
                                        <p:cTn id="103" dur="300"/>
                                        <p:tgtEl>
                                          <p:spTgt spid="20098"/>
                                        </p:tgtEl>
                                      </p:cBhvr>
                                    </p:animEffect>
                                    <p:set>
                                      <p:cBhvr>
                                        <p:cTn id="104" dur="1" fill="hold">
                                          <p:stCondLst>
                                            <p:cond delay="299"/>
                                          </p:stCondLst>
                                        </p:cTn>
                                        <p:tgtEl>
                                          <p:spTgt spid="20098"/>
                                        </p:tgtEl>
                                        <p:attrNameLst>
                                          <p:attrName>style.visibility</p:attrName>
                                        </p:attrNameLst>
                                      </p:cBhvr>
                                      <p:to>
                                        <p:strVal val="hidden"/>
                                      </p:to>
                                    </p:set>
                                  </p:childTnLst>
                                </p:cTn>
                              </p:par>
                            </p:childTnLst>
                          </p:cTn>
                        </p:par>
                      </p:childTnLst>
                    </p:cTn>
                  </p:par>
                  <p:par>
                    <p:cTn id="105" fill="hold">
                      <p:stCondLst>
                        <p:cond delay="indefinite"/>
                      </p:stCondLst>
                      <p:childTnLst>
                        <p:par>
                          <p:cTn id="106" fill="hold">
                            <p:stCondLst>
                              <p:cond delay="0"/>
                            </p:stCondLst>
                            <p:childTnLst>
                              <p:par>
                                <p:cTn id="107" presetID="10" presetClass="exit" presetSubtype="0" fill="hold" nodeType="clickEffect">
                                  <p:stCondLst>
                                    <p:cond delay="0"/>
                                  </p:stCondLst>
                                  <p:childTnLst>
                                    <p:animEffect transition="out" filter="fade">
                                      <p:cBhvr>
                                        <p:cTn id="108" dur="500"/>
                                        <p:tgtEl>
                                          <p:spTgt spid="20001"/>
                                        </p:tgtEl>
                                      </p:cBhvr>
                                    </p:animEffect>
                                    <p:set>
                                      <p:cBhvr>
                                        <p:cTn id="109" dur="1" fill="hold">
                                          <p:stCondLst>
                                            <p:cond delay="499"/>
                                          </p:stCondLst>
                                        </p:cTn>
                                        <p:tgtEl>
                                          <p:spTgt spid="20001"/>
                                        </p:tgtEl>
                                        <p:attrNameLst>
                                          <p:attrName>style.visibility</p:attrName>
                                        </p:attrNameLst>
                                      </p:cBhvr>
                                      <p:to>
                                        <p:strVal val="hidden"/>
                                      </p:to>
                                    </p:set>
                                  </p:childTnLst>
                                </p:cTn>
                              </p:par>
                              <p:par>
                                <p:cTn id="110" presetID="10" presetClass="exit" presetSubtype="0" fill="hold" nodeType="withEffect">
                                  <p:stCondLst>
                                    <p:cond delay="0"/>
                                  </p:stCondLst>
                                  <p:childTnLst>
                                    <p:animEffect transition="out" filter="fade">
                                      <p:cBhvr>
                                        <p:cTn id="111" dur="500"/>
                                        <p:tgtEl>
                                          <p:spTgt spid="20079"/>
                                        </p:tgtEl>
                                      </p:cBhvr>
                                    </p:animEffect>
                                    <p:set>
                                      <p:cBhvr>
                                        <p:cTn id="112" dur="1" fill="hold">
                                          <p:stCondLst>
                                            <p:cond delay="499"/>
                                          </p:stCondLst>
                                        </p:cTn>
                                        <p:tgtEl>
                                          <p:spTgt spid="20079"/>
                                        </p:tgtEl>
                                        <p:attrNameLst>
                                          <p:attrName>style.visibility</p:attrName>
                                        </p:attrNameLst>
                                      </p:cBhvr>
                                      <p:to>
                                        <p:strVal val="hidden"/>
                                      </p:to>
                                    </p:set>
                                  </p:childTnLst>
                                </p:cTn>
                              </p:par>
                              <p:par>
                                <p:cTn id="113" presetID="10" presetClass="exit" presetSubtype="0" fill="hold" nodeType="withEffect">
                                  <p:stCondLst>
                                    <p:cond delay="0"/>
                                  </p:stCondLst>
                                  <p:childTnLst>
                                    <p:animEffect transition="out" filter="fade">
                                      <p:cBhvr>
                                        <p:cTn id="114" dur="500"/>
                                        <p:tgtEl>
                                          <p:spTgt spid="20080"/>
                                        </p:tgtEl>
                                      </p:cBhvr>
                                    </p:animEffect>
                                    <p:set>
                                      <p:cBhvr>
                                        <p:cTn id="115" dur="1" fill="hold">
                                          <p:stCondLst>
                                            <p:cond delay="499"/>
                                          </p:stCondLst>
                                        </p:cTn>
                                        <p:tgtEl>
                                          <p:spTgt spid="20080"/>
                                        </p:tgtEl>
                                        <p:attrNameLst>
                                          <p:attrName>style.visibility</p:attrName>
                                        </p:attrNameLst>
                                      </p:cBhvr>
                                      <p:to>
                                        <p:strVal val="hidden"/>
                                      </p:to>
                                    </p:set>
                                  </p:childTnLst>
                                </p:cTn>
                              </p:par>
                              <p:par>
                                <p:cTn id="116" presetID="10" presetClass="exit" presetSubtype="0" fill="hold" grpId="1" nodeType="withEffect">
                                  <p:stCondLst>
                                    <p:cond delay="0"/>
                                  </p:stCondLst>
                                  <p:childTnLst>
                                    <p:animEffect transition="out" filter="fade">
                                      <p:cBhvr>
                                        <p:cTn id="117" dur="500"/>
                                        <p:tgtEl>
                                          <p:spTgt spid="20081"/>
                                        </p:tgtEl>
                                      </p:cBhvr>
                                    </p:animEffect>
                                    <p:set>
                                      <p:cBhvr>
                                        <p:cTn id="118" dur="1" fill="hold">
                                          <p:stCondLst>
                                            <p:cond delay="499"/>
                                          </p:stCondLst>
                                        </p:cTn>
                                        <p:tgtEl>
                                          <p:spTgt spid="20081"/>
                                        </p:tgtEl>
                                        <p:attrNameLst>
                                          <p:attrName>style.visibility</p:attrName>
                                        </p:attrNameLst>
                                      </p:cBhvr>
                                      <p:to>
                                        <p:strVal val="hidden"/>
                                      </p:to>
                                    </p:set>
                                  </p:childTnLst>
                                </p:cTn>
                              </p:par>
                              <p:par>
                                <p:cTn id="119" presetID="10" presetClass="exit" presetSubtype="0" fill="hold" grpId="1" nodeType="withEffect">
                                  <p:stCondLst>
                                    <p:cond delay="0"/>
                                  </p:stCondLst>
                                  <p:childTnLst>
                                    <p:animEffect transition="out" filter="fade">
                                      <p:cBhvr>
                                        <p:cTn id="120" dur="500"/>
                                        <p:tgtEl>
                                          <p:spTgt spid="20082"/>
                                        </p:tgtEl>
                                      </p:cBhvr>
                                    </p:animEffect>
                                    <p:set>
                                      <p:cBhvr>
                                        <p:cTn id="121" dur="1" fill="hold">
                                          <p:stCondLst>
                                            <p:cond delay="499"/>
                                          </p:stCondLst>
                                        </p:cTn>
                                        <p:tgtEl>
                                          <p:spTgt spid="20082"/>
                                        </p:tgtEl>
                                        <p:attrNameLst>
                                          <p:attrName>style.visibility</p:attrName>
                                        </p:attrNameLst>
                                      </p:cBhvr>
                                      <p:to>
                                        <p:strVal val="hidden"/>
                                      </p:to>
                                    </p:set>
                                  </p:childTnLst>
                                </p:cTn>
                              </p:par>
                              <p:par>
                                <p:cTn id="122" presetID="10" presetClass="exit" presetSubtype="0" fill="hold" grpId="1" nodeType="withEffect">
                                  <p:stCondLst>
                                    <p:cond delay="0"/>
                                  </p:stCondLst>
                                  <p:childTnLst>
                                    <p:animEffect transition="out" filter="fade">
                                      <p:cBhvr>
                                        <p:cTn id="123" dur="500"/>
                                        <p:tgtEl>
                                          <p:spTgt spid="20083"/>
                                        </p:tgtEl>
                                      </p:cBhvr>
                                    </p:animEffect>
                                    <p:set>
                                      <p:cBhvr>
                                        <p:cTn id="124" dur="1" fill="hold">
                                          <p:stCondLst>
                                            <p:cond delay="499"/>
                                          </p:stCondLst>
                                        </p:cTn>
                                        <p:tgtEl>
                                          <p:spTgt spid="20083"/>
                                        </p:tgtEl>
                                        <p:attrNameLst>
                                          <p:attrName>style.visibility</p:attrName>
                                        </p:attrNameLst>
                                      </p:cBhvr>
                                      <p:to>
                                        <p:strVal val="hidden"/>
                                      </p:to>
                                    </p:set>
                                  </p:childTnLst>
                                </p:cTn>
                              </p:par>
                              <p:par>
                                <p:cTn id="125" presetID="10" presetClass="exit" presetSubtype="0" fill="hold" nodeType="withEffect">
                                  <p:stCondLst>
                                    <p:cond delay="0"/>
                                  </p:stCondLst>
                                  <p:childTnLst>
                                    <p:animEffect transition="out" filter="fade">
                                      <p:cBhvr>
                                        <p:cTn id="126" dur="500"/>
                                        <p:tgtEl>
                                          <p:spTgt spid="20088"/>
                                        </p:tgtEl>
                                      </p:cBhvr>
                                    </p:animEffect>
                                    <p:set>
                                      <p:cBhvr>
                                        <p:cTn id="127" dur="1" fill="hold">
                                          <p:stCondLst>
                                            <p:cond delay="499"/>
                                          </p:stCondLst>
                                        </p:cTn>
                                        <p:tgtEl>
                                          <p:spTgt spid="20088"/>
                                        </p:tgtEl>
                                        <p:attrNameLst>
                                          <p:attrName>style.visibility</p:attrName>
                                        </p:attrNameLst>
                                      </p:cBhvr>
                                      <p:to>
                                        <p:strVal val="hidden"/>
                                      </p:to>
                                    </p:set>
                                  </p:childTnLst>
                                </p:cTn>
                              </p:par>
                              <p:par>
                                <p:cTn id="128" presetID="10" presetClass="exit" presetSubtype="0" fill="hold" nodeType="withEffect">
                                  <p:stCondLst>
                                    <p:cond delay="0"/>
                                  </p:stCondLst>
                                  <p:childTnLst>
                                    <p:animEffect transition="out" filter="fade">
                                      <p:cBhvr>
                                        <p:cTn id="129" dur="500"/>
                                        <p:tgtEl>
                                          <p:spTgt spid="20094"/>
                                        </p:tgtEl>
                                      </p:cBhvr>
                                    </p:animEffect>
                                    <p:set>
                                      <p:cBhvr>
                                        <p:cTn id="130" dur="1" fill="hold">
                                          <p:stCondLst>
                                            <p:cond delay="499"/>
                                          </p:stCondLst>
                                        </p:cTn>
                                        <p:tgtEl>
                                          <p:spTgt spid="20094"/>
                                        </p:tgtEl>
                                        <p:attrNameLst>
                                          <p:attrName>style.visibility</p:attrName>
                                        </p:attrNameLst>
                                      </p:cBhvr>
                                      <p:to>
                                        <p:strVal val="hidden"/>
                                      </p:to>
                                    </p:set>
                                  </p:childTnLst>
                                </p:cTn>
                              </p:par>
                              <p:par>
                                <p:cTn id="131" presetID="10" presetClass="exit" presetSubtype="0" fill="hold" grpId="0" nodeType="withEffect">
                                  <p:stCondLst>
                                    <p:cond delay="0"/>
                                  </p:stCondLst>
                                  <p:childTnLst>
                                    <p:animEffect transition="out" filter="fade">
                                      <p:cBhvr>
                                        <p:cTn id="132" dur="500"/>
                                        <p:tgtEl>
                                          <p:spTgt spid="3"/>
                                        </p:tgtEl>
                                      </p:cBhvr>
                                    </p:animEffect>
                                    <p:set>
                                      <p:cBhvr>
                                        <p:cTn id="133" dur="1" fill="hold">
                                          <p:stCondLst>
                                            <p:cond delay="499"/>
                                          </p:stCondLst>
                                        </p:cTn>
                                        <p:tgtEl>
                                          <p:spTgt spid="3"/>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23"/>
                                        </p:tgtEl>
                                      </p:cBhvr>
                                    </p:animEffect>
                                    <p:set>
                                      <p:cBhvr>
                                        <p:cTn id="136" dur="1" fill="hold">
                                          <p:stCondLst>
                                            <p:cond delay="49"/>
                                          </p:stCondLst>
                                        </p:cTn>
                                        <p:tgtEl>
                                          <p:spTgt spid="20023"/>
                                        </p:tgtEl>
                                        <p:attrNameLst>
                                          <p:attrName>style.visibility</p:attrName>
                                        </p:attrNameLst>
                                      </p:cBhvr>
                                      <p:to>
                                        <p:strVal val="hidden"/>
                                      </p:to>
                                    </p:set>
                                  </p:childTnLst>
                                </p:cTn>
                              </p:par>
                              <p:par>
                                <p:cTn id="137" presetID="10" presetClass="exit" presetSubtype="0" fill="hold" nodeType="withEffect">
                                  <p:stCondLst>
                                    <p:cond delay="50"/>
                                  </p:stCondLst>
                                  <p:childTnLst>
                                    <p:animEffect transition="out" filter="fade">
                                      <p:cBhvr>
                                        <p:cTn id="138" dur="50"/>
                                        <p:tgtEl>
                                          <p:spTgt spid="20027"/>
                                        </p:tgtEl>
                                      </p:cBhvr>
                                    </p:animEffect>
                                    <p:set>
                                      <p:cBhvr>
                                        <p:cTn id="139" dur="1" fill="hold">
                                          <p:stCondLst>
                                            <p:cond delay="49"/>
                                          </p:stCondLst>
                                        </p:cTn>
                                        <p:tgtEl>
                                          <p:spTgt spid="20027"/>
                                        </p:tgtEl>
                                        <p:attrNameLst>
                                          <p:attrName>style.visibility</p:attrName>
                                        </p:attrNameLst>
                                      </p:cBhvr>
                                      <p:to>
                                        <p:strVal val="hidden"/>
                                      </p:to>
                                    </p:set>
                                  </p:childTnLst>
                                </p:cTn>
                              </p:par>
                              <p:par>
                                <p:cTn id="140" presetID="10" presetClass="exit" presetSubtype="0" fill="hold" nodeType="withEffect">
                                  <p:stCondLst>
                                    <p:cond delay="50"/>
                                  </p:stCondLst>
                                  <p:childTnLst>
                                    <p:animEffect transition="out" filter="fade">
                                      <p:cBhvr>
                                        <p:cTn id="141" dur="50"/>
                                        <p:tgtEl>
                                          <p:spTgt spid="20031"/>
                                        </p:tgtEl>
                                      </p:cBhvr>
                                    </p:animEffect>
                                    <p:set>
                                      <p:cBhvr>
                                        <p:cTn id="142" dur="1" fill="hold">
                                          <p:stCondLst>
                                            <p:cond delay="49"/>
                                          </p:stCondLst>
                                        </p:cTn>
                                        <p:tgtEl>
                                          <p:spTgt spid="20031"/>
                                        </p:tgtEl>
                                        <p:attrNameLst>
                                          <p:attrName>style.visibility</p:attrName>
                                        </p:attrNameLst>
                                      </p:cBhvr>
                                      <p:to>
                                        <p:strVal val="hidden"/>
                                      </p:to>
                                    </p:set>
                                  </p:childTnLst>
                                </p:cTn>
                              </p:par>
                              <p:par>
                                <p:cTn id="143" presetID="10" presetClass="exit" presetSubtype="0" fill="hold" nodeType="withEffect">
                                  <p:stCondLst>
                                    <p:cond delay="50"/>
                                  </p:stCondLst>
                                  <p:childTnLst>
                                    <p:animEffect transition="out" filter="fade">
                                      <p:cBhvr>
                                        <p:cTn id="144" dur="50"/>
                                        <p:tgtEl>
                                          <p:spTgt spid="20038"/>
                                        </p:tgtEl>
                                      </p:cBhvr>
                                    </p:animEffect>
                                    <p:set>
                                      <p:cBhvr>
                                        <p:cTn id="145" dur="1" fill="hold">
                                          <p:stCondLst>
                                            <p:cond delay="49"/>
                                          </p:stCondLst>
                                        </p:cTn>
                                        <p:tgtEl>
                                          <p:spTgt spid="20038"/>
                                        </p:tgtEl>
                                        <p:attrNameLst>
                                          <p:attrName>style.visibility</p:attrName>
                                        </p:attrNameLst>
                                      </p:cBhvr>
                                      <p:to>
                                        <p:strVal val="hidden"/>
                                      </p:to>
                                    </p:set>
                                  </p:childTnLst>
                                </p:cTn>
                              </p:par>
                              <p:par>
                                <p:cTn id="146" presetID="10" presetClass="exit" presetSubtype="0" fill="hold" nodeType="withEffect">
                                  <p:stCondLst>
                                    <p:cond delay="50"/>
                                  </p:stCondLst>
                                  <p:childTnLst>
                                    <p:animEffect transition="out" filter="fade">
                                      <p:cBhvr>
                                        <p:cTn id="147" dur="50"/>
                                        <p:tgtEl>
                                          <p:spTgt spid="20042"/>
                                        </p:tgtEl>
                                      </p:cBhvr>
                                    </p:animEffect>
                                    <p:set>
                                      <p:cBhvr>
                                        <p:cTn id="148" dur="1" fill="hold">
                                          <p:stCondLst>
                                            <p:cond delay="49"/>
                                          </p:stCondLst>
                                        </p:cTn>
                                        <p:tgtEl>
                                          <p:spTgt spid="20042"/>
                                        </p:tgtEl>
                                        <p:attrNameLst>
                                          <p:attrName>style.visibility</p:attrName>
                                        </p:attrNameLst>
                                      </p:cBhvr>
                                      <p:to>
                                        <p:strVal val="hidden"/>
                                      </p:to>
                                    </p:set>
                                  </p:childTnLst>
                                </p:cTn>
                              </p:par>
                              <p:par>
                                <p:cTn id="149" presetID="10" presetClass="exit" presetSubtype="0" fill="hold" nodeType="withEffect">
                                  <p:stCondLst>
                                    <p:cond delay="50"/>
                                  </p:stCondLst>
                                  <p:childTnLst>
                                    <p:animEffect transition="out" filter="fade">
                                      <p:cBhvr>
                                        <p:cTn id="150" dur="50"/>
                                        <p:tgtEl>
                                          <p:spTgt spid="20046"/>
                                        </p:tgtEl>
                                      </p:cBhvr>
                                    </p:animEffect>
                                    <p:set>
                                      <p:cBhvr>
                                        <p:cTn id="151" dur="1" fill="hold">
                                          <p:stCondLst>
                                            <p:cond delay="49"/>
                                          </p:stCondLst>
                                        </p:cTn>
                                        <p:tgtEl>
                                          <p:spTgt spid="20046"/>
                                        </p:tgtEl>
                                        <p:attrNameLst>
                                          <p:attrName>style.visibility</p:attrName>
                                        </p:attrNameLst>
                                      </p:cBhvr>
                                      <p:to>
                                        <p:strVal val="hidden"/>
                                      </p:to>
                                    </p:set>
                                  </p:childTnLst>
                                </p:cTn>
                              </p:par>
                              <p:par>
                                <p:cTn id="152" presetID="10" presetClass="entr" presetSubtype="0" fill="hold" nodeType="withEffect">
                                  <p:stCondLst>
                                    <p:cond delay="0"/>
                                  </p:stCondLst>
                                  <p:childTnLst>
                                    <p:set>
                                      <p:cBhvr>
                                        <p:cTn id="153" dur="1" fill="hold">
                                          <p:stCondLst>
                                            <p:cond delay="0"/>
                                          </p:stCondLst>
                                        </p:cTn>
                                        <p:tgtEl>
                                          <p:spTgt spid="20057"/>
                                        </p:tgtEl>
                                        <p:attrNameLst>
                                          <p:attrName>style.visibility</p:attrName>
                                        </p:attrNameLst>
                                      </p:cBhvr>
                                      <p:to>
                                        <p:strVal val="visible"/>
                                      </p:to>
                                    </p:set>
                                    <p:animEffect transition="in" filter="fade">
                                      <p:cBhvr>
                                        <p:cTn id="154" dur="50"/>
                                        <p:tgtEl>
                                          <p:spTgt spid="20057"/>
                                        </p:tgtEl>
                                      </p:cBhvr>
                                    </p:animEffect>
                                  </p:childTnLst>
                                </p:cTn>
                              </p:par>
                              <p:par>
                                <p:cTn id="155" presetID="0" presetClass="path" presetSubtype="0" accel="50000" decel="50000" fill="hold" nodeType="withEffect">
                                  <p:stCondLst>
                                    <p:cond delay="100"/>
                                  </p:stCondLst>
                                  <p:childTnLst>
                                    <p:set>
                                      <p:cBhvr>
                                        <p:cTn id="156" dur="1" fill="hold">
                                          <p:stCondLst>
                                            <p:cond delay="1099"/>
                                          </p:stCondLst>
                                        </p:cTn>
                                        <p:tgtEl>
                                          <p:spTgt spid="20057"/>
                                        </p:tgtEl>
                                        <p:attrNameLst>
                                          <p:attrName>style.visibility</p:attrName>
                                        </p:attrNameLst>
                                      </p:cBhvr>
                                      <p:to>
                                        <p:strVal val="visible"/>
                                      </p:to>
                                    </p:set>
                                    <p:animMotion origin="layout" path="M 0 0 L 0.25138889 0.05109779 E" pathEditMode="relative">
                                      <p:cBhvr from="" to="">
                                        <p:cTn id="157" dur="1100" fill="hold">
                                          <p:stCondLst>
                                            <p:cond delay="0"/>
                                          </p:stCondLst>
                                        </p:cTn>
                                        <p:tgtEl>
                                          <p:spTgt spid="20057"/>
                                        </p:tgtEl>
                                        <p:attrNameLst>
                                          <p:attrName>ppt_x</p:attrName>
                                          <p:attrName>ppt_y</p:attrName>
                                        </p:attrNameLst>
                                      </p:cBhvr>
                                    </p:animMotion>
                                    <p:animScale>
                                      <p:cBhvr>
                                        <p:cTn id="158" dur="1100" fill="hold">
                                          <p:stCondLst>
                                            <p:cond delay="0"/>
                                          </p:stCondLst>
                                        </p:cTn>
                                        <p:tgtEl>
                                          <p:spTgt spid="20057"/>
                                        </p:tgtEl>
                                      </p:cBhvr>
                                      <p:from x="100000" y="100000"/>
                                      <p:to x="112000" y="112000"/>
                                    </p:animScale>
                                  </p:childTnLst>
                                </p:cTn>
                              </p:par>
                              <p:par>
                                <p:cTn id="159" presetID="10" presetClass="entr" presetSubtype="0" fill="hold" grpId="0" nodeType="withEffect">
                                  <p:stCondLst>
                                    <p:cond delay="800"/>
                                  </p:stCondLst>
                                  <p:childTnLst>
                                    <p:set>
                                      <p:cBhvr>
                                        <p:cTn id="160" dur="1" fill="hold">
                                          <p:stCondLst>
                                            <p:cond delay="0"/>
                                          </p:stCondLst>
                                        </p:cTn>
                                        <p:tgtEl>
                                          <p:spTgt spid="20078"/>
                                        </p:tgtEl>
                                        <p:attrNameLst>
                                          <p:attrName>style.visibility</p:attrName>
                                        </p:attrNameLst>
                                      </p:cBhvr>
                                      <p:to>
                                        <p:strVal val="visible"/>
                                      </p:to>
                                    </p:set>
                                    <p:animEffect transition="in" filter="fade">
                                      <p:cBhvr>
                                        <p:cTn id="161" dur="500"/>
                                        <p:tgtEl>
                                          <p:spTgt spid="200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6A1DA8-3169-D41D-49F1-F28B39BF7C9E}"/>
                  </a:ext>
                </a:extLst>
              </p:cNvPr>
              <p:cNvSpPr txBox="1"/>
              <p:nvPr/>
            </p:nvSpPr>
            <p:spPr>
              <a:xfrm>
                <a:off x="2025650" y="2260600"/>
                <a:ext cx="5080000" cy="13335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𝑇</m:t>
                          </m:r>
                        </m:e>
                      </m:acc>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r>
                        <a:rPr lang="en-US" sz="1600" b="0" i="1" smtClean="0">
                          <a:latin typeface="Cambria Math" panose="02040503050406030204" pitchFamily="18" charset="0"/>
                        </a:rPr>
                        <m:t>=</m:t>
                      </m:r>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1</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𝑇</m:t>
                          </m:r>
                        </m:e>
                        <m:sub>
                          <m:r>
                            <a:rPr lang="en-US" sz="1600" b="0" i="1" smtClean="0">
                              <a:latin typeface="Cambria Math" panose="02040503050406030204" pitchFamily="18" charset="0"/>
                            </a:rPr>
                            <m:t>𝑠</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2</m:t>
                          </m:r>
                        </m:sub>
                      </m:sSub>
                      <m:r>
                        <a:rPr lang="en-US" sz="1600" b="0" i="1" smtClean="0">
                          <a:latin typeface="Cambria Math" panose="02040503050406030204" pitchFamily="18" charset="0"/>
                        </a:rPr>
                        <m:t>(</m:t>
                      </m:r>
                      <m:r>
                        <a:rPr lang="en-US" sz="1600" b="0" i="1" smtClean="0">
                          <a:latin typeface="Cambria Math" panose="02040503050406030204" pitchFamily="18" charset="0"/>
                        </a:rPr>
                        <m:t>𝑡</m:t>
                      </m:r>
                      <m:r>
                        <a:rPr lang="en-US" sz="1600" b="0" i="1" smtClean="0">
                          <a:latin typeface="Cambria Math" panose="02040503050406030204" pitchFamily="18" charset="0"/>
                        </a:rPr>
                        <m:t>) </m:t>
                      </m:r>
                    </m:oMath>
                  </m:oMathPara>
                </a14:m>
                <a:endParaRPr lang="en-NL" sz="1600" dirty="0"/>
              </a:p>
            </p:txBody>
          </p:sp>
        </mc:Choice>
        <mc:Fallback xmlns="">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2025650" y="2260600"/>
                <a:ext cx="5080000" cy="1333500"/>
              </a:xfrm>
              <a:prstGeom prst="rect">
                <a:avLst/>
              </a:prstGeom>
              <a:blipFill>
                <a:blip r:embed="rId3"/>
                <a:stretch>
                  <a:fillRect t="-22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1560D5-3827-94F1-89E3-71A5FECACCB6}"/>
                  </a:ext>
                </a:extLst>
              </p:cNvPr>
              <p:cNvSpPr txBox="1"/>
              <p:nvPr/>
            </p:nvSpPr>
            <p:spPr>
              <a:xfrm>
                <a:off x="5511800" y="2190750"/>
                <a:ext cx="5080000" cy="762000"/>
              </a:xfrm>
              <a:prstGeom prst="rect">
                <a:avLst/>
              </a:prstGeom>
              <a:noFill/>
              <a:ln>
                <a:noFill/>
              </a:ln>
            </p:spPr>
            <p:txBody>
              <a:bodyPr wrap="none" lIns="0" tIns="0" rIns="0" bIns="0" rtlCol="0" anchor="t">
                <a:noAutofit/>
              </a:bodyPr>
              <a:lstStyle/>
              <a:p>
                <a:pPr algn="ctr">
                  <a:spcAft>
                    <a:spcPts val="0"/>
                  </a:spcAft>
                  <a:defRPr sz="1500" b="0" u="none" cap="none">
                    <a:solidFill>
                      <a:srgbClr val="252529"/>
                    </a:solidFill>
                    <a:latin typeface="Cambria Math"/>
                    <a:ea typeface="Cambria Math"/>
                    <a:cs typeface="Cambria Math"/>
                  </a:defRPr>
                </a:pPr>
                <a14:m>
                  <m:oMathPara xmlns:m="http://schemas.openxmlformats.org/officeDocument/2006/math">
                    <m:oMath>
                      <m:eqArr>
                        <m:eqArrPr>
                          <m:ctrlPr>
                            <a:rPr lang="en-US" sz="1500" b="0" i="1" smtClean="0">
                              <a:latin typeface="Cambria Math" panose="02040503050406030204" pitchFamily="18" charset="0"/>
                            </a:rPr>
                          </m:ctrlPr>
                        </m:eqArrPr>
                        <m:e>
                          <m:acc>
                            <m:accPr>
                              <m:chr m:val="̇"/>
                              <m:ctrlPr>
                                <a:rPr lang="en-US" sz="1500" b="0" i="1" smtClean="0">
                                  <a:latin typeface="Cambria Math" panose="02040503050406030204" pitchFamily="18" charset="0"/>
                                </a:rPr>
                              </m:ctrlPr>
                            </m:accPr>
                            <m:e>
                              <m:r>
                                <a:rPr lang="en-US" sz="1500" b="0" i="1" smtClean="0">
                                  <a:latin typeface="Cambria Math" panose="02040503050406030204" pitchFamily="18" charset="0"/>
                                </a:rPr>
                                <m:t>𝑢</m:t>
                              </m:r>
                            </m:e>
                          </m:acc>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𝑠</m:t>
                              </m:r>
                            </m:e>
                          </m:d>
                          <m:r>
                            <a:rPr lang="en-US" sz="1500" b="0" i="1" smtClean="0">
                              <a:latin typeface="Cambria Math" panose="02040503050406030204" pitchFamily="18" charset="0"/>
                            </a:rPr>
                            <m:t>=</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1</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r>
                            <a:rPr lang="en-US" sz="1500" b="0" i="1" smtClean="0">
                              <a:latin typeface="Cambria Math" panose="02040503050406030204" pitchFamily="18" charset="0"/>
                            </a:rPr>
                            <m:t>𝑠</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2</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nary>
                            <m:naryPr>
                              <m:limLoc m:val="subSup"/>
                              <m:ctrlPr>
                                <a:rPr lang="en-US" sz="1500" b="0" i="1" smtClean="0">
                                  <a:latin typeface="Cambria Math" panose="02040503050406030204" pitchFamily="18" charset="0"/>
                                </a:rPr>
                              </m:ctrlPr>
                            </m:naryPr>
                            <m:sub>
                              <m:r>
                                <a:rPr lang="en-US" sz="1500" b="0" i="1" smtClean="0">
                                  <a:latin typeface="Cambria Math" panose="02040503050406030204" pitchFamily="18" charset="0"/>
                                </a:rPr>
                                <m:t>0</m:t>
                              </m:r>
                            </m:sub>
                            <m:sup>
                              <m:r>
                                <a:rPr lang="en-US" sz="1500" b="0" i="1" smtClean="0">
                                  <a:latin typeface="Cambria Math" panose="02040503050406030204" pitchFamily="18" charset="0"/>
                                </a:rPr>
                                <m:t>𝑠</m:t>
                              </m:r>
                            </m:sup>
                            <m:e>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𝑠</m:t>
                                  </m:r>
                                  <m:r>
                                    <a:rPr lang="en-US" sz="1500" b="0" i="1" smtClean="0">
                                      <a:latin typeface="Cambria Math" panose="02040503050406030204" pitchFamily="18" charset="0"/>
                                    </a:rPr>
                                    <m:t>−</m:t>
                                  </m:r>
                                  <m:r>
                                    <a:rPr lang="en-US" sz="1500" b="0" i="1" smtClean="0">
                                      <a:latin typeface="Cambria Math" panose="02040503050406030204" pitchFamily="18" charset="0"/>
                                    </a:rPr>
                                    <m:t>𝜉</m:t>
                                  </m:r>
                                </m:e>
                              </m:d>
                            </m:e>
                          </m:nary>
                          <m:sSub>
                            <m:sSubPr>
                              <m:ctrlPr>
                                <a:rPr lang="en-US" sz="1500" b="0" i="1" smtClean="0">
                                  <a:latin typeface="Cambria Math" panose="02040503050406030204" pitchFamily="18" charset="0"/>
                                </a:rPr>
                              </m:ctrlPr>
                            </m:sSubPr>
                            <m:e>
                              <m:r>
                                <a:rPr lang="en-US" sz="1500" b="0" i="1" smtClean="0">
                                  <a:latin typeface="Cambria Math" panose="02040503050406030204" pitchFamily="18" charset="0"/>
                                </a:rPr>
                                <m:t>𝑢</m:t>
                              </m:r>
                            </m:e>
                            <m:sub>
                              <m:r>
                                <a:rPr lang="en-US" sz="1500" b="0" i="1" smtClean="0">
                                  <a:latin typeface="Cambria Math" panose="02040503050406030204" pitchFamily="18" charset="0"/>
                                </a:rPr>
                                <m:t>𝜉𝜉</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𝜉</m:t>
                              </m:r>
                            </m:e>
                          </m:d>
                          <m:r>
                            <a:rPr lang="en-US" sz="1500" b="0" i="1" smtClean="0">
                              <a:latin typeface="Cambria Math" panose="02040503050406030204" pitchFamily="18" charset="0"/>
                            </a:rPr>
                            <m:t>𝑑</m:t>
                          </m:r>
                          <m:r>
                            <a:rPr lang="en-US" sz="1500" b="0" i="1" smtClean="0">
                              <a:latin typeface="Cambria Math" panose="02040503050406030204" pitchFamily="18" charset="0"/>
                            </a:rPr>
                            <m:t>𝜉</m:t>
                          </m:r>
                        </m:e>
                      </m:eqArr>
                    </m:oMath>
                  </m:oMathPara>
                </a14:m>
                <a:endParaRPr lang="en-NL" sz="1500" dirty="0"/>
              </a:p>
            </p:txBody>
          </p:sp>
        </mc:Choice>
        <mc:Fallback xmlns="">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5511800" y="2190750"/>
                <a:ext cx="5080000" cy="762000"/>
              </a:xfrm>
              <a:prstGeom prst="rect">
                <a:avLst/>
              </a:prstGeom>
              <a:blipFill>
                <a:blip r:embed="rId4"/>
                <a:stretch>
                  <a:fillRect b="-29600"/>
                </a:stretch>
              </a:blipFill>
              <a:ln>
                <a:noFill/>
              </a:ln>
            </p:spPr>
            <p:txBody>
              <a:bodyPr/>
              <a:lstStyle/>
              <a:p>
                <a:r>
                  <a:rPr lang="en-NL">
                    <a:noFill/>
                  </a:rPr>
                  <a:t> </a:t>
                </a:r>
              </a:p>
            </p:txBody>
          </p:sp>
        </mc:Fallback>
      </mc:AlternateContent>
      <p:pic>
        <p:nvPicPr>
          <p:cNvPr id="24"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3606800" y="2514600"/>
                <a:ext cx="5080000" cy="1917700"/>
              </a:xfrm>
              <a:prstGeom prst="rect">
                <a:avLst/>
              </a:prstGeom>
              <a:noFill/>
              <a:ln>
                <a:noFill/>
              </a:ln>
            </p:spPr>
            <p:txBody>
              <a:bodyPr wrap="none" lIns="0" tIns="0" rIns="0" bIns="0" rtlCol="0" anchor="t">
                <a:noAutofit/>
              </a:bodyPr>
              <a:lstStyle/>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sSub>
                        <m:sSubPr>
                          <m:ctrlPr>
                            <a:rPr lang="en-US" sz="2100" b="0" i="1" smtClean="0">
                              <a:latin typeface="Cambria Math" panose="02040503050406030204" pitchFamily="18" charset="0"/>
                            </a:rPr>
                          </m:ctrlPr>
                        </m:sSubPr>
                        <m:e>
                          <m:acc>
                            <m:accPr>
                              <m:chr m:val="̇"/>
                              <m:ctrlPr>
                                <a:rPr lang="en-US" sz="2100" b="0" i="1" smtClean="0">
                                  <a:latin typeface="Cambria Math" panose="02040503050406030204" pitchFamily="18" charset="0"/>
                                </a:rPr>
                              </m:ctrlPr>
                            </m:accPr>
                            <m:e>
                              <m:r>
                                <a:rPr lang="en-US" sz="2100" b="0" i="1" smtClean="0">
                                  <a:latin typeface="Cambria Math" panose="02040503050406030204" pitchFamily="18" charset="0"/>
                                </a:rPr>
                                <m:t>𝐱</m:t>
                              </m:r>
                            </m:e>
                          </m:acc>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ℬ</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i="1" dirty="0">
                  <a:latin typeface="Cambria Math" panose="02040503050406030204" pitchFamily="18" charset="0"/>
                </a:endParaRPr>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latin typeface="Cambria Math" panose="02040503050406030204" pitchFamily="18" charset="0"/>
                        </a:rPr>
                        <m:t>𝑧</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𝒞</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𝒟</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dirty="0"/>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r>
                        <a:rPr lang="en-US" sz="2100" b="0" i="1" smtClean="0">
                          <a:latin typeface="Cambria Math" panose="02040503050406030204" pitchFamily="18" charset="0"/>
                        </a:rPr>
                        <m:t>,....∈</m:t>
                      </m:r>
                      <m:sSub>
                        <m:sSubPr>
                          <m:ctrlPr>
                            <a:rPr lang="en-US" sz="2100" b="0" i="1" smtClean="0">
                              <a:latin typeface="Cambria Math" panose="02040503050406030204" pitchFamily="18" charset="0"/>
                            </a:rPr>
                          </m:ctrlPr>
                        </m:sSubPr>
                        <m:e>
                          <m:r>
                            <m:rPr>
                              <m:sty m:val="p"/>
                            </m:rPr>
                            <a:rPr lang="en-US" sz="2100" b="0" i="1" smtClean="0">
                              <a:latin typeface="Cambria Math" panose="02040503050406030204" pitchFamily="18" charset="0"/>
                            </a:rPr>
                            <m:t>Π</m:t>
                          </m:r>
                        </m:e>
                        <m:sub>
                          <m:r>
                            <a:rPr lang="en-US" sz="2100" b="0" i="1" smtClean="0">
                              <a:latin typeface="Cambria Math" panose="02040503050406030204" pitchFamily="18" charset="0"/>
                            </a:rPr>
                            <m:t>4</m:t>
                          </m:r>
                        </m:sub>
                      </m:sSub>
                    </m:oMath>
                  </m:oMathPara>
                </a14:m>
                <a:endParaRPr lang="en-US" sz="2100" b="0" dirty="0"/>
              </a:p>
              <a:p>
                <a:pPr algn="ctr">
                  <a:spcAft>
                    <a:spcPts val="0"/>
                  </a:spcAft>
                  <a:defRPr sz="2100" b="0" u="none" cap="none">
                    <a:solidFill>
                      <a:srgbClr val="252529"/>
                    </a:solidFill>
                    <a:latin typeface="Cambria Math"/>
                    <a:ea typeface="Cambria Math"/>
                    <a:cs typeface="Cambria Math"/>
                  </a:defRPr>
                </a:pPr>
                <a:endParaRPr lang="en-NL" sz="2100" dirty="0"/>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3606800" y="2514600"/>
                <a:ext cx="5080000" cy="1917700"/>
              </a:xfrm>
              <a:prstGeom prst="rect">
                <a:avLst/>
              </a:prstGeom>
              <a:noFill/>
              <a:ln>
                <a:noFill/>
              </a:ln>
            </p:spPr>
            <p:txBody>
              <a:bodyPr lIns="0" rIns="0" tIns="0" bIns="0" anchor="t" wrap="none">
                <a:noAutofit/>
              </a:bodyPr>
              <a:lstStyle/>
              <a:p>
                <a:pPr algn="ctr">
                  <a:spcAft>
                    <a:spcPts val="0"/>
                  </a:spcAft>
                  <a:defRPr sz="2100" b="0" u="none" cap="none">
                    <a:solidFill>
                      <a:srgbClr val="252529"/>
                    </a:solidFill>
                    <a:latin typeface="Cambria Math"/>
                    <a:ea typeface="Cambria Math"/>
                    <a:cs typeface="Cambria Math"/>
                  </a:defRPr>
                </a:pPr>
                <a:r>
                  <a:rPr lang="en-NL" sz="21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3606800" y="2971800"/>
                <a:ext cx="5080000" cy="1143000"/>
              </a:xfrm>
              <a:prstGeom prst="rect">
                <a:avLst/>
              </a:prstGeom>
              <a:noFill/>
              <a:ln>
                <a:noFill/>
              </a:ln>
            </p:spPr>
            <p:txBody>
              <a:bodyPr wrap="none" lIns="0" tIns="0" rIns="0" bIns="0" rtlCol="0" anchor="t">
                <a:noAutofit/>
              </a:bodyPr>
              <a:lstStyle/>
              <a:p>
                <a:pPr algn="ctr">
                  <a:spcAft>
                    <a:spcPts val="0"/>
                  </a:spcAft>
                  <a:defRPr sz="1300" b="0" u="none" cap="none">
                    <a:solidFill>
                      <a:srgbClr val="252529"/>
                    </a:solidFill>
                    <a:latin typeface="Cambria Math"/>
                    <a:ea typeface="Cambria Math"/>
                    <a:cs typeface="Cambria Math"/>
                  </a:defRPr>
                </a:pPr>
                <a14:m>
                  <m:oMathPara xmlns:m="http://schemas.openxmlformats.org/officeDocument/2006/math">
                    <m:oMath>
                      <m:r>
                        <a:rPr lang="en-US" sz="1300" b="0" i="1" smtClean="0">
                          <a:latin typeface="Cambria Math" panose="02040503050406030204" pitchFamily="18" charset="0"/>
                        </a:rPr>
                        <m:t>𝒜</m:t>
                      </m:r>
                      <m:r>
                        <a:rPr lang="en-US" sz="1300" b="0" i="1" smtClean="0">
                          <a:latin typeface="Cambria Math" panose="02040503050406030204" pitchFamily="18" charset="0"/>
                        </a:rPr>
                        <m:t>+</m:t>
                      </m:r>
                      <m:r>
                        <a:rPr lang="en-US" sz="1300" b="0" i="1" smtClean="0">
                          <a:latin typeface="Cambria Math" panose="02040503050406030204" pitchFamily="18" charset="0"/>
                        </a:rPr>
                        <m:t>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r>
                        <a:rPr lang="en-US" sz="1300" b="0" i="1" smtClean="0">
                          <a:latin typeface="Cambria Math" panose="02040503050406030204" pitchFamily="18" charset="0"/>
                        </a:rPr>
                        <m:t>𝒜ℬ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sSup>
                        <m:sSupPr>
                          <m:ctrlPr>
                            <a:rPr lang="en-US" sz="1300" b="0" i="1" smtClean="0">
                              <a:latin typeface="Cambria Math" panose="02040503050406030204" pitchFamily="18" charset="0"/>
                            </a:rPr>
                          </m:ctrlPr>
                        </m:sSupPr>
                        <m:e>
                          <m:r>
                            <a:rPr lang="en-US" sz="1300" b="0" i="1" smtClean="0">
                              <a:latin typeface="Cambria Math" panose="02040503050406030204" pitchFamily="18" charset="0"/>
                            </a:rPr>
                            <m:t>𝒜</m:t>
                          </m:r>
                        </m:e>
                        <m:sup>
                          <m:r>
                            <a:rPr lang="en-US" sz="1300" b="0" i="1" smtClean="0">
                              <a:latin typeface="Cambria Math" panose="02040503050406030204" pitchFamily="18" charset="0"/>
                            </a:rPr>
                            <m:t>∗</m:t>
                          </m:r>
                        </m:sup>
                      </m:sSup>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d>
                        <m:dPr>
                          <m:begChr m:val="["/>
                          <m:endChr m:val="]"/>
                          <m:ctrlPr>
                            <a:rPr lang="en-US" sz="1300" b="0" i="1" smtClean="0">
                              <a:latin typeface="Cambria Math" panose="02040503050406030204" pitchFamily="18" charset="0"/>
                            </a:rPr>
                          </m:ctrlPr>
                        </m:dPr>
                        <m:e>
                          <m:m>
                            <m:mPr>
                              <m:mcs>
                                <m:mc>
                                  <m:mcPr>
                                    <m:count m:val="2"/>
                                    <m:mcJc m:val="center"/>
                                  </m:mcPr>
                                </m:mc>
                              </m:mcs>
                              <m:ctrlPr>
                                <a:rPr lang="en-US" sz="1300" b="0" i="1" smtClean="0">
                                  <a:latin typeface="Cambria Math" panose="02040503050406030204" pitchFamily="18" charset="0"/>
                                </a:rPr>
                              </m:ctrlPr>
                            </m:mPr>
                            <m:mr>
                              <m:e>
                                <m:r>
                                  <a:rPr lang="en-US" sz="1300" b="0" i="1" smtClean="0">
                                    <a:latin typeface="Cambria Math" panose="02040503050406030204" pitchFamily="18" charset="0"/>
                                  </a:rPr>
                                  <m:t>𝒜</m:t>
                                </m:r>
                              </m:e>
                              <m:e>
                                <m:r>
                                  <a:rPr lang="en-US" sz="1300" b="0" i="1" smtClean="0">
                                    <a:latin typeface="Cambria Math" panose="02040503050406030204" pitchFamily="18" charset="0"/>
                                  </a:rPr>
                                  <m:t>ℬ</m:t>
                                </m:r>
                              </m:e>
                            </m:mr>
                          </m:m>
                        </m:e>
                      </m:d>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oMath>
                  </m:oMathPara>
                </a14:m>
                <a:endParaRPr lang="en-US" sz="1300" b="0" dirty="0"/>
              </a:p>
              <a:p>
                <a:pPr algn="ctr">
                  <a:spcAft>
                    <a:spcPts val="0"/>
                  </a:spcAft>
                  <a:defRPr sz="1300" b="0" u="none" cap="none">
                    <a:solidFill>
                      <a:srgbClr val="252529"/>
                    </a:solidFill>
                    <a:latin typeface="Cambria Math"/>
                    <a:ea typeface="Cambria Math"/>
                    <a:cs typeface="Cambria Math"/>
                  </a:defRPr>
                </a:pPr>
                <a:endParaRPr lang="en-NL" sz="1300" dirty="0"/>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3606800" y="2971800"/>
                <a:ext cx="5080000" cy="1143000"/>
              </a:xfrm>
              <a:prstGeom prst="rect">
                <a:avLst/>
              </a:prstGeom>
              <a:noFill/>
              <a:ln>
                <a:noFill/>
              </a:ln>
            </p:spPr>
            <p:txBody>
              <a:bodyPr lIns="0" rIns="0" tIns="0" bIns="0" anchor="t" wrap="none">
                <a:noAutofit/>
              </a:bodyPr>
              <a:lstStyle/>
              <a:p>
                <a:pPr algn="ctr">
                  <a:spcAft>
                    <a:spcPts val="0"/>
                  </a:spcAft>
                  <a:defRPr sz="1300" b="0" u="none" cap="none">
                    <a:solidFill>
                      <a:srgbClr val="252529"/>
                    </a:solidFill>
                    <a:latin typeface="Cambria Math"/>
                    <a:ea typeface="Cambria Math"/>
                    <a:cs typeface="Cambria Math"/>
                  </a:defRPr>
                </a:pPr>
                <a:r>
                  <a:rPr lang="en-NL" sz="13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3606800" y="2667000"/>
                <a:ext cx="5080000" cy="14224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r>
                  <a:rPr lang="en-US" sz="1600" b="0" i="1" dirty="0"/>
                  <a:t>Exponential stability  of PDE</a:t>
                </a: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m:t>
                      </m:r>
                      <m:r>
                        <a:rPr lang="en-US" sz="1600" b="0" i="1" smtClean="0">
                          <a:latin typeface="Cambria Math" panose="02040503050406030204" pitchFamily="18" charset="0"/>
                        </a:rPr>
                        <m:t>𝒫</m:t>
                      </m:r>
                      <m:r>
                        <a:rPr lang="en-US" sz="1600" b="0" i="1" smtClean="0">
                          <a:latin typeface="Cambria Math" panose="02040503050406030204" pitchFamily="18" charset="0"/>
                        </a:rPr>
                        <m:t>≻0, </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𝒫𝒜</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𝒜</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r>
                        <a:rPr lang="en-US" sz="1600" b="0" i="1" smtClean="0">
                          <a:latin typeface="Cambria Math" panose="02040503050406030204" pitchFamily="18" charset="0"/>
                        </a:rPr>
                        <m:t>⪯−</m:t>
                      </m:r>
                      <m:r>
                        <a:rPr lang="en-US" sz="1600" b="0" i="1" smtClean="0">
                          <a:latin typeface="Cambria Math" panose="02040503050406030204" pitchFamily="18" charset="0"/>
                        </a:rPr>
                        <m:t>𝛼</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  </m:t>
                      </m:r>
                    </m:oMath>
                  </m:oMathPara>
                </a14:m>
                <a:endParaRPr lang="en-NL" sz="1600" dirty="0"/>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3606800" y="2667000"/>
                <a:ext cx="5080000" cy="1422400"/>
              </a:xfrm>
              <a:prstGeom prst="rect">
                <a:avLst/>
              </a:prstGeom>
              <a:noFill/>
              <a:ln>
                <a:noFill/>
              </a:ln>
            </p:spPr>
            <p:txBody>
              <a:bodyPr lIns="0" rIns="0" tIns="0" bIns="0" anchor="t" wrap="none">
                <a:noAutofit/>
              </a:bodyPr>
              <a:lstStyle/>
              <a:p>
                <a:pPr algn="ctr">
                  <a:spcAft>
                    <a:spcPts val="0"/>
                  </a:spcAft>
                  <a:defRPr sz="1600" b="0" u="none" cap="none">
                    <a:solidFill>
                      <a:srgbClr val="252529"/>
                    </a:solidFill>
                    <a:latin typeface="Cambria Math"/>
                    <a:ea typeface="Cambria Math"/>
                    <a:cs typeface="Cambria Math"/>
                  </a:defRPr>
                </a:pPr>
                <a:r>
                  <a:rPr lang="en-NL" sz="16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25</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6" name="TextBox 5">
            <a:extLst>
              <a:ext uri="{FF2B5EF4-FFF2-40B4-BE49-F238E27FC236}">
                <a16:creationId xmlns:a16="http://schemas.microsoft.com/office/drawing/2014/main" id="{B97EE0E7-879C-FD55-BE25-E673438E10EB}"/>
              </a:ext>
            </a:extLst>
          </p:cNvPr>
          <p:cNvSpPr txBox="1"/>
          <p:nvPr/>
        </p:nvSpPr>
        <p:spPr>
          <a:xfrm>
            <a:off x="5924550" y="3771900"/>
            <a:ext cx="1777859" cy="300082"/>
          </a:xfrm>
          <a:prstGeom prst="rect">
            <a:avLst/>
          </a:prstGeom>
          <a:noFill/>
        </p:spPr>
        <p:txBody>
          <a:bodyPr wrap="none" rtlCol="0">
            <a:spAutoFit/>
          </a:bodyPr>
          <a:lstStyle/>
          <a:p>
            <a:r>
              <a:rPr lang="en-US" dirty="0"/>
              <a:t>Cite </a:t>
            </a:r>
            <a:r>
              <a:rPr lang="en-US" dirty="0" err="1"/>
              <a:t>gpde</a:t>
            </a:r>
            <a:r>
              <a:rPr lang="en-US" dirty="0"/>
              <a:t> application</a:t>
            </a:r>
            <a:endParaRPr lang="en-NL" dirty="0"/>
          </a:p>
        </p:txBody>
      </p:sp>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sp>
        <p:nvSpPr>
          <p:cNvPr id="7" name="Rectangle 6">
            <a:extLst>
              <a:ext uri="{FF2B5EF4-FFF2-40B4-BE49-F238E27FC236}">
                <a16:creationId xmlns:a16="http://schemas.microsoft.com/office/drawing/2014/main" id="{5A11FD28-5ADD-1DFA-782F-6BACA65CABFA}"/>
              </a:ext>
            </a:extLst>
          </p:cNvPr>
          <p:cNvSpPr/>
          <p:nvPr/>
        </p:nvSpPr>
        <p:spPr>
          <a:xfrm>
            <a:off x="457200" y="0"/>
            <a:ext cx="3253494" cy="51435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9" name="Rectangle 8">
            <a:extLst>
              <a:ext uri="{FF2B5EF4-FFF2-40B4-BE49-F238E27FC236}">
                <a16:creationId xmlns:a16="http://schemas.microsoft.com/office/drawing/2014/main" id="{4AA35D6A-80BD-7E81-5B25-C0A956570771}"/>
              </a:ext>
            </a:extLst>
          </p:cNvPr>
          <p:cNvSpPr/>
          <p:nvPr/>
        </p:nvSpPr>
        <p:spPr>
          <a:xfrm>
            <a:off x="5280908" y="0"/>
            <a:ext cx="3253494" cy="51435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p:grpSp>
        <p:nvGrpSpPr>
          <p:cNvPr id="11" name="Complete LFR">
            <a:extLst>
              <a:ext uri="{FF2B5EF4-FFF2-40B4-BE49-F238E27FC236}">
                <a16:creationId xmlns:a16="http://schemas.microsoft.com/office/drawing/2014/main" id="{9ABA1CC7-950B-27AA-22AE-FF6B70D69927}"/>
              </a:ext>
            </a:extLst>
          </p:cNvPr>
          <p:cNvGrpSpPr/>
          <p:nvPr/>
        </p:nvGrpSpPr>
        <p:grpSpPr>
          <a:xfrm>
            <a:off x="305947" y="1208971"/>
            <a:ext cx="3556000" cy="2725557"/>
            <a:chOff x="1995932" y="1819148"/>
            <a:chExt cx="3138932" cy="2405888"/>
          </a:xfrm>
        </p:grpSpPr>
        <p:sp>
          <p:nvSpPr>
            <p:cNvPr id="1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8"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chemeClr val="bg1"/>
                            </a:solidFill>
                            <a:latin typeface="Cambria Math"/>
                          </a:rPr>
                          <m:t>𝑢</m:t>
                        </m:r>
                      </m:oMath>
                    </m:oMathPara>
                  </a14:m>
                  <a:endParaRPr lang="en-NL" sz="1998" dirty="0">
                    <a:solidFill>
                      <a:schemeClr val="bg1"/>
                    </a:solidFill>
                  </a:endParaRPr>
                </a:p>
              </p:txBody>
            </p:sp>
          </mc:Choice>
          <mc:Fallback>
            <p:sp>
              <p:nvSpPr>
                <p:cNvPr id="18"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2"/>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9"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NL" sz="1998" smtClean="0">
                                <a:solidFill>
                                  <a:schemeClr val="bg1"/>
                                </a:solidFill>
                                <a:latin typeface="Cambria Math"/>
                              </a:rPr>
                            </m:ctrlPr>
                          </m:sSubPr>
                          <m:e>
                            <m:r>
                              <a:rPr lang="en-NL" sz="1998" smtClean="0">
                                <a:solidFill>
                                  <a:schemeClr val="bg1"/>
                                </a:solidFill>
                                <a:latin typeface="Cambria Math"/>
                              </a:rPr>
                              <m:t>𝑦</m:t>
                            </m:r>
                          </m:e>
                          <m:sub/>
                        </m:sSub>
                      </m:oMath>
                    </m:oMathPara>
                  </a14:m>
                  <a:endParaRPr sz="1998" dirty="0"/>
                </a:p>
              </p:txBody>
            </p:sp>
          </mc:Choice>
          <mc:Fallback>
            <p:sp>
              <p:nvSpPr>
                <p:cNvPr id="19"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3"/>
                  <a:stretch>
                    <a:fillRect b="-2817"/>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0"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chemeClr val="bg1"/>
                            </a:solidFill>
                            <a:latin typeface="Cambria Math"/>
                          </a:rPr>
                          <m:t>𝑧</m:t>
                        </m:r>
                      </m:oMath>
                    </m:oMathPara>
                  </a14:m>
                  <a:endParaRPr lang="en-NL" sz="1998" dirty="0">
                    <a:solidFill>
                      <a:schemeClr val="bg1"/>
                    </a:solidFill>
                  </a:endParaRPr>
                </a:p>
              </p:txBody>
            </p:sp>
          </mc:Choice>
          <mc:Fallback>
            <p:sp>
              <p:nvSpPr>
                <p:cNvPr id="20"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1"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chemeClr val="bg1"/>
                            </a:solidFill>
                            <a:latin typeface="Cambria Math"/>
                          </a:rPr>
                          <m:t>𝑤</m:t>
                        </m:r>
                      </m:oMath>
                    </m:oMathPara>
                  </a14:m>
                  <a:endParaRPr lang="en-NL" sz="1998" dirty="0">
                    <a:solidFill>
                      <a:schemeClr val="bg1"/>
                    </a:solidFill>
                  </a:endParaRPr>
                </a:p>
              </p:txBody>
            </p:sp>
          </mc:Choice>
          <mc:Fallback>
            <p:sp>
              <p:nvSpPr>
                <p:cNvPr id="21"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5"/>
                  <a:stretch>
                    <a:fillRect/>
                  </a:stretch>
                </a:blipFill>
                <a:ln>
                  <a:noFill/>
                </a:ln>
              </p:spPr>
              <p:txBody>
                <a:bodyPr/>
                <a:lstStyle/>
                <a:p>
                  <a:r>
                    <a:rPr lang="en-NL">
                      <a:noFill/>
                    </a:rPr>
                    <a:t> </a:t>
                  </a:r>
                </a:p>
              </p:txBody>
            </p:sp>
          </mc:Fallback>
        </mc:AlternateContent>
        <p:sp>
          <p:nvSpPr>
            <p:cNvPr id="22"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4" name="Plant">
              <a:extLst>
                <a:ext uri="{FF2B5EF4-FFF2-40B4-BE49-F238E27FC236}">
                  <a16:creationId xmlns:a16="http://schemas.microsoft.com/office/drawing/2014/main" id="{ECF280A1-CDC2-6120-5120-C89B719C73F7}"/>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mc:Choice xmlns:a14="http://schemas.microsoft.com/office/drawing/2010/main" Requires="a14">
            <p:sp>
              <p:nvSpPr>
                <p:cNvPr id="25" name="Plant label">
                  <a:extLst>
                    <a:ext uri="{FF2B5EF4-FFF2-40B4-BE49-F238E27FC236}">
                      <a16:creationId xmlns:a16="http://schemas.microsoft.com/office/drawing/2014/main" id="{B0AA7ADA-FC8B-B94D-4370-64D9BFD7FE0E}"/>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p:sp>
              <p:nvSpPr>
                <p:cNvPr id="25" name="Plant label">
                  <a:extLst>
                    <a:ext uri="{FF2B5EF4-FFF2-40B4-BE49-F238E27FC236}">
                      <a16:creationId xmlns:a16="http://schemas.microsoft.com/office/drawing/2014/main" id="{B0AA7ADA-FC8B-B94D-4370-64D9BFD7FE0E}"/>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a:stretch>
                </a:blipFill>
                <a:ln>
                  <a:noFill/>
                </a:ln>
              </p:spPr>
              <p:txBody>
                <a:bodyPr/>
                <a:lstStyle/>
                <a:p>
                  <a:r>
                    <a:rPr lang="en-NL">
                      <a:noFill/>
                    </a:rPr>
                    <a:t> </a:t>
                  </a:r>
                </a:p>
              </p:txBody>
            </p:sp>
          </mc:Fallback>
        </mc:AlternateContent>
      </p:grpSp>
      <p:grpSp>
        <p:nvGrpSpPr>
          <p:cNvPr id="26" name="Complete LFR">
            <a:extLst>
              <a:ext uri="{FF2B5EF4-FFF2-40B4-BE49-F238E27FC236}">
                <a16:creationId xmlns:a16="http://schemas.microsoft.com/office/drawing/2014/main" id="{694DB2D1-3979-BD73-6C1C-EDA0A861169B}"/>
              </a:ext>
            </a:extLst>
          </p:cNvPr>
          <p:cNvGrpSpPr/>
          <p:nvPr/>
        </p:nvGrpSpPr>
        <p:grpSpPr>
          <a:xfrm>
            <a:off x="5130800" y="1166383"/>
            <a:ext cx="3556000" cy="2725557"/>
            <a:chOff x="1995932" y="1819148"/>
            <a:chExt cx="3138932" cy="2405888"/>
          </a:xfrm>
        </p:grpSpPr>
        <p:sp>
          <p:nvSpPr>
            <p:cNvPr id="27"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8"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9"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1"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3"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chemeClr val="bg1"/>
                            </a:solidFill>
                            <a:latin typeface="Cambria Math"/>
                          </a:rPr>
                          <m:t>𝑢</m:t>
                        </m:r>
                      </m:oMath>
                    </m:oMathPara>
                  </a14:m>
                  <a:endParaRPr sz="1998" dirty="0"/>
                </a:p>
              </p:txBody>
            </p:sp>
          </mc:Choice>
          <mc:Fallback>
            <p:sp>
              <p:nvSpPr>
                <p:cNvPr id="33"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4"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chemeClr val="bg1"/>
                                </a:solidFill>
                                <a:latin typeface="Cambria Math"/>
                              </a:rPr>
                            </m:ctrlPr>
                          </m:sSubPr>
                          <m:e>
                            <m:r>
                              <a:rPr lang="ar-AE" sz="1998">
                                <a:solidFill>
                                  <a:schemeClr val="bg1"/>
                                </a:solidFill>
                                <a:latin typeface="Cambria Math"/>
                              </a:rPr>
                              <m:t>𝑦</m:t>
                            </m:r>
                          </m:e>
                          <m:sub/>
                        </m:sSub>
                      </m:oMath>
                    </m:oMathPara>
                  </a14:m>
                  <a:endParaRPr sz="1998" dirty="0"/>
                </a:p>
              </p:txBody>
            </p:sp>
          </mc:Choice>
          <mc:Fallback>
            <p:sp>
              <p:nvSpPr>
                <p:cNvPr id="34"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8"/>
                  <a:stretch>
                    <a:fillRect b="-2817"/>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5"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chemeClr val="bg1"/>
                            </a:solidFill>
                            <a:latin typeface="Cambria Math"/>
                          </a:rPr>
                          <m:t>𝑧</m:t>
                        </m:r>
                      </m:oMath>
                    </m:oMathPara>
                  </a14:m>
                  <a:endParaRPr lang="en-NL" sz="1998" dirty="0">
                    <a:solidFill>
                      <a:schemeClr val="bg1"/>
                    </a:solidFill>
                  </a:endParaRPr>
                </a:p>
              </p:txBody>
            </p:sp>
          </mc:Choice>
          <mc:Fallback>
            <p:sp>
              <p:nvSpPr>
                <p:cNvPr id="35"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6"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chemeClr val="bg1"/>
                            </a:solidFill>
                            <a:latin typeface="Cambria Math"/>
                          </a:rPr>
                          <m:t>𝑤</m:t>
                        </m:r>
                      </m:oMath>
                    </m:oMathPara>
                  </a14:m>
                  <a:endParaRPr sz="1998" dirty="0"/>
                </a:p>
              </p:txBody>
            </p:sp>
          </mc:Choice>
          <mc:Fallback>
            <p:sp>
              <p:nvSpPr>
                <p:cNvPr id="36"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0"/>
                  <a:stretch>
                    <a:fillRect/>
                  </a:stretch>
                </a:blipFill>
                <a:ln>
                  <a:noFill/>
                </a:ln>
              </p:spPr>
              <p:txBody>
                <a:bodyPr/>
                <a:lstStyle/>
                <a:p>
                  <a:r>
                    <a:rPr lang="en-NL">
                      <a:noFill/>
                    </a:rPr>
                    <a:t> </a:t>
                  </a:r>
                </a:p>
              </p:txBody>
            </p:sp>
          </mc:Fallback>
        </mc:AlternateContent>
        <p:sp>
          <p:nvSpPr>
            <p:cNvPr id="37"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8"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39" name="Plant">
              <a:extLst>
                <a:ext uri="{FF2B5EF4-FFF2-40B4-BE49-F238E27FC236}">
                  <a16:creationId xmlns:a16="http://schemas.microsoft.com/office/drawing/2014/main" id="{9C0B5016-375A-C512-AE07-3F87BA7FDF5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mc:Choice xmlns:a14="http://schemas.microsoft.com/office/drawing/2010/main" Requires="a14">
            <p:sp>
              <p:nvSpPr>
                <p:cNvPr id="40" name="Plant label">
                  <a:extLst>
                    <a:ext uri="{FF2B5EF4-FFF2-40B4-BE49-F238E27FC236}">
                      <a16:creationId xmlns:a16="http://schemas.microsoft.com/office/drawing/2014/main" id="{DF667A6E-DE63-9CED-6A1B-7B24CEDED7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p:sp>
              <p:nvSpPr>
                <p:cNvPr id="40" name="Plant label">
                  <a:extLst>
                    <a:ext uri="{FF2B5EF4-FFF2-40B4-BE49-F238E27FC236}">
                      <a16:creationId xmlns:a16="http://schemas.microsoft.com/office/drawing/2014/main" id="{DF667A6E-DE63-9CED-6A1B-7B24CEDED7AA}"/>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41" name="TextBox 40">
            <a:extLst>
              <a:ext uri="{FF2B5EF4-FFF2-40B4-BE49-F238E27FC236}">
                <a16:creationId xmlns:a16="http://schemas.microsoft.com/office/drawing/2014/main" id="{2D1A9F59-BF5B-88C4-67E8-527FEF140F0B}"/>
              </a:ext>
            </a:extLst>
          </p:cNvPr>
          <p:cNvSpPr txBox="1"/>
          <p:nvPr/>
        </p:nvSpPr>
        <p:spPr>
          <a:xfrm>
            <a:off x="5712700" y="4282193"/>
            <a:ext cx="2370905" cy="507831"/>
          </a:xfrm>
          <a:prstGeom prst="rect">
            <a:avLst/>
          </a:prstGeom>
          <a:noFill/>
        </p:spPr>
        <p:txBody>
          <a:bodyPr wrap="none" rtlCol="0">
            <a:spAutoFit/>
          </a:bodyPr>
          <a:lstStyle/>
          <a:p>
            <a:pPr algn="ctr"/>
            <a:r>
              <a:rPr lang="en-US" b="1" dirty="0">
                <a:solidFill>
                  <a:schemeClr val="bg1"/>
                </a:solidFill>
              </a:rPr>
              <a:t>SOLVED</a:t>
            </a:r>
            <a:r>
              <a:rPr lang="en-US" dirty="0">
                <a:solidFill>
                  <a:schemeClr val="bg1"/>
                </a:solidFill>
              </a:rPr>
              <a:t>:</a:t>
            </a:r>
            <a:br>
              <a:rPr lang="en-US" dirty="0">
                <a:solidFill>
                  <a:schemeClr val="bg1"/>
                </a:solidFill>
              </a:rPr>
            </a:br>
            <a:r>
              <a:rPr lang="en-US" dirty="0">
                <a:solidFill>
                  <a:schemeClr val="bg1"/>
                </a:solidFill>
              </a:rPr>
              <a:t>Way to solve PDEs using LMIs</a:t>
            </a:r>
            <a:endParaRPr lang="en-NL" dirty="0">
              <a:solidFill>
                <a:schemeClr val="bg1"/>
              </a:solidFill>
            </a:endParaRPr>
          </a:p>
        </p:txBody>
      </p:sp>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40DE4672-0AE0-9DAF-0EBC-FE5CD5F7AC12}"/>
                  </a:ext>
                </a:extLst>
              </p:cNvPr>
              <p:cNvSpPr txBox="1"/>
              <p:nvPr/>
            </p:nvSpPr>
            <p:spPr>
              <a:xfrm>
                <a:off x="4119976" y="1024119"/>
                <a:ext cx="823944" cy="923330"/>
              </a:xfrm>
              <a:prstGeom prst="rect">
                <a:avLst/>
              </a:prstGeom>
              <a:noFill/>
            </p:spPr>
            <p:txBody>
              <a:bodyPr wrap="none" lIns="0" tIns="0" rIns="0" bIns="0" rtlCol="0">
                <a:spAutoFit/>
              </a:bodyPr>
              <a:lstStyle/>
              <a:p>
                <a14:m>
                  <m:oMathPara xmlns:m="http://schemas.openxmlformats.org/officeDocument/2006/math">
                    <m:oMath>
                      <m:r>
                        <a:rPr lang="en-NL" sz="6000" i="1" smtClean="0">
                          <a:latin typeface="Cambria Math" panose="02040503050406030204" pitchFamily="18" charset="0"/>
                          <a:ea typeface="Cambria Math" panose="02040503050406030204" pitchFamily="18" charset="0"/>
                        </a:rPr>
                        <m:t>⇒</m:t>
                      </m:r>
                    </m:oMath>
                  </m:oMathPara>
                </a14:m>
                <a:endParaRPr lang="en-NL" dirty="0"/>
              </a:p>
            </p:txBody>
          </p:sp>
        </mc:Choice>
        <mc:Fallback>
          <p:sp>
            <p:nvSpPr>
              <p:cNvPr id="42" name="TextBox 41">
                <a:extLst>
                  <a:ext uri="{FF2B5EF4-FFF2-40B4-BE49-F238E27FC236}">
                    <a16:creationId xmlns:a16="http://schemas.microsoft.com/office/drawing/2014/main" id="{40DE4672-0AE0-9DAF-0EBC-FE5CD5F7AC12}"/>
                  </a:ext>
                </a:extLst>
              </p:cNvPr>
              <p:cNvSpPr txBox="1">
                <a:spLocks noRot="1" noChangeAspect="1" noMove="1" noResize="1" noEditPoints="1" noAdjustHandles="1" noChangeArrowheads="1" noChangeShapeType="1" noTextEdit="1"/>
              </p:cNvSpPr>
              <p:nvPr/>
            </p:nvSpPr>
            <p:spPr>
              <a:xfrm>
                <a:off x="4119976" y="1024119"/>
                <a:ext cx="823944" cy="923330"/>
              </a:xfrm>
              <a:prstGeom prst="rect">
                <a:avLst/>
              </a:prstGeom>
              <a:blipFill>
                <a:blip r:embed="rId12"/>
                <a:stretch>
                  <a:fillRect/>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44" name="TextBox 43">
                <a:extLst>
                  <a:ext uri="{FF2B5EF4-FFF2-40B4-BE49-F238E27FC236}">
                    <a16:creationId xmlns:a16="http://schemas.microsoft.com/office/drawing/2014/main" id="{8F71B0B0-2D51-B6B5-B392-4B9A0F1C9E6A}"/>
                  </a:ext>
                </a:extLst>
              </p:cNvPr>
              <p:cNvSpPr txBox="1"/>
              <p:nvPr/>
            </p:nvSpPr>
            <p:spPr>
              <a:xfrm rot="10800000">
                <a:off x="4083829" y="2713245"/>
                <a:ext cx="823944" cy="923330"/>
              </a:xfrm>
              <a:prstGeom prst="rect">
                <a:avLst/>
              </a:prstGeom>
              <a:noFill/>
            </p:spPr>
            <p:txBody>
              <a:bodyPr wrap="none" lIns="0" tIns="0" rIns="0" bIns="0" rtlCol="0">
                <a:spAutoFit/>
              </a:bodyPr>
              <a:lstStyle/>
              <a:p>
                <a:pPr/>
                <a14:m>
                  <m:oMathPara xmlns:m="http://schemas.openxmlformats.org/officeDocument/2006/math">
                    <m:oMath>
                      <m:r>
                        <a:rPr lang="en-NL" sz="6000" i="1" smtClean="0">
                          <a:latin typeface="Cambria Math" panose="02040503050406030204" pitchFamily="18" charset="0"/>
                          <a:ea typeface="Cambria Math" panose="02040503050406030204" pitchFamily="18" charset="0"/>
                        </a:rPr>
                        <m:t>⇒</m:t>
                      </m:r>
                    </m:oMath>
                  </m:oMathPara>
                </a14:m>
                <a:endParaRPr lang="en-NL" dirty="0"/>
              </a:p>
            </p:txBody>
          </p:sp>
        </mc:Choice>
        <mc:Fallback>
          <p:sp>
            <p:nvSpPr>
              <p:cNvPr id="44" name="TextBox 43">
                <a:extLst>
                  <a:ext uri="{FF2B5EF4-FFF2-40B4-BE49-F238E27FC236}">
                    <a16:creationId xmlns:a16="http://schemas.microsoft.com/office/drawing/2014/main" id="{8F71B0B0-2D51-B6B5-B392-4B9A0F1C9E6A}"/>
                  </a:ext>
                </a:extLst>
              </p:cNvPr>
              <p:cNvSpPr txBox="1">
                <a:spLocks noRot="1" noChangeAspect="1" noMove="1" noResize="1" noEditPoints="1" noAdjustHandles="1" noChangeArrowheads="1" noChangeShapeType="1" noTextEdit="1"/>
              </p:cNvSpPr>
              <p:nvPr/>
            </p:nvSpPr>
            <p:spPr>
              <a:xfrm rot="10800000">
                <a:off x="4083829" y="2713245"/>
                <a:ext cx="823944" cy="923330"/>
              </a:xfrm>
              <a:prstGeom prst="rect">
                <a:avLst/>
              </a:prstGeom>
              <a:blipFill>
                <a:blip r:embed="rId13"/>
                <a:stretch>
                  <a:fillRect/>
                </a:stretch>
              </a:blipFill>
            </p:spPr>
            <p:txBody>
              <a:bodyPr/>
              <a:lstStyle/>
              <a:p>
                <a:r>
                  <a:rPr lang="en-NL">
                    <a:noFill/>
                  </a:rPr>
                  <a:t> </a:t>
                </a:r>
              </a:p>
            </p:txBody>
          </p:sp>
        </mc:Fallback>
      </mc:AlternateContent>
      <p:sp>
        <p:nvSpPr>
          <p:cNvPr id="45" name="TextBox 44">
            <a:extLst>
              <a:ext uri="{FF2B5EF4-FFF2-40B4-BE49-F238E27FC236}">
                <a16:creationId xmlns:a16="http://schemas.microsoft.com/office/drawing/2014/main" id="{E88C7C35-456D-5759-27D1-32B4361E2F92}"/>
              </a:ext>
            </a:extLst>
          </p:cNvPr>
          <p:cNvSpPr txBox="1"/>
          <p:nvPr/>
        </p:nvSpPr>
        <p:spPr>
          <a:xfrm>
            <a:off x="3993218" y="866301"/>
            <a:ext cx="1003031" cy="300082"/>
          </a:xfrm>
          <a:prstGeom prst="rect">
            <a:avLst/>
          </a:prstGeom>
          <a:noFill/>
        </p:spPr>
        <p:txBody>
          <a:bodyPr wrap="none" rtlCol="0">
            <a:spAutoFit/>
          </a:bodyPr>
          <a:lstStyle/>
          <a:p>
            <a:r>
              <a:rPr lang="en-US" dirty="0"/>
              <a:t>Tractability</a:t>
            </a:r>
            <a:endParaRPr lang="en-NL" dirty="0"/>
          </a:p>
        </p:txBody>
      </p:sp>
      <p:sp>
        <p:nvSpPr>
          <p:cNvPr id="46" name="TextBox 45">
            <a:extLst>
              <a:ext uri="{FF2B5EF4-FFF2-40B4-BE49-F238E27FC236}">
                <a16:creationId xmlns:a16="http://schemas.microsoft.com/office/drawing/2014/main" id="{E4F138E3-AA5F-2AA8-2ABB-E63983C7C327}"/>
              </a:ext>
            </a:extLst>
          </p:cNvPr>
          <p:cNvSpPr txBox="1"/>
          <p:nvPr/>
        </p:nvSpPr>
        <p:spPr>
          <a:xfrm>
            <a:off x="4125403" y="3494311"/>
            <a:ext cx="893193" cy="300082"/>
          </a:xfrm>
          <a:prstGeom prst="rect">
            <a:avLst/>
          </a:prstGeom>
          <a:noFill/>
        </p:spPr>
        <p:txBody>
          <a:bodyPr wrap="none" rtlCol="0">
            <a:spAutoFit/>
          </a:bodyPr>
          <a:lstStyle/>
          <a:p>
            <a:r>
              <a:rPr lang="en-US" dirty="0"/>
              <a:t>Solutions</a:t>
            </a:r>
            <a:endParaRPr lang="en-NL" dirty="0"/>
          </a:p>
        </p:txBody>
      </p:sp>
      <p:grpSp>
        <p:nvGrpSpPr>
          <p:cNvPr id="47" name="Original neural schematic">
            <a:extLst>
              <a:ext uri="{FF2B5EF4-FFF2-40B4-BE49-F238E27FC236}">
                <a16:creationId xmlns:a16="http://schemas.microsoft.com/office/drawing/2014/main" id="{182E3916-8044-6022-E200-998BC76EAB57}"/>
              </a:ext>
            </a:extLst>
          </p:cNvPr>
          <p:cNvGrpSpPr/>
          <p:nvPr/>
        </p:nvGrpSpPr>
        <p:grpSpPr>
          <a:xfrm flipH="1">
            <a:off x="1004057" y="94275"/>
            <a:ext cx="2204054" cy="1060132"/>
            <a:chOff x="1879600" y="241300"/>
            <a:chExt cx="5597595" cy="2692400"/>
          </a:xfrm>
        </p:grpSpPr>
        <p:pic>
          <p:nvPicPr>
            <p:cNvPr id="48" name="Figure with corrected editable mathematics">
              <a:extLst>
                <a:ext uri="{FF2B5EF4-FFF2-40B4-BE49-F238E27FC236}">
                  <a16:creationId xmlns:a16="http://schemas.microsoft.com/office/drawing/2014/main" id="{75799AB1-462A-E36F-784E-21D693607DCE}"/>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49" name="Editable label Proto">
              <a:extLst>
                <a:ext uri="{FF2B5EF4-FFF2-40B4-BE49-F238E27FC236}">
                  <a16:creationId xmlns:a16="http://schemas.microsoft.com/office/drawing/2014/main" id="{4A3A51F9-560B-3986-8697-B88E85A31DBD}"/>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50" name="Editable label STN">
              <a:extLst>
                <a:ext uri="{FF2B5EF4-FFF2-40B4-BE49-F238E27FC236}">
                  <a16:creationId xmlns:a16="http://schemas.microsoft.com/office/drawing/2014/main" id="{C9A328A8-FC93-1A33-F159-F9C647037F7E}"/>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dirty="0">
                  <a:solidFill>
                    <a:srgbClr val="252529"/>
                  </a:solidFill>
                  <a:latin typeface="Arial"/>
                  <a:ea typeface="Arial"/>
                  <a:cs typeface="Arial"/>
                </a:rPr>
                <a:t>STN</a:t>
              </a:r>
              <a:endParaRPr sz="1200" dirty="0"/>
            </a:p>
          </p:txBody>
        </p:sp>
        <mc:AlternateContent xmlns:mc="http://schemas.openxmlformats.org/markup-compatibility/2006" xmlns:a14="http://schemas.microsoft.com/office/drawing/2010/main">
          <mc:Choice Requires="a14">
            <p:sp>
              <p:nvSpPr>
                <p:cNvPr id="51" name="Synaptic sign +">
                  <a:extLst>
                    <a:ext uri="{FF2B5EF4-FFF2-40B4-BE49-F238E27FC236}">
                      <a16:creationId xmlns:a16="http://schemas.microsoft.com/office/drawing/2014/main" id="{67890BEF-B2A5-AE38-527E-4176C8926ABA}"/>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2" name="Synaptic sign −">
                  <a:extLst>
                    <a:ext uri="{FF2B5EF4-FFF2-40B4-BE49-F238E27FC236}">
                      <a16:creationId xmlns:a16="http://schemas.microsoft.com/office/drawing/2014/main" id="{227BD787-0FC7-0C96-21F3-78497EF59767}"/>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3" name="Synaptic sign −">
                  <a:extLst>
                    <a:ext uri="{FF2B5EF4-FFF2-40B4-BE49-F238E27FC236}">
                      <a16:creationId xmlns:a16="http://schemas.microsoft.com/office/drawing/2014/main" id="{87F69D9E-BCB8-31E7-0E70-F7F6693CDEA3}"/>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4" name="Stimulation input">
                  <a:extLst>
                    <a:ext uri="{FF2B5EF4-FFF2-40B4-BE49-F238E27FC236}">
                      <a16:creationId xmlns:a16="http://schemas.microsoft.com/office/drawing/2014/main" id="{E7703B29-78A3-E876-BB8C-F79016AB2F0D}"/>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pic>
        <p:nvPicPr>
          <p:cNvPr id="55" name="ASML image">
            <a:extLst>
              <a:ext uri="{FF2B5EF4-FFF2-40B4-BE49-F238E27FC236}">
                <a16:creationId xmlns:a16="http://schemas.microsoft.com/office/drawing/2014/main" id="{64CB8C8F-9F39-474B-5CE8-8336FF80DF46}"/>
              </a:ext>
            </a:extLst>
          </p:cNvPr>
          <p:cNvPicPr>
            <a:picLocks noChangeAspect="1"/>
          </p:cNvPicPr>
          <p:nvPr/>
        </p:nvPicPr>
        <p:blipFill>
          <a:blip r:embed="rId15" cstate="print">
            <a:extLst>
              <a:ext uri="{28A0092B-C50C-407E-A947-70E740481C1C}">
                <a14:useLocalDpi xmlns:a14="http://schemas.microsoft.com/office/drawing/2010/main" val="0"/>
              </a:ext>
            </a:extLst>
          </a:blip>
          <a:srcRect l="6208" r="6507" b="12822"/>
          <a:stretch>
            <a:fillRect/>
          </a:stretch>
        </p:blipFill>
        <p:spPr>
          <a:xfrm>
            <a:off x="533305" y="4317222"/>
            <a:ext cx="1326150" cy="689598"/>
          </a:xfrm>
          <a:prstGeom prst="rect">
            <a:avLst/>
          </a:prstGeom>
        </p:spPr>
      </p:pic>
      <p:pic>
        <p:nvPicPr>
          <p:cNvPr id="56"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6"/>
          <a:stretch>
            <a:fillRect/>
          </a:stretch>
        </p:blipFill>
        <p:spPr>
          <a:xfrm>
            <a:off x="2137933" y="4317222"/>
            <a:ext cx="1446358" cy="708715"/>
          </a:xfrm>
          <a:prstGeom prst="rect">
            <a:avLst/>
          </a:prstGeom>
        </p:spPr>
      </p:pic>
    </p:spTree>
    <p:extLst>
      <p:ext uri="{BB962C8B-B14F-4D97-AF65-F5344CB8AC3E}">
        <p14:creationId xmlns:p14="http://schemas.microsoft.com/office/powerpoint/2010/main" val="9094517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27</a:t>
            </a:fld>
            <a:endParaRPr lang="en-GB"/>
          </a:p>
        </p:txBody>
      </p:sp>
    </p:spTree>
    <p:extLst>
      <p:ext uri="{BB962C8B-B14F-4D97-AF65-F5344CB8AC3E}">
        <p14:creationId xmlns:p14="http://schemas.microsoft.com/office/powerpoint/2010/main" val="25523275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15</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Supply function</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3000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3" name="Vertical axis Supply function">
                <a:extLst>
                  <a:ext uri="{FF2B5EF4-FFF2-40B4-BE49-F238E27FC236}">
                    <a16:creationId xmlns:a16="http://schemas.microsoft.com/office/drawing/2014/main" id="{ADD78D67-64F8-3727-6C55-0D8B00DA0662}"/>
                  </a:ext>
                </a:extLst>
              </p:cNvPr>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3" name="Vertical axis Supply function">
                <a:extLst>
                  <a:ext uri="{FF2B5EF4-FFF2-40B4-BE49-F238E27FC236}">
                    <a16:creationId xmlns:a16="http://schemas.microsoft.com/office/drawing/2014/main" id="{ADD78D67-64F8-3727-6C55-0D8B00DA0662}"/>
                  </a:ext>
                </a:extLst>
              </p:cNvPr>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30</a:t>
            </a:r>
            <a:endParaRPr sz="800"/>
          </a:p>
        </p:txBody>
      </p:sp>
      <p:pic>
        <p:nvPicPr>
          <p:cNvPr id="82" name="Baked figure with larger labels"/>
          <p:cNvPicPr>
            <a:picLocks noChangeAspect="1"/>
          </p:cNvPicPr>
          <p:nvPr/>
        </p:nvPicPr>
        <p:blipFill>
          <a:blip r:embed="rId4"/>
          <a:stretch>
            <a:fillRect/>
          </a:stretch>
        </p:blipFill>
        <p:spPr>
          <a:xfrm>
            <a:off x="981075" y="1476375"/>
            <a:ext cx="4367212" cy="2733675"/>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Cambria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31</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71762"/>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32</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86050"/>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33</a:t>
            </a:r>
            <a:endParaRPr sz="800"/>
          </a:p>
        </p:txBody>
      </p:sp>
      <p:pic>
        <p:nvPicPr>
          <p:cNvPr id="82" name="Baked figure with larger labels"/>
          <p:cNvPicPr>
            <a:picLocks noChangeAspect="1"/>
          </p:cNvPicPr>
          <p:nvPr/>
        </p:nvPicPr>
        <p:blipFill>
          <a:blip r:embed="rId4"/>
          <a:stretch>
            <a:fillRect/>
          </a:stretch>
        </p:blipFill>
        <p:spPr>
          <a:xfrm>
            <a:off x="7038975" y="1176338"/>
            <a:ext cx="1966912" cy="1233488"/>
          </a:xfrm>
          <a:prstGeom prst="rect">
            <a:avLst/>
          </a:prstGeom>
        </p:spPr>
      </p:pic>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98B6E-12E2-A3A7-9D1F-E632459E6D05}"/>
              </a:ext>
            </a:extLst>
          </p:cNvPr>
          <p:cNvSpPr>
            <a:spLocks noGrp="1"/>
          </p:cNvSpPr>
          <p:nvPr>
            <p:ph type="title"/>
          </p:nvPr>
        </p:nvSpPr>
        <p:spPr/>
        <p:txBody>
          <a:bodyPr/>
          <a:lstStyle/>
          <a:p>
            <a:r>
              <a:rPr lang="en-US" dirty="0"/>
              <a:t>Absorbing the controller into the filter</a:t>
            </a:r>
            <a:endParaRPr lang="en-NL" dirty="0"/>
          </a:p>
        </p:txBody>
      </p:sp>
      <p:sp>
        <p:nvSpPr>
          <p:cNvPr id="3" name="Footer Placeholder 2">
            <a:extLst>
              <a:ext uri="{FF2B5EF4-FFF2-40B4-BE49-F238E27FC236}">
                <a16:creationId xmlns:a16="http://schemas.microsoft.com/office/drawing/2014/main" id="{AB58BF6B-65E2-3416-157A-8C31855021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5A8ED17-D3CD-E35B-4454-60B32F3B3DF2}"/>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36</a:t>
            </a:fld>
            <a:endParaRPr lang="en-GB"/>
          </a:p>
        </p:txBody>
      </p:sp>
      <p:grpSp>
        <p:nvGrpSpPr>
          <p:cNvPr id="5" name="Editable paper diagram">
            <a:extLst>
              <a:ext uri="{FF2B5EF4-FFF2-40B4-BE49-F238E27FC236}">
                <a16:creationId xmlns:a16="http://schemas.microsoft.com/office/drawing/2014/main" id="{90AB5F3C-EAF4-AC7C-DB16-8306D5A74E12}"/>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B7816C8F-5BF7-E6DB-50FC-107B8DBAE450}"/>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4492BFD9-BFDE-E3FF-6837-356D21DAE0C1}"/>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CD3A7FE7-7302-9423-B899-F1B2A182B64B}"/>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08D7CDCC-8636-7651-F00D-89F213B9D70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11B58DE6-B9FA-404F-8B6A-DC720824741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447AE719-E822-08F7-0C2F-2F3A4DC9E8DE}"/>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32C8CCA5-B22E-75DB-4F85-F6C4EC62D44D}"/>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ECD3D13A-2310-9004-E478-9FF56E267BE7}"/>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EA54A2BC-3077-84DB-D24D-EEF51AA8B8C6}"/>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11777D22-5BB5-F0C4-718C-9556ED7FA2BC}"/>
                  </a:ext>
                </a:extLst>
              </p:cNvPr>
              <p:cNvSpPr/>
              <p:nvPr/>
            </p:nvSpPr>
            <p:spPr>
              <a:xfrm>
                <a:off x="4290941" y="326305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0" smtClean="0">
                              <a:solidFill>
                                <a:srgbClr val="252529"/>
                              </a:solidFill>
                              <a:latin typeface="Cambria Math" panose="02040503050406030204" pitchFamily="18" charset="0"/>
                            </a:rPr>
                          </m:ctrlPr>
                        </m:accPr>
                        <m:e>
                          <m:r>
                            <m:rPr>
                              <m:sty m:val="p"/>
                            </m:rPr>
                            <a:rPr lang="en-US" sz="1998" b="0" i="0" smtClean="0">
                              <a:solidFill>
                                <a:srgbClr val="252529"/>
                              </a:solidFill>
                              <a:latin typeface="Cambria Math" panose="02040503050406030204" pitchFamily="18" charset="0"/>
                            </a:rPr>
                            <m:t>y</m:t>
                          </m:r>
                        </m:e>
                      </m:acc>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11777D22-5BB5-F0C4-718C-9556ED7FA2BC}"/>
                  </a:ext>
                </a:extLst>
              </p:cNvPr>
              <p:cNvSpPr>
                <a:spLocks noRot="1" noChangeAspect="1" noMove="1" noResize="1" noEditPoints="1" noAdjustHandles="1" noChangeArrowheads="1" noChangeShapeType="1" noTextEdit="1"/>
              </p:cNvSpPr>
              <p:nvPr/>
            </p:nvSpPr>
            <p:spPr>
              <a:xfrm>
                <a:off x="4290941" y="3263059"/>
                <a:ext cx="422910" cy="380619"/>
              </a:xfrm>
              <a:prstGeom prst="rect">
                <a:avLst/>
              </a:prstGeom>
              <a:blipFill>
                <a:blip r:embed="rId12"/>
                <a:stretch>
                  <a:fillRect r="-47826" b="-11111"/>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CD1B519C-22CE-F008-6647-2772342827A4}"/>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2C44D234-86C7-6AEA-2E5F-29BD4BFF3C12}"/>
                  </a:ext>
                </a:extLst>
              </p:cNvPr>
              <p:cNvSpPr/>
              <p:nvPr/>
            </p:nvSpPr>
            <p:spPr>
              <a:xfrm>
                <a:off x="4290941" y="36389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2C44D234-86C7-6AEA-2E5F-29BD4BFF3C12}"/>
                  </a:ext>
                </a:extLst>
              </p:cNvPr>
              <p:cNvSpPr>
                <a:spLocks noRot="1" noChangeAspect="1" noMove="1" noResize="1" noEditPoints="1" noAdjustHandles="1" noChangeArrowheads="1" noChangeShapeType="1" noTextEdit="1"/>
              </p:cNvSpPr>
              <p:nvPr/>
            </p:nvSpPr>
            <p:spPr>
              <a:xfrm>
                <a:off x="4290941" y="3638979"/>
                <a:ext cx="422910" cy="380619"/>
              </a:xfrm>
              <a:prstGeom prst="rect">
                <a:avLst/>
              </a:prstGeom>
              <a:blipFill>
                <a:blip r:embed="rId13"/>
                <a:stretch>
                  <a:fillRect r="-47826"/>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B2F36D05-56FF-4643-773B-9C86E06B8E20}"/>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0CDC681-B229-942F-5E20-F17E1ED103EE}"/>
                  </a:ext>
                </a:extLst>
              </p:cNvPr>
              <p:cNvSpPr txBox="1"/>
              <p:nvPr/>
            </p:nvSpPr>
            <p:spPr>
              <a:xfrm>
                <a:off x="3079354" y="342562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53" name="TextBox 52">
                <a:extLst>
                  <a:ext uri="{FF2B5EF4-FFF2-40B4-BE49-F238E27FC236}">
                    <a16:creationId xmlns:a16="http://schemas.microsoft.com/office/drawing/2014/main" id="{70CDC681-B229-942F-5E20-F17E1ED103EE}"/>
                  </a:ext>
                </a:extLst>
              </p:cNvPr>
              <p:cNvSpPr txBox="1">
                <a:spLocks noRot="1" noChangeAspect="1" noMove="1" noResize="1" noEditPoints="1" noAdjustHandles="1" noChangeArrowheads="1" noChangeShapeType="1" noTextEdit="1"/>
              </p:cNvSpPr>
              <p:nvPr/>
            </p:nvSpPr>
            <p:spPr>
              <a:xfrm>
                <a:off x="3079354" y="3425625"/>
                <a:ext cx="283732" cy="398571"/>
              </a:xfrm>
              <a:prstGeom prst="rect">
                <a:avLst/>
              </a:prstGeom>
              <a:blipFill>
                <a:blip r:embed="rId14"/>
                <a:stretch>
                  <a:fillRect l="-25532" r="-27660"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98B18962-A47F-3CCD-4CB7-B1700598B92E}"/>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16F66D3-F773-9545-1661-892E4869BCFF}"/>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𝐺</m:t>
                      </m:r>
                      <m:r>
                        <a:rPr lang="en-US" sz="1550">
                          <a:solidFill>
                            <a:srgbClr val="252529"/>
                          </a:solidFill>
                          <a:latin typeface="Cambria Math"/>
                        </a:rPr>
                        <m:t>: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r>
                        <a:rPr lang="en-US" sz="1550">
                          <a:solidFill>
                            <a:srgbClr val="252529"/>
                          </a:solidFill>
                          <a:latin typeface="Cambria Math"/>
                        </a:rPr>
                        <m:t>𝐴𝑥</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𝑢</m:t>
                      </m:r>
                      <m:r>
                        <a:rPr lang="en-US" sz="1550">
                          <a:solidFill>
                            <a:srgbClr val="252529"/>
                          </a:solidFill>
                          <a:latin typeface="Cambria Math"/>
                        </a:rPr>
                        <m:t>,  </m:t>
                      </m:r>
                      <m:r>
                        <a:rPr lang="en-US" sz="1550">
                          <a:solidFill>
                            <a:srgbClr val="252529"/>
                          </a:solidFill>
                          <a:latin typeface="Cambria Math"/>
                        </a:rPr>
                        <m:t>𝑦</m:t>
                      </m:r>
                      <m:r>
                        <a:rPr lang="en-US" sz="1550">
                          <a:solidFill>
                            <a:srgbClr val="252529"/>
                          </a:solidFill>
                          <a:latin typeface="Cambria Math"/>
                        </a:rPr>
                        <m:t>=</m:t>
                      </m:r>
                      <m:r>
                        <a:rPr lang="en-US" sz="1550">
                          <a:solidFill>
                            <a:srgbClr val="252529"/>
                          </a:solidFill>
                          <a:latin typeface="Cambria Math"/>
                        </a:rPr>
                        <m:t>𝑥</m:t>
                      </m:r>
                    </m:oMath>
                  </m:oMathPara>
                </a14:m>
                <a:endParaRPr sz="1550">
                  <a:latin typeface="Cambria Math"/>
                </a:endParaRPr>
              </a:p>
            </p:txBody>
          </p:sp>
        </mc:Choice>
        <mc:Fallback xmlns="" xmlns:m="http://schemas.openxmlformats.org/officeDocument/2006/math">
          <p:sp>
            <p:nvSpPr>
              <p:cNvPr id="301" name="Open plant"/>
              <p:cNvSpPr txBox="1"/>
              <p:nvPr/>
            </p:nvSpPr>
            <p:spPr>
              <a:xfrm>
                <a:off x="457200" y="990600"/>
                <a:ext cx="4254500" cy="304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𝑢</m:t>
                      </m:r>
                      <m:r>
                        <a:rPr lang="en-US" sz="1550">
                          <a:solidFill>
                            <a:srgbClr val="252529"/>
                          </a:solidFill>
                          <a:latin typeface="Cambria Math"/>
                        </a:rPr>
                        <m:t>=</m:t>
                      </m:r>
                      <m:r>
                        <a:rPr lang="en-US" sz="1550">
                          <a:solidFill>
                            <a:srgbClr val="252529"/>
                          </a:solidFill>
                          <a:latin typeface="Cambria Math"/>
                        </a:rPr>
                        <m:t>𝐾𝑦</m:t>
                      </m:r>
                      <m:r>
                        <a:rPr lang="en-US" sz="1550">
                          <a:solidFill>
                            <a:srgbClr val="252529"/>
                          </a:solidFill>
                          <a:latin typeface="Cambria Math"/>
                        </a:rPr>
                        <m:t>  ⇒  </m:t>
                      </m:r>
                      <m:r>
                        <a:rPr lang="en-US" sz="1550">
                          <a:solidFill>
                            <a:srgbClr val="252529"/>
                          </a:solidFill>
                          <a:latin typeface="Cambria Math"/>
                        </a:rPr>
                        <m:t>𝑇</m:t>
                      </m:r>
                      <m:acc>
                        <m:accPr>
                          <m:chr m:val="̇"/>
                          <m:ctrlPr>
                            <a:rPr lang="en-US" sz="1550">
                              <a:solidFill>
                                <a:srgbClr val="252529"/>
                              </a:solidFill>
                              <a:latin typeface="Cambria Math"/>
                            </a:rPr>
                          </m:ctrlPr>
                        </m:accPr>
                        <m:e>
                          <m:r>
                            <a:rPr lang="en-US" sz="1550">
                              <a:solidFill>
                                <a:srgbClr val="252529"/>
                              </a:solidFill>
                              <a:latin typeface="Cambria Math"/>
                            </a:rPr>
                            <m:t>𝑥</m:t>
                          </m:r>
                        </m:e>
                      </m:acc>
                      <m:r>
                        <a:rPr lang="en-US" sz="1550">
                          <a:solidFill>
                            <a:srgbClr val="252529"/>
                          </a:solidFill>
                          <a:latin typeface="Cambria Math"/>
                        </a:rPr>
                        <m:t>=</m:t>
                      </m:r>
                      <m:d>
                        <m:dPr>
                          <m:ctrlPr>
                            <a:rPr lang="en-US" sz="1550">
                              <a:solidFill>
                                <a:srgbClr val="252529"/>
                              </a:solidFill>
                              <a:latin typeface="Cambria Math"/>
                            </a:rPr>
                          </m:ctrlPr>
                        </m:dPr>
                        <m:e>
                          <m:r>
                            <a:rPr lang="en-US" sz="1550">
                              <a:solidFill>
                                <a:srgbClr val="252529"/>
                              </a:solidFill>
                              <a:latin typeface="Cambria Math"/>
                            </a:rPr>
                            <m:t>𝐴</m:t>
                          </m:r>
                          <m:r>
                            <a:rPr lang="en-US" sz="1550">
                              <a:solidFill>
                                <a:srgbClr val="252529"/>
                              </a:solidFill>
                              <a:latin typeface="Cambria Math"/>
                            </a:rPr>
                            <m:t>+</m:t>
                          </m:r>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r>
                            <a:rPr lang="en-US" sz="1550">
                              <a:solidFill>
                                <a:srgbClr val="252529"/>
                              </a:solidFill>
                              <a:latin typeface="Cambria Math"/>
                            </a:rPr>
                            <m:t>𝐾</m:t>
                          </m:r>
                        </m:e>
                      </m:d>
                      <m:r>
                        <a:rPr lang="en-US" sz="1550">
                          <a:solidFill>
                            <a:srgbClr val="252529"/>
                          </a:solidFill>
                          <a:latin typeface="Cambria Math"/>
                        </a:rPr>
                        <m:t>𝑥</m:t>
                      </m:r>
                    </m:oMath>
                  </m:oMathPara>
                </a14:m>
                <a:endParaRPr sz="1550">
                  <a:latin typeface="Cambria Math"/>
                </a:endParaRPr>
              </a:p>
            </p:txBody>
          </p:sp>
        </mc:Choice>
        <mc:Fallback xmlns="" xmlns:m="http://schemas.openxmlformats.org/officeDocument/2006/math">
          <p:sp>
            <p:nvSpPr>
              <p:cNvPr id="303" name="Stage1 expected loop"/>
              <p:cNvSpPr txBox="1"/>
              <p:nvPr/>
            </p:nvSpPr>
            <p:spPr>
              <a:xfrm>
                <a:off x="4953000" y="12954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752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m:rPr>
                          <m:sty m:val="p"/>
                        </m:rPr>
                        <a:rPr lang="en-US" sz="1550">
                          <a:solidFill>
                            <a:srgbClr val="252529"/>
                          </a:solidFill>
                          <a:latin typeface="Cambria Math"/>
                        </a:rPr>
                        <m:t>Θ</m:t>
                      </m:r>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a:solidFill>
                                                  <a:srgbClr val="252529"/>
                                                </a:solidFill>
                                                <a:latin typeface="Cambria Math"/>
                                              </a:rPr>
                                            </m:ctrlPr>
                                          </m:accPr>
                                          <m:e>
                                            <m:r>
                                              <a:rPr lang="en-US" sz="1550">
                                                <a:solidFill>
                                                  <a:srgbClr val="252529"/>
                                                </a:solidFill>
                                                <a:latin typeface="Cambria Math"/>
                                              </a:rPr>
                                              <m:t>𝑦</m:t>
                                            </m:r>
                                          </m:e>
                                        </m:acc>
                                      </m:e>
                                    </m:mr>
                                    <m:mr>
                                      <m:e>
                                        <m:acc>
                                          <m:accPr>
                                            <m:chr m:val="̃"/>
                                            <m:ctrlPr>
                                              <a:rPr lang="en-US" sz="1550">
                                                <a:solidFill>
                                                  <a:srgbClr val="252529"/>
                                                </a:solidFill>
                                                <a:latin typeface="Cambria Math"/>
                                              </a:rPr>
                                            </m:ctrlPr>
                                          </m:accPr>
                                          <m:e>
                                            <m:r>
                                              <a:rPr lang="en-US" sz="1550">
                                                <a:solidFill>
                                                  <a:srgbClr val="252529"/>
                                                </a:solidFill>
                                                <a:latin typeface="Cambria Math"/>
                                              </a:rPr>
                                              <m:t>𝑢</m:t>
                                            </m: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r>
                                          <a:rPr lang="en-US" sz="1550">
                                            <a:solidFill>
                                              <a:srgbClr val="252529"/>
                                            </a:solidFill>
                                            <a:latin typeface="Cambria Math"/>
                                          </a:rPr>
                                          <m:t>𝐾</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𝑦</m:t>
                                        </m:r>
                                      </m:e>
                                    </m:mr>
                                    <m:mr>
                                      <m:e>
                                        <m:r>
                                          <a:rPr lang="en-US" sz="1550">
                                            <a:solidFill>
                                              <a:srgbClr val="252529"/>
                                            </a:solidFill>
                                            <a:latin typeface="Cambria Math"/>
                                          </a:rPr>
                                          <m:t>𝑢</m:t>
                                        </m:r>
                                      </m:e>
                                    </m:mr>
                                  </m:m>
                                </m:e>
                              </m:d>
                            </m:e>
                          </m:eqArr>
                        </m:e>
                      </m:d>
                    </m:oMath>
                  </m:oMathPara>
                </a14:m>
                <a:endParaRPr sz="1550">
                  <a:latin typeface="Cambria Math"/>
                </a:endParaRPr>
              </a:p>
            </p:txBody>
          </p:sp>
        </mc:Choice>
        <mc:Fallback xmlns="" xmlns:m="http://schemas.openxmlformats.org/officeDocument/2006/math">
          <p:sp>
            <p:nvSpPr>
              <p:cNvPr id="305" name="Stage2 filter signal system"/>
              <p:cNvSpPr txBox="1"/>
              <p:nvPr/>
            </p:nvSpPr>
            <p:spPr>
              <a:xfrm>
                <a:off x="4864100" y="20320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50">
                              <a:solidFill>
                                <a:srgbClr val="252529"/>
                              </a:solidFill>
                              <a:latin typeface="Cambria Math"/>
                            </a:rPr>
                          </m:ctrlPr>
                        </m:accPr>
                        <m:e>
                          <m:r>
                            <a:rPr lang="en-US" sz="1650">
                              <a:solidFill>
                                <a:srgbClr val="252529"/>
                              </a:solidFill>
                              <a:latin typeface="Cambria Math"/>
                            </a:rPr>
                            <m:t>𝑢</m:t>
                          </m:r>
                        </m:e>
                      </m:acc>
                      <m:r>
                        <a:rPr lang="en-US" sz="1650">
                          <a:solidFill>
                            <a:srgbClr val="252529"/>
                          </a:solidFill>
                          <a:latin typeface="Cambria Math"/>
                        </a:rPr>
                        <m:t>=</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  ⇔  </m:t>
                      </m:r>
                      <m:r>
                        <a:rPr lang="en-US" sz="1650">
                          <a:solidFill>
                            <a:srgbClr val="252529"/>
                          </a:solidFill>
                          <a:latin typeface="Cambria Math"/>
                        </a:rPr>
                        <m:t>𝑢</m:t>
                      </m:r>
                      <m:r>
                        <a:rPr lang="en-US" sz="1650">
                          <a:solidFill>
                            <a:srgbClr val="252529"/>
                          </a:solidFill>
                          <a:latin typeface="Cambria Math"/>
                        </a:rPr>
                        <m:t>=</m:t>
                      </m:r>
                      <m:r>
                        <a:rPr lang="en-US" sz="1650">
                          <a:solidFill>
                            <a:srgbClr val="252529"/>
                          </a:solidFill>
                          <a:latin typeface="Cambria Math"/>
                        </a:rPr>
                        <m:t>𝐾𝑦</m:t>
                      </m:r>
                      <m:r>
                        <a:rPr lang="en-US" sz="1650">
                          <a:solidFill>
                            <a:srgbClr val="252529"/>
                          </a:solidFill>
                          <a:latin typeface="Cambria Math"/>
                        </a:rPr>
                        <m:t>+</m:t>
                      </m:r>
                      <m:acc>
                        <m:accPr>
                          <m:chr m:val="̃"/>
                          <m:ctrlPr>
                            <a:rPr lang="en-US" sz="1650">
                              <a:solidFill>
                                <a:srgbClr val="252529"/>
                              </a:solidFill>
                              <a:latin typeface="Cambria Math"/>
                            </a:rPr>
                          </m:ctrlPr>
                        </m:accPr>
                        <m:e>
                          <m:r>
                            <a:rPr lang="en-US" sz="1650">
                              <a:solidFill>
                                <a:srgbClr val="252529"/>
                              </a:solidFill>
                              <a:latin typeface="Cambria Math"/>
                            </a:rPr>
                            <m:t>𝑢</m:t>
                          </m:r>
                        </m:e>
                      </m:acc>
                    </m:oMath>
                  </m:oMathPara>
                </a14:m>
                <a:endParaRPr sz="1650">
                  <a:latin typeface="Cambria Math"/>
                </a:endParaRPr>
              </a:p>
            </p:txBody>
          </p:sp>
        </mc:Choice>
        <mc:Fallback xmlns="" xmlns:m="http://schemas.openxmlformats.org/officeDocument/2006/math">
          <p:sp>
            <p:nvSpPr>
              <p:cNvPr id="306" name="Stage2 rewrite input"/>
              <p:cNvSpPr txBox="1"/>
              <p:nvPr/>
            </p:nvSpPr>
            <p:spPr>
              <a:xfrm>
                <a:off x="4953000" y="27178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600" i="1">
                              <a:solidFill>
                                <a:srgbClr val="252529"/>
                              </a:solidFill>
                              <a:latin typeface="Cambria Math" panose="02040503050406030204" pitchFamily="18" charset="0"/>
                            </a:rPr>
                          </m:ctrlPr>
                        </m:dPr>
                        <m:e>
                          <m:eqArr>
                            <m:eqArrPr>
                              <m:ctrlPr>
                                <a:rPr lang="en-US" sz="1600" i="1">
                                  <a:solidFill>
                                    <a:srgbClr val="252529"/>
                                  </a:solidFill>
                                  <a:latin typeface="Cambria Math" panose="02040503050406030204" pitchFamily="18" charset="0"/>
                                </a:rPr>
                              </m:ctrlPr>
                            </m:eqArrPr>
                            <m:e>
                              <m:r>
                                <a:rPr lang="en-US" sz="1600">
                                  <a:solidFill>
                                    <a:srgbClr val="252529"/>
                                  </a:solidFill>
                                  <a:latin typeface="Cambria Math"/>
                                </a:rPr>
                                <m:t>𝑇</m:t>
                              </m:r>
                              <m:acc>
                                <m:accPr>
                                  <m:chr m:val="̇"/>
                                  <m:ctrlPr>
                                    <a:rPr lang="en-US" sz="1600">
                                      <a:solidFill>
                                        <a:srgbClr val="252529"/>
                                      </a:solidFill>
                                      <a:latin typeface="Cambria Math"/>
                                    </a:rPr>
                                  </m:ctrlPr>
                                </m:accPr>
                                <m:e>
                                  <m:r>
                                    <a:rPr lang="en-US" sz="1600">
                                      <a:solidFill>
                                        <a:srgbClr val="252529"/>
                                      </a:solidFill>
                                      <a:latin typeface="Cambria Math"/>
                                    </a:rPr>
                                    <m:t>𝑥</m:t>
                                  </m:r>
                                </m:e>
                              </m:acc>
                              <m:r>
                                <a:rPr lang="en-US" sz="1600">
                                  <a:solidFill>
                                    <a:srgbClr val="252529"/>
                                  </a:solidFill>
                                  <a:latin typeface="Cambria Math"/>
                                </a:rPr>
                                <m:t>=</m:t>
                              </m:r>
                              <m:d>
                                <m:dPr>
                                  <m:ctrlPr>
                                    <a:rPr lang="en-US" sz="1600">
                                      <a:solidFill>
                                        <a:srgbClr val="252529"/>
                                      </a:solidFill>
                                      <a:latin typeface="Cambria Math"/>
                                    </a:rPr>
                                  </m:ctrlPr>
                                </m:dPr>
                                <m:e>
                                  <m:r>
                                    <a:rPr lang="en-US" sz="1600">
                                      <a:solidFill>
                                        <a:srgbClr val="252529"/>
                                      </a:solidFill>
                                      <a:latin typeface="Cambria Math"/>
                                    </a:rPr>
                                    <m:t>𝐴</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r>
                                    <a:rPr lang="en-US" sz="1600">
                                      <a:solidFill>
                                        <a:srgbClr val="252529"/>
                                      </a:solidFill>
                                      <a:latin typeface="Cambria Math"/>
                                    </a:rPr>
                                    <m:t>𝐾</m:t>
                                  </m:r>
                                </m:e>
                              </m:d>
                              <m:r>
                                <a:rPr lang="en-US" sz="1600">
                                  <a:solidFill>
                                    <a:srgbClr val="252529"/>
                                  </a:solidFill>
                                  <a:latin typeface="Cambria Math"/>
                                </a:rPr>
                                <m:t>𝑥</m:t>
                              </m:r>
                              <m:r>
                                <a:rPr lang="en-US" sz="1600">
                                  <a:solidFill>
                                    <a:srgbClr val="252529"/>
                                  </a:solidFill>
                                  <a:latin typeface="Cambria Math"/>
                                </a:rPr>
                                <m:t>+</m:t>
                              </m:r>
                              <m:sSub>
                                <m:sSubPr>
                                  <m:ctrlPr>
                                    <a:rPr lang="en-US" sz="1600">
                                      <a:solidFill>
                                        <a:srgbClr val="252529"/>
                                      </a:solidFill>
                                      <a:latin typeface="Cambria Math"/>
                                    </a:rPr>
                                  </m:ctrlPr>
                                </m:sSubPr>
                                <m:e>
                                  <m:r>
                                    <a:rPr lang="en-US" sz="1600">
                                      <a:solidFill>
                                        <a:srgbClr val="252529"/>
                                      </a:solidFill>
                                      <a:latin typeface="Cambria Math"/>
                                    </a:rPr>
                                    <m:t>𝐵</m:t>
                                  </m:r>
                                </m:e>
                                <m:sub>
                                  <m:r>
                                    <m:rPr>
                                      <m:sty m:val="p"/>
                                    </m:rPr>
                                    <a:rPr lang="en-US" sz="1600">
                                      <a:solidFill>
                                        <a:srgbClr val="252529"/>
                                      </a:solidFill>
                                      <a:latin typeface="Cambria Math"/>
                                    </a:rPr>
                                    <m:t>u</m:t>
                                  </m:r>
                                </m:sub>
                              </m:sSub>
                              <m:acc>
                                <m:accPr>
                                  <m:chr m:val="̃"/>
                                  <m:ctrlPr>
                                    <a:rPr lang="en-US" sz="1600">
                                      <a:solidFill>
                                        <a:srgbClr val="252529"/>
                                      </a:solidFill>
                                      <a:latin typeface="Cambria Math"/>
                                    </a:rPr>
                                  </m:ctrlPr>
                                </m:accPr>
                                <m:e>
                                  <m:r>
                                    <a:rPr lang="en-US" sz="1600">
                                      <a:solidFill>
                                        <a:srgbClr val="252529"/>
                                      </a:solidFill>
                                      <a:latin typeface="Cambria Math"/>
                                    </a:rPr>
                                    <m:t>𝑢</m:t>
                                  </m:r>
                                </m:e>
                              </m:acc>
                            </m:e>
                            <m:e>
                              <m:acc>
                                <m:accPr>
                                  <m:chr m:val="̃"/>
                                  <m:ctrlPr>
                                    <a:rPr lang="en-US" sz="1600">
                                      <a:solidFill>
                                        <a:srgbClr val="252529"/>
                                      </a:solidFill>
                                      <a:latin typeface="Cambria Math"/>
                                    </a:rPr>
                                  </m:ctrlPr>
                                </m:accPr>
                                <m:e>
                                  <m:r>
                                    <a:rPr lang="en-US" sz="1600">
                                      <a:solidFill>
                                        <a:srgbClr val="252529"/>
                                      </a:solidFill>
                                      <a:latin typeface="Cambria Math"/>
                                    </a:rPr>
                                    <m:t>𝑦</m:t>
                                  </m:r>
                                </m:e>
                              </m:acc>
                              <m:r>
                                <a:rPr lang="en-US" sz="1600">
                                  <a:solidFill>
                                    <a:srgbClr val="252529"/>
                                  </a:solidFill>
                                  <a:latin typeface="Cambria Math"/>
                                </a:rPr>
                                <m:t>=</m:t>
                              </m:r>
                              <m:r>
                                <a:rPr lang="en-US" sz="1600">
                                  <a:solidFill>
                                    <a:srgbClr val="252529"/>
                                  </a:solidFill>
                                  <a:latin typeface="Cambria Math"/>
                                </a:rPr>
                                <m:t>𝑦</m:t>
                              </m:r>
                              <m:r>
                                <a:rPr lang="en-US" sz="1600">
                                  <a:solidFill>
                                    <a:srgbClr val="252529"/>
                                  </a:solidFill>
                                  <a:latin typeface="Cambria Math"/>
                                </a:rPr>
                                <m:t>=</m:t>
                              </m:r>
                              <m:r>
                                <a:rPr lang="en-US" sz="1600">
                                  <a:solidFill>
                                    <a:srgbClr val="252529"/>
                                  </a:solidFill>
                                  <a:latin typeface="Cambria Math"/>
                                </a:rPr>
                                <m:t>𝑥</m:t>
                              </m:r>
                            </m:e>
                          </m:eqArr>
                        </m:e>
                      </m:d>
                    </m:oMath>
                  </m:oMathPara>
                </a14:m>
                <a:endParaRPr sz="1600">
                  <a:latin typeface="Cambria Math"/>
                </a:endParaRPr>
              </a:p>
            </p:txBody>
          </p:sp>
        </mc:Choice>
        <mc:Fallback xmlns="" xmlns:m="http://schemas.openxmlformats.org/officeDocument/2006/math">
          <p:sp>
            <p:nvSpPr>
              <p:cNvPr id="307" name="Stage2 transformed plant"/>
              <p:cNvSpPr txBox="1"/>
              <p:nvPr/>
            </p:nvSpPr>
            <p:spPr>
              <a:xfrm>
                <a:off x="4864100" y="3111500"/>
                <a:ext cx="3898900" cy="546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8227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a:solidFill>
                                <a:srgbClr val="252529"/>
                              </a:solidFill>
                              <a:latin typeface="Cambria Math"/>
                            </a:rPr>
                          </m:ctrlPr>
                        </m:accPr>
                        <m:e>
                          <m:r>
                            <a:rPr lang="en-US" sz="1800">
                              <a:solidFill>
                                <a:srgbClr val="252529"/>
                              </a:solidFill>
                              <a:latin typeface="Cambria Math"/>
                            </a:rPr>
                            <m:t>𝑢</m:t>
                          </m:r>
                        </m:e>
                      </m:acc>
                      <m:r>
                        <a:rPr lang="en-US" sz="1800">
                          <a:solidFill>
                            <a:srgbClr val="252529"/>
                          </a:solidFill>
                          <a:latin typeface="Cambria Math"/>
                        </a:rPr>
                        <m:t>=0  ⇔  </m:t>
                      </m:r>
                      <m:r>
                        <a:rPr lang="en-US" sz="1800">
                          <a:solidFill>
                            <a:srgbClr val="252529"/>
                          </a:solidFill>
                          <a:latin typeface="Cambria Math"/>
                        </a:rPr>
                        <m:t>𝑢</m:t>
                      </m:r>
                      <m:r>
                        <a:rPr lang="en-US" sz="1800">
                          <a:solidFill>
                            <a:srgbClr val="252529"/>
                          </a:solidFill>
                          <a:latin typeface="Cambria Math"/>
                        </a:rPr>
                        <m:t>=</m:t>
                      </m:r>
                      <m:r>
                        <a:rPr lang="en-US" sz="1800">
                          <a:solidFill>
                            <a:srgbClr val="252529"/>
                          </a:solidFill>
                          <a:latin typeface="Cambria Math"/>
                        </a:rPr>
                        <m:t>𝐾𝑦</m:t>
                      </m:r>
                    </m:oMath>
                  </m:oMathPara>
                </a14:m>
                <a:endParaRPr sz="1800">
                  <a:latin typeface="Cambria Math"/>
                </a:endParaRPr>
              </a:p>
            </p:txBody>
          </p:sp>
        </mc:Choice>
        <mc:Fallback xmlns="" xmlns:m="http://schemas.openxmlformats.org/officeDocument/2006/math">
          <p:sp>
            <p:nvSpPr>
              <p:cNvPr id="309" name="Stage3 closure"/>
              <p:cNvSpPr txBox="1"/>
              <p:nvPr/>
            </p:nvSpPr>
            <p:spPr>
              <a:xfrm>
                <a:off x="4953000" y="41148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dirty="0">
                <a:solidFill>
                  <a:srgbClr val="C81919"/>
                </a:solidFill>
                <a:latin typeface="Aptos"/>
              </a:rPr>
              <a:t>Yes: filtered input recovers the original closed loop.</a:t>
            </a:r>
          </a:p>
        </p:txBody>
      </p:sp>
    </p:spTree>
    <p:extLst>
      <p:ext uri="{BB962C8B-B14F-4D97-AF65-F5344CB8AC3E}">
        <p14:creationId xmlns:p14="http://schemas.microsoft.com/office/powerpoint/2010/main" val="3379340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Transposing the systems</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37</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CFA38E4C-24E9-CA08-8353-19157955D2C0}"/>
                  </a:ext>
                </a:extLst>
              </p:cNvPr>
              <p:cNvSpPr txBox="1"/>
              <p:nvPr/>
            </p:nvSpPr>
            <p:spPr>
              <a:xfrm>
                <a:off x="3079354" y="3425625"/>
                <a:ext cx="469039" cy="398571"/>
              </a:xfrm>
              <a:prstGeom prst="rect">
                <a:avLst/>
              </a:prstGeom>
              <a:noFill/>
            </p:spPr>
            <p:txBody>
              <a:bodyPr wrap="none" lIns="0" tIns="0" rIns="0" bIns="0" rtlCol="0">
                <a:spAutoFit/>
              </a:bodyPr>
              <a:lstStyle/>
              <a:p>
                <a:pPr/>
                <a14:m>
                  <m:oMathPara xmlns:m="http://schemas.openxmlformats.org/officeDocument/2006/math">
                    <m:oMath>
                      <m:sSup>
                        <m:sSupPr>
                          <m:ctrlPr>
                            <a:rPr lang="el-GR" sz="2590" i="1" smtClean="0">
                              <a:latin typeface="Cambria Math" panose="02040503050406030204" pitchFamily="18" charset="0"/>
                              <a:ea typeface="Cambria Math" panose="02040503050406030204" pitchFamily="18" charset="0"/>
                            </a:rPr>
                          </m:ctrlPr>
                        </m:sSupPr>
                        <m:e>
                          <m:r>
                            <m:rPr>
                              <m:sty m:val="p"/>
                            </m:rPr>
                            <a:rPr lang="el-GR" sz="2590" i="1" smtClean="0">
                              <a:latin typeface="Cambria Math" panose="02040503050406030204" pitchFamily="18" charset="0"/>
                              <a:ea typeface="Cambria Math" panose="02040503050406030204" pitchFamily="18" charset="0"/>
                            </a:rPr>
                            <m:t>Θ</m:t>
                          </m:r>
                        </m:e>
                        <m:sup>
                          <m:r>
                            <a:rPr lang="el-GR" sz="2590" i="1" smtClean="0">
                              <a:latin typeface="Cambria Math" panose="02040503050406030204" pitchFamily="18" charset="0"/>
                              <a:ea typeface="Cambria Math" panose="02040503050406030204" pitchFamily="18" charset="0"/>
                            </a:rPr>
                            <m:t>⊤</m:t>
                          </m:r>
                        </m:sup>
                      </m:sSup>
                    </m:oMath>
                  </m:oMathPara>
                </a14:m>
                <a:endParaRPr lang="en-NL" sz="2590" dirty="0"/>
              </a:p>
            </p:txBody>
          </p:sp>
        </mc:Choice>
        <mc:Fallback xmlns:m="http://schemas.openxmlformats.org/officeDocument/2006/math" xmlns="">
          <p:sp>
            <p:nvSpPr>
              <p:cNvPr id="53" name="TextBox 52">
                <a:extLst>
                  <a:ext uri="{FF2B5EF4-FFF2-40B4-BE49-F238E27FC236}">
                    <a16:creationId xmlns:a16="http://schemas.microsoft.com/office/drawing/2014/main" id="{CFA38E4C-24E9-CA08-8353-19157955D2C0}"/>
                  </a:ext>
                </a:extLst>
              </p:cNvPr>
              <p:cNvSpPr txBox="1">
                <a:spLocks noRot="1" noChangeAspect="1" noMove="1" noResize="1" noEditPoints="1" noAdjustHandles="1" noChangeArrowheads="1" noChangeShapeType="1" noTextEdit="1"/>
              </p:cNvSpPr>
              <p:nvPr/>
            </p:nvSpPr>
            <p:spPr>
              <a:xfrm>
                <a:off x="3079354" y="3425625"/>
                <a:ext cx="469039" cy="398571"/>
              </a:xfrm>
              <a:prstGeom prst="rect">
                <a:avLst/>
              </a:prstGeom>
              <a:blipFill>
                <a:blip r:embed="rId8"/>
                <a:stretch>
                  <a:fillRect l="-15584" t="-1538" r="-6494"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p:sp>
        <p:nvSpPr>
          <p:cNvPr id="301" name="Dimension convention"/>
          <p:cNvSpPr txBox="1"/>
          <p:nvPr/>
        </p:nvSpPr>
        <p:spPr>
          <a:xfrm>
            <a:off x="457200" y="1028700"/>
            <a:ext cx="4229100" cy="215900"/>
          </a:xfrm>
          <a:prstGeom prst="rect">
            <a:avLst/>
          </a:prstGeom>
          <a:noFill/>
          <a:ln>
            <a:noFill/>
          </a:ln>
        </p:spPr>
        <p:txBody>
          <a:bodyPr wrap="square" lIns="0" tIns="0" rIns="0" bIns="0" anchor="ctr">
            <a:noAutofit/>
          </a:bodyPr>
          <a:lstStyle/>
          <a:p>
            <a:pPr algn="l"/>
            <a:r>
              <a:rPr lang="en-US" sz="1050" b="0">
                <a:solidFill>
                  <a:srgbClr val="66717C"/>
                </a:solidFill>
                <a:latin typeface="Aptos"/>
              </a:rPr>
              <a:t>For this illustration, state and input have equal dimension.</a:t>
            </a:r>
          </a:p>
        </p:txBody>
      </p:sp>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r>
                        <a:rPr lang="en-US" sz="1800">
                          <a:solidFill>
                            <a:srgbClr val="252529"/>
                          </a:solidFill>
                          <a:latin typeface="Cambria Math"/>
                        </a:rPr>
                        <m:t>=0  ⇔  </m:t>
                      </m:r>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oMath>
                  </m:oMathPara>
                </a14:m>
                <a:endParaRPr sz="1800">
                  <a:latin typeface="Cambria Math"/>
                </a:endParaRPr>
              </a:p>
            </p:txBody>
          </p:sp>
        </mc:Choice>
        <mc:Fallback xmlns="" xmlns:m="http://schemas.openxmlformats.org/officeDocument/2006/math">
          <p:sp>
            <p:nvSpPr>
              <p:cNvPr id="303" name="Stage1 expected closure"/>
              <p:cNvSpPr txBox="1"/>
              <p:nvPr/>
            </p:nvSpPr>
            <p:spPr>
              <a:xfrm>
                <a:off x="4953000" y="1333500"/>
                <a:ext cx="37338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a:rPr lang="en-US" sz="1550">
                              <a:solidFill>
                                <a:srgbClr val="252529"/>
                              </a:solidFill>
                              <a:latin typeface="Cambria Math"/>
                            </a:rPr>
                            <m:t>𝐺</m:t>
                          </m:r>
                        </m:e>
                        <m:sup>
                          <m:r>
                            <a:rPr lang="en-US" sz="1550">
                              <a:solidFill>
                                <a:srgbClr val="252529"/>
                              </a:solidFill>
                              <a:latin typeface="Cambria Math"/>
                            </a:rPr>
                            <m:t>⊤</m:t>
                          </m:r>
                        </m:sup>
                      </m:sSup>
                      <m:r>
                        <a:rPr lang="en-US" sz="1550">
                          <a:solidFill>
                            <a:srgbClr val="252529"/>
                          </a:solidFill>
                          <a:latin typeface="Cambria Math"/>
                        </a:rPr>
                        <m:t>: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bar>
                                <m:barPr>
                                  <m:pos m:val="bot"/>
                                  <m:ctrlPr>
                                    <a:rPr lang="en-US" sz="1550">
                                      <a:solidFill>
                                        <a:srgbClr val="252529"/>
                                      </a:solidFill>
                                      <a:latin typeface="Cambria Math"/>
                                    </a:rPr>
                                  </m:ctrlPr>
                                </m:barPr>
                                <m:e>
                                  <m:r>
                                    <a:rPr lang="en-US" sz="1550">
                                      <a:solidFill>
                                        <a:srgbClr val="252529"/>
                                      </a:solidFill>
                                      <a:latin typeface="Cambria Math"/>
                                    </a:rPr>
                                    <m:t>𝑢</m:t>
                                  </m:r>
                                </m:e>
                              </m:bar>
                            </m:e>
                            <m:e>
                              <m:bar>
                                <m:barPr>
                                  <m:pos m:val="bot"/>
                                  <m:ctrlPr>
                                    <a:rPr lang="en-US" sz="1550">
                                      <a:solidFill>
                                        <a:srgbClr val="252529"/>
                                      </a:solidFill>
                                      <a:latin typeface="Cambria Math"/>
                                    </a:rPr>
                                  </m:ctrlPr>
                                </m:barPr>
                                <m:e>
                                  <m:r>
                                    <a:rPr lang="en-US" sz="1550">
                                      <a:solidFill>
                                        <a:srgbClr val="252529"/>
                                      </a:solidFill>
                                      <a:latin typeface="Cambria Math"/>
                                    </a:rPr>
                                    <m:t>𝑦</m:t>
                                  </m:r>
                                </m:e>
                              </m:bar>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 xmlns:m="http://schemas.openxmlformats.org/officeDocument/2006/math">
          <p:sp>
            <p:nvSpPr>
              <p:cNvPr id="305" name="Stage2 transposed plant"/>
              <p:cNvSpPr txBox="1"/>
              <p:nvPr/>
            </p:nvSpPr>
            <p:spPr>
              <a:xfrm>
                <a:off x="4864100" y="2159000"/>
                <a:ext cx="3898900" cy="6096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550">
                              <a:solidFill>
                                <a:srgbClr val="252529"/>
                              </a:solidFill>
                              <a:latin typeface="Cambria Math"/>
                            </a:rPr>
                          </m:ctrlPr>
                        </m:sSupPr>
                        <m:e>
                          <m:r>
                            <m:rPr>
                              <m:sty m:val="p"/>
                            </m:rPr>
                            <a:rPr lang="en-US" sz="1550">
                              <a:solidFill>
                                <a:srgbClr val="252529"/>
                              </a:solidFill>
                              <a:latin typeface="Cambria Math"/>
                            </a:rPr>
                            <m:t>Θ</m:t>
                          </m:r>
                        </m:e>
                        <m:sup>
                          <m:r>
                            <a:rPr lang="en-US" sz="1550">
                              <a:solidFill>
                                <a:srgbClr val="252529"/>
                              </a:solidFill>
                              <a:latin typeface="Cambria Math"/>
                            </a:rPr>
                            <m:t>⊤</m:t>
                          </m:r>
                        </m:sup>
                      </m:sSup>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mr>
                                    <m:mr>
                                      <m:e>
                                        <m:r>
                                          <a:rPr lang="en-US" sz="1550">
                                            <a:solidFill>
                                              <a:srgbClr val="252529"/>
                                            </a:solidFill>
                                            <a:latin typeface="Cambria Math"/>
                                          </a:rPr>
                                          <m:t>0</m:t>
                                        </m:r>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 xmlns:m="http://schemas.openxmlformats.org/officeDocument/2006/math">
          <p:sp>
            <p:nvSpPr>
              <p:cNvPr id="306" name="Stage2 transposed filter signal system"/>
              <p:cNvSpPr txBox="1"/>
              <p:nvPr/>
            </p:nvSpPr>
            <p:spPr>
              <a:xfrm>
                <a:off x="4864100" y="29083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657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900" i="1">
                              <a:solidFill>
                                <a:srgbClr val="252529"/>
                              </a:solidFill>
                              <a:latin typeface="Cambria Math" panose="02040503050406030204" pitchFamily="18" charset="0"/>
                            </a:rPr>
                          </m:ctrlPr>
                        </m:accPr>
                        <m:e>
                          <m:bar>
                            <m:barPr>
                              <m:pos m:val="bot"/>
                              <m:ctrlPr>
                                <a:rPr lang="en-US" sz="1900">
                                  <a:solidFill>
                                    <a:srgbClr val="252529"/>
                                  </a:solidFill>
                                  <a:latin typeface="Cambria Math"/>
                                </a:rPr>
                              </m:ctrlPr>
                            </m:barPr>
                            <m:e>
                              <m:r>
                                <a:rPr lang="en-US" sz="1900">
                                  <a:solidFill>
                                    <a:srgbClr val="252529"/>
                                  </a:solidFill>
                                  <a:latin typeface="Cambria Math"/>
                                </a:rPr>
                                <m:t>𝑢</m:t>
                              </m:r>
                            </m:e>
                          </m:bar>
                        </m:e>
                      </m:acc>
                      <m:r>
                        <a:rPr lang="en-US" sz="1900">
                          <a:solidFill>
                            <a:srgbClr val="252529"/>
                          </a:solidFill>
                          <a:latin typeface="Cambria Math"/>
                        </a:rPr>
                        <m:t>=</m:t>
                      </m:r>
                      <m:bar>
                        <m:barPr>
                          <m:pos m:val="bot"/>
                          <m:ctrlPr>
                            <a:rPr lang="en-US" sz="1900">
                              <a:solidFill>
                                <a:srgbClr val="252529"/>
                              </a:solidFill>
                              <a:latin typeface="Cambria Math"/>
                            </a:rPr>
                          </m:ctrlPr>
                        </m:barPr>
                        <m:e>
                          <m:r>
                            <a:rPr lang="en-US" sz="1900">
                              <a:solidFill>
                                <a:srgbClr val="252529"/>
                              </a:solidFill>
                              <a:latin typeface="Cambria Math"/>
                            </a:rPr>
                            <m:t>𝑢</m:t>
                          </m:r>
                        </m:e>
                      </m:bar>
                      <m:r>
                        <a:rPr lang="en-US" sz="1900">
                          <a:solidFill>
                            <a:srgbClr val="252529"/>
                          </a:solidFill>
                          <a:latin typeface="Cambria Math"/>
                        </a:rPr>
                        <m:t>=</m:t>
                      </m:r>
                      <m:sSup>
                        <m:sSupPr>
                          <m:ctrlPr>
                            <a:rPr lang="en-US" sz="1900">
                              <a:solidFill>
                                <a:srgbClr val="252529"/>
                              </a:solidFill>
                              <a:latin typeface="Cambria Math"/>
                            </a:rPr>
                          </m:ctrlPr>
                        </m:sSupPr>
                        <m:e>
                          <m:r>
                            <a:rPr lang="en-US" sz="1900">
                              <a:solidFill>
                                <a:srgbClr val="252529"/>
                              </a:solidFill>
                              <a:latin typeface="Cambria Math"/>
                            </a:rPr>
                            <m:t>𝐾</m:t>
                          </m:r>
                        </m:e>
                        <m:sup>
                          <m:r>
                            <a:rPr lang="en-US" sz="1900">
                              <a:solidFill>
                                <a:srgbClr val="252529"/>
                              </a:solidFill>
                              <a:latin typeface="Cambria Math"/>
                            </a:rPr>
                            <m:t>∗</m:t>
                          </m:r>
                        </m:sup>
                      </m:sSup>
                      <m:bar>
                        <m:barPr>
                          <m:pos m:val="bot"/>
                          <m:ctrlPr>
                            <a:rPr lang="en-US" sz="1900">
                              <a:solidFill>
                                <a:srgbClr val="252529"/>
                              </a:solidFill>
                              <a:latin typeface="Cambria Math"/>
                            </a:rPr>
                          </m:ctrlPr>
                        </m:barPr>
                        <m:e>
                          <m:r>
                            <a:rPr lang="en-US" sz="1900">
                              <a:solidFill>
                                <a:srgbClr val="252529"/>
                              </a:solidFill>
                              <a:latin typeface="Cambria Math"/>
                            </a:rPr>
                            <m:t>𝑦</m:t>
                          </m:r>
                        </m:e>
                      </m:bar>
                      <m:r>
                        <a:rPr lang="en-US" sz="1900">
                          <a:solidFill>
                            <a:srgbClr val="C81919"/>
                          </a:solidFill>
                          <a:latin typeface="Cambria Math"/>
                        </a:rPr>
                        <m:t>≠0</m:t>
                      </m:r>
                    </m:oMath>
                  </m:oMathPara>
                </a14:m>
                <a:endParaRPr sz="1900">
                  <a:latin typeface="Cambria Math"/>
                </a:endParaRPr>
              </a:p>
            </p:txBody>
          </p:sp>
        </mc:Choice>
        <mc:Fallback xmlns="" xmlns:m="http://schemas.openxmlformats.org/officeDocument/2006/math">
          <p:sp>
            <p:nvSpPr>
              <p:cNvPr id="308" name="Stage3 residual"/>
              <p:cNvSpPr txBox="1"/>
              <p:nvPr/>
            </p:nvSpPr>
            <p:spPr>
              <a:xfrm>
                <a:off x="4953000" y="3937000"/>
                <a:ext cx="3733800" cy="368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9" name="Stage3 qualification"/>
          <p:cNvSpPr txBox="1"/>
          <p:nvPr/>
        </p:nvSpPr>
        <p:spPr>
          <a:xfrm>
            <a:off x="4953000" y="4305300"/>
            <a:ext cx="3733800" cy="177800"/>
          </a:xfrm>
          <a:prstGeom prst="rect">
            <a:avLst/>
          </a:prstGeom>
          <a:noFill/>
          <a:ln>
            <a:noFill/>
          </a:ln>
        </p:spPr>
        <p:txBody>
          <a:bodyPr wrap="square" lIns="0" tIns="0" rIns="0" bIns="0" anchor="ctr">
            <a:noAutofit/>
          </a:bodyPr>
          <a:lstStyle/>
          <a:p>
            <a:pPr algn="l"/>
            <a:r>
              <a:rPr lang="en-US" sz="1050" b="0">
                <a:solidFill>
                  <a:srgbClr val="66717C"/>
                </a:solidFill>
                <a:latin typeface="Aptos"/>
              </a:rPr>
              <a:t>Generally nonzero under dual feedback.</a:t>
            </a:r>
          </a:p>
        </p:txBody>
      </p:sp>
      <p:sp>
        <p:nvSpPr>
          <p:cNvPr id="310" name="Stage3 conclusion"/>
          <p:cNvSpPr txBox="1"/>
          <p:nvPr/>
        </p:nvSpPr>
        <p:spPr>
          <a:xfrm>
            <a:off x="457200" y="45339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No: zero filtered input imposes the wrong constraint.</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39</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pic>
        <p:nvPicPr>
          <p:cNvPr id="28" name="Picture 27">
            <a:extLst>
              <a:ext uri="{FF2B5EF4-FFF2-40B4-BE49-F238E27FC236}">
                <a16:creationId xmlns:a16="http://schemas.microsoft.com/office/drawing/2014/main" id="{EA68EA87-82CF-D441-A709-D2C4643B9776}"/>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5061850" y="2519422"/>
            <a:ext cx="3167750" cy="2093971"/>
          </a:xfrm>
          <a:prstGeom prst="rect">
            <a:avLst/>
          </a:prstGeom>
        </p:spPr>
      </p:pic>
    </p:spTree>
    <p:extLst>
      <p:ext uri="{BB962C8B-B14F-4D97-AF65-F5344CB8AC3E}">
        <p14:creationId xmlns:p14="http://schemas.microsoft.com/office/powerpoint/2010/main" val="26223884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40</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m="http://schemas.openxmlformats.org/officeDocument/2006/math" xmlns="">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The dual operation</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 xmlns:m="http://schemas.openxmlformats.org/officeDocument/2006/math">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66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p:sp>
        <p:nvSpPr>
          <p:cNvPr id="303" name="Stage1 expected description"/>
          <p:cNvSpPr txBox="1"/>
          <p:nvPr/>
        </p:nvSpPr>
        <p:spPr>
          <a:xfrm>
            <a:off x="4876800" y="1384300"/>
            <a:ext cx="3759200" cy="596900"/>
          </a:xfrm>
          <a:prstGeom prst="rect">
            <a:avLst/>
          </a:prstGeom>
          <a:noFill/>
          <a:ln>
            <a:noFill/>
          </a:ln>
        </p:spPr>
        <p:txBody>
          <a:bodyPr wrap="square" lIns="0" tIns="0" rIns="0" bIns="0" anchor="ctr">
            <a:noAutofit/>
          </a:bodyPr>
          <a:lstStyle/>
          <a:p>
            <a:pPr algn="l"/>
            <a:r>
              <a:rPr lang="en-US" sz="1400" b="0">
                <a:solidFill>
                  <a:srgbClr val="252529"/>
                </a:solidFill>
                <a:latin typeface="Aptos"/>
              </a:rPr>
              <a:t>Filtering the dual system must give</a:t>
            </a:r>
          </a:p>
          <a:p>
            <a:pPr algn="l"/>
            <a:r>
              <a:rPr lang="en-US" sz="1400" b="0">
                <a:solidFill>
                  <a:srgbClr val="252529"/>
                </a:solidFill>
                <a:latin typeface="Aptos"/>
              </a:rPr>
              <a:t>the dual of the transformed system.</a:t>
            </a:r>
          </a:p>
        </p:txBody>
      </p:sp>
      <p:sp>
        <p:nvSpPr>
          <p:cNvPr id="304" name="Stage2 operation heading"/>
          <p:cNvSpPr txBox="1"/>
          <p:nvPr/>
        </p:nvSpPr>
        <p:spPr>
          <a:xfrm>
            <a:off x="4876800" y="2159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100">
                          <a:solidFill>
                            <a:srgbClr val="252529"/>
                          </a:solidFill>
                          <a:latin typeface="Cambria Math"/>
                        </a:rPr>
                        <m:t>𝐃</m:t>
                      </m:r>
                      <m:d>
                        <m:dPr>
                          <m:ctrlPr>
                            <a:rPr lang="en-US" sz="2100">
                              <a:solidFill>
                                <a:srgbClr val="252529"/>
                              </a:solidFill>
                              <a:latin typeface="Cambria Math"/>
                            </a:rPr>
                          </m:ctrlPr>
                        </m:dPr>
                        <m:e>
                          <m:r>
                            <m:rPr>
                              <m:sty m:val="p"/>
                            </m:rPr>
                            <a:rPr lang="en-US" sz="2100">
                              <a:solidFill>
                                <a:srgbClr val="252529"/>
                              </a:solidFill>
                              <a:latin typeface="Cambria Math"/>
                            </a:rPr>
                            <m:t>Θ</m:t>
                          </m:r>
                        </m:e>
                      </m:d>
                      <m:r>
                        <a:rPr lang="en-US" sz="2100">
                          <a:solidFill>
                            <a:srgbClr val="252529"/>
                          </a:solidFill>
                          <a:latin typeface="Cambria Math"/>
                        </a:rPr>
                        <m:t>:=</m:t>
                      </m:r>
                      <m:sSup>
                        <m:sSupPr>
                          <m:ctrlPr>
                            <a:rPr lang="en-US" sz="2100" i="1">
                              <a:solidFill>
                                <a:srgbClr val="252529"/>
                              </a:solidFill>
                              <a:latin typeface="Cambria Math" panose="02040503050406030204" pitchFamily="18" charset="0"/>
                            </a:rPr>
                          </m:ctrlPr>
                        </m:sSupPr>
                        <m:e>
                          <m:d>
                            <m:dPr>
                              <m:ctrlPr>
                                <a:rPr lang="en-US" sz="2100" i="1">
                                  <a:solidFill>
                                    <a:srgbClr val="252529"/>
                                  </a:solidFill>
                                  <a:latin typeface="Cambria Math" panose="02040503050406030204" pitchFamily="18" charset="0"/>
                                </a:rPr>
                              </m:ctrlPr>
                            </m:dPr>
                            <m:e>
                              <m:sSup>
                                <m:sSupPr>
                                  <m:ctrlPr>
                                    <a:rPr lang="en-US" sz="2100" i="1">
                                      <a:solidFill>
                                        <a:srgbClr val="252529"/>
                                      </a:solidFill>
                                      <a:latin typeface="Cambria Math" panose="02040503050406030204" pitchFamily="18" charset="0"/>
                                    </a:rPr>
                                  </m:ctrlPr>
                                </m:sSupPr>
                                <m:e>
                                  <m:acc>
                                    <m:accPr>
                                      <m:chr m:val="̂"/>
                                      <m:ctrlPr>
                                        <a:rPr lang="en-US" sz="2100">
                                          <a:solidFill>
                                            <a:srgbClr val="252529"/>
                                          </a:solidFill>
                                          <a:latin typeface="Cambria Math"/>
                                        </a:rPr>
                                      </m:ctrlPr>
                                    </m:accPr>
                                    <m:e>
                                      <m:r>
                                        <a:rPr lang="en-US" sz="2100">
                                          <a:solidFill>
                                            <a:srgbClr val="252529"/>
                                          </a:solidFill>
                                          <a:latin typeface="Cambria Math"/>
                                        </a:rPr>
                                        <m:t>𝐽</m:t>
                                      </m:r>
                                    </m:e>
                                  </m:acc>
                                </m:e>
                                <m:sup>
                                  <m:r>
                                    <a:rPr lang="en-US" sz="2100">
                                      <a:solidFill>
                                        <a:srgbClr val="252529"/>
                                      </a:solidFill>
                                      <a:latin typeface="Cambria Math"/>
                                    </a:rPr>
                                    <m:t>∗</m:t>
                                  </m:r>
                                </m:sup>
                              </m:sSup>
                              <m:sSup>
                                <m:sSupPr>
                                  <m:ctrlPr>
                                    <a:rPr lang="en-US" sz="2100">
                                      <a:solidFill>
                                        <a:srgbClr val="252529"/>
                                      </a:solidFill>
                                      <a:latin typeface="Cambria Math"/>
                                    </a:rPr>
                                  </m:ctrlPr>
                                </m:sSupPr>
                                <m:e>
                                  <m:r>
                                    <m:rPr>
                                      <m:sty m:val="p"/>
                                    </m:rPr>
                                    <a:rPr lang="en-US" sz="2100">
                                      <a:solidFill>
                                        <a:srgbClr val="252529"/>
                                      </a:solidFill>
                                      <a:latin typeface="Cambria Math"/>
                                    </a:rPr>
                                    <m:t>Θ</m:t>
                                  </m:r>
                                </m:e>
                                <m:sup>
                                  <m:r>
                                    <a:rPr lang="en-US" sz="2100">
                                      <a:solidFill>
                                        <a:srgbClr val="252529"/>
                                      </a:solidFill>
                                      <a:latin typeface="Cambria Math"/>
                                    </a:rPr>
                                    <m:t>⊤</m:t>
                                  </m:r>
                                </m:sup>
                              </m:sSup>
                              <m:acc>
                                <m:accPr>
                                  <m:chr m:val="̂"/>
                                  <m:ctrlPr>
                                    <a:rPr lang="en-US" sz="2100">
                                      <a:solidFill>
                                        <a:srgbClr val="252529"/>
                                      </a:solidFill>
                                      <a:latin typeface="Cambria Math"/>
                                    </a:rPr>
                                  </m:ctrlPr>
                                </m:accPr>
                                <m:e>
                                  <m:r>
                                    <a:rPr lang="en-US" sz="2100">
                                      <a:solidFill>
                                        <a:srgbClr val="252529"/>
                                      </a:solidFill>
                                      <a:latin typeface="Cambria Math"/>
                                    </a:rPr>
                                    <m:t>𝐽</m:t>
                                  </m:r>
                                </m:e>
                              </m:acc>
                            </m:e>
                          </m:d>
                        </m:e>
                        <m:sup>
                          <m:r>
                            <a:rPr lang="en-US" sz="2100">
                              <a:solidFill>
                                <a:srgbClr val="252529"/>
                              </a:solidFill>
                              <a:latin typeface="Cambria Math"/>
                            </a:rPr>
                            <m:t>−1</m:t>
                          </m:r>
                        </m:sup>
                      </m:sSup>
                    </m:oMath>
                  </m:oMathPara>
                </a14:m>
                <a:endParaRPr sz="2100">
                  <a:latin typeface="Cambria Math"/>
                </a:endParaRPr>
              </a:p>
            </p:txBody>
          </p:sp>
        </mc:Choice>
        <mc:Fallback xmlns="" xmlns:m="http://schemas.openxmlformats.org/officeDocument/2006/math">
          <p:sp>
            <p:nvSpPr>
              <p:cNvPr id="305" name="Stage2 definition"/>
              <p:cNvSpPr txBox="1"/>
              <p:nvPr/>
            </p:nvSpPr>
            <p:spPr>
              <a:xfrm>
                <a:off x="4864100" y="25146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600">
                              <a:solidFill>
                                <a:srgbClr val="252529"/>
                              </a:solidFill>
                              <a:latin typeface="Cambria Math"/>
                            </a:rPr>
                          </m:ctrlPr>
                        </m:accPr>
                        <m:e>
                          <m:r>
                            <a:rPr lang="en-US" sz="1600">
                              <a:solidFill>
                                <a:srgbClr val="252529"/>
                              </a:solidFill>
                              <a:latin typeface="Cambria Math"/>
                            </a:rPr>
                            <m:t>𝐽</m:t>
                          </m:r>
                        </m:e>
                      </m:acc>
                      <m:r>
                        <a:rPr lang="en-US" sz="1600">
                          <a:solidFill>
                            <a:srgbClr val="252529"/>
                          </a:solidFill>
                          <a:latin typeface="Cambria Math"/>
                        </a:rPr>
                        <m:t>=</m:t>
                      </m:r>
                      <m:d>
                        <m:dPr>
                          <m:begChr m:val="["/>
                          <m:endChr m:val="]"/>
                          <m:ctrlPr>
                            <a:rPr lang="en-US" sz="1600" i="1">
                              <a:solidFill>
                                <a:srgbClr val="252529"/>
                              </a:solidFill>
                              <a:latin typeface="Cambria Math" panose="02040503050406030204" pitchFamily="18" charset="0"/>
                            </a:rPr>
                          </m:ctrlPr>
                        </m:dPr>
                        <m:e>
                          <m:m>
                            <m:mPr>
                              <m:mcs>
                                <m:mc>
                                  <m:mcPr>
                                    <m:count m:val="2"/>
                                    <m:mcJc m:val="center"/>
                                  </m:mcPr>
                                </m:mc>
                              </m:mcs>
                              <m:ctrlPr>
                                <a:rPr lang="en-US" sz="1600" i="1">
                                  <a:solidFill>
                                    <a:srgbClr val="252529"/>
                                  </a:solidFill>
                                  <a:latin typeface="Cambria Math" panose="02040503050406030204" pitchFamily="18" charset="0"/>
                                </a:rPr>
                              </m:ctrlPr>
                            </m:mPr>
                            <m:mr>
                              <m:e>
                                <m:r>
                                  <a:rPr lang="en-US" sz="1600">
                                    <a:solidFill>
                                      <a:srgbClr val="252529"/>
                                    </a:solidFill>
                                    <a:latin typeface="Cambria Math"/>
                                  </a:rPr>
                                  <m:t>0</m:t>
                                </m:r>
                              </m:e>
                              <m:e>
                                <m:r>
                                  <a:rPr lang="en-US" sz="1600">
                                    <a:solidFill>
                                      <a:srgbClr val="252529"/>
                                    </a:solidFill>
                                    <a:latin typeface="Cambria Math"/>
                                  </a:rPr>
                                  <m:t>𝐼</m:t>
                                </m:r>
                              </m:e>
                            </m:mr>
                            <m:mr>
                              <m:e>
                                <m:r>
                                  <a:rPr lang="en-US" sz="1600">
                                    <a:solidFill>
                                      <a:srgbClr val="252529"/>
                                    </a:solidFill>
                                    <a:latin typeface="Cambria Math"/>
                                  </a:rPr>
                                  <m:t>−</m:t>
                                </m:r>
                                <m:r>
                                  <a:rPr lang="en-US" sz="1600">
                                    <a:solidFill>
                                      <a:srgbClr val="252529"/>
                                    </a:solidFill>
                                    <a:latin typeface="Cambria Math"/>
                                  </a:rPr>
                                  <m:t>𝐼</m:t>
                                </m:r>
                              </m:e>
                              <m:e>
                                <m:r>
                                  <a:rPr lang="en-US" sz="1600">
                                    <a:solidFill>
                                      <a:srgbClr val="252529"/>
                                    </a:solidFill>
                                    <a:latin typeface="Cambria Math"/>
                                  </a:rPr>
                                  <m:t>0</m:t>
                                </m:r>
                              </m:e>
                            </m:mr>
                          </m:m>
                        </m:e>
                      </m:d>
                    </m:oMath>
                  </m:oMathPara>
                </a14:m>
                <a:endParaRPr sz="1600">
                  <a:latin typeface="Cambria Math"/>
                </a:endParaRPr>
              </a:p>
            </p:txBody>
          </p:sp>
        </mc:Choice>
        <mc:Fallback xmlns="" xmlns:m="http://schemas.openxmlformats.org/officeDocument/2006/math">
          <p:sp>
            <p:nvSpPr>
              <p:cNvPr id="306" name="Stage2 exchange"/>
              <p:cNvSpPr txBox="1"/>
              <p:nvPr/>
            </p:nvSpPr>
            <p:spPr>
              <a:xfrm>
                <a:off x="4864100" y="30861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heck heading"/>
          <p:cNvSpPr txBox="1"/>
          <p:nvPr/>
        </p:nvSpPr>
        <p:spPr>
          <a:xfrm>
            <a:off x="4876800" y="37846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p:sp>
        <p:nvSpPr>
          <p:cNvPr id="308" name="Stage3 check description"/>
          <p:cNvSpPr txBox="1"/>
          <p:nvPr/>
        </p:nvSpPr>
        <p:spPr>
          <a:xfrm>
            <a:off x="4876800" y="4102100"/>
            <a:ext cx="3797300" cy="292100"/>
          </a:xfrm>
          <a:prstGeom prst="rect">
            <a:avLst/>
          </a:prstGeom>
          <a:noFill/>
          <a:ln>
            <a:noFill/>
          </a:ln>
        </p:spPr>
        <p:txBody>
          <a:bodyPr wrap="square" lIns="0" tIns="0" rIns="0" bIns="0" anchor="ctr">
            <a:noAutofit/>
          </a:bodyPr>
          <a:lstStyle/>
          <a:p>
            <a:pPr algn="l"/>
            <a:r>
              <a:rPr lang="en-US" sz="1350" b="0">
                <a:solidFill>
                  <a:srgbClr val="252529"/>
                </a:solidFill>
                <a:latin typeface="Aptos"/>
              </a:rPr>
              <a:t>Recover the expected dual closed loop.</a:t>
            </a:r>
          </a:p>
        </p:txBody>
      </p:sp>
      <p:sp>
        <p:nvSpPr>
          <p:cNvPr id="309"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a:solidFill>
                  <a:srgbClr val="C81919"/>
                </a:solidFill>
                <a:latin typeface="Aptos"/>
              </a:rPr>
              <a:t>Next: apply this operation and verify the resulting system.</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Applying the dual filter</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2200">
                          <a:solidFill>
                            <a:srgbClr val="252529"/>
                          </a:solidFill>
                          <a:latin typeface="Cambria Math"/>
                        </a:rPr>
                        <m:t>𝐃</m:t>
                      </m:r>
                      <m:d>
                        <m:dPr>
                          <m:ctrlPr>
                            <a:rPr lang="en-US" sz="2200">
                              <a:solidFill>
                                <a:srgbClr val="252529"/>
                              </a:solidFill>
                              <a:latin typeface="Cambria Math"/>
                            </a:rPr>
                          </m:ctrlPr>
                        </m:dPr>
                        <m:e>
                          <m:r>
                            <m:rPr>
                              <m:sty m:val="p"/>
                            </m:rPr>
                            <a:rPr lang="en-US" sz="2200">
                              <a:solidFill>
                                <a:srgbClr val="252529"/>
                              </a:solidFill>
                              <a:latin typeface="Cambria Math"/>
                            </a:rPr>
                            <m:t>Θ</m:t>
                          </m:r>
                        </m:e>
                      </m:d>
                    </m:oMath>
                  </m:oMathPara>
                </a14:m>
                <a:endParaRPr sz="2200">
                  <a:latin typeface="Cambria Math"/>
                </a:endParaRPr>
              </a:p>
            </p:txBody>
          </p:sp>
        </mc:Choice>
        <mc:Fallback xmlns="" xmlns:m="http://schemas.openxmlformats.org/officeDocument/2006/math">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expected heading"/>
          <p:cNvSpPr txBox="1"/>
          <p:nvPr/>
        </p:nvSpPr>
        <p:spPr>
          <a:xfrm>
            <a:off x="4876800" y="10160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expect?</a:t>
            </a:r>
          </a:p>
        </p:txBody>
      </p:sp>
      <mc:AlternateContent xmlns:mc="http://schemas.openxmlformats.org/markup-compatibility/2006" xmlns:a14="http://schemas.microsoft.com/office/drawing/2010/main">
        <mc:Choice Requires="a14">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sSup>
                        <m:sSupPr>
                          <m:ctrlPr>
                            <a:rPr lang="en-US" sz="1650">
                              <a:solidFill>
                                <a:srgbClr val="252529"/>
                              </a:solidFill>
                              <a:latin typeface="Cambria Math"/>
                            </a:rPr>
                          </m:ctrlPr>
                        </m:sSupPr>
                        <m:e>
                          <m:r>
                            <a:rPr lang="en-US" sz="1650">
                              <a:solidFill>
                                <a:srgbClr val="252529"/>
                              </a:solidFill>
                              <a:latin typeface="Cambria Math"/>
                            </a:rPr>
                            <m:t>𝑇</m:t>
                          </m:r>
                        </m:e>
                        <m:sup>
                          <m:r>
                            <a:rPr lang="en-US" sz="1650">
                              <a:solidFill>
                                <a:srgbClr val="252529"/>
                              </a:solidFill>
                              <a:latin typeface="Cambria Math"/>
                            </a:rPr>
                            <m:t>∗</m:t>
                          </m:r>
                        </m:sup>
                      </m:sSup>
                      <m:acc>
                        <m:accPr>
                          <m:chr m:val="̇"/>
                          <m:ctrlPr>
                            <a:rPr lang="en-US" sz="1650" i="1">
                              <a:solidFill>
                                <a:srgbClr val="252529"/>
                              </a:solidFill>
                              <a:latin typeface="Cambria Math" panose="02040503050406030204" pitchFamily="18" charset="0"/>
                            </a:rPr>
                          </m:ctrlPr>
                        </m:accPr>
                        <m:e>
                          <m:bar>
                            <m:barPr>
                              <m:pos m:val="bot"/>
                              <m:ctrlPr>
                                <a:rPr lang="en-US" sz="1650">
                                  <a:solidFill>
                                    <a:srgbClr val="252529"/>
                                  </a:solidFill>
                                  <a:latin typeface="Cambria Math"/>
                                </a:rPr>
                              </m:ctrlPr>
                            </m:barPr>
                            <m:e>
                              <m:r>
                                <a:rPr lang="en-US" sz="1650">
                                  <a:solidFill>
                                    <a:srgbClr val="252529"/>
                                  </a:solidFill>
                                  <a:latin typeface="Cambria Math"/>
                                </a:rPr>
                                <m:t>𝑥</m:t>
                              </m:r>
                            </m:e>
                          </m:bar>
                        </m:e>
                      </m:acc>
                      <m:r>
                        <a:rPr lang="en-US" sz="1650">
                          <a:solidFill>
                            <a:srgbClr val="252529"/>
                          </a:solidFill>
                          <a:latin typeface="Cambria Math"/>
                        </a:rPr>
                        <m:t>=</m:t>
                      </m:r>
                      <m:d>
                        <m:dPr>
                          <m:ctrlPr>
                            <a:rPr lang="en-US" sz="1650" i="1">
                              <a:solidFill>
                                <a:srgbClr val="252529"/>
                              </a:solidFill>
                              <a:latin typeface="Cambria Math" panose="02040503050406030204" pitchFamily="18" charset="0"/>
                            </a:rPr>
                          </m:ctrlPr>
                        </m:dPr>
                        <m:e>
                          <m:sSup>
                            <m:sSupPr>
                              <m:ctrlPr>
                                <a:rPr lang="en-US" sz="1650">
                                  <a:solidFill>
                                    <a:srgbClr val="252529"/>
                                  </a:solidFill>
                                  <a:latin typeface="Cambria Math"/>
                                </a:rPr>
                              </m:ctrlPr>
                            </m:sSupPr>
                            <m:e>
                              <m:r>
                                <a:rPr lang="en-US" sz="1650">
                                  <a:solidFill>
                                    <a:srgbClr val="252529"/>
                                  </a:solidFill>
                                  <a:latin typeface="Cambria Math"/>
                                </a:rPr>
                                <m:t>𝐴</m:t>
                              </m:r>
                            </m:e>
                            <m:sup>
                              <m:r>
                                <a:rPr lang="en-US" sz="1650">
                                  <a:solidFill>
                                    <a:srgbClr val="252529"/>
                                  </a:solidFill>
                                  <a:latin typeface="Cambria Math"/>
                                </a:rPr>
                                <m:t>∗</m:t>
                              </m:r>
                            </m:sup>
                          </m:sSup>
                          <m:r>
                            <a:rPr lang="en-US" sz="1650">
                              <a:solidFill>
                                <a:srgbClr val="252529"/>
                              </a:solidFill>
                              <a:latin typeface="Cambria Math"/>
                            </a:rPr>
                            <m:t>+</m:t>
                          </m:r>
                          <m:sSup>
                            <m:sSupPr>
                              <m:ctrlPr>
                                <a:rPr lang="en-US" sz="1650">
                                  <a:solidFill>
                                    <a:srgbClr val="252529"/>
                                  </a:solidFill>
                                  <a:latin typeface="Cambria Math"/>
                                </a:rPr>
                              </m:ctrlPr>
                            </m:sSupPr>
                            <m:e>
                              <m:r>
                                <a:rPr lang="en-US" sz="1650">
                                  <a:solidFill>
                                    <a:srgbClr val="252529"/>
                                  </a:solidFill>
                                  <a:latin typeface="Cambria Math"/>
                                </a:rPr>
                                <m:t>𝐾</m:t>
                              </m:r>
                            </m:e>
                            <m:sup>
                              <m:r>
                                <a:rPr lang="en-US" sz="1650">
                                  <a:solidFill>
                                    <a:srgbClr val="252529"/>
                                  </a:solidFill>
                                  <a:latin typeface="Cambria Math"/>
                                </a:rPr>
                                <m:t>∗</m:t>
                              </m:r>
                            </m:sup>
                          </m:sSup>
                          <m:sSup>
                            <m:sSupPr>
                              <m:ctrlPr>
                                <a:rPr lang="en-US" sz="1650" i="1">
                                  <a:solidFill>
                                    <a:srgbClr val="252529"/>
                                  </a:solidFill>
                                  <a:latin typeface="Cambria Math" panose="02040503050406030204" pitchFamily="18" charset="0"/>
                                </a:rPr>
                              </m:ctrlPr>
                            </m:sSupPr>
                            <m:e>
                              <m:sSub>
                                <m:sSubPr>
                                  <m:ctrlPr>
                                    <a:rPr lang="en-US" sz="1650">
                                      <a:solidFill>
                                        <a:srgbClr val="252529"/>
                                      </a:solidFill>
                                      <a:latin typeface="Cambria Math"/>
                                    </a:rPr>
                                  </m:ctrlPr>
                                </m:sSubPr>
                                <m:e>
                                  <m:r>
                                    <a:rPr lang="en-US" sz="1650">
                                      <a:solidFill>
                                        <a:srgbClr val="252529"/>
                                      </a:solidFill>
                                      <a:latin typeface="Cambria Math"/>
                                    </a:rPr>
                                    <m:t>𝐵</m:t>
                                  </m:r>
                                </m:e>
                                <m:sub>
                                  <m:r>
                                    <m:rPr>
                                      <m:sty m:val="p"/>
                                    </m:rPr>
                                    <a:rPr lang="en-US" sz="1650">
                                      <a:solidFill>
                                        <a:srgbClr val="252529"/>
                                      </a:solidFill>
                                      <a:latin typeface="Cambria Math"/>
                                    </a:rPr>
                                    <m:t>u</m:t>
                                  </m:r>
                                </m:sub>
                              </m:sSub>
                            </m:e>
                            <m:sup>
                              <m:r>
                                <a:rPr lang="en-US" sz="1650">
                                  <a:solidFill>
                                    <a:srgbClr val="252529"/>
                                  </a:solidFill>
                                  <a:latin typeface="Cambria Math"/>
                                </a:rPr>
                                <m:t>∗</m:t>
                              </m:r>
                            </m:sup>
                          </m:sSup>
                        </m:e>
                      </m:d>
                      <m:bar>
                        <m:barPr>
                          <m:pos m:val="bot"/>
                          <m:ctrlPr>
                            <a:rPr lang="en-US" sz="1650">
                              <a:solidFill>
                                <a:srgbClr val="252529"/>
                              </a:solidFill>
                              <a:latin typeface="Cambria Math"/>
                            </a:rPr>
                          </m:ctrlPr>
                        </m:barPr>
                        <m:e>
                          <m:r>
                            <a:rPr lang="en-US" sz="1650">
                              <a:solidFill>
                                <a:srgbClr val="252529"/>
                              </a:solidFill>
                              <a:latin typeface="Cambria Math"/>
                            </a:rPr>
                            <m:t>𝑥</m:t>
                          </m:r>
                        </m:e>
                      </m:bar>
                    </m:oMath>
                  </m:oMathPara>
                </a14:m>
                <a:endParaRPr sz="1650">
                  <a:latin typeface="Cambria Math"/>
                </a:endParaRPr>
              </a:p>
            </p:txBody>
          </p:sp>
        </mc:Choice>
        <mc:Fallback xmlns="" xmlns:m="http://schemas.openxmlformats.org/officeDocument/2006/math">
          <p:sp>
            <p:nvSpPr>
              <p:cNvPr id="303" name="Stage1 expected dynamics"/>
              <p:cNvSpPr txBox="1"/>
              <p:nvPr/>
            </p:nvSpPr>
            <p:spPr>
              <a:xfrm>
                <a:off x="4864100" y="1333500"/>
                <a:ext cx="3898900" cy="342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calculation heading"/>
          <p:cNvSpPr txBox="1"/>
          <p:nvPr/>
        </p:nvSpPr>
        <p:spPr>
          <a:xfrm>
            <a:off x="4876800" y="1828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What do we get?</a:t>
            </a:r>
          </a:p>
        </p:txBody>
      </p:sp>
      <mc:AlternateContent xmlns:mc="http://schemas.openxmlformats.org/markup-compatibility/2006" xmlns:a14="http://schemas.microsoft.com/office/drawing/2010/main">
        <mc:Choice Requires="a14">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r>
                        <a:rPr lang="en-US" sz="1550">
                          <a:solidFill>
                            <a:srgbClr val="252529"/>
                          </a:solidFill>
                          <a:latin typeface="Cambria Math"/>
                        </a:rPr>
                        <m:t>𝐃</m:t>
                      </m:r>
                      <m:d>
                        <m:dPr>
                          <m:ctrlPr>
                            <a:rPr lang="en-US" sz="1550">
                              <a:solidFill>
                                <a:srgbClr val="252529"/>
                              </a:solidFill>
                              <a:latin typeface="Cambria Math"/>
                            </a:rPr>
                          </m:ctrlPr>
                        </m:dPr>
                        <m:e>
                          <m:r>
                            <m:rPr>
                              <m:sty m:val="p"/>
                            </m:rPr>
                            <a:rPr lang="en-US" sz="1550">
                              <a:solidFill>
                                <a:srgbClr val="252529"/>
                              </a:solidFill>
                              <a:latin typeface="Cambria Math"/>
                            </a:rPr>
                            <m:t>Θ</m:t>
                          </m:r>
                        </m:e>
                      </m:d>
                      <m:r>
                        <a:rPr lang="en-US" sz="1550">
                          <a:solidFill>
                            <a:srgbClr val="252529"/>
                          </a:solidFill>
                          <a:latin typeface="Cambria Math"/>
                        </a:rPr>
                        <m:t> := </m:t>
                      </m:r>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e>
                                    </m:mr>
                                    <m:mr>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mr>
                                  </m:m>
                                </m:e>
                              </m:d>
                              <m:r>
                                <a:rPr lang="en-US" sz="1550">
                                  <a:solidFill>
                                    <a:srgbClr val="252529"/>
                                  </a:solidFill>
                                  <a:latin typeface="Cambria Math"/>
                                </a:rPr>
                                <m:t>=</m:t>
                              </m:r>
                              <m:d>
                                <m:dPr>
                                  <m:begChr m:val="["/>
                                  <m:endChr m:val="]"/>
                                  <m:ctrlPr>
                                    <a:rPr lang="en-US" sz="1550" i="1">
                                      <a:solidFill>
                                        <a:srgbClr val="252529"/>
                                      </a:solidFill>
                                      <a:latin typeface="Cambria Math" panose="02040503050406030204" pitchFamily="18" charset="0"/>
                                    </a:rPr>
                                  </m:ctrlPr>
                                </m:dPr>
                                <m:e>
                                  <m:m>
                                    <m:mPr>
                                      <m:mcs>
                                        <m:mc>
                                          <m:mcPr>
                                            <m:count m:val="2"/>
                                            <m:mcJc m:val="center"/>
                                          </m:mcPr>
                                        </m:mc>
                                      </m:mcs>
                                      <m:ctrlPr>
                                        <a:rPr lang="en-US" sz="1550" i="1">
                                          <a:solidFill>
                                            <a:srgbClr val="252529"/>
                                          </a:solidFill>
                                          <a:latin typeface="Cambria Math" panose="02040503050406030204" pitchFamily="18" charset="0"/>
                                        </a:rPr>
                                      </m:ctrlPr>
                                    </m:mPr>
                                    <m:mr>
                                      <m:e>
                                        <m:r>
                                          <a:rPr lang="en-US" sz="1550">
                                            <a:solidFill>
                                              <a:srgbClr val="252529"/>
                                            </a:solidFill>
                                            <a:latin typeface="Cambria Math"/>
                                          </a:rPr>
                                          <m:t>𝐼</m:t>
                                        </m:r>
                                      </m:e>
                                      <m:e>
                                        <m:r>
                                          <a:rPr lang="en-US" sz="1550">
                                            <a:solidFill>
                                              <a:srgbClr val="252529"/>
                                            </a:solidFill>
                                            <a:latin typeface="Cambria Math"/>
                                          </a:rPr>
                                          <m:t>0</m:t>
                                        </m:r>
                                      </m:e>
                                    </m:mr>
                                    <m:mr>
                                      <m:e>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e>
                                      <m:e>
                                        <m:r>
                                          <a:rPr lang="en-US" sz="1550">
                                            <a:solidFill>
                                              <a:srgbClr val="252529"/>
                                            </a:solidFill>
                                            <a:latin typeface="Cambria Math"/>
                                          </a:rPr>
                                          <m:t>𝐼</m:t>
                                        </m:r>
                                      </m:e>
                                    </m:mr>
                                  </m:m>
                                </m:e>
                              </m:d>
                              <m:d>
                                <m:dPr>
                                  <m:begChr m:val="["/>
                                  <m:endChr m:val="]"/>
                                  <m:ctrlPr>
                                    <a:rPr lang="en-US" sz="1550" i="1">
                                      <a:solidFill>
                                        <a:srgbClr val="252529"/>
                                      </a:solidFill>
                                      <a:latin typeface="Cambria Math" panose="02040503050406030204" pitchFamily="18" charset="0"/>
                                    </a:rPr>
                                  </m:ctrlPr>
                                </m:dPr>
                                <m:e>
                                  <m:m>
                                    <m:mPr>
                                      <m:mcs>
                                        <m:mc>
                                          <m:mcPr>
                                            <m:count m:val="1"/>
                                            <m:mcJc m:val="center"/>
                                          </m:mcPr>
                                        </m:mc>
                                      </m:mcs>
                                      <m:ctrlPr>
                                        <a:rPr lang="en-US" sz="1550" i="1">
                                          <a:solidFill>
                                            <a:srgbClr val="252529"/>
                                          </a:solidFill>
                                          <a:latin typeface="Cambria Math" panose="02040503050406030204" pitchFamily="18" charset="0"/>
                                        </a:rPr>
                                      </m:ctrlPr>
                                    </m:mPr>
                                    <m:mr>
                                      <m:e>
                                        <m:bar>
                                          <m:barPr>
                                            <m:pos m:val="bot"/>
                                            <m:ctrlPr>
                                              <a:rPr lang="en-US" sz="1550">
                                                <a:solidFill>
                                                  <a:srgbClr val="252529"/>
                                                </a:solidFill>
                                                <a:latin typeface="Cambria Math"/>
                                              </a:rPr>
                                            </m:ctrlPr>
                                          </m:barPr>
                                          <m:e>
                                            <m:r>
                                              <a:rPr lang="en-US" sz="1550">
                                                <a:solidFill>
                                                  <a:srgbClr val="252529"/>
                                                </a:solidFill>
                                                <a:latin typeface="Cambria Math"/>
                                              </a:rPr>
                                              <m:t>𝑦</m:t>
                                            </m:r>
                                          </m:e>
                                        </m:bar>
                                      </m:e>
                                    </m:mr>
                                    <m:mr>
                                      <m:e>
                                        <m:bar>
                                          <m:barPr>
                                            <m:pos m:val="bot"/>
                                            <m:ctrlPr>
                                              <a:rPr lang="en-US" sz="1550">
                                                <a:solidFill>
                                                  <a:srgbClr val="252529"/>
                                                </a:solidFill>
                                                <a:latin typeface="Cambria Math"/>
                                              </a:rPr>
                                            </m:ctrlPr>
                                          </m:barPr>
                                          <m:e>
                                            <m:r>
                                              <a:rPr lang="en-US" sz="1550">
                                                <a:solidFill>
                                                  <a:srgbClr val="252529"/>
                                                </a:solidFill>
                                                <a:latin typeface="Cambria Math"/>
                                              </a:rPr>
                                              <m:t>𝑢</m:t>
                                            </m:r>
                                          </m:e>
                                        </m:bar>
                                      </m:e>
                                    </m:mr>
                                  </m:m>
                                </m:e>
                              </m:d>
                            </m:e>
                          </m:eqArr>
                        </m:e>
                      </m:d>
                    </m:oMath>
                  </m:oMathPara>
                </a14:m>
                <a:endParaRPr sz="1550">
                  <a:latin typeface="Cambria Math"/>
                </a:endParaRPr>
              </a:p>
            </p:txBody>
          </p:sp>
        </mc:Choice>
        <mc:Fallback xmlns="" xmlns:m="http://schemas.openxmlformats.org/officeDocument/2006/math">
          <p:sp>
            <p:nvSpPr>
              <p:cNvPr id="305" name="Stage2 dual filter signal system"/>
              <p:cNvSpPr txBox="1"/>
              <p:nvPr/>
            </p:nvSpPr>
            <p:spPr>
              <a:xfrm>
                <a:off x="4864100" y="2133600"/>
                <a:ext cx="3898900" cy="6477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bar>
                        <m:barPr>
                          <m:pos m:val="bot"/>
                          <m:ctrlPr>
                            <a:rPr lang="en-US" sz="1800">
                              <a:solidFill>
                                <a:srgbClr val="252529"/>
                              </a:solidFill>
                              <a:latin typeface="Cambria Math"/>
                            </a:rPr>
                          </m:ctrlPr>
                        </m:barPr>
                        <m:e>
                          <m:r>
                            <a:rPr lang="en-US" sz="1800">
                              <a:solidFill>
                                <a:srgbClr val="252529"/>
                              </a:solidFill>
                              <a:latin typeface="Cambria Math"/>
                            </a:rPr>
                            <m:t>𝑢</m:t>
                          </m:r>
                        </m:e>
                      </m:bar>
                      <m:r>
                        <a:rPr lang="en-US" sz="1800">
                          <a:solidFill>
                            <a:srgbClr val="252529"/>
                          </a:solidFill>
                          <a:latin typeface="Cambria Math"/>
                        </a:rPr>
                        <m:t>=</m:t>
                      </m:r>
                      <m:sSup>
                        <m:sSupPr>
                          <m:ctrlPr>
                            <a:rPr lang="en-US" sz="1800">
                              <a:solidFill>
                                <a:srgbClr val="252529"/>
                              </a:solidFill>
                              <a:latin typeface="Cambria Math"/>
                            </a:rPr>
                          </m:ctrlPr>
                        </m:sSupPr>
                        <m:e>
                          <m:r>
                            <a:rPr lang="en-US" sz="1800">
                              <a:solidFill>
                                <a:srgbClr val="252529"/>
                              </a:solidFill>
                              <a:latin typeface="Cambria Math"/>
                            </a:rPr>
                            <m:t>𝐾</m:t>
                          </m:r>
                        </m:e>
                        <m:sup>
                          <m:r>
                            <a:rPr lang="en-US" sz="1800">
                              <a:solidFill>
                                <a:srgbClr val="252529"/>
                              </a:solidFill>
                              <a:latin typeface="Cambria Math"/>
                            </a:rPr>
                            <m:t>∗</m:t>
                          </m:r>
                        </m:sup>
                      </m:sSup>
                      <m:bar>
                        <m:barPr>
                          <m:pos m:val="bot"/>
                          <m:ctrlPr>
                            <a:rPr lang="en-US" sz="1800">
                              <a:solidFill>
                                <a:srgbClr val="252529"/>
                              </a:solidFill>
                              <a:latin typeface="Cambria Math"/>
                            </a:rPr>
                          </m:ctrlPr>
                        </m:barPr>
                        <m:e>
                          <m:r>
                            <a:rPr lang="en-US" sz="1800">
                              <a:solidFill>
                                <a:srgbClr val="252529"/>
                              </a:solidFill>
                              <a:latin typeface="Cambria Math"/>
                            </a:rPr>
                            <m:t>𝑦</m:t>
                          </m:r>
                        </m:e>
                      </m:bar>
                      <m:r>
                        <a:rPr lang="en-US" sz="1800">
                          <a:solidFill>
                            <a:srgbClr val="252529"/>
                          </a:solidFill>
                          <a:latin typeface="Cambria Math"/>
                        </a:rPr>
                        <m:t>+</m:t>
                      </m:r>
                      <m:acc>
                        <m:accPr>
                          <m:chr m:val="̃"/>
                          <m:ctrlPr>
                            <a:rPr lang="en-US" sz="1800" i="1">
                              <a:solidFill>
                                <a:srgbClr val="252529"/>
                              </a:solidFill>
                              <a:latin typeface="Cambria Math" panose="02040503050406030204" pitchFamily="18" charset="0"/>
                            </a:rPr>
                          </m:ctrlPr>
                        </m:accPr>
                        <m:e>
                          <m:bar>
                            <m:barPr>
                              <m:pos m:val="bot"/>
                              <m:ctrlPr>
                                <a:rPr lang="en-US" sz="1800">
                                  <a:solidFill>
                                    <a:srgbClr val="252529"/>
                                  </a:solidFill>
                                  <a:latin typeface="Cambria Math"/>
                                </a:rPr>
                              </m:ctrlPr>
                            </m:barPr>
                            <m:e>
                              <m:r>
                                <a:rPr lang="en-US" sz="1800">
                                  <a:solidFill>
                                    <a:srgbClr val="252529"/>
                                  </a:solidFill>
                                  <a:latin typeface="Cambria Math"/>
                                </a:rPr>
                                <m:t>𝑢</m:t>
                              </m:r>
                            </m:e>
                          </m:bar>
                        </m:e>
                      </m:acc>
                    </m:oMath>
                  </m:oMathPara>
                </a14:m>
                <a:endParaRPr sz="1800">
                  <a:latin typeface="Cambria Math"/>
                </a:endParaRPr>
              </a:p>
            </p:txBody>
          </p:sp>
        </mc:Choice>
        <mc:Fallback xmlns="" xmlns:m="http://schemas.openxmlformats.org/officeDocument/2006/math">
          <p:sp>
            <p:nvSpPr>
              <p:cNvPr id="306" name="Stage2 rewrite input"/>
              <p:cNvSpPr txBox="1"/>
              <p:nvPr/>
            </p:nvSpPr>
            <p:spPr>
              <a:xfrm>
                <a:off x="4953000" y="2882900"/>
                <a:ext cx="37338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xmlns:mc="http://schemas.openxmlformats.org/markup-compatibility/2006" xmlns:a14="http://schemas.microsoft.com/office/drawing/2010/main">
        <mc:Choice Requires="a14">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d>
                        <m:dPr>
                          <m:begChr m:val="{"/>
                          <m:endChr m:val=""/>
                          <m:ctrlPr>
                            <a:rPr lang="en-US" sz="1550" i="1">
                              <a:solidFill>
                                <a:srgbClr val="252529"/>
                              </a:solidFill>
                              <a:latin typeface="Cambria Math" panose="02040503050406030204" pitchFamily="18" charset="0"/>
                            </a:rPr>
                          </m:ctrlPr>
                        </m:dPr>
                        <m:e>
                          <m:eqArr>
                            <m:eqArrPr>
                              <m:ctrlPr>
                                <a:rPr lang="en-US" sz="1550" i="1">
                                  <a:solidFill>
                                    <a:srgbClr val="252529"/>
                                  </a:solidFill>
                                  <a:latin typeface="Cambria Math" panose="02040503050406030204" pitchFamily="18" charset="0"/>
                                </a:rPr>
                              </m:ctrlPr>
                            </m:eqArrPr>
                            <m:e>
                              <m:sSup>
                                <m:sSupPr>
                                  <m:ctrlPr>
                                    <a:rPr lang="en-US" sz="1550">
                                      <a:solidFill>
                                        <a:srgbClr val="252529"/>
                                      </a:solidFill>
                                      <a:latin typeface="Cambria Math"/>
                                    </a:rPr>
                                  </m:ctrlPr>
                                </m:sSupPr>
                                <m:e>
                                  <m:r>
                                    <a:rPr lang="en-US" sz="1550">
                                      <a:solidFill>
                                        <a:srgbClr val="252529"/>
                                      </a:solidFill>
                                      <a:latin typeface="Cambria Math"/>
                                    </a:rPr>
                                    <m:t>𝑇</m:t>
                                  </m:r>
                                </m:e>
                                <m:sup>
                                  <m:r>
                                    <a:rPr lang="en-US" sz="1550">
                                      <a:solidFill>
                                        <a:srgbClr val="252529"/>
                                      </a:solidFill>
                                      <a:latin typeface="Cambria Math"/>
                                    </a:rPr>
                                    <m:t>∗</m:t>
                                  </m:r>
                                </m:sup>
                              </m:sSup>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𝑥</m:t>
                                      </m:r>
                                    </m:e>
                                  </m:bar>
                                </m:e>
                              </m:acc>
                              <m:r>
                                <a:rPr lang="en-US" sz="1550">
                                  <a:solidFill>
                                    <a:srgbClr val="252529"/>
                                  </a:solidFill>
                                  <a:latin typeface="Cambria Math"/>
                                </a:rPr>
                                <m:t>=</m:t>
                              </m:r>
                              <m:d>
                                <m:dPr>
                                  <m:ctrlPr>
                                    <a:rPr lang="en-US" sz="1550" i="1">
                                      <a:solidFill>
                                        <a:srgbClr val="252529"/>
                                      </a:solidFill>
                                      <a:latin typeface="Cambria Math" panose="02040503050406030204" pitchFamily="18" charset="0"/>
                                    </a:rPr>
                                  </m:ctrlPr>
                                </m:dPr>
                                <m:e>
                                  <m:sSup>
                                    <m:sSupPr>
                                      <m:ctrlPr>
                                        <a:rPr lang="en-US" sz="1550">
                                          <a:solidFill>
                                            <a:srgbClr val="252529"/>
                                          </a:solidFill>
                                          <a:latin typeface="Cambria Math"/>
                                        </a:rPr>
                                      </m:ctrlPr>
                                    </m:sSupPr>
                                    <m:e>
                                      <m:r>
                                        <a:rPr lang="en-US" sz="1550">
                                          <a:solidFill>
                                            <a:srgbClr val="252529"/>
                                          </a:solidFill>
                                          <a:latin typeface="Cambria Math"/>
                                        </a:rPr>
                                        <m:t>𝐴</m:t>
                                      </m:r>
                                    </m:e>
                                    <m:sup>
                                      <m:r>
                                        <a:rPr lang="en-US" sz="1550">
                                          <a:solidFill>
                                            <a:srgbClr val="252529"/>
                                          </a:solidFill>
                                          <a:latin typeface="Cambria Math"/>
                                        </a:rPr>
                                        <m:t>∗</m:t>
                                      </m:r>
                                    </m:sup>
                                  </m:sSup>
                                  <m:r>
                                    <a:rPr lang="en-US" sz="1550">
                                      <a:solidFill>
                                        <a:srgbClr val="252529"/>
                                      </a:solidFill>
                                      <a:latin typeface="Cambria Math"/>
                                    </a:rPr>
                                    <m:t>+</m:t>
                                  </m:r>
                                  <m:sSup>
                                    <m:sSupPr>
                                      <m:ctrlPr>
                                        <a:rPr lang="en-US" sz="1550">
                                          <a:solidFill>
                                            <a:srgbClr val="252529"/>
                                          </a:solidFill>
                                          <a:latin typeface="Cambria Math"/>
                                        </a:rPr>
                                      </m:ctrlPr>
                                    </m:sSupPr>
                                    <m:e>
                                      <m:r>
                                        <a:rPr lang="en-US" sz="1550">
                                          <a:solidFill>
                                            <a:srgbClr val="252529"/>
                                          </a:solidFill>
                                          <a:latin typeface="Cambria Math"/>
                                        </a:rPr>
                                        <m:t>𝐾</m:t>
                                      </m:r>
                                    </m:e>
                                    <m:sup>
                                      <m:r>
                                        <a:rPr lang="en-US" sz="1550">
                                          <a:solidFill>
                                            <a:srgbClr val="252529"/>
                                          </a:solidFill>
                                          <a:latin typeface="Cambria Math"/>
                                        </a:rPr>
                                        <m:t>∗</m:t>
                                      </m:r>
                                    </m:sup>
                                  </m:sSup>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e>
                              </m:d>
                              <m:bar>
                                <m:barPr>
                                  <m:pos m:val="bot"/>
                                  <m:ctrlPr>
                                    <a:rPr lang="en-US" sz="1550">
                                      <a:solidFill>
                                        <a:srgbClr val="252529"/>
                                      </a:solidFill>
                                      <a:latin typeface="Cambria Math"/>
                                    </a:rPr>
                                  </m:ctrlPr>
                                </m:barPr>
                                <m:e>
                                  <m:r>
                                    <a:rPr lang="en-US" sz="1550">
                                      <a:solidFill>
                                        <a:srgbClr val="252529"/>
                                      </a:solidFill>
                                      <a:latin typeface="Cambria Math"/>
                                    </a:rPr>
                                    <m:t>𝑥</m:t>
                                  </m:r>
                                </m:e>
                              </m:bar>
                              <m:r>
                                <a:rPr lang="en-US" sz="1550">
                                  <a:solidFill>
                                    <a:srgbClr val="252529"/>
                                  </a:solidFill>
                                  <a:latin typeface="Cambria Math"/>
                                </a:rPr>
                                <m:t>+</m:t>
                              </m:r>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𝑢</m:t>
                                      </m:r>
                                    </m:e>
                                  </m:bar>
                                </m:e>
                              </m:acc>
                            </m:e>
                            <m:e>
                              <m:acc>
                                <m:accPr>
                                  <m:chr m:val="̃"/>
                                  <m:ctrlPr>
                                    <a:rPr lang="en-US" sz="1550" i="1">
                                      <a:solidFill>
                                        <a:srgbClr val="252529"/>
                                      </a:solidFill>
                                      <a:latin typeface="Cambria Math" panose="02040503050406030204" pitchFamily="18" charset="0"/>
                                    </a:rPr>
                                  </m:ctrlPr>
                                </m:accPr>
                                <m:e>
                                  <m:bar>
                                    <m:barPr>
                                      <m:pos m:val="bot"/>
                                      <m:ctrlPr>
                                        <a:rPr lang="en-US" sz="1550">
                                          <a:solidFill>
                                            <a:srgbClr val="252529"/>
                                          </a:solidFill>
                                          <a:latin typeface="Cambria Math"/>
                                        </a:rPr>
                                      </m:ctrlPr>
                                    </m:barPr>
                                    <m:e>
                                      <m:r>
                                        <a:rPr lang="en-US" sz="1550">
                                          <a:solidFill>
                                            <a:srgbClr val="252529"/>
                                          </a:solidFill>
                                          <a:latin typeface="Cambria Math"/>
                                        </a:rPr>
                                        <m:t>𝑦</m:t>
                                      </m:r>
                                    </m:e>
                                  </m:bar>
                                </m:e>
                              </m:acc>
                              <m:r>
                                <a:rPr lang="en-US" sz="1550">
                                  <a:solidFill>
                                    <a:srgbClr val="252529"/>
                                  </a:solidFill>
                                  <a:latin typeface="Cambria Math"/>
                                </a:rPr>
                                <m:t>=</m:t>
                              </m:r>
                              <m:sSup>
                                <m:sSupPr>
                                  <m:ctrlPr>
                                    <a:rPr lang="en-US" sz="1550" i="1">
                                      <a:solidFill>
                                        <a:srgbClr val="252529"/>
                                      </a:solidFill>
                                      <a:latin typeface="Cambria Math" panose="02040503050406030204" pitchFamily="18" charset="0"/>
                                    </a:rPr>
                                  </m:ctrlPr>
                                </m:sSupPr>
                                <m:e>
                                  <m:sSub>
                                    <m:sSubPr>
                                      <m:ctrlPr>
                                        <a:rPr lang="en-US" sz="1550">
                                          <a:solidFill>
                                            <a:srgbClr val="252529"/>
                                          </a:solidFill>
                                          <a:latin typeface="Cambria Math"/>
                                        </a:rPr>
                                      </m:ctrlPr>
                                    </m:sSubPr>
                                    <m:e>
                                      <m:r>
                                        <a:rPr lang="en-US" sz="1550">
                                          <a:solidFill>
                                            <a:srgbClr val="252529"/>
                                          </a:solidFill>
                                          <a:latin typeface="Cambria Math"/>
                                        </a:rPr>
                                        <m:t>𝐵</m:t>
                                      </m:r>
                                    </m:e>
                                    <m:sub>
                                      <m:r>
                                        <m:rPr>
                                          <m:sty m:val="p"/>
                                        </m:rPr>
                                        <a:rPr lang="en-US" sz="1550">
                                          <a:solidFill>
                                            <a:srgbClr val="252529"/>
                                          </a:solidFill>
                                          <a:latin typeface="Cambria Math"/>
                                        </a:rPr>
                                        <m:t>u</m:t>
                                      </m:r>
                                    </m:sub>
                                  </m:sSub>
                                </m:e>
                                <m:sup>
                                  <m:r>
                                    <a:rPr lang="en-US" sz="1550">
                                      <a:solidFill>
                                        <a:srgbClr val="252529"/>
                                      </a:solidFill>
                                      <a:latin typeface="Cambria Math"/>
                                    </a:rPr>
                                    <m:t>∗</m:t>
                                  </m:r>
                                </m:sup>
                              </m:sSup>
                              <m:bar>
                                <m:barPr>
                                  <m:pos m:val="bot"/>
                                  <m:ctrlPr>
                                    <a:rPr lang="en-US" sz="1550">
                                      <a:solidFill>
                                        <a:srgbClr val="252529"/>
                                      </a:solidFill>
                                      <a:latin typeface="Cambria Math"/>
                                    </a:rPr>
                                  </m:ctrlPr>
                                </m:barPr>
                                <m:e>
                                  <m:r>
                                    <a:rPr lang="en-US" sz="1550">
                                      <a:solidFill>
                                        <a:srgbClr val="252529"/>
                                      </a:solidFill>
                                      <a:latin typeface="Cambria Math"/>
                                    </a:rPr>
                                    <m:t>𝑥</m:t>
                                  </m:r>
                                </m:e>
                              </m:bar>
                            </m:e>
                          </m:eqArr>
                        </m:e>
                      </m:d>
                    </m:oMath>
                  </m:oMathPara>
                </a14:m>
                <a:endParaRPr sz="1550">
                  <a:latin typeface="Cambria Math"/>
                </a:endParaRPr>
              </a:p>
            </p:txBody>
          </p:sp>
        </mc:Choice>
        <mc:Fallback xmlns="" xmlns:m="http://schemas.openxmlformats.org/officeDocument/2006/math">
          <p:sp>
            <p:nvSpPr>
              <p:cNvPr id="307" name="Stage2 driven dual system"/>
              <p:cNvSpPr txBox="1"/>
              <p:nvPr/>
            </p:nvSpPr>
            <p:spPr>
              <a:xfrm>
                <a:off x="4864100" y="3289300"/>
                <a:ext cx="3898900" cy="622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heck heading"/>
          <p:cNvSpPr txBox="1"/>
          <p:nvPr/>
        </p:nvSpPr>
        <p:spPr>
          <a:xfrm>
            <a:off x="4876800" y="3987800"/>
            <a:ext cx="3810000" cy="254000"/>
          </a:xfrm>
          <a:prstGeom prst="rect">
            <a:avLst/>
          </a:prstGeom>
          <a:noFill/>
          <a:ln>
            <a:noFill/>
          </a:ln>
        </p:spPr>
        <p:txBody>
          <a:bodyPr wrap="square" lIns="0" tIns="0" rIns="0" bIns="0" anchor="ctr">
            <a:noAutofit/>
          </a:bodyPr>
          <a:lstStyle/>
          <a:p>
            <a:pPr algn="l"/>
            <a:r>
              <a:rPr lang="en-US" sz="1400" b="1">
                <a:solidFill>
                  <a:srgbClr val="252529"/>
                </a:solidFill>
                <a:latin typeface="Aptos"/>
              </a:rPr>
              <a:t>Is this correct?</a:t>
            </a:r>
          </a:p>
        </p:txBody>
      </p:sp>
      <mc:AlternateContent xmlns:mc="http://schemas.openxmlformats.org/markup-compatibility/2006" xmlns:a14="http://schemas.microsoft.com/office/drawing/2010/main">
        <mc:Choice Requires="a14">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pPr algn="l"/>
                <a14:m>
                  <m:oMathPara xmlns:m="http://schemas.openxmlformats.org/officeDocument/2006/math">
                    <m:oMathParaPr>
                      <m:jc m:val="left"/>
                    </m:oMathParaPr>
                    <m:oMath>
                      <m:acc>
                        <m:accPr>
                          <m:chr m:val="̃"/>
                          <m:ctrlPr>
                            <a:rPr lang="en-US" sz="1700" i="1">
                              <a:solidFill>
                                <a:srgbClr val="252529"/>
                              </a:solidFill>
                              <a:latin typeface="Cambria Math" panose="02040503050406030204" pitchFamily="18" charset="0"/>
                            </a:rPr>
                          </m:ctrlPr>
                        </m:accPr>
                        <m:e>
                          <m:bar>
                            <m:barPr>
                              <m:pos m:val="bot"/>
                              <m:ctrlPr>
                                <a:rPr lang="en-US" sz="1700">
                                  <a:solidFill>
                                    <a:srgbClr val="252529"/>
                                  </a:solidFill>
                                  <a:latin typeface="Cambria Math"/>
                                </a:rPr>
                              </m:ctrlPr>
                            </m:barPr>
                            <m:e>
                              <m:r>
                                <a:rPr lang="en-US" sz="1700">
                                  <a:solidFill>
                                    <a:srgbClr val="252529"/>
                                  </a:solidFill>
                                  <a:latin typeface="Cambria Math"/>
                                </a:rPr>
                                <m:t>𝑢</m:t>
                              </m:r>
                            </m:e>
                          </m:bar>
                        </m:e>
                      </m:acc>
                      <m:r>
                        <a:rPr lang="en-US" sz="1700">
                          <a:solidFill>
                            <a:srgbClr val="252529"/>
                          </a:solidFill>
                          <a:latin typeface="Cambria Math"/>
                        </a:rPr>
                        <m:t>=0  ⇔  </m:t>
                      </m:r>
                      <m:bar>
                        <m:barPr>
                          <m:pos m:val="bot"/>
                          <m:ctrlPr>
                            <a:rPr lang="en-US" sz="1700">
                              <a:solidFill>
                                <a:srgbClr val="252529"/>
                              </a:solidFill>
                              <a:latin typeface="Cambria Math"/>
                            </a:rPr>
                          </m:ctrlPr>
                        </m:barPr>
                        <m:e>
                          <m:r>
                            <a:rPr lang="en-US" sz="1700">
                              <a:solidFill>
                                <a:srgbClr val="252529"/>
                              </a:solidFill>
                              <a:latin typeface="Cambria Math"/>
                            </a:rPr>
                            <m:t>𝑢</m:t>
                          </m:r>
                        </m:e>
                      </m:bar>
                      <m:r>
                        <a:rPr lang="en-US" sz="1700">
                          <a:solidFill>
                            <a:srgbClr val="252529"/>
                          </a:solidFill>
                          <a:latin typeface="Cambria Math"/>
                        </a:rPr>
                        <m:t>=</m:t>
                      </m:r>
                      <m:sSup>
                        <m:sSupPr>
                          <m:ctrlPr>
                            <a:rPr lang="en-US" sz="1700">
                              <a:solidFill>
                                <a:srgbClr val="252529"/>
                              </a:solidFill>
                              <a:latin typeface="Cambria Math"/>
                            </a:rPr>
                          </m:ctrlPr>
                        </m:sSupPr>
                        <m:e>
                          <m:r>
                            <a:rPr lang="en-US" sz="1700">
                              <a:solidFill>
                                <a:srgbClr val="252529"/>
                              </a:solidFill>
                              <a:latin typeface="Cambria Math"/>
                            </a:rPr>
                            <m:t>𝐾</m:t>
                          </m:r>
                        </m:e>
                        <m:sup>
                          <m:r>
                            <a:rPr lang="en-US" sz="1700">
                              <a:solidFill>
                                <a:srgbClr val="252529"/>
                              </a:solidFill>
                              <a:latin typeface="Cambria Math"/>
                            </a:rPr>
                            <m:t>∗</m:t>
                          </m:r>
                        </m:sup>
                      </m:sSup>
                      <m:bar>
                        <m:barPr>
                          <m:pos m:val="bot"/>
                          <m:ctrlPr>
                            <a:rPr lang="en-US" sz="1700">
                              <a:solidFill>
                                <a:srgbClr val="252529"/>
                              </a:solidFill>
                              <a:latin typeface="Cambria Math"/>
                            </a:rPr>
                          </m:ctrlPr>
                        </m:barPr>
                        <m:e>
                          <m:r>
                            <a:rPr lang="en-US" sz="1700">
                              <a:solidFill>
                                <a:srgbClr val="252529"/>
                              </a:solidFill>
                              <a:latin typeface="Cambria Math"/>
                            </a:rPr>
                            <m:t>𝑦</m:t>
                          </m:r>
                        </m:e>
                      </m:bar>
                    </m:oMath>
                  </m:oMathPara>
                </a14:m>
                <a:endParaRPr sz="1700">
                  <a:latin typeface="Cambria Math"/>
                </a:endParaRPr>
              </a:p>
            </p:txBody>
          </p:sp>
        </mc:Choice>
        <mc:Fallback xmlns="" xmlns:m="http://schemas.openxmlformats.org/officeDocument/2006/math">
          <p:sp>
            <p:nvSpPr>
              <p:cNvPr id="309" name="Stage3 closure"/>
              <p:cNvSpPr txBox="1"/>
              <p:nvPr/>
            </p:nvSpPr>
            <p:spPr>
              <a:xfrm>
                <a:off x="4953000" y="4279900"/>
                <a:ext cx="3733800" cy="292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10" name="Stage3 conclusion"/>
          <p:cNvSpPr txBox="1"/>
          <p:nvPr/>
        </p:nvSpPr>
        <p:spPr>
          <a:xfrm>
            <a:off x="457200" y="4584700"/>
            <a:ext cx="8229600" cy="254000"/>
          </a:xfrm>
          <a:prstGeom prst="rect">
            <a:avLst/>
          </a:prstGeom>
          <a:noFill/>
          <a:ln>
            <a:noFill/>
          </a:ln>
        </p:spPr>
        <p:txBody>
          <a:bodyPr wrap="square" lIns="0" tIns="0" rIns="0" bIns="0" anchor="ctr">
            <a:noAutofit/>
          </a:bodyPr>
          <a:lstStyle/>
          <a:p>
            <a:pPr algn="l"/>
            <a:r>
              <a:rPr lang="en-US" sz="1600" b="1">
                <a:solidFill>
                  <a:srgbClr val="C81919"/>
                </a:solidFill>
                <a:latin typeface="Aptos"/>
              </a:rPr>
              <a:t>Yes: zero filtered input recovers the dual closed loop.</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04"/>
                                        </p:tgtEl>
                                        <p:attrNameLst>
                                          <p:attrName>style.visibility</p:attrName>
                                        </p:attrNameLst>
                                      </p:cBhvr>
                                      <p:to>
                                        <p:strVal val="visible"/>
                                      </p:to>
                                    </p:set>
                                    <p:animEffect transition="in" filter="fade">
                                      <p:cBhvr>
                                        <p:cTn id="15" dur="300"/>
                                        <p:tgtEl>
                                          <p:spTgt spid="30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07"/>
                                        </p:tgtEl>
                                        <p:attrNameLst>
                                          <p:attrName>style.visibility</p:attrName>
                                        </p:attrNameLst>
                                      </p:cBhvr>
                                      <p:to>
                                        <p:strVal val="visible"/>
                                      </p:to>
                                    </p:set>
                                    <p:animEffect transition="in" filter="fade">
                                      <p:cBhvr>
                                        <p:cTn id="24" dur="300"/>
                                        <p:tgtEl>
                                          <p:spTgt spid="30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09"/>
                                        </p:tgtEl>
                                        <p:attrNameLst>
                                          <p:attrName>style.visibility</p:attrName>
                                        </p:attrNameLst>
                                      </p:cBhvr>
                                      <p:to>
                                        <p:strVal val="visible"/>
                                      </p:to>
                                    </p:set>
                                    <p:animEffect transition="in" filter="fade">
                                      <p:cBhvr>
                                        <p:cTn id="32" dur="300"/>
                                        <p:tgtEl>
                                          <p:spTgt spid="309"/>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10"/>
                                        </p:tgtEl>
                                        <p:attrNameLst>
                                          <p:attrName>style.visibility</p:attrName>
                                        </p:attrNameLst>
                                      </p:cBhvr>
                                      <p:to>
                                        <p:strVal val="visible"/>
                                      </p:to>
                                    </p:set>
                                    <p:animEffect transition="in" filter="fade">
                                      <p:cBhvr>
                                        <p:cTn id="35" dur="300"/>
                                        <p:tgtEl>
                                          <p:spTgt spid="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P spid="309" grpId="0"/>
      <p:bldP spid="310"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43</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45</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45</a:t>
            </a:r>
            <a:endParaRPr sz="8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spTree>
    <p:extLst>
      <p:ext uri="{BB962C8B-B14F-4D97-AF65-F5344CB8AC3E}">
        <p14:creationId xmlns:p14="http://schemas.microsoft.com/office/powerpoint/2010/main" val="196267245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47</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5280</TotalTime>
  <Words>6227</Words>
  <Application>Microsoft Office PowerPoint</Application>
  <PresentationFormat>On-screen Show (16:9)</PresentationFormat>
  <Paragraphs>987</Paragraphs>
  <Slides>53</Slides>
  <Notes>36</Notes>
  <HiddenSlides>0</HiddenSlides>
  <MMClips>9</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53</vt:i4>
      </vt:variant>
    </vt:vector>
  </HeadingPairs>
  <TitlesOfParts>
    <vt:vector size="59"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Partial Integral Equations</vt:lpstr>
      <vt:lpstr>PowerPoint Presentation</vt:lpstr>
      <vt:lpstr>Robust Stability and Performance</vt:lpstr>
      <vt:lpstr>Feedback stabilization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Absorbing the controller into the filter</vt:lpstr>
      <vt:lpstr>Transposing the systems</vt:lpstr>
      <vt:lpstr>Thought experiment replace K by \Θ</vt:lpstr>
      <vt:lpstr>Thought experiment replace K^⊤ by ▁Θ</vt:lpstr>
      <vt:lpstr>Comparing our results</vt:lpstr>
      <vt:lpstr>The dual operation</vt:lpstr>
      <vt:lpstr>Applying the dual filter</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29</cp:revision>
  <dcterms:created xsi:type="dcterms:W3CDTF">2019-11-27T15:26:32Z</dcterms:created>
  <dcterms:modified xsi:type="dcterms:W3CDTF">2026-09-27T10:27:28Z</dcterms:modified>
</cp:coreProperties>
</file>