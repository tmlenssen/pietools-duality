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5"/>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46" r:id="rId34"/>
    <p:sldId id="439" r:id="rId35"/>
    <p:sldId id="421" r:id="rId36"/>
    <p:sldId id="427" r:id="rId37"/>
    <p:sldId id="431" r:id="rId38"/>
    <p:sldId id="428" r:id="rId39"/>
    <p:sldId id="429" r:id="rId40"/>
    <p:sldId id="432" r:id="rId41"/>
    <p:sldId id="430" r:id="rId42"/>
    <p:sldId id="433" r:id="rId43"/>
    <p:sldId id="434" r:id="rId44"/>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1140" y="68"/>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Latin Modern Math" panose="02000503000000000000" pitchFamily="50"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Latin Modern Math" panose="02000503000000000000" pitchFamily="50"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Latin Modern Math" panose="02000503000000000000" pitchFamily="50"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Latin Modern Math" panose="02000503000000000000" pitchFamily="50"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38</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39</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40</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4.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6.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3" Type="http://schemas.openxmlformats.org/officeDocument/2006/relationships/image" Target="../media/image34.png"/><Relationship Id="rId12"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3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3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39.png"/></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Latin Modern Math" panose="02000503000000000000" pitchFamily="50" charset="0"/>
                        </a:rPr>
                        <m:t>𝛿</m:t>
                      </m:r>
                      <m:r>
                        <a:rPr lang="en-US" sz="1800" b="0" i="1" smtClean="0">
                          <a:latin typeface="Latin Modern Math" panose="02000503000000000000" pitchFamily="50" charset="0"/>
                        </a:rPr>
                        <m:t>∈[−0.5,0.5]</m:t>
                      </m:r>
                    </m:oMath>
                  </m:oMathPara>
                </a14:m>
                <a:endParaRPr lang="en-US" b="0" dirty="0">
                  <a:latin typeface="Latin Modern Math" panose="02000503000000000000" pitchFamily="50" charset="0"/>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3"/>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Latin Modern Math" panose="02000503000000000000" pitchFamily="50" charset="0"/>
                            </a:rPr>
                          </m:ctrlPr>
                        </m:dPr>
                        <m:e>
                          <m:r>
                            <a:rPr lang="nl-NL" sz="1800" i="1">
                              <a:latin typeface="Latin Modern Math" panose="02000503000000000000" pitchFamily="50" charset="0"/>
                            </a:rPr>
                            <m:t>𝑡</m:t>
                          </m:r>
                        </m:e>
                      </m:d>
                    </m:oMath>
                  </m:oMathPara>
                </a14:m>
                <a:endParaRPr lang="en-NL" sz="1800" dirty="0">
                  <a:latin typeface="Latin Modern Math" panose="02000503000000000000" pitchFamily="50" charset="0"/>
                </a:endParaRPr>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4"/>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pic>
        <p:nvPicPr>
          <p:cNvPr id="7" name="Baked figure with larger labels"/>
          <p:cNvPicPr>
            <a:picLocks noChangeAspect="1"/>
          </p:cNvPicPr>
          <p:nvPr/>
        </p:nvPicPr>
        <p:blipFill>
          <a:blip r:embed="rId6"/>
          <a:stretch>
            <a:fillRect/>
          </a:stretch>
        </p:blipFill>
        <p:spPr>
          <a:xfrm>
            <a:off x="1057275" y="366712"/>
            <a:ext cx="6581775" cy="1109662"/>
          </a:xfrm>
          <a:prstGeom prst="rect">
            <a:avLst/>
          </a:prstGeom>
        </p:spPr>
      </p:pic>
      <p:pic>
        <p:nvPicPr>
          <p:cNvPr id="18" name="Baked figure with larger labels"/>
          <p:cNvPicPr>
            <a:picLocks noChangeAspect="1"/>
          </p:cNvPicPr>
          <p:nvPr/>
        </p:nvPicPr>
        <p:blipFill>
          <a:blip r:embed="rId7"/>
          <a:stretch>
            <a:fillRect/>
          </a:stretch>
        </p:blipFill>
        <p:spPr>
          <a:xfrm>
            <a:off x="1201737" y="2616244"/>
            <a:ext cx="3590925" cy="2009775"/>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Latin Modern Math" panose="02000503000000000000" pitchFamily="50" charset="0"/>
                            </a:rPr>
                          </m:ctrlPr>
                        </m:eqArrPr>
                        <m:e>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𝑧</m:t>
                              </m:r>
                            </m:e>
                            <m:sub>
                              <m:r>
                                <m:rPr>
                                  <m:sty m:val="p"/>
                                </m:rPr>
                                <a:rPr lang="en-US" sz="1800" b="0" i="1" smtClean="0">
                                  <a:latin typeface="Latin Modern Math" panose="02000503000000000000" pitchFamily="50" charset="0"/>
                                </a:rPr>
                                <m:t>S</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e>
                          </m:d>
                          <m:r>
                            <m:rPr>
                              <m:aln/>
                            </m:rPr>
                            <a:rPr lang="en-US" sz="1800" b="0" i="1" smtClean="0">
                              <a:latin typeface="Latin Modern Math" panose="02000503000000000000" pitchFamily="50" charset="0"/>
                            </a:rPr>
                            <m:t>&amp;</m:t>
                          </m:r>
                          <m:r>
                            <a:rPr lang="en-US" sz="1800" b="0" i="1" smtClean="0">
                              <a:latin typeface="Latin Modern Math" panose="02000503000000000000" pitchFamily="50" charset="0"/>
                            </a:rPr>
                            <m:t>=−</m:t>
                          </m:r>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𝑥</m:t>
                              </m:r>
                            </m:e>
                            <m:sub>
                              <m:r>
                                <m:rPr>
                                  <m:sty m:val="p"/>
                                </m:rPr>
                                <a:rPr lang="en-US" sz="1800" b="0" i="1" smtClean="0">
                                  <a:latin typeface="Latin Modern Math" panose="02000503000000000000" pitchFamily="50" charset="0"/>
                                </a:rPr>
                                <m:t>G</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r>
                                <a:rPr lang="en-US" sz="1800" b="0" i="1" smtClean="0">
                                  <a:latin typeface="Latin Modern Math" panose="02000503000000000000" pitchFamily="50" charset="0"/>
                                </a:rPr>
                                <m:t>−</m:t>
                              </m:r>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𝜏</m:t>
                                  </m:r>
                                </m:e>
                                <m:sub>
                                  <m:r>
                                    <m:rPr>
                                      <m:sty m:val="p"/>
                                    </m:rPr>
                                    <a:rPr lang="en-US" sz="1800" b="0" i="1" smtClean="0">
                                      <a:latin typeface="Latin Modern Math" panose="02000503000000000000" pitchFamily="50" charset="0"/>
                                    </a:rPr>
                                    <m:t>GS</m:t>
                                  </m:r>
                                </m:sub>
                              </m:sSub>
                            </m:e>
                          </m:d>
                          <m:r>
                            <a:rPr lang="en-US" sz="1800" b="0" i="1" smtClean="0">
                              <a:latin typeface="Latin Modern Math" panose="02000503000000000000" pitchFamily="50" charset="0"/>
                            </a:rPr>
                            <m:t>,</m:t>
                          </m:r>
                        </m:e>
                        <m:e>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𝑧</m:t>
                              </m:r>
                            </m:e>
                            <m:sub>
                              <m:r>
                                <m:rPr>
                                  <m:sty m:val="p"/>
                                </m:rPr>
                                <a:rPr lang="en-US" sz="1800" b="0" i="1" smtClean="0">
                                  <a:latin typeface="Latin Modern Math" panose="02000503000000000000" pitchFamily="50" charset="0"/>
                                </a:rPr>
                                <m:t>G</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e>
                          </m:d>
                          <m:r>
                            <m:rPr>
                              <m:aln/>
                            </m:rPr>
                            <a:rPr lang="en-US" sz="1800" b="0" i="1" smtClean="0">
                              <a:latin typeface="Latin Modern Math" panose="02000503000000000000" pitchFamily="50" charset="0"/>
                            </a:rPr>
                            <m:t>&amp;</m:t>
                          </m:r>
                          <m:r>
                            <a:rPr lang="en-US" sz="1800" b="0" i="1" smtClean="0">
                              <a:latin typeface="Latin Modern Math" panose="02000503000000000000" pitchFamily="50" charset="0"/>
                            </a:rPr>
                            <m:t>=</m:t>
                          </m:r>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𝑥</m:t>
                              </m:r>
                            </m:e>
                            <m:sub>
                              <m:r>
                                <m:rPr>
                                  <m:sty m:val="p"/>
                                </m:rPr>
                                <a:rPr lang="en-US" sz="1800" b="0" i="1" smtClean="0">
                                  <a:latin typeface="Latin Modern Math" panose="02000503000000000000" pitchFamily="50" charset="0"/>
                                </a:rPr>
                                <m:t>S</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r>
                                <a:rPr lang="en-US" sz="1800" b="0" i="1" smtClean="0">
                                  <a:latin typeface="Latin Modern Math" panose="02000503000000000000" pitchFamily="50" charset="0"/>
                                </a:rPr>
                                <m:t>−</m:t>
                              </m:r>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𝜏</m:t>
                                  </m:r>
                                </m:e>
                                <m:sub>
                                  <m:r>
                                    <m:rPr>
                                      <m:sty m:val="p"/>
                                    </m:rPr>
                                    <a:rPr lang="en-US" sz="1800" b="0" i="1" smtClean="0">
                                      <a:latin typeface="Latin Modern Math" panose="02000503000000000000" pitchFamily="50" charset="0"/>
                                    </a:rPr>
                                    <m:t>SG</m:t>
                                  </m:r>
                                </m:sub>
                              </m:sSub>
                            </m:e>
                          </m:d>
                          <m:r>
                            <a:rPr lang="en-US" sz="1800" b="0" i="1" smtClean="0">
                              <a:latin typeface="Latin Modern Math" panose="02000503000000000000" pitchFamily="50" charset="0"/>
                            </a:rPr>
                            <m:t>−</m:t>
                          </m:r>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𝑥</m:t>
                              </m:r>
                            </m:e>
                            <m:sub>
                              <m:r>
                                <m:rPr>
                                  <m:sty m:val="p"/>
                                </m:rPr>
                                <a:rPr lang="en-US" sz="1800" b="0" i="1" smtClean="0">
                                  <a:latin typeface="Latin Modern Math" panose="02000503000000000000" pitchFamily="50" charset="0"/>
                                </a:rPr>
                                <m:t>G</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r>
                                <a:rPr lang="en-US" sz="1800" b="0" i="1" smtClean="0">
                                  <a:latin typeface="Latin Modern Math" panose="02000503000000000000" pitchFamily="50" charset="0"/>
                                </a:rPr>
                                <m:t>−</m:t>
                              </m:r>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𝜏</m:t>
                                  </m:r>
                                </m:e>
                                <m:sub>
                                  <m:r>
                                    <m:rPr>
                                      <m:sty m:val="p"/>
                                    </m:rPr>
                                    <a:rPr lang="en-US" sz="1800" b="0" i="1" smtClean="0">
                                      <a:latin typeface="Latin Modern Math" panose="02000503000000000000" pitchFamily="50" charset="0"/>
                                    </a:rPr>
                                    <m:t>GG</m:t>
                                  </m:r>
                                </m:sub>
                              </m:sSub>
                            </m:e>
                          </m:d>
                          <m:r>
                            <a:rPr lang="en-US" sz="1800" b="0" i="1" smtClean="0">
                              <a:latin typeface="Latin Modern Math" panose="02000503000000000000" pitchFamily="50" charset="0"/>
                            </a:rPr>
                            <m:t>,</m:t>
                          </m:r>
                        </m:e>
                        <m:e/>
                        <m:e/>
                      </m:eqArr>
                    </m:oMath>
                  </m:oMathPara>
                </a14:m>
                <a:endParaRPr lang="en-NL" sz="1800" dirty="0">
                  <a:latin typeface="Latin Modern Math" panose="02000503000000000000" pitchFamily="50" charset="0"/>
                </a:endParaRPr>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Latin Modern Math" panose="02000503000000000000" pitchFamily="50" charset="0"/>
                            </a:rPr>
                          </m:ctrlPr>
                        </m:eqArrPr>
                        <m:e>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𝑧</m:t>
                              </m:r>
                            </m:e>
                            <m:sub>
                              <m:r>
                                <m:rPr>
                                  <m:sty m:val="p"/>
                                </m:rPr>
                                <a:rPr lang="en-US" sz="1800" b="0" i="1" smtClean="0">
                                  <a:latin typeface="Latin Modern Math" panose="02000503000000000000" pitchFamily="50" charset="0"/>
                                </a:rPr>
                                <m:t>S</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e>
                          </m:d>
                          <m:r>
                            <m:rPr>
                              <m:aln/>
                            </m:rPr>
                            <a:rPr lang="en-US" sz="1800" b="0" i="1" smtClean="0">
                              <a:latin typeface="Latin Modern Math" panose="02000503000000000000" pitchFamily="50" charset="0"/>
                            </a:rPr>
                            <m:t>&amp;</m:t>
                          </m:r>
                          <m:r>
                            <a:rPr lang="en-US" sz="1800" b="0" i="1" smtClean="0">
                              <a:latin typeface="Latin Modern Math" panose="02000503000000000000" pitchFamily="50" charset="0"/>
                            </a:rPr>
                            <m:t>=−</m:t>
                          </m:r>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𝑥</m:t>
                              </m:r>
                            </m:e>
                            <m:sub>
                              <m:r>
                                <m:rPr>
                                  <m:sty m:val="p"/>
                                </m:rPr>
                                <a:rPr lang="en-US" sz="1800" b="0" i="1" smtClean="0">
                                  <a:latin typeface="Latin Modern Math" panose="02000503000000000000" pitchFamily="50" charset="0"/>
                                </a:rPr>
                                <m:t>G</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r>
                                <a:rPr lang="en-US" sz="1800" b="0" i="1" smtClean="0">
                                  <a:latin typeface="Latin Modern Math" panose="02000503000000000000" pitchFamily="50" charset="0"/>
                                </a:rPr>
                                <m:t>−</m:t>
                              </m:r>
                              <m:sSub>
                                <m:sSubPr>
                                  <m:ctrlPr>
                                    <a:rPr lang="en-US" sz="1800" b="0" i="1" smtClean="0">
                                      <a:solidFill>
                                        <a:srgbClr val="C81919"/>
                                      </a:solidFill>
                                      <a:latin typeface="Latin Modern Math" panose="02000503000000000000" pitchFamily="50" charset="0"/>
                                    </a:rPr>
                                  </m:ctrlPr>
                                </m:sSubPr>
                                <m:e>
                                  <m:r>
                                    <a:rPr lang="en-US" sz="1800" b="0" i="1" smtClean="0">
                                      <a:solidFill>
                                        <a:srgbClr val="C81919"/>
                                      </a:solidFill>
                                      <a:latin typeface="Latin Modern Math" panose="02000503000000000000" pitchFamily="50" charset="0"/>
                                    </a:rPr>
                                    <m:t>𝜏</m:t>
                                  </m:r>
                                </m:e>
                                <m:sub>
                                  <m:r>
                                    <m:rPr>
                                      <m:sty m:val="p"/>
                                    </m:rPr>
                                    <a:rPr lang="en-US" sz="1800" b="0" i="1" smtClean="0">
                                      <a:solidFill>
                                        <a:srgbClr val="C81919"/>
                                      </a:solidFill>
                                      <a:latin typeface="Latin Modern Math" panose="02000503000000000000" pitchFamily="50" charset="0"/>
                                    </a:rPr>
                                    <m:t>GS</m:t>
                                  </m:r>
                                </m:sub>
                              </m:sSub>
                            </m:e>
                          </m:d>
                          <m:r>
                            <a:rPr lang="en-US" sz="1800" b="0" i="1" smtClean="0">
                              <a:latin typeface="Latin Modern Math" panose="02000503000000000000" pitchFamily="50" charset="0"/>
                            </a:rPr>
                            <m:t>,</m:t>
                          </m:r>
                        </m:e>
                        <m:e>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𝑧</m:t>
                              </m:r>
                            </m:e>
                            <m:sub>
                              <m:r>
                                <m:rPr>
                                  <m:sty m:val="p"/>
                                </m:rPr>
                                <a:rPr lang="en-US" sz="1800" b="0" i="1" smtClean="0">
                                  <a:latin typeface="Latin Modern Math" panose="02000503000000000000" pitchFamily="50" charset="0"/>
                                </a:rPr>
                                <m:t>G</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e>
                          </m:d>
                          <m:r>
                            <m:rPr>
                              <m:aln/>
                            </m:rPr>
                            <a:rPr lang="en-US" sz="1800" b="0" i="1" smtClean="0">
                              <a:latin typeface="Latin Modern Math" panose="02000503000000000000" pitchFamily="50" charset="0"/>
                            </a:rPr>
                            <m:t>&amp;</m:t>
                          </m:r>
                          <m:r>
                            <a:rPr lang="en-US" sz="1800" b="0" i="1" smtClean="0">
                              <a:latin typeface="Latin Modern Math" panose="02000503000000000000" pitchFamily="50" charset="0"/>
                            </a:rPr>
                            <m:t>=</m:t>
                          </m:r>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𝑥</m:t>
                              </m:r>
                            </m:e>
                            <m:sub>
                              <m:r>
                                <m:rPr>
                                  <m:sty m:val="p"/>
                                </m:rPr>
                                <a:rPr lang="en-US" sz="1800" b="0" i="1" smtClean="0">
                                  <a:latin typeface="Latin Modern Math" panose="02000503000000000000" pitchFamily="50" charset="0"/>
                                </a:rPr>
                                <m:t>S</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r>
                                <a:rPr lang="en-US" sz="1800" b="0" i="1" smtClean="0">
                                  <a:latin typeface="Latin Modern Math" panose="02000503000000000000" pitchFamily="50" charset="0"/>
                                </a:rPr>
                                <m:t>−</m:t>
                              </m:r>
                              <m:sSub>
                                <m:sSubPr>
                                  <m:ctrlPr>
                                    <a:rPr lang="en-US" sz="1800" b="0" i="1" smtClean="0">
                                      <a:solidFill>
                                        <a:srgbClr val="C81919"/>
                                      </a:solidFill>
                                      <a:latin typeface="Latin Modern Math" panose="02000503000000000000" pitchFamily="50" charset="0"/>
                                    </a:rPr>
                                  </m:ctrlPr>
                                </m:sSubPr>
                                <m:e>
                                  <m:r>
                                    <a:rPr lang="en-US" sz="1800" b="0" i="1" smtClean="0">
                                      <a:solidFill>
                                        <a:srgbClr val="C81919"/>
                                      </a:solidFill>
                                      <a:latin typeface="Latin Modern Math" panose="02000503000000000000" pitchFamily="50" charset="0"/>
                                    </a:rPr>
                                    <m:t>𝜏</m:t>
                                  </m:r>
                                </m:e>
                                <m:sub>
                                  <m:r>
                                    <m:rPr>
                                      <m:sty m:val="p"/>
                                    </m:rPr>
                                    <a:rPr lang="en-US" sz="1800" b="0" i="1" smtClean="0">
                                      <a:solidFill>
                                        <a:srgbClr val="C81919"/>
                                      </a:solidFill>
                                      <a:latin typeface="Latin Modern Math" panose="02000503000000000000" pitchFamily="50" charset="0"/>
                                    </a:rPr>
                                    <m:t>SG</m:t>
                                  </m:r>
                                </m:sub>
                              </m:sSub>
                            </m:e>
                          </m:d>
                          <m:r>
                            <a:rPr lang="en-US" sz="1800" b="0" i="1" smtClean="0">
                              <a:latin typeface="Latin Modern Math" panose="02000503000000000000" pitchFamily="50" charset="0"/>
                            </a:rPr>
                            <m:t>−</m:t>
                          </m:r>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𝑥</m:t>
                              </m:r>
                            </m:e>
                            <m:sub>
                              <m:r>
                                <m:rPr>
                                  <m:sty m:val="p"/>
                                </m:rPr>
                                <a:rPr lang="en-US" sz="1800" b="0" i="1" smtClean="0">
                                  <a:latin typeface="Latin Modern Math" panose="02000503000000000000" pitchFamily="50" charset="0"/>
                                </a:rPr>
                                <m:t>G</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r>
                                <a:rPr lang="en-US" sz="1800" b="0" i="1" smtClean="0">
                                  <a:latin typeface="Latin Modern Math" panose="02000503000000000000" pitchFamily="50" charset="0"/>
                                </a:rPr>
                                <m:t>−</m:t>
                              </m:r>
                              <m:sSub>
                                <m:sSubPr>
                                  <m:ctrlPr>
                                    <a:rPr lang="en-US" sz="1800" b="0" i="1" smtClean="0">
                                      <a:solidFill>
                                        <a:srgbClr val="C81919"/>
                                      </a:solidFill>
                                      <a:latin typeface="Latin Modern Math" panose="02000503000000000000" pitchFamily="50" charset="0"/>
                                    </a:rPr>
                                  </m:ctrlPr>
                                </m:sSubPr>
                                <m:e>
                                  <m:r>
                                    <a:rPr lang="en-US" sz="1800" b="0" i="1" smtClean="0">
                                      <a:solidFill>
                                        <a:srgbClr val="C81919"/>
                                      </a:solidFill>
                                      <a:latin typeface="Latin Modern Math" panose="02000503000000000000" pitchFamily="50" charset="0"/>
                                    </a:rPr>
                                    <m:t>𝜏</m:t>
                                  </m:r>
                                </m:e>
                                <m:sub>
                                  <m:r>
                                    <m:rPr>
                                      <m:sty m:val="p"/>
                                    </m:rPr>
                                    <a:rPr lang="en-US" sz="1800" b="0" i="1" smtClean="0">
                                      <a:solidFill>
                                        <a:srgbClr val="C81919"/>
                                      </a:solidFill>
                                      <a:latin typeface="Latin Modern Math" panose="02000503000000000000" pitchFamily="50" charset="0"/>
                                    </a:rPr>
                                    <m:t>GG</m:t>
                                  </m:r>
                                </m:sub>
                              </m:sSub>
                            </m:e>
                          </m:d>
                          <m:r>
                            <a:rPr lang="en-US" sz="1800" b="0" i="1" smtClean="0">
                              <a:latin typeface="Latin Modern Math" panose="02000503000000000000" pitchFamily="50" charset="0"/>
                            </a:rPr>
                            <m:t>,</m:t>
                          </m:r>
                        </m:e>
                        <m:e/>
                        <m:e/>
                      </m:eqArr>
                    </m:oMath>
                  </m:oMathPara>
                </a14:m>
                <a:endParaRPr lang="en-NL" sz="1800" dirty="0">
                  <a:latin typeface="Latin Modern Math" panose="02000503000000000000" pitchFamily="50" charset="0"/>
                </a:endParaRPr>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Latin Modern Math" panose="02000503000000000000" pitchFamily="50" charset="0"/>
                            </a:rPr>
                          </m:ctrlPr>
                        </m:eqArrPr>
                        <m:e>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𝑧</m:t>
                              </m:r>
                            </m:e>
                            <m:sub>
                              <m:r>
                                <m:rPr>
                                  <m:sty m:val="p"/>
                                </m:rPr>
                                <a:rPr lang="en-US" sz="1800" b="0" i="1" smtClean="0">
                                  <a:latin typeface="Latin Modern Math" panose="02000503000000000000" pitchFamily="50" charset="0"/>
                                </a:rPr>
                                <m:t>S</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e>
                          </m:d>
                          <m:r>
                            <m:rPr>
                              <m:aln/>
                            </m:rPr>
                            <a:rPr lang="en-US" sz="1800" b="0" i="1" smtClean="0">
                              <a:latin typeface="Latin Modern Math" panose="02000503000000000000" pitchFamily="50" charset="0"/>
                            </a:rPr>
                            <m:t>&amp;</m:t>
                          </m:r>
                          <m:r>
                            <a:rPr lang="en-US" sz="1800" b="0" i="1" smtClean="0">
                              <a:latin typeface="Latin Modern Math" panose="02000503000000000000" pitchFamily="50" charset="0"/>
                            </a:rPr>
                            <m:t>=−</m:t>
                          </m:r>
                          <m:sSub>
                            <m:sSubPr>
                              <m:ctrlPr>
                                <a:rPr lang="en-US" sz="1800" b="0" i="1" smtClean="0">
                                  <a:solidFill>
                                    <a:srgbClr val="C81919"/>
                                  </a:solidFill>
                                  <a:latin typeface="Latin Modern Math" panose="02000503000000000000" pitchFamily="50" charset="0"/>
                                </a:rPr>
                              </m:ctrlPr>
                            </m:sSubPr>
                            <m:e>
                              <m:r>
                                <a:rPr lang="en-US" sz="1800" b="0" i="1" smtClean="0">
                                  <a:solidFill>
                                    <a:srgbClr val="C81919"/>
                                  </a:solidFill>
                                  <a:latin typeface="Latin Modern Math" panose="02000503000000000000" pitchFamily="50" charset="0"/>
                                </a:rPr>
                                <m:t>𝑤</m:t>
                              </m:r>
                            </m:e>
                            <m:sub>
                              <m:r>
                                <m:rPr>
                                  <m:sty m:val="p"/>
                                </m:rPr>
                                <a:rPr lang="en-US" sz="1800" b="0" i="1" smtClean="0">
                                  <a:solidFill>
                                    <a:srgbClr val="C81919"/>
                                  </a:solidFill>
                                  <a:latin typeface="Latin Modern Math" panose="02000503000000000000" pitchFamily="50" charset="0"/>
                                </a:rPr>
                                <m:t>GS</m:t>
                              </m:r>
                            </m:sub>
                          </m:sSub>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𝑥</m:t>
                              </m:r>
                            </m:e>
                            <m:sub>
                              <m:r>
                                <m:rPr>
                                  <m:sty m:val="p"/>
                                </m:rPr>
                                <a:rPr lang="en-US" sz="1800" b="0" i="1" smtClean="0">
                                  <a:latin typeface="Latin Modern Math" panose="02000503000000000000" pitchFamily="50" charset="0"/>
                                </a:rPr>
                                <m:t>G</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r>
                                <a:rPr lang="en-US" sz="1800" b="0" i="1" smtClean="0">
                                  <a:latin typeface="Latin Modern Math" panose="02000503000000000000" pitchFamily="50" charset="0"/>
                                </a:rPr>
                                <m:t>−</m:t>
                              </m:r>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𝜏</m:t>
                                  </m:r>
                                </m:e>
                                <m:sub>
                                  <m:r>
                                    <m:rPr>
                                      <m:sty m:val="p"/>
                                    </m:rPr>
                                    <a:rPr lang="en-US" sz="1800" b="0" i="1" smtClean="0">
                                      <a:latin typeface="Latin Modern Math" panose="02000503000000000000" pitchFamily="50" charset="0"/>
                                    </a:rPr>
                                    <m:t>GS</m:t>
                                  </m:r>
                                </m:sub>
                              </m:sSub>
                            </m:e>
                          </m:d>
                          <m:r>
                            <a:rPr lang="en-US" sz="1800" b="0" i="1" smtClean="0">
                              <a:latin typeface="Latin Modern Math" panose="02000503000000000000" pitchFamily="50" charset="0"/>
                            </a:rPr>
                            <m:t>,</m:t>
                          </m:r>
                        </m:e>
                        <m:e>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𝑧</m:t>
                              </m:r>
                            </m:e>
                            <m:sub>
                              <m:r>
                                <m:rPr>
                                  <m:sty m:val="p"/>
                                </m:rPr>
                                <a:rPr lang="en-US" sz="1800" b="0" i="1" smtClean="0">
                                  <a:latin typeface="Latin Modern Math" panose="02000503000000000000" pitchFamily="50" charset="0"/>
                                </a:rPr>
                                <m:t>G</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e>
                          </m:d>
                          <m:r>
                            <m:rPr>
                              <m:aln/>
                            </m:rPr>
                            <a:rPr lang="en-US" sz="1800" b="0" i="1" smtClean="0">
                              <a:latin typeface="Latin Modern Math" panose="02000503000000000000" pitchFamily="50" charset="0"/>
                            </a:rPr>
                            <m:t>&amp;</m:t>
                          </m:r>
                          <m:r>
                            <a:rPr lang="en-US" sz="1800" b="0" i="1" smtClean="0">
                              <a:latin typeface="Latin Modern Math" panose="02000503000000000000" pitchFamily="50" charset="0"/>
                            </a:rPr>
                            <m:t>=</m:t>
                          </m:r>
                          <m:sSub>
                            <m:sSubPr>
                              <m:ctrlPr>
                                <a:rPr lang="en-US" sz="1800" b="0" i="1" smtClean="0">
                                  <a:solidFill>
                                    <a:srgbClr val="C81919"/>
                                  </a:solidFill>
                                  <a:latin typeface="Latin Modern Math" panose="02000503000000000000" pitchFamily="50" charset="0"/>
                                </a:rPr>
                              </m:ctrlPr>
                            </m:sSubPr>
                            <m:e>
                              <m:r>
                                <a:rPr lang="en-US" sz="1800" b="0" i="1" smtClean="0">
                                  <a:solidFill>
                                    <a:srgbClr val="C81919"/>
                                  </a:solidFill>
                                  <a:latin typeface="Latin Modern Math" panose="02000503000000000000" pitchFamily="50" charset="0"/>
                                </a:rPr>
                                <m:t>𝑤</m:t>
                              </m:r>
                            </m:e>
                            <m:sub>
                              <m:r>
                                <m:rPr>
                                  <m:sty m:val="p"/>
                                </m:rPr>
                                <a:rPr lang="en-US" sz="1800" b="0" i="1" smtClean="0">
                                  <a:solidFill>
                                    <a:srgbClr val="C81919"/>
                                  </a:solidFill>
                                  <a:latin typeface="Latin Modern Math" panose="02000503000000000000" pitchFamily="50" charset="0"/>
                                </a:rPr>
                                <m:t>SG</m:t>
                              </m:r>
                            </m:sub>
                          </m:sSub>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𝑥</m:t>
                              </m:r>
                            </m:e>
                            <m:sub>
                              <m:r>
                                <m:rPr>
                                  <m:sty m:val="p"/>
                                </m:rPr>
                                <a:rPr lang="en-US" sz="1800" b="0" i="1" smtClean="0">
                                  <a:latin typeface="Latin Modern Math" panose="02000503000000000000" pitchFamily="50" charset="0"/>
                                </a:rPr>
                                <m:t>S</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r>
                                <a:rPr lang="en-US" sz="1800" b="0" i="1" smtClean="0">
                                  <a:latin typeface="Latin Modern Math" panose="02000503000000000000" pitchFamily="50" charset="0"/>
                                </a:rPr>
                                <m:t>−</m:t>
                              </m:r>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𝜏</m:t>
                                  </m:r>
                                </m:e>
                                <m:sub>
                                  <m:r>
                                    <m:rPr>
                                      <m:sty m:val="p"/>
                                    </m:rPr>
                                    <a:rPr lang="en-US" sz="1800" b="0" i="1" smtClean="0">
                                      <a:latin typeface="Latin Modern Math" panose="02000503000000000000" pitchFamily="50" charset="0"/>
                                    </a:rPr>
                                    <m:t>SG</m:t>
                                  </m:r>
                                </m:sub>
                              </m:sSub>
                            </m:e>
                          </m:d>
                          <m:r>
                            <a:rPr lang="en-US" sz="1800" b="0" i="1" smtClean="0">
                              <a:latin typeface="Latin Modern Math" panose="02000503000000000000" pitchFamily="50" charset="0"/>
                            </a:rPr>
                            <m:t>−</m:t>
                          </m:r>
                          <m:sSub>
                            <m:sSubPr>
                              <m:ctrlPr>
                                <a:rPr lang="en-US" sz="1800" b="0" i="1" smtClean="0">
                                  <a:solidFill>
                                    <a:srgbClr val="C81919"/>
                                  </a:solidFill>
                                  <a:latin typeface="Latin Modern Math" panose="02000503000000000000" pitchFamily="50" charset="0"/>
                                </a:rPr>
                              </m:ctrlPr>
                            </m:sSubPr>
                            <m:e>
                              <m:r>
                                <a:rPr lang="en-US" sz="1800" b="0" i="1" smtClean="0">
                                  <a:solidFill>
                                    <a:srgbClr val="C81919"/>
                                  </a:solidFill>
                                  <a:latin typeface="Latin Modern Math" panose="02000503000000000000" pitchFamily="50" charset="0"/>
                                </a:rPr>
                                <m:t>𝑤</m:t>
                              </m:r>
                            </m:e>
                            <m:sub>
                              <m:r>
                                <m:rPr>
                                  <m:sty m:val="p"/>
                                </m:rPr>
                                <a:rPr lang="en-US" sz="1800" b="0" i="1" smtClean="0">
                                  <a:solidFill>
                                    <a:srgbClr val="C81919"/>
                                  </a:solidFill>
                                  <a:latin typeface="Latin Modern Math" panose="02000503000000000000" pitchFamily="50" charset="0"/>
                                </a:rPr>
                                <m:t>GG</m:t>
                              </m:r>
                            </m:sub>
                          </m:sSub>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𝑥</m:t>
                              </m:r>
                            </m:e>
                            <m:sub>
                              <m:r>
                                <m:rPr>
                                  <m:sty m:val="p"/>
                                </m:rPr>
                                <a:rPr lang="en-US" sz="1800" b="0" i="1" smtClean="0">
                                  <a:latin typeface="Latin Modern Math" panose="02000503000000000000" pitchFamily="50" charset="0"/>
                                </a:rPr>
                                <m:t>G</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r>
                                <a:rPr lang="en-US" sz="1800" b="0" i="1" smtClean="0">
                                  <a:latin typeface="Latin Modern Math" panose="02000503000000000000" pitchFamily="50" charset="0"/>
                                </a:rPr>
                                <m:t>−</m:t>
                              </m:r>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𝜏</m:t>
                                  </m:r>
                                </m:e>
                                <m:sub>
                                  <m:r>
                                    <m:rPr>
                                      <m:sty m:val="p"/>
                                    </m:rPr>
                                    <a:rPr lang="en-US" sz="1800" b="0" i="1" smtClean="0">
                                      <a:latin typeface="Latin Modern Math" panose="02000503000000000000" pitchFamily="50" charset="0"/>
                                    </a:rPr>
                                    <m:t>GG</m:t>
                                  </m:r>
                                </m:sub>
                              </m:sSub>
                            </m:e>
                          </m:d>
                          <m:r>
                            <a:rPr lang="en-US" sz="1800" b="0" i="1" smtClean="0">
                              <a:latin typeface="Latin Modern Math" panose="02000503000000000000" pitchFamily="50" charset="0"/>
                            </a:rPr>
                            <m:t>,</m:t>
                          </m:r>
                        </m:e>
                        <m:e/>
                        <m:e/>
                      </m:eqArr>
                    </m:oMath>
                  </m:oMathPara>
                </a14:m>
                <a:endParaRPr lang="en-NL" sz="1800" dirty="0">
                  <a:latin typeface="Latin Modern Math" panose="02000503000000000000" pitchFamily="50" charset="0"/>
                </a:endParaRPr>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Latin Modern Math" panose="02000503000000000000" pitchFamily="50" charset="0"/>
                            </a:rPr>
                          </m:ctrlPr>
                        </m:eqArrPr>
                        <m:e>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𝑧</m:t>
                              </m:r>
                            </m:e>
                            <m:sub>
                              <m:r>
                                <m:rPr>
                                  <m:sty m:val="p"/>
                                </m:rPr>
                                <a:rPr lang="en-US" sz="1800" b="0" i="1" smtClean="0">
                                  <a:latin typeface="Latin Modern Math" panose="02000503000000000000" pitchFamily="50" charset="0"/>
                                </a:rPr>
                                <m:t>S</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e>
                          </m:d>
                          <m:r>
                            <m:rPr>
                              <m:aln/>
                            </m:rPr>
                            <a:rPr lang="en-US" sz="1800" b="0" i="1" smtClean="0">
                              <a:latin typeface="Latin Modern Math" panose="02000503000000000000" pitchFamily="50" charset="0"/>
                            </a:rPr>
                            <m:t>&amp;</m:t>
                          </m:r>
                          <m:r>
                            <a:rPr lang="en-US" sz="1800" b="0" i="1" smtClean="0">
                              <a:latin typeface="Latin Modern Math" panose="02000503000000000000" pitchFamily="50" charset="0"/>
                            </a:rPr>
                            <m:t>=−</m:t>
                          </m:r>
                          <m:sSub>
                            <m:sSubPr>
                              <m:ctrlPr>
                                <a:rPr lang="en-US" sz="1800" b="0" i="1" smtClean="0">
                                  <a:solidFill>
                                    <a:srgbClr val="C81919"/>
                                  </a:solidFill>
                                  <a:latin typeface="Latin Modern Math" panose="02000503000000000000" pitchFamily="50" charset="0"/>
                                </a:rPr>
                              </m:ctrlPr>
                            </m:sSubPr>
                            <m:e>
                              <m:r>
                                <a:rPr lang="en-US" sz="1800" b="0" i="1" smtClean="0">
                                  <a:solidFill>
                                    <a:srgbClr val="C81919"/>
                                  </a:solidFill>
                                  <a:latin typeface="Latin Modern Math" panose="02000503000000000000" pitchFamily="50" charset="0"/>
                                </a:rPr>
                                <m:t>𝑤</m:t>
                              </m:r>
                            </m:e>
                            <m:sub>
                              <m:r>
                                <m:rPr>
                                  <m:sty m:val="p"/>
                                </m:rPr>
                                <a:rPr lang="en-US" sz="1800" b="0" i="1" smtClean="0">
                                  <a:solidFill>
                                    <a:srgbClr val="C81919"/>
                                  </a:solidFill>
                                  <a:latin typeface="Latin Modern Math" panose="02000503000000000000" pitchFamily="50" charset="0"/>
                                </a:rPr>
                                <m:t>GS</m:t>
                              </m:r>
                            </m:sub>
                          </m:sSub>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𝑥</m:t>
                              </m:r>
                            </m:e>
                            <m:sub>
                              <m:r>
                                <m:rPr>
                                  <m:sty m:val="p"/>
                                </m:rPr>
                                <a:rPr lang="en-US" sz="1800" b="0" i="1" smtClean="0">
                                  <a:latin typeface="Latin Modern Math" panose="02000503000000000000" pitchFamily="50" charset="0"/>
                                </a:rPr>
                                <m:t>G</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r>
                                <a:rPr lang="en-US" sz="1800" b="0" i="1" smtClean="0">
                                  <a:latin typeface="Latin Modern Math" panose="02000503000000000000" pitchFamily="50" charset="0"/>
                                </a:rPr>
                                <m:t>−</m:t>
                              </m:r>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𝜏</m:t>
                                  </m:r>
                                </m:e>
                                <m:sub>
                                  <m:r>
                                    <m:rPr>
                                      <m:sty m:val="p"/>
                                    </m:rPr>
                                    <a:rPr lang="en-US" sz="1800" b="0" i="1" smtClean="0">
                                      <a:latin typeface="Latin Modern Math" panose="02000503000000000000" pitchFamily="50" charset="0"/>
                                    </a:rPr>
                                    <m:t>GS</m:t>
                                  </m:r>
                                </m:sub>
                              </m:sSub>
                            </m:e>
                          </m:d>
                          <m:r>
                            <a:rPr lang="en-US" sz="1800" b="0" i="1" smtClean="0">
                              <a:latin typeface="Latin Modern Math" panose="02000503000000000000" pitchFamily="50" charset="0"/>
                            </a:rPr>
                            <m:t>,</m:t>
                          </m:r>
                        </m:e>
                        <m:e>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𝑧</m:t>
                              </m:r>
                            </m:e>
                            <m:sub>
                              <m:r>
                                <m:rPr>
                                  <m:sty m:val="p"/>
                                </m:rPr>
                                <a:rPr lang="en-US" sz="1800" b="0" i="1" smtClean="0">
                                  <a:latin typeface="Latin Modern Math" panose="02000503000000000000" pitchFamily="50" charset="0"/>
                                </a:rPr>
                                <m:t>G</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e>
                          </m:d>
                          <m:r>
                            <m:rPr>
                              <m:aln/>
                            </m:rPr>
                            <a:rPr lang="en-US" sz="1800" b="0" i="1" smtClean="0">
                              <a:latin typeface="Latin Modern Math" panose="02000503000000000000" pitchFamily="50" charset="0"/>
                            </a:rPr>
                            <m:t>&amp;</m:t>
                          </m:r>
                          <m:r>
                            <a:rPr lang="en-US" sz="1800" b="0" i="1" smtClean="0">
                              <a:latin typeface="Latin Modern Math" panose="02000503000000000000" pitchFamily="50" charset="0"/>
                            </a:rPr>
                            <m:t>=</m:t>
                          </m:r>
                          <m:sSub>
                            <m:sSubPr>
                              <m:ctrlPr>
                                <a:rPr lang="en-US" sz="1800" b="0" i="1" smtClean="0">
                                  <a:solidFill>
                                    <a:srgbClr val="C81919"/>
                                  </a:solidFill>
                                  <a:latin typeface="Latin Modern Math" panose="02000503000000000000" pitchFamily="50" charset="0"/>
                                </a:rPr>
                              </m:ctrlPr>
                            </m:sSubPr>
                            <m:e>
                              <m:r>
                                <a:rPr lang="en-US" sz="1800" b="0" i="1" smtClean="0">
                                  <a:solidFill>
                                    <a:srgbClr val="C81919"/>
                                  </a:solidFill>
                                  <a:latin typeface="Latin Modern Math" panose="02000503000000000000" pitchFamily="50" charset="0"/>
                                </a:rPr>
                                <m:t>𝑤</m:t>
                              </m:r>
                            </m:e>
                            <m:sub>
                              <m:r>
                                <m:rPr>
                                  <m:sty m:val="p"/>
                                </m:rPr>
                                <a:rPr lang="en-US" sz="1800" b="0" i="1" smtClean="0">
                                  <a:solidFill>
                                    <a:srgbClr val="C81919"/>
                                  </a:solidFill>
                                  <a:latin typeface="Latin Modern Math" panose="02000503000000000000" pitchFamily="50" charset="0"/>
                                </a:rPr>
                                <m:t>SG</m:t>
                              </m:r>
                            </m:sub>
                          </m:sSub>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𝑥</m:t>
                              </m:r>
                            </m:e>
                            <m:sub>
                              <m:r>
                                <m:rPr>
                                  <m:sty m:val="p"/>
                                </m:rPr>
                                <a:rPr lang="en-US" sz="1800" b="0" i="1" smtClean="0">
                                  <a:latin typeface="Latin Modern Math" panose="02000503000000000000" pitchFamily="50" charset="0"/>
                                </a:rPr>
                                <m:t>S</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r>
                                <a:rPr lang="en-US" sz="1800" b="0" i="1" smtClean="0">
                                  <a:latin typeface="Latin Modern Math" panose="02000503000000000000" pitchFamily="50" charset="0"/>
                                </a:rPr>
                                <m:t>−</m:t>
                              </m:r>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𝜏</m:t>
                                  </m:r>
                                </m:e>
                                <m:sub>
                                  <m:r>
                                    <m:rPr>
                                      <m:sty m:val="p"/>
                                    </m:rPr>
                                    <a:rPr lang="en-US" sz="1800" b="0" i="1" smtClean="0">
                                      <a:latin typeface="Latin Modern Math" panose="02000503000000000000" pitchFamily="50" charset="0"/>
                                    </a:rPr>
                                    <m:t>SG</m:t>
                                  </m:r>
                                </m:sub>
                              </m:sSub>
                            </m:e>
                          </m:d>
                          <m:r>
                            <a:rPr lang="en-US" sz="1800" b="0" i="1" smtClean="0">
                              <a:latin typeface="Latin Modern Math" panose="02000503000000000000" pitchFamily="50" charset="0"/>
                            </a:rPr>
                            <m:t>−</m:t>
                          </m:r>
                          <m:sSub>
                            <m:sSubPr>
                              <m:ctrlPr>
                                <a:rPr lang="en-US" sz="1800" b="0" i="1" smtClean="0">
                                  <a:solidFill>
                                    <a:srgbClr val="C81919"/>
                                  </a:solidFill>
                                  <a:latin typeface="Latin Modern Math" panose="02000503000000000000" pitchFamily="50" charset="0"/>
                                </a:rPr>
                              </m:ctrlPr>
                            </m:sSubPr>
                            <m:e>
                              <m:r>
                                <a:rPr lang="en-US" sz="1800" b="0" i="1" smtClean="0">
                                  <a:solidFill>
                                    <a:srgbClr val="C81919"/>
                                  </a:solidFill>
                                  <a:latin typeface="Latin Modern Math" panose="02000503000000000000" pitchFamily="50" charset="0"/>
                                </a:rPr>
                                <m:t>𝑤</m:t>
                              </m:r>
                            </m:e>
                            <m:sub>
                              <m:r>
                                <m:rPr>
                                  <m:sty m:val="p"/>
                                </m:rPr>
                                <a:rPr lang="en-US" sz="1800" b="0" i="1" smtClean="0">
                                  <a:solidFill>
                                    <a:srgbClr val="C81919"/>
                                  </a:solidFill>
                                  <a:latin typeface="Latin Modern Math" panose="02000503000000000000" pitchFamily="50" charset="0"/>
                                </a:rPr>
                                <m:t>GG</m:t>
                              </m:r>
                            </m:sub>
                          </m:sSub>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𝑥</m:t>
                              </m:r>
                            </m:e>
                            <m:sub>
                              <m:r>
                                <m:rPr>
                                  <m:sty m:val="p"/>
                                </m:rPr>
                                <a:rPr lang="en-US" sz="1800" b="0" i="1" smtClean="0">
                                  <a:latin typeface="Latin Modern Math" panose="02000503000000000000" pitchFamily="50" charset="0"/>
                                </a:rPr>
                                <m:t>G</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r>
                                <a:rPr lang="en-US" sz="1800" b="0" i="1" smtClean="0">
                                  <a:latin typeface="Latin Modern Math" panose="02000503000000000000" pitchFamily="50" charset="0"/>
                                </a:rPr>
                                <m:t>−</m:t>
                              </m:r>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𝜏</m:t>
                                  </m:r>
                                </m:e>
                                <m:sub>
                                  <m:r>
                                    <m:rPr>
                                      <m:sty m:val="p"/>
                                    </m:rPr>
                                    <a:rPr lang="en-US" sz="1800" b="0" i="1" smtClean="0">
                                      <a:latin typeface="Latin Modern Math" panose="02000503000000000000" pitchFamily="50" charset="0"/>
                                    </a:rPr>
                                    <m:t>GG</m:t>
                                  </m:r>
                                </m:sub>
                              </m:sSub>
                            </m:e>
                          </m:d>
                          <m:r>
                            <a:rPr lang="en-US" sz="1800" b="0" i="1" smtClean="0">
                              <a:latin typeface="Latin Modern Math" panose="02000503000000000000" pitchFamily="50" charset="0"/>
                            </a:rPr>
                            <m:t>,</m:t>
                          </m:r>
                        </m:e>
                        <m:e/>
                        <m:e/>
                      </m:eqArr>
                    </m:oMath>
                  </m:oMathPara>
                </a14:m>
                <a:endParaRPr lang="en-NL" sz="1800" dirty="0">
                  <a:latin typeface="Latin Modern Math" panose="02000503000000000000" pitchFamily="50" charset="0"/>
                </a:endParaRPr>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Latin Modern Math" panose="02000503000000000000" pitchFamily="50" charset="0"/>
                            </a:rPr>
                          </m:ctrlPr>
                        </m:eqArrPr>
                        <m:e>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𝑧</m:t>
                              </m:r>
                            </m:e>
                            <m:sub>
                              <m:r>
                                <m:rPr>
                                  <m:sty m:val="p"/>
                                </m:rPr>
                                <a:rPr lang="en-US" sz="1800" b="0" i="1" smtClean="0">
                                  <a:latin typeface="Latin Modern Math" panose="02000503000000000000" pitchFamily="50" charset="0"/>
                                </a:rPr>
                                <m:t>S</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e>
                          </m:d>
                          <m:r>
                            <m:rPr>
                              <m:aln/>
                            </m:rPr>
                            <a:rPr lang="en-US" sz="1800" b="0" i="1" smtClean="0">
                              <a:latin typeface="Latin Modern Math" panose="02000503000000000000" pitchFamily="50" charset="0"/>
                            </a:rPr>
                            <m:t>&amp;</m:t>
                          </m:r>
                          <m:r>
                            <a:rPr lang="en-US" sz="1800" b="0" i="1" smtClean="0">
                              <a:latin typeface="Latin Modern Math" panose="02000503000000000000" pitchFamily="50" charset="0"/>
                            </a:rPr>
                            <m:t>=−</m:t>
                          </m:r>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𝑤</m:t>
                              </m:r>
                            </m:e>
                            <m:sub>
                              <m:r>
                                <m:rPr>
                                  <m:sty m:val="p"/>
                                </m:rPr>
                                <a:rPr lang="en-US" sz="1800" b="0" i="1" smtClean="0">
                                  <a:latin typeface="Latin Modern Math" panose="02000503000000000000" pitchFamily="50" charset="0"/>
                                </a:rPr>
                                <m:t>GS</m:t>
                              </m:r>
                            </m:sub>
                          </m:sSub>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𝑥</m:t>
                              </m:r>
                            </m:e>
                            <m:sub>
                              <m:r>
                                <m:rPr>
                                  <m:sty m:val="p"/>
                                </m:rPr>
                                <a:rPr lang="en-US" sz="1800" b="0" i="1" smtClean="0">
                                  <a:latin typeface="Latin Modern Math" panose="02000503000000000000" pitchFamily="50" charset="0"/>
                                </a:rPr>
                                <m:t>G</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r>
                                <a:rPr lang="en-US" sz="1800" b="0" i="1" smtClean="0">
                                  <a:latin typeface="Latin Modern Math" panose="02000503000000000000" pitchFamily="50" charset="0"/>
                                </a:rPr>
                                <m:t>−</m:t>
                              </m:r>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𝜏</m:t>
                                  </m:r>
                                </m:e>
                                <m:sub>
                                  <m:r>
                                    <m:rPr>
                                      <m:sty m:val="p"/>
                                    </m:rPr>
                                    <a:rPr lang="en-US" sz="1800" b="0" i="1" smtClean="0">
                                      <a:latin typeface="Latin Modern Math" panose="02000503000000000000" pitchFamily="50" charset="0"/>
                                    </a:rPr>
                                    <m:t>GS</m:t>
                                  </m:r>
                                </m:sub>
                              </m:sSub>
                            </m:e>
                          </m:d>
                          <m:r>
                            <a:rPr lang="en-US" sz="1800" b="0" i="1" smtClean="0">
                              <a:latin typeface="Latin Modern Math" panose="02000503000000000000" pitchFamily="50" charset="0"/>
                            </a:rPr>
                            <m:t>,</m:t>
                          </m:r>
                        </m:e>
                        <m:e>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𝑧</m:t>
                              </m:r>
                            </m:e>
                            <m:sub>
                              <m:r>
                                <m:rPr>
                                  <m:sty m:val="p"/>
                                </m:rPr>
                                <a:rPr lang="en-US" sz="1800" b="0" i="1" smtClean="0">
                                  <a:latin typeface="Latin Modern Math" panose="02000503000000000000" pitchFamily="50" charset="0"/>
                                </a:rPr>
                                <m:t>G</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e>
                          </m:d>
                          <m:r>
                            <m:rPr>
                              <m:aln/>
                            </m:rPr>
                            <a:rPr lang="en-US" sz="1800" b="0" i="1" smtClean="0">
                              <a:latin typeface="Latin Modern Math" panose="02000503000000000000" pitchFamily="50" charset="0"/>
                            </a:rPr>
                            <m:t>&amp;</m:t>
                          </m:r>
                          <m:r>
                            <a:rPr lang="en-US" sz="1800" b="0" i="1" smtClean="0">
                              <a:latin typeface="Latin Modern Math" panose="02000503000000000000" pitchFamily="50" charset="0"/>
                            </a:rPr>
                            <m:t>=</m:t>
                          </m:r>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𝑤</m:t>
                              </m:r>
                            </m:e>
                            <m:sub>
                              <m:r>
                                <m:rPr>
                                  <m:sty m:val="p"/>
                                </m:rPr>
                                <a:rPr lang="en-US" sz="1800" b="0" i="1" smtClean="0">
                                  <a:latin typeface="Latin Modern Math" panose="02000503000000000000" pitchFamily="50" charset="0"/>
                                </a:rPr>
                                <m:t>SG</m:t>
                              </m:r>
                            </m:sub>
                          </m:sSub>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𝑥</m:t>
                              </m:r>
                            </m:e>
                            <m:sub>
                              <m:r>
                                <m:rPr>
                                  <m:sty m:val="p"/>
                                </m:rPr>
                                <a:rPr lang="en-US" sz="1800" b="0" i="1" smtClean="0">
                                  <a:latin typeface="Latin Modern Math" panose="02000503000000000000" pitchFamily="50" charset="0"/>
                                </a:rPr>
                                <m:t>S</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r>
                                <a:rPr lang="en-US" sz="1800" b="0" i="1" smtClean="0">
                                  <a:latin typeface="Latin Modern Math" panose="02000503000000000000" pitchFamily="50" charset="0"/>
                                </a:rPr>
                                <m:t>−</m:t>
                              </m:r>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𝜏</m:t>
                                  </m:r>
                                </m:e>
                                <m:sub>
                                  <m:r>
                                    <m:rPr>
                                      <m:sty m:val="p"/>
                                    </m:rPr>
                                    <a:rPr lang="en-US" sz="1800" b="0" i="1" smtClean="0">
                                      <a:latin typeface="Latin Modern Math" panose="02000503000000000000" pitchFamily="50" charset="0"/>
                                    </a:rPr>
                                    <m:t>SG</m:t>
                                  </m:r>
                                </m:sub>
                              </m:sSub>
                            </m:e>
                          </m:d>
                          <m:r>
                            <a:rPr lang="en-US" sz="1800" b="0" i="1" smtClean="0">
                              <a:latin typeface="Latin Modern Math" panose="02000503000000000000" pitchFamily="50" charset="0"/>
                            </a:rPr>
                            <m:t>−</m:t>
                          </m:r>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𝑤</m:t>
                              </m:r>
                            </m:e>
                            <m:sub>
                              <m:r>
                                <m:rPr>
                                  <m:sty m:val="p"/>
                                </m:rPr>
                                <a:rPr lang="en-US" sz="1800" b="0" i="1" smtClean="0">
                                  <a:latin typeface="Latin Modern Math" panose="02000503000000000000" pitchFamily="50" charset="0"/>
                                </a:rPr>
                                <m:t>GG</m:t>
                              </m:r>
                            </m:sub>
                          </m:sSub>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𝑥</m:t>
                              </m:r>
                            </m:e>
                            <m:sub>
                              <m:r>
                                <m:rPr>
                                  <m:sty m:val="p"/>
                                </m:rPr>
                                <a:rPr lang="en-US" sz="1800" b="0" i="1" smtClean="0">
                                  <a:latin typeface="Latin Modern Math" panose="02000503000000000000" pitchFamily="50" charset="0"/>
                                </a:rPr>
                                <m:t>G</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r>
                                <a:rPr lang="en-US" sz="1800" b="0" i="1" smtClean="0">
                                  <a:latin typeface="Latin Modern Math" panose="02000503000000000000" pitchFamily="50" charset="0"/>
                                </a:rPr>
                                <m:t>−</m:t>
                              </m:r>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𝜏</m:t>
                                  </m:r>
                                </m:e>
                                <m:sub>
                                  <m:r>
                                    <m:rPr>
                                      <m:sty m:val="p"/>
                                    </m:rPr>
                                    <a:rPr lang="en-US" sz="1800" b="0" i="1" smtClean="0">
                                      <a:latin typeface="Latin Modern Math" panose="02000503000000000000" pitchFamily="50" charset="0"/>
                                    </a:rPr>
                                    <m:t>GG</m:t>
                                  </m:r>
                                </m:sub>
                              </m:sSub>
                            </m:e>
                          </m:d>
                          <m:r>
                            <a:rPr lang="en-US" sz="1800" b="0" i="1" smtClean="0">
                              <a:latin typeface="Latin Modern Math" panose="02000503000000000000" pitchFamily="50" charset="0"/>
                            </a:rPr>
                            <m:t>,</m:t>
                          </m:r>
                        </m:e>
                        <m:e>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𝜏</m:t>
                              </m:r>
                            </m:e>
                            <m:sub>
                              <m:r>
                                <m:rPr>
                                  <m:sty m:val="p"/>
                                </m:rPr>
                                <a:rPr lang="en-US" sz="1800" b="0" i="1" smtClean="0">
                                  <a:latin typeface="Latin Modern Math" panose="02000503000000000000" pitchFamily="50" charset="0"/>
                                </a:rPr>
                                <m:t>S</m:t>
                              </m:r>
                            </m:sub>
                          </m:sSub>
                          <m:sSub>
                            <m:sSubPr>
                              <m:ctrlPr>
                                <a:rPr lang="en-US" sz="1800" b="0" i="1" smtClean="0">
                                  <a:latin typeface="Latin Modern Math" panose="02000503000000000000" pitchFamily="50" charset="0"/>
                                </a:rPr>
                              </m:ctrlPr>
                            </m:sSubPr>
                            <m:e>
                              <m:acc>
                                <m:accPr>
                                  <m:chr m:val="̇"/>
                                  <m:ctrlPr>
                                    <a:rPr lang="en-US" sz="1800" b="0" i="1" smtClean="0">
                                      <a:latin typeface="Latin Modern Math" panose="02000503000000000000" pitchFamily="50" charset="0"/>
                                    </a:rPr>
                                  </m:ctrlPr>
                                </m:accPr>
                                <m:e>
                                  <m:r>
                                    <a:rPr lang="en-US" sz="1800" b="0" i="1" smtClean="0">
                                      <a:latin typeface="Latin Modern Math" panose="02000503000000000000" pitchFamily="50" charset="0"/>
                                    </a:rPr>
                                    <m:t>𝑥</m:t>
                                  </m:r>
                                </m:e>
                              </m:acc>
                            </m:e>
                            <m:sub>
                              <m:r>
                                <m:rPr>
                                  <m:sty m:val="p"/>
                                </m:rPr>
                                <a:rPr lang="en-US" sz="1800" b="0" i="1" smtClean="0">
                                  <a:latin typeface="Latin Modern Math" panose="02000503000000000000" pitchFamily="50" charset="0"/>
                                </a:rPr>
                                <m:t>S</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e>
                          </m:d>
                          <m:r>
                            <m:rPr>
                              <m:aln/>
                            </m:rPr>
                            <a:rPr lang="en-US" sz="1800" b="0" i="1" smtClean="0">
                              <a:latin typeface="Latin Modern Math" panose="02000503000000000000" pitchFamily="50" charset="0"/>
                            </a:rPr>
                            <m:t>&amp;</m:t>
                          </m:r>
                          <m:r>
                            <a:rPr lang="en-US" sz="1800" b="0" i="1" smtClean="0">
                              <a:latin typeface="Latin Modern Math" panose="02000503000000000000" pitchFamily="50" charset="0"/>
                            </a:rPr>
                            <m:t>=</m:t>
                          </m:r>
                          <m:sSub>
                            <m:sSubPr>
                              <m:ctrlPr>
                                <a:rPr lang="en-US" sz="1800" b="0" i="1" smtClean="0">
                                  <a:solidFill>
                                    <a:srgbClr val="C81919"/>
                                  </a:solidFill>
                                  <a:latin typeface="Latin Modern Math" panose="02000503000000000000" pitchFamily="50" charset="0"/>
                                </a:rPr>
                              </m:ctrlPr>
                            </m:sSubPr>
                            <m:e>
                              <m:r>
                                <a:rPr lang="en-US" sz="1800" b="0" i="1" smtClean="0">
                                  <a:solidFill>
                                    <a:srgbClr val="C81919"/>
                                  </a:solidFill>
                                  <a:latin typeface="Latin Modern Math" panose="02000503000000000000" pitchFamily="50" charset="0"/>
                                </a:rPr>
                                <m:t>𝛿</m:t>
                              </m:r>
                            </m:e>
                            <m:sub>
                              <m:r>
                                <m:rPr>
                                  <m:sty m:val="p"/>
                                </m:rPr>
                                <a:rPr lang="en-US" sz="1800" b="0" i="1" smtClean="0">
                                  <a:solidFill>
                                    <a:srgbClr val="C81919"/>
                                  </a:solidFill>
                                  <a:latin typeface="Latin Modern Math" panose="02000503000000000000" pitchFamily="50" charset="0"/>
                                </a:rPr>
                                <m:t>S</m:t>
                              </m:r>
                            </m:sub>
                          </m:sSub>
                          <m:d>
                            <m:dPr>
                              <m:ctrlPr>
                                <a:rPr lang="en-US" sz="1800" b="0" i="1" smtClean="0">
                                  <a:solidFill>
                                    <a:srgbClr val="C81919"/>
                                  </a:solidFill>
                                  <a:latin typeface="Latin Modern Math" panose="02000503000000000000" pitchFamily="50" charset="0"/>
                                </a:rPr>
                              </m:ctrlPr>
                            </m:dPr>
                            <m:e>
                              <m:sSub>
                                <m:sSubPr>
                                  <m:ctrlPr>
                                    <a:rPr lang="en-US" sz="1800" b="0" i="1" smtClean="0">
                                      <a:solidFill>
                                        <a:srgbClr val="C81919"/>
                                      </a:solidFill>
                                      <a:latin typeface="Latin Modern Math" panose="02000503000000000000" pitchFamily="50" charset="0"/>
                                    </a:rPr>
                                  </m:ctrlPr>
                                </m:sSubPr>
                                <m:e>
                                  <m:r>
                                    <a:rPr lang="en-US" sz="1800" b="0" i="1" smtClean="0">
                                      <a:solidFill>
                                        <a:srgbClr val="C81919"/>
                                      </a:solidFill>
                                      <a:latin typeface="Latin Modern Math" panose="02000503000000000000" pitchFamily="50" charset="0"/>
                                    </a:rPr>
                                    <m:t>𝑧</m:t>
                                  </m:r>
                                </m:e>
                                <m:sub>
                                  <m:r>
                                    <m:rPr>
                                      <m:sty m:val="p"/>
                                    </m:rPr>
                                    <a:rPr lang="en-US" sz="1800" b="0" i="1" smtClean="0">
                                      <a:solidFill>
                                        <a:srgbClr val="C81919"/>
                                      </a:solidFill>
                                      <a:latin typeface="Latin Modern Math" panose="02000503000000000000" pitchFamily="50" charset="0"/>
                                    </a:rPr>
                                    <m:t>S</m:t>
                                  </m:r>
                                </m:sub>
                              </m:sSub>
                              <m:d>
                                <m:dPr>
                                  <m:ctrlPr>
                                    <a:rPr lang="en-US" sz="1800" b="0" i="1" smtClean="0">
                                      <a:solidFill>
                                        <a:srgbClr val="C81919"/>
                                      </a:solidFill>
                                      <a:latin typeface="Latin Modern Math" panose="02000503000000000000" pitchFamily="50" charset="0"/>
                                    </a:rPr>
                                  </m:ctrlPr>
                                </m:dPr>
                                <m:e>
                                  <m:r>
                                    <a:rPr lang="en-US" sz="1800" b="0" i="1" smtClean="0">
                                      <a:solidFill>
                                        <a:srgbClr val="C81919"/>
                                      </a:solidFill>
                                      <a:latin typeface="Latin Modern Math" panose="02000503000000000000" pitchFamily="50" charset="0"/>
                                    </a:rPr>
                                    <m:t>𝑡</m:t>
                                  </m:r>
                                </m:e>
                              </m:d>
                            </m:e>
                          </m:d>
                          <m:r>
                            <a:rPr lang="en-US" sz="1800" b="0" i="1" smtClean="0">
                              <a:latin typeface="Latin Modern Math" panose="02000503000000000000" pitchFamily="50" charset="0"/>
                            </a:rPr>
                            <m:t>−</m:t>
                          </m:r>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𝑥</m:t>
                              </m:r>
                            </m:e>
                            <m:sub>
                              <m:r>
                                <m:rPr>
                                  <m:sty m:val="p"/>
                                </m:rPr>
                                <a:rPr lang="en-US" sz="1800" b="0" i="1" smtClean="0">
                                  <a:latin typeface="Latin Modern Math" panose="02000503000000000000" pitchFamily="50" charset="0"/>
                                </a:rPr>
                                <m:t>S</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e>
                          </m:d>
                          <m:r>
                            <a:rPr lang="en-US" sz="1800" b="0" i="1" smtClean="0">
                              <a:latin typeface="Latin Modern Math" panose="02000503000000000000" pitchFamily="50" charset="0"/>
                            </a:rPr>
                            <m:t>,</m:t>
                          </m:r>
                        </m:e>
                        <m:e>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𝜏</m:t>
                              </m:r>
                            </m:e>
                            <m:sub>
                              <m:r>
                                <m:rPr>
                                  <m:sty m:val="p"/>
                                </m:rPr>
                                <a:rPr lang="en-US" sz="1800" b="0" i="1" smtClean="0">
                                  <a:latin typeface="Latin Modern Math" panose="02000503000000000000" pitchFamily="50" charset="0"/>
                                </a:rPr>
                                <m:t>G</m:t>
                              </m:r>
                            </m:sub>
                          </m:sSub>
                          <m:sSub>
                            <m:sSubPr>
                              <m:ctrlPr>
                                <a:rPr lang="en-US" sz="1800" b="0" i="1" smtClean="0">
                                  <a:latin typeface="Latin Modern Math" panose="02000503000000000000" pitchFamily="50" charset="0"/>
                                </a:rPr>
                              </m:ctrlPr>
                            </m:sSubPr>
                            <m:e>
                              <m:acc>
                                <m:accPr>
                                  <m:chr m:val="̇"/>
                                  <m:ctrlPr>
                                    <a:rPr lang="en-US" sz="1800" b="0" i="1" smtClean="0">
                                      <a:latin typeface="Latin Modern Math" panose="02000503000000000000" pitchFamily="50" charset="0"/>
                                    </a:rPr>
                                  </m:ctrlPr>
                                </m:accPr>
                                <m:e>
                                  <m:r>
                                    <a:rPr lang="en-US" sz="1800" b="0" i="1" smtClean="0">
                                      <a:latin typeface="Latin Modern Math" panose="02000503000000000000" pitchFamily="50" charset="0"/>
                                    </a:rPr>
                                    <m:t>𝑥</m:t>
                                  </m:r>
                                </m:e>
                              </m:acc>
                            </m:e>
                            <m:sub>
                              <m:r>
                                <m:rPr>
                                  <m:sty m:val="p"/>
                                </m:rPr>
                                <a:rPr lang="en-US" sz="1800" b="0" i="1" smtClean="0">
                                  <a:latin typeface="Latin Modern Math" panose="02000503000000000000" pitchFamily="50" charset="0"/>
                                </a:rPr>
                                <m:t>G</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e>
                          </m:d>
                          <m:r>
                            <m:rPr>
                              <m:aln/>
                            </m:rPr>
                            <a:rPr lang="en-US" sz="1800" b="0" i="1" smtClean="0">
                              <a:latin typeface="Latin Modern Math" panose="02000503000000000000" pitchFamily="50" charset="0"/>
                            </a:rPr>
                            <m:t>&amp;</m:t>
                          </m:r>
                          <m:r>
                            <a:rPr lang="en-US" sz="1800" b="0" i="1" smtClean="0">
                              <a:latin typeface="Latin Modern Math" panose="02000503000000000000" pitchFamily="50" charset="0"/>
                            </a:rPr>
                            <m:t>=</m:t>
                          </m:r>
                          <m:sSub>
                            <m:sSubPr>
                              <m:ctrlPr>
                                <a:rPr lang="en-US" sz="1800" b="0" i="1" smtClean="0">
                                  <a:solidFill>
                                    <a:srgbClr val="C81919"/>
                                  </a:solidFill>
                                  <a:latin typeface="Latin Modern Math" panose="02000503000000000000" pitchFamily="50" charset="0"/>
                                </a:rPr>
                              </m:ctrlPr>
                            </m:sSubPr>
                            <m:e>
                              <m:r>
                                <a:rPr lang="en-US" sz="1800" b="0" i="1" smtClean="0">
                                  <a:solidFill>
                                    <a:srgbClr val="C81919"/>
                                  </a:solidFill>
                                  <a:latin typeface="Latin Modern Math" panose="02000503000000000000" pitchFamily="50" charset="0"/>
                                </a:rPr>
                                <m:t>𝛿</m:t>
                              </m:r>
                            </m:e>
                            <m:sub>
                              <m:r>
                                <m:rPr>
                                  <m:sty m:val="p"/>
                                </m:rPr>
                                <a:rPr lang="en-US" sz="1800" b="0" i="1" smtClean="0">
                                  <a:solidFill>
                                    <a:srgbClr val="C81919"/>
                                  </a:solidFill>
                                  <a:latin typeface="Latin Modern Math" panose="02000503000000000000" pitchFamily="50" charset="0"/>
                                </a:rPr>
                                <m:t>G</m:t>
                              </m:r>
                            </m:sub>
                          </m:sSub>
                          <m:d>
                            <m:dPr>
                              <m:ctrlPr>
                                <a:rPr lang="en-US" sz="1800" b="0" i="1" smtClean="0">
                                  <a:solidFill>
                                    <a:srgbClr val="C81919"/>
                                  </a:solidFill>
                                  <a:latin typeface="Latin Modern Math" panose="02000503000000000000" pitchFamily="50" charset="0"/>
                                </a:rPr>
                              </m:ctrlPr>
                            </m:dPr>
                            <m:e>
                              <m:sSub>
                                <m:sSubPr>
                                  <m:ctrlPr>
                                    <a:rPr lang="en-US" sz="1800" b="0" i="1" smtClean="0">
                                      <a:solidFill>
                                        <a:srgbClr val="C81919"/>
                                      </a:solidFill>
                                      <a:latin typeface="Latin Modern Math" panose="02000503000000000000" pitchFamily="50" charset="0"/>
                                    </a:rPr>
                                  </m:ctrlPr>
                                </m:sSubPr>
                                <m:e>
                                  <m:r>
                                    <a:rPr lang="en-US" sz="1800" b="0" i="1" smtClean="0">
                                      <a:solidFill>
                                        <a:srgbClr val="C81919"/>
                                      </a:solidFill>
                                      <a:latin typeface="Latin Modern Math" panose="02000503000000000000" pitchFamily="50" charset="0"/>
                                    </a:rPr>
                                    <m:t>𝑧</m:t>
                                  </m:r>
                                </m:e>
                                <m:sub>
                                  <m:r>
                                    <m:rPr>
                                      <m:sty m:val="p"/>
                                    </m:rPr>
                                    <a:rPr lang="en-US" sz="1800" b="0" i="1" smtClean="0">
                                      <a:solidFill>
                                        <a:srgbClr val="C81919"/>
                                      </a:solidFill>
                                      <a:latin typeface="Latin Modern Math" panose="02000503000000000000" pitchFamily="50" charset="0"/>
                                    </a:rPr>
                                    <m:t>G</m:t>
                                  </m:r>
                                </m:sub>
                              </m:sSub>
                              <m:d>
                                <m:dPr>
                                  <m:ctrlPr>
                                    <a:rPr lang="en-US" sz="1800" b="0" i="1" smtClean="0">
                                      <a:solidFill>
                                        <a:srgbClr val="C81919"/>
                                      </a:solidFill>
                                      <a:latin typeface="Latin Modern Math" panose="02000503000000000000" pitchFamily="50" charset="0"/>
                                    </a:rPr>
                                  </m:ctrlPr>
                                </m:dPr>
                                <m:e>
                                  <m:r>
                                    <a:rPr lang="en-US" sz="1800" b="0" i="1" smtClean="0">
                                      <a:solidFill>
                                        <a:srgbClr val="C81919"/>
                                      </a:solidFill>
                                      <a:latin typeface="Latin Modern Math" panose="02000503000000000000" pitchFamily="50" charset="0"/>
                                    </a:rPr>
                                    <m:t>𝑡</m:t>
                                  </m:r>
                                </m:e>
                              </m:d>
                            </m:e>
                          </m:d>
                          <m:r>
                            <a:rPr lang="en-US" sz="1800" b="0" i="1" smtClean="0">
                              <a:latin typeface="Latin Modern Math" panose="02000503000000000000" pitchFamily="50" charset="0"/>
                            </a:rPr>
                            <m:t>−</m:t>
                          </m:r>
                          <m:sSub>
                            <m:sSubPr>
                              <m:ctrlPr>
                                <a:rPr lang="en-US" sz="1800" b="0" i="1" smtClean="0">
                                  <a:latin typeface="Latin Modern Math" panose="02000503000000000000" pitchFamily="50" charset="0"/>
                                </a:rPr>
                              </m:ctrlPr>
                            </m:sSubPr>
                            <m:e>
                              <m:r>
                                <a:rPr lang="en-US" sz="1800" b="0" i="1" smtClean="0">
                                  <a:latin typeface="Latin Modern Math" panose="02000503000000000000" pitchFamily="50" charset="0"/>
                                </a:rPr>
                                <m:t>𝑥</m:t>
                              </m:r>
                            </m:e>
                            <m:sub>
                              <m:r>
                                <m:rPr>
                                  <m:sty m:val="p"/>
                                </m:rPr>
                                <a:rPr lang="en-US" sz="1800" b="0" i="1" smtClean="0">
                                  <a:latin typeface="Latin Modern Math" panose="02000503000000000000" pitchFamily="50" charset="0"/>
                                </a:rPr>
                                <m:t>G</m:t>
                              </m:r>
                            </m:sub>
                          </m:sSub>
                          <m:d>
                            <m:dPr>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𝑡</m:t>
                              </m:r>
                            </m:e>
                          </m:d>
                          <m:r>
                            <a:rPr lang="en-US" sz="1800" b="0" i="1" smtClean="0">
                              <a:latin typeface="Latin Modern Math" panose="02000503000000000000" pitchFamily="50" charset="0"/>
                            </a:rPr>
                            <m:t>.</m:t>
                          </m:r>
                        </m:e>
                      </m:eqArr>
                    </m:oMath>
                  </m:oMathPara>
                </a14:m>
                <a:endParaRPr lang="en-NL" sz="1800" dirty="0">
                  <a:latin typeface="Latin Modern Math" panose="02000503000000000000" pitchFamily="50" charset="0"/>
                </a:endParaRPr>
              </a:p>
            </p:txBody>
          </p:sp>
        </mc:Choice>
        <mc:Fallback xmlns:m="http://schemas.openxmlformats.org/officeDocument/2006/math"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Latin Modern Math" panose="02000503000000000000" pitchFamily="50" charset="0"/>
                            </a:rPr>
                          </m:ctrlPr>
                        </m:eqArrPr>
                        <m:e>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𝑧</m:t>
                              </m:r>
                            </m:e>
                            <m:sub>
                              <m:r>
                                <m:rPr>
                                  <m:sty m:val="p"/>
                                </m:rPr>
                                <a:rPr lang="en-US" sz="1700" b="0" i="1" smtClean="0">
                                  <a:latin typeface="Latin Modern Math" panose="02000503000000000000" pitchFamily="50" charset="0"/>
                                </a:rPr>
                                <m:t>S</m:t>
                              </m:r>
                            </m:sub>
                          </m:sSub>
                          <m:d>
                            <m:dPr>
                              <m:ctrlPr>
                                <a:rPr lang="en-US" sz="1700" b="0" i="1" smtClean="0">
                                  <a:latin typeface="Latin Modern Math" panose="02000503000000000000" pitchFamily="50" charset="0"/>
                                </a:rPr>
                              </m:ctrlPr>
                            </m:dPr>
                            <m:e>
                              <m:r>
                                <a:rPr lang="en-US" sz="1700" b="0" i="1" smtClean="0">
                                  <a:latin typeface="Latin Modern Math" panose="02000503000000000000" pitchFamily="50" charset="0"/>
                                </a:rPr>
                                <m:t>𝑡</m:t>
                              </m:r>
                            </m:e>
                          </m:d>
                          <m:r>
                            <m:rPr>
                              <m:aln/>
                            </m:rPr>
                            <a:rPr lang="en-US" sz="1700" b="0" i="1" smtClean="0">
                              <a:latin typeface="Latin Modern Math" panose="02000503000000000000" pitchFamily="50" charset="0"/>
                            </a:rPr>
                            <m:t>&amp;</m:t>
                          </m:r>
                          <m:r>
                            <a:rPr lang="en-US" sz="1700" b="0" i="1" smtClean="0">
                              <a:latin typeface="Latin Modern Math" panose="02000503000000000000" pitchFamily="50" charset="0"/>
                            </a:rPr>
                            <m:t>=−</m:t>
                          </m:r>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𝑤</m:t>
                              </m:r>
                            </m:e>
                            <m:sub>
                              <m:r>
                                <m:rPr>
                                  <m:sty m:val="p"/>
                                </m:rPr>
                                <a:rPr lang="en-US" sz="1700" b="0" i="1" smtClean="0">
                                  <a:latin typeface="Latin Modern Math" panose="02000503000000000000" pitchFamily="50" charset="0"/>
                                </a:rPr>
                                <m:t>GS</m:t>
                              </m:r>
                            </m:sub>
                          </m:sSub>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𝑥</m:t>
                              </m:r>
                            </m:e>
                            <m:sub>
                              <m:r>
                                <m:rPr>
                                  <m:sty m:val="p"/>
                                </m:rPr>
                                <a:rPr lang="en-US" sz="1700" b="0" i="1" smtClean="0">
                                  <a:latin typeface="Latin Modern Math" panose="02000503000000000000" pitchFamily="50" charset="0"/>
                                </a:rPr>
                                <m:t>G</m:t>
                              </m:r>
                            </m:sub>
                          </m:sSub>
                          <m:d>
                            <m:dPr>
                              <m:ctrlPr>
                                <a:rPr lang="en-US" sz="1700" b="0" i="1" smtClean="0">
                                  <a:latin typeface="Latin Modern Math" panose="02000503000000000000" pitchFamily="50" charset="0"/>
                                </a:rPr>
                              </m:ctrlPr>
                            </m:dPr>
                            <m:e>
                              <m:r>
                                <a:rPr lang="en-US" sz="1700" b="0" i="1" smtClean="0">
                                  <a:latin typeface="Latin Modern Math" panose="02000503000000000000" pitchFamily="50" charset="0"/>
                                </a:rPr>
                                <m:t>𝑡</m:t>
                              </m:r>
                              <m:r>
                                <a:rPr lang="en-US" sz="1700" b="0" i="1" smtClean="0">
                                  <a:latin typeface="Latin Modern Math" panose="02000503000000000000" pitchFamily="50" charset="0"/>
                                </a:rPr>
                                <m:t>−</m:t>
                              </m:r>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𝜏</m:t>
                                  </m:r>
                                </m:e>
                                <m:sub>
                                  <m:r>
                                    <m:rPr>
                                      <m:sty m:val="p"/>
                                    </m:rPr>
                                    <a:rPr lang="en-US" sz="1700" b="0" i="1" smtClean="0">
                                      <a:latin typeface="Latin Modern Math" panose="02000503000000000000" pitchFamily="50" charset="0"/>
                                    </a:rPr>
                                    <m:t>GS</m:t>
                                  </m:r>
                                </m:sub>
                              </m:sSub>
                            </m:e>
                          </m:d>
                          <m:r>
                            <a:rPr lang="en-US" sz="1700" b="0" i="1" smtClean="0">
                              <a:latin typeface="Latin Modern Math" panose="02000503000000000000" pitchFamily="50" charset="0"/>
                            </a:rPr>
                            <m:t>,</m:t>
                          </m:r>
                        </m:e>
                        <m:e>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𝑧</m:t>
                              </m:r>
                            </m:e>
                            <m:sub>
                              <m:r>
                                <m:rPr>
                                  <m:sty m:val="p"/>
                                </m:rPr>
                                <a:rPr lang="en-US" sz="1700" b="0" i="1" smtClean="0">
                                  <a:latin typeface="Latin Modern Math" panose="02000503000000000000" pitchFamily="50" charset="0"/>
                                </a:rPr>
                                <m:t>G</m:t>
                              </m:r>
                            </m:sub>
                          </m:sSub>
                          <m:d>
                            <m:dPr>
                              <m:ctrlPr>
                                <a:rPr lang="en-US" sz="1700" b="0" i="1" smtClean="0">
                                  <a:latin typeface="Latin Modern Math" panose="02000503000000000000" pitchFamily="50" charset="0"/>
                                </a:rPr>
                              </m:ctrlPr>
                            </m:dPr>
                            <m:e>
                              <m:r>
                                <a:rPr lang="en-US" sz="1700" b="0" i="1" smtClean="0">
                                  <a:latin typeface="Latin Modern Math" panose="02000503000000000000" pitchFamily="50" charset="0"/>
                                </a:rPr>
                                <m:t>𝑡</m:t>
                              </m:r>
                            </m:e>
                          </m:d>
                          <m:r>
                            <m:rPr>
                              <m:aln/>
                            </m:rPr>
                            <a:rPr lang="en-US" sz="1700" b="0" i="1" smtClean="0">
                              <a:latin typeface="Latin Modern Math" panose="02000503000000000000" pitchFamily="50" charset="0"/>
                            </a:rPr>
                            <m:t>&amp;</m:t>
                          </m:r>
                          <m:r>
                            <a:rPr lang="en-US" sz="1700" b="0" i="1" smtClean="0">
                              <a:latin typeface="Latin Modern Math" panose="02000503000000000000" pitchFamily="50" charset="0"/>
                            </a:rPr>
                            <m:t>=</m:t>
                          </m:r>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𝑤</m:t>
                              </m:r>
                            </m:e>
                            <m:sub>
                              <m:r>
                                <m:rPr>
                                  <m:sty m:val="p"/>
                                </m:rPr>
                                <a:rPr lang="en-US" sz="1700" b="0" i="1" smtClean="0">
                                  <a:latin typeface="Latin Modern Math" panose="02000503000000000000" pitchFamily="50" charset="0"/>
                                </a:rPr>
                                <m:t>SG</m:t>
                              </m:r>
                            </m:sub>
                          </m:sSub>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𝑥</m:t>
                              </m:r>
                            </m:e>
                            <m:sub>
                              <m:r>
                                <m:rPr>
                                  <m:sty m:val="p"/>
                                </m:rPr>
                                <a:rPr lang="en-US" sz="1700" b="0" i="1" smtClean="0">
                                  <a:latin typeface="Latin Modern Math" panose="02000503000000000000" pitchFamily="50" charset="0"/>
                                </a:rPr>
                                <m:t>S</m:t>
                              </m:r>
                            </m:sub>
                          </m:sSub>
                          <m:d>
                            <m:dPr>
                              <m:ctrlPr>
                                <a:rPr lang="en-US" sz="1700" b="0" i="1" smtClean="0">
                                  <a:latin typeface="Latin Modern Math" panose="02000503000000000000" pitchFamily="50" charset="0"/>
                                </a:rPr>
                              </m:ctrlPr>
                            </m:dPr>
                            <m:e>
                              <m:r>
                                <a:rPr lang="en-US" sz="1700" b="0" i="1" smtClean="0">
                                  <a:latin typeface="Latin Modern Math" panose="02000503000000000000" pitchFamily="50" charset="0"/>
                                </a:rPr>
                                <m:t>𝑡</m:t>
                              </m:r>
                              <m:r>
                                <a:rPr lang="en-US" sz="1700" b="0" i="1" smtClean="0">
                                  <a:latin typeface="Latin Modern Math" panose="02000503000000000000" pitchFamily="50" charset="0"/>
                                </a:rPr>
                                <m:t>−</m:t>
                              </m:r>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𝜏</m:t>
                                  </m:r>
                                </m:e>
                                <m:sub>
                                  <m:r>
                                    <m:rPr>
                                      <m:sty m:val="p"/>
                                    </m:rPr>
                                    <a:rPr lang="en-US" sz="1700" b="0" i="1" smtClean="0">
                                      <a:latin typeface="Latin Modern Math" panose="02000503000000000000" pitchFamily="50" charset="0"/>
                                    </a:rPr>
                                    <m:t>SG</m:t>
                                  </m:r>
                                </m:sub>
                              </m:sSub>
                            </m:e>
                          </m:d>
                          <m:r>
                            <a:rPr lang="en-US" sz="1700" b="0" i="1" smtClean="0">
                              <a:latin typeface="Latin Modern Math" panose="02000503000000000000" pitchFamily="50" charset="0"/>
                            </a:rPr>
                            <m:t>−</m:t>
                          </m:r>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𝑤</m:t>
                              </m:r>
                            </m:e>
                            <m:sub>
                              <m:r>
                                <m:rPr>
                                  <m:sty m:val="p"/>
                                </m:rPr>
                                <a:rPr lang="en-US" sz="1700" b="0" i="1" smtClean="0">
                                  <a:latin typeface="Latin Modern Math" panose="02000503000000000000" pitchFamily="50" charset="0"/>
                                </a:rPr>
                                <m:t>GG</m:t>
                              </m:r>
                            </m:sub>
                          </m:sSub>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𝑥</m:t>
                              </m:r>
                            </m:e>
                            <m:sub>
                              <m:r>
                                <m:rPr>
                                  <m:sty m:val="p"/>
                                </m:rPr>
                                <a:rPr lang="en-US" sz="1700" b="0" i="1" smtClean="0">
                                  <a:latin typeface="Latin Modern Math" panose="02000503000000000000" pitchFamily="50" charset="0"/>
                                </a:rPr>
                                <m:t>G</m:t>
                              </m:r>
                            </m:sub>
                          </m:sSub>
                          <m:d>
                            <m:dPr>
                              <m:ctrlPr>
                                <a:rPr lang="en-US" sz="1700" b="0" i="1" smtClean="0">
                                  <a:latin typeface="Latin Modern Math" panose="02000503000000000000" pitchFamily="50" charset="0"/>
                                </a:rPr>
                              </m:ctrlPr>
                            </m:dPr>
                            <m:e>
                              <m:r>
                                <a:rPr lang="en-US" sz="1700" b="0" i="1" smtClean="0">
                                  <a:latin typeface="Latin Modern Math" panose="02000503000000000000" pitchFamily="50" charset="0"/>
                                </a:rPr>
                                <m:t>𝑡</m:t>
                              </m:r>
                              <m:r>
                                <a:rPr lang="en-US" sz="1700" b="0" i="1" smtClean="0">
                                  <a:latin typeface="Latin Modern Math" panose="02000503000000000000" pitchFamily="50" charset="0"/>
                                </a:rPr>
                                <m:t>−</m:t>
                              </m:r>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𝜏</m:t>
                                  </m:r>
                                </m:e>
                                <m:sub>
                                  <m:r>
                                    <m:rPr>
                                      <m:sty m:val="p"/>
                                    </m:rPr>
                                    <a:rPr lang="en-US" sz="1700" b="0" i="1" smtClean="0">
                                      <a:latin typeface="Latin Modern Math" panose="02000503000000000000" pitchFamily="50" charset="0"/>
                                    </a:rPr>
                                    <m:t>GG</m:t>
                                  </m:r>
                                </m:sub>
                              </m:sSub>
                            </m:e>
                          </m:d>
                          <m:r>
                            <a:rPr lang="en-US" sz="1700" b="0" i="1" smtClean="0">
                              <a:latin typeface="Latin Modern Math" panose="02000503000000000000" pitchFamily="50" charset="0"/>
                            </a:rPr>
                            <m:t>,</m:t>
                          </m:r>
                        </m:e>
                        <m:e>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𝜏</m:t>
                              </m:r>
                            </m:e>
                            <m:sub>
                              <m:r>
                                <m:rPr>
                                  <m:sty m:val="p"/>
                                </m:rPr>
                                <a:rPr lang="en-US" sz="1700" b="0" i="1" smtClean="0">
                                  <a:latin typeface="Latin Modern Math" panose="02000503000000000000" pitchFamily="50" charset="0"/>
                                </a:rPr>
                                <m:t>S</m:t>
                              </m:r>
                            </m:sub>
                          </m:sSub>
                          <m:sSub>
                            <m:sSubPr>
                              <m:ctrlPr>
                                <a:rPr lang="en-US" sz="1700" b="0" i="1" smtClean="0">
                                  <a:latin typeface="Latin Modern Math" panose="02000503000000000000" pitchFamily="50" charset="0"/>
                                </a:rPr>
                              </m:ctrlPr>
                            </m:sSubPr>
                            <m:e>
                              <m:acc>
                                <m:accPr>
                                  <m:chr m:val="̇"/>
                                  <m:ctrlPr>
                                    <a:rPr lang="en-US" sz="1700" b="0" i="1" smtClean="0">
                                      <a:latin typeface="Latin Modern Math" panose="02000503000000000000" pitchFamily="50" charset="0"/>
                                    </a:rPr>
                                  </m:ctrlPr>
                                </m:accPr>
                                <m:e>
                                  <m:r>
                                    <a:rPr lang="en-US" sz="1700" b="0" i="1" smtClean="0">
                                      <a:latin typeface="Latin Modern Math" panose="02000503000000000000" pitchFamily="50" charset="0"/>
                                    </a:rPr>
                                    <m:t>𝑥</m:t>
                                  </m:r>
                                </m:e>
                              </m:acc>
                            </m:e>
                            <m:sub>
                              <m:r>
                                <m:rPr>
                                  <m:sty m:val="p"/>
                                </m:rPr>
                                <a:rPr lang="en-US" sz="1700" b="0" i="1" smtClean="0">
                                  <a:latin typeface="Latin Modern Math" panose="02000503000000000000" pitchFamily="50" charset="0"/>
                                </a:rPr>
                                <m:t>S</m:t>
                              </m:r>
                            </m:sub>
                          </m:sSub>
                          <m:d>
                            <m:dPr>
                              <m:ctrlPr>
                                <a:rPr lang="en-US" sz="1700" b="0" i="1" smtClean="0">
                                  <a:latin typeface="Latin Modern Math" panose="02000503000000000000" pitchFamily="50" charset="0"/>
                                </a:rPr>
                              </m:ctrlPr>
                            </m:dPr>
                            <m:e>
                              <m:r>
                                <a:rPr lang="en-US" sz="1700" b="0" i="1" smtClean="0">
                                  <a:latin typeface="Latin Modern Math" panose="02000503000000000000" pitchFamily="50" charset="0"/>
                                </a:rPr>
                                <m:t>𝑡</m:t>
                              </m:r>
                            </m:e>
                          </m:d>
                          <m:r>
                            <m:rPr>
                              <m:aln/>
                            </m:rPr>
                            <a:rPr lang="en-US" sz="1700" b="0" i="1" smtClean="0">
                              <a:latin typeface="Latin Modern Math" panose="02000503000000000000" pitchFamily="50" charset="0"/>
                            </a:rPr>
                            <m:t>&amp;</m:t>
                          </m:r>
                          <m:r>
                            <a:rPr lang="en-US" sz="1700" b="0" i="1" smtClean="0">
                              <a:latin typeface="Latin Modern Math" panose="02000503000000000000" pitchFamily="50" charset="0"/>
                            </a:rPr>
                            <m:t>=</m:t>
                          </m:r>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𝛿</m:t>
                              </m:r>
                            </m:e>
                            <m:sub>
                              <m:r>
                                <m:rPr>
                                  <m:sty m:val="p"/>
                                </m:rPr>
                                <a:rPr lang="en-US" sz="1700" b="0" i="1" smtClean="0">
                                  <a:latin typeface="Latin Modern Math" panose="02000503000000000000" pitchFamily="50" charset="0"/>
                                </a:rPr>
                                <m:t>S</m:t>
                              </m:r>
                            </m:sub>
                          </m:sSub>
                          <m:d>
                            <m:dPr>
                              <m:ctrlPr>
                                <a:rPr lang="en-US" sz="1700" b="0" i="1" smtClean="0">
                                  <a:latin typeface="Latin Modern Math" panose="02000503000000000000" pitchFamily="50" charset="0"/>
                                </a:rPr>
                              </m:ctrlPr>
                            </m:dPr>
                            <m:e>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𝑧</m:t>
                                  </m:r>
                                </m:e>
                                <m:sub>
                                  <m:r>
                                    <m:rPr>
                                      <m:sty m:val="p"/>
                                    </m:rPr>
                                    <a:rPr lang="en-US" sz="1700" b="0" i="1" smtClean="0">
                                      <a:latin typeface="Latin Modern Math" panose="02000503000000000000" pitchFamily="50" charset="0"/>
                                    </a:rPr>
                                    <m:t>S</m:t>
                                  </m:r>
                                </m:sub>
                              </m:sSub>
                              <m:d>
                                <m:dPr>
                                  <m:ctrlPr>
                                    <a:rPr lang="en-US" sz="1700" b="0" i="1" smtClean="0">
                                      <a:latin typeface="Latin Modern Math" panose="02000503000000000000" pitchFamily="50" charset="0"/>
                                    </a:rPr>
                                  </m:ctrlPr>
                                </m:dPr>
                                <m:e>
                                  <m:r>
                                    <a:rPr lang="en-US" sz="1700" b="0" i="1" smtClean="0">
                                      <a:latin typeface="Latin Modern Math" panose="02000503000000000000" pitchFamily="50" charset="0"/>
                                    </a:rPr>
                                    <m:t>𝑡</m:t>
                                  </m:r>
                                </m:e>
                              </m:d>
                            </m:e>
                          </m:d>
                          <m:r>
                            <a:rPr lang="en-US" sz="1700" b="0" i="1" smtClean="0">
                              <a:latin typeface="Latin Modern Math" panose="02000503000000000000" pitchFamily="50" charset="0"/>
                            </a:rPr>
                            <m:t>−</m:t>
                          </m:r>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𝑥</m:t>
                              </m:r>
                            </m:e>
                            <m:sub>
                              <m:r>
                                <m:rPr>
                                  <m:sty m:val="p"/>
                                </m:rPr>
                                <a:rPr lang="en-US" sz="1700" b="0" i="1" smtClean="0">
                                  <a:latin typeface="Latin Modern Math" panose="02000503000000000000" pitchFamily="50" charset="0"/>
                                </a:rPr>
                                <m:t>S</m:t>
                              </m:r>
                            </m:sub>
                          </m:sSub>
                          <m:d>
                            <m:dPr>
                              <m:ctrlPr>
                                <a:rPr lang="en-US" sz="1700" b="0" i="1" smtClean="0">
                                  <a:latin typeface="Latin Modern Math" panose="02000503000000000000" pitchFamily="50" charset="0"/>
                                </a:rPr>
                              </m:ctrlPr>
                            </m:dPr>
                            <m:e>
                              <m:r>
                                <a:rPr lang="en-US" sz="1700" b="0" i="1" smtClean="0">
                                  <a:latin typeface="Latin Modern Math" panose="02000503000000000000" pitchFamily="50" charset="0"/>
                                </a:rPr>
                                <m:t>𝑡</m:t>
                              </m:r>
                            </m:e>
                          </m:d>
                          <m:r>
                            <a:rPr lang="en-US" sz="1700" b="0" i="1" smtClean="0">
                              <a:latin typeface="Latin Modern Math" panose="02000503000000000000" pitchFamily="50" charset="0"/>
                            </a:rPr>
                            <m:t>+</m:t>
                          </m:r>
                          <m:r>
                            <a:rPr lang="en-US" sz="1700" b="0" i="1" smtClean="0">
                              <a:solidFill>
                                <a:srgbClr val="C81919"/>
                              </a:solidFill>
                              <a:latin typeface="Latin Modern Math" panose="02000503000000000000" pitchFamily="50" charset="0"/>
                            </a:rPr>
                            <m:t>𝑢</m:t>
                          </m:r>
                          <m:d>
                            <m:dPr>
                              <m:ctrlPr>
                                <a:rPr lang="en-US" sz="1700" b="0" i="1" smtClean="0">
                                  <a:solidFill>
                                    <a:srgbClr val="C81919"/>
                                  </a:solidFill>
                                  <a:latin typeface="Latin Modern Math" panose="02000503000000000000" pitchFamily="50" charset="0"/>
                                </a:rPr>
                              </m:ctrlPr>
                            </m:dPr>
                            <m:e>
                              <m:r>
                                <a:rPr lang="en-US" sz="1700" b="0" i="1" smtClean="0">
                                  <a:solidFill>
                                    <a:srgbClr val="C81919"/>
                                  </a:solidFill>
                                  <a:latin typeface="Latin Modern Math" panose="02000503000000000000" pitchFamily="50" charset="0"/>
                                </a:rPr>
                                <m:t>𝑡</m:t>
                              </m:r>
                            </m:e>
                          </m:d>
                          <m:r>
                            <a:rPr lang="en-US" sz="1700" b="0" i="1" smtClean="0">
                              <a:solidFill>
                                <a:srgbClr val="C81919"/>
                              </a:solidFill>
                              <a:latin typeface="Latin Modern Math" panose="02000503000000000000" pitchFamily="50" charset="0"/>
                            </a:rPr>
                            <m:t>,</m:t>
                          </m:r>
                        </m:e>
                        <m:e>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𝜏</m:t>
                              </m:r>
                            </m:e>
                            <m:sub>
                              <m:r>
                                <m:rPr>
                                  <m:sty m:val="p"/>
                                </m:rPr>
                                <a:rPr lang="en-US" sz="1700" b="0" i="1" smtClean="0">
                                  <a:latin typeface="Latin Modern Math" panose="02000503000000000000" pitchFamily="50" charset="0"/>
                                </a:rPr>
                                <m:t>G</m:t>
                              </m:r>
                            </m:sub>
                          </m:sSub>
                          <m:sSub>
                            <m:sSubPr>
                              <m:ctrlPr>
                                <a:rPr lang="en-US" sz="1700" b="0" i="1" smtClean="0">
                                  <a:latin typeface="Latin Modern Math" panose="02000503000000000000" pitchFamily="50" charset="0"/>
                                </a:rPr>
                              </m:ctrlPr>
                            </m:sSubPr>
                            <m:e>
                              <m:acc>
                                <m:accPr>
                                  <m:chr m:val="̇"/>
                                  <m:ctrlPr>
                                    <a:rPr lang="en-US" sz="1700" b="0" i="1" smtClean="0">
                                      <a:latin typeface="Latin Modern Math" panose="02000503000000000000" pitchFamily="50" charset="0"/>
                                    </a:rPr>
                                  </m:ctrlPr>
                                </m:accPr>
                                <m:e>
                                  <m:r>
                                    <a:rPr lang="en-US" sz="1700" b="0" i="1" smtClean="0">
                                      <a:latin typeface="Latin Modern Math" panose="02000503000000000000" pitchFamily="50" charset="0"/>
                                    </a:rPr>
                                    <m:t>𝑥</m:t>
                                  </m:r>
                                </m:e>
                              </m:acc>
                            </m:e>
                            <m:sub>
                              <m:r>
                                <m:rPr>
                                  <m:sty m:val="p"/>
                                </m:rPr>
                                <a:rPr lang="en-US" sz="1700" b="0" i="1" smtClean="0">
                                  <a:latin typeface="Latin Modern Math" panose="02000503000000000000" pitchFamily="50" charset="0"/>
                                </a:rPr>
                                <m:t>G</m:t>
                              </m:r>
                            </m:sub>
                          </m:sSub>
                          <m:d>
                            <m:dPr>
                              <m:ctrlPr>
                                <a:rPr lang="en-US" sz="1700" b="0" i="1" smtClean="0">
                                  <a:latin typeface="Latin Modern Math" panose="02000503000000000000" pitchFamily="50" charset="0"/>
                                </a:rPr>
                              </m:ctrlPr>
                            </m:dPr>
                            <m:e>
                              <m:r>
                                <a:rPr lang="en-US" sz="1700" b="0" i="1" smtClean="0">
                                  <a:latin typeface="Latin Modern Math" panose="02000503000000000000" pitchFamily="50" charset="0"/>
                                </a:rPr>
                                <m:t>𝑡</m:t>
                              </m:r>
                            </m:e>
                          </m:d>
                          <m:r>
                            <m:rPr>
                              <m:aln/>
                            </m:rPr>
                            <a:rPr lang="en-US" sz="1700" b="0" i="1" smtClean="0">
                              <a:latin typeface="Latin Modern Math" panose="02000503000000000000" pitchFamily="50" charset="0"/>
                            </a:rPr>
                            <m:t>&amp;</m:t>
                          </m:r>
                          <m:r>
                            <a:rPr lang="en-US" sz="1700" b="0" i="1" smtClean="0">
                              <a:latin typeface="Latin Modern Math" panose="02000503000000000000" pitchFamily="50" charset="0"/>
                            </a:rPr>
                            <m:t>=</m:t>
                          </m:r>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𝛿</m:t>
                              </m:r>
                            </m:e>
                            <m:sub>
                              <m:r>
                                <m:rPr>
                                  <m:sty m:val="p"/>
                                </m:rPr>
                                <a:rPr lang="en-US" sz="1700" b="0" i="1" smtClean="0">
                                  <a:latin typeface="Latin Modern Math" panose="02000503000000000000" pitchFamily="50" charset="0"/>
                                </a:rPr>
                                <m:t>G</m:t>
                              </m:r>
                            </m:sub>
                          </m:sSub>
                          <m:d>
                            <m:dPr>
                              <m:ctrlPr>
                                <a:rPr lang="en-US" sz="1700" b="0" i="1" smtClean="0">
                                  <a:latin typeface="Latin Modern Math" panose="02000503000000000000" pitchFamily="50" charset="0"/>
                                </a:rPr>
                              </m:ctrlPr>
                            </m:dPr>
                            <m:e>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𝑧</m:t>
                                  </m:r>
                                </m:e>
                                <m:sub>
                                  <m:r>
                                    <m:rPr>
                                      <m:sty m:val="p"/>
                                    </m:rPr>
                                    <a:rPr lang="en-US" sz="1700" b="0" i="1" smtClean="0">
                                      <a:latin typeface="Latin Modern Math" panose="02000503000000000000" pitchFamily="50" charset="0"/>
                                    </a:rPr>
                                    <m:t>G</m:t>
                                  </m:r>
                                </m:sub>
                              </m:sSub>
                              <m:d>
                                <m:dPr>
                                  <m:ctrlPr>
                                    <a:rPr lang="en-US" sz="1700" b="0" i="1" smtClean="0">
                                      <a:latin typeface="Latin Modern Math" panose="02000503000000000000" pitchFamily="50" charset="0"/>
                                    </a:rPr>
                                  </m:ctrlPr>
                                </m:dPr>
                                <m:e>
                                  <m:r>
                                    <a:rPr lang="en-US" sz="1700" b="0" i="1" smtClean="0">
                                      <a:latin typeface="Latin Modern Math" panose="02000503000000000000" pitchFamily="50" charset="0"/>
                                    </a:rPr>
                                    <m:t>𝑡</m:t>
                                  </m:r>
                                </m:e>
                              </m:d>
                            </m:e>
                          </m:d>
                          <m:r>
                            <a:rPr lang="en-US" sz="1700" b="0" i="1" smtClean="0">
                              <a:latin typeface="Latin Modern Math" panose="02000503000000000000" pitchFamily="50" charset="0"/>
                            </a:rPr>
                            <m:t>−</m:t>
                          </m:r>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𝑥</m:t>
                              </m:r>
                            </m:e>
                            <m:sub>
                              <m:r>
                                <m:rPr>
                                  <m:sty m:val="p"/>
                                </m:rPr>
                                <a:rPr lang="en-US" sz="1700" b="0" i="1" smtClean="0">
                                  <a:latin typeface="Latin Modern Math" panose="02000503000000000000" pitchFamily="50" charset="0"/>
                                </a:rPr>
                                <m:t>G</m:t>
                              </m:r>
                            </m:sub>
                          </m:sSub>
                          <m:d>
                            <m:dPr>
                              <m:ctrlPr>
                                <a:rPr lang="en-US" sz="1700" b="0" i="1" smtClean="0">
                                  <a:latin typeface="Latin Modern Math" panose="02000503000000000000" pitchFamily="50" charset="0"/>
                                </a:rPr>
                              </m:ctrlPr>
                            </m:dPr>
                            <m:e>
                              <m:r>
                                <a:rPr lang="en-US" sz="1700" b="0" i="1" smtClean="0">
                                  <a:latin typeface="Latin Modern Math" panose="02000503000000000000" pitchFamily="50" charset="0"/>
                                </a:rPr>
                                <m:t>𝑡</m:t>
                              </m:r>
                            </m:e>
                          </m:d>
                          <m:r>
                            <a:rPr lang="en-US" sz="1700" b="0" i="1" smtClean="0">
                              <a:latin typeface="Latin Modern Math" panose="02000503000000000000" pitchFamily="50" charset="0"/>
                            </a:rPr>
                            <m:t>.</m:t>
                          </m:r>
                        </m:e>
                      </m:eqArr>
                    </m:oMath>
                  </m:oMathPara>
                </a14:m>
                <a:endParaRPr lang="en-NL" sz="1700" dirty="0">
                  <a:latin typeface="Latin Modern Math" panose="02000503000000000000" pitchFamily="50" charset="0"/>
                </a:endParaRPr>
              </a:p>
            </p:txBody>
          </p:sp>
        </mc:Choice>
        <mc:Fallback xmlns:m="http://schemas.openxmlformats.org/officeDocument/2006/math"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Baked figure with larger labels"/>
          <p:cNvPicPr>
            <a:picLocks noChangeAspect="1"/>
          </p:cNvPicPr>
          <p:nvPr/>
        </p:nvPicPr>
        <p:blipFill>
          <a:blip r:embed="rId3"/>
          <a:stretch>
            <a:fillRect/>
          </a:stretch>
        </p:blipFill>
        <p:spPr>
          <a:xfrm>
            <a:off x="438150" y="1190625"/>
            <a:ext cx="4157662" cy="1785938"/>
          </a:xfrm>
          <a:prstGeom prst="rect">
            <a:avLst/>
          </a:prstGeom>
        </p:spPr>
      </p:pic>
      <p:pic>
        <p:nvPicPr>
          <p:cNvPr id="76" name="Baked figure with larger labels"/>
          <p:cNvPicPr>
            <a:picLocks noChangeAspect="1"/>
          </p:cNvPicPr>
          <p:nvPr/>
        </p:nvPicPr>
        <p:blipFill>
          <a:blip r:embed="rId4"/>
          <a:stretch>
            <a:fillRect/>
          </a:stretch>
        </p:blipFill>
        <p:spPr>
          <a:xfrm>
            <a:off x="4943475" y="1219200"/>
            <a:ext cx="3952875" cy="2305050"/>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Baked figure with larger labels"/>
          <p:cNvPicPr>
            <a:picLocks noChangeAspect="1"/>
          </p:cNvPicPr>
          <p:nvPr/>
        </p:nvPicPr>
        <p:blipFill>
          <a:blip r:embed="rId3"/>
          <a:stretch>
            <a:fillRect/>
          </a:stretch>
        </p:blipFill>
        <p:spPr>
          <a:xfrm>
            <a:off x="4962525" y="1452562"/>
            <a:ext cx="3805238" cy="1819275"/>
          </a:xfrm>
          <a:prstGeom prst="rect">
            <a:avLst/>
          </a:prstGeom>
        </p:spPr>
      </p:pic>
      <p:pic>
        <p:nvPicPr>
          <p:cNvPr id="80" name="Baked figure with larger labels"/>
          <p:cNvPicPr>
            <a:picLocks noChangeAspect="1"/>
          </p:cNvPicPr>
          <p:nvPr/>
        </p:nvPicPr>
        <p:blipFill>
          <a:blip r:embed="rId4"/>
          <a:stretch>
            <a:fillRect/>
          </a:stretch>
        </p:blipFill>
        <p:spPr>
          <a:xfrm>
            <a:off x="438150" y="1190625"/>
            <a:ext cx="4157662" cy="1785938"/>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Latin Modern Math" panose="02000503000000000000" pitchFamily="50" charset="0"/>
                            </a:rPr>
                          </m:ctrlPr>
                        </m:eqArrPr>
                        <m:e>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𝑧</m:t>
                              </m:r>
                            </m:e>
                            <m:sub>
                              <m:r>
                                <m:rPr>
                                  <m:sty m:val="p"/>
                                </m:rPr>
                                <a:rPr lang="en-US" sz="1700" b="0" i="1" smtClean="0">
                                  <a:latin typeface="Latin Modern Math" panose="02000503000000000000" pitchFamily="50" charset="0"/>
                                </a:rPr>
                                <m:t>S</m:t>
                              </m:r>
                            </m:sub>
                          </m:sSub>
                          <m:d>
                            <m:dPr>
                              <m:ctrlPr>
                                <a:rPr lang="en-US" sz="1700" b="0" i="1" smtClean="0">
                                  <a:latin typeface="Latin Modern Math" panose="02000503000000000000" pitchFamily="50" charset="0"/>
                                </a:rPr>
                              </m:ctrlPr>
                            </m:dPr>
                            <m:e>
                              <m:r>
                                <a:rPr lang="en-US" sz="1700" b="0" i="1" smtClean="0">
                                  <a:latin typeface="Latin Modern Math" panose="02000503000000000000" pitchFamily="50" charset="0"/>
                                </a:rPr>
                                <m:t>𝑡</m:t>
                              </m:r>
                            </m:e>
                          </m:d>
                          <m:r>
                            <m:rPr>
                              <m:aln/>
                            </m:rPr>
                            <a:rPr lang="en-US" sz="1700" b="0" i="1" smtClean="0">
                              <a:latin typeface="Latin Modern Math" panose="02000503000000000000" pitchFamily="50" charset="0"/>
                            </a:rPr>
                            <m:t>&amp;</m:t>
                          </m:r>
                          <m:r>
                            <a:rPr lang="en-US" sz="1700" b="0" i="1" smtClean="0">
                              <a:latin typeface="Latin Modern Math" panose="02000503000000000000" pitchFamily="50" charset="0"/>
                            </a:rPr>
                            <m:t>=−</m:t>
                          </m:r>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𝑤</m:t>
                              </m:r>
                            </m:e>
                            <m:sub>
                              <m:r>
                                <m:rPr>
                                  <m:sty m:val="p"/>
                                </m:rPr>
                                <a:rPr lang="en-US" sz="1700" b="0" i="1" smtClean="0">
                                  <a:latin typeface="Latin Modern Math" panose="02000503000000000000" pitchFamily="50" charset="0"/>
                                </a:rPr>
                                <m:t>GS</m:t>
                              </m:r>
                            </m:sub>
                          </m:sSub>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𝑥</m:t>
                              </m:r>
                            </m:e>
                            <m:sub>
                              <m:r>
                                <m:rPr>
                                  <m:sty m:val="p"/>
                                </m:rPr>
                                <a:rPr lang="en-US" sz="1700" b="0" i="1" smtClean="0">
                                  <a:latin typeface="Latin Modern Math" panose="02000503000000000000" pitchFamily="50" charset="0"/>
                                </a:rPr>
                                <m:t>G</m:t>
                              </m:r>
                            </m:sub>
                          </m:sSub>
                          <m:d>
                            <m:dPr>
                              <m:ctrlPr>
                                <a:rPr lang="en-US" sz="1700" b="0" i="1" smtClean="0">
                                  <a:latin typeface="Latin Modern Math" panose="02000503000000000000" pitchFamily="50" charset="0"/>
                                </a:rPr>
                              </m:ctrlPr>
                            </m:dPr>
                            <m:e>
                              <m:r>
                                <a:rPr lang="en-US" sz="1700" b="0" i="1" smtClean="0">
                                  <a:latin typeface="Latin Modern Math" panose="02000503000000000000" pitchFamily="50" charset="0"/>
                                </a:rPr>
                                <m:t>𝑡</m:t>
                              </m:r>
                              <m:r>
                                <a:rPr lang="en-US" sz="1700" b="0" i="1" smtClean="0">
                                  <a:latin typeface="Latin Modern Math" panose="02000503000000000000" pitchFamily="50" charset="0"/>
                                </a:rPr>
                                <m:t>−</m:t>
                              </m:r>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𝜏</m:t>
                                  </m:r>
                                </m:e>
                                <m:sub>
                                  <m:r>
                                    <m:rPr>
                                      <m:sty m:val="p"/>
                                    </m:rPr>
                                    <a:rPr lang="en-US" sz="1700" b="0" i="1" smtClean="0">
                                      <a:latin typeface="Latin Modern Math" panose="02000503000000000000" pitchFamily="50" charset="0"/>
                                    </a:rPr>
                                    <m:t>GS</m:t>
                                  </m:r>
                                </m:sub>
                              </m:sSub>
                            </m:e>
                          </m:d>
                          <m:r>
                            <a:rPr lang="en-US" sz="1700" b="0" i="1" smtClean="0">
                              <a:latin typeface="Latin Modern Math" panose="02000503000000000000" pitchFamily="50" charset="0"/>
                            </a:rPr>
                            <m:t>,</m:t>
                          </m:r>
                        </m:e>
                        <m:e>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𝑧</m:t>
                              </m:r>
                            </m:e>
                            <m:sub>
                              <m:r>
                                <m:rPr>
                                  <m:sty m:val="p"/>
                                </m:rPr>
                                <a:rPr lang="en-US" sz="1700" b="0" i="1" smtClean="0">
                                  <a:latin typeface="Latin Modern Math" panose="02000503000000000000" pitchFamily="50" charset="0"/>
                                </a:rPr>
                                <m:t>G</m:t>
                              </m:r>
                            </m:sub>
                          </m:sSub>
                          <m:d>
                            <m:dPr>
                              <m:ctrlPr>
                                <a:rPr lang="en-US" sz="1700" b="0" i="1" smtClean="0">
                                  <a:latin typeface="Latin Modern Math" panose="02000503000000000000" pitchFamily="50" charset="0"/>
                                </a:rPr>
                              </m:ctrlPr>
                            </m:dPr>
                            <m:e>
                              <m:r>
                                <a:rPr lang="en-US" sz="1700" b="0" i="1" smtClean="0">
                                  <a:latin typeface="Latin Modern Math" panose="02000503000000000000" pitchFamily="50" charset="0"/>
                                </a:rPr>
                                <m:t>𝑡</m:t>
                              </m:r>
                            </m:e>
                          </m:d>
                          <m:r>
                            <m:rPr>
                              <m:aln/>
                            </m:rPr>
                            <a:rPr lang="en-US" sz="1700" b="0" i="1" smtClean="0">
                              <a:latin typeface="Latin Modern Math" panose="02000503000000000000" pitchFamily="50" charset="0"/>
                            </a:rPr>
                            <m:t>&amp;</m:t>
                          </m:r>
                          <m:r>
                            <a:rPr lang="en-US" sz="1700" b="0" i="1" smtClean="0">
                              <a:latin typeface="Latin Modern Math" panose="02000503000000000000" pitchFamily="50" charset="0"/>
                            </a:rPr>
                            <m:t>=</m:t>
                          </m:r>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𝑤</m:t>
                              </m:r>
                            </m:e>
                            <m:sub>
                              <m:r>
                                <m:rPr>
                                  <m:sty m:val="p"/>
                                </m:rPr>
                                <a:rPr lang="en-US" sz="1700" b="0" i="1" smtClean="0">
                                  <a:latin typeface="Latin Modern Math" panose="02000503000000000000" pitchFamily="50" charset="0"/>
                                </a:rPr>
                                <m:t>SG</m:t>
                              </m:r>
                            </m:sub>
                          </m:sSub>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𝑥</m:t>
                              </m:r>
                            </m:e>
                            <m:sub>
                              <m:r>
                                <m:rPr>
                                  <m:sty m:val="p"/>
                                </m:rPr>
                                <a:rPr lang="en-US" sz="1700" b="0" i="1" smtClean="0">
                                  <a:latin typeface="Latin Modern Math" panose="02000503000000000000" pitchFamily="50" charset="0"/>
                                </a:rPr>
                                <m:t>S</m:t>
                              </m:r>
                            </m:sub>
                          </m:sSub>
                          <m:d>
                            <m:dPr>
                              <m:ctrlPr>
                                <a:rPr lang="en-US" sz="1700" b="0" i="1" smtClean="0">
                                  <a:latin typeface="Latin Modern Math" panose="02000503000000000000" pitchFamily="50" charset="0"/>
                                </a:rPr>
                              </m:ctrlPr>
                            </m:dPr>
                            <m:e>
                              <m:r>
                                <a:rPr lang="en-US" sz="1700" b="0" i="1" smtClean="0">
                                  <a:latin typeface="Latin Modern Math" panose="02000503000000000000" pitchFamily="50" charset="0"/>
                                </a:rPr>
                                <m:t>𝑡</m:t>
                              </m:r>
                              <m:r>
                                <a:rPr lang="en-US" sz="1700" b="0" i="1" smtClean="0">
                                  <a:latin typeface="Latin Modern Math" panose="02000503000000000000" pitchFamily="50" charset="0"/>
                                </a:rPr>
                                <m:t>−</m:t>
                              </m:r>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𝜏</m:t>
                                  </m:r>
                                </m:e>
                                <m:sub>
                                  <m:r>
                                    <m:rPr>
                                      <m:sty m:val="p"/>
                                    </m:rPr>
                                    <a:rPr lang="en-US" sz="1700" b="0" i="1" smtClean="0">
                                      <a:latin typeface="Latin Modern Math" panose="02000503000000000000" pitchFamily="50" charset="0"/>
                                    </a:rPr>
                                    <m:t>SG</m:t>
                                  </m:r>
                                </m:sub>
                              </m:sSub>
                            </m:e>
                          </m:d>
                          <m:r>
                            <a:rPr lang="en-US" sz="1700" b="0" i="1" smtClean="0">
                              <a:latin typeface="Latin Modern Math" panose="02000503000000000000" pitchFamily="50" charset="0"/>
                            </a:rPr>
                            <m:t>−</m:t>
                          </m:r>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𝑤</m:t>
                              </m:r>
                            </m:e>
                            <m:sub>
                              <m:r>
                                <m:rPr>
                                  <m:sty m:val="p"/>
                                </m:rPr>
                                <a:rPr lang="en-US" sz="1700" b="0" i="1" smtClean="0">
                                  <a:latin typeface="Latin Modern Math" panose="02000503000000000000" pitchFamily="50" charset="0"/>
                                </a:rPr>
                                <m:t>GG</m:t>
                              </m:r>
                            </m:sub>
                          </m:sSub>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𝑥</m:t>
                              </m:r>
                            </m:e>
                            <m:sub>
                              <m:r>
                                <m:rPr>
                                  <m:sty m:val="p"/>
                                </m:rPr>
                                <a:rPr lang="en-US" sz="1700" b="0" i="1" smtClean="0">
                                  <a:latin typeface="Latin Modern Math" panose="02000503000000000000" pitchFamily="50" charset="0"/>
                                </a:rPr>
                                <m:t>G</m:t>
                              </m:r>
                            </m:sub>
                          </m:sSub>
                          <m:d>
                            <m:dPr>
                              <m:ctrlPr>
                                <a:rPr lang="en-US" sz="1700" b="0" i="1" smtClean="0">
                                  <a:latin typeface="Latin Modern Math" panose="02000503000000000000" pitchFamily="50" charset="0"/>
                                </a:rPr>
                              </m:ctrlPr>
                            </m:dPr>
                            <m:e>
                              <m:r>
                                <a:rPr lang="en-US" sz="1700" b="0" i="1" smtClean="0">
                                  <a:latin typeface="Latin Modern Math" panose="02000503000000000000" pitchFamily="50" charset="0"/>
                                </a:rPr>
                                <m:t>𝑡</m:t>
                              </m:r>
                              <m:r>
                                <a:rPr lang="en-US" sz="1700" b="0" i="1" smtClean="0">
                                  <a:latin typeface="Latin Modern Math" panose="02000503000000000000" pitchFamily="50" charset="0"/>
                                </a:rPr>
                                <m:t>−</m:t>
                              </m:r>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𝜏</m:t>
                                  </m:r>
                                </m:e>
                                <m:sub>
                                  <m:r>
                                    <m:rPr>
                                      <m:sty m:val="p"/>
                                    </m:rPr>
                                    <a:rPr lang="en-US" sz="1700" b="0" i="1" smtClean="0">
                                      <a:latin typeface="Latin Modern Math" panose="02000503000000000000" pitchFamily="50" charset="0"/>
                                    </a:rPr>
                                    <m:t>GG</m:t>
                                  </m:r>
                                </m:sub>
                              </m:sSub>
                            </m:e>
                          </m:d>
                          <m:r>
                            <a:rPr lang="en-US" sz="1700" b="0" i="1" smtClean="0">
                              <a:latin typeface="Latin Modern Math" panose="02000503000000000000" pitchFamily="50" charset="0"/>
                            </a:rPr>
                            <m:t>,</m:t>
                          </m:r>
                        </m:e>
                        <m:e>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𝜏</m:t>
                              </m:r>
                            </m:e>
                            <m:sub>
                              <m:r>
                                <m:rPr>
                                  <m:sty m:val="p"/>
                                </m:rPr>
                                <a:rPr lang="en-US" sz="1700" b="0" i="1" smtClean="0">
                                  <a:latin typeface="Latin Modern Math" panose="02000503000000000000" pitchFamily="50" charset="0"/>
                                </a:rPr>
                                <m:t>S</m:t>
                              </m:r>
                            </m:sub>
                          </m:sSub>
                          <m:sSub>
                            <m:sSubPr>
                              <m:ctrlPr>
                                <a:rPr lang="en-US" sz="1700" b="0" i="1" smtClean="0">
                                  <a:latin typeface="Latin Modern Math" panose="02000503000000000000" pitchFamily="50" charset="0"/>
                                </a:rPr>
                              </m:ctrlPr>
                            </m:sSubPr>
                            <m:e>
                              <m:acc>
                                <m:accPr>
                                  <m:chr m:val="̇"/>
                                  <m:ctrlPr>
                                    <a:rPr lang="en-US" sz="1700" b="0" i="1" smtClean="0">
                                      <a:latin typeface="Latin Modern Math" panose="02000503000000000000" pitchFamily="50" charset="0"/>
                                    </a:rPr>
                                  </m:ctrlPr>
                                </m:accPr>
                                <m:e>
                                  <m:r>
                                    <a:rPr lang="en-US" sz="1700" b="0" i="1" smtClean="0">
                                      <a:latin typeface="Latin Modern Math" panose="02000503000000000000" pitchFamily="50" charset="0"/>
                                    </a:rPr>
                                    <m:t>𝑥</m:t>
                                  </m:r>
                                </m:e>
                              </m:acc>
                            </m:e>
                            <m:sub>
                              <m:r>
                                <m:rPr>
                                  <m:sty m:val="p"/>
                                </m:rPr>
                                <a:rPr lang="en-US" sz="1700" b="0" i="1" smtClean="0">
                                  <a:latin typeface="Latin Modern Math" panose="02000503000000000000" pitchFamily="50" charset="0"/>
                                </a:rPr>
                                <m:t>S</m:t>
                              </m:r>
                            </m:sub>
                          </m:sSub>
                          <m:d>
                            <m:dPr>
                              <m:ctrlPr>
                                <a:rPr lang="en-US" sz="1700" b="0" i="1" smtClean="0">
                                  <a:latin typeface="Latin Modern Math" panose="02000503000000000000" pitchFamily="50" charset="0"/>
                                </a:rPr>
                              </m:ctrlPr>
                            </m:dPr>
                            <m:e>
                              <m:r>
                                <a:rPr lang="en-US" sz="1700" b="0" i="1" smtClean="0">
                                  <a:latin typeface="Latin Modern Math" panose="02000503000000000000" pitchFamily="50" charset="0"/>
                                </a:rPr>
                                <m:t>𝑡</m:t>
                              </m:r>
                            </m:e>
                          </m:d>
                          <m:r>
                            <m:rPr>
                              <m:aln/>
                            </m:rPr>
                            <a:rPr lang="en-US" sz="1700" b="0" i="1" smtClean="0">
                              <a:latin typeface="Latin Modern Math" panose="02000503000000000000" pitchFamily="50" charset="0"/>
                            </a:rPr>
                            <m:t>&amp;</m:t>
                          </m:r>
                          <m:r>
                            <a:rPr lang="en-US" sz="1700" b="0" i="1" smtClean="0">
                              <a:latin typeface="Latin Modern Math" panose="02000503000000000000" pitchFamily="50" charset="0"/>
                            </a:rPr>
                            <m:t>=</m:t>
                          </m:r>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𝛿</m:t>
                              </m:r>
                            </m:e>
                            <m:sub>
                              <m:r>
                                <m:rPr>
                                  <m:sty m:val="p"/>
                                </m:rPr>
                                <a:rPr lang="en-US" sz="1700" b="0" i="1" smtClean="0">
                                  <a:latin typeface="Latin Modern Math" panose="02000503000000000000" pitchFamily="50" charset="0"/>
                                </a:rPr>
                                <m:t>S</m:t>
                              </m:r>
                            </m:sub>
                          </m:sSub>
                          <m:d>
                            <m:dPr>
                              <m:ctrlPr>
                                <a:rPr lang="en-US" sz="1700" b="0" i="1" smtClean="0">
                                  <a:latin typeface="Latin Modern Math" panose="02000503000000000000" pitchFamily="50" charset="0"/>
                                </a:rPr>
                              </m:ctrlPr>
                            </m:dPr>
                            <m:e>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𝑧</m:t>
                                  </m:r>
                                </m:e>
                                <m:sub>
                                  <m:r>
                                    <m:rPr>
                                      <m:sty m:val="p"/>
                                    </m:rPr>
                                    <a:rPr lang="en-US" sz="1700" b="0" i="1" smtClean="0">
                                      <a:latin typeface="Latin Modern Math" panose="02000503000000000000" pitchFamily="50" charset="0"/>
                                    </a:rPr>
                                    <m:t>S</m:t>
                                  </m:r>
                                </m:sub>
                              </m:sSub>
                              <m:d>
                                <m:dPr>
                                  <m:ctrlPr>
                                    <a:rPr lang="en-US" sz="1700" b="0" i="1" smtClean="0">
                                      <a:latin typeface="Latin Modern Math" panose="02000503000000000000" pitchFamily="50" charset="0"/>
                                    </a:rPr>
                                  </m:ctrlPr>
                                </m:dPr>
                                <m:e>
                                  <m:r>
                                    <a:rPr lang="en-US" sz="1700" b="0" i="1" smtClean="0">
                                      <a:latin typeface="Latin Modern Math" panose="02000503000000000000" pitchFamily="50" charset="0"/>
                                    </a:rPr>
                                    <m:t>𝑡</m:t>
                                  </m:r>
                                </m:e>
                              </m:d>
                            </m:e>
                          </m:d>
                          <m:r>
                            <a:rPr lang="en-US" sz="1700" b="0" i="1" smtClean="0">
                              <a:latin typeface="Latin Modern Math" panose="02000503000000000000" pitchFamily="50" charset="0"/>
                            </a:rPr>
                            <m:t>−</m:t>
                          </m:r>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𝑥</m:t>
                              </m:r>
                            </m:e>
                            <m:sub>
                              <m:r>
                                <m:rPr>
                                  <m:sty m:val="p"/>
                                </m:rPr>
                                <a:rPr lang="en-US" sz="1700" b="0" i="1" smtClean="0">
                                  <a:latin typeface="Latin Modern Math" panose="02000503000000000000" pitchFamily="50" charset="0"/>
                                </a:rPr>
                                <m:t>S</m:t>
                              </m:r>
                            </m:sub>
                          </m:sSub>
                          <m:d>
                            <m:dPr>
                              <m:ctrlPr>
                                <a:rPr lang="en-US" sz="1700" b="0" i="1" smtClean="0">
                                  <a:latin typeface="Latin Modern Math" panose="02000503000000000000" pitchFamily="50" charset="0"/>
                                </a:rPr>
                              </m:ctrlPr>
                            </m:dPr>
                            <m:e>
                              <m:r>
                                <a:rPr lang="en-US" sz="1700" b="0" i="1" smtClean="0">
                                  <a:latin typeface="Latin Modern Math" panose="02000503000000000000" pitchFamily="50" charset="0"/>
                                </a:rPr>
                                <m:t>𝑡</m:t>
                              </m:r>
                            </m:e>
                          </m:d>
                          <m:r>
                            <a:rPr lang="en-US" sz="1700" b="0" i="1" smtClean="0">
                              <a:latin typeface="Latin Modern Math" panose="02000503000000000000" pitchFamily="50" charset="0"/>
                            </a:rPr>
                            <m:t>+</m:t>
                          </m:r>
                          <m:r>
                            <a:rPr lang="en-US" sz="1700" b="0" i="1" smtClean="0">
                              <a:solidFill>
                                <a:schemeClr val="tx1"/>
                              </a:solidFill>
                              <a:latin typeface="Latin Modern Math" panose="02000503000000000000" pitchFamily="50" charset="0"/>
                            </a:rPr>
                            <m:t>𝑢</m:t>
                          </m:r>
                          <m:d>
                            <m:dPr>
                              <m:ctrlPr>
                                <a:rPr lang="en-US" sz="1700" b="0" i="1" smtClean="0">
                                  <a:solidFill>
                                    <a:schemeClr val="tx1"/>
                                  </a:solidFill>
                                  <a:latin typeface="Latin Modern Math" panose="02000503000000000000" pitchFamily="50" charset="0"/>
                                </a:rPr>
                              </m:ctrlPr>
                            </m:dPr>
                            <m:e>
                              <m:r>
                                <a:rPr lang="en-US" sz="1700" b="0" i="1" smtClean="0">
                                  <a:solidFill>
                                    <a:schemeClr val="tx1"/>
                                  </a:solidFill>
                                  <a:latin typeface="Latin Modern Math" panose="02000503000000000000" pitchFamily="50" charset="0"/>
                                </a:rPr>
                                <m:t>𝑡</m:t>
                              </m:r>
                            </m:e>
                          </m:d>
                          <m:r>
                            <a:rPr lang="en-US" sz="1700" b="0" i="1" smtClean="0">
                              <a:latin typeface="Latin Modern Math" panose="02000503000000000000" pitchFamily="50" charset="0"/>
                            </a:rPr>
                            <m:t>,</m:t>
                          </m:r>
                        </m:e>
                        <m:e>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𝜏</m:t>
                              </m:r>
                            </m:e>
                            <m:sub>
                              <m:r>
                                <m:rPr>
                                  <m:sty m:val="p"/>
                                </m:rPr>
                                <a:rPr lang="en-US" sz="1700" b="0" i="1" smtClean="0">
                                  <a:latin typeface="Latin Modern Math" panose="02000503000000000000" pitchFamily="50" charset="0"/>
                                </a:rPr>
                                <m:t>G</m:t>
                              </m:r>
                            </m:sub>
                          </m:sSub>
                          <m:sSub>
                            <m:sSubPr>
                              <m:ctrlPr>
                                <a:rPr lang="en-US" sz="1700" b="0" i="1" smtClean="0">
                                  <a:latin typeface="Latin Modern Math" panose="02000503000000000000" pitchFamily="50" charset="0"/>
                                </a:rPr>
                              </m:ctrlPr>
                            </m:sSubPr>
                            <m:e>
                              <m:acc>
                                <m:accPr>
                                  <m:chr m:val="̇"/>
                                  <m:ctrlPr>
                                    <a:rPr lang="en-US" sz="1700" b="0" i="1" smtClean="0">
                                      <a:latin typeface="Latin Modern Math" panose="02000503000000000000" pitchFamily="50" charset="0"/>
                                    </a:rPr>
                                  </m:ctrlPr>
                                </m:accPr>
                                <m:e>
                                  <m:r>
                                    <a:rPr lang="en-US" sz="1700" b="0" i="1" smtClean="0">
                                      <a:latin typeface="Latin Modern Math" panose="02000503000000000000" pitchFamily="50" charset="0"/>
                                    </a:rPr>
                                    <m:t>𝑥</m:t>
                                  </m:r>
                                </m:e>
                              </m:acc>
                            </m:e>
                            <m:sub>
                              <m:r>
                                <m:rPr>
                                  <m:sty m:val="p"/>
                                </m:rPr>
                                <a:rPr lang="en-US" sz="1700" b="0" i="1" smtClean="0">
                                  <a:latin typeface="Latin Modern Math" panose="02000503000000000000" pitchFamily="50" charset="0"/>
                                </a:rPr>
                                <m:t>G</m:t>
                              </m:r>
                            </m:sub>
                          </m:sSub>
                          <m:d>
                            <m:dPr>
                              <m:ctrlPr>
                                <a:rPr lang="en-US" sz="1700" b="0" i="1" smtClean="0">
                                  <a:latin typeface="Latin Modern Math" panose="02000503000000000000" pitchFamily="50" charset="0"/>
                                </a:rPr>
                              </m:ctrlPr>
                            </m:dPr>
                            <m:e>
                              <m:r>
                                <a:rPr lang="en-US" sz="1700" b="0" i="1" smtClean="0">
                                  <a:latin typeface="Latin Modern Math" panose="02000503000000000000" pitchFamily="50" charset="0"/>
                                </a:rPr>
                                <m:t>𝑡</m:t>
                              </m:r>
                            </m:e>
                          </m:d>
                          <m:r>
                            <m:rPr>
                              <m:aln/>
                            </m:rPr>
                            <a:rPr lang="en-US" sz="1700" b="0" i="1" smtClean="0">
                              <a:latin typeface="Latin Modern Math" panose="02000503000000000000" pitchFamily="50" charset="0"/>
                            </a:rPr>
                            <m:t>&amp;</m:t>
                          </m:r>
                          <m:r>
                            <a:rPr lang="en-US" sz="1700" b="0" i="1" smtClean="0">
                              <a:latin typeface="Latin Modern Math" panose="02000503000000000000" pitchFamily="50" charset="0"/>
                            </a:rPr>
                            <m:t>=</m:t>
                          </m:r>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𝛿</m:t>
                              </m:r>
                            </m:e>
                            <m:sub>
                              <m:r>
                                <m:rPr>
                                  <m:sty m:val="p"/>
                                </m:rPr>
                                <a:rPr lang="en-US" sz="1700" b="0" i="1" smtClean="0">
                                  <a:latin typeface="Latin Modern Math" panose="02000503000000000000" pitchFamily="50" charset="0"/>
                                </a:rPr>
                                <m:t>G</m:t>
                              </m:r>
                            </m:sub>
                          </m:sSub>
                          <m:d>
                            <m:dPr>
                              <m:ctrlPr>
                                <a:rPr lang="en-US" sz="1700" b="0" i="1" smtClean="0">
                                  <a:latin typeface="Latin Modern Math" panose="02000503000000000000" pitchFamily="50" charset="0"/>
                                </a:rPr>
                              </m:ctrlPr>
                            </m:dPr>
                            <m:e>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𝑧</m:t>
                                  </m:r>
                                </m:e>
                                <m:sub>
                                  <m:r>
                                    <m:rPr>
                                      <m:sty m:val="p"/>
                                    </m:rPr>
                                    <a:rPr lang="en-US" sz="1700" b="0" i="1" smtClean="0">
                                      <a:latin typeface="Latin Modern Math" panose="02000503000000000000" pitchFamily="50" charset="0"/>
                                    </a:rPr>
                                    <m:t>G</m:t>
                                  </m:r>
                                </m:sub>
                              </m:sSub>
                              <m:d>
                                <m:dPr>
                                  <m:ctrlPr>
                                    <a:rPr lang="en-US" sz="1700" b="0" i="1" smtClean="0">
                                      <a:latin typeface="Latin Modern Math" panose="02000503000000000000" pitchFamily="50" charset="0"/>
                                    </a:rPr>
                                  </m:ctrlPr>
                                </m:dPr>
                                <m:e>
                                  <m:r>
                                    <a:rPr lang="en-US" sz="1700" b="0" i="1" smtClean="0">
                                      <a:latin typeface="Latin Modern Math" panose="02000503000000000000" pitchFamily="50" charset="0"/>
                                    </a:rPr>
                                    <m:t>𝑡</m:t>
                                  </m:r>
                                </m:e>
                              </m:d>
                            </m:e>
                          </m:d>
                          <m:r>
                            <a:rPr lang="en-US" sz="1700" b="0" i="1" smtClean="0">
                              <a:latin typeface="Latin Modern Math" panose="02000503000000000000" pitchFamily="50" charset="0"/>
                            </a:rPr>
                            <m:t>−</m:t>
                          </m:r>
                          <m:sSub>
                            <m:sSubPr>
                              <m:ctrlPr>
                                <a:rPr lang="en-US" sz="1700" b="0" i="1" smtClean="0">
                                  <a:latin typeface="Latin Modern Math" panose="02000503000000000000" pitchFamily="50" charset="0"/>
                                </a:rPr>
                              </m:ctrlPr>
                            </m:sSubPr>
                            <m:e>
                              <m:r>
                                <a:rPr lang="en-US" sz="1700" b="0" i="1" smtClean="0">
                                  <a:latin typeface="Latin Modern Math" panose="02000503000000000000" pitchFamily="50" charset="0"/>
                                </a:rPr>
                                <m:t>𝑥</m:t>
                              </m:r>
                            </m:e>
                            <m:sub>
                              <m:r>
                                <m:rPr>
                                  <m:sty m:val="p"/>
                                </m:rPr>
                                <a:rPr lang="en-US" sz="1700" b="0" i="1" smtClean="0">
                                  <a:latin typeface="Latin Modern Math" panose="02000503000000000000" pitchFamily="50" charset="0"/>
                                </a:rPr>
                                <m:t>G</m:t>
                              </m:r>
                            </m:sub>
                          </m:sSub>
                          <m:d>
                            <m:dPr>
                              <m:ctrlPr>
                                <a:rPr lang="en-US" sz="1700" b="0" i="1" smtClean="0">
                                  <a:latin typeface="Latin Modern Math" panose="02000503000000000000" pitchFamily="50" charset="0"/>
                                </a:rPr>
                              </m:ctrlPr>
                            </m:dPr>
                            <m:e>
                              <m:r>
                                <a:rPr lang="en-US" sz="1700" b="0" i="1" smtClean="0">
                                  <a:latin typeface="Latin Modern Math" panose="02000503000000000000" pitchFamily="50" charset="0"/>
                                </a:rPr>
                                <m:t>𝑡</m:t>
                              </m:r>
                            </m:e>
                          </m:d>
                          <m:r>
                            <a:rPr lang="en-US" sz="1700" b="0" i="1" smtClean="0">
                              <a:latin typeface="Latin Modern Math" panose="02000503000000000000" pitchFamily="50" charset="0"/>
                            </a:rPr>
                            <m:t>.</m:t>
                          </m:r>
                        </m:e>
                      </m:eqArr>
                    </m:oMath>
                  </m:oMathPara>
                </a14:m>
                <a:endParaRPr lang="en-NL" sz="1700" dirty="0">
                  <a:latin typeface="Latin Modern Math" panose="02000503000000000000" pitchFamily="50" charset="0"/>
                </a:endParaRPr>
              </a:p>
            </p:txBody>
          </p:sp>
        </mc:Choice>
        <mc:Fallback xmlns:m="http://schemas.openxmlformats.org/officeDocument/2006/math" xmlns="">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Latin Modern Math" panose="02000503000000000000" pitchFamily="50" charset="0"/>
                            </a:rPr>
                          </m:ctrlPr>
                        </m:sSubPr>
                        <m:e>
                          <m:r>
                            <a:rPr lang="en-US" sz="1600" b="0" i="1" smtClean="0">
                              <a:solidFill>
                                <a:srgbClr val="FF0000"/>
                              </a:solidFill>
                              <a:latin typeface="Latin Modern Math" panose="02000503000000000000" pitchFamily="50" charset="0"/>
                            </a:rPr>
                            <m:t>𝑤</m:t>
                          </m:r>
                        </m:e>
                        <m:sub>
                          <m:r>
                            <a:rPr lang="en-US" sz="1600" b="0" i="1" smtClean="0">
                              <a:solidFill>
                                <a:srgbClr val="FF0000"/>
                              </a:solidFill>
                              <a:latin typeface="Latin Modern Math" panose="02000503000000000000" pitchFamily="50" charset="0"/>
                            </a:rPr>
                            <m:t>2</m:t>
                          </m:r>
                        </m:sub>
                      </m:sSub>
                      <m:r>
                        <a:rPr lang="en-US" sz="1600" b="0" i="1" smtClean="0">
                          <a:latin typeface="Latin Modern Math" panose="02000503000000000000" pitchFamily="50" charset="0"/>
                        </a:rPr>
                        <m:t>(</m:t>
                      </m:r>
                      <m:r>
                        <a:rPr lang="en-US" sz="1600" b="0" i="1" smtClean="0">
                          <a:latin typeface="Latin Modern Math" panose="02000503000000000000" pitchFamily="50" charset="0"/>
                        </a:rPr>
                        <m:t>𝑡</m:t>
                      </m:r>
                      <m:r>
                        <a:rPr lang="en-US" sz="1600" b="0" i="1" smtClean="0">
                          <a:latin typeface="Latin Modern Math" panose="02000503000000000000" pitchFamily="50" charset="0"/>
                        </a:rPr>
                        <m:t>) </m:t>
                      </m:r>
                    </m:oMath>
                  </m:oMathPara>
                </a14:m>
                <a:endParaRPr lang="en-NL" sz="1600" dirty="0">
                  <a:latin typeface="Latin Modern Math" panose="02000503000000000000" pitchFamily="50" charset="0"/>
                </a:endParaRPr>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Latin Modern Math" panose="02000503000000000000" pitchFamily="50" charset="0"/>
                            </a:rPr>
                          </m:ctrlPr>
                        </m:eqArrPr>
                        <m:e>
                          <m:acc>
                            <m:accPr>
                              <m:chr m:val="̇"/>
                              <m:ctrlPr>
                                <a:rPr lang="en-US" sz="1500" b="0" i="1" smtClean="0">
                                  <a:latin typeface="Latin Modern Math" panose="02000503000000000000" pitchFamily="50" charset="0"/>
                                </a:rPr>
                              </m:ctrlPr>
                            </m:accPr>
                            <m:e>
                              <m:r>
                                <a:rPr lang="en-US" sz="1500" b="0" i="1" smtClean="0">
                                  <a:latin typeface="Latin Modern Math" panose="02000503000000000000" pitchFamily="50" charset="0"/>
                                </a:rPr>
                                <m:t>𝑢</m:t>
                              </m:r>
                            </m:e>
                          </m:acc>
                          <m:d>
                            <m:dPr>
                              <m:ctrlPr>
                                <a:rPr lang="en-US" sz="1500" b="0" i="1" smtClean="0">
                                  <a:latin typeface="Latin Modern Math" panose="02000503000000000000" pitchFamily="50" charset="0"/>
                                </a:rPr>
                              </m:ctrlPr>
                            </m:dPr>
                            <m:e>
                              <m:r>
                                <a:rPr lang="en-US" sz="1500" b="0" i="1" smtClean="0">
                                  <a:latin typeface="Latin Modern Math" panose="02000503000000000000" pitchFamily="50" charset="0"/>
                                </a:rPr>
                                <m:t>𝑡</m:t>
                              </m:r>
                              <m:r>
                                <a:rPr lang="en-US" sz="1500" b="0" i="1" smtClean="0">
                                  <a:latin typeface="Latin Modern Math" panose="02000503000000000000" pitchFamily="50" charset="0"/>
                                </a:rPr>
                                <m:t>,</m:t>
                              </m:r>
                              <m:r>
                                <a:rPr lang="en-US" sz="1500" b="0" i="1" smtClean="0">
                                  <a:latin typeface="Latin Modern Math" panose="02000503000000000000" pitchFamily="50" charset="0"/>
                                </a:rPr>
                                <m:t>𝑠</m:t>
                              </m:r>
                            </m:e>
                          </m:d>
                          <m:r>
                            <a:rPr lang="en-US" sz="1500" b="0" i="1" smtClean="0">
                              <a:latin typeface="Latin Modern Math" panose="02000503000000000000" pitchFamily="50" charset="0"/>
                            </a:rPr>
                            <m:t>=</m:t>
                          </m:r>
                          <m:sSub>
                            <m:sSubPr>
                              <m:ctrlPr>
                                <a:rPr lang="en-US" sz="1500" b="0" i="1" smtClean="0">
                                  <a:solidFill>
                                    <a:srgbClr val="00B050"/>
                                  </a:solidFill>
                                  <a:latin typeface="Latin Modern Math" panose="02000503000000000000" pitchFamily="50" charset="0"/>
                                </a:rPr>
                              </m:ctrlPr>
                            </m:sSubPr>
                            <m:e>
                              <m:r>
                                <a:rPr lang="en-US" sz="1500" b="0" i="1" smtClean="0">
                                  <a:solidFill>
                                    <a:srgbClr val="00B050"/>
                                  </a:solidFill>
                                  <a:latin typeface="Latin Modern Math" panose="02000503000000000000" pitchFamily="50" charset="0"/>
                                </a:rPr>
                                <m:t>𝑤</m:t>
                              </m:r>
                            </m:e>
                            <m:sub>
                              <m:r>
                                <a:rPr lang="en-US" sz="1500" b="0" i="1" smtClean="0">
                                  <a:solidFill>
                                    <a:srgbClr val="00B050"/>
                                  </a:solidFill>
                                  <a:latin typeface="Latin Modern Math" panose="02000503000000000000" pitchFamily="50" charset="0"/>
                                </a:rPr>
                                <m:t>1</m:t>
                              </m:r>
                            </m:sub>
                          </m:sSub>
                          <m:d>
                            <m:dPr>
                              <m:ctrlPr>
                                <a:rPr lang="en-US" sz="1500" b="0" i="1" smtClean="0">
                                  <a:latin typeface="Latin Modern Math" panose="02000503000000000000" pitchFamily="50" charset="0"/>
                                </a:rPr>
                              </m:ctrlPr>
                            </m:dPr>
                            <m:e>
                              <m:r>
                                <a:rPr lang="en-US" sz="1500" b="0" i="1" smtClean="0">
                                  <a:latin typeface="Latin Modern Math" panose="02000503000000000000" pitchFamily="50" charset="0"/>
                                </a:rPr>
                                <m:t>𝑡</m:t>
                              </m:r>
                            </m:e>
                          </m:d>
                        </m:e>
                        <m:e>
                          <m:r>
                            <a:rPr lang="en-US" sz="1500" b="0" i="1" smtClean="0">
                              <a:latin typeface="Latin Modern Math" panose="02000503000000000000" pitchFamily="50" charset="0"/>
                            </a:rPr>
                            <m:t>+</m:t>
                          </m:r>
                          <m:r>
                            <a:rPr lang="en-US" sz="1500" b="0" i="1" smtClean="0">
                              <a:latin typeface="Latin Modern Math" panose="02000503000000000000" pitchFamily="50" charset="0"/>
                            </a:rPr>
                            <m:t>𝑠</m:t>
                          </m:r>
                          <m:sSub>
                            <m:sSubPr>
                              <m:ctrlPr>
                                <a:rPr lang="en-US" sz="1500" b="0" i="1" smtClean="0">
                                  <a:solidFill>
                                    <a:srgbClr val="00B050"/>
                                  </a:solidFill>
                                  <a:latin typeface="Latin Modern Math" panose="02000503000000000000" pitchFamily="50" charset="0"/>
                                </a:rPr>
                              </m:ctrlPr>
                            </m:sSubPr>
                            <m:e>
                              <m:r>
                                <a:rPr lang="en-US" sz="1500" b="0" i="1" smtClean="0">
                                  <a:solidFill>
                                    <a:srgbClr val="00B050"/>
                                  </a:solidFill>
                                  <a:latin typeface="Latin Modern Math" panose="02000503000000000000" pitchFamily="50" charset="0"/>
                                </a:rPr>
                                <m:t>𝑤</m:t>
                              </m:r>
                            </m:e>
                            <m:sub>
                              <m:r>
                                <a:rPr lang="en-US" sz="1500" b="0" i="1" smtClean="0">
                                  <a:solidFill>
                                    <a:srgbClr val="00B050"/>
                                  </a:solidFill>
                                  <a:latin typeface="Latin Modern Math" panose="02000503000000000000" pitchFamily="50" charset="0"/>
                                </a:rPr>
                                <m:t>2</m:t>
                              </m:r>
                            </m:sub>
                          </m:sSub>
                          <m:d>
                            <m:dPr>
                              <m:ctrlPr>
                                <a:rPr lang="en-US" sz="1500" b="0" i="1" smtClean="0">
                                  <a:latin typeface="Latin Modern Math" panose="02000503000000000000" pitchFamily="50" charset="0"/>
                                </a:rPr>
                              </m:ctrlPr>
                            </m:dPr>
                            <m:e>
                              <m:r>
                                <a:rPr lang="en-US" sz="1500" b="0" i="1" smtClean="0">
                                  <a:latin typeface="Latin Modern Math" panose="02000503000000000000" pitchFamily="50" charset="0"/>
                                </a:rPr>
                                <m:t>𝑡</m:t>
                              </m:r>
                            </m:e>
                          </m:d>
                        </m:e>
                        <m:e>
                          <m:r>
                            <a:rPr lang="en-US" sz="1500" b="0" i="1" smtClean="0">
                              <a:latin typeface="Latin Modern Math" panose="02000503000000000000" pitchFamily="50" charset="0"/>
                            </a:rPr>
                            <m:t>+</m:t>
                          </m:r>
                          <m:nary>
                            <m:naryPr>
                              <m:limLoc m:val="subSup"/>
                              <m:ctrlPr>
                                <a:rPr lang="en-US" sz="1500" b="0" i="1" smtClean="0">
                                  <a:latin typeface="Latin Modern Math" panose="02000503000000000000" pitchFamily="50" charset="0"/>
                                </a:rPr>
                              </m:ctrlPr>
                            </m:naryPr>
                            <m:sub>
                              <m:r>
                                <a:rPr lang="en-US" sz="1500" b="0" i="1" smtClean="0">
                                  <a:latin typeface="Latin Modern Math" panose="02000503000000000000" pitchFamily="50" charset="0"/>
                                </a:rPr>
                                <m:t>0</m:t>
                              </m:r>
                            </m:sub>
                            <m:sup>
                              <m:r>
                                <a:rPr lang="en-US" sz="1500" b="0" i="1" smtClean="0">
                                  <a:latin typeface="Latin Modern Math" panose="02000503000000000000" pitchFamily="50" charset="0"/>
                                </a:rPr>
                                <m:t>𝑠</m:t>
                              </m:r>
                            </m:sup>
                            <m:e>
                              <m:d>
                                <m:dPr>
                                  <m:ctrlPr>
                                    <a:rPr lang="en-US" sz="1500" b="0" i="1" smtClean="0">
                                      <a:latin typeface="Latin Modern Math" panose="02000503000000000000" pitchFamily="50" charset="0"/>
                                    </a:rPr>
                                  </m:ctrlPr>
                                </m:dPr>
                                <m:e>
                                  <m:r>
                                    <a:rPr lang="en-US" sz="1500" b="0" i="1" smtClean="0">
                                      <a:latin typeface="Latin Modern Math" panose="02000503000000000000" pitchFamily="50" charset="0"/>
                                    </a:rPr>
                                    <m:t>𝑠</m:t>
                                  </m:r>
                                  <m:r>
                                    <a:rPr lang="en-US" sz="1500" b="0" i="1" smtClean="0">
                                      <a:latin typeface="Latin Modern Math" panose="02000503000000000000" pitchFamily="50" charset="0"/>
                                    </a:rPr>
                                    <m:t>−</m:t>
                                  </m:r>
                                  <m:r>
                                    <a:rPr lang="en-US" sz="1500" b="0" i="1" smtClean="0">
                                      <a:latin typeface="Latin Modern Math" panose="02000503000000000000" pitchFamily="50" charset="0"/>
                                    </a:rPr>
                                    <m:t>𝜉</m:t>
                                  </m:r>
                                </m:e>
                              </m:d>
                            </m:e>
                          </m:nary>
                          <m:sSub>
                            <m:sSubPr>
                              <m:ctrlPr>
                                <a:rPr lang="en-US" sz="1500" b="0" i="1" smtClean="0">
                                  <a:latin typeface="Latin Modern Math" panose="02000503000000000000" pitchFamily="50" charset="0"/>
                                </a:rPr>
                              </m:ctrlPr>
                            </m:sSubPr>
                            <m:e>
                              <m:r>
                                <a:rPr lang="en-US" sz="1500" b="0" i="1" smtClean="0">
                                  <a:latin typeface="Latin Modern Math" panose="02000503000000000000" pitchFamily="50" charset="0"/>
                                </a:rPr>
                                <m:t>𝑢</m:t>
                              </m:r>
                            </m:e>
                            <m:sub>
                              <m:r>
                                <a:rPr lang="en-US" sz="1500" b="0" i="1" smtClean="0">
                                  <a:latin typeface="Latin Modern Math" panose="02000503000000000000" pitchFamily="50" charset="0"/>
                                </a:rPr>
                                <m:t>𝜉𝜉</m:t>
                              </m:r>
                            </m:sub>
                          </m:sSub>
                          <m:d>
                            <m:dPr>
                              <m:ctrlPr>
                                <a:rPr lang="en-US" sz="1500" b="0" i="1" smtClean="0">
                                  <a:latin typeface="Latin Modern Math" panose="02000503000000000000" pitchFamily="50" charset="0"/>
                                </a:rPr>
                              </m:ctrlPr>
                            </m:dPr>
                            <m:e>
                              <m:r>
                                <a:rPr lang="en-US" sz="1500" b="0" i="1" smtClean="0">
                                  <a:latin typeface="Latin Modern Math" panose="02000503000000000000" pitchFamily="50" charset="0"/>
                                </a:rPr>
                                <m:t>𝑡</m:t>
                              </m:r>
                              <m:r>
                                <a:rPr lang="en-US" sz="1500" b="0" i="1" smtClean="0">
                                  <a:latin typeface="Latin Modern Math" panose="02000503000000000000" pitchFamily="50" charset="0"/>
                                </a:rPr>
                                <m:t>,</m:t>
                              </m:r>
                              <m:r>
                                <a:rPr lang="en-US" sz="1500" b="0" i="1" smtClean="0">
                                  <a:latin typeface="Latin Modern Math" panose="02000503000000000000" pitchFamily="50" charset="0"/>
                                </a:rPr>
                                <m:t>𝜉</m:t>
                              </m:r>
                            </m:e>
                          </m:d>
                          <m:r>
                            <a:rPr lang="en-US" sz="1500" b="0" i="1" smtClean="0">
                              <a:latin typeface="Latin Modern Math" panose="02000503000000000000" pitchFamily="50" charset="0"/>
                            </a:rPr>
                            <m:t>𝑑</m:t>
                          </m:r>
                          <m:r>
                            <a:rPr lang="en-US" sz="1500" b="0" i="1" smtClean="0">
                              <a:latin typeface="Latin Modern Math" panose="02000503000000000000" pitchFamily="50" charset="0"/>
                            </a:rPr>
                            <m:t>𝜉</m:t>
                          </m:r>
                        </m:e>
                      </m:eqArr>
                    </m:oMath>
                  </m:oMathPara>
                </a14:m>
                <a:endParaRPr lang="en-NL" sz="1500" dirty="0">
                  <a:latin typeface="Latin Modern Math" panose="02000503000000000000" pitchFamily="50" charset="0"/>
                </a:endParaRPr>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Latin Modern Math" panose="02000503000000000000" pitchFamily="50" charset="0"/>
                            </a:rPr>
                          </m:ctrlPr>
                        </m:sSubPr>
                        <m:e>
                          <m:r>
                            <m:rPr>
                              <m:sty m:val="p"/>
                            </m:rPr>
                            <a:rPr lang="en-US" sz="2100" b="0" i="1" smtClean="0">
                              <a:latin typeface="Latin Modern Math" panose="02000503000000000000" pitchFamily="50" charset="0"/>
                            </a:rPr>
                            <m:t>Π</m:t>
                          </m:r>
                        </m:e>
                        <m:sub>
                          <m:r>
                            <a:rPr lang="en-US" sz="2100" b="0" i="1" smtClean="0">
                              <a:latin typeface="Latin Modern Math" panose="02000503000000000000" pitchFamily="50" charset="0"/>
                            </a:rPr>
                            <m:t>4</m:t>
                          </m:r>
                        </m:sub>
                      </m:sSub>
                    </m:oMath>
                  </m:oMathPara>
                </a14:m>
                <a:endParaRPr lang="en-US" sz="2100" b="0" dirty="0">
                  <a:latin typeface="Latin Modern Math" panose="02000503000000000000" pitchFamily="50" charset="0"/>
                </a:endParaRPr>
              </a:p>
              <a:p>
                <a:pPr algn="ctr">
                  <a:spcAft>
                    <a:spcPts val="0"/>
                  </a:spcAft>
                  <a:defRPr sz="2100" b="0" u="none" cap="none">
                    <a:solidFill>
                      <a:srgbClr val="252529"/>
                    </a:solidFill>
                    <a:latin typeface="Cambria Math"/>
                    <a:ea typeface="Cambria Math"/>
                    <a:cs typeface="Cambria Math"/>
                  </a:defRPr>
                </a:pPr>
                <a:endParaRPr lang="en-NL" sz="2100" dirty="0">
                  <a:latin typeface="Latin Modern Math" panose="02000503000000000000" pitchFamily="50" charset="0"/>
                </a:endParaRPr>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Latin Modern Math" panose="02000503000000000000" pitchFamily="50" charset="0"/>
                            </a:rPr>
                          </m:ctrlPr>
                        </m:sSubPr>
                        <m:e>
                          <m:r>
                            <m:rPr>
                              <m:sty m:val="p"/>
                            </m:rPr>
                            <a:rPr lang="en-US" sz="1300" b="0" i="1" smtClean="0">
                              <a:latin typeface="Latin Modern Math" panose="02000503000000000000" pitchFamily="50" charset="0"/>
                            </a:rPr>
                            <m:t>Π</m:t>
                          </m:r>
                        </m:e>
                        <m:sub>
                          <m:r>
                            <a:rPr lang="en-US" sz="1300" b="0" i="1" smtClean="0">
                              <a:latin typeface="Latin Modern Math" panose="02000503000000000000" pitchFamily="50" charset="0"/>
                            </a:rPr>
                            <m:t>4</m:t>
                          </m:r>
                        </m:sub>
                      </m:sSub>
                    </m:oMath>
                  </m:oMathPara>
                </a14:m>
                <a:endParaRPr lang="en-US" sz="1300" b="0" dirty="0">
                  <a:latin typeface="Latin Modern Math" panose="02000503000000000000" pitchFamily="50" charset="0"/>
                </a:endParaRPr>
              </a:p>
              <a:p>
                <a:pPr algn="ctr">
                  <a:spcAft>
                    <a:spcPts val="0"/>
                  </a:spcAft>
                  <a:defRPr sz="1300" b="0" u="none" cap="none">
                    <a:solidFill>
                      <a:srgbClr val="252529"/>
                    </a:solidFill>
                    <a:latin typeface="Cambria Math"/>
                    <a:ea typeface="Cambria Math"/>
                    <a:cs typeface="Cambria Math"/>
                  </a:defRPr>
                </a:pPr>
                <a:endParaRPr lang="en-NL" sz="1300" dirty="0">
                  <a:latin typeface="Latin Modern Math" panose="02000503000000000000" pitchFamily="50" charset="0"/>
                </a:endParaRPr>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Latin Modern Math" panose="02000503000000000000" pitchFamily="50" charset="0"/>
                            </a:rPr>
                          </m:ctrlPr>
                        </m:sSupPr>
                        <m:e>
                          <m:r>
                            <a:rPr lang="en-US" sz="1600" b="0" i="1" smtClean="0">
                              <a:latin typeface="Latin Modern Math" panose="02000503000000000000" pitchFamily="50" charset="0"/>
                            </a:rPr>
                            <m:t>𝒯</m:t>
                          </m:r>
                        </m:e>
                        <m:sup>
                          <m:r>
                            <a:rPr lang="en-US" sz="1600" b="0" i="1" smtClean="0">
                              <a:latin typeface="Latin Modern Math" panose="02000503000000000000" pitchFamily="50" charset="0"/>
                            </a:rPr>
                            <m:t>∗</m:t>
                          </m:r>
                        </m:sup>
                      </m:sSup>
                      <m:r>
                        <a:rPr lang="en-US" sz="1600" b="0" i="1" smtClean="0">
                          <a:latin typeface="Latin Modern Math" panose="02000503000000000000" pitchFamily="50" charset="0"/>
                        </a:rPr>
                        <m:t>𝒫𝒯</m:t>
                      </m:r>
                    </m:oMath>
                  </m:oMathPara>
                </a14:m>
                <a:endParaRPr lang="en-US" sz="1600" b="0" i="1" dirty="0">
                  <a:latin typeface="Latin Modern Math" panose="02000503000000000000" pitchFamily="50"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Latin Modern Math" panose="02000503000000000000" pitchFamily="50" charset="0"/>
                        </a:rPr>
                        <m:t>  </m:t>
                      </m:r>
                    </m:oMath>
                  </m:oMathPara>
                </a14:m>
                <a:endParaRPr lang="en-NL" sz="1600" dirty="0">
                  <a:latin typeface="Latin Modern Math" panose="02000503000000000000" pitchFamily="50" charset="0"/>
                </a:endParaRPr>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Latin Modern Math" panose="02000503000000000000" pitchFamily="50"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Latin Modern Math" panose="02000503000000000000" pitchFamily="50"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Latin Modern Math" panose="02000503000000000000" pitchFamily="50"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endParaRPr lang="en-NL"/>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172464"/>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Latin Modern Math" panose="02000503000000000000" pitchFamily="50" charset="0"/>
                          </a:rPr>
                          <m:t>𝐾</m:t>
                        </m:r>
                      </m:oMath>
                    </m:oMathPara>
                  </a14:m>
                  <a:endParaRPr sz="2590">
                    <a:latin typeface="Latin Modern Math" panose="02000503000000000000" pitchFamily="50" charset="0"/>
                  </a:endParaRPr>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Latin Modern Math" panose="02000503000000000000" pitchFamily="50" charset="0"/>
                          </a:rPr>
                          <m:t>𝑢</m:t>
                        </m:r>
                      </m:oMath>
                    </m:oMathPara>
                  </a14:m>
                  <a:endParaRPr sz="1998">
                    <a:latin typeface="Latin Modern Math" panose="02000503000000000000" pitchFamily="50" charset="0"/>
                  </a:endParaRPr>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Latin Modern Math" panose="02000503000000000000" pitchFamily="50" charset="0"/>
                          </a:rPr>
                          <m:t>y</m:t>
                        </m:r>
                      </m:oMath>
                    </m:oMathPara>
                  </a14:m>
                  <a:endParaRPr sz="1998" dirty="0">
                    <a:latin typeface="Latin Modern Math" panose="02000503000000000000" pitchFamily="50" charset="0"/>
                  </a:endParaRPr>
                </a:p>
              </p:txBody>
            </p:sp>
          </mc:Choice>
          <mc:Fallback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Latin Modern Math" panose="02000503000000000000" pitchFamily="50" charset="0"/>
                          </a:rPr>
                          <m:t>𝐺</m:t>
                        </m:r>
                      </m:oMath>
                    </m:oMathPara>
                  </a14:m>
                  <a:endParaRPr sz="2590" dirty="0">
                    <a:latin typeface="Latin Modern Math" panose="02000503000000000000" pitchFamily="50" charset="0"/>
                  </a:endParaRPr>
                </a:p>
              </p:txBody>
            </p:sp>
          </mc:Choice>
          <mc:Fallback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30498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12737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Latin Modern Math" panose="02000503000000000000" pitchFamily="50" charset="0"/>
                            </a:rPr>
                          </m:ctrlPr>
                        </m:accPr>
                        <m:e>
                          <m:r>
                            <m:rPr>
                              <m:sty m:val="p"/>
                            </m:rPr>
                            <a:rPr lang="en-US" sz="1998" b="0" i="0" smtClean="0">
                              <a:solidFill>
                                <a:srgbClr val="252529"/>
                              </a:solidFill>
                              <a:latin typeface="Latin Modern Math" panose="02000503000000000000" pitchFamily="50" charset="0"/>
                            </a:rPr>
                            <m:t>y</m:t>
                          </m:r>
                        </m:e>
                      </m:acc>
                    </m:oMath>
                  </m:oMathPara>
                </a14:m>
                <a:endParaRPr sz="1998" dirty="0">
                  <a:latin typeface="Latin Modern Math" panose="02000503000000000000" pitchFamily="50" charset="0"/>
                </a:endParaRPr>
              </a:p>
            </p:txBody>
          </p:sp>
        </mc:Choice>
        <mc:Fallback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127374"/>
                <a:ext cx="422910" cy="380619"/>
              </a:xfrm>
              <a:prstGeom prst="rect">
                <a:avLst/>
              </a:prstGeom>
              <a:blipFill>
                <a:blip r:embed="rId12"/>
                <a:stretch>
                  <a:fillRect r="-47826" b="-11290"/>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6809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5032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Latin Modern Math" panose="02000503000000000000" pitchFamily="50" charset="0"/>
                            </a:rPr>
                          </m:ctrlPr>
                        </m:accPr>
                        <m:e>
                          <m:r>
                            <m:rPr>
                              <m:sty m:val="p"/>
                            </m:rPr>
                            <a:rPr lang="en-US" sz="1998" b="0" i="1" smtClean="0">
                              <a:solidFill>
                                <a:srgbClr val="252529"/>
                              </a:solidFill>
                              <a:latin typeface="Latin Modern Math" panose="02000503000000000000" pitchFamily="50" charset="0"/>
                            </a:rPr>
                            <m:t>u</m:t>
                          </m:r>
                        </m:e>
                      </m:acc>
                    </m:oMath>
                  </m:oMathPara>
                </a14:m>
                <a:endParaRPr sz="1998" dirty="0">
                  <a:latin typeface="Latin Modern Math" panose="02000503000000000000" pitchFamily="50" charset="0"/>
                </a:endParaRPr>
              </a:p>
            </p:txBody>
          </p:sp>
        </mc:Choice>
        <mc:Fallback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503294"/>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03574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28994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Latin Modern Math" panose="02000503000000000000" pitchFamily="50" charset="0"/>
                          <a:ea typeface="Cambria Math" panose="02040503050406030204" pitchFamily="18" charset="0"/>
                        </a:rPr>
                        <m:t>Θ</m:t>
                      </m:r>
                    </m:oMath>
                  </m:oMathPara>
                </a14:m>
                <a:endParaRPr lang="en-NL" sz="2590" dirty="0">
                  <a:latin typeface="Latin Modern Math" panose="02000503000000000000" pitchFamily="50" charset="0"/>
                </a:endParaRPr>
              </a:p>
            </p:txBody>
          </p:sp>
        </mc:Choice>
        <mc:Fallback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289940"/>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666492"/>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sp>
      <p:sp>
        <p:nvSpPr>
          <p:cNvPr id="61" name="Connector: Elbow 60">
            <a:extLst>
              <a:ext uri="{FF2B5EF4-FFF2-40B4-BE49-F238E27FC236}">
                <a16:creationId xmlns:a16="http://schemas.microsoft.com/office/drawing/2014/main" id="{716F66D3-F773-9545-1661-892E4869BCFF}"/>
              </a:ext>
            </a:extLst>
          </p:cNvPr>
          <p:cNvSpPr/>
          <p:nvPr/>
        </p:nvSpPr>
        <p:spPr>
          <a:xfrm>
            <a:off x="1241246" y="2666492"/>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sp>
      <p:sp>
        <p:nvSpPr>
          <p:cNvPr id="200" name="Signal tap 200"/>
          <p:cNvSpPr/>
          <p:nvPr/>
        </p:nvSpPr>
        <p:spPr>
          <a:xfrm>
            <a:off x="2469388" y="2661412"/>
            <a:ext cx="35560" cy="35560"/>
          </a:xfrm>
          <a:prstGeom prst="ellipse">
            <a:avLst/>
          </a:prstGeom>
          <a:solidFill>
            <a:srgbClr val="252529"/>
          </a:solidFill>
          <a:ln>
            <a:noFill/>
          </a:ln>
        </p:spPr>
      </p:sp>
      <p:sp>
        <p:nvSpPr>
          <p:cNvPr id="201" name="Signal tap 201"/>
          <p:cNvSpPr/>
          <p:nvPr/>
        </p:nvSpPr>
        <p:spPr>
          <a:xfrm>
            <a:off x="1236166" y="2661412"/>
            <a:ext cx="35560" cy="35560"/>
          </a:xfrm>
          <a:prstGeom prst="ellipse">
            <a:avLst/>
          </a:prstGeom>
          <a:solidFill>
            <a:srgbClr val="252529"/>
          </a:solidFill>
          <a:ln>
            <a:noFill/>
          </a:ln>
        </p:spPr>
      </p:sp>
    </p:spTree>
    <p:extLst>
      <p:ext uri="{BB962C8B-B14F-4D97-AF65-F5344CB8AC3E}">
        <p14:creationId xmlns:p14="http://schemas.microsoft.com/office/powerpoint/2010/main" val="33793407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35</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Latin Modern Math" panose="02000503000000000000" pitchFamily="50" charset="0"/>
                            </a:rPr>
                          </m:ctrlPr>
                        </m:dPr>
                        <m:e>
                          <m:r>
                            <a:rPr sz="1300">
                              <a:solidFill>
                                <a:srgbClr val="332E29"/>
                              </a:solidFill>
                              <a:latin typeface="Latin Modern Math" panose="02000503000000000000" pitchFamily="50" charset="0"/>
                            </a:rPr>
                            <m:t>𝑡</m:t>
                          </m:r>
                          <m:r>
                            <a:rPr sz="1300">
                              <a:solidFill>
                                <a:srgbClr val="332E29"/>
                              </a:solidFill>
                              <a:latin typeface="Latin Modern Math" panose="02000503000000000000" pitchFamily="50" charset="0"/>
                            </a:rPr>
                            <m:t>,0</m:t>
                          </m:r>
                        </m:e>
                      </m:d>
                      <m:r>
                        <a:rPr sz="1300">
                          <a:solidFill>
                            <a:srgbClr val="332E29"/>
                          </a:solidFill>
                          <a:latin typeface="Latin Modern Math" panose="02000503000000000000" pitchFamily="50" charset="0"/>
                        </a:rPr>
                        <m:t>=0</m:t>
                      </m:r>
                    </m:oMath>
                  </m:oMathPara>
                </a14:m>
                <a:endParaRPr sz="1300">
                  <a:latin typeface="Latin Modern Math" panose="02000503000000000000" pitchFamily="50" charset="0"/>
                </a:endParaRPr>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Latin Modern Math" panose="02000503000000000000" pitchFamily="50" charset="0"/>
                            </a:rPr>
                          </m:ctrlPr>
                        </m:dPr>
                        <m:e>
                          <m:r>
                            <a:rPr sz="1300">
                              <a:solidFill>
                                <a:srgbClr val="332E29"/>
                              </a:solidFill>
                              <a:latin typeface="Latin Modern Math" panose="02000503000000000000" pitchFamily="50" charset="0"/>
                            </a:rPr>
                            <m:t>𝑡</m:t>
                          </m:r>
                          <m:r>
                            <a:rPr sz="1300">
                              <a:solidFill>
                                <a:srgbClr val="332E29"/>
                              </a:solidFill>
                              <a:latin typeface="Latin Modern Math" panose="02000503000000000000" pitchFamily="50" charset="0"/>
                            </a:rPr>
                            <m:t>,1</m:t>
                          </m:r>
                        </m:e>
                      </m:d>
                      <m:r>
                        <a:rPr sz="1300">
                          <a:solidFill>
                            <a:srgbClr val="332E29"/>
                          </a:solidFill>
                          <a:latin typeface="Latin Modern Math" panose="02000503000000000000" pitchFamily="50" charset="0"/>
                        </a:rPr>
                        <m:t>=0</m:t>
                      </m:r>
                    </m:oMath>
                  </m:oMathPara>
                </a14:m>
                <a:endParaRPr sz="1300">
                  <a:latin typeface="Latin Modern Math" panose="02000503000000000000" pitchFamily="50" charset="0"/>
                </a:endParaRPr>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panose="02000503000000000000" pitchFamily="50" charset="0"/>
                        </a:rPr>
                        <m:t>𝑠</m:t>
                      </m:r>
                      <m:r>
                        <a:rPr sz="1700">
                          <a:solidFill>
                            <a:srgbClr val="786D5E"/>
                          </a:solidFill>
                          <a:latin typeface="Latin Modern Math" panose="02000503000000000000" pitchFamily="50" charset="0"/>
                        </a:rPr>
                        <m:t>=0</m:t>
                      </m:r>
                    </m:oMath>
                  </m:oMathPara>
                </a14:m>
                <a:endParaRPr sz="1700">
                  <a:latin typeface="Latin Modern Math" panose="02000503000000000000" pitchFamily="50" charset="0"/>
                </a:endParaRPr>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panose="02000503000000000000" pitchFamily="50" charset="0"/>
                        </a:rPr>
                        <m:t>𝑠</m:t>
                      </m:r>
                    </m:oMath>
                  </m:oMathPara>
                </a14:m>
                <a:endParaRPr sz="1700">
                  <a:latin typeface="Latin Modern Math" panose="02000503000000000000" pitchFamily="50" charset="0"/>
                </a:endParaRPr>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panose="02000503000000000000" pitchFamily="50" charset="0"/>
                        </a:rPr>
                        <m:t>𝑠</m:t>
                      </m:r>
                      <m:r>
                        <a:rPr sz="1700">
                          <a:solidFill>
                            <a:srgbClr val="786D5E"/>
                          </a:solidFill>
                          <a:latin typeface="Latin Modern Math" panose="02000503000000000000" pitchFamily="50" charset="0"/>
                        </a:rPr>
                        <m:t>=1</m:t>
                      </m:r>
                    </m:oMath>
                  </m:oMathPara>
                </a14:m>
                <a:endParaRPr sz="1700">
                  <a:latin typeface="Latin Modern Math" panose="02000503000000000000" pitchFamily="50" charset="0"/>
                </a:endParaRPr>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panose="02000503000000000000" pitchFamily="50" charset="0"/>
                            </a:rPr>
                          </m:ctrlPr>
                        </m:sSubPr>
                        <m:e>
                          <m:r>
                            <a:rPr sz="1700">
                              <a:solidFill>
                                <a:srgbClr val="252529"/>
                              </a:solidFill>
                              <a:latin typeface="Latin Modern Math" panose="02000503000000000000" pitchFamily="50" charset="0"/>
                            </a:rPr>
                            <m:t>𝑣</m:t>
                          </m:r>
                        </m:e>
                        <m:sub>
                          <m:r>
                            <a:rPr sz="1700">
                              <a:solidFill>
                                <a:srgbClr val="252529"/>
                              </a:solidFill>
                              <a:latin typeface="Latin Modern Math" panose="02000503000000000000" pitchFamily="50" charset="0"/>
                            </a:rPr>
                            <m:t>1</m:t>
                          </m:r>
                        </m:sub>
                      </m:sSub>
                    </m:oMath>
                  </m:oMathPara>
                </a14:m>
                <a:endParaRPr sz="1700">
                  <a:latin typeface="Latin Modern Math" panose="02000503000000000000" pitchFamily="50" charset="0"/>
                </a:endParaRPr>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panose="02000503000000000000" pitchFamily="50" charset="0"/>
                            </a:rPr>
                          </m:ctrlPr>
                        </m:sSubPr>
                        <m:e>
                          <m:r>
                            <a:rPr sz="1700">
                              <a:solidFill>
                                <a:srgbClr val="252529"/>
                              </a:solidFill>
                              <a:latin typeface="Latin Modern Math" panose="02000503000000000000" pitchFamily="50" charset="0"/>
                            </a:rPr>
                            <m:t>𝑣</m:t>
                          </m:r>
                        </m:e>
                        <m:sub>
                          <m:r>
                            <a:rPr sz="1700">
                              <a:solidFill>
                                <a:srgbClr val="252529"/>
                              </a:solidFill>
                              <a:latin typeface="Latin Modern Math" panose="02000503000000000000" pitchFamily="50" charset="0"/>
                            </a:rPr>
                            <m:t>2</m:t>
                          </m:r>
                        </m:sub>
                      </m:sSub>
                    </m:oMath>
                  </m:oMathPara>
                </a14:m>
                <a:endParaRPr sz="1700">
                  <a:latin typeface="Latin Modern Math" panose="02000503000000000000" pitchFamily="50" charset="0"/>
                </a:endParaRPr>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Latin Modern Math" panose="02000503000000000000" pitchFamily="50" charset="0"/>
                            </a:rPr>
                          </m:ctrlPr>
                        </m:dPr>
                        <m:e>
                          <m:r>
                            <a:rPr sz="1300">
                              <a:solidFill>
                                <a:srgbClr val="332E29"/>
                              </a:solidFill>
                              <a:latin typeface="Latin Modern Math" panose="02000503000000000000" pitchFamily="50" charset="0"/>
                            </a:rPr>
                            <m:t>𝑡</m:t>
                          </m:r>
                          <m:r>
                            <a:rPr sz="1300">
                              <a:solidFill>
                                <a:srgbClr val="332E29"/>
                              </a:solidFill>
                              <a:latin typeface="Latin Modern Math" panose="02000503000000000000" pitchFamily="50" charset="0"/>
                            </a:rPr>
                            <m:t>,0</m:t>
                          </m:r>
                        </m:e>
                      </m:d>
                      <m:r>
                        <a:rPr sz="1300">
                          <a:solidFill>
                            <a:srgbClr val="332E29"/>
                          </a:solidFill>
                          <a:latin typeface="Latin Modern Math" panose="02000503000000000000" pitchFamily="50" charset="0"/>
                        </a:rPr>
                        <m:t>=0</m:t>
                      </m:r>
                    </m:oMath>
                  </m:oMathPara>
                </a14:m>
                <a:endParaRPr sz="1300">
                  <a:latin typeface="Latin Modern Math" panose="02000503000000000000" pitchFamily="50" charset="0"/>
                </a:endParaRPr>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Latin Modern Math" panose="02000503000000000000" pitchFamily="50" charset="0"/>
                            </a:rPr>
                          </m:ctrlPr>
                        </m:dPr>
                        <m:e>
                          <m:r>
                            <a:rPr sz="1300">
                              <a:solidFill>
                                <a:srgbClr val="332E29"/>
                              </a:solidFill>
                              <a:latin typeface="Latin Modern Math" panose="02000503000000000000" pitchFamily="50" charset="0"/>
                            </a:rPr>
                            <m:t>𝑡</m:t>
                          </m:r>
                          <m:r>
                            <a:rPr sz="1300">
                              <a:solidFill>
                                <a:srgbClr val="332E29"/>
                              </a:solidFill>
                              <a:latin typeface="Latin Modern Math" panose="02000503000000000000" pitchFamily="50" charset="0"/>
                            </a:rPr>
                            <m:t>,1</m:t>
                          </m:r>
                        </m:e>
                      </m:d>
                      <m:r>
                        <a:rPr sz="1300">
                          <a:solidFill>
                            <a:srgbClr val="332E29"/>
                          </a:solidFill>
                          <a:latin typeface="Latin Modern Math" panose="02000503000000000000" pitchFamily="50" charset="0"/>
                        </a:rPr>
                        <m:t>=0</m:t>
                      </m:r>
                    </m:oMath>
                  </m:oMathPara>
                </a14:m>
                <a:endParaRPr sz="1300">
                  <a:latin typeface="Latin Modern Math" panose="02000503000000000000" pitchFamily="50" charset="0"/>
                </a:endParaRPr>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panose="02000503000000000000" pitchFamily="50" charset="0"/>
                        </a:rPr>
                        <m:t>𝑠</m:t>
                      </m:r>
                      <m:r>
                        <a:rPr sz="1700">
                          <a:solidFill>
                            <a:srgbClr val="786D5E"/>
                          </a:solidFill>
                          <a:latin typeface="Latin Modern Math" panose="02000503000000000000" pitchFamily="50" charset="0"/>
                        </a:rPr>
                        <m:t>=0</m:t>
                      </m:r>
                    </m:oMath>
                  </m:oMathPara>
                </a14:m>
                <a:endParaRPr sz="1700">
                  <a:latin typeface="Latin Modern Math" panose="02000503000000000000" pitchFamily="50" charset="0"/>
                </a:endParaRPr>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panose="02000503000000000000" pitchFamily="50" charset="0"/>
                        </a:rPr>
                        <m:t>𝑠</m:t>
                      </m:r>
                    </m:oMath>
                  </m:oMathPara>
                </a14:m>
                <a:endParaRPr sz="1700">
                  <a:latin typeface="Latin Modern Math" panose="02000503000000000000" pitchFamily="50" charset="0"/>
                </a:endParaRPr>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panose="02000503000000000000" pitchFamily="50" charset="0"/>
                        </a:rPr>
                        <m:t>𝑠</m:t>
                      </m:r>
                      <m:r>
                        <a:rPr sz="1700">
                          <a:solidFill>
                            <a:srgbClr val="786D5E"/>
                          </a:solidFill>
                          <a:latin typeface="Latin Modern Math" panose="02000503000000000000" pitchFamily="50" charset="0"/>
                        </a:rPr>
                        <m:t>=1</m:t>
                      </m:r>
                    </m:oMath>
                  </m:oMathPara>
                </a14:m>
                <a:endParaRPr sz="1700">
                  <a:latin typeface="Latin Modern Math" panose="02000503000000000000" pitchFamily="50" charset="0"/>
                </a:endParaRPr>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panose="02000503000000000000" pitchFamily="50" charset="0"/>
                            </a:rPr>
                          </m:ctrlPr>
                        </m:sSubPr>
                        <m:e>
                          <m:r>
                            <a:rPr sz="1700">
                              <a:solidFill>
                                <a:srgbClr val="252529"/>
                              </a:solidFill>
                              <a:latin typeface="Latin Modern Math" panose="02000503000000000000" pitchFamily="50" charset="0"/>
                            </a:rPr>
                            <m:t>𝑣</m:t>
                          </m:r>
                        </m:e>
                        <m:sub>
                          <m:r>
                            <a:rPr sz="1700">
                              <a:solidFill>
                                <a:srgbClr val="252529"/>
                              </a:solidFill>
                              <a:latin typeface="Latin Modern Math" panose="02000503000000000000" pitchFamily="50" charset="0"/>
                            </a:rPr>
                            <m:t>1</m:t>
                          </m:r>
                        </m:sub>
                      </m:sSub>
                    </m:oMath>
                  </m:oMathPara>
                </a14:m>
                <a:endParaRPr sz="1700">
                  <a:latin typeface="Latin Modern Math" panose="02000503000000000000" pitchFamily="50" charset="0"/>
                </a:endParaRPr>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panose="02000503000000000000" pitchFamily="50" charset="0"/>
                            </a:rPr>
                          </m:ctrlPr>
                        </m:sSubPr>
                        <m:e>
                          <m:r>
                            <a:rPr sz="1700">
                              <a:solidFill>
                                <a:srgbClr val="252529"/>
                              </a:solidFill>
                              <a:latin typeface="Latin Modern Math" panose="02000503000000000000" pitchFamily="50" charset="0"/>
                            </a:rPr>
                            <m:t>𝑣</m:t>
                          </m:r>
                        </m:e>
                        <m:sub>
                          <m:r>
                            <a:rPr sz="1700">
                              <a:solidFill>
                                <a:srgbClr val="252529"/>
                              </a:solidFill>
                              <a:latin typeface="Latin Modern Math" panose="02000503000000000000" pitchFamily="50" charset="0"/>
                            </a:rPr>
                            <m:t>2</m:t>
                          </m:r>
                        </m:sub>
                      </m:sSub>
                    </m:oMath>
                  </m:oMathPara>
                </a14:m>
                <a:endParaRPr sz="1700">
                  <a:latin typeface="Latin Modern Math" panose="02000503000000000000" pitchFamily="50" charset="0"/>
                </a:endParaRPr>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Latin Modern Math" panose="02000503000000000000" pitchFamily="50" charset="0"/>
                            </a:rPr>
                          </m:ctrlPr>
                        </m:dPr>
                        <m:e>
                          <m:r>
                            <a:rPr sz="1700">
                              <a:solidFill>
                                <a:srgbClr val="252529"/>
                              </a:solidFill>
                              <a:latin typeface="Latin Modern Math" panose="02000503000000000000" pitchFamily="50" charset="0"/>
                            </a:rPr>
                            <m:t>𝑡</m:t>
                          </m:r>
                        </m:e>
                      </m:d>
                    </m:oMath>
                  </m:oMathPara>
                </a14:m>
                <a:endParaRPr sz="1700">
                  <a:latin typeface="Latin Modern Math" panose="02000503000000000000" pitchFamily="50" charset="0"/>
                </a:endParaRPr>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Latin Modern Math" panose="02000503000000000000" pitchFamily="50" charset="0"/>
                            </a:rPr>
                          </m:ctrlPr>
                        </m:dPr>
                        <m:e>
                          <m:r>
                            <a:rPr sz="1700">
                              <a:solidFill>
                                <a:srgbClr val="252529"/>
                              </a:solidFill>
                              <a:latin typeface="Latin Modern Math" panose="02000503000000000000" pitchFamily="50" charset="0"/>
                            </a:rPr>
                            <m:t>𝑡</m:t>
                          </m:r>
                          <m:r>
                            <a:rPr sz="1700">
                              <a:solidFill>
                                <a:srgbClr val="252529"/>
                              </a:solidFill>
                              <a:latin typeface="Latin Modern Math" panose="02000503000000000000" pitchFamily="50" charset="0"/>
                            </a:rPr>
                            <m:t>,</m:t>
                          </m:r>
                          <m:r>
                            <a:rPr sz="1700">
                              <a:solidFill>
                                <a:srgbClr val="252529"/>
                              </a:solidFill>
                              <a:latin typeface="Latin Modern Math" panose="02000503000000000000" pitchFamily="50" charset="0"/>
                            </a:rPr>
                            <m:t>𝑠</m:t>
                          </m:r>
                        </m:e>
                      </m:d>
                    </m:oMath>
                  </m:oMathPara>
                </a14:m>
                <a:endParaRPr sz="1700">
                  <a:latin typeface="Latin Modern Math" panose="02000503000000000000" pitchFamily="50" charset="0"/>
                </a:endParaRPr>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Latin Modern Math" panose="02000503000000000000" pitchFamily="50" charset="0"/>
                            </a:rPr>
                          </m:ctrlPr>
                        </m:dPr>
                        <m:e>
                          <m:r>
                            <a:rPr sz="1700">
                              <a:solidFill>
                                <a:srgbClr val="252529"/>
                              </a:solidFill>
                              <a:latin typeface="Latin Modern Math" panose="02000503000000000000" pitchFamily="50" charset="0"/>
                            </a:rPr>
                            <m:t>𝑡</m:t>
                          </m:r>
                        </m:e>
                      </m:d>
                    </m:oMath>
                  </m:oMathPara>
                </a14:m>
                <a:endParaRPr sz="1700">
                  <a:latin typeface="Latin Modern Math" panose="02000503000000000000" pitchFamily="50" charset="0"/>
                </a:endParaRPr>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Latin Modern Math" panose="02000503000000000000" pitchFamily="50" charset="0"/>
                            </a:rPr>
                          </m:ctrlPr>
                        </m:dPr>
                        <m:e>
                          <m:r>
                            <a:rPr sz="1300">
                              <a:solidFill>
                                <a:srgbClr val="332E29"/>
                              </a:solidFill>
                              <a:latin typeface="Latin Modern Math" panose="02000503000000000000" pitchFamily="50" charset="0"/>
                            </a:rPr>
                            <m:t>𝑡</m:t>
                          </m:r>
                          <m:r>
                            <a:rPr sz="1300">
                              <a:solidFill>
                                <a:srgbClr val="332E29"/>
                              </a:solidFill>
                              <a:latin typeface="Latin Modern Math" panose="02000503000000000000" pitchFamily="50" charset="0"/>
                            </a:rPr>
                            <m:t>,0</m:t>
                          </m:r>
                        </m:e>
                      </m:d>
                      <m:r>
                        <a:rPr sz="1300">
                          <a:solidFill>
                            <a:srgbClr val="332E29"/>
                          </a:solidFill>
                          <a:latin typeface="Latin Modern Math" panose="02000503000000000000" pitchFamily="50" charset="0"/>
                        </a:rPr>
                        <m:t>=0</m:t>
                      </m:r>
                    </m:oMath>
                  </m:oMathPara>
                </a14:m>
                <a:endParaRPr sz="1300">
                  <a:latin typeface="Latin Modern Math" panose="02000503000000000000" pitchFamily="50" charset="0"/>
                </a:endParaRPr>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Latin Modern Math" panose="02000503000000000000" pitchFamily="50" charset="0"/>
                            </a:rPr>
                          </m:ctrlPr>
                        </m:dPr>
                        <m:e>
                          <m:r>
                            <a:rPr sz="1300">
                              <a:solidFill>
                                <a:srgbClr val="332E29"/>
                              </a:solidFill>
                              <a:latin typeface="Latin Modern Math" panose="02000503000000000000" pitchFamily="50" charset="0"/>
                            </a:rPr>
                            <m:t>𝑡</m:t>
                          </m:r>
                          <m:r>
                            <a:rPr sz="1300">
                              <a:solidFill>
                                <a:srgbClr val="332E29"/>
                              </a:solidFill>
                              <a:latin typeface="Latin Modern Math" panose="02000503000000000000" pitchFamily="50" charset="0"/>
                            </a:rPr>
                            <m:t>,1</m:t>
                          </m:r>
                        </m:e>
                      </m:d>
                      <m:r>
                        <a:rPr sz="1300">
                          <a:solidFill>
                            <a:srgbClr val="332E29"/>
                          </a:solidFill>
                          <a:latin typeface="Latin Modern Math" panose="02000503000000000000" pitchFamily="50" charset="0"/>
                        </a:rPr>
                        <m:t>=0</m:t>
                      </m:r>
                    </m:oMath>
                  </m:oMathPara>
                </a14:m>
                <a:endParaRPr sz="1300">
                  <a:latin typeface="Latin Modern Math" panose="02000503000000000000" pitchFamily="50" charset="0"/>
                </a:endParaRPr>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panose="02000503000000000000" pitchFamily="50" charset="0"/>
                        </a:rPr>
                        <m:t>𝑠</m:t>
                      </m:r>
                      <m:r>
                        <a:rPr sz="1700">
                          <a:solidFill>
                            <a:srgbClr val="786D5E"/>
                          </a:solidFill>
                          <a:latin typeface="Latin Modern Math" panose="02000503000000000000" pitchFamily="50" charset="0"/>
                        </a:rPr>
                        <m:t>=0</m:t>
                      </m:r>
                    </m:oMath>
                  </m:oMathPara>
                </a14:m>
                <a:endParaRPr sz="1700">
                  <a:latin typeface="Latin Modern Math" panose="02000503000000000000" pitchFamily="50" charset="0"/>
                </a:endParaRPr>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panose="02000503000000000000" pitchFamily="50" charset="0"/>
                        </a:rPr>
                        <m:t>𝑠</m:t>
                      </m:r>
                    </m:oMath>
                  </m:oMathPara>
                </a14:m>
                <a:endParaRPr sz="1700">
                  <a:latin typeface="Latin Modern Math" panose="02000503000000000000" pitchFamily="50" charset="0"/>
                </a:endParaRPr>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panose="02000503000000000000" pitchFamily="50" charset="0"/>
                        </a:rPr>
                        <m:t>𝑠</m:t>
                      </m:r>
                      <m:r>
                        <a:rPr sz="1700">
                          <a:solidFill>
                            <a:srgbClr val="786D5E"/>
                          </a:solidFill>
                          <a:latin typeface="Latin Modern Math" panose="02000503000000000000" pitchFamily="50" charset="0"/>
                        </a:rPr>
                        <m:t>=1</m:t>
                      </m:r>
                    </m:oMath>
                  </m:oMathPara>
                </a14:m>
                <a:endParaRPr sz="1700">
                  <a:latin typeface="Latin Modern Math" panose="02000503000000000000" pitchFamily="50" charset="0"/>
                </a:endParaRPr>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panose="02000503000000000000" pitchFamily="50" charset="0"/>
                            </a:rPr>
                          </m:ctrlPr>
                        </m:sSubPr>
                        <m:e>
                          <m:r>
                            <a:rPr sz="1700">
                              <a:solidFill>
                                <a:srgbClr val="252529"/>
                              </a:solidFill>
                              <a:latin typeface="Latin Modern Math" panose="02000503000000000000" pitchFamily="50" charset="0"/>
                            </a:rPr>
                            <m:t>𝑣</m:t>
                          </m:r>
                        </m:e>
                        <m:sub>
                          <m:r>
                            <a:rPr sz="1700">
                              <a:solidFill>
                                <a:srgbClr val="252529"/>
                              </a:solidFill>
                              <a:latin typeface="Latin Modern Math" panose="02000503000000000000" pitchFamily="50" charset="0"/>
                            </a:rPr>
                            <m:t>1</m:t>
                          </m:r>
                        </m:sub>
                      </m:sSub>
                    </m:oMath>
                  </m:oMathPara>
                </a14:m>
                <a:endParaRPr sz="1700">
                  <a:latin typeface="Latin Modern Math" panose="02000503000000000000" pitchFamily="50" charset="0"/>
                </a:endParaRPr>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panose="02000503000000000000" pitchFamily="50" charset="0"/>
                            </a:rPr>
                          </m:ctrlPr>
                        </m:sSubPr>
                        <m:e>
                          <m:r>
                            <a:rPr sz="1700">
                              <a:solidFill>
                                <a:srgbClr val="252529"/>
                              </a:solidFill>
                              <a:latin typeface="Latin Modern Math" panose="02000503000000000000" pitchFamily="50" charset="0"/>
                            </a:rPr>
                            <m:t>𝑣</m:t>
                          </m:r>
                        </m:e>
                        <m:sub>
                          <m:r>
                            <a:rPr sz="1700">
                              <a:solidFill>
                                <a:srgbClr val="252529"/>
                              </a:solidFill>
                              <a:latin typeface="Latin Modern Math" panose="02000503000000000000" pitchFamily="50" charset="0"/>
                            </a:rPr>
                            <m:t>2</m:t>
                          </m:r>
                        </m:sub>
                      </m:sSub>
                    </m:oMath>
                  </m:oMathPara>
                </a14:m>
                <a:endParaRPr sz="1700">
                  <a:latin typeface="Latin Modern Math" panose="02000503000000000000" pitchFamily="50" charset="0"/>
                </a:endParaRPr>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Latin Modern Math" panose="02000503000000000000" pitchFamily="50" charset="0"/>
                            </a:rPr>
                          </m:ctrlPr>
                        </m:dPr>
                        <m:e>
                          <m:r>
                            <a:rPr sz="2400">
                              <a:solidFill>
                                <a:srgbClr val="D61016"/>
                              </a:solidFill>
                              <a:latin typeface="Latin Modern Math" panose="02000503000000000000" pitchFamily="50" charset="0"/>
                            </a:rPr>
                            <m:t>𝛿</m:t>
                          </m:r>
                        </m:e>
                      </m:d>
                      <m:r>
                        <a:rPr sz="2400">
                          <a:solidFill>
                            <a:srgbClr val="252529"/>
                          </a:solidFill>
                          <a:latin typeface="Latin Modern Math" panose="02000503000000000000" pitchFamily="50" charset="0"/>
                        </a:rPr>
                        <m:t>≤</m:t>
                      </m:r>
                      <m:r>
                        <a:rPr sz="2400">
                          <a:solidFill>
                            <a:srgbClr val="252529"/>
                          </a:solidFill>
                          <a:latin typeface="Latin Modern Math" panose="02000503000000000000" pitchFamily="50" charset="0"/>
                        </a:rPr>
                        <m:t>𝛼</m:t>
                      </m:r>
                    </m:oMath>
                  </m:oMathPara>
                </a14:m>
                <a:endParaRPr sz="2400" dirty="0">
                  <a:latin typeface="Latin Modern Math" panose="02000503000000000000" pitchFamily="50" charset="0"/>
                </a:endParaRPr>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Latin Modern Math" panose="02000503000000000000" pitchFamily="50" charset="0"/>
                            </a:rPr>
                          </m:ctrlPr>
                        </m:dPr>
                        <m:e>
                          <m:r>
                            <a:rPr sz="1700">
                              <a:solidFill>
                                <a:srgbClr val="252529"/>
                              </a:solidFill>
                              <a:latin typeface="Latin Modern Math" panose="02000503000000000000" pitchFamily="50" charset="0"/>
                            </a:rPr>
                            <m:t>𝑡</m:t>
                          </m:r>
                        </m:e>
                      </m:d>
                    </m:oMath>
                  </m:oMathPara>
                </a14:m>
                <a:endParaRPr sz="1700" dirty="0">
                  <a:latin typeface="Latin Modern Math" panose="02000503000000000000" pitchFamily="50" charset="0"/>
                </a:endParaRPr>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Latin Modern Math" panose="02000503000000000000" pitchFamily="50" charset="0"/>
                            </a:rPr>
                          </m:ctrlPr>
                        </m:dPr>
                        <m:e>
                          <m:r>
                            <a:rPr sz="1700">
                              <a:solidFill>
                                <a:srgbClr val="252529"/>
                              </a:solidFill>
                              <a:latin typeface="Latin Modern Math" panose="02000503000000000000" pitchFamily="50" charset="0"/>
                            </a:rPr>
                            <m:t>𝑡</m:t>
                          </m:r>
                          <m:r>
                            <a:rPr sz="1700">
                              <a:solidFill>
                                <a:srgbClr val="252529"/>
                              </a:solidFill>
                              <a:latin typeface="Latin Modern Math" panose="02000503000000000000" pitchFamily="50" charset="0"/>
                            </a:rPr>
                            <m:t>,</m:t>
                          </m:r>
                          <m:r>
                            <a:rPr sz="1700">
                              <a:solidFill>
                                <a:srgbClr val="252529"/>
                              </a:solidFill>
                              <a:latin typeface="Latin Modern Math" panose="02000503000000000000" pitchFamily="50" charset="0"/>
                            </a:rPr>
                            <m:t>𝑠</m:t>
                          </m:r>
                        </m:e>
                      </m:d>
                    </m:oMath>
                  </m:oMathPara>
                </a14:m>
                <a:endParaRPr sz="1700">
                  <a:latin typeface="Latin Modern Math" panose="02000503000000000000" pitchFamily="50" charset="0"/>
                </a:endParaRPr>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Latin Modern Math" panose="02000503000000000000" pitchFamily="50" charset="0"/>
                            </a:rPr>
                          </m:ctrlPr>
                        </m:dPr>
                        <m:e>
                          <m:r>
                            <a:rPr sz="1700">
                              <a:solidFill>
                                <a:srgbClr val="252529"/>
                              </a:solidFill>
                              <a:latin typeface="Latin Modern Math" panose="02000503000000000000" pitchFamily="50" charset="0"/>
                            </a:rPr>
                            <m:t>𝑡</m:t>
                          </m:r>
                        </m:e>
                      </m:d>
                    </m:oMath>
                  </m:oMathPara>
                </a14:m>
                <a:endParaRPr sz="1700">
                  <a:latin typeface="Latin Modern Math" panose="02000503000000000000" pitchFamily="50" charset="0"/>
                </a:endParaRPr>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Latin Modern Math" panose="02000503000000000000" pitchFamily="50" charset="0"/>
                            </a:rPr>
                          </m:ctrlPr>
                        </m:dPr>
                        <m:e>
                          <m:r>
                            <a:rPr sz="1300">
                              <a:solidFill>
                                <a:srgbClr val="332E29"/>
                              </a:solidFill>
                              <a:latin typeface="Latin Modern Math" panose="02000503000000000000" pitchFamily="50" charset="0"/>
                            </a:rPr>
                            <m:t>𝑡</m:t>
                          </m:r>
                          <m:r>
                            <a:rPr sz="1300">
                              <a:solidFill>
                                <a:srgbClr val="332E29"/>
                              </a:solidFill>
                              <a:latin typeface="Latin Modern Math" panose="02000503000000000000" pitchFamily="50" charset="0"/>
                            </a:rPr>
                            <m:t>,0</m:t>
                          </m:r>
                        </m:e>
                      </m:d>
                      <m:r>
                        <a:rPr sz="1300">
                          <a:solidFill>
                            <a:srgbClr val="332E29"/>
                          </a:solidFill>
                          <a:latin typeface="Latin Modern Math" panose="02000503000000000000" pitchFamily="50" charset="0"/>
                        </a:rPr>
                        <m:t>=0</m:t>
                      </m:r>
                    </m:oMath>
                  </m:oMathPara>
                </a14:m>
                <a:endParaRPr sz="1300">
                  <a:latin typeface="Latin Modern Math" panose="02000503000000000000" pitchFamily="50" charset="0"/>
                </a:endParaRPr>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Latin Modern Math" panose="02000503000000000000" pitchFamily="50" charset="0"/>
                            </a:rPr>
                          </m:ctrlPr>
                        </m:dPr>
                        <m:e>
                          <m:r>
                            <a:rPr sz="1300">
                              <a:solidFill>
                                <a:srgbClr val="332E29"/>
                              </a:solidFill>
                              <a:latin typeface="Latin Modern Math" panose="02000503000000000000" pitchFamily="50" charset="0"/>
                            </a:rPr>
                            <m:t>𝑡</m:t>
                          </m:r>
                          <m:r>
                            <a:rPr sz="1300">
                              <a:solidFill>
                                <a:srgbClr val="332E29"/>
                              </a:solidFill>
                              <a:latin typeface="Latin Modern Math" panose="02000503000000000000" pitchFamily="50" charset="0"/>
                            </a:rPr>
                            <m:t>,1</m:t>
                          </m:r>
                        </m:e>
                      </m:d>
                      <m:r>
                        <a:rPr sz="1300">
                          <a:solidFill>
                            <a:srgbClr val="332E29"/>
                          </a:solidFill>
                          <a:latin typeface="Latin Modern Math" panose="02000503000000000000" pitchFamily="50" charset="0"/>
                        </a:rPr>
                        <m:t>=0</m:t>
                      </m:r>
                    </m:oMath>
                  </m:oMathPara>
                </a14:m>
                <a:endParaRPr sz="1300">
                  <a:latin typeface="Latin Modern Math" panose="02000503000000000000" pitchFamily="50" charset="0"/>
                </a:endParaRPr>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panose="02000503000000000000" pitchFamily="50" charset="0"/>
                        </a:rPr>
                        <m:t>𝑠</m:t>
                      </m:r>
                      <m:r>
                        <a:rPr sz="1700">
                          <a:solidFill>
                            <a:srgbClr val="786D5E"/>
                          </a:solidFill>
                          <a:latin typeface="Latin Modern Math" panose="02000503000000000000" pitchFamily="50" charset="0"/>
                        </a:rPr>
                        <m:t>=0</m:t>
                      </m:r>
                    </m:oMath>
                  </m:oMathPara>
                </a14:m>
                <a:endParaRPr sz="1700">
                  <a:latin typeface="Latin Modern Math" panose="02000503000000000000" pitchFamily="50" charset="0"/>
                </a:endParaRPr>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panose="02000503000000000000" pitchFamily="50" charset="0"/>
                        </a:rPr>
                        <m:t>𝑠</m:t>
                      </m:r>
                    </m:oMath>
                  </m:oMathPara>
                </a14:m>
                <a:endParaRPr sz="1700">
                  <a:latin typeface="Latin Modern Math" panose="02000503000000000000" pitchFamily="50" charset="0"/>
                </a:endParaRPr>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panose="02000503000000000000" pitchFamily="50" charset="0"/>
                        </a:rPr>
                        <m:t>𝑠</m:t>
                      </m:r>
                      <m:r>
                        <a:rPr sz="1700">
                          <a:solidFill>
                            <a:srgbClr val="786D5E"/>
                          </a:solidFill>
                          <a:latin typeface="Latin Modern Math" panose="02000503000000000000" pitchFamily="50" charset="0"/>
                        </a:rPr>
                        <m:t>=1</m:t>
                      </m:r>
                    </m:oMath>
                  </m:oMathPara>
                </a14:m>
                <a:endParaRPr sz="1700">
                  <a:latin typeface="Latin Modern Math" panose="02000503000000000000" pitchFamily="50" charset="0"/>
                </a:endParaRPr>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panose="02000503000000000000" pitchFamily="50" charset="0"/>
                            </a:rPr>
                          </m:ctrlPr>
                        </m:sSubPr>
                        <m:e>
                          <m:r>
                            <a:rPr sz="1700">
                              <a:solidFill>
                                <a:srgbClr val="252529"/>
                              </a:solidFill>
                              <a:latin typeface="Latin Modern Math" panose="02000503000000000000" pitchFamily="50" charset="0"/>
                            </a:rPr>
                            <m:t>𝑣</m:t>
                          </m:r>
                        </m:e>
                        <m:sub>
                          <m:r>
                            <a:rPr sz="1700">
                              <a:solidFill>
                                <a:srgbClr val="252529"/>
                              </a:solidFill>
                              <a:latin typeface="Latin Modern Math" panose="02000503000000000000" pitchFamily="50" charset="0"/>
                            </a:rPr>
                            <m:t>1</m:t>
                          </m:r>
                        </m:sub>
                      </m:sSub>
                    </m:oMath>
                  </m:oMathPara>
                </a14:m>
                <a:endParaRPr sz="1700">
                  <a:latin typeface="Latin Modern Math" panose="02000503000000000000" pitchFamily="50" charset="0"/>
                </a:endParaRPr>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panose="02000503000000000000" pitchFamily="50" charset="0"/>
                            </a:rPr>
                          </m:ctrlPr>
                        </m:sSubPr>
                        <m:e>
                          <m:r>
                            <a:rPr sz="1700">
                              <a:solidFill>
                                <a:srgbClr val="252529"/>
                              </a:solidFill>
                              <a:latin typeface="Latin Modern Math" panose="02000503000000000000" pitchFamily="50" charset="0"/>
                            </a:rPr>
                            <m:t>𝑣</m:t>
                          </m:r>
                        </m:e>
                        <m:sub>
                          <m:r>
                            <a:rPr sz="1700">
                              <a:solidFill>
                                <a:srgbClr val="252529"/>
                              </a:solidFill>
                              <a:latin typeface="Latin Modern Math" panose="02000503000000000000" pitchFamily="50" charset="0"/>
                            </a:rPr>
                            <m:t>2</m:t>
                          </m:r>
                        </m:sub>
                      </m:sSub>
                    </m:oMath>
                  </m:oMathPara>
                </a14:m>
                <a:endParaRPr sz="1700">
                  <a:latin typeface="Latin Modern Math" panose="02000503000000000000" pitchFamily="50" charset="0"/>
                </a:endParaRPr>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Latin Modern Math" panose="02000503000000000000" pitchFamily="50" charset="0"/>
                            </a:rPr>
                          </m:ctrlPr>
                        </m:dPr>
                        <m:e>
                          <m:r>
                            <a:rPr sz="1400">
                              <a:solidFill>
                                <a:srgbClr val="D61016"/>
                              </a:solidFill>
                              <a:latin typeface="Latin Modern Math" panose="02000503000000000000" pitchFamily="50" charset="0"/>
                            </a:rPr>
                            <m:t>𝛿</m:t>
                          </m:r>
                        </m:e>
                      </m:d>
                      <m:r>
                        <a:rPr sz="1400">
                          <a:solidFill>
                            <a:srgbClr val="252529"/>
                          </a:solidFill>
                          <a:latin typeface="Latin Modern Math" panose="02000503000000000000" pitchFamily="50" charset="0"/>
                        </a:rPr>
                        <m:t>≤</m:t>
                      </m:r>
                      <m:r>
                        <a:rPr sz="1400">
                          <a:solidFill>
                            <a:srgbClr val="252529"/>
                          </a:solidFill>
                          <a:latin typeface="Latin Modern Math" panose="02000503000000000000" pitchFamily="50" charset="0"/>
                        </a:rPr>
                        <m:t>𝛼</m:t>
                      </m:r>
                    </m:oMath>
                  </m:oMathPara>
                </a14:m>
                <a:endParaRPr sz="1400">
                  <a:latin typeface="Latin Modern Math" panose="02000503000000000000" pitchFamily="50" charset="0"/>
                </a:endParaRPr>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Latin Modern Math" panose="02000503000000000000" pitchFamily="50" charset="0"/>
                            </a:rPr>
                          </m:ctrlPr>
                        </m:dPr>
                        <m:e>
                          <m:r>
                            <a:rPr sz="1700">
                              <a:solidFill>
                                <a:srgbClr val="252529"/>
                              </a:solidFill>
                              <a:latin typeface="Latin Modern Math" panose="02000503000000000000" pitchFamily="50" charset="0"/>
                            </a:rPr>
                            <m:t>𝑡</m:t>
                          </m:r>
                        </m:e>
                      </m:d>
                    </m:oMath>
                  </m:oMathPara>
                </a14:m>
                <a:endParaRPr sz="1700">
                  <a:latin typeface="Latin Modern Math" panose="02000503000000000000" pitchFamily="50" charset="0"/>
                </a:endParaRPr>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Latin Modern Math" panose="02000503000000000000" pitchFamily="50" charset="0"/>
                            </a:rPr>
                          </m:ctrlPr>
                        </m:dPr>
                        <m:e>
                          <m:r>
                            <a:rPr sz="1700">
                              <a:solidFill>
                                <a:srgbClr val="252529"/>
                              </a:solidFill>
                              <a:latin typeface="Latin Modern Math" panose="02000503000000000000" pitchFamily="50" charset="0"/>
                            </a:rPr>
                            <m:t>𝑡</m:t>
                          </m:r>
                          <m:r>
                            <a:rPr sz="1700">
                              <a:solidFill>
                                <a:srgbClr val="252529"/>
                              </a:solidFill>
                              <a:latin typeface="Latin Modern Math" panose="02000503000000000000" pitchFamily="50" charset="0"/>
                            </a:rPr>
                            <m:t>,</m:t>
                          </m:r>
                          <m:r>
                            <a:rPr sz="1700">
                              <a:solidFill>
                                <a:srgbClr val="252529"/>
                              </a:solidFill>
                              <a:latin typeface="Latin Modern Math" panose="02000503000000000000" pitchFamily="50" charset="0"/>
                            </a:rPr>
                            <m:t>𝑠</m:t>
                          </m:r>
                        </m:e>
                      </m:d>
                    </m:oMath>
                  </m:oMathPara>
                </a14:m>
                <a:endParaRPr sz="1700">
                  <a:latin typeface="Latin Modern Math" panose="02000503000000000000" pitchFamily="50" charset="0"/>
                </a:endParaRPr>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Latin Modern Math" panose="02000503000000000000" pitchFamily="50" charset="0"/>
                            </a:rPr>
                          </m:ctrlPr>
                        </m:dPr>
                        <m:e>
                          <m:r>
                            <a:rPr sz="1700">
                              <a:solidFill>
                                <a:srgbClr val="252529"/>
                              </a:solidFill>
                              <a:latin typeface="Latin Modern Math" panose="02000503000000000000" pitchFamily="50" charset="0"/>
                            </a:rPr>
                            <m:t>𝑡</m:t>
                          </m:r>
                        </m:e>
                      </m:d>
                    </m:oMath>
                  </m:oMathPara>
                </a14:m>
                <a:endParaRPr sz="1700" dirty="0">
                  <a:latin typeface="Latin Modern Math" panose="02000503000000000000" pitchFamily="50" charset="0"/>
                </a:endParaRPr>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Latin Modern Math" panose="02000503000000000000" pitchFamily="50" charset="0"/>
                            </a:rPr>
                          </m:ctrlPr>
                        </m:dPr>
                        <m:e>
                          <m:r>
                            <a:rPr lang="en-US" sz="1800" b="0" i="1" smtClean="0">
                              <a:latin typeface="Latin Modern Math" panose="02000503000000000000" pitchFamily="50" charset="0"/>
                            </a:rPr>
                            <m:t>𝛿</m:t>
                          </m:r>
                        </m:e>
                      </m:d>
                      <m:r>
                        <a:rPr lang="en-US" sz="1800" b="0" i="1" smtClean="0">
                          <a:latin typeface="Latin Modern Math" panose="02000503000000000000" pitchFamily="50" charset="0"/>
                        </a:rPr>
                        <m:t>≤</m:t>
                      </m:r>
                      <m:r>
                        <a:rPr lang="en-US" sz="1800" b="0" i="1" smtClean="0">
                          <a:latin typeface="Latin Modern Math" panose="02000503000000000000" pitchFamily="50" charset="0"/>
                          <a:ea typeface="Cambria Math" panose="02040503050406030204" pitchFamily="18" charset="0"/>
                        </a:rPr>
                        <m:t>𝛼</m:t>
                      </m:r>
                    </m:oMath>
                  </m:oMathPara>
                </a14:m>
                <a:endParaRPr lang="en-US" sz="1800" b="0" dirty="0">
                  <a:latin typeface="Latin Modern Math" panose="02000503000000000000" pitchFamily="50" charset="0"/>
                </a:endParaRPr>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Latin Modern Math" panose="02000503000000000000" pitchFamily="50" charset="0"/>
                      </a:rPr>
                      <m:t>[</m:t>
                    </m:r>
                    <m:r>
                      <a:rPr lang="en-US" b="0" i="1" smtClean="0">
                        <a:latin typeface="Latin Modern Math" panose="02000503000000000000" pitchFamily="50" charset="0"/>
                      </a:rPr>
                      <m:t>𝑃</m:t>
                    </m:r>
                    <m:r>
                      <a:rPr lang="en-US" b="0" i="1" smtClean="0">
                        <a:latin typeface="Latin Modern Math" panose="02000503000000000000" pitchFamily="50" charset="0"/>
                      </a:rPr>
                      <m:t>,</m:t>
                    </m:r>
                    <m:r>
                      <m:rPr>
                        <m:sty m:val="p"/>
                      </m:rPr>
                      <a:rPr lang="en-US" b="0" i="1" smtClean="0">
                        <a:latin typeface="Latin Modern Math" panose="02000503000000000000" pitchFamily="50" charset="0"/>
                      </a:rPr>
                      <m:t>Δ</m:t>
                    </m:r>
                    <m:r>
                      <a:rPr lang="en-US" b="0" i="1" smtClean="0">
                        <a:latin typeface="Latin Modern Math" panose="02000503000000000000" pitchFamily="50" charset="0"/>
                      </a:rPr>
                      <m:t>]</m:t>
                    </m:r>
                  </m:oMath>
                </a14:m>
                <a:r>
                  <a:rPr lang="en-US" b="0" dirty="0"/>
                  <a:t> stable for all </a:t>
                </a:r>
                <a14:m>
                  <m:oMath xmlns:m="http://schemas.openxmlformats.org/officeDocument/2006/math">
                    <m:d>
                      <m:dPr>
                        <m:begChr m:val="|"/>
                        <m:endChr m:val="|"/>
                        <m:ctrlPr>
                          <a:rPr lang="en-US" b="0" i="1" smtClean="0">
                            <a:latin typeface="Latin Modern Math" panose="02000503000000000000" pitchFamily="50" charset="0"/>
                          </a:rPr>
                        </m:ctrlPr>
                      </m:dPr>
                      <m:e>
                        <m:r>
                          <a:rPr lang="en-US" b="0" i="1" smtClean="0">
                            <a:latin typeface="Latin Modern Math" panose="02000503000000000000" pitchFamily="50" charset="0"/>
                          </a:rPr>
                          <m:t>𝛿</m:t>
                        </m:r>
                      </m:e>
                    </m:d>
                    <m:r>
                      <a:rPr lang="en-US" b="0" i="1" smtClean="0">
                        <a:latin typeface="Latin Modern Math" panose="02000503000000000000" pitchFamily="50" charset="0"/>
                      </a:rPr>
                      <m:t>≤</m:t>
                    </m:r>
                    <m:r>
                      <a:rPr lang="en-US" b="0" i="1" smtClean="0">
                        <a:latin typeface="Latin Modern Math" panose="02000503000000000000" pitchFamily="50" charset="0"/>
                        <a:ea typeface="Cambria Math" panose="02040503050406030204" pitchFamily="18" charset="0"/>
                      </a:rPr>
                      <m:t>𝛼</m:t>
                    </m:r>
                  </m:oMath>
                </a14:m>
                <a:endParaRPr lang="en-US" b="0" dirty="0">
                  <a:latin typeface="Latin Modern Math" panose="02000503000000000000" pitchFamily="50" charset="0"/>
                </a:endParaRPr>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Latin Modern Math" panose="02000503000000000000" pitchFamily="50" charset="0"/>
                      </a:rPr>
                      <m:t>[</m:t>
                    </m:r>
                    <m:r>
                      <a:rPr lang="en-US" b="0" i="1" smtClean="0">
                        <a:latin typeface="Latin Modern Math" panose="02000503000000000000" pitchFamily="50" charset="0"/>
                      </a:rPr>
                      <m:t>𝑃</m:t>
                    </m:r>
                    <m:r>
                      <a:rPr lang="en-US" b="0" i="1" smtClean="0">
                        <a:latin typeface="Latin Modern Math" panose="02000503000000000000" pitchFamily="50" charset="0"/>
                      </a:rPr>
                      <m:t>,</m:t>
                    </m:r>
                    <m:r>
                      <m:rPr>
                        <m:sty m:val="p"/>
                      </m:rPr>
                      <a:rPr lang="en-US" b="0" i="1" smtClean="0">
                        <a:latin typeface="Latin Modern Math" panose="02000503000000000000" pitchFamily="50" charset="0"/>
                      </a:rPr>
                      <m:t>Δ</m:t>
                    </m:r>
                    <m:r>
                      <a:rPr lang="en-US" b="0" i="1" smtClean="0">
                        <a:latin typeface="Latin Modern Math" panose="02000503000000000000" pitchFamily="50"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Latin Modern Math" panose="02000503000000000000" pitchFamily="50" charset="0"/>
                          </a:rPr>
                        </m:ctrlPr>
                      </m:dPr>
                      <m:e>
                        <m:r>
                          <a:rPr lang="en-US" b="0" i="1" smtClean="0">
                            <a:latin typeface="Latin Modern Math" panose="02000503000000000000" pitchFamily="50" charset="0"/>
                          </a:rPr>
                          <m:t>𝛿</m:t>
                        </m:r>
                      </m:e>
                    </m:d>
                    <m:r>
                      <a:rPr lang="en-US" b="0" i="1" smtClean="0">
                        <a:latin typeface="Latin Modern Math" panose="02000503000000000000" pitchFamily="50" charset="0"/>
                      </a:rPr>
                      <m:t>≤</m:t>
                    </m:r>
                    <m:r>
                      <a:rPr lang="en-US" b="0" i="1" smtClean="0">
                        <a:latin typeface="Latin Modern Math" panose="02000503000000000000" pitchFamily="50"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Latin Modern Math" panose="02000503000000000000" pitchFamily="50" charset="0"/>
                      </a:rPr>
                      <m:t>[</m:t>
                    </m:r>
                    <m:r>
                      <a:rPr lang="en-US" b="0" i="1" smtClean="0">
                        <a:latin typeface="Latin Modern Math" panose="02000503000000000000" pitchFamily="50" charset="0"/>
                      </a:rPr>
                      <m:t>𝑃</m:t>
                    </m:r>
                    <m:r>
                      <a:rPr lang="en-US" b="0" i="1" smtClean="0">
                        <a:latin typeface="Latin Modern Math" panose="02000503000000000000" pitchFamily="50" charset="0"/>
                      </a:rPr>
                      <m:t>,</m:t>
                    </m:r>
                    <m:r>
                      <m:rPr>
                        <m:sty m:val="p"/>
                      </m:rPr>
                      <a:rPr lang="en-US" b="0" i="1" smtClean="0">
                        <a:latin typeface="Latin Modern Math" panose="02000503000000000000" pitchFamily="50" charset="0"/>
                      </a:rPr>
                      <m:t>Δ</m:t>
                    </m:r>
                    <m:r>
                      <a:rPr lang="en-US" b="0" i="1" smtClean="0">
                        <a:latin typeface="Latin Modern Math" panose="02000503000000000000" pitchFamily="50"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Latin Modern Math" panose="02000503000000000000" pitchFamily="50" charset="0"/>
                          </a:rPr>
                        </m:ctrlPr>
                      </m:dPr>
                      <m:e>
                        <m:r>
                          <a:rPr lang="en-US" b="0" i="1" smtClean="0">
                            <a:latin typeface="Latin Modern Math" panose="02000503000000000000" pitchFamily="50" charset="0"/>
                          </a:rPr>
                          <m:t>𝛿</m:t>
                        </m:r>
                      </m:e>
                    </m:d>
                    <m:r>
                      <a:rPr lang="en-US" b="0" i="1" smtClean="0">
                        <a:latin typeface="Latin Modern Math" panose="02000503000000000000" pitchFamily="50" charset="0"/>
                      </a:rPr>
                      <m:t>≤</m:t>
                    </m:r>
                    <m:r>
                      <a:rPr lang="en-US" b="0" i="1" smtClean="0">
                        <a:latin typeface="Latin Modern Math" panose="02000503000000000000" pitchFamily="50"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Latin Modern Math" panose="02000503000000000000" pitchFamily="50" charset="0"/>
                          </a:rPr>
                        </m:ctrlPr>
                      </m:sSubPr>
                      <m:e>
                        <m:d>
                          <m:dPr>
                            <m:begChr m:val="‖"/>
                            <m:endChr m:val="‖"/>
                            <m:ctrlPr>
                              <a:rPr lang="en-US" b="0" i="1" smtClean="0">
                                <a:latin typeface="Latin Modern Math" panose="02000503000000000000" pitchFamily="50" charset="0"/>
                              </a:rPr>
                            </m:ctrlPr>
                          </m:dPr>
                          <m:e>
                            <m:sSub>
                              <m:sSubPr>
                                <m:ctrlPr>
                                  <a:rPr lang="en-US" b="0" i="1" smtClean="0">
                                    <a:latin typeface="Latin Modern Math" panose="02000503000000000000" pitchFamily="50" charset="0"/>
                                  </a:rPr>
                                </m:ctrlPr>
                              </m:sSubPr>
                              <m:e>
                                <m:r>
                                  <m:rPr>
                                    <m:sty m:val="p"/>
                                  </m:rPr>
                                  <a:rPr lang="en-US" b="0" i="1" smtClean="0">
                                    <a:latin typeface="Latin Modern Math" panose="02000503000000000000" pitchFamily="50" charset="0"/>
                                  </a:rPr>
                                  <m:t>w</m:t>
                                </m:r>
                              </m:e>
                              <m:sub>
                                <m:r>
                                  <m:rPr>
                                    <m:sty m:val="p"/>
                                  </m:rPr>
                                  <a:rPr lang="en-NL" i="1">
                                    <a:latin typeface="Latin Modern Math" panose="02000503000000000000" pitchFamily="50" charset="0"/>
                                  </a:rPr>
                                  <m:t>p</m:t>
                                </m:r>
                              </m:sub>
                            </m:sSub>
                            <m:r>
                              <a:rPr lang="en-NL" i="1">
                                <a:latin typeface="Latin Modern Math" panose="02000503000000000000" pitchFamily="50" charset="0"/>
                              </a:rPr>
                              <m:t>(</m:t>
                            </m:r>
                            <m:r>
                              <m:rPr>
                                <m:sty m:val="p"/>
                              </m:rPr>
                              <a:rPr lang="en-NL" i="1">
                                <a:latin typeface="Latin Modern Math" panose="02000503000000000000" pitchFamily="50" charset="0"/>
                              </a:rPr>
                              <m:t>t</m:t>
                            </m:r>
                            <m:r>
                              <a:rPr lang="en-NL" i="1">
                                <a:latin typeface="Latin Modern Math" panose="02000503000000000000" pitchFamily="50" charset="0"/>
                              </a:rPr>
                              <m:t>)</m:t>
                            </m:r>
                          </m:e>
                        </m:d>
                      </m:e>
                      <m:sub>
                        <m:sSub>
                          <m:sSubPr>
                            <m:ctrlPr>
                              <a:rPr lang="en-US" i="1">
                                <a:latin typeface="Latin Modern Math" panose="02000503000000000000" pitchFamily="50" charset="0"/>
                              </a:rPr>
                            </m:ctrlPr>
                          </m:sSubPr>
                          <m:e>
                            <m:r>
                              <m:rPr>
                                <m:sty m:val="p"/>
                              </m:rPr>
                              <a:rPr lang="en-US" i="1">
                                <a:latin typeface="Latin Modern Math" panose="02000503000000000000" pitchFamily="50" charset="0"/>
                              </a:rPr>
                              <m:t>L</m:t>
                            </m:r>
                          </m:e>
                          <m:sub>
                            <m:r>
                              <a:rPr lang="en-US" i="1">
                                <a:latin typeface="Latin Modern Math" panose="02000503000000000000" pitchFamily="50" charset="0"/>
                              </a:rPr>
                              <m:t>2</m:t>
                            </m:r>
                          </m:sub>
                        </m:sSub>
                      </m:sub>
                    </m:sSub>
                  </m:oMath>
                </a14:m>
                <a:endParaRPr lang="en-NL" dirty="0">
                  <a:latin typeface="Latin Modern Math" panose="02000503000000000000" pitchFamily="50" charset="0"/>
                </a:endParaRPr>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2736</TotalTime>
  <Words>4397</Words>
  <Application>Microsoft Office PowerPoint</Application>
  <PresentationFormat>On-screen Show (16:9)</PresentationFormat>
  <Paragraphs>438</Paragraphs>
  <Slides>43</Slides>
  <Notes>37</Notes>
  <HiddenSlides>0</HiddenSlides>
  <MMClips>5</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Aptos</vt:lpstr>
      <vt:lpstr>Arial</vt:lpstr>
      <vt:lpstr>Calibri</vt:lpstr>
      <vt:lpstr>Calibri Light</vt:lpstr>
      <vt:lpstr>Cambria Math</vt:lpstr>
      <vt:lpstr>Latin Modern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21</cp:revision>
  <dcterms:created xsi:type="dcterms:W3CDTF">2019-11-27T15:26:32Z</dcterms:created>
  <dcterms:modified xsi:type="dcterms:W3CDTF">2026-09-25T13:20:37Z</dcterms:modified>
</cp:coreProperties>
</file>