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Latin Modern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Latin Modern Math" panose="02040503050406030204" pitchFamily="18" charset="0"/>
                        </a:rPr>
                        <m:t>𝛿</m:t>
                      </m:r>
                      <m:r>
                        <a:rPr lang="en-US" sz="1800" b="0" i="1" smtClean="0">
                          <a:latin typeface="Latin Modern Math" panose="02040503050406030204" pitchFamily="18" charset="0"/>
                        </a:rPr>
                        <m:t>∈[−0.5,0.5]</m:t>
                      </m:r>
                    </m:oMath>
                  </m:oMathPara>
                </a14:m>
                <a:endParaRPr lang="en-US" b="0" dirty="0">
                  <a:latin typeface="Latin Modern Math"/>
                </a:endParaRPr>
              </a:p>
              <a:p>
                <a:endParaRPr lang="en-US" b="0" dirty="0">
                  <a:latin typeface="Latin Modern Math"/>
                </a:endParaRPr>
              </a:p>
              <a:p>
                <a:endParaRPr lang="en-NL" dirty="0">
                  <a:latin typeface="Latin Modern Math"/>
                </a:endParaRPr>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800" b="0" i="1" smtClean="0">
                              <a:latin typeface="Latin Modern Math" panose="02040503050406030204" pitchFamily="18" charset="0"/>
                            </a:rPr>
                          </m:ctrlPr>
                        </m:sSubPr>
                        <m:e>
                          <m:r>
                            <m:rPr>
                              <m:sty m:val="p"/>
                            </m:rPr>
                            <a:rPr lang="en-US" sz="1800" b="0" i="1" smtClean="0">
                              <a:latin typeface="Latin Modern Math" panose="02040503050406030204" pitchFamily="18" charset="0"/>
                            </a:rPr>
                            <m:t>t</m:t>
                          </m:r>
                        </m:e>
                        <m:sub>
                          <m:r>
                            <m:rPr>
                              <m:nor/>
                            </m:rPr>
                            <a:rPr lang="nl-NL" sz="1260" i="1">
                              <a:latin typeface="Latin Modern Math" panose="02040503050406030204" pitchFamily="18" charset="0"/>
                            </a:rPr>
                            <m:t>𝑡</m:t>
                          </m:r>
                        </m:sub>
                      </m:sSub>
                      <m:d>
                        <m:dPr>
                          <m:ctrlPr>
                            <a:rPr lang="nl-NL" sz="1800" i="1">
                              <a:latin typeface="Latin Modern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=0.01 </m:t>
                      </m:r>
                      <m:sSub>
                        <m:sSubPr>
                          <m:ctrlPr>
                            <a:rPr lang="en-US" sz="1800" b="0" i="1" smtClean="0">
                              <a:latin typeface="Latin Modern Math" panose="02040503050406030204" pitchFamily="18" charset="0"/>
                            </a:rPr>
                          </m:ctrlPr>
                        </m:sSubPr>
                        <m:e>
                          <m:r>
                            <m:rPr>
                              <m:sty m:val="p"/>
                            </m:rPr>
                            <a:rPr lang="en-US" sz="1800" b="0" i="1" smtClean="0">
                              <a:latin typeface="Latin Modern Math" panose="02040503050406030204" pitchFamily="18" charset="0"/>
                            </a:rPr>
                            <m:t>t</m:t>
                          </m:r>
                        </m:e>
                        <m:sub>
                          <m:r>
                            <m:rPr>
                              <m:nor/>
                            </m:rPr>
                            <a:rPr lang="nl-NL" sz="1260" i="1">
                              <a:latin typeface="Latin Modern Math" panose="02040503050406030204" pitchFamily="18" charset="0"/>
                            </a:rPr>
                            <m:t>𝑠𝑠</m:t>
                          </m:r>
                        </m:sub>
                      </m:sSub>
                      <m:d>
                        <m:dPr>
                          <m:ctrlPr>
                            <a:rPr lang="nl-NL" sz="1800" i="1">
                              <a:latin typeface="Latin Modern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m:t>
                      </m:r>
                      <m:d>
                        <m:dPr>
                          <m:begChr m:val="["/>
                          <m:endChr m:val="]"/>
                          <m:ctrlPr>
                            <a:rPr lang="nl-NL" sz="1800" i="1">
                              <a:latin typeface="Latin Modern Math" panose="02040503050406030204" pitchFamily="18" charset="0"/>
                            </a:rPr>
                          </m:ctrlPr>
                        </m:dPr>
                        <m:e>
                          <m:limLow>
                            <m:limLowPr>
                              <m:ctrlPr>
                                <a:rPr lang="nl-NL" sz="1800" i="1">
                                  <a:latin typeface="Latin Modern Math" panose="02040503050406030204" pitchFamily="18" charset="0"/>
                                </a:rPr>
                              </m:ctrlPr>
                            </m:limLowPr>
                            <m:e>
                              <m:groupChr>
                                <m:groupChrPr>
                                  <m:chr m:val="⏟"/>
                                  <m:pos m:val="bot"/>
                                  <m:vertJc m:val="top"/>
                                  <m:ctrlPr>
                                    <a:rPr lang="nl-NL" sz="1800" i="1">
                                      <a:latin typeface="Latin Modern Math" panose="02040503050406030204" pitchFamily="18" charset="0"/>
                                    </a:rPr>
                                  </m:ctrlPr>
                                </m:groupChrPr>
                                <m:e>
                                  <m:r>
                                    <a:rPr lang="nl-NL" sz="1800" i="1">
                                      <a:latin typeface="Latin Modern Math" panose="02040503050406030204" pitchFamily="18" charset="0"/>
                                    </a:rPr>
                                    <m:t>0.25</m:t>
                                  </m:r>
                                  <m:d>
                                    <m:dPr>
                                      <m:ctrlPr>
                                        <a:rPr lang="nl-NL" sz="1800" i="1">
                                          <a:latin typeface="Latin Modern Math" panose="02040503050406030204" pitchFamily="18" charset="0"/>
                                        </a:rPr>
                                      </m:ctrlPr>
                                    </m:dPr>
                                    <m:e>
                                      <m:r>
                                        <a:rPr lang="nl-NL" sz="1800" i="1">
                                          <a:latin typeface="Latin Modern Math" panose="02040503050406030204" pitchFamily="18" charset="0"/>
                                        </a:rPr>
                                        <m:t>1+</m:t>
                                      </m:r>
                                      <m:r>
                                        <a:rPr lang="nl-NL" sz="1800" i="1" smtClean="0">
                                          <a:solidFill>
                                            <a:srgbClr val="00B050"/>
                                          </a:solidFill>
                                          <a:latin typeface="Latin Modern Math" panose="02040503050406030204" pitchFamily="18" charset="0"/>
                                        </a:rPr>
                                        <m:t>𝛿</m:t>
                                      </m:r>
                                    </m:e>
                                  </m:d>
                                </m:e>
                              </m:groupChr>
                            </m:e>
                            <m:lim>
                              <m:r>
                                <m:rPr>
                                  <m:nor/>
                                </m:rPr>
                                <a:rPr lang="nl-NL" sz="1800" i="0">
                                  <a:latin typeface="Latin Modern Math" panose="02040503050406030204" pitchFamily="18" charset="0"/>
                                </a:rPr>
                                <m:t>heat generation</m:t>
                              </m:r>
                            </m:lim>
                          </m:limLow>
                          <m:r>
                            <a:rPr lang="nl-NL" sz="1800" i="1">
                              <a:latin typeface="Latin Modern Math" panose="02040503050406030204" pitchFamily="18" charset="0"/>
                            </a:rPr>
                            <m:t>−</m:t>
                          </m:r>
                          <m:limLow>
                            <m:limLowPr>
                              <m:ctrlPr>
                                <a:rPr lang="nl-NL" sz="1800" i="1">
                                  <a:latin typeface="Latin Modern Math" panose="02040503050406030204" pitchFamily="18" charset="0"/>
                                </a:rPr>
                              </m:ctrlPr>
                            </m:limLowPr>
                            <m:e>
                              <m:groupChr>
                                <m:groupChrPr>
                                  <m:chr m:val="⏟"/>
                                  <m:pos m:val="bot"/>
                                  <m:vertJc m:val="top"/>
                                  <m:ctrlPr>
                                    <a:rPr lang="nl-NL" sz="1800" i="1">
                                      <a:latin typeface="Latin Modern Math" panose="02040503050406030204" pitchFamily="18" charset="0"/>
                                    </a:rPr>
                                  </m:ctrlPr>
                                </m:groupChrPr>
                                <m:e>
                                  <m:r>
                                    <a:rPr lang="nl-NL" sz="1800" i="1">
                                      <a:latin typeface="Latin Modern Math" panose="02040503050406030204" pitchFamily="18" charset="0"/>
                                    </a:rPr>
                                    <m:t>0.2</m:t>
                                  </m:r>
                                </m:e>
                              </m:groupChr>
                            </m:e>
                            <m:lim>
                              <m:r>
                                <m:rPr>
                                  <m:nor/>
                                </m:rPr>
                                <a:rPr lang="nl-NL" sz="1800" i="0">
                                  <a:latin typeface="Latin Modern Math" panose="02040503050406030204" pitchFamily="18" charset="0"/>
                                </a:rPr>
                                <m:t>cooling</m:t>
                              </m:r>
                            </m:lim>
                          </m:limLow>
                        </m:e>
                      </m:d>
                      <m:r>
                        <m:rPr>
                          <m:sty m:val="p"/>
                        </m:rPr>
                        <a:rPr lang="en-US" sz="1800" b="0" i="1" smtClean="0">
                          <a:latin typeface="Latin Modern Math" panose="02040503050406030204" pitchFamily="18" charset="0"/>
                        </a:rPr>
                        <m:t>t</m:t>
                      </m:r>
                      <m:d>
                        <m:dPr>
                          <m:ctrlPr>
                            <a:rPr lang="nl-NL" sz="1800" i="1">
                              <a:latin typeface="Latin Modern Math" panose="02040503050406030204" pitchFamily="18" charset="0"/>
                            </a:rPr>
                          </m:ctrlPr>
                        </m:dPr>
                        <m:e>
                          <m:r>
                            <a:rPr lang="nl-NL" sz="1800" i="1">
                              <a:latin typeface="Latin Modern Math" panose="02040503050406030204" pitchFamily="18" charset="0"/>
                            </a:rPr>
                            <m:t>𝑡</m:t>
                          </m:r>
                          <m:r>
                            <a:rPr lang="nl-NL" sz="1800" i="1">
                              <a:latin typeface="Latin Modern Math" panose="02040503050406030204" pitchFamily="18" charset="0"/>
                            </a:rPr>
                            <m:t>,</m:t>
                          </m:r>
                          <m:r>
                            <a:rPr lang="nl-NL" sz="1800" i="1">
                              <a:latin typeface="Latin Modern Math" panose="02040503050406030204" pitchFamily="18" charset="0"/>
                            </a:rPr>
                            <m:t>𝑠</m:t>
                          </m:r>
                        </m:e>
                      </m:d>
                      <m:r>
                        <a:rPr lang="nl-NL" sz="1800" i="1">
                          <a:latin typeface="Latin Modern Math" panose="02040503050406030204" pitchFamily="18" charset="0"/>
                        </a:rPr>
                        <m:t>+</m:t>
                      </m:r>
                      <m:r>
                        <a:rPr lang="nl-NL" sz="1800" i="1">
                          <a:latin typeface="Latin Modern Math" panose="02040503050406030204" pitchFamily="18" charset="0"/>
                        </a:rPr>
                        <m:t>𝑢</m:t>
                      </m:r>
                      <m:d>
                        <m:dPr>
                          <m:ctrlPr>
                            <a:rPr lang="nl-NL" sz="1800" i="1">
                              <a:latin typeface="Latin Modern Math" panose="02040503050406030204" pitchFamily="18" charset="0"/>
                            </a:rPr>
                          </m:ctrlPr>
                        </m:dPr>
                        <m:e>
                          <m:r>
                            <a:rPr lang="nl-NL" sz="1800" i="1">
                              <a:latin typeface="Latin Modern Math" panose="02040503050406030204" pitchFamily="18" charset="0"/>
                            </a:rPr>
                            <m:t>𝑡</m:t>
                          </m:r>
                        </m:e>
                      </m:d>
                    </m:oMath>
                  </m:oMathPara>
                </a14:m>
                <a:endParaRPr lang="en-NL" sz="1800" dirty="0">
                  <a:latin typeface="Latin Modern Math"/>
                </a:endParaRPr>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nor/>
                                    </m:rPr>
                                    <a:rPr lang="en-US" sz="1260" b="0" i="1" smtClean="0">
                                      <a:solidFill>
                                        <a:srgbClr val="C81919"/>
                                      </a:solidFill>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nor/>
                                    </m:rPr>
                                    <a:rPr lang="en-US" sz="1260" b="0" i="1" smtClean="0">
                                      <a:solidFill>
                                        <a:srgbClr val="C81919"/>
                                      </a:solidFill>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𝜏</m:t>
                                  </m:r>
                                </m:e>
                                <m:sub>
                                  <m:r>
                                    <m:rPr>
                                      <m:sty m:val="p"/>
                                      <m:nor/>
                                    </m:rPr>
                                    <a:rPr lang="en-US" sz="1260" b="0" i="1" smtClean="0">
                                      <a:solidFill>
                                        <a:srgbClr val="C81919"/>
                                      </a:solidFill>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GS</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SG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GS</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SG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𝑤</m:t>
                              </m:r>
                            </m:e>
                            <m:sub>
                              <m:r>
                                <m:rPr>
                                  <m:sty m:val="p"/>
                                  <m:nor/>
                                </m:rPr>
                                <a:rPr lang="en-US" sz="1260" b="0" i="1" smtClean="0">
                                  <a:solidFill>
                                    <a:srgbClr val="C81919"/>
                                  </a:solidFill>
                                  <a:latin typeface="Latin Modern Math" panose="02040503050406030204" pitchFamily="18" charset="0"/>
                                </a:rPr>
                                <m:t>GG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i="1" smtClean="0">
                              <a:latin typeface="Latin Modern Math" panose="02040503050406030204" pitchFamily="18" charset="0"/>
                            </a:rPr>
                          </m:ctrlPr>
                        </m:eqArrPr>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𝑤</m:t>
                              </m:r>
                            </m:e>
                            <m:sub>
                              <m:r>
                                <m:rPr>
                                  <m:sty m:val="p"/>
                                  <m:nor/>
                                </m:rPr>
                                <a:rPr lang="en-US" sz="1260" b="0" i="1" smtClean="0">
                                  <a:latin typeface="Latin Modern Math" panose="02040503050406030204" pitchFamily="18" charset="0"/>
                                </a:rPr>
                                <m:t>GS</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GS</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𝑧</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𝑤</m:t>
                              </m:r>
                            </m:e>
                            <m:sub>
                              <m:r>
                                <m:rPr>
                                  <m:sty m:val="p"/>
                                  <m:nor/>
                                </m:rPr>
                                <a:rPr lang="en-US" sz="1260" b="0" i="1" smtClean="0">
                                  <a:latin typeface="Latin Modern Math" panose="02040503050406030204" pitchFamily="18" charset="0"/>
                                </a:rPr>
                                <m:t>SG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SG</m:t>
                                  </m:r>
                                </m:sub>
                              </m:sSub>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𝑤</m:t>
                              </m:r>
                            </m:e>
                            <m:sub>
                              <m:r>
                                <m:rPr>
                                  <m:sty m:val="p"/>
                                  <m:nor/>
                                </m:rPr>
                                <a:rPr lang="en-US" sz="1260" b="0" i="1" smtClean="0">
                                  <a:latin typeface="Latin Modern Math" panose="02040503050406030204" pitchFamily="18" charset="0"/>
                                </a:rPr>
                                <m:t>GG</m:t>
                              </m:r>
                            </m:sub>
                          </m:sSub>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GG</m:t>
                                  </m:r>
                                </m:sub>
                              </m:sSub>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S</m:t>
                              </m:r>
                            </m:sub>
                          </m:sSub>
                          <m:sSub>
                            <m:sSubPr>
                              <m:ctrlPr>
                                <a:rPr lang="en-US" sz="1800" b="0" i="1" smtClean="0">
                                  <a:latin typeface="Latin Modern Math" panose="02040503050406030204" pitchFamily="18" charset="0"/>
                                </a:rPr>
                              </m:ctrlPr>
                            </m:sSubPr>
                            <m:e>
                              <m:acc>
                                <m:accPr>
                                  <m:chr m:val="̇"/>
                                  <m:ctrlPr>
                                    <a:rPr lang="en-US" sz="1800" b="0" i="1" smtClean="0">
                                      <a:latin typeface="Latin Modern Math" panose="02040503050406030204" pitchFamily="18" charset="0"/>
                                    </a:rPr>
                                  </m:ctrlPr>
                                </m:accPr>
                                <m:e>
                                  <m:r>
                                    <a:rPr lang="en-US" sz="1800" b="0" i="1" smtClean="0">
                                      <a:latin typeface="Latin Modern Math" panose="02040503050406030204" pitchFamily="18" charset="0"/>
                                    </a:rPr>
                                    <m:t>𝑥</m:t>
                                  </m:r>
                                </m:e>
                              </m:acc>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𝛿</m:t>
                              </m:r>
                            </m:e>
                            <m:sub>
                              <m:r>
                                <m:rPr>
                                  <m:sty m:val="p"/>
                                  <m:nor/>
                                </m:rPr>
                                <a:rPr lang="en-US" sz="1260" b="0" i="1" smtClean="0">
                                  <a:solidFill>
                                    <a:srgbClr val="C81919"/>
                                  </a:solidFill>
                                  <a:latin typeface="Latin Modern Math" panose="02040503050406030204" pitchFamily="18" charset="0"/>
                                </a:rPr>
                                <m:t>S</m:t>
                              </m:r>
                            </m:sub>
                          </m:sSub>
                          <m:d>
                            <m:dPr>
                              <m:ctrlPr>
                                <a:rPr lang="en-US" sz="1800" b="0" i="1" smtClean="0">
                                  <a:solidFill>
                                    <a:srgbClr val="C81919"/>
                                  </a:solidFill>
                                  <a:latin typeface="Latin Modern Math" panose="02040503050406030204" pitchFamily="18" charset="0"/>
                                </a:rPr>
                              </m:ctrlPr>
                            </m:dPr>
                            <m:e>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𝑧</m:t>
                                  </m:r>
                                </m:e>
                                <m:sub>
                                  <m:r>
                                    <m:rPr>
                                      <m:sty m:val="p"/>
                                      <m:nor/>
                                    </m:rPr>
                                    <a:rPr lang="en-US" sz="1260" b="0" i="1" smtClean="0">
                                      <a:solidFill>
                                        <a:srgbClr val="C81919"/>
                                      </a:solidFill>
                                      <a:latin typeface="Latin Modern Math" panose="02040503050406030204" pitchFamily="18" charset="0"/>
                                    </a:rPr>
                                    <m:t>S</m:t>
                                  </m:r>
                                </m:sub>
                              </m:sSub>
                              <m:d>
                                <m:dPr>
                                  <m:ctrlPr>
                                    <a:rPr lang="en-US" sz="1800" b="0" i="1" smtClean="0">
                                      <a:solidFill>
                                        <a:srgbClr val="C81919"/>
                                      </a:solidFill>
                                      <a:latin typeface="Latin Modern Math" panose="02040503050406030204" pitchFamily="18" charset="0"/>
                                    </a:rPr>
                                  </m:ctrlPr>
                                </m:dPr>
                                <m:e>
                                  <m:r>
                                    <a:rPr lang="en-US" sz="1800" b="0" i="1" smtClean="0">
                                      <a:solidFill>
                                        <a:srgbClr val="C81919"/>
                                      </a:solidFill>
                                      <a:latin typeface="Latin Modern Math" panose="02040503050406030204" pitchFamily="18" charset="0"/>
                                    </a:rPr>
                                    <m:t>𝑡</m:t>
                                  </m:r>
                                </m:e>
                              </m:d>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S</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a:rPr lang="en-US" sz="1800" b="0" i="1" smtClean="0">
                              <a:latin typeface="Latin Modern Math" panose="02040503050406030204" pitchFamily="18" charset="0"/>
                            </a:rPr>
                            <m:t>,</m:t>
                          </m:r>
                        </m:e>
                        <m:e>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𝜏</m:t>
                              </m:r>
                            </m:e>
                            <m:sub>
                              <m:r>
                                <m:rPr>
                                  <m:sty m:val="p"/>
                                  <m:nor/>
                                </m:rPr>
                                <a:rPr lang="en-US" sz="1260" b="0" i="1" smtClean="0">
                                  <a:latin typeface="Latin Modern Math" panose="02040503050406030204" pitchFamily="18" charset="0"/>
                                </a:rPr>
                                <m:t>G</m:t>
                              </m:r>
                            </m:sub>
                          </m:sSub>
                          <m:sSub>
                            <m:sSubPr>
                              <m:ctrlPr>
                                <a:rPr lang="en-US" sz="1800" b="0" i="1" smtClean="0">
                                  <a:latin typeface="Latin Modern Math" panose="02040503050406030204" pitchFamily="18" charset="0"/>
                                </a:rPr>
                              </m:ctrlPr>
                            </m:sSubPr>
                            <m:e>
                              <m:acc>
                                <m:accPr>
                                  <m:chr m:val="̇"/>
                                  <m:ctrlPr>
                                    <a:rPr lang="en-US" sz="1800" b="0" i="1" smtClean="0">
                                      <a:latin typeface="Latin Modern Math" panose="02040503050406030204" pitchFamily="18" charset="0"/>
                                    </a:rPr>
                                  </m:ctrlPr>
                                </m:accPr>
                                <m:e>
                                  <m:r>
                                    <a:rPr lang="en-US" sz="1800" b="0" i="1" smtClean="0">
                                      <a:latin typeface="Latin Modern Math" panose="02040503050406030204" pitchFamily="18" charset="0"/>
                                    </a:rPr>
                                    <m:t>𝑥</m:t>
                                  </m:r>
                                </m:e>
                              </m:acc>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m:rPr>
                              <m:aln/>
                            </m:rPr>
                            <a:rPr lang="en-US" sz="1800" b="0" i="1" smtClean="0">
                              <a:latin typeface="Latin Modern Math" panose="02040503050406030204" pitchFamily="18" charset="0"/>
                            </a:rPr>
                            <m:t>&amp;</m:t>
                          </m:r>
                          <m:r>
                            <a:rPr lang="en-US" sz="1800" b="0" i="1" smtClean="0">
                              <a:latin typeface="Latin Modern Math" panose="02040503050406030204" pitchFamily="18" charset="0"/>
                            </a:rPr>
                            <m:t>=</m:t>
                          </m:r>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𝛿</m:t>
                              </m:r>
                            </m:e>
                            <m:sub>
                              <m:r>
                                <m:rPr>
                                  <m:sty m:val="p"/>
                                  <m:nor/>
                                </m:rPr>
                                <a:rPr lang="en-US" sz="1260" b="0" i="1" smtClean="0">
                                  <a:solidFill>
                                    <a:srgbClr val="C81919"/>
                                  </a:solidFill>
                                  <a:latin typeface="Latin Modern Math" panose="02040503050406030204" pitchFamily="18" charset="0"/>
                                </a:rPr>
                                <m:t>G</m:t>
                              </m:r>
                            </m:sub>
                          </m:sSub>
                          <m:d>
                            <m:dPr>
                              <m:ctrlPr>
                                <a:rPr lang="en-US" sz="1800" b="0" i="1" smtClean="0">
                                  <a:solidFill>
                                    <a:srgbClr val="C81919"/>
                                  </a:solidFill>
                                  <a:latin typeface="Latin Modern Math" panose="02040503050406030204" pitchFamily="18" charset="0"/>
                                </a:rPr>
                              </m:ctrlPr>
                            </m:dPr>
                            <m:e>
                              <m:sSub>
                                <m:sSubPr>
                                  <m:ctrlPr>
                                    <a:rPr lang="en-US" sz="1800" b="0" i="1" smtClean="0">
                                      <a:solidFill>
                                        <a:srgbClr val="C81919"/>
                                      </a:solidFill>
                                      <a:latin typeface="Latin Modern Math" panose="02040503050406030204" pitchFamily="18" charset="0"/>
                                    </a:rPr>
                                  </m:ctrlPr>
                                </m:sSubPr>
                                <m:e>
                                  <m:r>
                                    <a:rPr lang="en-US" sz="1800" b="0" i="1" smtClean="0">
                                      <a:solidFill>
                                        <a:srgbClr val="C81919"/>
                                      </a:solidFill>
                                      <a:latin typeface="Latin Modern Math" panose="02040503050406030204" pitchFamily="18" charset="0"/>
                                    </a:rPr>
                                    <m:t>𝑧</m:t>
                                  </m:r>
                                </m:e>
                                <m:sub>
                                  <m:r>
                                    <m:rPr>
                                      <m:sty m:val="p"/>
                                      <m:nor/>
                                    </m:rPr>
                                    <a:rPr lang="en-US" sz="1260" b="0" i="1" smtClean="0">
                                      <a:solidFill>
                                        <a:srgbClr val="C81919"/>
                                      </a:solidFill>
                                      <a:latin typeface="Latin Modern Math" panose="02040503050406030204" pitchFamily="18" charset="0"/>
                                    </a:rPr>
                                    <m:t>G</m:t>
                                  </m:r>
                                </m:sub>
                              </m:sSub>
                              <m:d>
                                <m:dPr>
                                  <m:ctrlPr>
                                    <a:rPr lang="en-US" sz="1800" b="0" i="1" smtClean="0">
                                      <a:solidFill>
                                        <a:srgbClr val="C81919"/>
                                      </a:solidFill>
                                      <a:latin typeface="Latin Modern Math" panose="02040503050406030204" pitchFamily="18" charset="0"/>
                                    </a:rPr>
                                  </m:ctrlPr>
                                </m:dPr>
                                <m:e>
                                  <m:r>
                                    <a:rPr lang="en-US" sz="1800" b="0" i="1" smtClean="0">
                                      <a:solidFill>
                                        <a:srgbClr val="C81919"/>
                                      </a:solidFill>
                                      <a:latin typeface="Latin Modern Math" panose="02040503050406030204" pitchFamily="18" charset="0"/>
                                    </a:rPr>
                                    <m:t>𝑡</m:t>
                                  </m:r>
                                </m:e>
                              </m:d>
                            </m:e>
                          </m:d>
                          <m:r>
                            <a:rPr lang="en-US" sz="1800" b="0" i="1" smtClean="0">
                              <a:latin typeface="Latin Modern Math" panose="02040503050406030204" pitchFamily="18" charset="0"/>
                            </a:rPr>
                            <m:t>−</m:t>
                          </m:r>
                          <m:sSub>
                            <m:sSubPr>
                              <m:ctrlPr>
                                <a:rPr lang="en-US" sz="1800" b="0" i="1" smtClean="0">
                                  <a:latin typeface="Latin Modern Math" panose="02040503050406030204" pitchFamily="18" charset="0"/>
                                </a:rPr>
                              </m:ctrlPr>
                            </m:sSubPr>
                            <m:e>
                              <m:r>
                                <a:rPr lang="en-US" sz="1800" b="0" i="1" smtClean="0">
                                  <a:latin typeface="Latin Modern Math" panose="02040503050406030204" pitchFamily="18" charset="0"/>
                                </a:rPr>
                                <m:t>𝑥</m:t>
                              </m:r>
                            </m:e>
                            <m:sub>
                              <m:r>
                                <m:rPr>
                                  <m:sty m:val="p"/>
                                  <m:nor/>
                                </m:rPr>
                                <a:rPr lang="en-US" sz="1260" b="0" i="1" smtClean="0">
                                  <a:latin typeface="Latin Modern Math" panose="02040503050406030204" pitchFamily="18" charset="0"/>
                                </a:rPr>
                                <m:t>G</m:t>
                              </m:r>
                            </m:sub>
                          </m:sSub>
                          <m:d>
                            <m:dPr>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𝑡</m:t>
                              </m:r>
                            </m:e>
                          </m:d>
                          <m:r>
                            <a:rPr lang="en-US" sz="1800" b="0" i="1" smtClean="0">
                              <a:latin typeface="Latin Modern Math" panose="02040503050406030204" pitchFamily="18" charset="0"/>
                            </a:rPr>
                            <m:t>.</m:t>
                          </m:r>
                        </m:e>
                      </m:eqArr>
                    </m:oMath>
                  </m:oMathPara>
                </a14:m>
                <a:endParaRPr lang="en-NL" sz="1800" dirty="0">
                  <a:latin typeface="Latin Modern Math"/>
                </a:endParaRPr>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i="1" smtClean="0">
                              <a:latin typeface="Latin Modern Math" panose="02040503050406030204" pitchFamily="18" charset="0"/>
                            </a:rPr>
                          </m:ctrlPr>
                        </m:eqArr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GS</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GS</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SG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SG</m:t>
                                  </m:r>
                                </m:sub>
                              </m:sSub>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GG</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r>
                            <a:rPr lang="en-US" sz="1700" b="0" i="1" smtClean="0">
                              <a:solidFill>
                                <a:srgbClr val="C81919"/>
                              </a:solidFill>
                              <a:latin typeface="Latin Modern Math" panose="02040503050406030204" pitchFamily="18" charset="0"/>
                            </a:rPr>
                            <m:t>𝑢</m:t>
                          </m:r>
                          <m:d>
                            <m:dPr>
                              <m:ctrlPr>
                                <a:rPr lang="en-US" sz="1700" b="0" i="1" smtClean="0">
                                  <a:solidFill>
                                    <a:srgbClr val="C81919"/>
                                  </a:solidFill>
                                  <a:latin typeface="Latin Modern Math" panose="02040503050406030204" pitchFamily="18" charset="0"/>
                                </a:rPr>
                              </m:ctrlPr>
                            </m:dPr>
                            <m:e>
                              <m:r>
                                <a:rPr lang="en-US" sz="1700" b="0" i="1" smtClean="0">
                                  <a:solidFill>
                                    <a:srgbClr val="C81919"/>
                                  </a:solidFill>
                                  <a:latin typeface="Latin Modern Math" panose="02040503050406030204" pitchFamily="18" charset="0"/>
                                </a:rPr>
                                <m:t>𝑡</m:t>
                              </m:r>
                            </m:e>
                          </m:d>
                          <m:r>
                            <a:rPr lang="en-US" sz="1700" b="0" i="1" smtClean="0">
                              <a:solidFill>
                                <a:srgbClr val="C81919"/>
                              </a:solidFill>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i="1" smtClean="0">
                              <a:latin typeface="Latin Modern Math" panose="02040503050406030204" pitchFamily="18" charset="0"/>
                            </a:rPr>
                          </m:ctrlPr>
                        </m:eqArr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GS</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GS</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SG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SG</m:t>
                                  </m:r>
                                </m:sub>
                              </m:sSub>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𝑤</m:t>
                              </m:r>
                            </m:e>
                            <m:sub>
                              <m:r>
                                <m:rPr>
                                  <m:sty m:val="p"/>
                                  <m:nor/>
                                </m:rPr>
                                <a:rPr lang="en-US" sz="1190" b="0" i="1" smtClean="0">
                                  <a:latin typeface="Latin Modern Math" panose="02040503050406030204" pitchFamily="18" charset="0"/>
                                </a:rPr>
                                <m:t>GG</m:t>
                              </m:r>
                            </m:sub>
                          </m:sSub>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GG</m:t>
                                  </m:r>
                                </m:sub>
                              </m:sSub>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S</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S</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r>
                            <a:rPr lang="en-US" sz="1700" b="0" i="1" smtClean="0">
                              <a:solidFill>
                                <a:schemeClr val="tx1"/>
                              </a:solidFill>
                              <a:latin typeface="Latin Modern Math" panose="02040503050406030204" pitchFamily="18" charset="0"/>
                            </a:rPr>
                            <m:t>𝑢</m:t>
                          </m:r>
                          <m:d>
                            <m:dPr>
                              <m:ctrlPr>
                                <a:rPr lang="en-US" sz="1700" b="0" i="1" smtClean="0">
                                  <a:solidFill>
                                    <a:schemeClr val="tx1"/>
                                  </a:solidFill>
                                  <a:latin typeface="Latin Modern Math" panose="02040503050406030204" pitchFamily="18" charset="0"/>
                                </a:rPr>
                              </m:ctrlPr>
                            </m:dPr>
                            <m:e>
                              <m:r>
                                <a:rPr lang="en-US" sz="1700" b="0" i="1" smtClean="0">
                                  <a:solidFill>
                                    <a:schemeClr val="tx1"/>
                                  </a:solidFill>
                                  <a:latin typeface="Latin Modern Math" panose="02040503050406030204" pitchFamily="18" charset="0"/>
                                </a:rPr>
                                <m:t>𝑡</m:t>
                              </m:r>
                            </m:e>
                          </m:d>
                          <m:r>
                            <a:rPr lang="en-US" sz="1700" b="0" i="1" smtClean="0">
                              <a:latin typeface="Latin Modern Math" panose="02040503050406030204" pitchFamily="18" charset="0"/>
                            </a:rPr>
                            <m:t>,</m:t>
                          </m:r>
                        </m:e>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𝜏</m:t>
                              </m:r>
                            </m:e>
                            <m:sub>
                              <m:r>
                                <m:rPr>
                                  <m:sty m:val="p"/>
                                  <m:nor/>
                                </m:rPr>
                                <a:rPr lang="en-US" sz="1190" b="0" i="1" smtClean="0">
                                  <a:latin typeface="Latin Modern Math" panose="02040503050406030204" pitchFamily="18" charset="0"/>
                                </a:rPr>
                                <m:t>G</m:t>
                              </m:r>
                            </m:sub>
                          </m:sSub>
                          <m:sSub>
                            <m:sSubPr>
                              <m:ctrlPr>
                                <a:rPr lang="en-US" sz="1700" b="0" i="1" smtClean="0">
                                  <a:latin typeface="Latin Modern Math" panose="02040503050406030204" pitchFamily="18" charset="0"/>
                                </a:rPr>
                              </m:ctrlPr>
                            </m:sSubPr>
                            <m:e>
                              <m:acc>
                                <m:accPr>
                                  <m:chr m:val="̇"/>
                                  <m:ctrlPr>
                                    <a:rPr lang="en-US" sz="1700" b="0" i="1" smtClean="0">
                                      <a:latin typeface="Latin Modern Math" panose="02040503050406030204" pitchFamily="18" charset="0"/>
                                    </a:rPr>
                                  </m:ctrlPr>
                                </m:accPr>
                                <m:e>
                                  <m:r>
                                    <a:rPr lang="en-US" sz="1700" b="0" i="1" smtClean="0">
                                      <a:latin typeface="Latin Modern Math" panose="02040503050406030204" pitchFamily="18" charset="0"/>
                                    </a:rPr>
                                    <m:t>𝑥</m:t>
                                  </m:r>
                                </m:e>
                              </m:acc>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m:rPr>
                              <m:aln/>
                            </m:rPr>
                            <a:rPr lang="en-US" sz="1700" b="0" i="1" smtClean="0">
                              <a:latin typeface="Latin Modern Math" panose="02040503050406030204" pitchFamily="18" charset="0"/>
                            </a:rPr>
                            <m:t>&amp;</m:t>
                          </m:r>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𝛿</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𝑧</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e>
                          </m:d>
                          <m:r>
                            <a:rPr lang="en-US" sz="1700" b="0" i="1" smtClean="0">
                              <a:latin typeface="Latin Modern Math" panose="02040503050406030204" pitchFamily="18" charset="0"/>
                            </a:rPr>
                            <m:t>−</m:t>
                          </m:r>
                          <m:sSub>
                            <m:sSubPr>
                              <m:ctrlPr>
                                <a:rPr lang="en-US" sz="1700" b="0" i="1" smtClean="0">
                                  <a:latin typeface="Latin Modern Math" panose="02040503050406030204" pitchFamily="18" charset="0"/>
                                </a:rPr>
                              </m:ctrlPr>
                            </m:sSubPr>
                            <m:e>
                              <m:r>
                                <a:rPr lang="en-US" sz="1700" b="0" i="1" smtClean="0">
                                  <a:latin typeface="Latin Modern Math" panose="02040503050406030204" pitchFamily="18" charset="0"/>
                                </a:rPr>
                                <m:t>𝑥</m:t>
                              </m:r>
                            </m:e>
                            <m:sub>
                              <m:r>
                                <m:rPr>
                                  <m:sty m:val="p"/>
                                  <m:nor/>
                                </m:rPr>
                                <a:rPr lang="en-US" sz="1190" b="0" i="1" smtClean="0">
                                  <a:latin typeface="Latin Modern Math" panose="02040503050406030204" pitchFamily="18" charset="0"/>
                                </a:rPr>
                                <m:t>G</m:t>
                              </m:r>
                            </m:sub>
                          </m:sSub>
                          <m:d>
                            <m:dPr>
                              <m:ctrlPr>
                                <a:rPr lang="en-US" sz="1700" b="0" i="1" smtClean="0">
                                  <a:latin typeface="Latin Modern Math" panose="02040503050406030204" pitchFamily="18" charset="0"/>
                                </a:rPr>
                              </m:ctrlPr>
                            </m:dPr>
                            <m:e>
                              <m:r>
                                <a:rPr lang="en-US" sz="1700" b="0" i="1" smtClean="0">
                                  <a:latin typeface="Latin Modern Math" panose="02040503050406030204" pitchFamily="18" charset="0"/>
                                </a:rPr>
                                <m:t>𝑡</m:t>
                              </m:r>
                            </m:e>
                          </m:d>
                          <m:r>
                            <a:rPr lang="en-US" sz="1700" b="0" i="1" smtClean="0">
                              <a:latin typeface="Latin Modern Math" panose="02040503050406030204" pitchFamily="18" charset="0"/>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acc>
                        <m:accPr>
                          <m:chr m:val="̇"/>
                          <m:ctrlPr>
                            <a:rPr lang="en-US" sz="1600" b="0" i="1" smtClean="0">
                              <a:latin typeface="Latin Modern Math" panose="02040503050406030204" pitchFamily="18" charset="0"/>
                            </a:rPr>
                          </m:ctrlPr>
                        </m:accPr>
                        <m:e>
                          <m:r>
                            <a:rPr lang="en-US" sz="1600" b="0" i="1" smtClean="0">
                              <a:latin typeface="Latin Modern Math" panose="02040503050406030204" pitchFamily="18" charset="0"/>
                            </a:rPr>
                            <m:t>𝑇</m:t>
                          </m:r>
                        </m:e>
                      </m:acc>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m:t>
                          </m:r>
                          <m:r>
                            <a:rPr lang="en-US" sz="1600" b="0" i="1" smtClean="0">
                              <a:latin typeface="Latin Modern Math" panose="02040503050406030204" pitchFamily="18" charset="0"/>
                            </a:rPr>
                            <m:t>𝑠</m:t>
                          </m:r>
                        </m:e>
                      </m:d>
                      <m:r>
                        <a:rPr lang="en-US" sz="1600" b="0" i="1" smtClean="0">
                          <a:latin typeface="Latin Modern Math" panose="02040503050406030204" pitchFamily="18" charset="0"/>
                        </a:rPr>
                        <m:t>=</m:t>
                      </m:r>
                      <m:r>
                        <a:rPr lang="en-US" sz="1600" b="0" i="1" smtClean="0">
                          <a:latin typeface="Latin Modern Math" panose="02040503050406030204" pitchFamily="18" charset="0"/>
                        </a:rPr>
                        <m:t>𝑇</m:t>
                      </m:r>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m:t>
                          </m:r>
                          <m:r>
                            <a:rPr lang="en-US" sz="1600" b="0" i="1" smtClean="0">
                              <a:latin typeface="Latin Modern Math" panose="02040503050406030204" pitchFamily="18" charset="0"/>
                            </a:rPr>
                            <m:t>𝑠</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𝑇</m:t>
                      </m:r>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,0</m:t>
                          </m:r>
                        </m:e>
                      </m:d>
                      <m:r>
                        <a:rPr lang="en-US" sz="1600" b="0" i="1" smtClean="0">
                          <a:latin typeface="Latin Modern Math" panose="02040503050406030204" pitchFamily="18" charset="0"/>
                        </a:rPr>
                        <m:t>=</m:t>
                      </m:r>
                      <m:sSub>
                        <m:sSubPr>
                          <m:ctrlPr>
                            <a:rPr lang="en-US" sz="1600" b="0" i="1" smtClean="0">
                              <a:solidFill>
                                <a:srgbClr val="FF0000"/>
                              </a:solidFill>
                              <a:latin typeface="Latin Modern Math" panose="02040503050406030204" pitchFamily="18" charset="0"/>
                            </a:rPr>
                          </m:ctrlPr>
                        </m:sSubPr>
                        <m:e>
                          <m:r>
                            <a:rPr lang="en-US" sz="1600" b="0" i="1" smtClean="0">
                              <a:solidFill>
                                <a:srgbClr val="FF0000"/>
                              </a:solidFill>
                              <a:latin typeface="Latin Modern Math" panose="02040503050406030204" pitchFamily="18" charset="0"/>
                            </a:rPr>
                            <m:t>𝑤</m:t>
                          </m:r>
                        </m:e>
                        <m:sub>
                          <m:r>
                            <m:rPr>
                              <m:nor/>
                            </m:rPr>
                            <a:rPr lang="en-US" sz="1120" b="0" i="1" smtClean="0">
                              <a:solidFill>
                                <a:srgbClr val="FF0000"/>
                              </a:solidFill>
                              <a:latin typeface="Latin Modern Math" panose="02040503050406030204" pitchFamily="18" charset="0"/>
                            </a:rPr>
                            <m:t>1</m:t>
                          </m:r>
                        </m:sub>
                      </m:sSub>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600" b="0" i="1" smtClean="0">
                              <a:latin typeface="Latin Modern Math" panose="02040503050406030204" pitchFamily="18" charset="0"/>
                            </a:rPr>
                          </m:ctrlPr>
                        </m:sSubPr>
                        <m:e>
                          <m:r>
                            <a:rPr lang="en-US" sz="1600" b="0" i="1" smtClean="0">
                              <a:latin typeface="Latin Modern Math" panose="02040503050406030204" pitchFamily="18" charset="0"/>
                            </a:rPr>
                            <m:t>𝑇</m:t>
                          </m:r>
                        </m:e>
                        <m:sub>
                          <m:r>
                            <m:rPr>
                              <m:nor/>
                            </m:rPr>
                            <a:rPr lang="en-US" sz="1120" b="0" i="1" smtClean="0">
                              <a:latin typeface="Latin Modern Math" panose="02040503050406030204" pitchFamily="18" charset="0"/>
                            </a:rPr>
                            <m:t>𝑠</m:t>
                          </m:r>
                        </m:sub>
                      </m:sSub>
                      <m:d>
                        <m:dPr>
                          <m:ctrlPr>
                            <a:rPr lang="en-US" sz="1600" b="0" i="1" smtClean="0">
                              <a:latin typeface="Latin Modern Math" panose="02040503050406030204" pitchFamily="18" charset="0"/>
                            </a:rPr>
                          </m:ctrlPr>
                        </m:dPr>
                        <m:e>
                          <m:r>
                            <a:rPr lang="en-US" sz="1600" b="0" i="1" smtClean="0">
                              <a:latin typeface="Latin Modern Math" panose="02040503050406030204" pitchFamily="18" charset="0"/>
                            </a:rPr>
                            <m:t>𝑡</m:t>
                          </m:r>
                          <m:r>
                            <a:rPr lang="en-US" sz="1600" b="0" i="1" smtClean="0">
                              <a:latin typeface="Latin Modern Math" panose="02040503050406030204" pitchFamily="18" charset="0"/>
                            </a:rPr>
                            <m:t>,0</m:t>
                          </m:r>
                        </m:e>
                      </m:d>
                      <m:r>
                        <a:rPr lang="en-US" sz="1600" b="0" i="1" smtClean="0">
                          <a:latin typeface="Latin Modern Math" panose="02040503050406030204" pitchFamily="18" charset="0"/>
                        </a:rPr>
                        <m:t>=</m:t>
                      </m:r>
                      <m:sSub>
                        <m:sSubPr>
                          <m:ctrlPr>
                            <a:rPr lang="en-US" sz="1600" b="0" i="1" smtClean="0">
                              <a:solidFill>
                                <a:srgbClr val="FF0000"/>
                              </a:solidFill>
                              <a:latin typeface="Latin Modern Math" panose="02040503050406030204" pitchFamily="18" charset="0"/>
                            </a:rPr>
                          </m:ctrlPr>
                        </m:sSubPr>
                        <m:e>
                          <m:r>
                            <a:rPr lang="en-US" sz="1600" b="0" i="1" smtClean="0">
                              <a:solidFill>
                                <a:srgbClr val="FF0000"/>
                              </a:solidFill>
                              <a:latin typeface="Latin Modern Math" panose="02040503050406030204" pitchFamily="18" charset="0"/>
                            </a:rPr>
                            <m:t>𝑤</m:t>
                          </m:r>
                        </m:e>
                        <m:sub>
                          <m:r>
                            <m:rPr>
                              <m:nor/>
                            </m:rPr>
                            <a:rPr lang="en-US" sz="1120" b="0" i="1" smtClean="0">
                              <a:solidFill>
                                <a:srgbClr val="FF0000"/>
                              </a:solidFill>
                              <a:latin typeface="Latin Modern Math" panose="02040503050406030204" pitchFamily="18" charset="0"/>
                            </a:rPr>
                            <m:t>2</m:t>
                          </m:r>
                        </m:sub>
                      </m:sSub>
                      <m:r>
                        <a:rPr lang="en-US" sz="1600" b="0" i="1" smtClean="0">
                          <a:latin typeface="Latin Modern Math" panose="02040503050406030204" pitchFamily="18" charset="0"/>
                        </a:rPr>
                        <m:t>(</m:t>
                      </m:r>
                      <m:r>
                        <a:rPr lang="en-US" sz="1600" b="0" i="1" smtClean="0">
                          <a:latin typeface="Latin Modern Math" panose="02040503050406030204" pitchFamily="18" charset="0"/>
                        </a:rPr>
                        <m:t>𝑡</m:t>
                      </m:r>
                      <m:r>
                        <a:rPr lang="en-US" sz="1600" b="0" i="1" smtClean="0">
                          <a:latin typeface="Latin Modern Math" panose="02040503050406030204" pitchFamily="18" charset="0"/>
                        </a:rPr>
                        <m:t>) </m:t>
                      </m:r>
                    </m:oMath>
                  </m:oMathPara>
                </a14:m>
                <a:endParaRPr lang="en-NL" sz="1600" dirty="0">
                  <a:latin typeface="Latin Modern Math"/>
                </a:endParaRPr>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500" b="0" i="1" smtClean="0">
                              <a:latin typeface="Latin Modern Math" panose="02040503050406030204" pitchFamily="18" charset="0"/>
                            </a:rPr>
                          </m:ctrlPr>
                        </m:eqArrPr>
                        <m:e>
                          <m:acc>
                            <m:accPr>
                              <m:chr m:val="̇"/>
                              <m:ctrlPr>
                                <a:rPr lang="en-US" sz="1500" b="0" i="1" smtClean="0">
                                  <a:latin typeface="Latin Modern Math" panose="02040503050406030204" pitchFamily="18" charset="0"/>
                                </a:rPr>
                              </m:ctrlPr>
                            </m:accPr>
                            <m:e>
                              <m:r>
                                <a:rPr lang="en-US" sz="1500" b="0" i="1" smtClean="0">
                                  <a:latin typeface="Latin Modern Math" panose="02040503050406030204" pitchFamily="18" charset="0"/>
                                </a:rPr>
                                <m:t>𝑢</m:t>
                              </m:r>
                            </m:e>
                          </m:acc>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r>
                                <a:rPr lang="en-US" sz="1500" b="0" i="1" smtClean="0">
                                  <a:latin typeface="Latin Modern Math" panose="02040503050406030204" pitchFamily="18" charset="0"/>
                                </a:rPr>
                                <m:t>,</m:t>
                              </m:r>
                              <m:r>
                                <a:rPr lang="en-US" sz="1500" b="0" i="1" smtClean="0">
                                  <a:latin typeface="Latin Modern Math" panose="02040503050406030204" pitchFamily="18" charset="0"/>
                                </a:rPr>
                                <m:t>𝑠</m:t>
                              </m:r>
                            </m:e>
                          </m:d>
                          <m:r>
                            <a:rPr lang="en-US" sz="1500" b="0" i="1" smtClean="0">
                              <a:latin typeface="Latin Modern Math" panose="02040503050406030204" pitchFamily="18" charset="0"/>
                            </a:rPr>
                            <m:t>=</m:t>
                          </m:r>
                          <m:sSub>
                            <m:sSubPr>
                              <m:ctrlPr>
                                <a:rPr lang="en-US" sz="1500" b="0" i="1" smtClean="0">
                                  <a:solidFill>
                                    <a:srgbClr val="00B050"/>
                                  </a:solidFill>
                                  <a:latin typeface="Latin Modern Math" panose="02040503050406030204" pitchFamily="18" charset="0"/>
                                </a:rPr>
                              </m:ctrlPr>
                            </m:sSubPr>
                            <m:e>
                              <m:r>
                                <a:rPr lang="en-US" sz="1500" b="0" i="1" smtClean="0">
                                  <a:solidFill>
                                    <a:srgbClr val="00B050"/>
                                  </a:solidFill>
                                  <a:latin typeface="Latin Modern Math" panose="02040503050406030204" pitchFamily="18" charset="0"/>
                                </a:rPr>
                                <m:t>𝑤</m:t>
                              </m:r>
                            </m:e>
                            <m:sub>
                              <m:r>
                                <m:rPr>
                                  <m:nor/>
                                </m:rPr>
                                <a:rPr lang="en-US" sz="1050" b="0" i="1" smtClean="0">
                                  <a:solidFill>
                                    <a:srgbClr val="00B050"/>
                                  </a:solidFill>
                                  <a:latin typeface="Latin Modern Math" panose="02040503050406030204" pitchFamily="18" charset="0"/>
                                </a:rPr>
                                <m:t>1</m:t>
                              </m:r>
                            </m:sub>
                          </m:sSub>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e>
                          </m:d>
                        </m:e>
                        <m:e>
                          <m:r>
                            <a:rPr lang="en-US" sz="1500" b="0" i="1" smtClean="0">
                              <a:latin typeface="Latin Modern Math" panose="02040503050406030204" pitchFamily="18" charset="0"/>
                            </a:rPr>
                            <m:t>+</m:t>
                          </m:r>
                          <m:r>
                            <a:rPr lang="en-US" sz="1500" b="0" i="1" smtClean="0">
                              <a:latin typeface="Latin Modern Math" panose="02040503050406030204" pitchFamily="18" charset="0"/>
                            </a:rPr>
                            <m:t>𝑠</m:t>
                          </m:r>
                          <m:sSub>
                            <m:sSubPr>
                              <m:ctrlPr>
                                <a:rPr lang="en-US" sz="1500" b="0" i="1" smtClean="0">
                                  <a:solidFill>
                                    <a:srgbClr val="00B050"/>
                                  </a:solidFill>
                                  <a:latin typeface="Latin Modern Math" panose="02040503050406030204" pitchFamily="18" charset="0"/>
                                </a:rPr>
                              </m:ctrlPr>
                            </m:sSubPr>
                            <m:e>
                              <m:r>
                                <a:rPr lang="en-US" sz="1500" b="0" i="1" smtClean="0">
                                  <a:solidFill>
                                    <a:srgbClr val="00B050"/>
                                  </a:solidFill>
                                  <a:latin typeface="Latin Modern Math" panose="02040503050406030204" pitchFamily="18" charset="0"/>
                                </a:rPr>
                                <m:t>𝑤</m:t>
                              </m:r>
                            </m:e>
                            <m:sub>
                              <m:r>
                                <m:rPr>
                                  <m:nor/>
                                </m:rPr>
                                <a:rPr lang="en-US" sz="1050" b="0" i="1" smtClean="0">
                                  <a:solidFill>
                                    <a:srgbClr val="00B050"/>
                                  </a:solidFill>
                                  <a:latin typeface="Latin Modern Math" panose="02040503050406030204" pitchFamily="18" charset="0"/>
                                </a:rPr>
                                <m:t>2</m:t>
                              </m:r>
                            </m:sub>
                          </m:sSub>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e>
                          </m:d>
                        </m:e>
                        <m:e>
                          <m:r>
                            <a:rPr lang="en-US" sz="1500" b="0" i="1" smtClean="0">
                              <a:latin typeface="Latin Modern Math" panose="02040503050406030204" pitchFamily="18" charset="0"/>
                            </a:rPr>
                            <m:t>+</m:t>
                          </m:r>
                          <m:nary>
                            <m:naryPr>
                              <m:limLoc m:val="subSup"/>
                              <m:ctrlPr>
                                <a:rPr lang="en-US" sz="1500" b="0" i="1" smtClean="0">
                                  <a:latin typeface="Latin Modern Math" panose="02040503050406030204" pitchFamily="18" charset="0"/>
                                </a:rPr>
                              </m:ctrlPr>
                            </m:naryPr>
                            <m:sub>
                              <m:r>
                                <m:rPr>
                                  <m:nor/>
                                </m:rPr>
                                <a:rPr lang="en-US" sz="1050" b="0" i="1" smtClean="0">
                                  <a:latin typeface="Latin Modern Math" panose="02040503050406030204" pitchFamily="18" charset="0"/>
                                </a:rPr>
                                <m:t>0</m:t>
                              </m:r>
                            </m:sub>
                            <m:sup>
                              <m:r>
                                <m:rPr>
                                  <m:nor/>
                                </m:rPr>
                                <a:rPr lang="en-US" sz="1050" b="0" i="1" smtClean="0">
                                  <a:latin typeface="Latin Modern Math" panose="02040503050406030204" pitchFamily="18" charset="0"/>
                                </a:rPr>
                                <m:t>𝑠</m:t>
                              </m:r>
                            </m:sup>
                            <m:e>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𝑠</m:t>
                                  </m:r>
                                  <m:r>
                                    <a:rPr lang="en-US" sz="1500" b="0" i="1" smtClean="0">
                                      <a:latin typeface="Latin Modern Math" panose="02040503050406030204" pitchFamily="18" charset="0"/>
                                    </a:rPr>
                                    <m:t>−</m:t>
                                  </m:r>
                                  <m:r>
                                    <a:rPr lang="en-US" sz="1500" b="0" i="1" smtClean="0">
                                      <a:latin typeface="Latin Modern Math" panose="02040503050406030204" pitchFamily="18" charset="0"/>
                                    </a:rPr>
                                    <m:t>𝜉</m:t>
                                  </m:r>
                                </m:e>
                              </m:d>
                            </m:e>
                          </m:nary>
                          <m:sSub>
                            <m:sSubPr>
                              <m:ctrlPr>
                                <a:rPr lang="en-US" sz="1500" b="0" i="1" smtClean="0">
                                  <a:latin typeface="Latin Modern Math" panose="02040503050406030204" pitchFamily="18" charset="0"/>
                                </a:rPr>
                              </m:ctrlPr>
                            </m:sSubPr>
                            <m:e>
                              <m:r>
                                <a:rPr lang="en-US" sz="1500" b="0" i="1" smtClean="0">
                                  <a:latin typeface="Latin Modern Math" panose="02040503050406030204" pitchFamily="18" charset="0"/>
                                </a:rPr>
                                <m:t>𝑢</m:t>
                              </m:r>
                            </m:e>
                            <m:sub>
                              <m:r>
                                <m:rPr>
                                  <m:nor/>
                                </m:rPr>
                                <a:rPr lang="en-US" sz="1050" b="0" i="1" smtClean="0">
                                  <a:latin typeface="Latin Modern Math" panose="02040503050406030204" pitchFamily="18" charset="0"/>
                                </a:rPr>
                                <m:t>𝜉𝜉</m:t>
                              </m:r>
                            </m:sub>
                          </m:sSub>
                          <m:d>
                            <m:dPr>
                              <m:ctrlPr>
                                <a:rPr lang="en-US" sz="1500" b="0" i="1" smtClean="0">
                                  <a:latin typeface="Latin Modern Math" panose="02040503050406030204" pitchFamily="18" charset="0"/>
                                </a:rPr>
                              </m:ctrlPr>
                            </m:dPr>
                            <m:e>
                              <m:r>
                                <a:rPr lang="en-US" sz="1500" b="0" i="1" smtClean="0">
                                  <a:latin typeface="Latin Modern Math" panose="02040503050406030204" pitchFamily="18" charset="0"/>
                                </a:rPr>
                                <m:t>𝑡</m:t>
                              </m:r>
                              <m:r>
                                <a:rPr lang="en-US" sz="1500" b="0" i="1" smtClean="0">
                                  <a:latin typeface="Latin Modern Math" panose="02040503050406030204" pitchFamily="18" charset="0"/>
                                </a:rPr>
                                <m:t>,</m:t>
                              </m:r>
                              <m:r>
                                <a:rPr lang="en-US" sz="1500" b="0" i="1" smtClean="0">
                                  <a:latin typeface="Latin Modern Math" panose="02040503050406030204" pitchFamily="18" charset="0"/>
                                </a:rPr>
                                <m:t>𝜉</m:t>
                              </m:r>
                            </m:e>
                          </m:d>
                          <m:r>
                            <a:rPr lang="en-US" sz="1500" b="0" i="1" smtClean="0">
                              <a:latin typeface="Latin Modern Math" panose="02040503050406030204" pitchFamily="18" charset="0"/>
                            </a:rPr>
                            <m:t>𝑑</m:t>
                          </m:r>
                          <m:r>
                            <a:rPr lang="en-US" sz="1500" b="0" i="1" smtClean="0">
                              <a:latin typeface="Latin Modern Math" panose="02040503050406030204" pitchFamily="18" charset="0"/>
                            </a:rPr>
                            <m:t>𝜉</m:t>
                          </m:r>
                        </m:e>
                      </m:eqArr>
                    </m:oMath>
                  </m:oMathPara>
                </a14:m>
                <a:endParaRPr lang="en-NL" sz="1500" dirty="0">
                  <a:latin typeface="Latin Modern Math"/>
                </a:endParaRPr>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solidFill>
                            <a:srgbClr val="00B050"/>
                          </a:solidFill>
                          <a:latin typeface="Latin Modern Math" panose="02040503050406030204" pitchFamily="18" charset="0"/>
                        </a:rPr>
                        <m:t>𝒯</m:t>
                      </m:r>
                      <m:sSub>
                        <m:sSubPr>
                          <m:ctrlPr>
                            <a:rPr lang="en-US" sz="2100" b="0" i="1" smtClean="0">
                              <a:latin typeface="Latin Modern Math" panose="02040503050406030204" pitchFamily="18" charset="0"/>
                            </a:rPr>
                          </m:ctrlPr>
                        </m:sSubPr>
                        <m:e>
                          <m:acc>
                            <m:accPr>
                              <m:chr m:val="̇"/>
                              <m:ctrlPr>
                                <a:rPr lang="en-US" sz="2100" b="0" i="1" smtClean="0">
                                  <a:latin typeface="Latin Modern Math" panose="02040503050406030204" pitchFamily="18" charset="0"/>
                                </a:rPr>
                              </m:ctrlPr>
                            </m:accPr>
                            <m:e>
                              <m:r>
                                <a:rPr lang="en-US" sz="2100" b="0" i="1" smtClean="0">
                                  <a:latin typeface="Latin Modern Math" panose="02040503050406030204" pitchFamily="18" charset="0"/>
                                </a:rPr>
                                <m:t>𝐱</m:t>
                              </m:r>
                            </m:e>
                          </m:acc>
                        </m:e>
                        <m:sub>
                          <m:r>
                            <m:rPr>
                              <m:nor/>
                            </m:rPr>
                            <a:rPr lang="en-US" sz="1470" b="0" i="1" smtClean="0">
                              <a:latin typeface="Latin Modern Math" panose="02040503050406030204" pitchFamily="18" charset="0"/>
                            </a:rPr>
                            <m:t>𝑓</m:t>
                          </m:r>
                        </m:sub>
                      </m:sSub>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𝒜</m:t>
                      </m:r>
                      <m:sSub>
                        <m:sSubPr>
                          <m:ctrlPr>
                            <a:rPr lang="en-US" sz="2100" b="0" i="1" smtClean="0">
                              <a:latin typeface="Latin Modern Math" panose="02040503050406030204" pitchFamily="18" charset="0"/>
                            </a:rPr>
                          </m:ctrlPr>
                        </m:sSubPr>
                        <m:e>
                          <m:r>
                            <a:rPr lang="en-US" sz="2100" b="0" i="1" smtClean="0">
                              <a:latin typeface="Latin Modern Math" panose="02040503050406030204" pitchFamily="18" charset="0"/>
                            </a:rPr>
                            <m:t>𝐱</m:t>
                          </m:r>
                        </m:e>
                        <m:sub>
                          <m:r>
                            <m:rPr>
                              <m:nor/>
                            </m:rPr>
                            <a:rPr lang="en-US" sz="1470" b="0" i="1" smtClean="0">
                              <a:latin typeface="Latin Modern Math" panose="02040503050406030204" pitchFamily="18" charset="0"/>
                            </a:rPr>
                            <m:t>𝑓</m:t>
                          </m:r>
                        </m:sub>
                      </m:sSub>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ℬ</m:t>
                      </m:r>
                      <m:r>
                        <a:rPr lang="en-US" sz="2100" b="0" i="1" smtClean="0">
                          <a:latin typeface="Latin Modern Math" panose="02040503050406030204" pitchFamily="18" charset="0"/>
                        </a:rPr>
                        <m:t>𝑤</m:t>
                      </m:r>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oMath>
                  </m:oMathPara>
                </a14:m>
                <a:endParaRPr lang="en-US" sz="2100" b="0" i="1" dirty="0">
                  <a:latin typeface="Latin Modern Math" panose="02040503050406030204" pitchFamily="18" charset="0"/>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latin typeface="Latin Modern Math" panose="02040503050406030204" pitchFamily="18" charset="0"/>
                        </a:rPr>
                        <m:t>𝑧</m:t>
                      </m:r>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𝒞</m:t>
                      </m:r>
                      <m:sSub>
                        <m:sSubPr>
                          <m:ctrlPr>
                            <a:rPr lang="en-US" sz="2100" b="0" i="1" smtClean="0">
                              <a:latin typeface="Latin Modern Math" panose="02040503050406030204" pitchFamily="18" charset="0"/>
                            </a:rPr>
                          </m:ctrlPr>
                        </m:sSubPr>
                        <m:e>
                          <m:r>
                            <a:rPr lang="en-US" sz="2100" b="0" i="1" smtClean="0">
                              <a:latin typeface="Latin Modern Math" panose="02040503050406030204" pitchFamily="18" charset="0"/>
                            </a:rPr>
                            <m:t>𝐱</m:t>
                          </m:r>
                        </m:e>
                        <m:sub>
                          <m:r>
                            <m:rPr>
                              <m:nor/>
                            </m:rPr>
                            <a:rPr lang="en-US" sz="1470" b="0" i="1" smtClean="0">
                              <a:latin typeface="Latin Modern Math" panose="02040503050406030204" pitchFamily="18" charset="0"/>
                            </a:rPr>
                            <m:t>𝑓</m:t>
                          </m:r>
                        </m:sub>
                      </m:sSub>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𝒟</m:t>
                      </m:r>
                      <m:r>
                        <a:rPr lang="en-US" sz="2100" b="0" i="1" smtClean="0">
                          <a:latin typeface="Latin Modern Math" panose="02040503050406030204" pitchFamily="18" charset="0"/>
                        </a:rPr>
                        <m:t>𝑤</m:t>
                      </m:r>
                      <m:d>
                        <m:dPr>
                          <m:ctrlPr>
                            <a:rPr lang="en-US" sz="2100" b="0" i="1" smtClean="0">
                              <a:latin typeface="Latin Modern Math" panose="02040503050406030204" pitchFamily="18" charset="0"/>
                            </a:rPr>
                          </m:ctrlPr>
                        </m:dPr>
                        <m:e>
                          <m:r>
                            <a:rPr lang="en-US" sz="2100" b="0" i="1" smtClean="0">
                              <a:latin typeface="Latin Modern Math" panose="02040503050406030204" pitchFamily="18" charset="0"/>
                            </a:rPr>
                            <m:t>𝑡</m:t>
                          </m:r>
                        </m:e>
                      </m:d>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i="1" smtClean="0">
                          <a:solidFill>
                            <a:srgbClr val="00B050"/>
                          </a:solidFill>
                          <a:latin typeface="Latin Modern Math" panose="02040503050406030204" pitchFamily="18" charset="0"/>
                        </a:rPr>
                        <m:t>𝒯</m:t>
                      </m:r>
                      <m:r>
                        <a:rPr lang="en-US" sz="2100" b="0" i="1" smtClean="0">
                          <a:latin typeface="Latin Modern Math" panose="02040503050406030204" pitchFamily="18" charset="0"/>
                        </a:rPr>
                        <m:t>,</m:t>
                      </m:r>
                      <m:r>
                        <a:rPr lang="en-US" sz="2100" b="0" i="1" smtClean="0">
                          <a:solidFill>
                            <a:srgbClr val="00B050"/>
                          </a:solidFill>
                          <a:latin typeface="Latin Modern Math" panose="02040503050406030204" pitchFamily="18" charset="0"/>
                        </a:rPr>
                        <m:t>𝒜</m:t>
                      </m:r>
                      <m:r>
                        <a:rPr lang="en-US" sz="2100" b="0" i="1" smtClean="0">
                          <a:latin typeface="Latin Modern Math" panose="02040503050406030204" pitchFamily="18" charset="0"/>
                        </a:rPr>
                        <m:t>,....∈</m:t>
                      </m:r>
                      <m:sSub>
                        <m:sSubPr>
                          <m:ctrlPr>
                            <a:rPr lang="en-US" sz="2100" b="0" i="1" smtClean="0">
                              <a:latin typeface="Latin Modern Math" panose="02040503050406030204" pitchFamily="18" charset="0"/>
                            </a:rPr>
                          </m:ctrlPr>
                        </m:sSubPr>
                        <m:e>
                          <m:r>
                            <m:rPr>
                              <m:sty m:val="p"/>
                            </m:rPr>
                            <a:rPr lang="en-US" sz="2100" b="0" i="1" smtClean="0">
                              <a:latin typeface="Latin Modern Math" panose="02040503050406030204" pitchFamily="18" charset="0"/>
                            </a:rPr>
                            <m:t>Π</m:t>
                          </m:r>
                        </m:e>
                        <m:sub>
                          <m:r>
                            <m:rPr>
                              <m:nor/>
                            </m:rPr>
                            <a:rPr lang="en-US" sz="1470" b="0" i="1" smtClean="0">
                              <a:latin typeface="Latin Modern Math" panose="02040503050406030204" pitchFamily="18" charset="0"/>
                            </a:rPr>
                            <m:t>4</m:t>
                          </m:r>
                        </m:sub>
                      </m:sSub>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endParaRPr lang="en-NL" sz="2100" dirty="0">
                  <a:latin typeface="Latin Modern Math"/>
                </a:endParaRPr>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Latin Modern Math"/>
                    <a:ea typeface="Latin Modern Math"/>
                    <a:cs typeface="Latin Modern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Latin Modern Math"/>
                    <a:ea typeface="Latin Modern Math"/>
                    <a:cs typeface="Latin Modern Math"/>
                  </a:defRPr>
                </a:pPr>
                <a14:m>
                  <m:oMathPara xmlns:m="http://schemas.openxmlformats.org/officeDocument/2006/math">
                    <m:oMath>
                      <m:r>
                        <a:rPr lang="en-US" sz="1300" b="0" i="1" smtClean="0">
                          <a:latin typeface="Latin Modern Math" panose="02040503050406030204" pitchFamily="18" charset="0"/>
                        </a:rPr>
                        <m:t>𝒜</m:t>
                      </m:r>
                      <m:r>
                        <a:rPr lang="en-US" sz="1300" b="0" i="1" smtClean="0">
                          <a:latin typeface="Latin Modern Math" panose="02040503050406030204" pitchFamily="18" charset="0"/>
                        </a:rPr>
                        <m:t>+</m:t>
                      </m:r>
                      <m:r>
                        <a:rPr lang="en-US" sz="1300" b="0" i="1" smtClean="0">
                          <a:latin typeface="Latin Modern Math" panose="02040503050406030204" pitchFamily="18" charset="0"/>
                        </a:rPr>
                        <m:t>ℬ</m:t>
                      </m:r>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r>
                        <a:rPr lang="en-US" sz="1300" b="0" i="1" smtClean="0">
                          <a:latin typeface="Latin Modern Math" panose="02040503050406030204" pitchFamily="18" charset="0"/>
                        </a:rPr>
                        <m:t>, </m:t>
                      </m:r>
                      <m:r>
                        <a:rPr lang="en-US" sz="1300" b="0" i="1" smtClean="0">
                          <a:latin typeface="Latin Modern Math" panose="02040503050406030204" pitchFamily="18" charset="0"/>
                        </a:rPr>
                        <m:t>𝒜ℬ</m:t>
                      </m:r>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r>
                        <a:rPr lang="en-US" sz="1300" b="0" i="1" smtClean="0">
                          <a:latin typeface="Latin Modern Math" panose="02040503050406030204" pitchFamily="18" charset="0"/>
                        </a:rPr>
                        <m:t>, </m:t>
                      </m:r>
                      <m:sSup>
                        <m:sSupPr>
                          <m:ctrlPr>
                            <a:rPr lang="en-US" sz="1300" b="0" i="1" smtClean="0">
                              <a:latin typeface="Latin Modern Math" panose="02040503050406030204" pitchFamily="18" charset="0"/>
                            </a:rPr>
                          </m:ctrlPr>
                        </m:sSupPr>
                        <m:e>
                          <m:r>
                            <a:rPr lang="en-US" sz="1300" b="0" i="1" smtClean="0">
                              <a:latin typeface="Latin Modern Math" panose="02040503050406030204" pitchFamily="18" charset="0"/>
                            </a:rPr>
                            <m:t>𝒜</m:t>
                          </m:r>
                        </m:e>
                        <m:sup>
                          <m:r>
                            <m:rPr>
                              <m:nor/>
                            </m:rPr>
                            <a:rPr lang="en-US" sz="910" b="0" i="1" smtClean="0">
                              <a:latin typeface="Latin Modern Math" panose="02040503050406030204" pitchFamily="18" charset="0"/>
                            </a:rPr>
                            <m:t>∗</m:t>
                          </m:r>
                        </m:sup>
                      </m:sSup>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r>
                        <a:rPr lang="en-US" sz="1300" b="0" i="1" smtClean="0">
                          <a:latin typeface="Latin Modern Math" panose="02040503050406030204" pitchFamily="18" charset="0"/>
                        </a:rPr>
                        <m:t>, </m:t>
                      </m:r>
                      <m:d>
                        <m:dPr>
                          <m:begChr m:val="["/>
                          <m:endChr m:val="]"/>
                          <m:ctrlPr>
                            <a:rPr lang="en-US" sz="1300" b="0" i="1" smtClean="0">
                              <a:latin typeface="Latin Modern Math" panose="02040503050406030204" pitchFamily="18" charset="0"/>
                            </a:rPr>
                          </m:ctrlPr>
                        </m:dPr>
                        <m:e>
                          <m:m>
                            <m:mPr>
                              <m:mcs>
                                <m:mc>
                                  <m:mcPr>
                                    <m:count m:val="2"/>
                                    <m:mcJc m:val="center"/>
                                  </m:mcPr>
                                </m:mc>
                              </m:mcs>
                              <m:ctrlPr>
                                <a:rPr lang="en-US" sz="1300" b="0" i="1" smtClean="0">
                                  <a:latin typeface="Latin Modern Math" panose="02040503050406030204" pitchFamily="18" charset="0"/>
                                </a:rPr>
                              </m:ctrlPr>
                            </m:mPr>
                            <m:mr>
                              <m:e>
                                <m:r>
                                  <a:rPr lang="en-US" sz="1300" b="0" i="1" smtClean="0">
                                    <a:latin typeface="Latin Modern Math" panose="02040503050406030204" pitchFamily="18" charset="0"/>
                                  </a:rPr>
                                  <m:t>𝒜</m:t>
                                </m:r>
                              </m:e>
                              <m:e>
                                <m:r>
                                  <a:rPr lang="en-US" sz="1300" b="0" i="1" smtClean="0">
                                    <a:latin typeface="Latin Modern Math" panose="02040503050406030204" pitchFamily="18" charset="0"/>
                                  </a:rPr>
                                  <m:t>ℬ</m:t>
                                </m:r>
                              </m:e>
                            </m:mr>
                          </m:m>
                        </m:e>
                      </m:d>
                      <m:r>
                        <a:rPr lang="en-US" sz="1300" b="0" i="1" smtClean="0">
                          <a:latin typeface="Latin Modern Math" panose="02040503050406030204" pitchFamily="18" charset="0"/>
                        </a:rPr>
                        <m:t>∈</m:t>
                      </m:r>
                      <m:sSub>
                        <m:sSubPr>
                          <m:ctrlPr>
                            <a:rPr lang="en-US" sz="1300" b="0" i="1" smtClean="0">
                              <a:latin typeface="Latin Modern Math" panose="02040503050406030204" pitchFamily="18" charset="0"/>
                            </a:rPr>
                          </m:ctrlPr>
                        </m:sSubPr>
                        <m:e>
                          <m:r>
                            <m:rPr>
                              <m:sty m:val="p"/>
                            </m:rPr>
                            <a:rPr lang="en-US" sz="1300" b="0" i="1" smtClean="0">
                              <a:latin typeface="Latin Modern Math" panose="02040503050406030204" pitchFamily="18" charset="0"/>
                            </a:rPr>
                            <m:t>Π</m:t>
                          </m:r>
                        </m:e>
                        <m:sub>
                          <m:r>
                            <m:rPr>
                              <m:nor/>
                            </m:rPr>
                            <a:rPr lang="en-US" sz="910" b="0" i="1" smtClean="0">
                              <a:latin typeface="Latin Modern Math" panose="02040503050406030204" pitchFamily="18" charset="0"/>
                            </a:rPr>
                            <m:t>4</m:t>
                          </m:r>
                        </m:sub>
                      </m:sSub>
                    </m:oMath>
                  </m:oMathPara>
                </a14:m>
                <a:endParaRPr lang="en-US" sz="1300" b="0" dirty="0">
                  <a:latin typeface="Latin Modern Math"/>
                </a:endParaRPr>
              </a:p>
              <a:p>
                <a:pPr algn="ctr">
                  <a:spcAft>
                    <a:spcPts val="0"/>
                  </a:spcAft>
                  <a:defRPr sz="1300" b="0" u="none" cap="none">
                    <a:solidFill>
                      <a:srgbClr val="252529"/>
                    </a:solidFill>
                    <a:latin typeface="Latin Modern Math"/>
                    <a:ea typeface="Latin Modern Math"/>
                    <a:cs typeface="Latin Modern Math"/>
                  </a:defRPr>
                </a:pPr>
                <a:endParaRPr lang="en-NL" sz="1300" dirty="0">
                  <a:latin typeface="Latin Modern Math"/>
                </a:endParaRPr>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Latin Modern Math"/>
                    <a:ea typeface="Latin Modern Math"/>
                    <a:cs typeface="Latin Modern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r>
                  <a:rPr lang="en-US" sz="1600" b="0" i="1" dirty="0"/>
                  <a:t>Exponential stability  of PDE</a:t>
                </a: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m:t>
                      </m:r>
                      <m:r>
                        <a:rPr lang="en-US" sz="1600" b="0" i="1" smtClean="0">
                          <a:latin typeface="Latin Modern Math" panose="02040503050406030204" pitchFamily="18" charset="0"/>
                        </a:rPr>
                        <m:t>𝒫</m:t>
                      </m:r>
                      <m:r>
                        <a:rPr lang="en-US" sz="1600" b="0" i="1" smtClean="0">
                          <a:latin typeface="Latin Modern Math" panose="02040503050406030204" pitchFamily="18" charset="0"/>
                        </a:rPr>
                        <m:t>≻0, </m:t>
                      </m:r>
                      <m:sSup>
                        <m:sSupPr>
                          <m:ctrlPr>
                            <a:rPr lang="en-US" sz="1600" b="0" i="1" smtClean="0">
                              <a:latin typeface="Latin Modern Math" panose="02040503050406030204" pitchFamily="18" charset="0"/>
                            </a:rPr>
                          </m:ctrlPr>
                        </m:sSupPr>
                        <m:e>
                          <m:r>
                            <a:rPr lang="en-US" sz="1600" b="0" i="1" smtClean="0">
                              <a:latin typeface="Latin Modern Math" panose="02040503050406030204" pitchFamily="18" charset="0"/>
                            </a:rPr>
                            <m:t>𝒯</m:t>
                          </m:r>
                        </m:e>
                        <m:sup>
                          <m:r>
                            <m:rPr>
                              <m:nor/>
                            </m:rPr>
                            <a:rPr lang="en-US" sz="1120" b="0" i="1" smtClean="0">
                              <a:latin typeface="Latin Modern Math" panose="02040503050406030204" pitchFamily="18" charset="0"/>
                            </a:rPr>
                            <m:t>∗</m:t>
                          </m:r>
                        </m:sup>
                      </m:sSup>
                      <m:r>
                        <a:rPr lang="en-US" sz="1600" b="0" i="1" smtClean="0">
                          <a:latin typeface="Latin Modern Math" panose="02040503050406030204" pitchFamily="18" charset="0"/>
                        </a:rPr>
                        <m:t>𝒫𝒜</m:t>
                      </m:r>
                      <m:r>
                        <a:rPr lang="en-US" sz="1600" b="0" i="1" smtClean="0">
                          <a:latin typeface="Latin Modern Math" panose="02040503050406030204" pitchFamily="18" charset="0"/>
                        </a:rPr>
                        <m:t>+</m:t>
                      </m:r>
                      <m:sSup>
                        <m:sSupPr>
                          <m:ctrlPr>
                            <a:rPr lang="en-US" sz="1600" b="0" i="1" smtClean="0">
                              <a:latin typeface="Latin Modern Math" panose="02040503050406030204" pitchFamily="18" charset="0"/>
                            </a:rPr>
                          </m:ctrlPr>
                        </m:sSupPr>
                        <m:e>
                          <m:r>
                            <a:rPr lang="en-US" sz="1600" b="0" i="1" smtClean="0">
                              <a:latin typeface="Latin Modern Math" panose="02040503050406030204" pitchFamily="18" charset="0"/>
                            </a:rPr>
                            <m:t>𝒜</m:t>
                          </m:r>
                        </m:e>
                        <m:sup>
                          <m:r>
                            <m:rPr>
                              <m:nor/>
                            </m:rPr>
                            <a:rPr lang="en-US" sz="1120" b="0" i="1" smtClean="0">
                              <a:latin typeface="Latin Modern Math" panose="02040503050406030204" pitchFamily="18" charset="0"/>
                            </a:rPr>
                            <m:t>∗</m:t>
                          </m:r>
                        </m:sup>
                      </m:sSup>
                      <m:r>
                        <a:rPr lang="en-US" sz="1600" b="0" i="1" smtClean="0">
                          <a:latin typeface="Latin Modern Math" panose="02040503050406030204" pitchFamily="18" charset="0"/>
                        </a:rPr>
                        <m:t>𝒫𝒯</m:t>
                      </m:r>
                      <m:r>
                        <a:rPr lang="en-US" sz="1600" b="0" i="1" smtClean="0">
                          <a:latin typeface="Latin Modern Math" panose="02040503050406030204" pitchFamily="18" charset="0"/>
                        </a:rPr>
                        <m:t>⪯−</m:t>
                      </m:r>
                      <m:r>
                        <a:rPr lang="en-US" sz="1600" b="0" i="1" smtClean="0">
                          <a:latin typeface="Latin Modern Math" panose="02040503050406030204" pitchFamily="18" charset="0"/>
                        </a:rPr>
                        <m:t>𝛼</m:t>
                      </m:r>
                      <m:sSup>
                        <m:sSupPr>
                          <m:ctrlPr>
                            <a:rPr lang="en-US" sz="1600" b="0" i="1" smtClean="0">
                              <a:latin typeface="Latin Modern Math" panose="02040503050406030204" pitchFamily="18" charset="0"/>
                            </a:rPr>
                          </m:ctrlPr>
                        </m:sSupPr>
                        <m:e>
                          <m:r>
                            <a:rPr lang="en-US" sz="1600" b="0" i="1" smtClean="0">
                              <a:latin typeface="Latin Modern Math" panose="02040503050406030204" pitchFamily="18" charset="0"/>
                            </a:rPr>
                            <m:t>𝒯</m:t>
                          </m:r>
                        </m:e>
                        <m:sup>
                          <m:r>
                            <m:rPr>
                              <m:nor/>
                            </m:rPr>
                            <a:rPr lang="en-US" sz="1120" b="0" i="1" smtClean="0">
                              <a:latin typeface="Latin Modern Math" panose="02040503050406030204" pitchFamily="18" charset="0"/>
                            </a:rPr>
                            <m:t>∗</m:t>
                          </m:r>
                        </m:sup>
                      </m:sSup>
                      <m:r>
                        <a:rPr lang="en-US" sz="1600" b="0" i="1" smtClean="0">
                          <a:latin typeface="Latin Modern Math" panose="02040503050406030204" pitchFamily="18" charset="0"/>
                        </a:rPr>
                        <m:t>𝒫𝒯</m:t>
                      </m:r>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i="1" smtClean="0">
                          <a:latin typeface="Latin Modern Math" panose="02040503050406030204" pitchFamily="18" charset="0"/>
                        </a:rPr>
                        <m:t>  </m:t>
                      </m:r>
                    </m:oMath>
                  </m:oMathPara>
                </a14:m>
                <a:endParaRPr lang="en-NL" sz="1600" dirty="0">
                  <a:latin typeface="Latin Modern Math"/>
                </a:endParaRPr>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Latin Modern Math"/>
                    <a:ea typeface="Latin Modern Math"/>
                    <a:cs typeface="Latin Modern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Latin Modern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𝐾</m:t>
                        </m:r>
                      </m:oMath>
                    </m:oMathPara>
                  </a14:m>
                  <a:endParaRPr sz="2590">
                    <a:latin typeface="Latin Modern Math"/>
                  </a:endParaRPr>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Latin Modern Math"/>
                          </a:rPr>
                          <m:t>𝑢</m:t>
                        </m:r>
                      </m:oMath>
                    </m:oMathPara>
                  </a14:m>
                  <a:endParaRPr sz="1998">
                    <a:latin typeface="Latin Modern Math"/>
                  </a:endParaRPr>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Latin Modern Math" panose="02040503050406030204" pitchFamily="18" charset="0"/>
                          </a:rPr>
                          <m:t>y</m:t>
                        </m:r>
                      </m:oMath>
                    </m:oMathPara>
                  </a14:m>
                  <a:endParaRPr sz="1998" dirty="0">
                    <a:latin typeface="Latin Modern Math"/>
                  </a:endParaRPr>
                </a:p>
              </p:txBody>
            </p:sp>
          </mc:Choice>
          <mc:Fallback>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𝐺</m:t>
                        </m:r>
                      </m:oMath>
                    </m:oMathPara>
                  </a14:m>
                  <a:endParaRPr sz="2590" dirty="0">
                    <a:latin typeface="Latin Modern Math"/>
                  </a:endParaRPr>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Latin Modern Math" panose="02040503050406030204" pitchFamily="18" charset="0"/>
                            </a:rPr>
                          </m:ctrlPr>
                        </m:accPr>
                        <m:e>
                          <m:r>
                            <m:rPr>
                              <m:sty m:val="p"/>
                            </m:rPr>
                            <a:rPr lang="en-US" sz="1998" b="0" i="0" smtClean="0">
                              <a:solidFill>
                                <a:srgbClr val="252529"/>
                              </a:solidFill>
                              <a:latin typeface="Latin Modern Math" panose="02040503050406030204" pitchFamily="18" charset="0"/>
                            </a:rPr>
                            <m:t>y</m:t>
                          </m:r>
                        </m:e>
                      </m:acc>
                    </m:oMath>
                  </m:oMathPara>
                </a14:m>
                <a:endParaRPr sz="1998" dirty="0">
                  <a:latin typeface="Latin Modern Math"/>
                </a:endParaRPr>
              </a:p>
            </p:txBody>
          </p:sp>
        </mc:Choice>
        <mc:Fallback>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Latin Modern Math" panose="02040503050406030204" pitchFamily="18" charset="0"/>
                            </a:rPr>
                          </m:ctrlPr>
                        </m:accPr>
                        <m:e>
                          <m:r>
                            <m:rPr>
                              <m:sty m:val="p"/>
                            </m:rPr>
                            <a:rPr lang="en-US" sz="1998" b="0" i="1" smtClean="0">
                              <a:solidFill>
                                <a:srgbClr val="252529"/>
                              </a:solidFill>
                              <a:latin typeface="Latin Modern Math" panose="02040503050406030204" pitchFamily="18" charset="0"/>
                            </a:rPr>
                            <m:t>u</m:t>
                          </m:r>
                        </m:e>
                      </m:acc>
                    </m:oMath>
                  </m:oMathPara>
                </a14:m>
                <a:endParaRPr sz="1998" dirty="0">
                  <a:latin typeface="Latin Modern Math"/>
                </a:endParaRPr>
              </a:p>
            </p:txBody>
          </p:sp>
        </mc:Choice>
        <mc:Fallback>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2899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Latin Modern Math" panose="02040503050406030204" pitchFamily="18" charset="0"/>
                          <a:ea typeface="Latin Modern Math" panose="02040503050406030204" pitchFamily="18" charset="0"/>
                        </a:rPr>
                        <m:t>Θ</m:t>
                      </m:r>
                    </m:oMath>
                  </m:oMathPara>
                </a14:m>
                <a:endParaRPr lang="en-NL" sz="2590" dirty="0">
                  <a:latin typeface="Latin Modern Math"/>
                </a:endParaRPr>
              </a:p>
            </p:txBody>
          </p:sp>
        </mc:Choice>
        <mc:Fallback>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289940"/>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666492"/>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sp>
      <p:sp>
        <p:nvSpPr>
          <p:cNvPr id="61" name="Connector: Elbow 60">
            <a:extLst>
              <a:ext uri="{FF2B5EF4-FFF2-40B4-BE49-F238E27FC236}">
                <a16:creationId xmlns:a16="http://schemas.microsoft.com/office/drawing/2014/main" id="{716F66D3-F773-9545-1661-892E4869BCFF}"/>
              </a:ext>
            </a:extLst>
          </p:cNvPr>
          <p:cNvSpPr/>
          <p:nvPr/>
        </p:nvSpPr>
        <p:spPr>
          <a:xfrm>
            <a:off x="1241246" y="2666492"/>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sp>
      <p:sp>
        <p:nvSpPr>
          <p:cNvPr id="200" name="Signal tap 200"/>
          <p:cNvSpPr/>
          <p:nvPr/>
        </p:nvSpPr>
        <p:spPr>
          <a:xfrm>
            <a:off x="2469388" y="2661412"/>
            <a:ext cx="35560" cy="35560"/>
          </a:xfrm>
          <a:prstGeom prst="ellipse">
            <a:avLst/>
          </a:prstGeom>
          <a:solidFill>
            <a:srgbClr val="252529"/>
          </a:solidFill>
          <a:ln>
            <a:noFill/>
          </a:ln>
        </p:spPr>
      </p:sp>
      <p:sp>
        <p:nvSpPr>
          <p:cNvPr id="201" name="Signal tap 201"/>
          <p:cNvSpPr/>
          <p:nvPr/>
        </p:nvSpPr>
        <p:spPr>
          <a:xfrm>
            <a:off x="1236166" y="2661412"/>
            <a:ext cx="35560" cy="35560"/>
          </a:xfrm>
          <a:prstGeom prst="ellipse">
            <a:avLst/>
          </a:prstGeom>
          <a:solidFill>
            <a:srgbClr val="252529"/>
          </a:solidFill>
          <a:ln>
            <a:noFill/>
          </a:ln>
        </p:spPr>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A8515A"/>
                              </a:solidFill>
                              <a:latin typeface="Latin Modern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A8515A"/>
                              </a:solidFill>
                              <a:latin typeface="Latin Modern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A8515A"/>
                              </a:solidFill>
                              <a:latin typeface="Latin Modern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16F9C"/>
                              </a:solidFill>
                              <a:latin typeface="Latin Modern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Latin Modern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252529"/>
                              </a:solidFill>
                              <a:latin typeface="Latin Modern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16F9C"/>
                              </a:solidFill>
                              <a:latin typeface="Latin Modern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16F9C"/>
                              </a:solidFill>
                              <a:latin typeface="Latin Modern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A8515A"/>
                              </a:solidFill>
                              <a:latin typeface="Latin Modern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Latin Modern Math"/>
                            </a:rPr>
                          </m:ctrlPr>
                        </m:dPr>
                        <m:e>
                          <m:r>
                            <a:rPr sz="1700">
                              <a:solidFill>
                                <a:srgbClr val="252529"/>
                              </a:solidFill>
                              <a:latin typeface="Latin Modern Math"/>
                            </a:rPr>
                            <m:t>1+</m:t>
                          </m:r>
                          <m:f>
                            <m:fPr>
                              <m:ctrlPr>
                                <a:rPr sz="1700" i="1">
                                  <a:solidFill>
                                    <a:srgbClr val="252529"/>
                                  </a:solidFill>
                                  <a:latin typeface="Latin Modern Math" panose="02040503050406030204" pitchFamily="18" charset="0"/>
                                </a:rPr>
                              </m:ctrlPr>
                            </m:fPr>
                            <m:num>
                              <m:sSup>
                                <m:sSupPr>
                                  <m:ctrlPr>
                                    <a:rPr sz="1700">
                                      <a:solidFill>
                                        <a:srgbClr val="252529"/>
                                      </a:solidFill>
                                      <a:latin typeface="Latin Modern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16F9C"/>
                              </a:solidFill>
                              <a:latin typeface="Latin Modern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𝑧</m:t>
                          </m:r>
                        </m:e>
                        <m:sub>
                          <m:r>
                            <m:rPr>
                              <m:sty m:val="p"/>
                              <m:nor/>
                            </m:rPr>
                            <a:rPr sz="119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Latin Modern Math"/>
                            </a:rPr>
                          </m:ctrlPr>
                        </m:dPr>
                        <m:e>
                          <m:r>
                            <a:rPr sz="1700">
                              <a:solidFill>
                                <a:srgbClr val="252529"/>
                              </a:solidFill>
                              <a:latin typeface="Latin Modern Math"/>
                            </a:rPr>
                            <m:t>𝛿</m:t>
                          </m:r>
                        </m:e>
                      </m:d>
                      <m:nary>
                        <m:naryPr>
                          <m:limLoc m:val="subSup"/>
                          <m:ctrlPr>
                            <a:rPr sz="1700">
                              <a:solidFill>
                                <a:srgbClr val="252529"/>
                              </a:solidFill>
                              <a:latin typeface="Latin Modern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A8515A"/>
                                  </a:solidFill>
                                  <a:latin typeface="Latin Modern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Latin Modern Math"/>
                            </a:rPr>
                          </m:ctrlPr>
                        </m:dPr>
                        <m:e>
                          <m:r>
                            <a:rPr sz="2400">
                              <a:solidFill>
                                <a:srgbClr val="D61016"/>
                              </a:solidFill>
                              <a:latin typeface="Latin Modern Math"/>
                            </a:rPr>
                            <m:t>𝛿</m:t>
                          </m:r>
                        </m:e>
                      </m:d>
                      <m:r>
                        <a:rPr sz="2400">
                          <a:solidFill>
                            <a:srgbClr val="252529"/>
                          </a:solidFill>
                          <a:latin typeface="Latin Modern Math"/>
                        </a:rPr>
                        <m:t>≤</m:t>
                      </m:r>
                      <m:r>
                        <a:rPr sz="2400">
                          <a:solidFill>
                            <a:srgbClr val="252529"/>
                          </a:solidFill>
                          <a:latin typeface="Latin Modern Math"/>
                        </a:rPr>
                        <m:t>𝛼</m:t>
                      </m:r>
                    </m:oMath>
                  </m:oMathPara>
                </a14:m>
                <a:endParaRPr sz="2400" dirty="0">
                  <a:latin typeface="Latin Modern Math"/>
                </a:endParaRPr>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𝑎</m:t>
                      </m:r>
                      <m:d>
                        <m:dPr>
                          <m:ctrlPr>
                            <a:rPr sz="1700">
                              <a:solidFill>
                                <a:srgbClr val="D61016"/>
                              </a:solidFill>
                              <a:latin typeface="Latin Modern Math"/>
                            </a:rPr>
                          </m:ctrlPr>
                        </m:dPr>
                        <m:e>
                          <m:r>
                            <a:rPr sz="1700">
                              <a:solidFill>
                                <a:srgbClr val="D61016"/>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𝑏</m:t>
                      </m:r>
                      <m:d>
                        <m:dPr>
                          <m:ctrlPr>
                            <a:rPr sz="1700">
                              <a:solidFill>
                                <a:srgbClr val="D61016"/>
                              </a:solidFill>
                              <a:latin typeface="Latin Modern Math"/>
                            </a:rPr>
                          </m:ctrlPr>
                        </m:dPr>
                        <m:e>
                          <m:r>
                            <a:rPr sz="1700">
                              <a:solidFill>
                                <a:srgbClr val="D61016"/>
                              </a:solidFill>
                              <a:latin typeface="Latin Modern Math"/>
                            </a:rPr>
                            <m:t>𝛿</m:t>
                          </m:r>
                        </m:e>
                      </m:d>
                      <m:r>
                        <a:rPr sz="1700">
                          <a:solidFill>
                            <a:srgbClr val="252529"/>
                          </a:solidFill>
                          <a:latin typeface="Latin Modern Math"/>
                        </a:rPr>
                        <m:t>𝑠</m:t>
                      </m:r>
                      <m:sSub>
                        <m:sSubPr>
                          <m:ctrlPr>
                            <a:rPr sz="1700">
                              <a:solidFill>
                                <a:srgbClr val="252529"/>
                              </a:solidFill>
                              <a:latin typeface="Latin Modern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Latin Modern Math"/>
                            </a:rPr>
                          </m:ctrlPr>
                        </m:dPr>
                        <m:e>
                          <m:r>
                            <a:rPr sz="1700">
                              <a:solidFill>
                                <a:srgbClr val="252529"/>
                              </a:solidFill>
                              <a:latin typeface="Latin Modern Math"/>
                            </a:rPr>
                            <m:t>1+</m:t>
                          </m:r>
                          <m:f>
                            <m:fPr>
                              <m:ctrlPr>
                                <a:rPr sz="1700" i="1">
                                  <a:solidFill>
                                    <a:srgbClr val="252529"/>
                                  </a:solidFill>
                                  <a:latin typeface="Latin Modern Math" panose="02040503050406030204" pitchFamily="18" charset="0"/>
                                </a:rPr>
                              </m:ctrlPr>
                            </m:fPr>
                            <m:num>
                              <m:sSup>
                                <m:sSupPr>
                                  <m:ctrlPr>
                                    <a:rPr sz="1700">
                                      <a:solidFill>
                                        <a:srgbClr val="252529"/>
                                      </a:solidFill>
                                      <a:latin typeface="Latin Modern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𝑧</m:t>
                          </m:r>
                        </m:e>
                        <m:sub>
                          <m:r>
                            <m:rPr>
                              <m:sty m:val="p"/>
                              <m:nor/>
                            </m:rPr>
                            <a:rPr sz="119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r>
                        <a:rPr sz="1700">
                          <a:solidFill>
                            <a:srgbClr val="252529"/>
                          </a:solidFill>
                          <a:latin typeface="Latin Modern Math"/>
                        </a:rPr>
                        <m:t>=</m:t>
                      </m:r>
                      <m:r>
                        <a:rPr sz="1700">
                          <a:solidFill>
                            <a:srgbClr val="D61016"/>
                          </a:solidFill>
                          <a:latin typeface="Latin Modern Math"/>
                        </a:rPr>
                        <m:t>𝑐</m:t>
                      </m:r>
                      <m:d>
                        <m:dPr>
                          <m:ctrlPr>
                            <a:rPr sz="1700">
                              <a:solidFill>
                                <a:srgbClr val="D61016"/>
                              </a:solidFill>
                              <a:latin typeface="Latin Modern Math"/>
                            </a:rPr>
                          </m:ctrlPr>
                        </m:dPr>
                        <m:e>
                          <m:r>
                            <a:rPr sz="1700">
                              <a:solidFill>
                                <a:srgbClr val="D61016"/>
                              </a:solidFill>
                              <a:latin typeface="Latin Modern Math"/>
                            </a:rPr>
                            <m:t>𝛿</m:t>
                          </m:r>
                        </m:e>
                      </m:d>
                      <m:nary>
                        <m:naryPr>
                          <m:limLoc m:val="subSup"/>
                          <m:ctrlPr>
                            <a:rPr sz="1700">
                              <a:solidFill>
                                <a:srgbClr val="252529"/>
                              </a:solidFill>
                              <a:latin typeface="Latin Modern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D61016"/>
                          </a:solidFill>
                          <a:latin typeface="Latin Modern Math"/>
                        </a:rPr>
                        <m:t>𝑑</m:t>
                      </m:r>
                      <m:d>
                        <m:dPr>
                          <m:ctrlPr>
                            <a:rPr sz="1700">
                              <a:solidFill>
                                <a:srgbClr val="D61016"/>
                              </a:solidFill>
                              <a:latin typeface="Latin Modern Math"/>
                            </a:rPr>
                          </m:ctrlPr>
                        </m:dPr>
                        <m:e>
                          <m:r>
                            <a:rPr sz="1700">
                              <a:solidFill>
                                <a:srgbClr val="D61016"/>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Latin Modern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Latin Modern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Latin Modern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Latin Modern Math"/>
                            </a:rPr>
                          </m:ctrlPr>
                        </m:dPr>
                        <m:e>
                          <m:r>
                            <a:rPr sz="1400">
                              <a:solidFill>
                                <a:srgbClr val="D61016"/>
                              </a:solidFill>
                              <a:latin typeface="Latin Modern Math"/>
                            </a:rPr>
                            <m:t>𝛿</m:t>
                          </m:r>
                        </m:e>
                      </m:d>
                      <m:r>
                        <a:rPr sz="1400">
                          <a:solidFill>
                            <a:srgbClr val="252529"/>
                          </a:solidFill>
                          <a:latin typeface="Latin Modern Math"/>
                        </a:rPr>
                        <m:t>≤</m:t>
                      </m:r>
                      <m:r>
                        <a:rPr sz="1400">
                          <a:solidFill>
                            <a:srgbClr val="252529"/>
                          </a:solidFill>
                          <a:latin typeface="Latin Modern Math"/>
                        </a:rPr>
                        <m:t>𝛼</m:t>
                      </m:r>
                    </m:oMath>
                  </m:oMathPara>
                </a14:m>
                <a:endParaRPr sz="1400">
                  <a:latin typeface="Latin Modern Math"/>
                </a:endParaRPr>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Latin Modern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147C60"/>
                              </a:solidFill>
                              <a:latin typeface="Latin Modern Math"/>
                            </a:rPr>
                          </m:ctrlPr>
                        </m:sSubPr>
                        <m:e>
                          <m:r>
                            <a:rPr sz="1700">
                              <a:solidFill>
                                <a:srgbClr val="147C60"/>
                              </a:solidFill>
                              <a:latin typeface="Latin Modern Math"/>
                            </a:rPr>
                            <m:t>𝑤</m:t>
                          </m:r>
                        </m:e>
                        <m:sub>
                          <m:r>
                            <m:rPr>
                              <m:sty m:val="p"/>
                              <m:nor/>
                            </m:rPr>
                            <a:rPr sz="1190">
                              <a:solidFill>
                                <a:srgbClr val="147C60"/>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Latin Modern Math"/>
                            </a:rPr>
                          </m:ctrlPr>
                        </m:dPr>
                        <m:e>
                          <m:r>
                            <a:rPr sz="1700">
                              <a:solidFill>
                                <a:srgbClr val="252529"/>
                              </a:solidFill>
                              <a:latin typeface="Latin Modern Math"/>
                            </a:rPr>
                            <m:t>1+</m:t>
                          </m:r>
                          <m:f>
                            <m:fPr>
                              <m:ctrlPr>
                                <a:rPr sz="1700" i="1">
                                  <a:solidFill>
                                    <a:srgbClr val="252529"/>
                                  </a:solidFill>
                                  <a:latin typeface="Latin Modern Math" panose="02040503050406030204" pitchFamily="18" charset="0"/>
                                </a:rPr>
                              </m:ctrlPr>
                            </m:fPr>
                            <m:num>
                              <m:sSup>
                                <m:sSupPr>
                                  <m:ctrlPr>
                                    <a:rPr sz="1700">
                                      <a:solidFill>
                                        <a:srgbClr val="252529"/>
                                      </a:solidFill>
                                      <a:latin typeface="Latin Modern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Latin Modern Math"/>
                            </a:rPr>
                          </m:ctrlPr>
                        </m:sSubPr>
                        <m:e>
                          <m:r>
                            <a:rPr sz="1700">
                              <a:solidFill>
                                <a:srgbClr val="147C60"/>
                              </a:solidFill>
                              <a:latin typeface="Latin Modern Math"/>
                            </a:rPr>
                            <m:t>𝑧</m:t>
                          </m:r>
                        </m:e>
                        <m:sub>
                          <m:r>
                            <m:rPr>
                              <m:sty m:val="p"/>
                              <m:nor/>
                            </m:rPr>
                            <a:rPr sz="1190">
                              <a:solidFill>
                                <a:srgbClr val="147C60"/>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Latin Modern Math"/>
                            </a:rPr>
                          </m:ctrlPr>
                        </m:dPr>
                        <m:e>
                          <m:r>
                            <a:rPr sz="1700">
                              <a:solidFill>
                                <a:srgbClr val="252529"/>
                              </a:solidFill>
                              <a:latin typeface="Latin Modern Math"/>
                            </a:rPr>
                            <m:t>𝛿</m:t>
                          </m:r>
                        </m:e>
                      </m:d>
                      <m:nary>
                        <m:naryPr>
                          <m:limLoc m:val="subSup"/>
                          <m:ctrlPr>
                            <a:rPr sz="1700">
                              <a:solidFill>
                                <a:srgbClr val="252529"/>
                              </a:solidFill>
                              <a:latin typeface="Latin Modern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252529"/>
                                  </a:solidFill>
                                  <a:latin typeface="Latin Modern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Latin Modern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Latin Modern Math"/>
                            </a:rPr>
                          </m:ctrlPr>
                        </m:dPr>
                        <m:e>
                          <m:r>
                            <a:rPr sz="1700">
                              <a:solidFill>
                                <a:srgbClr val="252529"/>
                              </a:solidFill>
                              <a:latin typeface="Latin Modern Math"/>
                            </a:rPr>
                            <m:t>𝛿</m:t>
                          </m:r>
                        </m:e>
                      </m:d>
                      <m:sSub>
                        <m:sSubPr>
                          <m:ctrlPr>
                            <a:rPr sz="1700">
                              <a:solidFill>
                                <a:srgbClr val="147C60"/>
                              </a:solidFill>
                              <a:latin typeface="Latin Modern Math"/>
                            </a:rPr>
                          </m:ctrlPr>
                        </m:sSubPr>
                        <m:e>
                          <m:r>
                            <a:rPr sz="1700">
                              <a:solidFill>
                                <a:srgbClr val="147C60"/>
                              </a:solidFill>
                              <a:latin typeface="Latin Modern Math"/>
                            </a:rPr>
                            <m:t>𝑤</m:t>
                          </m:r>
                        </m:e>
                        <m:sub>
                          <m:r>
                            <m:rPr>
                              <m:sty m:val="p"/>
                              <m:nor/>
                            </m:rPr>
                            <a:rPr sz="1190">
                              <a:solidFill>
                                <a:srgbClr val="147C60"/>
                              </a:solidFill>
                              <a:latin typeface="Latin Modern Math"/>
                            </a:rPr>
                            <m:t>p</m:t>
                          </m:r>
                        </m:sub>
                      </m:sSub>
                      <m:d>
                        <m:dPr>
                          <m:ctrlPr>
                            <a:rPr sz="1700">
                              <a:solidFill>
                                <a:srgbClr val="252529"/>
                              </a:solidFill>
                              <a:latin typeface="Latin Modern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Latin Modern Math" panose="02040503050406030204" pitchFamily="18" charset="0"/>
                            </a:rPr>
                          </m:ctrlPr>
                        </m:dPr>
                        <m:e>
                          <m:r>
                            <a:rPr lang="en-US" sz="1800" b="0" i="1" smtClean="0">
                              <a:latin typeface="Latin Modern Math" panose="02040503050406030204" pitchFamily="18" charset="0"/>
                            </a:rPr>
                            <m:t>𝛿</m:t>
                          </m:r>
                        </m:e>
                      </m:d>
                      <m:r>
                        <a:rPr lang="en-US" sz="1800" b="0" i="1" smtClean="0">
                          <a:latin typeface="Latin Modern Math" panose="02040503050406030204" pitchFamily="18" charset="0"/>
                        </a:rPr>
                        <m:t>≤</m:t>
                      </m:r>
                      <m:r>
                        <a:rPr lang="en-US" sz="1800" b="0" i="1" smtClean="0">
                          <a:latin typeface="Latin Modern Math" panose="02040503050406030204" pitchFamily="18" charset="0"/>
                          <a:ea typeface="Latin Modern Math" panose="02040503050406030204" pitchFamily="18" charset="0"/>
                        </a:rPr>
                        <m:t>𝛼</m:t>
                      </m:r>
                    </m:oMath>
                  </m:oMathPara>
                </a14:m>
                <a:endParaRPr lang="en-US" sz="1800" b="0" dirty="0">
                  <a:latin typeface="Latin Modern Math"/>
                </a:endParaRPr>
              </a:p>
              <a:p>
                <a:endParaRPr lang="en-US" b="0" dirty="0">
                  <a:latin typeface="Latin Modern Math"/>
                </a:endParaRPr>
              </a:p>
              <a:p>
                <a:endParaRPr lang="en-NL" dirty="0">
                  <a:latin typeface="Latin Modern Math"/>
                </a:endParaRPr>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Latin Modern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Latin Modern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Latin Modern Math" panose="02040503050406030204" pitchFamily="18" charset="0"/>
                      </a:rPr>
                      <m:t>[</m:t>
                    </m:r>
                    <m:r>
                      <a:rPr lang="en-US" b="0" i="1" smtClean="0">
                        <a:latin typeface="Latin Modern Math" panose="02040503050406030204" pitchFamily="18" charset="0"/>
                      </a:rPr>
                      <m:t>𝑃</m:t>
                    </m:r>
                    <m:r>
                      <a:rPr lang="en-US" b="0" i="1" smtClean="0">
                        <a:latin typeface="Latin Modern Math" panose="02040503050406030204" pitchFamily="18" charset="0"/>
                      </a:rPr>
                      <m:t>,</m:t>
                    </m:r>
                    <m:r>
                      <m:rPr>
                        <m:sty m:val="p"/>
                      </m:rPr>
                      <a:rPr lang="en-US" b="0" i="1" smtClean="0">
                        <a:latin typeface="Latin Modern Math" panose="02040503050406030204" pitchFamily="18" charset="0"/>
                      </a:rPr>
                      <m:t>Δ</m:t>
                    </m:r>
                    <m:r>
                      <a:rPr lang="en-US" b="0" i="1" smtClean="0">
                        <a:latin typeface="Latin Modern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Latin Modern Math" panose="02040503050406030204" pitchFamily="18" charset="0"/>
                          </a:rPr>
                        </m:ctrlPr>
                      </m:dPr>
                      <m:e>
                        <m:r>
                          <a:rPr lang="en-US" b="0" i="1" smtClean="0">
                            <a:latin typeface="Latin Modern Math" panose="02040503050406030204" pitchFamily="18" charset="0"/>
                          </a:rPr>
                          <m:t>𝛿</m:t>
                        </m:r>
                      </m:e>
                    </m:d>
                    <m:r>
                      <a:rPr lang="en-US" b="0" i="1" smtClean="0">
                        <a:latin typeface="Latin Modern Math" panose="02040503050406030204" pitchFamily="18" charset="0"/>
                      </a:rPr>
                      <m:t>≤</m:t>
                    </m:r>
                    <m:r>
                      <a:rPr lang="en-US" b="0" i="1" smtClean="0">
                        <a:latin typeface="Latin Modern Math" panose="02040503050406030204" pitchFamily="18" charset="0"/>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Latin Modern Math" panose="02040503050406030204" pitchFamily="18" charset="0"/>
                          </a:rPr>
                        </m:ctrlPr>
                      </m:sSubPr>
                      <m:e>
                        <m:d>
                          <m:dPr>
                            <m:begChr m:val="‖"/>
                            <m:endChr m:val="‖"/>
                            <m:ctrlPr>
                              <a:rPr lang="en-NL" i="1">
                                <a:latin typeface="Latin Modern Math" panose="02040503050406030204" pitchFamily="18" charset="0"/>
                              </a:rPr>
                            </m:ctrlPr>
                          </m:dPr>
                          <m:e>
                            <m:sSub>
                              <m:sSubPr>
                                <m:ctrlPr>
                                  <a:rPr lang="en-NL" i="1">
                                    <a:latin typeface="Latin Modern Math" panose="02040503050406030204" pitchFamily="18" charset="0"/>
                                  </a:rPr>
                                </m:ctrlPr>
                              </m:sSubPr>
                              <m:e>
                                <m:r>
                                  <m:rPr>
                                    <m:sty m:val="p"/>
                                  </m:rPr>
                                  <a:rPr lang="en-NL" i="1">
                                    <a:latin typeface="Latin Modern Math" panose="02040503050406030204" pitchFamily="18" charset="0"/>
                                  </a:rPr>
                                  <m:t>z</m:t>
                                </m:r>
                              </m:e>
                              <m:sub>
                                <m:r>
                                  <m:rPr>
                                    <m:sty m:val="p"/>
                                    <m:nor/>
                                  </m:rPr>
                                  <a:rPr lang="en-NL" i="1">
                                    <a:latin typeface="Latin Modern Math" panose="02040503050406030204" pitchFamily="18" charset="0"/>
                                  </a:rPr>
                                  <m:t>p</m:t>
                                </m:r>
                              </m:sub>
                            </m:sSub>
                            <m:r>
                              <a:rPr lang="en-NL" i="1">
                                <a:latin typeface="Latin Modern Math" panose="02040503050406030204" pitchFamily="18" charset="0"/>
                              </a:rPr>
                              <m:t>(</m:t>
                            </m:r>
                            <m:r>
                              <m:rPr>
                                <m:sty m:val="p"/>
                              </m:rPr>
                              <a:rPr lang="en-NL" i="1">
                                <a:latin typeface="Latin Modern Math" panose="02040503050406030204" pitchFamily="18" charset="0"/>
                              </a:rPr>
                              <m:t>t</m:t>
                            </m:r>
                            <m:r>
                              <a:rPr lang="en-NL" i="1">
                                <a:latin typeface="Latin Modern Math" panose="02040503050406030204" pitchFamily="18" charset="0"/>
                              </a:rPr>
                              <m:t>)</m:t>
                            </m:r>
                          </m:e>
                        </m:d>
                      </m:e>
                      <m:sub>
                        <m:sSub>
                          <m:sSubPr>
                            <m:ctrlPr>
                              <a:rPr lang="en-US" b="0" i="1" smtClean="0">
                                <a:latin typeface="Latin Modern Math" panose="02040503050406030204" pitchFamily="18" charset="0"/>
                              </a:rPr>
                            </m:ctrlPr>
                          </m:sSubPr>
                          <m:e>
                            <m:r>
                              <m:rPr>
                                <m:sty m:val="p"/>
                                <m:nor/>
                              </m:rPr>
                              <a:rPr lang="en-US" b="0" i="1" smtClean="0">
                                <a:latin typeface="Latin Modern Math" panose="02040503050406030204" pitchFamily="18" charset="0"/>
                              </a:rPr>
                              <m:t>L</m:t>
                            </m:r>
                          </m:e>
                          <m:sub>
                            <m:r>
                              <m:rPr>
                                <m:nor/>
                              </m:rPr>
                              <a:rPr lang="en-US" b="0" i="1" smtClean="0">
                                <a:latin typeface="Latin Modern Math" panose="02040503050406030204" pitchFamily="18" charset="0"/>
                              </a:rPr>
                              <m:t>2</m:t>
                            </m:r>
                          </m:sub>
                        </m:sSub>
                      </m:sub>
                    </m:sSub>
                    <m:r>
                      <a:rPr lang="en-NL" i="1" smtClean="0">
                        <a:latin typeface="Latin Modern Math" panose="02040503050406030204" pitchFamily="18" charset="0"/>
                        <a:ea typeface="Latin Modern Math" panose="02040503050406030204" pitchFamily="18" charset="0"/>
                      </a:rPr>
                      <m:t>≤</m:t>
                    </m:r>
                    <m:r>
                      <a:rPr lang="en-NL" i="1" smtClean="0">
                        <a:solidFill>
                          <a:srgbClr val="C00000"/>
                        </a:solidFill>
                        <a:latin typeface="Latin Modern Math" panose="02040503050406030204" pitchFamily="18" charset="0"/>
                        <a:ea typeface="Latin Modern Math" panose="02040503050406030204" pitchFamily="18" charset="0"/>
                      </a:rPr>
                      <m:t>𝛾</m:t>
                    </m:r>
                    <m:sSub>
                      <m:sSubPr>
                        <m:ctrlPr>
                          <a:rPr lang="en-US" b="0" i="1" smtClean="0">
                            <a:latin typeface="Latin Modern Math" panose="02040503050406030204" pitchFamily="18" charset="0"/>
                          </a:rPr>
                        </m:ctrlPr>
                      </m:sSubPr>
                      <m:e>
                        <m:d>
                          <m:dPr>
                            <m:begChr m:val="‖"/>
                            <m:endChr m:val="‖"/>
                            <m:ctrlPr>
                              <a:rPr lang="en-US" b="0" i="1" smtClean="0">
                                <a:latin typeface="Latin Modern Math" panose="02040503050406030204" pitchFamily="18" charset="0"/>
                              </a:rPr>
                            </m:ctrlPr>
                          </m:dPr>
                          <m:e>
                            <m:sSub>
                              <m:sSubPr>
                                <m:ctrlPr>
                                  <a:rPr lang="en-US" b="0" i="1" smtClean="0">
                                    <a:latin typeface="Latin Modern Math" panose="02040503050406030204" pitchFamily="18" charset="0"/>
                                  </a:rPr>
                                </m:ctrlPr>
                              </m:sSubPr>
                              <m:e>
                                <m:r>
                                  <m:rPr>
                                    <m:sty m:val="p"/>
                                  </m:rPr>
                                  <a:rPr lang="en-US" b="0" i="1" smtClean="0">
                                    <a:latin typeface="Latin Modern Math" panose="02040503050406030204" pitchFamily="18" charset="0"/>
                                  </a:rPr>
                                  <m:t>w</m:t>
                                </m:r>
                              </m:e>
                              <m:sub>
                                <m:r>
                                  <m:rPr>
                                    <m:sty m:val="p"/>
                                    <m:nor/>
                                  </m:rPr>
                                  <a:rPr lang="en-NL" i="1">
                                    <a:latin typeface="Latin Modern Math" panose="02040503050406030204" pitchFamily="18" charset="0"/>
                                  </a:rPr>
                                  <m:t>p</m:t>
                                </m:r>
                              </m:sub>
                            </m:sSub>
                            <m:r>
                              <a:rPr lang="en-NL" i="1">
                                <a:latin typeface="Latin Modern Math" panose="02040503050406030204" pitchFamily="18" charset="0"/>
                              </a:rPr>
                              <m:t>(</m:t>
                            </m:r>
                            <m:r>
                              <m:rPr>
                                <m:sty m:val="p"/>
                              </m:rPr>
                              <a:rPr lang="en-NL" i="1">
                                <a:latin typeface="Latin Modern Math" panose="02040503050406030204" pitchFamily="18" charset="0"/>
                              </a:rPr>
                              <m:t>t</m:t>
                            </m:r>
                            <m:r>
                              <a:rPr lang="en-NL" i="1">
                                <a:latin typeface="Latin Modern Math" panose="02040503050406030204" pitchFamily="18" charset="0"/>
                              </a:rPr>
                              <m:t>)</m:t>
                            </m:r>
                          </m:e>
                        </m:d>
                      </m:e>
                      <m:sub>
                        <m:sSub>
                          <m:sSubPr>
                            <m:ctrlPr>
                              <a:rPr lang="en-US" i="1">
                                <a:latin typeface="Latin Modern Math" panose="02040503050406030204" pitchFamily="18" charset="0"/>
                              </a:rPr>
                            </m:ctrlPr>
                          </m:sSubPr>
                          <m:e>
                            <m:r>
                              <m:rPr>
                                <m:sty m:val="p"/>
                                <m:nor/>
                              </m:rPr>
                              <a:rPr lang="en-US" i="1">
                                <a:latin typeface="Latin Modern Math" panose="02040503050406030204" pitchFamily="18" charset="0"/>
                              </a:rPr>
                              <m:t>L</m:t>
                            </m:r>
                          </m:e>
                          <m:sub>
                            <m:r>
                              <m:rPr>
                                <m:nor/>
                              </m:rPr>
                              <a:rPr lang="en-US" i="1">
                                <a:latin typeface="Latin Modern Math" panose="02040503050406030204" pitchFamily="18" charset="0"/>
                              </a:rPr>
                              <m:t>2</m:t>
                            </m:r>
                          </m:sub>
                        </m:sSub>
                      </m:sub>
                    </m:sSub>
                  </m:oMath>
                </a14:m>
                <a:endParaRPr lang="en-NL" dirty="0">
                  <a:latin typeface="Latin Modern Math"/>
                </a:endParaRPr>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2026-09-25T12:48:30Z</dcterms:modified>
</cp:coreProperties>
</file>