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9" Type="http://schemas.openxmlformats.org/officeDocument/2006/relationships/image" Target="../media/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Required dual filter</a:t>
            </a:r>
            <a:endParaRPr sz="1400"/>
          </a:p>
        </p:txBody>
      </p:sp>
      <p:sp>
        <p:nvSpPr>
          <p:cNvPr id="11003" name="Original filter"/>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252529"/>
                      </a:solidFill>
                      <a:latin typeface="Cambria Math"/>
                    </a:rPr>
                    <m:t xml:space="preserve">Θ</m:t>
                  </m:r>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r>
                          <m:e>
                            <m:r>
                              <m:rPr>
                                <m:sty m:val="i"/>
                              </m:rPr>
                              <a:rPr sz="2300">
                                <a:solidFill>
                                  <a:srgbClr val="252529"/>
                                </a:solidFill>
                                <a:latin typeface="Cambria Math"/>
                              </a:rPr>
                              <m:t xml:space="preserve">−</m:t>
                            </m:r>
                            <m:r>
                              <m:rPr>
                                <m:sty m:val="i"/>
                              </m:rPr>
                              <a:rPr sz="2300">
                                <a:solidFill>
                                  <a:srgbClr val="252529"/>
                                </a:solidFill>
                                <a:latin typeface="Cambria Math"/>
                              </a:rPr>
                              <m:t xml:space="preserve">K</m:t>
                            </m:r>
                          </m:e>
                          <m:e>
                            <m:r>
                              <m:rPr>
                                <m:sty m:val="p"/>
                              </m:rPr>
                              <a:rPr sz="2300">
                                <a:solidFill>
                                  <a:srgbClr val="252529"/>
                                </a:solidFill>
                                <a:latin typeface="Cambria Math"/>
                              </a:rPr>
                              <m:t xml:space="preserve">I</m:t>
                            </m:r>
                          </m:e>
                        </m:mr>
                      </m:m>
                    </m:e>
                  </m:d>
                </m:oMath>
              </m:oMathPara>
            </a14:m>
            <a:endParaRPr sz="2300"/>
          </a:p>
        </p:txBody>
      </p:sp>
      <p:sp>
        <p:nvSpPr>
          <p:cNvPr id="11004" name="Required dual filter"/>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2300">
                          <a:solidFill>
                            <a:srgbClr val="252529"/>
                          </a:solidFill>
                          <a:latin typeface="Cambria Math"/>
                        </a:rPr>
                      </m:ctrlPr>
                    </m:barPr>
                    <m:e>
                      <m:r>
                        <m:rPr>
                          <m:sty m:val="i"/>
                        </m:rPr>
                        <a:rPr sz="2300">
                          <a:solidFill>
                            <a:srgbClr val="252529"/>
                          </a:solidFill>
                          <a:latin typeface="Cambria Math"/>
                        </a:rPr>
                        <m:t xml:space="preserve">Θ</m:t>
                      </m:r>
                    </m:e>
                  </m:bar>
                  <m:r>
                    <m:rPr>
                      <m:sty m:val="i"/>
                    </m:rPr>
                    <a:rPr sz="2300">
                      <a:solidFill>
                        <a:srgbClr val="252529"/>
                      </a:solidFill>
                      <a:latin typeface="Cambria Math"/>
                    </a:rPr>
                    <m:t xml:space="preserve">=</m:t>
                  </m:r>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r>
                          <m:e>
                            <m:r>
                              <m:rPr>
                                <m:sty m:val="i"/>
                              </m:rPr>
                              <a:rPr sz="2300">
                                <a:solidFill>
                                  <a:srgbClr val="C81919"/>
                                </a:solidFill>
                                <a:latin typeface="Cambria Math"/>
                              </a:rPr>
                              <m:t xml:space="preserve">−</m:t>
                            </m:r>
                            <m:sSup>
                              <m:sSupPr>
                                <m:ctrlPr>
                                  <a:rPr sz="2300">
                                    <a:solidFill>
                                      <a:srgbClr val="252529"/>
                                    </a:solidFill>
                                    <a:latin typeface="Cambria Math"/>
                                  </a:rPr>
                                </m:ctrlPr>
                              </m:sSupPr>
                              <m:e>
                                <m:r>
                                  <m:rPr>
                                    <m:sty m:val="i"/>
                                  </m:rPr>
                                  <a:rPr sz="2300">
                                    <a:solidFill>
                                      <a:srgbClr val="C81919"/>
                                    </a:solidFill>
                                    <a:latin typeface="Cambria Math"/>
                                  </a:rPr>
                                  <m:t xml:space="preserve">K</m:t>
                                </m:r>
                              </m:e>
                              <m:sup>
                                <m:r>
                                  <m:rPr>
                                    <m:sty m:val="p"/>
                                  </m:rPr>
                                  <a:rPr sz="2300">
                                    <a:solidFill>
                                      <a:srgbClr val="C81919"/>
                                    </a:solidFill>
                                    <a:latin typeface="Cambria Math"/>
                                  </a:rPr>
                                  <m:t xml:space="preserve">⊤</m:t>
                                </m:r>
                              </m:sup>
                            </m:sSup>
                          </m:e>
                          <m:e>
                            <m:r>
                              <m:rPr>
                                <m:sty m:val="p"/>
                              </m:rPr>
                              <a:rPr sz="2300">
                                <a:solidFill>
                                  <a:srgbClr val="252529"/>
                                </a:solidFill>
                                <a:latin typeface="Cambria Math"/>
                              </a:rPr>
                              <m:t xml:space="preserve">I</m:t>
                            </m:r>
                          </m:e>
                        </m:mr>
                      </m:m>
                    </m:e>
                  </m:d>
                </m:oMath>
              </m:oMathPara>
            </a14:m>
            <a:endParaRPr sz="2300"/>
          </a:p>
        </p:txBody>
      </p:sp>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400">
                          <a:solidFill>
                            <a:srgbClr val="252529"/>
                          </a:solidFill>
                          <a:latin typeface="Cambria Math"/>
                        </a:rPr>
                      </m:ctrlPr>
                    </m:sSupPr>
                    <m:e>
                      <m:r>
                        <m:rPr>
                          <m:sty m:val="i"/>
                        </m:rPr>
                        <a:rPr sz="2400">
                          <a:solidFill>
                            <a:srgbClr val="252529"/>
                          </a:solidFill>
                          <a:latin typeface="Cambria Math"/>
                        </a:rPr>
                        <m:t xml:space="preserve">Θ</m:t>
                      </m:r>
                    </m:e>
                    <m:sup>
                      <m:r>
                        <m:rPr>
                          <m:sty m:val="p"/>
                        </m:rPr>
                        <a:rPr sz="2400">
                          <a:solidFill>
                            <a:srgbClr val="252529"/>
                          </a:solidFill>
                          <a:latin typeface="Cambria Math"/>
                        </a:rPr>
                        <m:t xml:space="preserve">⊤</m:t>
                      </m:r>
                    </m:sup>
                  </m:sSup>
                  <m:r>
                    <m:rPr>
                      <m:sty m:val="i"/>
                    </m:rPr>
                    <a:rPr sz="2400">
                      <a:solidFill>
                        <a:srgbClr val="252529"/>
                      </a:solidFill>
                      <a:latin typeface="Cambria Math"/>
                    </a:rPr>
                    <m:t xml:space="preserve">=</m:t>
                  </m:r>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I</m:t>
                            </m:r>
                          </m:e>
                          <m:e>
                            <m:r>
                              <m:rPr>
                                <m:sty m:val="i"/>
                              </m:rPr>
                              <a:rPr sz="2400">
                                <a:solidFill>
                                  <a:srgbClr val="C81919"/>
                                </a:solidFill>
                                <a:latin typeface="Cambria Math"/>
                              </a:rPr>
                              <m:t xml:space="preserve">−</m:t>
                            </m:r>
                            <m:sSup>
                              <m:sSupPr>
                                <m:ctrlPr>
                                  <a:rPr sz="2400">
                                    <a:solidFill>
                                      <a:srgbClr val="252529"/>
                                    </a:solidFill>
                                    <a:latin typeface="Cambria Math"/>
                                  </a:rPr>
                                </m:ctrlPr>
                              </m:sSupPr>
                              <m:e>
                                <m:r>
                                  <m:rPr>
                                    <m:sty m:val="i"/>
                                  </m:rPr>
                                  <a:rPr sz="2400">
                                    <a:solidFill>
                                      <a:srgbClr val="C81919"/>
                                    </a:solidFill>
                                    <a:latin typeface="Cambria Math"/>
                                  </a:rPr>
                                  <m:t xml:space="preserve">K</m:t>
                                </m:r>
                              </m:e>
                              <m:sup>
                                <m:r>
                                  <m:rPr>
                                    <m:sty m:val="p"/>
                                  </m:rPr>
                                  <a:rPr sz="2400">
                                    <a:solidFill>
                                      <a:srgbClr val="C81919"/>
                                    </a:solidFill>
                                    <a:latin typeface="Cambria Math"/>
                                  </a:rPr>
                                  <m:t xml:space="preserve">⊤</m:t>
                                </m:r>
                              </m:sup>
                            </m:sSup>
                          </m:e>
                        </m:m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I</m:t>
                            </m:r>
                          </m:e>
                        </m:mr>
                      </m:m>
                    </m:e>
                  </m:d>
                  <m:r>
                    <m:rPr>
                      <m:sty m:val="i"/>
                    </m:rPr>
                    <a:rPr sz="2400">
                      <a:solidFill>
                        <a:srgbClr val="252529"/>
                      </a:solidFill>
                      <a:latin typeface="Cambria Math"/>
                    </a:rPr>
                    <m:t xml:space="preserve">≠</m:t>
                  </m:r>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r>
                          <m:e>
                            <m:r>
                              <m:rPr>
                                <m:sty m:val="i"/>
                              </m:rPr>
                              <a:rPr sz="2400">
                                <a:solidFill>
                                  <a:srgbClr val="C81919"/>
                                </a:solidFill>
                                <a:latin typeface="Cambria Math"/>
                              </a:rPr>
                              <m:t xml:space="preserve">−</m:t>
                            </m:r>
                            <m:sSup>
                              <m:sSupPr>
                                <m:ctrlPr>
                                  <a:rPr sz="2400">
                                    <a:solidFill>
                                      <a:srgbClr val="252529"/>
                                    </a:solidFill>
                                    <a:latin typeface="Cambria Math"/>
                                  </a:rPr>
                                </m:ctrlPr>
                              </m:sSupPr>
                              <m:e>
                                <m:r>
                                  <m:rPr>
                                    <m:sty m:val="i"/>
                                  </m:rPr>
                                  <a:rPr sz="2400">
                                    <a:solidFill>
                                      <a:srgbClr val="C81919"/>
                                    </a:solidFill>
                                    <a:latin typeface="Cambria Math"/>
                                  </a:rPr>
                                  <m:t xml:space="preserve">K</m:t>
                                </m:r>
                              </m:e>
                              <m:sup>
                                <m:r>
                                  <m:rPr>
                                    <m:sty m:val="p"/>
                                  </m:rPr>
                                  <a:rPr sz="2400">
                                    <a:solidFill>
                                      <a:srgbClr val="C81919"/>
                                    </a:solidFill>
                                    <a:latin typeface="Cambria Math"/>
                                  </a:rPr>
                                  <m:t xml:space="preserve">⊤</m:t>
                                </m:r>
                              </m:sup>
                            </m:sSup>
                          </m:e>
                          <m:e>
                            <m:r>
                              <m:rPr>
                                <m:sty m:val="p"/>
                              </m:rPr>
                              <a:rPr sz="2400">
                                <a:solidFill>
                                  <a:srgbClr val="252529"/>
                                </a:solidFill>
                                <a:latin typeface="Cambria Math"/>
                              </a:rPr>
                              <m:t xml:space="preserve">I</m:t>
                            </m:r>
                          </m:e>
                        </m:mr>
                      </m:m>
                    </m:e>
                  </m:d>
                  <m:r>
                    <m:rPr>
                      <m:sty m:val="i"/>
                    </m:rPr>
                    <a:rPr sz="2400">
                      <a:solidFill>
                        <a:srgbClr val="252529"/>
                      </a:solidFill>
                      <a:latin typeface="Cambria Math"/>
                    </a:rPr>
                    <m:t xml:space="preserve">=</m:t>
                  </m:r>
                  <m:bar>
                    <m:barPr>
                      <m:pos m:val="bot"/>
                      <m:ctrlPr>
                        <a:rPr sz="2400">
                          <a:solidFill>
                            <a:srgbClr val="252529"/>
                          </a:solidFill>
                          <a:latin typeface="Cambria Math"/>
                        </a:rPr>
                      </m:ctrlPr>
                    </m:barPr>
                    <m:e>
                      <m:r>
                        <m:rPr>
                          <m:sty m:val="i"/>
                        </m:rPr>
                        <a:rPr sz="2400">
                          <a:solidFill>
                            <a:srgbClr val="252529"/>
                          </a:solidFill>
                          <a:latin typeface="Cambria Math"/>
                        </a:rPr>
                        <m:t xml:space="preserve">Θ</m:t>
                      </m:r>
                    </m:e>
                  </m:bar>
                </m:oMath>
              </m:oMathPara>
            </a14:m>
            <a:endParaRPr sz="2400"/>
          </a:p>
        </p:txBody>
      </p:sp>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aseline="0" b="0" i="0" u="none">
                <a:solidFill>
                  <a:srgbClr val="252529"/>
                </a:solidFill>
                <a:latin typeface="Aptos"/>
                <a:ea typeface="Aptos"/>
                <a:cs typeface="Aptos"/>
              </a:rPr>
              <a:t xml:space="preserve">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000">
                      <a:solidFill>
                        <a:srgbClr val="C81919"/>
                      </a:solidFill>
                      <a:latin typeface="Cambria Math"/>
                    </a:rPr>
                    <m:t xml:space="preserve">D</m:t>
                  </m:r>
                </m:oMath>
              </m:oMathPara>
            </a14:m>
            <a:endParaRPr sz="200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m:oMathParaPr>
                  <m:jc m:val="center"/>
                </m:oMathParaPr>
                <m:oMath>
                  <m:bar>
                    <m:barPr>
                      <m:pos m:val="bot"/>
                      <m:ctrlPr>
                        <a:rPr sz="2400">
                          <a:solidFill>
                            <a:srgbClr val="252529"/>
                          </a:solidFill>
                          <a:latin typeface="Cambria Math"/>
                        </a:rPr>
                      </m:ctrlPr>
                    </m:barPr>
                    <m:e>
                      <m:r>
                        <m:rPr>
                          <m:sty m:val="i"/>
                        </m:rPr>
                        <a:rPr sz="2400">
                          <a:solidFill>
                            <a:srgbClr val="252529"/>
                          </a:solidFill>
                          <a:latin typeface="Cambria Math"/>
                        </a:rPr>
                        <m:t xml:space="preserve">Θ</m:t>
                      </m:r>
                    </m:e>
                  </m:bar>
                  <m:r>
                    <m:rPr>
                      <m:sty m:val="i"/>
                    </m:rPr>
                    <a:rPr sz="2400">
                      <a:solidFill>
                        <a:srgbClr val="252529"/>
                      </a:solidFill>
                      <a:latin typeface="Cambria Math"/>
                    </a:rPr>
                    <m:t xml:space="preserve">=</m:t>
                  </m:r>
                  <m:r>
                    <m:rPr>
                      <m:sty m:val="p"/>
                    </m:rPr>
                    <a:rPr sz="2400">
                      <a:solidFill>
                        <a:srgbClr val="252529"/>
                      </a:solidFill>
                      <a:latin typeface="Cambria Math"/>
                    </a:rPr>
                    <m:t xml:space="preserve">D</m:t>
                  </m:r>
                  <m:d>
                    <m:dPr>
                      <m:begChr m:val="("/>
                      <m:endChr m:val=")"/>
                      <m:ctrlPr>
                        <a:rPr sz="2400">
                          <a:solidFill>
                            <a:srgbClr val="252529"/>
                          </a:solidFill>
                          <a:latin typeface="Cambria Math"/>
                        </a:rPr>
                      </m:ctrlPr>
                    </m:dPr>
                    <m:e>
                      <m:r>
                        <m:rPr>
                          <m:sty m:val="i"/>
                        </m:rPr>
                        <a:rPr sz="2400">
                          <a:solidFill>
                            <a:srgbClr val="252529"/>
                          </a:solidFill>
                          <a:latin typeface="Cambria Math"/>
                        </a:rPr>
                        <m:t xml:space="preserve">Θ</m:t>
                      </m:r>
                    </m:e>
                  </m:d>
                  <m:r>
                    <m:rPr>
                      <m:sty m:val="i"/>
                    </m:rPr>
                    <a:rPr sz="2400">
                      <a:solidFill>
                        <a:srgbClr val="252529"/>
                      </a:solidFill>
                      <a:latin typeface="Cambria Math"/>
                    </a:rPr>
                    <m:t xml:space="preserve">=</m:t>
                  </m:r>
                  <m:sSup>
                    <m:sSupPr>
                      <m:ctrlPr>
                        <a:rPr sz="2400">
                          <a:solidFill>
                            <a:srgbClr val="252529"/>
                          </a:solidFill>
                          <a:latin typeface="Cambria Math"/>
                        </a:rPr>
                      </m:ctrlPr>
                    </m:sSupPr>
                    <m:e>
                      <m:d>
                        <m:dPr>
                          <m:begChr m:val="("/>
                          <m:endChr m:val=")"/>
                          <m:ctrlPr>
                            <a:rPr sz="2400">
                              <a:solidFill>
                                <a:srgbClr val="252529"/>
                              </a:solidFill>
                              <a:latin typeface="Cambria Math"/>
                            </a:rPr>
                          </m:ctrlPr>
                        </m:dPr>
                        <m:e>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m:t>
                                    </m:r>
                                    <m:r>
                                      <m:rPr>
                                        <m:sty m:val="p"/>
                                      </m:rPr>
                                      <a:rPr sz="2400">
                                        <a:solidFill>
                                          <a:srgbClr val="252529"/>
                                        </a:solidFill>
                                        <a:latin typeface="Cambria Math"/>
                                      </a:rPr>
                                      <m:t xml:space="preserve">I</m:t>
                                    </m:r>
                                  </m:e>
                                </m:mr>
                                <m:mr>
                                  <m:e>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
                            </m:e>
                          </m:d>
                          <m:sSup>
                            <m:sSupPr>
                              <m:ctrlPr>
                                <a:rPr sz="2400">
                                  <a:solidFill>
                                    <a:srgbClr val="252529"/>
                                  </a:solidFill>
                                  <a:latin typeface="Cambria Math"/>
                                </a:rPr>
                              </m:ctrlPr>
                            </m:sSupPr>
                            <m:e>
                              <m:r>
                                <m:rPr>
                                  <m:sty m:val="i"/>
                                </m:rPr>
                                <a:rPr sz="2400">
                                  <a:solidFill>
                                    <a:srgbClr val="252529"/>
                                  </a:solidFill>
                                  <a:latin typeface="Cambria Math"/>
                                </a:rPr>
                                <m:t xml:space="preserve">Θ</m:t>
                              </m:r>
                            </m:e>
                            <m:sup>
                              <m:r>
                                <m:rPr>
                                  <m:sty m:val="p"/>
                                </m:rPr>
                                <a:rPr sz="2400">
                                  <a:solidFill>
                                    <a:srgbClr val="252529"/>
                                  </a:solidFill>
                                  <a:latin typeface="Cambria Math"/>
                                </a:rPr>
                                <m:t xml:space="preserve">⊤</m:t>
                              </m:r>
                            </m:sup>
                          </m:sSup>
                          <m:d>
                            <m:dPr>
                              <m:begChr m:val="["/>
                              <m:endChr m:val="]"/>
                              <m:ctrlPr>
                                <a:rPr sz="2400">
                                  <a:solidFill>
                                    <a:srgbClr val="252529"/>
                                  </a:solidFill>
                                  <a:latin typeface="Cambria Math"/>
                                </a:rPr>
                              </m:ctrlPr>
                            </m:dPr>
                            <m:e>
                              <m:m>
                                <m:mPr>
                                  <m:mcs>
                                    <m:mc>
                                      <m:mcPr>
                                        <m:count m:val="2"/>
                                        <m:mcJc m:val="center"/>
                                      </m:mcPr>
                                    </m:mc>
                                  </m:mcs>
                                  <m:ctrlPr>
                                    <a:rPr sz="2400">
                                      <a:solidFill>
                                        <a:srgbClr val="252529"/>
                                      </a:solidFill>
                                      <a:latin typeface="Cambria Math"/>
                                    </a:rPr>
                                  </m:ctrlPr>
                                </m:mPr>
                                <m:mr>
                                  <m:e>
                                    <m:r>
                                      <m:rPr>
                                        <m:sty m:val="p"/>
                                      </m:rPr>
                                      <a:rPr sz="2400">
                                        <a:solidFill>
                                          <a:srgbClr val="252529"/>
                                        </a:solidFill>
                                        <a:latin typeface="Cambria Math"/>
                                      </a:rPr>
                                      <m:t xml:space="preserve">0</m:t>
                                    </m:r>
                                  </m:e>
                                  <m:e>
                                    <m:r>
                                      <m:rPr>
                                        <m:sty m:val="p"/>
                                      </m:rPr>
                                      <a:rPr sz="2400">
                                        <a:solidFill>
                                          <a:srgbClr val="252529"/>
                                        </a:solidFill>
                                        <a:latin typeface="Cambria Math"/>
                                      </a:rPr>
                                      <m:t xml:space="preserve">I</m:t>
                                    </m:r>
                                  </m:e>
                                </m:mr>
                                <m:mr>
                                  <m:e>
                                    <m:r>
                                      <m:rPr>
                                        <m:sty m:val="p"/>
                                      </m:rPr>
                                      <a:rPr sz="2400">
                                        <a:solidFill>
                                          <a:srgbClr val="252529"/>
                                        </a:solidFill>
                                        <a:latin typeface="Cambria Math"/>
                                      </a:rPr>
                                      <m:t xml:space="preserve">−</m:t>
                                    </m:r>
                                    <m:r>
                                      <m:rPr>
                                        <m:sty m:val="p"/>
                                      </m:rPr>
                                      <a:rPr sz="2400">
                                        <a:solidFill>
                                          <a:srgbClr val="252529"/>
                                        </a:solidFill>
                                        <a:latin typeface="Cambria Math"/>
                                      </a:rPr>
                                      <m:t xml:space="preserve">I</m:t>
                                    </m:r>
                                  </m:e>
                                  <m:e>
                                    <m:r>
                                      <m:rPr>
                                        <m:sty m:val="p"/>
                                      </m:rPr>
                                      <a:rPr sz="2400">
                                        <a:solidFill>
                                          <a:srgbClr val="252529"/>
                                        </a:solidFill>
                                        <a:latin typeface="Cambria Math"/>
                                      </a:rPr>
                                      <m:t xml:space="preserve">0</m:t>
                                    </m:r>
                                  </m:e>
                                </m:mr>
                              </m:m>
                            </m:e>
                          </m:d>
                        </m:e>
                      </m:d>
                    </m:e>
                    <m:sup>
                      <m:r>
                        <m:rPr>
                          <m:sty m:val="p"/>
                        </m:rPr>
                        <a:rPr sz="2400">
                          <a:solidFill>
                            <a:srgbClr val="252529"/>
                          </a:solidFill>
                          <a:latin typeface="Cambria Math"/>
                        </a:rPr>
                        <m:t xml:space="preserve">−</m:t>
                      </m:r>
                      <m:r>
                        <m:rPr>
                          <m:sty m:val="p"/>
                        </m:rPr>
                        <a:rPr sz="2400">
                          <a:solidFill>
                            <a:srgbClr val="252529"/>
                          </a:solidFill>
                          <a:latin typeface="Cambria Math"/>
                        </a:rPr>
                        <m:t xml:space="preserve">1</m:t>
                      </m:r>
                    </m:sup>
                  </m:sSup>
                </m:oMath>
              </m:oMathPara>
            </a14:m>
            <a:endParaRPr sz="2400"/>
          </a:p>
        </p:txBody>
      </p:sp>
      <p:sp>
        <p:nvSpPr>
          <p:cNvPr id="11012" name="Dual operation evaluation"/>
          <p:cNvSpPr/>
          <p:nvPr/>
        </p:nvSpPr>
        <p:spPr>
          <a:xfrm>
            <a:off x="571500" y="3710940"/>
            <a:ext cx="80010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D</m:t>
                  </m:r>
                  <m:d>
                    <m:dPr>
                      <m:begChr m:val="("/>
                      <m:endChr m:val=")"/>
                      <m:ctrlPr>
                        <a:rPr sz="2200">
                          <a:solidFill>
                            <a:srgbClr val="252529"/>
                          </a:solidFill>
                          <a:latin typeface="Cambria Math"/>
                        </a:rPr>
                      </m:ctrlPr>
                    </m:dPr>
                    <m:e>
                      <m:r>
                        <m:rPr>
                          <m:sty m:val="i"/>
                        </m:rPr>
                        <a:rPr sz="2200">
                          <a:solidFill>
                            <a:srgbClr val="252529"/>
                          </a:solidFill>
                          <a:latin typeface="Cambria Math"/>
                        </a:rPr>
                        <m:t xml:space="preserve">Θ</m:t>
                      </m:r>
                    </m:e>
                  </m:d>
                  <m:r>
                    <m:rPr>
                      <m:sty m:val="i"/>
                    </m:rPr>
                    <a:rPr sz="2200">
                      <a:solidFill>
                        <a:srgbClr val="252529"/>
                      </a:solidFill>
                      <a:latin typeface="Cambria Math"/>
                    </a:rPr>
                    <m:t xml:space="preserve">=</m:t>
                  </m:r>
                  <m:sSup>
                    <m:sSupPr>
                      <m:ctrlPr>
                        <a:rPr sz="2200">
                          <a:solidFill>
                            <a:srgbClr val="252529"/>
                          </a:solidFill>
                          <a:latin typeface="Cambria Math"/>
                        </a:rPr>
                      </m:ctrlPr>
                    </m:sSupPr>
                    <m:e>
                      <m:d>
                        <m:dPr>
                          <m:begChr m:val="["/>
                          <m:endChr m:val="]"/>
                          <m:ctrlPr>
                            <a:rPr sz="2200">
                              <a:solidFill>
                                <a:srgbClr val="252529"/>
                              </a:solidFill>
                              <a:latin typeface="Cambria Math"/>
                            </a:rPr>
                          </m:ctrlPr>
                        </m:dPr>
                        <m:e>
                          <m:m>
                            <m:mPr>
                              <m:mcs>
                                <m:mc>
                                  <m:mcPr>
                                    <m:count m:val="2"/>
                                    <m:mcJc m:val="center"/>
                                  </m:mcPr>
                                </m:mc>
                              </m:mcs>
                              <m:ctrlPr>
                                <a:rPr sz="2200">
                                  <a:solidFill>
                                    <a:srgbClr val="252529"/>
                                  </a:solidFill>
                                  <a:latin typeface="Cambria Math"/>
                                </a:rPr>
                              </m:ctrlPr>
                            </m:mPr>
                            <m:mr>
                              <m:e>
                                <m:r>
                                  <m:rPr>
                                    <m:sty m:val="p"/>
                                  </m:rPr>
                                  <a:rPr sz="2200">
                                    <a:solidFill>
                                      <a:srgbClr val="252529"/>
                                    </a:solidFill>
                                    <a:latin typeface="Cambria Math"/>
                                  </a:rPr>
                                  <m:t xml:space="preserve">I</m:t>
                                </m:r>
                              </m:e>
                              <m:e>
                                <m:r>
                                  <m:rPr>
                                    <m:sty m:val="p"/>
                                  </m:rPr>
                                  <a:rPr sz="2200">
                                    <a:solidFill>
                                      <a:srgbClr val="252529"/>
                                    </a:solidFill>
                                    <a:latin typeface="Cambria Math"/>
                                  </a:rPr>
                                  <m:t xml:space="preserve">0</m:t>
                                </m:r>
                              </m:e>
                            </m:mr>
                            <m:mr>
                              <m:e>
                                <m:sSup>
                                  <m:sSupPr>
                                    <m:ctrlPr>
                                      <a:rPr sz="2200">
                                        <a:solidFill>
                                          <a:srgbClr val="252529"/>
                                        </a:solidFill>
                                        <a:latin typeface="Cambria Math"/>
                                      </a:rPr>
                                    </m:ctrlPr>
                                  </m:sSupPr>
                                  <m:e>
                                    <m:r>
                                      <m:rPr>
                                        <m:sty m:val="i"/>
                                      </m:rPr>
                                      <a:rPr sz="2200">
                                        <a:solidFill>
                                          <a:srgbClr val="C81919"/>
                                        </a:solidFill>
                                        <a:latin typeface="Cambria Math"/>
                                      </a:rPr>
                                      <m:t xml:space="preserve">K</m:t>
                                    </m:r>
                                  </m:e>
                                  <m:sup>
                                    <m:r>
                                      <m:rPr>
                                        <m:sty m:val="p"/>
                                      </m:rPr>
                                      <a:rPr sz="2200">
                                        <a:solidFill>
                                          <a:srgbClr val="C81919"/>
                                        </a:solidFill>
                                        <a:latin typeface="Cambria Math"/>
                                      </a:rPr>
                                      <m:t xml:space="preserve">⊤</m:t>
                                    </m:r>
                                  </m:sup>
                                </m:sSup>
                              </m:e>
                              <m:e>
                                <m:r>
                                  <m:rPr>
                                    <m:sty m:val="p"/>
                                  </m:rPr>
                                  <a:rPr sz="2200">
                                    <a:solidFill>
                                      <a:srgbClr val="252529"/>
                                    </a:solidFill>
                                    <a:latin typeface="Cambria Math"/>
                                  </a:rPr>
                                  <m:t xml:space="preserve">I</m:t>
                                </m:r>
                              </m:e>
                            </m:mr>
                          </m:m>
                        </m:e>
                      </m:d>
                    </m:e>
                    <m:sup>
                      <m:r>
                        <m:rPr>
                          <m:sty m:val="p"/>
                        </m:rPr>
                        <a:rPr sz="2200">
                          <a:solidFill>
                            <a:srgbClr val="252529"/>
                          </a:solidFill>
                          <a:latin typeface="Cambria Math"/>
                        </a:rPr>
                        <m:t xml:space="preserve">−</m:t>
                      </m:r>
                      <m:r>
                        <m:rPr>
                          <m:sty m:val="p"/>
                        </m:rPr>
                        <a:rPr sz="2200">
                          <a:solidFill>
                            <a:srgbClr val="252529"/>
                          </a:solidFill>
                          <a:latin typeface="Cambria Math"/>
                        </a:rPr>
                        <m:t xml:space="preserve">1</m:t>
                      </m:r>
                    </m:sup>
                  </m:sSup>
                  <m:r>
                    <m:rPr>
                      <m:sty m:val="i"/>
                    </m:rPr>
                    <a:rPr sz="2200">
                      <a:solidFill>
                        <a:srgbClr val="252529"/>
                      </a:solidFill>
                      <a:latin typeface="Cambria Math"/>
                    </a:rPr>
                    <m:t xml:space="preserve">=</m:t>
                  </m:r>
                  <m:d>
                    <m:dPr>
                      <m:begChr m:val="["/>
                      <m:endChr m:val="]"/>
                      <m:ctrlPr>
                        <a:rPr sz="2200">
                          <a:solidFill>
                            <a:srgbClr val="252529"/>
                          </a:solidFill>
                          <a:latin typeface="Cambria Math"/>
                        </a:rPr>
                      </m:ctrlPr>
                    </m:dPr>
                    <m:e>
                      <m:m>
                        <m:mPr>
                          <m:mcs>
                            <m:mc>
                              <m:mcPr>
                                <m:count m:val="2"/>
                                <m:mcJc m:val="center"/>
                              </m:mcPr>
                            </m:mc>
                          </m:mcs>
                          <m:ctrlPr>
                            <a:rPr sz="2200">
                              <a:solidFill>
                                <a:srgbClr val="252529"/>
                              </a:solidFill>
                              <a:latin typeface="Cambria Math"/>
                            </a:rPr>
                          </m:ctrlPr>
                        </m:mPr>
                        <m:mr>
                          <m:e>
                            <m:r>
                              <m:rPr>
                                <m:sty m:val="p"/>
                              </m:rPr>
                              <a:rPr sz="2200">
                                <a:solidFill>
                                  <a:srgbClr val="252529"/>
                                </a:solidFill>
                                <a:latin typeface="Cambria Math"/>
                              </a:rPr>
                              <m:t xml:space="preserve">I</m:t>
                            </m:r>
                          </m:e>
                          <m:e>
                            <m:r>
                              <m:rPr>
                                <m:sty m:val="p"/>
                              </m:rPr>
                              <a:rPr sz="2200">
                                <a:solidFill>
                                  <a:srgbClr val="252529"/>
                                </a:solidFill>
                                <a:latin typeface="Cambria Math"/>
                              </a:rPr>
                              <m:t xml:space="preserve">0</m:t>
                            </m:r>
                          </m:e>
                        </m:mr>
                        <m:mr>
                          <m:e>
                            <m:r>
                              <m:rPr>
                                <m:sty m:val="i"/>
                              </m:rPr>
                              <a:rPr sz="2200">
                                <a:solidFill>
                                  <a:srgbClr val="C81919"/>
                                </a:solidFill>
                                <a:latin typeface="Cambria Math"/>
                              </a:rPr>
                              <m:t xml:space="preserve">−</m:t>
                            </m:r>
                            <m:sSup>
                              <m:sSupPr>
                                <m:ctrlPr>
                                  <a:rPr sz="2200">
                                    <a:solidFill>
                                      <a:srgbClr val="252529"/>
                                    </a:solidFill>
                                    <a:latin typeface="Cambria Math"/>
                                  </a:rPr>
                                </m:ctrlPr>
                              </m:sSupPr>
                              <m:e>
                                <m:r>
                                  <m:rPr>
                                    <m:sty m:val="i"/>
                                  </m:rPr>
                                  <a:rPr sz="2200">
                                    <a:solidFill>
                                      <a:srgbClr val="C81919"/>
                                    </a:solidFill>
                                    <a:latin typeface="Cambria Math"/>
                                  </a:rPr>
                                  <m:t xml:space="preserve">K</m:t>
                                </m:r>
                              </m:e>
                              <m:sup>
                                <m:r>
                                  <m:rPr>
                                    <m:sty m:val="p"/>
                                  </m:rPr>
                                  <a:rPr sz="2200">
                                    <a:solidFill>
                                      <a:srgbClr val="C81919"/>
                                    </a:solidFill>
                                    <a:latin typeface="Cambria Math"/>
                                  </a:rPr>
                                  <m:t xml:space="preserve">⊤</m:t>
                                </m:r>
                              </m:sup>
                            </m:sSup>
                          </m:e>
                          <m:e>
                            <m:r>
                              <m:rPr>
                                <m:sty m:val="p"/>
                              </m:rPr>
                              <a:rPr sz="2200">
                                <a:solidFill>
                                  <a:srgbClr val="252529"/>
                                </a:solidFill>
                                <a:latin typeface="Cambria Math"/>
                              </a:rPr>
                              <m:t xml:space="preserve">I</m:t>
                            </m:r>
                          </m:e>
                        </m:mr>
                      </m:m>
                    </m:e>
                  </m:d>
                  <m:r>
                    <m:rPr>
                      <m:sty m:val="i"/>
                    </m:rPr>
                    <a:rPr sz="2200">
                      <a:solidFill>
                        <a:srgbClr val="252529"/>
                      </a:solidFill>
                      <a:latin typeface="Cambria Math"/>
                    </a:rPr>
                    <m:t xml:space="preserve">=</m:t>
                  </m:r>
                  <m:bar>
                    <m:barPr>
                      <m:pos m:val="bot"/>
                      <m:ctrlPr>
                        <a:rPr sz="2200">
                          <a:solidFill>
                            <a:srgbClr val="252529"/>
                          </a:solidFill>
                          <a:latin typeface="Cambria Math"/>
                        </a:rPr>
                      </m:ctrlPr>
                    </m:barPr>
                    <m:e>
                      <m:r>
                        <m:rPr>
                          <m:sty m:val="i"/>
                        </m:rPr>
                        <a:rPr sz="2200">
                          <a:solidFill>
                            <a:srgbClr val="252529"/>
                          </a:solidFill>
                          <a:latin typeface="Cambria Math"/>
                        </a:rPr>
                        <m:t xml:space="preserve">Θ</m:t>
                      </m:r>
                    </m:e>
                  </m:bar>
                </m:oMath>
              </m:oMathPara>
            </a14:m>
            <a:endParaRPr sz="2200"/>
          </a:p>
        </p:txBody>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