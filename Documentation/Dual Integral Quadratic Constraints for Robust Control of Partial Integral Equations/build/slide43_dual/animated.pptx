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3"/>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78" r:id="rId43"/>
    <p:sldId id="477" r:id="rId44"/>
    <p:sldId id="451" r:id="rId45"/>
    <p:sldId id="452" r:id="rId46"/>
    <p:sldId id="453" r:id="rId47"/>
    <p:sldId id="441" r:id="rId48"/>
    <p:sldId id="471" r:id="rId49"/>
    <p:sldId id="442" r:id="rId50"/>
    <p:sldId id="443" r:id="rId51"/>
    <p:sldId id="439" r:id="rId52"/>
    <p:sldId id="458" r:id="rId53"/>
    <p:sldId id="421" r:id="rId54"/>
    <p:sldId id="427" r:id="rId55"/>
    <p:sldId id="431" r:id="rId56"/>
    <p:sldId id="428" r:id="rId57"/>
    <p:sldId id="429" r:id="rId58"/>
    <p:sldId id="432" r:id="rId59"/>
    <p:sldId id="430" r:id="rId60"/>
    <p:sldId id="433" r:id="rId61"/>
    <p:sldId id="434" r:id="rId62"/>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60</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61</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slide41original_restore41_image124.png"/><Relationship Id="rId26" Type="http://schemas.openxmlformats.org/officeDocument/2006/relationships/image" Target="../media/image1290.png"/><Relationship Id="rId3" Type="http://schemas.openxmlformats.org/officeDocument/2006/relationships/image" Target="../media/image115.png"/><Relationship Id="rId21" Type="http://schemas.openxmlformats.org/officeDocument/2006/relationships/image" Target="../media/image127.png"/><Relationship Id="rId34" Type="http://schemas.openxmlformats.org/officeDocument/2006/relationships/image" Target="../media/image1350.png"/><Relationship Id="rId7" Type="http://schemas.openxmlformats.org/officeDocument/2006/relationships/image" Target="../media/slide41original_restore41_image118.png"/><Relationship Id="rId25" Type="http://schemas.openxmlformats.org/officeDocument/2006/relationships/image" Target="../media/image131.png"/><Relationship Id="rId33" Type="http://schemas.openxmlformats.org/officeDocument/2006/relationships/image" Target="../media/image136.png"/><Relationship Id="rId2" Type="http://schemas.openxmlformats.org/officeDocument/2006/relationships/notesSlide" Target="../notesSlides/notesSlide34.xml"/><Relationship Id="rId16" Type="http://schemas.openxmlformats.org/officeDocument/2006/relationships/image" Target="../media/image124.png"/><Relationship Id="rId20" Type="http://schemas.openxmlformats.org/officeDocument/2006/relationships/image" Target="../media/image126.png"/><Relationship Id="rId29"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8.png"/><Relationship Id="rId24" Type="http://schemas.openxmlformats.org/officeDocument/2006/relationships/image" Target="../media/image129.png"/><Relationship Id="rId32" Type="http://schemas.openxmlformats.org/officeDocument/2006/relationships/image" Target="../media/image1330.png"/><Relationship Id="rId5" Type="http://schemas.openxmlformats.org/officeDocument/2006/relationships/image" Target="../media/image117.png"/><Relationship Id="rId15" Type="http://schemas.openxmlformats.org/officeDocument/2006/relationships/image" Target="../media/image123.png"/><Relationship Id="rId23" Type="http://schemas.openxmlformats.org/officeDocument/2006/relationships/image" Target="../media/slide41original_image116.png"/><Relationship Id="rId28" Type="http://schemas.openxmlformats.org/officeDocument/2006/relationships/image" Target="../media/image132.png"/><Relationship Id="rId10" Type="http://schemas.openxmlformats.org/officeDocument/2006/relationships/image" Target="../media/image121.png"/><Relationship Id="rId19" Type="http://schemas.openxmlformats.org/officeDocument/2006/relationships/image" Target="../media/slide41original_restore41_image132.png"/><Relationship Id="rId31" Type="http://schemas.openxmlformats.org/officeDocument/2006/relationships/image" Target="../media/image135.png"/><Relationship Id="rId4" Type="http://schemas.openxmlformats.org/officeDocument/2006/relationships/image" Target="../media/image116.png"/><Relationship Id="rId9" Type="http://schemas.openxmlformats.org/officeDocument/2006/relationships/image" Target="../media/image120.png"/><Relationship Id="rId14" Type="http://schemas.openxmlformats.org/officeDocument/2006/relationships/image" Target="../media/image122.png"/><Relationship Id="rId22" Type="http://schemas.openxmlformats.org/officeDocument/2006/relationships/image" Target="../media/image128.png"/><Relationship Id="rId27" Type="http://schemas.openxmlformats.org/officeDocument/2006/relationships/image" Target="../media/image1310.png"/><Relationship Id="rId30" Type="http://schemas.openxmlformats.org/officeDocument/2006/relationships/image" Target="../media/image134.png"/></Relationships>
</file>

<file path=ppt/slides/_rels/slide42.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135.png"/><Relationship Id="rId5" Type="http://schemas.openxmlformats.org/officeDocument/2006/relationships/image" Target="../media/image139.png"/><Relationship Id="rId4" Type="http://schemas.openxmlformats.org/officeDocument/2006/relationships/image" Target="../media/image138.png"/></Relationships>
</file>

<file path=ppt/slides/_rels/slide43.xml.rels><?xml version="1.0" encoding="UTF-8" standalone="yes"?>
<Relationships xmlns="http://schemas.openxmlformats.org/package/2006/relationships"><Relationship Id="rId8" Type="http://schemas.openxmlformats.org/officeDocument/2006/relationships/image" Target="../media/image145.png"/><Relationship Id="rId3" Type="http://schemas.openxmlformats.org/officeDocument/2006/relationships/image" Target="../media/image140.png"/><Relationship Id="rId7" Type="http://schemas.openxmlformats.org/officeDocument/2006/relationships/image" Target="../media/image144.png"/><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image" Target="../media/image143.png"/><Relationship Id="rId5" Type="http://schemas.openxmlformats.org/officeDocument/2006/relationships/image" Target="../media/image142.png"/><Relationship Id="rId4" Type="http://schemas.openxmlformats.org/officeDocument/2006/relationships/image" Target="../media/image141.png"/><Relationship Id="rId9" Type="http://schemas.openxmlformats.org/officeDocument/2006/relationships/image" Target="../media/image146.png"/></Relationships>
</file>

<file path=ppt/slides/_rels/slide44.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5.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6.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4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4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7.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8.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8.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9.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4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9.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50.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51.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0.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1.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52.png"/><Relationship Id="rIdClosing4" Type="http://schemas.openxmlformats.org/officeDocument/2006/relationships/image" Target="../media/image33.png"/><Relationship Id="rId4" Type="http://schemas.openxmlformats.org/officeDocument/2006/relationships/image" Target="../media/image7.jpg"/></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3.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4.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7.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5.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8.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6.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54.png"/></Relationships>
</file>

<file path=ppt/slides/_rels/slide59.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53.png"/><Relationship Id="rId2" Type="http://schemas.openxmlformats.org/officeDocument/2006/relationships/notesSlide" Target="../notesSlides/notesSlide47.xml"/><Relationship Id="rId1" Type="http://schemas.openxmlformats.org/officeDocument/2006/relationships/slideLayout" Target="../slideLayouts/slideLayout12.xml"/><Relationship Id="rId4" Type="http://schemas.openxmlformats.org/officeDocument/2006/relationships/image" Target="../media/image155.png"/></Relationships>
</file>

<file path=ppt/slides/_rels/slide60.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8.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56.png"/></Relationships>
</file>

<file path=ppt/slides/_rels/slide61.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notesSlide" Target="../notesSlides/notesSlide49.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57.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 xmlns:m="http://schemas.openxmlformats.org/officeDocument/2006/math">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 xmlns:m="http://schemas.openxmlformats.org/officeDocument/2006/math">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 xmlns:m="http://schemas.openxmlformats.org/officeDocument/2006/math">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 xmlns:m="http://schemas.openxmlformats.org/officeDocument/2006/math">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 xmlns:m="http://schemas.openxmlformats.org/officeDocument/2006/math">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 xmlns:m="http://schemas.openxmlformats.org/officeDocument/2006/math">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 xmlns:m="http://schemas.openxmlformats.org/officeDocument/2006/math">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m="http://schemas.openxmlformats.org/officeDocument/2006/math" xmlns="">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 xmlns:m="http://schemas.openxmlformats.org/officeDocument/2006/math">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 xmlns:m="http://schemas.openxmlformats.org/officeDocument/2006/math">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sz="1600">
                              <a:solidFill>
                                <a:srgbClr val="252529"/>
                              </a:solidFill>
                              <a:latin typeface="Cambria Math"/>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 xmlns:m="http://schemas.openxmlformats.org/officeDocument/2006/math">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825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165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mc:Choice xmlns:a14="http://schemas.microsoft.com/office/drawing/2010/main" Requires="a14">
          <p:sp>
            <p:nvSpPr>
              <p:cNvPr id="11003" name="Original filter"/>
              <p:cNvSpPr/>
              <p:nvPr/>
            </p:nvSpPr>
            <p:spPr>
              <a:xfrm>
                <a:off x="666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𝛩</m:t>
                      </m:r>
                      <m:r>
                        <a:rPr sz="2300">
                          <a:solidFill>
                            <a:srgbClr val="252529"/>
                          </a:solidFill>
                          <a:latin typeface="Cambria Math"/>
                        </a:rPr>
                        <m:t>=</m:t>
                      </m:r>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m:rPr>
                                    <m:sty m:val="p"/>
                                  </m:rPr>
                                  <a:rPr sz="2300">
                                    <a:solidFill>
                                      <a:srgbClr val="252529"/>
                                    </a:solidFill>
                                    <a:latin typeface="Cambria Math"/>
                                  </a:rPr>
                                  <m:t>I</m:t>
                                </m:r>
                              </m:e>
                              <m:e>
                                <m:r>
                                  <a:rPr sz="2300">
                                    <a:solidFill>
                                      <a:srgbClr val="252529"/>
                                    </a:solidFill>
                                    <a:latin typeface="Cambria Math"/>
                                  </a:rPr>
                                  <m:t>0</m:t>
                                </m:r>
                              </m:e>
                            </m:mr>
                            <m:mr>
                              <m:e>
                                <m:r>
                                  <a:rPr sz="2300">
                                    <a:solidFill>
                                      <a:srgbClr val="252529"/>
                                    </a:solidFill>
                                    <a:latin typeface="Cambria Math"/>
                                  </a:rPr>
                                  <m:t>−</m:t>
                                </m:r>
                                <m:r>
                                  <a:rPr sz="2300">
                                    <a:solidFill>
                                      <a:srgbClr val="252529"/>
                                    </a:solidFill>
                                    <a:latin typeface="Cambria Math"/>
                                  </a:rPr>
                                  <m:t>𝐾</m:t>
                                </m:r>
                              </m:e>
                              <m:e>
                                <m:r>
                                  <m:rPr>
                                    <m:sty m:val="p"/>
                                  </m:rPr>
                                  <a:rPr sz="2300">
                                    <a:solidFill>
                                      <a:srgbClr val="252529"/>
                                    </a:solidFill>
                                    <a:latin typeface="Cambria Math"/>
                                  </a:rPr>
                                  <m:t>I</m:t>
                                </m:r>
                              </m:e>
                            </m:mr>
                          </m:m>
                        </m:e>
                      </m:d>
                    </m:oMath>
                  </m:oMathPara>
                </a14:m>
                <a:endParaRPr sz="2300"/>
              </a:p>
            </p:txBody>
          </p:sp>
        </mc:Choice>
        <mc:Fallback>
          <p:sp>
            <p:nvSpPr>
              <p:cNvPr id="11003" name="Original filter"/>
              <p:cNvSpPr>
                <a:spLocks noRot="1" noChangeAspect="1" noMove="1" noResize="1" noEditPoints="1" noAdjustHandles="1" noChangeArrowheads="1" noChangeShapeType="1" noTextEdit="1"/>
              </p:cNvSpPr>
              <p:nvPr/>
            </p:nvSpPr>
            <p:spPr>
              <a:xfrm>
                <a:off x="666750" y="1178560"/>
                <a:ext cx="3619500" cy="8178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04" name="Required dual filter"/>
              <p:cNvSpPr/>
              <p:nvPr/>
            </p:nvSpPr>
            <p:spPr>
              <a:xfrm>
                <a:off x="4857750" y="1178560"/>
                <a:ext cx="3619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300">
                              <a:solidFill>
                                <a:srgbClr val="252529"/>
                              </a:solidFill>
                              <a:latin typeface="Cambria Math"/>
                            </a:rPr>
                          </m:ctrlPr>
                        </m:barPr>
                        <m:e>
                          <m:r>
                            <a:rPr sz="2300">
                              <a:solidFill>
                                <a:srgbClr val="252529"/>
                              </a:solidFill>
                              <a:latin typeface="Cambria Math"/>
                            </a:rPr>
                            <m:t>𝛩</m:t>
                          </m:r>
                        </m:e>
                      </m:bar>
                      <m:r>
                        <a:rPr sz="2300">
                          <a:solidFill>
                            <a:srgbClr val="252529"/>
                          </a:solidFill>
                          <a:latin typeface="Cambria Math"/>
                        </a:rPr>
                        <m:t>=</m:t>
                      </m:r>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m:rPr>
                                    <m:sty m:val="p"/>
                                  </m:rPr>
                                  <a:rPr sz="2300">
                                    <a:solidFill>
                                      <a:srgbClr val="252529"/>
                                    </a:solidFill>
                                    <a:latin typeface="Cambria Math"/>
                                  </a:rPr>
                                  <m:t>I</m:t>
                                </m:r>
                              </m:e>
                              <m:e>
                                <m:r>
                                  <a:rPr sz="2300">
                                    <a:solidFill>
                                      <a:srgbClr val="252529"/>
                                    </a:solidFill>
                                    <a:latin typeface="Cambria Math"/>
                                  </a:rPr>
                                  <m:t>0</m:t>
                                </m:r>
                              </m:e>
                            </m:mr>
                            <m:mr>
                              <m:e>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e>
                              <m:e>
                                <m:r>
                                  <m:rPr>
                                    <m:sty m:val="p"/>
                                  </m:rPr>
                                  <a:rPr sz="2300">
                                    <a:solidFill>
                                      <a:srgbClr val="252529"/>
                                    </a:solidFill>
                                    <a:latin typeface="Cambria Math"/>
                                  </a:rPr>
                                  <m:t>I</m:t>
                                </m:r>
                              </m:e>
                            </m:mr>
                          </m:m>
                        </m:e>
                      </m:d>
                    </m:oMath>
                  </m:oMathPara>
                </a14:m>
                <a:endParaRPr sz="2300"/>
              </a:p>
            </p:txBody>
          </p:sp>
        </mc:Choice>
        <mc:Fallback>
          <p:sp>
            <p:nvSpPr>
              <p:cNvPr id="11004" name="Required dual filter"/>
              <p:cNvSpPr>
                <a:spLocks noRot="1" noChangeAspect="1" noMove="1" noResize="1" noEditPoints="1" noAdjustHandles="1" noChangeArrowheads="1" noChangeShapeType="1" noTextEdit="1"/>
              </p:cNvSpPr>
              <p:nvPr/>
            </p:nvSpPr>
            <p:spPr>
              <a:xfrm>
                <a:off x="4857750" y="1178560"/>
                <a:ext cx="3619500" cy="8178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m:rPr>
                                    <m:sty m:val="p"/>
                                  </m:rPr>
                                  <a:rPr sz="2400">
                                    <a:solidFill>
                                      <a:srgbClr val="252529"/>
                                    </a:solidFill>
                                    <a:latin typeface="Cambria Math"/>
                                  </a:rPr>
                                  <m:t>I</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m:rPr>
                                    <m:sty m:val="p"/>
                                  </m:rPr>
                                  <a:rPr sz="2400">
                                    <a:solidFill>
                                      <a:srgbClr val="252529"/>
                                    </a:solidFill>
                                    <a:latin typeface="Cambria Math"/>
                                  </a:rPr>
                                  <m:t>I</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m:rPr>
                                    <m:sty m:val="p"/>
                                  </m:rPr>
                                  <a:rPr sz="2400">
                                    <a:solidFill>
                                      <a:srgbClr val="252529"/>
                                    </a:solidFill>
                                    <a:latin typeface="Cambria Math"/>
                                  </a:rPr>
                                  <m:t>I</m:t>
                                </m:r>
                              </m:e>
                            </m:mr>
                          </m:m>
                        </m:e>
                      </m:d>
                      <m:r>
                        <a:rPr sz="2400">
                          <a:solidFill>
                            <a:srgbClr val="252529"/>
                          </a:solidFill>
                          <a:latin typeface="Cambria Math"/>
                        </a:rPr>
                        <m:t>=</m:t>
                      </m:r>
                      <m:bar>
                        <m:barPr>
                          <m:pos m:val="bot"/>
                          <m:ctrlPr>
                            <a:rPr sz="2400">
                              <a:solidFill>
                                <a:srgbClr val="252529"/>
                              </a:solidFill>
                              <a:latin typeface="Cambria Math"/>
                            </a:rPr>
                          </m:ctrlPr>
                        </m:barPr>
                        <m:e>
                          <m:r>
                            <a:rPr sz="2400">
                              <a:solidFill>
                                <a:srgbClr val="252529"/>
                              </a:solidFill>
                              <a:latin typeface="Cambria Math"/>
                            </a:rPr>
                            <m:t>𝛩</m:t>
                          </m:r>
                        </m:e>
                      </m:bar>
                    </m:oMath>
                  </m:oMathPara>
                </a14:m>
                <a:endParaRPr sz="2400"/>
              </a:p>
            </p:txBody>
          </p:sp>
        </mc:Choice>
        <mc:Fallback>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Transposing moves the controller block to the wrong position.</a:t>
            </a:r>
            <a:endParaRPr sz="1700"/>
          </a:p>
        </p:txBody>
      </p:sp>
      <p:sp>
        <p:nvSpPr>
          <p:cNvPr id="11007" name="Dual operation arrow"/>
          <p:cNvSpPr/>
          <p:nvPr/>
        </p:nvSpPr>
        <p:spPr>
          <a:xfrm>
            <a:off x="3695700" y="1574800"/>
            <a:ext cx="1752600" cy="25400"/>
          </a:xfrm>
          <a:custGeom>
            <a:avLst/>
            <a:gdLst/>
            <a:ahLst/>
            <a:cxnLst/>
            <a:rect l="0" t="0" r="r" b="b"/>
            <a:pathLst>
              <a:path w="1752600" h="25400" fill="none">
                <a:moveTo>
                  <a:pt x="12700" y="12700"/>
                </a:moveTo>
                <a:lnTo>
                  <a:pt x="1739900" y="12700"/>
                </a:lnTo>
              </a:path>
            </a:pathLst>
          </a:custGeom>
          <a:noFill/>
          <a:ln w="22860">
            <a:solidFill>
              <a:srgbClr val="C81919"/>
            </a:solidFill>
            <a:round/>
            <a:tailEnd type="triangle" w="sm" len="sm"/>
          </a:ln>
        </p:spPr>
      </p:sp>
      <mc:AlternateContent xmlns:mc="http://schemas.openxmlformats.org/markup-compatibility/2006">
        <mc:Choice xmlns:a14="http://schemas.microsoft.com/office/drawing/2010/main" Requires="a14">
          <p:sp>
            <p:nvSpPr>
              <p:cNvPr id="11008" name="Dual operation arrow label"/>
              <p:cNvSpPr/>
              <p:nvPr/>
            </p:nvSpPr>
            <p:spPr>
              <a:xfrm>
                <a:off x="4095750" y="1003300"/>
                <a:ext cx="9525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000">
                          <a:solidFill>
                            <a:srgbClr val="C81919"/>
                          </a:solidFill>
                          <a:latin typeface="Cambria Math"/>
                        </a:rPr>
                        <m:t>D</m:t>
                      </m:r>
                    </m:oMath>
                  </m:oMathPara>
                </a14:m>
                <a:endParaRPr sz="2000"/>
              </a:p>
            </p:txBody>
          </p:sp>
        </mc:Choice>
        <mc:Fallback>
          <p:sp>
            <p:nvSpPr>
              <p:cNvPr id="11008" name="Dual operation arrow label"/>
              <p:cNvSpPr>
                <a:spLocks noRot="1" noChangeAspect="1" noMove="1" noResize="1" noEditPoints="1" noAdjustHandles="1" noChangeArrowheads="1" noChangeShapeType="1" noTextEdit="1"/>
              </p:cNvSpPr>
              <p:nvPr/>
            </p:nvSpPr>
            <p:spPr>
              <a:xfrm>
                <a:off x="4095750" y="1003300"/>
                <a:ext cx="952500" cy="711200"/>
              </a:xfrm>
              <a:prstGeom prst="rect">
                <a:avLst/>
              </a:prstGeom>
              <a:blipFill>
                <a:blip r:embed="rId7"/>
                <a:stretch>
                  <a:fillRect/>
                </a:stretch>
              </a:blipFill>
              <a:ln>
                <a:noFill/>
              </a:ln>
            </p:spPr>
            <p:txBody>
              <a:bodyPr/>
              <a:lstStyle/>
              <a:p>
                <a:r>
                  <a:rPr lang="en-NL">
                    <a:noFill/>
                  </a:rPr>
                  <a:t> </a:t>
                </a:r>
              </a:p>
            </p:txBody>
          </p:sp>
        </mc:Fallback>
      </mc:AlternateContent>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Transpose · exchange the blocks · invert</a:t>
            </a:r>
            <a:endParaRPr sz="1500"/>
          </a:p>
        </p:txBody>
      </p:sp>
      <p:sp>
        <p:nvSpPr>
          <p:cNvPr id="11010" name="Dual operation result box"/>
          <p:cNvSpPr/>
          <p:nvPr/>
        </p:nvSpPr>
        <p:spPr>
          <a:xfrm>
            <a:off x="762000" y="2489200"/>
            <a:ext cx="7620000" cy="990600"/>
          </a:xfrm>
          <a:prstGeom prst="rect">
            <a:avLst/>
          </a:prstGeom>
          <a:noFill/>
          <a:ln w="22860">
            <a:solidFill>
              <a:srgbClr val="C81919"/>
            </a:solidFill>
          </a:ln>
        </p:spPr>
      </p:sp>
      <mc:AlternateContent xmlns:mc="http://schemas.openxmlformats.org/markup-compatibility/2006">
        <mc:Choice xmlns:a14="http://schemas.microsoft.com/office/drawing/2010/main" Requires="a14">
          <p:sp>
            <p:nvSpPr>
              <p:cNvPr id="11011" name="Dual operation definition"/>
              <p:cNvSpPr/>
              <p:nvPr/>
            </p:nvSpPr>
            <p:spPr>
              <a:xfrm>
                <a:off x="857250" y="2545080"/>
                <a:ext cx="74295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2400">
                              <a:solidFill>
                                <a:srgbClr val="252529"/>
                              </a:solidFill>
                              <a:latin typeface="Cambria Math"/>
                            </a:rPr>
                          </m:ctrlPr>
                        </m:barPr>
                        <m:e>
                          <m:r>
                            <a:rPr sz="2400">
                              <a:solidFill>
                                <a:srgbClr val="252529"/>
                              </a:solidFill>
                              <a:latin typeface="Cambria Math"/>
                            </a:rPr>
                            <m:t>𝛩</m:t>
                          </m:r>
                        </m:e>
                      </m:bar>
                      <m:r>
                        <a:rPr sz="2400">
                          <a:solidFill>
                            <a:srgbClr val="252529"/>
                          </a:solidFill>
                          <a:latin typeface="Cambria Math"/>
                        </a:rPr>
                        <m:t>=</m:t>
                      </m:r>
                      <m:r>
                        <m:rPr>
                          <m:sty m:val="p"/>
                        </m:rPr>
                        <a:rPr sz="2400">
                          <a:solidFill>
                            <a:srgbClr val="252529"/>
                          </a:solidFill>
                          <a:latin typeface="Cambria Math"/>
                        </a:rPr>
                        <m:t>D</m:t>
                      </m:r>
                      <m:d>
                        <m:dPr>
                          <m:ctrlPr>
                            <a:rPr sz="2400">
                              <a:solidFill>
                                <a:srgbClr val="252529"/>
                              </a:solidFill>
                              <a:latin typeface="Cambria Math"/>
                            </a:rPr>
                          </m:ctrlPr>
                        </m:dPr>
                        <m:e>
                          <m:r>
                            <a:rPr sz="2400">
                              <a:solidFill>
                                <a:srgbClr val="252529"/>
                              </a:solidFill>
                              <a:latin typeface="Cambria Math"/>
                            </a:rPr>
                            <m:t>𝛩</m:t>
                          </m:r>
                        </m:e>
                      </m:d>
                      <m:r>
                        <a:rPr sz="2400">
                          <a:solidFill>
                            <a:srgbClr val="252529"/>
                          </a:solidFill>
                          <a:latin typeface="Cambria Math"/>
                        </a:rPr>
                        <m:t>=</m:t>
                      </m:r>
                      <m:sSup>
                        <m:sSupPr>
                          <m:ctrlPr>
                            <a:rPr sz="2400" i="1">
                              <a:solidFill>
                                <a:srgbClr val="252529"/>
                              </a:solidFill>
                              <a:latin typeface="Cambria Math" panose="02040503050406030204" pitchFamily="18" charset="0"/>
                            </a:rPr>
                          </m:ctrlPr>
                        </m:sSupPr>
                        <m:e>
                          <m:d>
                            <m:dPr>
                              <m:ctrlPr>
                                <a:rPr sz="2400" i="1">
                                  <a:solidFill>
                                    <a:srgbClr val="252529"/>
                                  </a:solidFill>
                                  <a:latin typeface="Cambria Math" panose="02040503050406030204" pitchFamily="18" charset="0"/>
                                </a:rPr>
                              </m:ctrlPr>
                            </m:dPr>
                            <m:e>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a:rPr sz="2400">
                                            <a:solidFill>
                                              <a:srgbClr val="252529"/>
                                            </a:solidFill>
                                            <a:latin typeface="Cambria Math"/>
                                          </a:rPr>
                                          <m:t>−</m:t>
                                        </m:r>
                                        <m:r>
                                          <m:rPr>
                                            <m:sty m:val="p"/>
                                          </m:rPr>
                                          <a:rPr sz="2400">
                                            <a:solidFill>
                                              <a:srgbClr val="252529"/>
                                            </a:solidFill>
                                            <a:latin typeface="Cambria Math"/>
                                          </a:rPr>
                                          <m:t>I</m:t>
                                        </m:r>
                                      </m:e>
                                    </m:mr>
                                    <m:mr>
                                      <m:e>
                                        <m:r>
                                          <m:rPr>
                                            <m:sty m:val="p"/>
                                          </m:rPr>
                                          <a:rPr sz="2400">
                                            <a:solidFill>
                                              <a:srgbClr val="252529"/>
                                            </a:solidFill>
                                            <a:latin typeface="Cambria Math"/>
                                          </a:rPr>
                                          <m:t>I</m:t>
                                        </m:r>
                                      </m:e>
                                      <m:e>
                                        <m:r>
                                          <a:rPr sz="2400">
                                            <a:solidFill>
                                              <a:srgbClr val="252529"/>
                                            </a:solidFill>
                                            <a:latin typeface="Cambria Math"/>
                                          </a:rPr>
                                          <m:t>0</m:t>
                                        </m:r>
                                      </m:e>
                                    </m:mr>
                                  </m:m>
                                </m:e>
                              </m:d>
                              <m:sSup>
                                <m:sSupPr>
                                  <m:ctrlPr>
                                    <a:rPr sz="2400">
                                      <a:solidFill>
                                        <a:srgbClr val="252529"/>
                                      </a:solidFill>
                                      <a:latin typeface="Cambria Math"/>
                                    </a:rPr>
                                  </m:ctrlPr>
                                </m:sSupPr>
                                <m:e>
                                  <m:r>
                                    <a:rPr sz="2400">
                                      <a:solidFill>
                                        <a:srgbClr val="252529"/>
                                      </a:solidFill>
                                      <a:latin typeface="Cambria Math"/>
                                    </a:rPr>
                                    <m:t>𝛩</m:t>
                                  </m:r>
                                </m:e>
                                <m:sup>
                                  <m:r>
                                    <a:rPr sz="2400">
                                      <a:solidFill>
                                        <a:srgbClr val="252529"/>
                                      </a:solidFill>
                                      <a:latin typeface="Cambria Math"/>
                                    </a:rPr>
                                    <m:t>⊤</m:t>
                                  </m:r>
                                </m:sup>
                              </m:sSup>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0</m:t>
                                        </m:r>
                                      </m:e>
                                      <m:e>
                                        <m:r>
                                          <m:rPr>
                                            <m:sty m:val="p"/>
                                          </m:rPr>
                                          <a:rPr sz="2400">
                                            <a:solidFill>
                                              <a:srgbClr val="252529"/>
                                            </a:solidFill>
                                            <a:latin typeface="Cambria Math"/>
                                          </a:rPr>
                                          <m:t>I</m:t>
                                        </m:r>
                                      </m:e>
                                    </m:mr>
                                    <m:mr>
                                      <m:e>
                                        <m:r>
                                          <a:rPr sz="2400">
                                            <a:solidFill>
                                              <a:srgbClr val="252529"/>
                                            </a:solidFill>
                                            <a:latin typeface="Cambria Math"/>
                                          </a:rPr>
                                          <m:t>−</m:t>
                                        </m:r>
                                        <m:r>
                                          <m:rPr>
                                            <m:sty m:val="p"/>
                                          </m:rPr>
                                          <a:rPr sz="2400">
                                            <a:solidFill>
                                              <a:srgbClr val="252529"/>
                                            </a:solidFill>
                                            <a:latin typeface="Cambria Math"/>
                                          </a:rPr>
                                          <m:t>I</m:t>
                                        </m:r>
                                      </m:e>
                                      <m:e>
                                        <m:r>
                                          <a:rPr sz="2400">
                                            <a:solidFill>
                                              <a:srgbClr val="252529"/>
                                            </a:solidFill>
                                            <a:latin typeface="Cambria Math"/>
                                          </a:rPr>
                                          <m:t>0</m:t>
                                        </m:r>
                                      </m:e>
                                    </m:mr>
                                  </m:m>
                                </m:e>
                              </m:d>
                            </m:e>
                          </m:d>
                        </m:e>
                        <m:sup>
                          <m:r>
                            <a:rPr sz="2400">
                              <a:solidFill>
                                <a:srgbClr val="252529"/>
                              </a:solidFill>
                              <a:latin typeface="Cambria Math"/>
                            </a:rPr>
                            <m:t>−1</m:t>
                          </m:r>
                        </m:sup>
                      </m:sSup>
                    </m:oMath>
                  </m:oMathPara>
                </a14:m>
                <a:endParaRPr sz="2400"/>
              </a:p>
            </p:txBody>
          </p:sp>
        </mc:Choice>
        <mc:Fallback>
          <p:sp>
            <p:nvSpPr>
              <p:cNvPr id="11011" name="Dual operation definition"/>
              <p:cNvSpPr>
                <a:spLocks noRot="1" noChangeAspect="1" noMove="1" noResize="1" noEditPoints="1" noAdjustHandles="1" noChangeArrowheads="1" noChangeShapeType="1" noTextEdit="1"/>
              </p:cNvSpPr>
              <p:nvPr/>
            </p:nvSpPr>
            <p:spPr>
              <a:xfrm>
                <a:off x="857250" y="2545080"/>
                <a:ext cx="7429500" cy="8534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12" name="Dual operation evaluation"/>
              <p:cNvSpPr/>
              <p:nvPr/>
            </p:nvSpPr>
            <p:spPr>
              <a:xfrm>
                <a:off x="571500" y="3710940"/>
                <a:ext cx="8001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200">
                          <a:solidFill>
                            <a:srgbClr val="252529"/>
                          </a:solidFill>
                          <a:latin typeface="Cambria Math"/>
                        </a:rPr>
                        <m:t>D</m:t>
                      </m:r>
                      <m:d>
                        <m:dPr>
                          <m:ctrlPr>
                            <a:rPr sz="2200">
                              <a:solidFill>
                                <a:srgbClr val="252529"/>
                              </a:solidFill>
                              <a:latin typeface="Cambria Math"/>
                            </a:rPr>
                          </m:ctrlPr>
                        </m:dPr>
                        <m:e>
                          <m:r>
                            <a:rPr sz="2200">
                              <a:solidFill>
                                <a:srgbClr val="252529"/>
                              </a:solidFill>
                              <a:latin typeface="Cambria Math"/>
                            </a:rPr>
                            <m:t>𝛩</m:t>
                          </m:r>
                        </m:e>
                      </m:d>
                      <m:r>
                        <a:rPr sz="2200">
                          <a:solidFill>
                            <a:srgbClr val="252529"/>
                          </a:solidFill>
                          <a:latin typeface="Cambria Math"/>
                        </a:rPr>
                        <m:t>=</m:t>
                      </m:r>
                      <m:sSup>
                        <m:sSupPr>
                          <m:ctrlPr>
                            <a:rPr sz="2200" i="1">
                              <a:solidFill>
                                <a:srgbClr val="252529"/>
                              </a:solidFill>
                              <a:latin typeface="Cambria Math" panose="02040503050406030204" pitchFamily="18" charset="0"/>
                            </a:rPr>
                          </m:ctrlPr>
                        </m:sSupPr>
                        <m:e>
                          <m:d>
                            <m:dPr>
                              <m:begChr m:val="["/>
                              <m:endChr m:val="]"/>
                              <m:ctrlPr>
                                <a:rPr sz="2200" i="1">
                                  <a:solidFill>
                                    <a:srgbClr val="252529"/>
                                  </a:solidFill>
                                  <a:latin typeface="Cambria Math" panose="02040503050406030204" pitchFamily="18" charset="0"/>
                                </a:rPr>
                              </m:ctrlPr>
                            </m:dPr>
                            <m:e>
                              <m:m>
                                <m:mPr>
                                  <m:mcs>
                                    <m:mc>
                                      <m:mcPr>
                                        <m:count m:val="2"/>
                                        <m:mcJc m:val="center"/>
                                      </m:mcPr>
                                    </m:mc>
                                  </m:mcs>
                                  <m:ctrlPr>
                                    <a:rPr sz="2200" i="1">
                                      <a:solidFill>
                                        <a:srgbClr val="252529"/>
                                      </a:solidFill>
                                      <a:latin typeface="Cambria Math" panose="02040503050406030204" pitchFamily="18" charset="0"/>
                                    </a:rPr>
                                  </m:ctrlPr>
                                </m:mPr>
                                <m:mr>
                                  <m:e>
                                    <m:r>
                                      <m:rPr>
                                        <m:sty m:val="p"/>
                                      </m:rPr>
                                      <a:rPr sz="2200">
                                        <a:solidFill>
                                          <a:srgbClr val="252529"/>
                                        </a:solidFill>
                                        <a:latin typeface="Cambria Math"/>
                                      </a:rPr>
                                      <m:t>I</m:t>
                                    </m:r>
                                  </m:e>
                                  <m:e>
                                    <m:r>
                                      <a:rPr sz="2200">
                                        <a:solidFill>
                                          <a:srgbClr val="252529"/>
                                        </a:solidFill>
                                        <a:latin typeface="Cambria Math"/>
                                      </a:rPr>
                                      <m:t>0</m:t>
                                    </m:r>
                                  </m:e>
                                </m:mr>
                                <m:mr>
                                  <m:e>
                                    <m:sSup>
                                      <m:sSupPr>
                                        <m:ctrlPr>
                                          <a:rPr sz="2200">
                                            <a:solidFill>
                                              <a:srgbClr val="C81919"/>
                                            </a:solidFill>
                                            <a:latin typeface="Cambria Math"/>
                                          </a:rPr>
                                        </m:ctrlPr>
                                      </m:sSupPr>
                                      <m:e>
                                        <m:r>
                                          <a:rPr sz="2200">
                                            <a:solidFill>
                                              <a:srgbClr val="C81919"/>
                                            </a:solidFill>
                                            <a:latin typeface="Cambria Math"/>
                                          </a:rPr>
                                          <m:t>𝐾</m:t>
                                        </m:r>
                                      </m:e>
                                      <m:sup>
                                        <m:r>
                                          <a:rPr sz="2200">
                                            <a:solidFill>
                                              <a:srgbClr val="C81919"/>
                                            </a:solidFill>
                                            <a:latin typeface="Cambria Math"/>
                                          </a:rPr>
                                          <m:t>⊤</m:t>
                                        </m:r>
                                      </m:sup>
                                    </m:sSup>
                                  </m:e>
                                  <m:e>
                                    <m:r>
                                      <m:rPr>
                                        <m:sty m:val="p"/>
                                      </m:rPr>
                                      <a:rPr sz="2200">
                                        <a:solidFill>
                                          <a:srgbClr val="252529"/>
                                        </a:solidFill>
                                        <a:latin typeface="Cambria Math"/>
                                      </a:rPr>
                                      <m:t>I</m:t>
                                    </m:r>
                                  </m:e>
                                </m:mr>
                              </m:m>
                            </m:e>
                          </m:d>
                        </m:e>
                        <m:sup>
                          <m:r>
                            <a:rPr sz="2200">
                              <a:solidFill>
                                <a:srgbClr val="252529"/>
                              </a:solidFill>
                              <a:latin typeface="Cambria Math"/>
                            </a:rPr>
                            <m:t>−1</m:t>
                          </m:r>
                        </m:sup>
                      </m:sSup>
                      <m:r>
                        <a:rPr sz="2200">
                          <a:solidFill>
                            <a:srgbClr val="252529"/>
                          </a:solidFill>
                          <a:latin typeface="Cambria Math"/>
                        </a:rPr>
                        <m:t>=</m:t>
                      </m:r>
                      <m:d>
                        <m:dPr>
                          <m:begChr m:val="["/>
                          <m:endChr m:val="]"/>
                          <m:ctrlPr>
                            <a:rPr sz="2200" i="1">
                              <a:solidFill>
                                <a:srgbClr val="252529"/>
                              </a:solidFill>
                              <a:latin typeface="Cambria Math" panose="02040503050406030204" pitchFamily="18" charset="0"/>
                            </a:rPr>
                          </m:ctrlPr>
                        </m:dPr>
                        <m:e>
                          <m:m>
                            <m:mPr>
                              <m:mcs>
                                <m:mc>
                                  <m:mcPr>
                                    <m:count m:val="2"/>
                                    <m:mcJc m:val="center"/>
                                  </m:mcPr>
                                </m:mc>
                              </m:mcs>
                              <m:ctrlPr>
                                <a:rPr sz="2200" i="1">
                                  <a:solidFill>
                                    <a:srgbClr val="252529"/>
                                  </a:solidFill>
                                  <a:latin typeface="Cambria Math" panose="02040503050406030204" pitchFamily="18" charset="0"/>
                                </a:rPr>
                              </m:ctrlPr>
                            </m:mPr>
                            <m:mr>
                              <m:e>
                                <m:r>
                                  <m:rPr>
                                    <m:sty m:val="p"/>
                                  </m:rPr>
                                  <a:rPr sz="2200">
                                    <a:solidFill>
                                      <a:srgbClr val="252529"/>
                                    </a:solidFill>
                                    <a:latin typeface="Cambria Math"/>
                                  </a:rPr>
                                  <m:t>I</m:t>
                                </m:r>
                              </m:e>
                              <m:e>
                                <m:r>
                                  <a:rPr sz="2200">
                                    <a:solidFill>
                                      <a:srgbClr val="252529"/>
                                    </a:solidFill>
                                    <a:latin typeface="Cambria Math"/>
                                  </a:rPr>
                                  <m:t>0</m:t>
                                </m:r>
                              </m:e>
                            </m:mr>
                            <m:mr>
                              <m:e>
                                <m:r>
                                  <a:rPr sz="2200">
                                    <a:solidFill>
                                      <a:srgbClr val="C81919"/>
                                    </a:solidFill>
                                    <a:latin typeface="Cambria Math"/>
                                  </a:rPr>
                                  <m:t>−</m:t>
                                </m:r>
                                <m:sSup>
                                  <m:sSupPr>
                                    <m:ctrlPr>
                                      <a:rPr sz="2200">
                                        <a:solidFill>
                                          <a:srgbClr val="C81919"/>
                                        </a:solidFill>
                                        <a:latin typeface="Cambria Math"/>
                                      </a:rPr>
                                    </m:ctrlPr>
                                  </m:sSupPr>
                                  <m:e>
                                    <m:r>
                                      <a:rPr sz="2200">
                                        <a:solidFill>
                                          <a:srgbClr val="C81919"/>
                                        </a:solidFill>
                                        <a:latin typeface="Cambria Math"/>
                                      </a:rPr>
                                      <m:t>𝐾</m:t>
                                    </m:r>
                                  </m:e>
                                  <m:sup>
                                    <m:r>
                                      <a:rPr sz="2200">
                                        <a:solidFill>
                                          <a:srgbClr val="C81919"/>
                                        </a:solidFill>
                                        <a:latin typeface="Cambria Math"/>
                                      </a:rPr>
                                      <m:t>⊤</m:t>
                                    </m:r>
                                  </m:sup>
                                </m:sSup>
                              </m:e>
                              <m:e>
                                <m:r>
                                  <m:rPr>
                                    <m:sty m:val="p"/>
                                  </m:rPr>
                                  <a:rPr sz="2200">
                                    <a:solidFill>
                                      <a:srgbClr val="252529"/>
                                    </a:solidFill>
                                    <a:latin typeface="Cambria Math"/>
                                  </a:rPr>
                                  <m:t>I</m:t>
                                </m:r>
                              </m:e>
                            </m:mr>
                          </m:m>
                        </m:e>
                      </m:d>
                      <m:r>
                        <a:rPr sz="2200">
                          <a:solidFill>
                            <a:srgbClr val="252529"/>
                          </a:solidFill>
                          <a:latin typeface="Cambria Math"/>
                        </a:rPr>
                        <m:t>=</m:t>
                      </m:r>
                      <m:bar>
                        <m:barPr>
                          <m:pos m:val="bot"/>
                          <m:ctrlPr>
                            <a:rPr sz="2200">
                              <a:solidFill>
                                <a:srgbClr val="252529"/>
                              </a:solidFill>
                              <a:latin typeface="Cambria Math"/>
                            </a:rPr>
                          </m:ctrlPr>
                        </m:barPr>
                        <m:e>
                          <m:r>
                            <a:rPr sz="2200">
                              <a:solidFill>
                                <a:srgbClr val="252529"/>
                              </a:solidFill>
                              <a:latin typeface="Cambria Math"/>
                            </a:rPr>
                            <m:t>𝛩</m:t>
                          </m:r>
                        </m:e>
                      </m:bar>
                    </m:oMath>
                  </m:oMathPara>
                </a14:m>
                <a:endParaRPr sz="2200"/>
              </a:p>
            </p:txBody>
          </p:sp>
        </mc:Choice>
        <mc:Fallback>
          <p:sp>
            <p:nvSpPr>
              <p:cNvPr id="11012" name="Dual operation evaluation"/>
              <p:cNvSpPr>
                <a:spLocks noRot="1" noChangeAspect="1" noMove="1" noResize="1" noEditPoints="1" noAdjustHandles="1" noChangeArrowheads="1" noChangeShapeType="1" noTextEdit="1"/>
              </p:cNvSpPr>
              <p:nvPr/>
            </p:nvSpPr>
            <p:spPr>
              <a:xfrm>
                <a:off x="571500" y="3710940"/>
                <a:ext cx="8001000" cy="782320"/>
              </a:xfrm>
              <a:prstGeom prst="rect">
                <a:avLst/>
              </a:prstGeom>
              <a:blipFill>
                <a:blip r:embed="rId9"/>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a14="http://schemas.microsoft.com/office/drawing/2010/main" xmlns:m="http://schemas.openxmlformats.org/officeDocument/2006/math">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300"/>
                                        <p:tgtEl>
                                          <p:spTgt spid="11005"/>
                                        </p:tgtEl>
                                      </p:cBhvr>
                                    </p:animEffect>
                                    <p:set>
                                      <p:cBhvr>
                                        <p:cTn id="15" dur="1" fill="hold">
                                          <p:stCondLst>
                                            <p:cond delay="299"/>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300"/>
                                        <p:tgtEl>
                                          <p:spTgt spid="11006"/>
                                        </p:tgtEl>
                                      </p:cBhvr>
                                    </p:animEffect>
                                    <p:set>
                                      <p:cBhvr>
                                        <p:cTn id="18" dur="1" fill="hold">
                                          <p:stCondLst>
                                            <p:cond delay="299"/>
                                          </p:stCondLst>
                                        </p:cTn>
                                        <p:tgtEl>
                                          <p:spTgt spid="11006"/>
                                        </p:tgtEl>
                                        <p:attrNameLst>
                                          <p:attrName>style.visibility</p:attrName>
                                        </p:attrNameLst>
                                      </p:cBhvr>
                                      <p:to>
                                        <p:strVal val="hidden"/>
                                      </p:to>
                                    </p:set>
                                  </p:childTnLst>
                                </p:cTn>
                              </p:par>
                              <p:par>
                                <p:cTn id="19" presetID="10" presetClass="entr" presetSubtype="0" fill="hold" nodeType="withEffect">
                                  <p:stCondLst>
                                    <p:cond delay="300"/>
                                  </p:stCondLst>
                                  <p:childTnLst>
                                    <p:set>
                                      <p:cBhvr>
                                        <p:cTn id="20" dur="1" fill="hold">
                                          <p:stCondLst>
                                            <p:cond delay="0"/>
                                          </p:stCondLst>
                                        </p:cTn>
                                        <p:tgtEl>
                                          <p:spTgt spid="11007"/>
                                        </p:tgtEl>
                                        <p:attrNameLst>
                                          <p:attrName>style.visibility</p:attrName>
                                        </p:attrNameLst>
                                      </p:cBhvr>
                                      <p:to>
                                        <p:strVal val="visible"/>
                                      </p:to>
                                    </p:set>
                                    <p:animEffect transition="in" filter="fade">
                                      <p:cBhvr>
                                        <p:cTn id="21" dur="400"/>
                                        <p:tgtEl>
                                          <p:spTgt spid="11007"/>
                                        </p:tgtEl>
                                      </p:cBhvr>
                                    </p:animEffect>
                                  </p:childTnLst>
                                </p:cTn>
                              </p:par>
                              <p:par>
                                <p:cTn id="22" presetID="10" presetClass="entr" presetSubtype="0" fill="hold" grpId="0" nodeType="withEffect">
                                  <p:stCondLst>
                                    <p:cond delay="300"/>
                                  </p:stCondLst>
                                  <p:childTnLst>
                                    <p:set>
                                      <p:cBhvr>
                                        <p:cTn id="23" dur="1" fill="hold">
                                          <p:stCondLst>
                                            <p:cond delay="0"/>
                                          </p:stCondLst>
                                        </p:cTn>
                                        <p:tgtEl>
                                          <p:spTgt spid="11008"/>
                                        </p:tgtEl>
                                        <p:attrNameLst>
                                          <p:attrName>style.visibility</p:attrName>
                                        </p:attrNameLst>
                                      </p:cBhvr>
                                      <p:to>
                                        <p:strVal val="visible"/>
                                      </p:to>
                                    </p:set>
                                    <p:animEffect transition="in" filter="fade">
                                      <p:cBhvr>
                                        <p:cTn id="24" dur="400"/>
                                        <p:tgtEl>
                                          <p:spTgt spid="11008"/>
                                        </p:tgtEl>
                                      </p:cBhvr>
                                    </p:animEffect>
                                  </p:childTnLst>
                                </p:cTn>
                              </p:par>
                              <p:par>
                                <p:cTn id="25" presetID="10" presetClass="entr" presetSubtype="0" fill="hold" grpId="0" nodeType="withEffect">
                                  <p:stCondLst>
                                    <p:cond delay="300"/>
                                  </p:stCondLst>
                                  <p:childTnLst>
                                    <p:set>
                                      <p:cBhvr>
                                        <p:cTn id="26" dur="1" fill="hold">
                                          <p:stCondLst>
                                            <p:cond delay="0"/>
                                          </p:stCondLst>
                                        </p:cTn>
                                        <p:tgtEl>
                                          <p:spTgt spid="11009"/>
                                        </p:tgtEl>
                                        <p:attrNameLst>
                                          <p:attrName>style.visibility</p:attrName>
                                        </p:attrNameLst>
                                      </p:cBhvr>
                                      <p:to>
                                        <p:strVal val="visible"/>
                                      </p:to>
                                    </p:set>
                                    <p:animEffect transition="in" filter="fade">
                                      <p:cBhvr>
                                        <p:cTn id="27" dur="400"/>
                                        <p:tgtEl>
                                          <p:spTgt spid="11009"/>
                                        </p:tgtEl>
                                      </p:cBhvr>
                                    </p:animEffect>
                                  </p:childTnLst>
                                </p:cTn>
                              </p:par>
                              <p:par>
                                <p:cTn id="28" presetID="10" presetClass="entr" presetSubtype="0" fill="hold" nodeType="withEffect">
                                  <p:stCondLst>
                                    <p:cond delay="300"/>
                                  </p:stCondLst>
                                  <p:childTnLst>
                                    <p:set>
                                      <p:cBhvr>
                                        <p:cTn id="29" dur="1" fill="hold">
                                          <p:stCondLst>
                                            <p:cond delay="0"/>
                                          </p:stCondLst>
                                        </p:cTn>
                                        <p:tgtEl>
                                          <p:spTgt spid="11010"/>
                                        </p:tgtEl>
                                        <p:attrNameLst>
                                          <p:attrName>style.visibility</p:attrName>
                                        </p:attrNameLst>
                                      </p:cBhvr>
                                      <p:to>
                                        <p:strVal val="visible"/>
                                      </p:to>
                                    </p:set>
                                    <p:animEffect transition="in" filter="fade">
                                      <p:cBhvr>
                                        <p:cTn id="30" dur="400"/>
                                        <p:tgtEl>
                                          <p:spTgt spid="11010"/>
                                        </p:tgtEl>
                                      </p:cBhvr>
                                    </p:animEffect>
                                  </p:childTnLst>
                                </p:cTn>
                              </p:par>
                              <p:par>
                                <p:cTn id="31" presetID="10" presetClass="entr" presetSubtype="0" fill="hold" grpId="0" nodeType="withEffect">
                                  <p:stCondLst>
                                    <p:cond delay="300"/>
                                  </p:stCondLst>
                                  <p:childTnLst>
                                    <p:set>
                                      <p:cBhvr>
                                        <p:cTn id="32" dur="1" fill="hold">
                                          <p:stCondLst>
                                            <p:cond delay="0"/>
                                          </p:stCondLst>
                                        </p:cTn>
                                        <p:tgtEl>
                                          <p:spTgt spid="11011"/>
                                        </p:tgtEl>
                                        <p:attrNameLst>
                                          <p:attrName>style.visibility</p:attrName>
                                        </p:attrNameLst>
                                      </p:cBhvr>
                                      <p:to>
                                        <p:strVal val="visible"/>
                                      </p:to>
                                    </p:set>
                                    <p:animEffect transition="in" filter="fade">
                                      <p:cBhvr>
                                        <p:cTn id="33" dur="400"/>
                                        <p:tgtEl>
                                          <p:spTgt spid="11011"/>
                                        </p:tgtEl>
                                      </p:cBhvr>
                                    </p:animEffect>
                                  </p:childTnLst>
                                </p:cTn>
                              </p:par>
                              <p:par>
                                <p:cTn id="34" presetID="10" presetClass="entr" presetSubtype="0" fill="hold" grpId="0" nodeType="withEffect">
                                  <p:stCondLst>
                                    <p:cond delay="300"/>
                                  </p:stCondLst>
                                  <p:childTnLst>
                                    <p:set>
                                      <p:cBhvr>
                                        <p:cTn id="35" dur="1" fill="hold">
                                          <p:stCondLst>
                                            <p:cond delay="0"/>
                                          </p:stCondLst>
                                        </p:cTn>
                                        <p:tgtEl>
                                          <p:spTgt spid="11012"/>
                                        </p:tgtEl>
                                        <p:attrNameLst>
                                          <p:attrName>style.visibility</p:attrName>
                                        </p:attrNameLst>
                                      </p:cBhvr>
                                      <p:to>
                                        <p:strVal val="visible"/>
                                      </p:to>
                                    </p:set>
                                    <p:animEffect transition="in" filter="fade">
                                      <p:cBhvr>
                                        <p:cTn id="36" dur="400"/>
                                        <p:tgtEl>
                                          <p:spTgt spid="110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8" grpId="0"/>
      <p:bldP spid="11009" grpId="0"/>
      <p:bldP spid="11011" grpId="0"/>
      <p:bldP spid="11012"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45</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m="http://schemas.openxmlformats.org/officeDocument/2006/math" xmlns="">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m="http://schemas.openxmlformats.org/officeDocument/2006/math" xmlns="">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m="http://schemas.openxmlformats.org/officeDocument/2006/math" xmlns="">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m="http://schemas.openxmlformats.org/officeDocument/2006/math" xmlns="">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m="http://schemas.openxmlformats.org/officeDocument/2006/math" xmlns="">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m="http://schemas.openxmlformats.org/officeDocument/2006/math" xmlns="">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51</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53</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5704</TotalTime>
  <Words>8284</Words>
  <Application>Microsoft Office PowerPoint</Application>
  <PresentationFormat>On-screen Show (16:9)</PresentationFormat>
  <Paragraphs>1129</Paragraphs>
  <Slides>61</Slides>
  <Notes>49</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61</vt:i4>
      </vt:variant>
    </vt:vector>
  </HeadingPairs>
  <TitlesOfParts>
    <vt:vector size="67"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Thought experiment replace K^⊤ by ▁Θ</vt:lpstr>
      <vt:lpstr>Comparing our results</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55</cp:revision>
  <dcterms:created xsi:type="dcterms:W3CDTF">2019-11-27T15:26:32Z</dcterms:created>
  <dcterms:modified xsi:type="dcterms:W3CDTF">2026-09-27T21:12:46Z</dcterms:modified>
</cp:coreProperties>
</file>