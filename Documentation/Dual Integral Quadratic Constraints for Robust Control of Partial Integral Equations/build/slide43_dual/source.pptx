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140.png"/><Relationship Id="rId7" Type="http://schemas.openxmlformats.org/officeDocument/2006/relationships/image" Target="../media/image144.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 Id="rId9" Type="http://schemas.openxmlformats.org/officeDocument/2006/relationships/image" Target="../media/image146.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mc:Choice xmlns:a14="http://schemas.microsoft.com/office/drawing/2010/main" Requires="a14">
          <p:sp>
            <p:nvSpPr>
              <p:cNvPr id="10001" name="Primal filter matrix">
                <a:extLst>
                  <a:ext uri="{FF2B5EF4-FFF2-40B4-BE49-F238E27FC236}">
                    <a16:creationId xmlns:a16="http://schemas.microsoft.com/office/drawing/2014/main" id="{04C36837-0BAE-F23D-FDA8-953440777938}"/>
                  </a:ext>
                </a:extLst>
              </p:cNvPr>
              <p:cNvSpPr/>
              <p:nvPr/>
            </p:nvSpPr>
            <p:spPr>
              <a:xfrm>
                <a:off x="444500" y="101263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1" name="Primal filter matrix">
                <a:extLst>
                  <a:ext uri="{FF2B5EF4-FFF2-40B4-BE49-F238E27FC236}">
                    <a16:creationId xmlns:a16="http://schemas.microsoft.com/office/drawing/2014/main" id="{04C36837-0BAE-F23D-FDA8-953440777938}"/>
                  </a:ext>
                </a:extLst>
              </p:cNvPr>
              <p:cNvSpPr>
                <a:spLocks noRot="1" noChangeAspect="1" noMove="1" noResize="1" noEditPoints="1" noAdjustHandles="1" noChangeArrowheads="1" noChangeShapeType="1" noTextEdit="1"/>
              </p:cNvSpPr>
              <p:nvPr/>
            </p:nvSpPr>
            <p:spPr>
              <a:xfrm>
                <a:off x="444500" y="101263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4" name="Primal final inequality">
                <a:extLst>
                  <a:ext uri="{FF2B5EF4-FFF2-40B4-BE49-F238E27FC236}">
                    <a16:creationId xmlns:a16="http://schemas.microsoft.com/office/drawing/2014/main" id="{42953395-412F-25AB-48ED-6AD304A798AF}"/>
                  </a:ext>
                </a:extLst>
              </p:cNvPr>
              <p:cNvSpPr/>
              <p:nvPr/>
            </p:nvSpPr>
            <p:spPr>
              <a:xfrm>
                <a:off x="444500" y="174078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p:sp>
            <p:nvSpPr>
              <p:cNvPr id="10004" name="Primal final inequality">
                <a:extLst>
                  <a:ext uri="{FF2B5EF4-FFF2-40B4-BE49-F238E27FC236}">
                    <a16:creationId xmlns:a16="http://schemas.microsoft.com/office/drawing/2014/main" id="{42953395-412F-25AB-48ED-6AD304A798AF}"/>
                  </a:ext>
                </a:extLst>
              </p:cNvPr>
              <p:cNvSpPr>
                <a:spLocks noRot="1" noChangeAspect="1" noMove="1" noResize="1" noEditPoints="1" noAdjustHandles="1" noChangeArrowheads="1" noChangeShapeType="1" noTextEdit="1"/>
              </p:cNvSpPr>
              <p:nvPr/>
            </p:nvSpPr>
            <p:spPr>
              <a:xfrm>
                <a:off x="444500" y="1740780"/>
                <a:ext cx="3937000" cy="6400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357338A2-B323-0DDF-A646-75929B1460EB}"/>
                  </a:ext>
                </a:extLst>
              </p:cNvPr>
              <p:cNvSpPr/>
              <p:nvPr/>
            </p:nvSpPr>
            <p:spPr>
              <a:xfrm>
                <a:off x="4572000" y="101263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357338A2-B323-0DDF-A646-75929B1460EB}"/>
                  </a:ext>
                </a:extLst>
              </p:cNvPr>
              <p:cNvSpPr>
                <a:spLocks noRot="1" noChangeAspect="1" noMove="1" noResize="1" noEditPoints="1" noAdjustHandles="1" noChangeArrowheads="1" noChangeShapeType="1" noTextEdit="1"/>
              </p:cNvSpPr>
              <p:nvPr/>
            </p:nvSpPr>
            <p:spPr>
              <a:xfrm>
                <a:off x="4572000" y="1012630"/>
                <a:ext cx="3937000" cy="60452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10" name="Dual final inequality">
                <a:extLst>
                  <a:ext uri="{FF2B5EF4-FFF2-40B4-BE49-F238E27FC236}">
                    <a16:creationId xmlns:a16="http://schemas.microsoft.com/office/drawing/2014/main" id="{AA37D3F6-7E4A-D164-E290-8F74411AA025}"/>
                  </a:ext>
                </a:extLst>
              </p:cNvPr>
              <p:cNvSpPr/>
              <p:nvPr/>
            </p:nvSpPr>
            <p:spPr>
              <a:xfrm>
                <a:off x="4572000" y="174078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p:sp>
            <p:nvSpPr>
              <p:cNvPr id="10010" name="Dual final inequality">
                <a:extLst>
                  <a:ext uri="{FF2B5EF4-FFF2-40B4-BE49-F238E27FC236}">
                    <a16:creationId xmlns:a16="http://schemas.microsoft.com/office/drawing/2014/main" id="{AA37D3F6-7E4A-D164-E290-8F74411AA025}"/>
                  </a:ext>
                </a:extLst>
              </p:cNvPr>
              <p:cNvSpPr>
                <a:spLocks noRot="1" noChangeAspect="1" noMove="1" noResize="1" noEditPoints="1" noAdjustHandles="1" noChangeArrowheads="1" noChangeShapeType="1" noTextEdit="1"/>
              </p:cNvSpPr>
              <p:nvPr/>
            </p:nvSpPr>
            <p:spPr>
              <a:xfrm>
                <a:off x="4572000" y="1740780"/>
                <a:ext cx="3937000" cy="6400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9F14788-0E79-715F-7545-10C06EFDA327}"/>
                  </a:ext>
                </a:extLst>
              </p:cNvPr>
              <p:cNvSpPr txBox="1"/>
              <p:nvPr/>
            </p:nvSpPr>
            <p:spPr>
              <a:xfrm>
                <a:off x="1680814" y="3250267"/>
                <a:ext cx="3085075" cy="551048"/>
              </a:xfrm>
              <a:prstGeom prst="rect">
                <a:avLst/>
              </a:prstGeom>
              <a:noFill/>
            </p:spPr>
            <p:txBody>
              <a:bodyPr wrap="none" rtlCol="0">
                <a:spAutoFit/>
              </a:bodyPr>
              <a:lstStyle/>
              <a:p>
                <a:pPr/>
                <a14:m>
                  <m:oMathPara xmlns:m="http://schemas.openxmlformats.org/officeDocument/2006/math">
                    <m:oMath>
                      <m:r>
                        <a:rPr lang="en-US" sz="1600" b="0" i="1" smtClean="0">
                          <a:latin typeface="Cambria Math" panose="02040503050406030204" pitchFamily="18" charset="0"/>
                        </a:rPr>
                        <m:t>𝐃</m:t>
                      </m:r>
                      <m:d>
                        <m:dPr>
                          <m:ctrlPr>
                            <a:rPr lang="en-US" sz="1600" b="0" i="1" smtClean="0">
                              <a:latin typeface="Cambria Math" panose="02040503050406030204" pitchFamily="18" charset="0"/>
                            </a:rPr>
                          </m:ctrlPr>
                        </m:dPr>
                        <m:e>
                          <m:r>
                            <m:rPr>
                              <m:sty m:val="p"/>
                            </m:rPr>
                            <a:rPr lang="en-US" sz="1600" b="0" i="1" smtClean="0">
                              <a:latin typeface="Cambria Math" panose="02040503050406030204" pitchFamily="18" charset="0"/>
                            </a:rPr>
                            <m:t>Θ</m:t>
                          </m:r>
                        </m:e>
                      </m:d>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d>
                            <m:dPr>
                              <m:ctrlPr>
                                <a:rPr lang="en-US" sz="1600" b="0" i="1" smtClean="0">
                                  <a:latin typeface="Cambria Math" panose="02040503050406030204" pitchFamily="18" charset="0"/>
                                </a:rPr>
                              </m:ctrlPr>
                            </m:dPr>
                            <m:e>
                              <m:d>
                                <m:dPr>
                                  <m:begChr m:val="["/>
                                  <m:endChr m:val="]"/>
                                  <m:ctrlPr>
                                    <a:rPr lang="en-US" sz="1600" b="0" i="1" smtClean="0">
                                      <a:latin typeface="Cambria Math" panose="02040503050406030204" pitchFamily="18" charset="0"/>
                                    </a:rPr>
                                  </m:ctrlPr>
                                </m:dPr>
                                <m:e>
                                  <m:m>
                                    <m:mPr>
                                      <m:mcs>
                                        <m:mc>
                                          <m:mcPr>
                                            <m:count m:val="2"/>
                                            <m:mcJc m:val="center"/>
                                          </m:mcPr>
                                        </m:mc>
                                      </m:mcs>
                                      <m:ctrlPr>
                                        <a:rPr lang="en-US" sz="1600" b="0" i="1" smtClean="0">
                                          <a:latin typeface="Cambria Math" panose="02040503050406030204" pitchFamily="18" charset="0"/>
                                        </a:rPr>
                                      </m:ctrlPr>
                                    </m:mPr>
                                    <m:mr>
                                      <m:e>
                                        <m:r>
                                          <a:rPr lang="en-US" sz="1600" b="0" i="1" smtClean="0">
                                            <a:latin typeface="Cambria Math" panose="02040503050406030204" pitchFamily="18" charset="0"/>
                                          </a:rPr>
                                          <m:t>0</m:t>
                                        </m:r>
                                      </m:e>
                                      <m:e>
                                        <m:r>
                                          <a:rPr lang="en-US" sz="1600" b="0" i="1" smtClean="0">
                                            <a:latin typeface="Cambria Math" panose="02040503050406030204" pitchFamily="18" charset="0"/>
                                          </a:rPr>
                                          <m:t>−</m:t>
                                        </m:r>
                                        <m:r>
                                          <a:rPr lang="en-US" sz="1600" b="0" i="1" smtClean="0">
                                            <a:latin typeface="Cambria Math" panose="02040503050406030204" pitchFamily="18" charset="0"/>
                                          </a:rPr>
                                          <m:t>𝐼</m:t>
                                        </m:r>
                                      </m:e>
                                    </m:mr>
                                    <m:mr>
                                      <m:e>
                                        <m:r>
                                          <a:rPr lang="en-US" sz="1600" b="0" i="1" smtClean="0">
                                            <a:latin typeface="Cambria Math" panose="02040503050406030204" pitchFamily="18" charset="0"/>
                                          </a:rPr>
                                          <m:t>𝐼</m:t>
                                        </m:r>
                                      </m:e>
                                      <m:e>
                                        <m:r>
                                          <a:rPr lang="en-US" sz="1600" b="0" i="1" smtClean="0">
                                            <a:latin typeface="Cambria Math" panose="02040503050406030204" pitchFamily="18" charset="0"/>
                                          </a:rPr>
                                          <m:t>0</m:t>
                                        </m:r>
                                      </m:e>
                                    </m:mr>
                                  </m:m>
                                </m:e>
                              </m:d>
                              <m:sSup>
                                <m:sSupPr>
                                  <m:ctrlPr>
                                    <a:rPr lang="en-US" sz="1600" b="0" i="1" smtClean="0">
                                      <a:latin typeface="Cambria Math" panose="02040503050406030204" pitchFamily="18" charset="0"/>
                                    </a:rPr>
                                  </m:ctrlPr>
                                </m:sSupPr>
                                <m:e>
                                  <m:r>
                                    <m:rPr>
                                      <m:sty m:val="p"/>
                                    </m:rPr>
                                    <a:rPr lang="en-US" sz="1600" b="0" i="1" smtClean="0">
                                      <a:latin typeface="Cambria Math" panose="02040503050406030204" pitchFamily="18" charset="0"/>
                                    </a:rPr>
                                    <m:t>Θ</m:t>
                                  </m:r>
                                </m:e>
                                <m:sup>
                                  <m:r>
                                    <a:rPr lang="en-US" sz="1600" b="0" i="1" smtClean="0">
                                      <a:latin typeface="Cambria Math" panose="02040503050406030204" pitchFamily="18" charset="0"/>
                                    </a:rPr>
                                    <m:t>⊤</m:t>
                                  </m:r>
                                </m:sup>
                              </m:sSup>
                              <m:d>
                                <m:dPr>
                                  <m:begChr m:val="["/>
                                  <m:endChr m:val="]"/>
                                  <m:ctrlPr>
                                    <a:rPr lang="en-US" sz="1600" b="0" i="1" smtClean="0">
                                      <a:latin typeface="Cambria Math" panose="02040503050406030204" pitchFamily="18" charset="0"/>
                                    </a:rPr>
                                  </m:ctrlPr>
                                </m:dPr>
                                <m:e>
                                  <m:m>
                                    <m:mPr>
                                      <m:mcs>
                                        <m:mc>
                                          <m:mcPr>
                                            <m:count m:val="2"/>
                                            <m:mcJc m:val="center"/>
                                          </m:mcPr>
                                        </m:mc>
                                      </m:mcs>
                                      <m:ctrlPr>
                                        <a:rPr lang="en-US" sz="1600" b="0" i="1" smtClean="0">
                                          <a:latin typeface="Cambria Math" panose="02040503050406030204" pitchFamily="18" charset="0"/>
                                        </a:rPr>
                                      </m:ctrlPr>
                                    </m:mPr>
                                    <m:mr>
                                      <m:e>
                                        <m:r>
                                          <a:rPr lang="en-US" sz="1600" b="0" i="1" smtClean="0">
                                            <a:latin typeface="Cambria Math" panose="02040503050406030204" pitchFamily="18" charset="0"/>
                                          </a:rPr>
                                          <m:t>0</m:t>
                                        </m:r>
                                      </m:e>
                                      <m:e>
                                        <m:r>
                                          <a:rPr lang="en-US" sz="1600" b="0" i="1" smtClean="0">
                                            <a:latin typeface="Cambria Math" panose="02040503050406030204" pitchFamily="18" charset="0"/>
                                          </a:rPr>
                                          <m:t>𝐼</m:t>
                                        </m:r>
                                      </m:e>
                                    </m:mr>
                                    <m:mr>
                                      <m:e>
                                        <m:r>
                                          <a:rPr lang="en-US" sz="1600" b="0" i="1" smtClean="0">
                                            <a:latin typeface="Cambria Math" panose="02040503050406030204" pitchFamily="18" charset="0"/>
                                          </a:rPr>
                                          <m:t>−</m:t>
                                        </m:r>
                                        <m:r>
                                          <a:rPr lang="en-US" sz="1600" b="0" i="1" smtClean="0">
                                            <a:latin typeface="Cambria Math" panose="02040503050406030204" pitchFamily="18" charset="0"/>
                                          </a:rPr>
                                          <m:t>𝐼</m:t>
                                        </m:r>
                                      </m:e>
                                      <m:e>
                                        <m:r>
                                          <a:rPr lang="en-US" sz="1600" b="0" i="1" smtClean="0">
                                            <a:latin typeface="Cambria Math" panose="02040503050406030204" pitchFamily="18" charset="0"/>
                                          </a:rPr>
                                          <m:t>0</m:t>
                                        </m:r>
                                      </m:e>
                                    </m:mr>
                                  </m:m>
                                </m:e>
                              </m:d>
                            </m:e>
                          </m:d>
                        </m:e>
                        <m:sup>
                          <m:r>
                            <a:rPr lang="en-US" sz="1600" b="0" i="1" smtClean="0">
                              <a:latin typeface="Cambria Math" panose="02040503050406030204" pitchFamily="18" charset="0"/>
                            </a:rPr>
                            <m:t>−1</m:t>
                          </m:r>
                        </m:sup>
                      </m:sSup>
                    </m:oMath>
                  </m:oMathPara>
                </a14:m>
                <a:endParaRPr lang="en-NL" sz="1600" dirty="0"/>
              </a:p>
            </p:txBody>
          </p:sp>
        </mc:Choice>
        <mc:Fallback>
          <p:sp>
            <p:nvSpPr>
              <p:cNvPr id="6" name="TextBox 5">
                <a:extLst>
                  <a:ext uri="{FF2B5EF4-FFF2-40B4-BE49-F238E27FC236}">
                    <a16:creationId xmlns:a16="http://schemas.microsoft.com/office/drawing/2014/main" id="{49F14788-0E79-715F-7545-10C06EFDA327}"/>
                  </a:ext>
                </a:extLst>
              </p:cNvPr>
              <p:cNvSpPr txBox="1">
                <a:spLocks noRot="1" noChangeAspect="1" noMove="1" noResize="1" noEditPoints="1" noAdjustHandles="1" noChangeArrowheads="1" noChangeShapeType="1" noTextEdit="1"/>
              </p:cNvSpPr>
              <p:nvPr/>
            </p:nvSpPr>
            <p:spPr>
              <a:xfrm>
                <a:off x="1680814" y="3250267"/>
                <a:ext cx="3085075" cy="551048"/>
              </a:xfrm>
              <a:prstGeom prst="rect">
                <a:avLst/>
              </a:prstGeom>
              <a:blipFill>
                <a:blip r:embed="rId8"/>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369578A-4E43-8347-EDC8-53C1EE437727}"/>
                  </a:ext>
                </a:extLst>
              </p:cNvPr>
              <p:cNvSpPr txBox="1"/>
              <p:nvPr/>
            </p:nvSpPr>
            <p:spPr>
              <a:xfrm>
                <a:off x="2090057" y="2727832"/>
                <a:ext cx="877869" cy="354584"/>
              </a:xfrm>
              <a:prstGeom prst="rect">
                <a:avLst/>
              </a:prstGeom>
              <a:noFill/>
            </p:spPr>
            <p:txBody>
              <a:bodyPr wrap="none" rtlCol="0">
                <a:spAutoFit/>
              </a:bodyPr>
              <a:lstStyle/>
              <a:p>
                <a:pPr/>
                <a14:m>
                  <m:oMathPara xmlns:m="http://schemas.openxmlformats.org/officeDocument/2006/math">
                    <m:oMath>
                      <m:r>
                        <m:rPr>
                          <m:sty m:val="p"/>
                        </m:rPr>
                        <a:rPr lang="en-US" sz="1600" b="0" i="1" smtClean="0">
                          <a:latin typeface="Cambria Math" panose="02040503050406030204" pitchFamily="18" charset="0"/>
                        </a:rPr>
                        <m:t>Θ</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bar>
                            <m:barPr>
                              <m:pos m:val="bot"/>
                              <m:ctrlPr>
                                <a:rPr lang="en-US" sz="1600" b="0" i="1" smtClean="0">
                                  <a:latin typeface="Cambria Math" panose="02040503050406030204" pitchFamily="18" charset="0"/>
                                </a:rPr>
                              </m:ctrlPr>
                            </m:barPr>
                            <m:e>
                              <m:r>
                                <m:rPr>
                                  <m:sty m:val="p"/>
                                </m:rPr>
                                <a:rPr lang="en-US" sz="1600" b="0" i="1" smtClean="0">
                                  <a:latin typeface="Cambria Math" panose="02040503050406030204" pitchFamily="18" charset="0"/>
                                </a:rPr>
                                <m:t>Θ</m:t>
                              </m:r>
                            </m:e>
                          </m:bar>
                        </m:e>
                        <m:sup>
                          <m:r>
                            <a:rPr lang="en-US" sz="1600" b="0" i="1" smtClean="0">
                              <a:latin typeface="Cambria Math" panose="02040503050406030204" pitchFamily="18" charset="0"/>
                            </a:rPr>
                            <m:t>⊤</m:t>
                          </m:r>
                        </m:sup>
                      </m:sSup>
                    </m:oMath>
                  </m:oMathPara>
                </a14:m>
                <a:endParaRPr lang="en-NL" sz="1600" dirty="0"/>
              </a:p>
            </p:txBody>
          </p:sp>
        </mc:Choice>
        <mc:Fallback>
          <p:sp>
            <p:nvSpPr>
              <p:cNvPr id="7" name="TextBox 6">
                <a:extLst>
                  <a:ext uri="{FF2B5EF4-FFF2-40B4-BE49-F238E27FC236}">
                    <a16:creationId xmlns:a16="http://schemas.microsoft.com/office/drawing/2014/main" id="{A369578A-4E43-8347-EDC8-53C1EE437727}"/>
                  </a:ext>
                </a:extLst>
              </p:cNvPr>
              <p:cNvSpPr txBox="1">
                <a:spLocks noRot="1" noChangeAspect="1" noMove="1" noResize="1" noEditPoints="1" noAdjustHandles="1" noChangeArrowheads="1" noChangeShapeType="1" noTextEdit="1"/>
              </p:cNvSpPr>
              <p:nvPr/>
            </p:nvSpPr>
            <p:spPr>
              <a:xfrm>
                <a:off x="2090057" y="2727832"/>
                <a:ext cx="877869" cy="354584"/>
              </a:xfrm>
              <a:prstGeom prst="rect">
                <a:avLst/>
              </a:prstGeom>
              <a:blipFill>
                <a:blip r:embed="rId9"/>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