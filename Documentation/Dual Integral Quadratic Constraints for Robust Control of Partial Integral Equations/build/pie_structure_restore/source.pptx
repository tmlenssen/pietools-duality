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3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59" r:id="rId27"/>
    <p:sldId id="426" r:id="rId28"/>
    <p:sldId id="453" r:id="rId29"/>
    <p:sldId id="441" r:id="rId30"/>
    <p:sldId id="442" r:id="rId31"/>
    <p:sldId id="443" r:id="rId32"/>
    <p:sldId id="435" r:id="rId33"/>
    <p:sldId id="436" r:id="rId34"/>
    <p:sldId id="437" r:id="rId35"/>
    <p:sldId id="438" r:id="rId36"/>
    <p:sldId id="446" r:id="rId37"/>
    <p:sldId id="447" r:id="rId38"/>
    <p:sldId id="450" r:id="rId39"/>
    <p:sldId id="451" r:id="rId40"/>
    <p:sldId id="452" r:id="rId41"/>
    <p:sldId id="448" r:id="rId42"/>
    <p:sldId id="449" r:id="rId43"/>
    <p:sldId id="439" r:id="rId44"/>
    <p:sldId id="458" r:id="rId45"/>
    <p:sldId id="421" r:id="rId46"/>
    <p:sldId id="427" r:id="rId47"/>
    <p:sldId id="431" r:id="rId48"/>
    <p:sldId id="428" r:id="rId49"/>
    <p:sldId id="429" r:id="rId50"/>
    <p:sldId id="432" r:id="rId51"/>
    <p:sldId id="430" r:id="rId52"/>
    <p:sldId id="433" r:id="rId53"/>
    <p:sldId id="434" r:id="rId5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We have separated Delta, the nominal dynamics and K. We now change only the representation of the nominal dynamics. For the systems covered by the PIE representation theorem, the PDE and PIE descriptions are equivalent with matching initial data and the same input/output signals. Thus the surrounding feedback interconnection stays the same. Exact representation is distinct from the finite parameterization used later to search for certificates.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20</a:t>
            </a:r>
            <a:endParaRPr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This slide is the homogeneous nominal block from the LFR: set the nonlinearity-output input w and the control input u to zero. Do not replace w by delta(z), and do not interpret this as the full nonlinear closed loop. For i=S,G, tau_i xdot_i=-x_i. For the three delayed channels ij=GS,SG,GG, phi_ij(t,s)=x_i(t-tau_ij s), so partial_t phi_ij=-tau_ij^{-1}partial_s phi_ij and phi_ij(t,0)=x_i(t). Define v_ij=partial_s phi_ij. The fundamental theorem of calculus gives phi_ij(t,s)=x_i(t)+integral_0^s v_ij(t,theta)dtheta. Differentiating in time and substituting the transport equation gives xdot_i+integral_0^s vdot_ij=-tau_ij^{-1}v_ij. This is the displayed PIE. Conversely reconstruct phi from x,v; the boundary condition holds automatically and the transport PDE follows. Match initial histories; in the strong-solution interpretation use compatible regular initial data, and interpret general solutions in the usual weak/PIE sense. Source: Section 9, equation stn-gpe_ode-pde of the local paper.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Manner prose 21</a:t>
            </a:r>
            <a:endParaRPr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Here x=col(x_S,x_G), v=col(v_GS,v_SG,v_GG), phi has the same channel order, and x_f=(x,v) belongs to R^2 x L2([0,1];R^3). The bounded reconstruction operator is T[x;v]=[x;E x+integral_0^s v(theta)dtheta] with E=[[0,1],[1,0],[0,1]]. In homogeneous dynamics A[x;v]=[-diag(1/tau_S,1/tau_G)x; -diag(1/tau_GS,1/tau_SG,1/tau_GG)v]. Inputs w,u act on the finite-dimensional rows of T xdot_f=A x_f+B_w w+B_u u. Restore the same w,u ports from the LFR. In this model y=col(x_S,x_G), z_S=-w_GS phi_GS(t,1), z_G=w_SG phi_SG(t,1)-w_GG phi_GG(t,1); using reconstruction makes these bounded PI output maps C_z,C_y with no direct feedthrough. T encodes the boundary conditions. Its inverse on the PDE-state range need not be bounded in the ambient L2 norm; we do not claim an arbitrary bounded inverse.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22</a:t>
            </a:r>
            <a:endParaRPr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Partial integral operators with compatible dimensions are closed under addition, composition, adjoints and block concatenation. This gives the matrix-like algebra required to construct Lyapunov, dissipativity and synthesis inequalities directly at operator level. It does not mean that these infinite-dimensional operators are finite matrices. The finite computation comes from the next slide’s chosen PI-operator parameterization. Source: local paper Section 2, Partial Integral Equations.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23</a:t>
            </a:r>
            <a:endParaRPr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Let q=T x_f be the reconstructed PDE state and V=&lt;q,Pq&gt;, with self-adjoint bounded coercive P &gt;= epsilon I. For a strong homogeneous trajectory, dV/dt=&lt;x_f,(T* P A+A* P T)x_f&gt;. The displayed inequality gives dV/dt &lt;= -2 alpha V and hence exponential decay in the reconstructed-state norm; extend in the appropriate solution class. For fixed alpha&gt;0 the expression is affine in P. Joint optimization over alpha and P is not asserted convex; one may fix alpha or perform an outer search. A finite polynomial PI parameterization and positivity certificate yields sufficient finite-dimensional LMIs/SDPs. Exact PDE-PIE representation is not a claim that every certificate search is nonconservative. Source: local paper Section 2 for PI operator/LPI definitions; direct Lyapunov calculation for the displayed inequality.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24</a:t>
            </a:r>
            <a:endParaRPr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forward arrow is exact model conversion; the reverse arrow is controller implementation in the original physical coordinates. PIE methods provide computable operator conditions for analysis and synthesis of the nominal linear dynamics. The K block remains a generic controller with the same measured-signal and actuation ports as before. A controller synthesized in PIE state coordinates must be implemented using the state reconstruction/coordinate map; we do not claim a particular output-feedback structure is automatically convex. Delta is still in the full LFR: the nominal synthesis statement alone does not establish robust nonlinear closed-loop stability. The images are the user’s existing STN-GPe, ASML and Canon examples. PIETOOLS and PIE synthesis are discussed in the local paper introduction and preliminaries.
Previous notes: 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 More recently, partial differential equations have been introduced as an alternative representation that brings much of the properties of ODEs to partial differential equations. Five steps PDE to PIE, 25</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First pillar: exact PIE modeling plus PI-operator optimization provides tractability for the nominal distributed dynamics. The two diagrams and three application images keep exactly the same positions as slide 25. Morph preserves this visual bridge while the first-pillar conclusion appears and Delta becomes the next focus. Next we need a way to account for the nonlinearity/uncertainty and robust stability/performance; later duality enables the synthesis argument. This is not a claim that replacing PDE by PIE already solves the full uncertain nonlinear control problem.</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71.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PIE103" Type="http://schemas.openxmlformats.org/officeDocument/2006/relationships/image" Target="../media/revised_lfr19_image96.png"/><Relationship Id="rIdPIE104" Type="http://schemas.openxmlformats.org/officeDocument/2006/relationships/image" Target="../media/image72.png"/><Relationship Id="rIdPIE105" Type="http://schemas.openxmlformats.org/officeDocument/2006/relationships/image" Target="../media/image73.png"/><Relationship Id="rIdPIE106" Type="http://schemas.openxmlformats.org/officeDocument/2006/relationships/image" Target="../media/image74.png"/><Relationship Id="rIdPIE107" Type="http://schemas.openxmlformats.org/officeDocument/2006/relationships/image" Target="../media/image75.png"/><Relationship Id="rIdPIE108" Type="http://schemas.openxmlformats.org/officeDocument/2006/relationships/image" Target="../media/revised_lfr19_image102.png"/><Relationship Id="rIdPIE109" Type="http://schemas.openxmlformats.org/officeDocument/2006/relationships/image" Target="../media/image76.png"/><Relationship Id="rIdPIE110" Type="http://schemas.openxmlformats.org/officeDocument/2006/relationships/image" Target="../media/revised_lfr19_image96.png"/><Relationship Id="rIdPIE111" Type="http://schemas.openxmlformats.org/officeDocument/2006/relationships/image" Target="../media/image77.png"/><Relationship Id="rIdPIE112" Type="http://schemas.openxmlformats.org/officeDocument/2006/relationships/image" Target="../media/image78.png"/><Relationship Id="rIdPIE113" Type="http://schemas.openxmlformats.org/officeDocument/2006/relationships/image" Target="../media/image79.png"/><Relationship Id="rIdPIE114" Type="http://schemas.openxmlformats.org/officeDocument/2006/relationships/image" Target="../media/image80.png"/><Relationship Id="rIdPIE115" Type="http://schemas.openxmlformats.org/officeDocument/2006/relationships/image" Target="../media/revised_lfr19_image102.png"/><Relationship Id="rIdPIE116" Type="http://schemas.openxmlformats.org/officeDocument/2006/relationships/image" Target="../media/image81.png"/></Relationships>
</file>

<file path=ppt/slides/_rels/slide21.xml.rels><?xml version="1.0" encoding="utf-8"?><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 Id="rIdPIE103" Type="http://schemas.openxmlformats.org/officeDocument/2006/relationships/image" Target="../media/revised_lfr19_image96.png"/><Relationship Id="rIdPIE104" Type="http://schemas.openxmlformats.org/officeDocument/2006/relationships/image" Target="../media/image72.png"/><Relationship Id="rIdPIE105" Type="http://schemas.openxmlformats.org/officeDocument/2006/relationships/image" Target="../media/image73.png"/><Relationship Id="rIdPIE106" Type="http://schemas.openxmlformats.org/officeDocument/2006/relationships/image" Target="../media/image74.png"/><Relationship Id="rIdPIE107" Type="http://schemas.openxmlformats.org/officeDocument/2006/relationships/image" Target="../media/image75.png"/><Relationship Id="rIdPIE108" Type="http://schemas.openxmlformats.org/officeDocument/2006/relationships/image" Target="../media/revised_lfr19_image102.png"/><Relationship Id="rIdPIE109" Type="http://schemas.openxmlformats.org/officeDocument/2006/relationships/image" Target="../media/image76.png"/><Relationship Id="rIdPIE110" Type="http://schemas.openxmlformats.org/officeDocument/2006/relationships/image" Target="../media/revised_lfr19_image96.png"/><Relationship Id="rIdPIE111" Type="http://schemas.openxmlformats.org/officeDocument/2006/relationships/image" Target="../media/image77.png"/><Relationship Id="rIdPIE112" Type="http://schemas.openxmlformats.org/officeDocument/2006/relationships/image" Target="../media/image78.png"/><Relationship Id="rIdPIE113" Type="http://schemas.openxmlformats.org/officeDocument/2006/relationships/image" Target="../media/image79.png"/><Relationship Id="rIdPIE114" Type="http://schemas.openxmlformats.org/officeDocument/2006/relationships/image" Target="../media/image80.png"/><Relationship Id="rIdPIE115" Type="http://schemas.openxmlformats.org/officeDocument/2006/relationships/image" Target="../media/revised_lfr19_image102.png"/><Relationship Id="rIdPIE116" Type="http://schemas.openxmlformats.org/officeDocument/2006/relationships/image" Target="../media/image81.png"/><Relationship Id="rIdPIE117" Type="http://schemas.openxmlformats.org/officeDocument/2006/relationships/image" Target="../media/image54.png"/><Relationship Id="rIdPIE118" Type="http://schemas.openxmlformats.org/officeDocument/2006/relationships/image" Target="../media/image85.jpeg"/><Relationship Id="rIdPIE119" Type="http://schemas.openxmlformats.org/officeDocument/2006/relationships/image" Target="../media/image7.jpg"/></Relationships>
</file>

<file path=ppt/slides/_rels/slide26.xml.rels><?xml version="1.0" encoding="utf-8"?><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RevisedLFR129" Type="http://schemas.openxmlformats.org/officeDocument/2006/relationships/image" Target="../media/revised_lfr19_image96.png"/><Relationship Id="rId3" Type="http://schemas.openxmlformats.org/officeDocument/2006/relationships/image" Target="../media/image73.png"/><Relationship Id="rIdRevisedLFR108" Type="http://schemas.openxmlformats.org/officeDocument/2006/relationships/image" Target="../media/revised_lfr19_lfr19_image55.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RevisedLFR128" Type="http://schemas.openxmlformats.org/officeDocument/2006/relationships/image" Target="../media/revised_lfr19_image102.png"/><Relationship Id="rId16"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76.png"/><Relationship Id="rId11" Type="http://schemas.openxmlformats.org/officeDocument/2006/relationships/image" Target="../media/image81.png"/><Relationship Id="rIdRevisedLFR101" Type="http://schemas.openxmlformats.org/officeDocument/2006/relationships/image" Target="../media/revised_lfr19_lfr19_image35.png"/><Relationship Id="rId5" Type="http://schemas.openxmlformats.org/officeDocument/2006/relationships/image" Target="../media/image75.png"/><Relationship Id="rId15" Type="http://schemas.openxmlformats.org/officeDocument/2006/relationships/image" Target="../media/image85.jpeg"/><Relationship Id="rId10" Type="http://schemas.openxmlformats.org/officeDocument/2006/relationships/image" Target="../media/image8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PIE122" Type="http://schemas.openxmlformats.org/officeDocument/2006/relationships/image" Target="../media/revised_lfr19_image96.png"/><Relationship Id="rIdPIE123" Type="http://schemas.openxmlformats.org/officeDocument/2006/relationships/image" Target="../media/image72.png"/><Relationship Id="rIdPIE124" Type="http://schemas.openxmlformats.org/officeDocument/2006/relationships/image" Target="../media/image73.png"/><Relationship Id="rIdPIE125" Type="http://schemas.openxmlformats.org/officeDocument/2006/relationships/image" Target="../media/image74.png"/><Relationship Id="rIdPIE126" Type="http://schemas.openxmlformats.org/officeDocument/2006/relationships/image" Target="../media/image75.png"/><Relationship Id="rIdPIE127" Type="http://schemas.openxmlformats.org/officeDocument/2006/relationships/image" Target="../media/revised_lfr19_image102.png"/><Relationship Id="rIdPIE128" Type="http://schemas.openxmlformats.org/officeDocument/2006/relationships/image" Target="../media/image76.png"/><Relationship Id="rIdPIE129" Type="http://schemas.openxmlformats.org/officeDocument/2006/relationships/image" Target="../media/revised_lfr19_image96.png"/><Relationship Id="rIdPIE130" Type="http://schemas.openxmlformats.org/officeDocument/2006/relationships/image" Target="../media/image77.png"/><Relationship Id="rIdPIE131" Type="http://schemas.openxmlformats.org/officeDocument/2006/relationships/image" Target="../media/image78.png"/><Relationship Id="rIdPIE132" Type="http://schemas.openxmlformats.org/officeDocument/2006/relationships/image" Target="../media/image79.png"/><Relationship Id="rIdPIE133" Type="http://schemas.openxmlformats.org/officeDocument/2006/relationships/image" Target="../media/image80.png"/><Relationship Id="rIdPIE134" Type="http://schemas.openxmlformats.org/officeDocument/2006/relationships/image" Target="../media/revised_lfr19_image102.png"/><Relationship Id="rIdPIE135" Type="http://schemas.openxmlformats.org/officeDocument/2006/relationships/image" Target="../media/image81.png"/><Relationship Id="rIdPIE136" Type="http://schemas.openxmlformats.org/officeDocument/2006/relationships/image" Target="../media/image54.png"/><Relationship Id="rIdPIE137" Type="http://schemas.openxmlformats.org/officeDocument/2006/relationships/image" Target="../media/image85.jpeg"/><Relationship Id="rIdPIE138" Type="http://schemas.openxmlformats.org/officeDocument/2006/relationships/image" Target="../media/image7.jpg"/><Relationship Id="rIdHeatNotes" Type="http://schemas.openxmlformats.org/officeDocument/2006/relationships/notesSlide" Target="../notesSlides/notesSlide3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8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5.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6.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8.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0"/>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From PDEs to PIEs</a:t>
            </a:r>
            <a:endParaRPr sz="2500"/>
          </a:p>
        </p:txBody>
      </p:sp>
      <p:sp>
        <p:nvSpPr>
          <p:cNvPr id="1002" name="Subtitle 20"/>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Change the representation of the nominal block.</a:t>
            </a:r>
            <a:endParaRPr sz="1200"/>
          </a:p>
        </p:txBody>
      </p:sp>
      <p:sp>
        <p:nvSpPr>
          <p:cNvPr id="1037" name="!!Physical model heading"/>
          <p:cNvSpPr/>
          <p:nvPr/>
        </p:nvSpPr>
        <p:spPr>
          <a:xfrm>
            <a:off x="6096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ODE–PDE model</a:t>
            </a:r>
            <a:endParaRPr sz="1400"/>
          </a:p>
        </p:txBody>
      </p:sp>
      <p:sp>
        <p:nvSpPr>
          <p:cNvPr id="1038" name="!!PIE model heading"/>
          <p:cNvSpPr/>
          <p:nvPr/>
        </p:nvSpPr>
        <p:spPr>
          <a:xfrm>
            <a:off x="53594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PIE model</a:t>
            </a:r>
            <a:endParaRPr sz="1400"/>
          </a:p>
        </p:txBody>
      </p:sp>
      <p:sp>
        <p:nvSpPr>
          <p:cNvPr id="1039" name="Exact equivalence"/>
          <p:cNvSpPr/>
          <p:nvPr/>
        </p:nvSpPr>
        <p:spPr>
          <a:xfrm>
            <a:off x="3937000" y="2183130"/>
            <a:ext cx="1270000" cy="8661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3100">
                      <a:solidFill>
                        <a:srgbClr val="252529"/>
                      </a:solidFill>
                      <a:latin typeface="Cambria Math"/>
                    </a:rPr>
                    <m:t xml:space="preserve">⇔</m:t>
                  </m:r>
                </m:oMath>
              </m:oMathPara>
            </a14:m>
            <a:endParaRPr sz="3100"/>
          </a:p>
        </p:txBody>
      </p:sp>
      <p:sp>
        <p:nvSpPr>
          <p:cNvPr id="1040" name="Equivalence message"/>
          <p:cNvSpPr/>
          <p:nvPr/>
        </p:nvSpPr>
        <p:spPr>
          <a:xfrm>
            <a:off x="444500" y="3971925"/>
            <a:ext cx="8255000" cy="361950"/>
          </a:xfrm>
          <a:prstGeom prst="rect">
            <a:avLst/>
          </a:prstGeom>
          <a:noFill/>
          <a:ln>
            <a:noFill/>
          </a:ln>
        </p:spPr>
        <p:txBody>
          <a:bodyPr wrap="none" lIns="0" tIns="0" rIns="0" bIns="0" anchor="ctr">
            <a:noAutofit/>
          </a:bodyPr>
          <a:lstStyle/>
          <a:p>
            <a:pPr algn="ctr">
              <a:buNone/>
            </a:pPr>
            <a:r>
              <a:rPr lang="en-GB" sz="1900" baseline="0" b="1" i="0" u="none">
                <a:solidFill>
                  <a:srgbClr val="252529"/>
                </a:solidFill>
                <a:latin typeface="Aptos"/>
                <a:ea typeface="Aptos"/>
                <a:cs typeface="Aptos"/>
              </a:rPr>
              <a:t xml:space="preserve">Same dynamics. Same signals. Same interconnection.</a:t>
            </a:r>
            <a:endParaRPr sz="1900"/>
          </a:p>
        </p:txBody>
      </p:sp>
      <p:sp>
        <p:nvSpPr>
          <p:cNvPr id="1041" name="Exactness"/>
          <p:cNvSpPr/>
          <p:nvPr/>
        </p:nvSpPr>
        <p:spPr>
          <a:xfrm>
            <a:off x="444500" y="4362450"/>
            <a:ext cx="8255000" cy="266700"/>
          </a:xfrm>
          <a:prstGeom prst="rect">
            <a:avLst/>
          </a:prstGeom>
          <a:noFill/>
          <a:ln>
            <a:noFill/>
          </a:ln>
        </p:spPr>
        <p:txBody>
          <a:bodyPr wrap="none" lIns="0" tIns="0" rIns="0" bIns="0" anchor="ctr">
            <a:noAutofit/>
          </a:bodyPr>
          <a:lstStyle/>
          <a:p>
            <a:pPr algn="ctr">
              <a:buNone/>
            </a:pPr>
            <a:r>
              <a:rPr lang="en-GB" sz="1400" baseline="0" b="0" i="0" u="none">
                <a:solidFill>
                  <a:srgbClr val="D61016"/>
                </a:solidFill>
                <a:latin typeface="Aptos"/>
                <a:ea typeface="Aptos"/>
                <a:cs typeface="Aptos"/>
              </a:rPr>
              <a:t xml:space="preserve">Exact conversion without spatial discretization.</a:t>
            </a:r>
            <a:endParaRPr sz="1400"/>
          </a:p>
        </p:txBody>
      </p:sp>
      <p:grpSp>
        <p:nvGrpSpPr>
          <p:cNvPr id="1003" name="!!Physical LFR">
            <a:extLst>
              <a:ext uri="{FF2B5EF4-FFF2-40B4-BE49-F238E27FC236}">
                <a16:creationId xmlns:a16="http://schemas.microsoft.com/office/drawing/2014/main" id="{9ABA1CC7-950B-27AA-22AE-FF6B70D69927}"/>
              </a:ext>
            </a:extLst>
          </p:cNvPr>
          <p:cNvGrpSpPr/>
          <p:nvPr/>
        </p:nvGrpSpPr>
        <p:grpSpPr>
          <a:xfrm>
            <a:off x="647700" y="1409700"/>
            <a:ext cx="3098800" cy="2375128"/>
            <a:chOff x="1995932" y="1819148"/>
            <a:chExt cx="3138932" cy="2405888"/>
          </a:xfrm>
        </p:grpSpPr>
        <p:sp>
          <p:nvSpPr>
            <p:cNvPr id="1004"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05"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06"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07"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08"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9"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10"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p:sp>
              <p:nvSpPr>
                <p:cNvPr id="1011"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p:sp>
              <p:nvSpPr>
                <p:cNvPr id="1012"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05"/>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13"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p:sp>
              <p:nvSpPr>
                <p:cNvPr id="1014"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07"/>
                  <a:stretch>
                    <a:fillRect/>
                  </a:stretch>
                </a:blipFill>
                <a:ln>
                  <a:noFill/>
                </a:ln>
              </p:spPr>
              <p:txBody>
                <a:bodyPr/>
                <a:lstStyle/>
                <a:p>
                  <a:r>
                    <a:rPr lang="en-NL">
                      <a:noFill/>
                    </a:rPr>
                    <a:t> </a:t>
                  </a:r>
                </a:p>
              </p:txBody>
            </p:sp>
          </mc:Fallback>
        </mc:AlternateContent>
        <p:sp>
          <p:nvSpPr>
            <p:cNvPr id="1015"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16"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17"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08"/>
                  <a:stretch>
                    <a:fillRect/>
                  </a:stretch>
                </a:blipFill>
                <a:ln>
                  <a:noFill/>
                </a:ln>
              </p:spPr>
              <p:txBody>
                <a:bodyPr/>
                <a:lstStyle/>
                <a:p>
                  <a:r>
                    <a:rPr lang="en-NL">
                      <a:noFill/>
                    </a:rPr>
                    <a:t> </a:t>
                  </a:r>
                </a:p>
              </p:txBody>
            </p:sp>
          </mc:Fallback>
        </mc:AlternateContent>
        <p:sp>
          <p:nvSpPr>
            <p:cNvPr id="1018"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19"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1019"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09"/>
                  <a:stretch>
                    <a:fillRect/>
                  </a:stretch>
                </a:blipFill>
                <a:ln>
                  <a:noFill/>
                </a:ln>
              </p:spPr>
              <p:txBody>
                <a:bodyPr/>
                <a:lstStyle/>
                <a:p>
                  <a:r>
                    <a:rPr lang="en-NL">
                      <a:noFill/>
                    </a:rPr>
                    <a:t> </a:t>
                  </a:r>
                </a:p>
              </p:txBody>
            </p:sp>
          </mc:Fallback>
        </mc:AlternateContent>
      </p:grpSp>
      <p:grpSp>
        <p:nvGrpSpPr>
          <p:cNvPr id="1020" name="!!PIE LFR">
            <a:extLst>
              <a:ext uri="{FF2B5EF4-FFF2-40B4-BE49-F238E27FC236}">
                <a16:creationId xmlns:a16="http://schemas.microsoft.com/office/drawing/2014/main" id="{694DB2D1-3979-BD73-6C1C-EDA0A861169B}"/>
              </a:ext>
            </a:extLst>
          </p:cNvPr>
          <p:cNvGrpSpPr/>
          <p:nvPr/>
        </p:nvGrpSpPr>
        <p:grpSpPr>
          <a:xfrm>
            <a:off x="5397500" y="1409700"/>
            <a:ext cx="3098800" cy="2375128"/>
            <a:chOff x="1995932" y="1819148"/>
            <a:chExt cx="3138932" cy="2405888"/>
          </a:xfrm>
        </p:grpSpPr>
        <p:sp>
          <p:nvSpPr>
            <p:cNvPr id="1021"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22"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23"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24"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25"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26"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27"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p:sp>
              <p:nvSpPr>
                <p:cNvPr id="1028"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p:sp>
              <p:nvSpPr>
                <p:cNvPr id="1029"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12"/>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0"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30"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1"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p:sp>
              <p:nvSpPr>
                <p:cNvPr id="1031"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14"/>
                  <a:stretch>
                    <a:fillRect/>
                  </a:stretch>
                </a:blipFill>
                <a:ln>
                  <a:noFill/>
                </a:ln>
              </p:spPr>
              <p:txBody>
                <a:bodyPr/>
                <a:lstStyle/>
                <a:p>
                  <a:r>
                    <a:rPr lang="en-NL">
                      <a:noFill/>
                    </a:rPr>
                    <a:t> </a:t>
                  </a:r>
                </a:p>
              </p:txBody>
            </p:sp>
          </mc:Fallback>
        </mc:AlternateContent>
        <p:sp>
          <p:nvSpPr>
            <p:cNvPr id="1032"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33"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3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15"/>
                  <a:stretch>
                    <a:fillRect/>
                  </a:stretch>
                </a:blipFill>
                <a:ln>
                  <a:noFill/>
                </a:ln>
              </p:spPr>
              <p:txBody>
                <a:bodyPr/>
                <a:lstStyle/>
                <a:p>
                  <a:r>
                    <a:rPr lang="en-NL">
                      <a:noFill/>
                    </a:rPr>
                    <a:t> </a:t>
                  </a:r>
                </a:p>
              </p:txBody>
            </p:sp>
          </mc:Fallback>
        </mc:AlternateContent>
        <p:sp>
          <p:nvSpPr>
            <p:cNvPr id="1035"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36"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36"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16"/>
                  <a:stretch>
                    <a:fillRect/>
                  </a:stretch>
                </a:blipFill>
                <a:ln>
                  <a:noFill/>
                </a:ln>
              </p:spPr>
              <p:txBody>
                <a:bodyPr/>
                <a:lstStyle/>
                <a:p>
                  <a:r>
                    <a:rPr lang="en-NL">
                      <a:noFill/>
                    </a:rPr>
                    <a:t> </a:t>
                  </a:r>
                </a:p>
              </p:txBody>
            </p:sp>
          </mc:Fallback>
        </mc:AlternateContent>
      </p:gr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1.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1"/>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Build the boundary conditions into the state</a:t>
            </a:r>
            <a:endParaRPr sz="2500"/>
          </a:p>
        </p:txBody>
      </p:sp>
      <p:sp>
        <p:nvSpPr>
          <p:cNvPr id="1002" name="Subtitle 21"/>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Nominal STN–GPe dynamics · homogeneous case: w = 0, u = 0</a:t>
            </a:r>
            <a:endParaRPr sz="1200"/>
          </a:p>
        </p:txBody>
      </p:sp>
      <p:sp>
        <p:nvSpPr>
          <p:cNvPr id="1003" name="Section rule"/>
          <p:cNvSpPr/>
          <p:nvPr/>
        </p:nvSpPr>
        <p:spPr>
          <a:xfrm>
            <a:off x="444500" y="1231900"/>
            <a:ext cx="8255000" cy="25400"/>
          </a:xfrm>
          <a:custGeom>
            <a:avLst/>
            <a:gdLst/>
            <a:ahLst/>
            <a:cxnLst/>
            <a:rect l="0" t="0" r="r" b="b"/>
            <a:pathLst>
              <a:path w="8255000" h="25400" fill="none">
                <a:moveTo>
                  <a:pt x="12700" y="12700"/>
                </a:moveTo>
                <a:lnTo>
                  <a:pt x="8242300" y="12700"/>
                </a:lnTo>
              </a:path>
            </a:pathLst>
          </a:custGeom>
          <a:noFill/>
          <a:ln w="8255">
            <a:solidFill>
              <a:srgbClr val="E4E6E9"/>
            </a:solidFill>
            <a:round/>
          </a:ln>
        </p:spPr>
      </p:sp>
      <p:sp>
        <p:nvSpPr>
          <p:cNvPr id="1004" name="PDE heading"/>
          <p:cNvSpPr/>
          <p:nvPr/>
        </p:nvSpPr>
        <p:spPr>
          <a:xfrm>
            <a:off x="533400" y="1320800"/>
            <a:ext cx="3657600" cy="30480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ptos"/>
                <a:ea typeface="Aptos"/>
                <a:cs typeface="Aptos"/>
              </a:rPr>
              <a:t xml:space="preserve">ODE–PDE</a:t>
            </a:r>
            <a:endParaRPr sz="1600"/>
          </a:p>
        </p:txBody>
      </p:sp>
      <p:sp>
        <p:nvSpPr>
          <p:cNvPr id="1005" name="PIE heading"/>
          <p:cNvSpPr/>
          <p:nvPr/>
        </p:nvSpPr>
        <p:spPr>
          <a:xfrm>
            <a:off x="5029200" y="1320800"/>
            <a:ext cx="3657600" cy="30480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ptos"/>
                <a:ea typeface="Aptos"/>
                <a:cs typeface="Aptos"/>
              </a:rPr>
              <a:t xml:space="preserve">PIE</a:t>
            </a:r>
            <a:endParaRPr sz="1600"/>
          </a:p>
        </p:txBody>
      </p:sp>
      <p:sp>
        <p:nvSpPr>
          <p:cNvPr id="1006" name="PDE ODE dynamics"/>
          <p:cNvSpPr/>
          <p:nvPr/>
        </p:nvSpPr>
        <p:spPr>
          <a:xfrm>
            <a:off x="457200" y="1714500"/>
            <a:ext cx="3810000" cy="558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000">
                          <a:solidFill>
                            <a:srgbClr val="252529"/>
                          </a:solidFill>
                          <a:latin typeface="Cambria Math"/>
                        </a:rPr>
                      </m:ctrlPr>
                    </m:sSubPr>
                    <m:e>
                      <m:r>
                        <m:rPr>
                          <m:sty m:val="i"/>
                        </m:rPr>
                        <a:rPr sz="2000">
                          <a:solidFill>
                            <a:srgbClr val="252529"/>
                          </a:solidFill>
                          <a:latin typeface="Cambria Math"/>
                        </a:rPr>
                        <m:t xml:space="preserve">τ</m:t>
                      </m:r>
                    </m:e>
                    <m:sub>
                      <m:r>
                        <m:rPr>
                          <m:sty m:val="i"/>
                        </m:rPr>
                        <a:rPr sz="2000">
                          <a:solidFill>
                            <a:srgbClr val="252529"/>
                          </a:solidFill>
                          <a:latin typeface="Cambria Math"/>
                        </a:rPr>
                        <m:t xml:space="preserve">i</m:t>
                      </m:r>
                    </m:sub>
                  </m:sSub>
                  <m:acc>
                    <m:accPr>
                      <m:chr m:val="̇"/>
                      <m:ctrlPr>
                        <a:rPr sz="2000">
                          <a:solidFill>
                            <a:srgbClr val="252529"/>
                          </a:solidFill>
                          <a:latin typeface="Cambria Math"/>
                        </a:rPr>
                      </m:ctrlPr>
                    </m:accPr>
                    <m:e>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i"/>
                    </m:rPr>
                    <a:rPr sz="2000">
                      <a:solidFill>
                        <a:srgbClr val="252529"/>
                      </a:solidFill>
                      <a:latin typeface="Cambria Math"/>
                    </a:rPr>
                    <m:t xml:space="preserve">−</m:t>
                  </m:r>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07" name="Transport PDE"/>
          <p:cNvSpPr/>
          <p:nvPr/>
        </p:nvSpPr>
        <p:spPr>
          <a:xfrm>
            <a:off x="330200" y="2313940"/>
            <a:ext cx="4064000" cy="5029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800">
                          <a:solidFill>
                            <a:srgbClr val="252529"/>
                          </a:solidFill>
                          <a:latin typeface="Cambria Math"/>
                        </a:rPr>
                      </m:ctrlPr>
                    </m:sSubPr>
                    <m:e>
                      <m:r>
                        <m:rPr>
                          <m:sty m:val="i"/>
                        </m:rPr>
                        <a:rPr sz="1800">
                          <a:solidFill>
                            <a:srgbClr val="252529"/>
                          </a:solidFill>
                          <a:latin typeface="Cambria Math"/>
                        </a:rPr>
                        <m:t xml:space="preserve">∂</m:t>
                      </m:r>
                    </m:e>
                    <m:sub>
                      <m:r>
                        <m:rPr>
                          <m:sty m:val="i"/>
                        </m:rPr>
                        <a:rPr sz="1800">
                          <a:solidFill>
                            <a:srgbClr val="252529"/>
                          </a:solidFill>
                          <a:latin typeface="Cambria Math"/>
                        </a:rPr>
                        <m:t xml:space="preserve">t</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s</m:t>
                      </m:r>
                    </m:e>
                  </m:d>
                  <m:r>
                    <m:rPr>
                      <m:sty m:val="i"/>
                    </m:rPr>
                    <a:rPr sz="1800">
                      <a:solidFill>
                        <a:srgbClr val="252529"/>
                      </a:solidFill>
                      <a:latin typeface="Cambria Math"/>
                    </a:rPr>
                    <m:t xml:space="preserve">=</m:t>
                  </m:r>
                  <m:r>
                    <m:rPr>
                      <m:sty m:val="i"/>
                    </m:rPr>
                    <a:rPr sz="1800">
                      <a:solidFill>
                        <a:srgbClr val="252529"/>
                      </a:solidFill>
                      <a:latin typeface="Cambria Math"/>
                    </a:rPr>
                    <m:t xml:space="preserve">−</m:t>
                  </m:r>
                  <m:f>
                    <m:fPr>
                      <m:ctrlPr>
                        <a:rPr sz="1800">
                          <a:solidFill>
                            <a:srgbClr val="252529"/>
                          </a:solidFill>
                          <a:latin typeface="Cambria Math"/>
                        </a:rPr>
                      </m:ctrlPr>
                    </m:fPr>
                    <m:num>
                      <m:r>
                        <m:rPr>
                          <m:sty m:val="i"/>
                        </m:rPr>
                        <a:rPr sz="1800">
                          <a:solidFill>
                            <a:srgbClr val="252529"/>
                          </a:solidFill>
                          <a:latin typeface="Cambria Math"/>
                        </a:rPr>
                        <m:t xml:space="preserve">1</m:t>
                      </m:r>
                    </m:num>
                    <m:den>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en>
                  </m:f>
                  <m:sSub>
                    <m:sSubPr>
                      <m:ctrlPr>
                        <a:rPr sz="1800">
                          <a:solidFill>
                            <a:srgbClr val="252529"/>
                          </a:solidFill>
                          <a:latin typeface="Cambria Math"/>
                        </a:rPr>
                      </m:ctrlPr>
                    </m:sSubPr>
                    <m:e>
                      <m:r>
                        <m:rPr>
                          <m:sty m:val="i"/>
                        </m:rPr>
                        <a:rPr sz="1800">
                          <a:solidFill>
                            <a:srgbClr val="252529"/>
                          </a:solidFill>
                          <a:latin typeface="Cambria Math"/>
                        </a:rPr>
                        <m:t xml:space="preserve">∂</m:t>
                      </m:r>
                    </m:e>
                    <m:sub>
                      <m:r>
                        <m:rPr>
                          <m:sty m:val="i"/>
                        </m:rPr>
                        <a:rPr sz="1800">
                          <a:solidFill>
                            <a:srgbClr val="252529"/>
                          </a:solidFill>
                          <a:latin typeface="Cambria Math"/>
                        </a:rPr>
                        <m:t xml:space="preserve">s</m:t>
                      </m:r>
                    </m:sub>
                  </m:sSub>
                  <m:sSub>
                    <m:sSubPr>
                      <m:ctrlPr>
                        <a:rPr sz="1800">
                          <a:solidFill>
                            <a:srgbClr val="252529"/>
                          </a:solidFill>
                          <a:latin typeface="Cambria Math"/>
                        </a:rPr>
                      </m:ctrlPr>
                    </m:sSubPr>
                    <m:e>
                      <m:r>
                        <m:rPr>
                          <m:sty m:val="i"/>
                        </m:rPr>
                        <a:rPr sz="1800">
                          <a:solidFill>
                            <a:srgbClr val="252529"/>
                          </a:solidFill>
                          <a:latin typeface="Cambria Math"/>
                        </a:rPr>
                        <m:t xml:space="preserve">φ</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s</m:t>
                      </m:r>
                    </m:e>
                  </m:d>
                </m:oMath>
              </m:oMathPara>
            </a14:m>
            <a:endParaRPr sz="1800"/>
          </a:p>
        </p:txBody>
      </p:sp>
      <p:sp>
        <p:nvSpPr>
          <p:cNvPr id="1008" name="Boundary condition"/>
          <p:cNvSpPr/>
          <p:nvPr/>
        </p:nvSpPr>
        <p:spPr>
          <a:xfrm>
            <a:off x="330200" y="2871470"/>
            <a:ext cx="4064000" cy="53086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900">
                          <a:solidFill>
                            <a:srgbClr val="D61016"/>
                          </a:solidFill>
                          <a:latin typeface="Cambria Math"/>
                        </a:rPr>
                      </m:ctrlPr>
                    </m:sSubPr>
                    <m:e>
                      <m:r>
                        <m:rPr>
                          <m:sty m:val="i"/>
                        </m:rPr>
                        <a:rPr sz="1900">
                          <a:solidFill>
                            <a:srgbClr val="D61016"/>
                          </a:solidFill>
                          <a:latin typeface="Cambria Math"/>
                        </a:rPr>
                        <m:t xml:space="preserve">φ</m:t>
                      </m:r>
                    </m:e>
                    <m:sub>
                      <m:r>
                        <m:rPr>
                          <m:sty m:val="i"/>
                        </m:rPr>
                        <a:rPr sz="1900">
                          <a:solidFill>
                            <a:srgbClr val="D61016"/>
                          </a:solidFill>
                          <a:latin typeface="Cambria Math"/>
                        </a:rPr>
                        <m:t xml:space="preserve">i</m:t>
                      </m:r>
                      <m:r>
                        <m:rPr>
                          <m:sty m:val="i"/>
                        </m:rPr>
                        <a:rPr sz="1900">
                          <a:solidFill>
                            <a:srgbClr val="D61016"/>
                          </a:solidFill>
                          <a:latin typeface="Cambria Math"/>
                        </a:rPr>
                        <m:t xml:space="preserve">j</m:t>
                      </m:r>
                    </m:sub>
                  </m:sSub>
                  <m:d>
                    <m:dPr>
                      <m:begChr m:val="("/>
                      <m:endChr m:val=")"/>
                      <m:ctrlPr>
                        <a:rPr sz="1900">
                          <a:solidFill>
                            <a:srgbClr val="D61016"/>
                          </a:solidFill>
                          <a:latin typeface="Cambria Math"/>
                        </a:rPr>
                      </m:ctrlPr>
                    </m:dPr>
                    <m:e>
                      <m:r>
                        <m:rPr>
                          <m:sty m:val="i"/>
                        </m:rPr>
                        <a:rPr sz="1900">
                          <a:solidFill>
                            <a:srgbClr val="D61016"/>
                          </a:solidFill>
                          <a:latin typeface="Cambria Math"/>
                        </a:rPr>
                        <m:t xml:space="preserve">t</m:t>
                      </m:r>
                      <m:r>
                        <m:rPr>
                          <m:sty m:val="i"/>
                        </m:rPr>
                        <a:rPr sz="1900">
                          <a:solidFill>
                            <a:srgbClr val="D61016"/>
                          </a:solidFill>
                          <a:latin typeface="Cambria Math"/>
                        </a:rPr>
                        <m:t xml:space="preserve">,</m:t>
                      </m:r>
                      <m:r>
                        <m:rPr>
                          <m:sty m:val="i"/>
                        </m:rPr>
                        <a:rPr sz="1900">
                          <a:solidFill>
                            <a:srgbClr val="D61016"/>
                          </a:solidFill>
                          <a:latin typeface="Cambria Math"/>
                        </a:rPr>
                        <m:t xml:space="preserve">0</m:t>
                      </m:r>
                    </m:e>
                  </m:d>
                  <m:r>
                    <m:rPr>
                      <m:sty m:val="i"/>
                    </m:rPr>
                    <a:rPr sz="1900">
                      <a:solidFill>
                        <a:srgbClr val="D61016"/>
                      </a:solidFill>
                      <a:latin typeface="Cambria Math"/>
                    </a:rPr>
                    <m:t xml:space="preserve">=</m:t>
                  </m:r>
                  <m:sSub>
                    <m:sSubPr>
                      <m:ctrlPr>
                        <a:rPr sz="1900">
                          <a:solidFill>
                            <a:srgbClr val="D61016"/>
                          </a:solidFill>
                          <a:latin typeface="Cambria Math"/>
                        </a:rPr>
                      </m:ctrlPr>
                    </m:sSubPr>
                    <m:e>
                      <m:r>
                        <m:rPr>
                          <m:sty m:val="i"/>
                        </m:rPr>
                        <a:rPr sz="1900">
                          <a:solidFill>
                            <a:srgbClr val="D61016"/>
                          </a:solidFill>
                          <a:latin typeface="Cambria Math"/>
                        </a:rPr>
                        <m:t xml:space="preserve">x</m:t>
                      </m:r>
                    </m:e>
                    <m:sub>
                      <m:r>
                        <m:rPr>
                          <m:sty m:val="i"/>
                        </m:rPr>
                        <a:rPr sz="1900">
                          <a:solidFill>
                            <a:srgbClr val="D61016"/>
                          </a:solidFill>
                          <a:latin typeface="Cambria Math"/>
                        </a:rPr>
                        <m:t xml:space="preserve">i</m:t>
                      </m:r>
                    </m:sub>
                  </m:sSub>
                  <m:d>
                    <m:dPr>
                      <m:begChr m:val="("/>
                      <m:endChr m:val=")"/>
                      <m:ctrlPr>
                        <a:rPr sz="1900">
                          <a:solidFill>
                            <a:srgbClr val="D61016"/>
                          </a:solidFill>
                          <a:latin typeface="Cambria Math"/>
                        </a:rPr>
                      </m:ctrlPr>
                    </m:dPr>
                    <m:e>
                      <m:r>
                        <m:rPr>
                          <m:sty m:val="i"/>
                        </m:rPr>
                        <a:rPr sz="1900">
                          <a:solidFill>
                            <a:srgbClr val="D61016"/>
                          </a:solidFill>
                          <a:latin typeface="Cambria Math"/>
                        </a:rPr>
                        <m:t xml:space="preserve">t</m:t>
                      </m:r>
                    </m:e>
                  </m:d>
                </m:oMath>
              </m:oMathPara>
            </a14:m>
            <a:endParaRPr sz="1900"/>
          </a:p>
        </p:txBody>
      </p:sp>
      <p:sp>
        <p:nvSpPr>
          <p:cNvPr id="1009" name="PIE ODE dynamics"/>
          <p:cNvSpPr/>
          <p:nvPr/>
        </p:nvSpPr>
        <p:spPr>
          <a:xfrm>
            <a:off x="4953000" y="1714500"/>
            <a:ext cx="3810000" cy="558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000">
                          <a:solidFill>
                            <a:srgbClr val="252529"/>
                          </a:solidFill>
                          <a:latin typeface="Cambria Math"/>
                        </a:rPr>
                      </m:ctrlPr>
                    </m:sSubPr>
                    <m:e>
                      <m:r>
                        <m:rPr>
                          <m:sty m:val="i"/>
                        </m:rPr>
                        <a:rPr sz="2000">
                          <a:solidFill>
                            <a:srgbClr val="252529"/>
                          </a:solidFill>
                          <a:latin typeface="Cambria Math"/>
                        </a:rPr>
                        <m:t xml:space="preserve">τ</m:t>
                      </m:r>
                    </m:e>
                    <m:sub>
                      <m:r>
                        <m:rPr>
                          <m:sty m:val="i"/>
                        </m:rPr>
                        <a:rPr sz="2000">
                          <a:solidFill>
                            <a:srgbClr val="252529"/>
                          </a:solidFill>
                          <a:latin typeface="Cambria Math"/>
                        </a:rPr>
                        <m:t xml:space="preserve">i</m:t>
                      </m:r>
                    </m:sub>
                  </m:sSub>
                  <m:acc>
                    <m:accPr>
                      <m:chr m:val="̇"/>
                      <m:ctrlPr>
                        <a:rPr sz="2000">
                          <a:solidFill>
                            <a:srgbClr val="252529"/>
                          </a:solidFill>
                          <a:latin typeface="Cambria Math"/>
                        </a:rPr>
                      </m:ctrlPr>
                    </m:accPr>
                    <m:e>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i"/>
                    </m:rPr>
                    <a:rPr sz="2000">
                      <a:solidFill>
                        <a:srgbClr val="252529"/>
                      </a:solidFill>
                      <a:latin typeface="Cambria Math"/>
                    </a:rPr>
                    <m:t xml:space="preserve">−</m:t>
                  </m:r>
                  <m:sSub>
                    <m:sSubPr>
                      <m:ctrlPr>
                        <a:rPr sz="2000">
                          <a:solidFill>
                            <a:srgbClr val="252529"/>
                          </a:solidFill>
                          <a:latin typeface="Cambria Math"/>
                        </a:rPr>
                      </m:ctrlPr>
                    </m:sSubPr>
                    <m:e>
                      <m:r>
                        <m:rPr>
                          <m:sty m:val="i"/>
                        </m:rPr>
                        <a:rPr sz="2000">
                          <a:solidFill>
                            <a:srgbClr val="252529"/>
                          </a:solidFill>
                          <a:latin typeface="Cambria Math"/>
                        </a:rPr>
                        <m:t xml:space="preserve">x</m:t>
                      </m:r>
                    </m:e>
                    <m:sub>
                      <m:r>
                        <m:rPr>
                          <m:sty m:val="i"/>
                        </m:rPr>
                        <a:rPr sz="2000">
                          <a:solidFill>
                            <a:srgbClr val="252529"/>
                          </a:solidFill>
                          <a:latin typeface="Cambria Math"/>
                        </a:rPr>
                        <m:t xml:space="preserve">i</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10" name="PIE distributed dynamics"/>
          <p:cNvSpPr/>
          <p:nvPr/>
        </p:nvSpPr>
        <p:spPr>
          <a:xfrm>
            <a:off x="4749800" y="2390140"/>
            <a:ext cx="4216400" cy="50292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x</m:t>
                          </m:r>
                        </m:e>
                        <m:sub>
                          <m:r>
                            <m:rPr>
                              <m:sty m:val="i"/>
                            </m:rPr>
                            <a:rPr sz="1800">
                              <a:solidFill>
                                <a:srgbClr val="252529"/>
                              </a:solidFill>
                              <a:latin typeface="Cambria Math"/>
                            </a:rPr>
                            <m:t xml:space="preserve">i</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e>
                  </m:d>
                  <m:r>
                    <m:rPr>
                      <m:sty m:val="i"/>
                    </m:rPr>
                    <a:rPr sz="1800">
                      <a:solidFill>
                        <a:srgbClr val="252529"/>
                      </a:solidFill>
                      <a:latin typeface="Cambria Math"/>
                    </a:rPr>
                    <m:t xml:space="preserve">+</m:t>
                  </m:r>
                  <m:nary>
                    <m:naryPr>
                      <m:chr m:val="∫"/>
                      <m:limLoc m:val="subSup"/>
                      <m:ctrlPr>
                        <a:rPr sz="1800">
                          <a:solidFill>
                            <a:srgbClr val="252529"/>
                          </a:solidFill>
                          <a:latin typeface="Cambria Math"/>
                        </a:rPr>
                      </m:ctrlPr>
                    </m:naryPr>
                    <m:sub>
                      <m:r>
                        <m:rPr>
                          <m:sty m:val="p"/>
                        </m:rPr>
                        <a:rPr sz="1800">
                          <a:solidFill>
                            <a:srgbClr val="252529"/>
                          </a:solidFill>
                          <a:latin typeface="Cambria Math"/>
                        </a:rPr>
                        <m:t xml:space="preserve">0</m:t>
                      </m:r>
                    </m:sub>
                    <m:sup>
                      <m:r>
                        <m:rPr>
                          <m:sty m:val="i"/>
                        </m:rPr>
                        <a:rPr sz="1800">
                          <a:solidFill>
                            <a:srgbClr val="252529"/>
                          </a:solidFill>
                          <a:latin typeface="Cambria Math"/>
                        </a:rPr>
                        <m:t xml:space="preserve">s</m:t>
                      </m:r>
                    </m:sup>
                    <m:e>
                      <m:acc>
                        <m:accPr>
                          <m:chr m:val="̇"/>
                          <m:ctrlPr>
                            <a:rPr sz="1800">
                              <a:solidFill>
                                <a:srgbClr val="252529"/>
                              </a:solidFill>
                              <a:latin typeface="Cambria Math"/>
                            </a:rPr>
                          </m:ctrlPr>
                        </m:accPr>
                        <m:e>
                          <m:sSub>
                            <m:sSubPr>
                              <m:ctrlPr>
                                <a:rPr sz="1800">
                                  <a:solidFill>
                                    <a:srgbClr val="252529"/>
                                  </a:solidFill>
                                  <a:latin typeface="Cambria Math"/>
                                </a:rPr>
                              </m:ctrlPr>
                            </m:sSubPr>
                            <m:e>
                              <m:r>
                                <m:rPr>
                                  <m:sty m:val="i"/>
                                </m:rPr>
                                <a:rPr sz="1800">
                                  <a:solidFill>
                                    <a:srgbClr val="252529"/>
                                  </a:solidFill>
                                  <a:latin typeface="Cambria Math"/>
                                </a:rPr>
                                <m:t xml:space="preserve">v</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e>
                      </m:acc>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θ</m:t>
                          </m:r>
                        </m:e>
                      </m:d>
                      <m:r>
                        <m:rPr>
                          <m:sty m:val="i"/>
                        </m:rPr>
                        <a:rPr sz="1800">
                          <a:solidFill>
                            <a:srgbClr val="252529"/>
                          </a:solidFill>
                          <a:latin typeface="Cambria Math"/>
                        </a:rPr>
                        <m:t xml:space="preserve">d</m:t>
                      </m:r>
                      <m:r>
                        <m:rPr>
                          <m:sty m:val="i"/>
                        </m:rPr>
                        <a:rPr sz="1800">
                          <a:solidFill>
                            <a:srgbClr val="252529"/>
                          </a:solidFill>
                          <a:latin typeface="Cambria Math"/>
                        </a:rPr>
                        <m:t xml:space="preserve">θ</m:t>
                      </m:r>
                    </m:e>
                  </m:nary>
                  <m:r>
                    <m:rPr>
                      <m:sty m:val="i"/>
                    </m:rPr>
                    <a:rPr sz="1800">
                      <a:solidFill>
                        <a:srgbClr val="252529"/>
                      </a:solidFill>
                      <a:latin typeface="Cambria Math"/>
                    </a:rPr>
                    <m:t xml:space="preserve">=</m:t>
                  </m:r>
                  <m:r>
                    <m:rPr>
                      <m:sty m:val="i"/>
                    </m:rPr>
                    <a:rPr sz="1800">
                      <a:solidFill>
                        <a:srgbClr val="252529"/>
                      </a:solidFill>
                      <a:latin typeface="Cambria Math"/>
                    </a:rPr>
                    <m:t xml:space="preserve">−</m:t>
                  </m:r>
                  <m:f>
                    <m:fPr>
                      <m:ctrlPr>
                        <a:rPr sz="1800">
                          <a:solidFill>
                            <a:srgbClr val="252529"/>
                          </a:solidFill>
                          <a:latin typeface="Cambria Math"/>
                        </a:rPr>
                      </m:ctrlPr>
                    </m:fPr>
                    <m:num>
                      <m:sSub>
                        <m:sSubPr>
                          <m:ctrlPr>
                            <a:rPr sz="1800">
                              <a:solidFill>
                                <a:srgbClr val="252529"/>
                              </a:solidFill>
                              <a:latin typeface="Cambria Math"/>
                            </a:rPr>
                          </m:ctrlPr>
                        </m:sSubPr>
                        <m:e>
                          <m:r>
                            <m:rPr>
                              <m:sty m:val="i"/>
                            </m:rPr>
                            <a:rPr sz="1800">
                              <a:solidFill>
                                <a:srgbClr val="252529"/>
                              </a:solidFill>
                              <a:latin typeface="Cambria Math"/>
                            </a:rPr>
                            <m:t xml:space="preserve">v</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
                        <m:dPr>
                          <m:begChr m:val="("/>
                          <m:endChr m:val=")"/>
                          <m:ctrlPr>
                            <a:rPr sz="1800">
                              <a:solidFill>
                                <a:srgbClr val="252529"/>
                              </a:solidFill>
                              <a:latin typeface="Cambria Math"/>
                            </a:rPr>
                          </m:ctrlPr>
                        </m:dPr>
                        <m:e>
                          <m:r>
                            <m:rPr>
                              <m:sty m:val="i"/>
                            </m:rPr>
                            <a:rPr sz="1800">
                              <a:solidFill>
                                <a:srgbClr val="252529"/>
                              </a:solidFill>
                              <a:latin typeface="Cambria Math"/>
                            </a:rPr>
                            <m:t xml:space="preserve">t</m:t>
                          </m:r>
                          <m:r>
                            <m:rPr>
                              <m:sty m:val="i"/>
                            </m:rPr>
                            <a:rPr sz="1800">
                              <a:solidFill>
                                <a:srgbClr val="252529"/>
                              </a:solidFill>
                              <a:latin typeface="Cambria Math"/>
                            </a:rPr>
                            <m:t xml:space="preserve">,</m:t>
                          </m:r>
                          <m:r>
                            <m:rPr>
                              <m:sty m:val="i"/>
                            </m:rPr>
                            <a:rPr sz="1800">
                              <a:solidFill>
                                <a:srgbClr val="252529"/>
                              </a:solidFill>
                              <a:latin typeface="Cambria Math"/>
                            </a:rPr>
                            <m:t xml:space="preserve">s</m:t>
                          </m:r>
                        </m:e>
                      </m:d>
                    </m:num>
                    <m:den>
                      <m:sSub>
                        <m:sSubPr>
                          <m:ctrlPr>
                            <a:rPr sz="1800">
                              <a:solidFill>
                                <a:srgbClr val="252529"/>
                              </a:solidFill>
                              <a:latin typeface="Cambria Math"/>
                            </a:rPr>
                          </m:ctrlPr>
                        </m:sSubPr>
                        <m:e>
                          <m:r>
                            <m:rPr>
                              <m:sty m:val="i"/>
                            </m:rPr>
                            <a:rPr sz="1800">
                              <a:solidFill>
                                <a:srgbClr val="252529"/>
                              </a:solidFill>
                              <a:latin typeface="Cambria Math"/>
                            </a:rPr>
                            <m:t xml:space="preserve">τ</m:t>
                          </m:r>
                        </m:e>
                        <m:sub>
                          <m:r>
                            <m:rPr>
                              <m:sty m:val="i"/>
                            </m:rPr>
                            <a:rPr sz="1800">
                              <a:solidFill>
                                <a:srgbClr val="252529"/>
                              </a:solidFill>
                              <a:latin typeface="Cambria Math"/>
                            </a:rPr>
                            <m:t xml:space="preserve">i</m:t>
                          </m:r>
                          <m:r>
                            <m:rPr>
                              <m:sty m:val="i"/>
                            </m:rPr>
                            <a:rPr sz="1800">
                              <a:solidFill>
                                <a:srgbClr val="252529"/>
                              </a:solidFill>
                              <a:latin typeface="Cambria Math"/>
                            </a:rPr>
                            <m:t xml:space="preserve">j</m:t>
                          </m:r>
                        </m:sub>
                      </m:sSub>
                    </m:den>
                  </m:f>
                </m:oMath>
              </m:oMathPara>
            </a14:m>
            <a:endParaRPr sz="1800"/>
          </a:p>
        </p:txBody>
      </p:sp>
      <p:sp>
        <p:nvSpPr>
          <p:cNvPr id="1011" name="PIE state definition"/>
          <p:cNvSpPr/>
          <p:nvPr/>
        </p:nvSpPr>
        <p:spPr>
          <a:xfrm>
            <a:off x="4857750" y="3039110"/>
            <a:ext cx="4000500" cy="47498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700">
                          <a:solidFill>
                            <a:srgbClr val="20558B"/>
                          </a:solidFill>
                          <a:latin typeface="Cambria Math"/>
                        </a:rPr>
                      </m:ctrlPr>
                    </m:sSubPr>
                    <m:e>
                      <m:r>
                        <m:rPr>
                          <m:sty m:val="i"/>
                        </m:rPr>
                        <a:rPr sz="1700">
                          <a:solidFill>
                            <a:srgbClr val="20558B"/>
                          </a:solidFill>
                          <a:latin typeface="Cambria Math"/>
                        </a:rPr>
                        <m:t xml:space="preserve">v</m:t>
                      </m:r>
                    </m:e>
                    <m:sub>
                      <m:r>
                        <m:rPr>
                          <m:sty m:val="i"/>
                        </m:rPr>
                        <a:rPr sz="1700">
                          <a:solidFill>
                            <a:srgbClr val="20558B"/>
                          </a:solidFill>
                          <a:latin typeface="Cambria Math"/>
                        </a:rPr>
                        <m:t xml:space="preserve">i</m:t>
                      </m:r>
                      <m:r>
                        <m:rPr>
                          <m:sty m:val="i"/>
                        </m:rPr>
                        <a:rPr sz="1700">
                          <a:solidFill>
                            <a:srgbClr val="20558B"/>
                          </a:solidFill>
                          <a:latin typeface="Cambria Math"/>
                        </a:rPr>
                        <m:t xml:space="preserve">j</m:t>
                      </m:r>
                    </m:sub>
                  </m:sSub>
                  <m:d>
                    <m:dPr>
                      <m:begChr m:val="("/>
                      <m:endChr m:val=")"/>
                      <m:ctrlPr>
                        <a:rPr sz="1700">
                          <a:solidFill>
                            <a:srgbClr val="20558B"/>
                          </a:solidFill>
                          <a:latin typeface="Cambria Math"/>
                        </a:rPr>
                      </m:ctrlPr>
                    </m:dPr>
                    <m:e>
                      <m:r>
                        <m:rPr>
                          <m:sty m:val="i"/>
                        </m:rPr>
                        <a:rPr sz="1700">
                          <a:solidFill>
                            <a:srgbClr val="20558B"/>
                          </a:solidFill>
                          <a:latin typeface="Cambria Math"/>
                        </a:rPr>
                        <m:t xml:space="preserve">t</m:t>
                      </m:r>
                      <m:r>
                        <m:rPr>
                          <m:sty m:val="i"/>
                        </m:rPr>
                        <a:rPr sz="1700">
                          <a:solidFill>
                            <a:srgbClr val="20558B"/>
                          </a:solidFill>
                          <a:latin typeface="Cambria Math"/>
                        </a:rPr>
                        <m:t xml:space="preserve">,</m:t>
                      </m:r>
                      <m:r>
                        <m:rPr>
                          <m:sty m:val="i"/>
                        </m:rPr>
                        <a:rPr sz="1700">
                          <a:solidFill>
                            <a:srgbClr val="20558B"/>
                          </a:solidFill>
                          <a:latin typeface="Cambria Math"/>
                        </a:rPr>
                        <m:t xml:space="preserve">s</m:t>
                      </m:r>
                    </m:e>
                  </m:d>
                  <m:r>
                    <m:rPr>
                      <m:sty m:val="i"/>
                    </m:rPr>
                    <a:rPr sz="1700">
                      <a:solidFill>
                        <a:srgbClr val="20558B"/>
                      </a:solidFill>
                      <a:latin typeface="Cambria Math"/>
                    </a:rPr>
                    <m:t xml:space="preserve">:</m:t>
                  </m:r>
                  <m:r>
                    <m:rPr>
                      <m:sty m:val="i"/>
                    </m:rPr>
                    <a:rPr sz="1700">
                      <a:solidFill>
                        <a:srgbClr val="20558B"/>
                      </a:solidFill>
                      <a:latin typeface="Cambria Math"/>
                    </a:rPr>
                    <m:t xml:space="preserve">=</m:t>
                  </m:r>
                  <m:sSub>
                    <m:sSubPr>
                      <m:ctrlPr>
                        <a:rPr sz="1700">
                          <a:solidFill>
                            <a:srgbClr val="20558B"/>
                          </a:solidFill>
                          <a:latin typeface="Cambria Math"/>
                        </a:rPr>
                      </m:ctrlPr>
                    </m:sSubPr>
                    <m:e>
                      <m:r>
                        <m:rPr>
                          <m:sty m:val="i"/>
                        </m:rPr>
                        <a:rPr sz="1700">
                          <a:solidFill>
                            <a:srgbClr val="20558B"/>
                          </a:solidFill>
                          <a:latin typeface="Cambria Math"/>
                        </a:rPr>
                        <m:t xml:space="preserve">∂</m:t>
                      </m:r>
                    </m:e>
                    <m:sub>
                      <m:r>
                        <m:rPr>
                          <m:sty m:val="i"/>
                        </m:rPr>
                        <a:rPr sz="1700">
                          <a:solidFill>
                            <a:srgbClr val="20558B"/>
                          </a:solidFill>
                          <a:latin typeface="Cambria Math"/>
                        </a:rPr>
                        <m:t xml:space="preserve">s</m:t>
                      </m:r>
                    </m:sub>
                  </m:sSub>
                  <m:sSub>
                    <m:sSubPr>
                      <m:ctrlPr>
                        <a:rPr sz="1700">
                          <a:solidFill>
                            <a:srgbClr val="20558B"/>
                          </a:solidFill>
                          <a:latin typeface="Cambria Math"/>
                        </a:rPr>
                      </m:ctrlPr>
                    </m:sSubPr>
                    <m:e>
                      <m:r>
                        <m:rPr>
                          <m:sty m:val="i"/>
                        </m:rPr>
                        <a:rPr sz="1700">
                          <a:solidFill>
                            <a:srgbClr val="20558B"/>
                          </a:solidFill>
                          <a:latin typeface="Cambria Math"/>
                        </a:rPr>
                        <m:t xml:space="preserve">φ</m:t>
                      </m:r>
                    </m:e>
                    <m:sub>
                      <m:r>
                        <m:rPr>
                          <m:sty m:val="i"/>
                        </m:rPr>
                        <a:rPr sz="1700">
                          <a:solidFill>
                            <a:srgbClr val="20558B"/>
                          </a:solidFill>
                          <a:latin typeface="Cambria Math"/>
                        </a:rPr>
                        <m:t xml:space="preserve">i</m:t>
                      </m:r>
                      <m:r>
                        <m:rPr>
                          <m:sty m:val="i"/>
                        </m:rPr>
                        <a:rPr sz="1700">
                          <a:solidFill>
                            <a:srgbClr val="20558B"/>
                          </a:solidFill>
                          <a:latin typeface="Cambria Math"/>
                        </a:rPr>
                        <m:t xml:space="preserve">j</m:t>
                      </m:r>
                    </m:sub>
                  </m:sSub>
                  <m:d>
                    <m:dPr>
                      <m:begChr m:val="("/>
                      <m:endChr m:val=")"/>
                      <m:ctrlPr>
                        <a:rPr sz="1700">
                          <a:solidFill>
                            <a:srgbClr val="20558B"/>
                          </a:solidFill>
                          <a:latin typeface="Cambria Math"/>
                        </a:rPr>
                      </m:ctrlPr>
                    </m:dPr>
                    <m:e>
                      <m:r>
                        <m:rPr>
                          <m:sty m:val="i"/>
                        </m:rPr>
                        <a:rPr sz="1700">
                          <a:solidFill>
                            <a:srgbClr val="20558B"/>
                          </a:solidFill>
                          <a:latin typeface="Cambria Math"/>
                        </a:rPr>
                        <m:t xml:space="preserve">t</m:t>
                      </m:r>
                      <m:r>
                        <m:rPr>
                          <m:sty m:val="i"/>
                        </m:rPr>
                        <a:rPr sz="1700">
                          <a:solidFill>
                            <a:srgbClr val="20558B"/>
                          </a:solidFill>
                          <a:latin typeface="Cambria Math"/>
                        </a:rPr>
                        <m:t xml:space="preserve">,</m:t>
                      </m:r>
                      <m:r>
                        <m:rPr>
                          <m:sty m:val="i"/>
                        </m:rPr>
                        <a:rPr sz="1700">
                          <a:solidFill>
                            <a:srgbClr val="20558B"/>
                          </a:solidFill>
                          <a:latin typeface="Cambria Math"/>
                        </a:rPr>
                        <m:t xml:space="preserve">s</m:t>
                      </m:r>
                    </m:e>
                  </m:d>
                </m:oMath>
              </m:oMathPara>
            </a14:m>
            <a:endParaRPr sz="1700"/>
          </a:p>
        </p:txBody>
      </p:sp>
      <p:sp>
        <p:nvSpPr>
          <p:cNvPr id="1012" name="Equivalence direction"/>
          <p:cNvSpPr/>
          <p:nvPr/>
        </p:nvSpPr>
        <p:spPr>
          <a:xfrm>
            <a:off x="4330700" y="2255520"/>
            <a:ext cx="4826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m:t>
                  </m:r>
                </m:oMath>
              </m:oMathPara>
            </a14:m>
            <a:endParaRPr sz="2400"/>
          </a:p>
        </p:txBody>
      </p:sp>
      <p:sp>
        <p:nvSpPr>
          <p:cNvPr id="1013" name="Identity separator"/>
          <p:cNvSpPr/>
          <p:nvPr/>
        </p:nvSpPr>
        <p:spPr>
          <a:xfrm>
            <a:off x="622300" y="3606800"/>
            <a:ext cx="7899400" cy="25400"/>
          </a:xfrm>
          <a:custGeom>
            <a:avLst/>
            <a:gdLst/>
            <a:ahLst/>
            <a:cxnLst/>
            <a:rect l="0" t="0" r="r" b="b"/>
            <a:pathLst>
              <a:path w="7899400" h="25400" fill="none">
                <a:moveTo>
                  <a:pt x="12700" y="12700"/>
                </a:moveTo>
                <a:lnTo>
                  <a:pt x="7886700" y="12700"/>
                </a:lnTo>
              </a:path>
            </a:pathLst>
          </a:custGeom>
          <a:noFill/>
          <a:ln w="8255">
            <a:solidFill>
              <a:srgbClr val="E4E6E9"/>
            </a:solidFill>
            <a:round/>
          </a:ln>
        </p:spPr>
      </p:sp>
      <p:sp>
        <p:nvSpPr>
          <p:cNvPr id="1014" name="Exact state reconstruction"/>
          <p:cNvSpPr/>
          <p:nvPr/>
        </p:nvSpPr>
        <p:spPr>
          <a:xfrm>
            <a:off x="457200" y="3683000"/>
            <a:ext cx="8229600" cy="5588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000">
                          <a:solidFill>
                            <a:srgbClr val="20558B"/>
                          </a:solidFill>
                          <a:latin typeface="Cambria Math"/>
                        </a:rPr>
                      </m:ctrlPr>
                    </m:sSubPr>
                    <m:e>
                      <m:r>
                        <m:rPr>
                          <m:sty m:val="i"/>
                        </m:rPr>
                        <a:rPr sz="2000">
                          <a:solidFill>
                            <a:srgbClr val="20558B"/>
                          </a:solidFill>
                          <a:latin typeface="Cambria Math"/>
                        </a:rPr>
                        <m:t xml:space="preserve">φ</m:t>
                      </m:r>
                    </m:e>
                    <m:sub>
                      <m:r>
                        <m:rPr>
                          <m:sty m:val="i"/>
                        </m:rPr>
                        <a:rPr sz="2000">
                          <a:solidFill>
                            <a:srgbClr val="20558B"/>
                          </a:solidFill>
                          <a:latin typeface="Cambria Math"/>
                        </a:rPr>
                        <m:t xml:space="preserve">i</m:t>
                      </m:r>
                      <m:r>
                        <m:rPr>
                          <m:sty m:val="i"/>
                        </m:rPr>
                        <a:rPr sz="2000">
                          <a:solidFill>
                            <a:srgbClr val="20558B"/>
                          </a:solidFill>
                          <a:latin typeface="Cambria Math"/>
                        </a:rPr>
                        <m:t xml:space="preserve">j</m:t>
                      </m:r>
                    </m:sub>
                  </m:sSub>
                  <m:d>
                    <m:dPr>
                      <m:begChr m:val="("/>
                      <m:endChr m:val=")"/>
                      <m:ctrlPr>
                        <a:rPr sz="2000">
                          <a:solidFill>
                            <a:srgbClr val="20558B"/>
                          </a:solidFill>
                          <a:latin typeface="Cambria Math"/>
                        </a:rPr>
                      </m:ctrlPr>
                    </m:dPr>
                    <m:e>
                      <m:r>
                        <m:rPr>
                          <m:sty m:val="i"/>
                        </m:rPr>
                        <a:rPr sz="2000">
                          <a:solidFill>
                            <a:srgbClr val="20558B"/>
                          </a:solidFill>
                          <a:latin typeface="Cambria Math"/>
                        </a:rPr>
                        <m:t xml:space="preserve">t</m:t>
                      </m:r>
                      <m:r>
                        <m:rPr>
                          <m:sty m:val="i"/>
                        </m:rPr>
                        <a:rPr sz="2000">
                          <a:solidFill>
                            <a:srgbClr val="20558B"/>
                          </a:solidFill>
                          <a:latin typeface="Cambria Math"/>
                        </a:rPr>
                        <m:t xml:space="preserve">,</m:t>
                      </m:r>
                      <m:r>
                        <m:rPr>
                          <m:sty m:val="i"/>
                        </m:rPr>
                        <a:rPr sz="2000">
                          <a:solidFill>
                            <a:srgbClr val="20558B"/>
                          </a:solidFill>
                          <a:latin typeface="Cambria Math"/>
                        </a:rPr>
                        <m:t xml:space="preserve">s</m:t>
                      </m:r>
                    </m:e>
                  </m:d>
                  <m:r>
                    <m:rPr>
                      <m:sty m:val="i"/>
                    </m:rPr>
                    <a:rPr sz="2000">
                      <a:solidFill>
                        <a:srgbClr val="20558B"/>
                      </a:solidFill>
                      <a:latin typeface="Cambria Math"/>
                    </a:rPr>
                    <m:t xml:space="preserve">=</m:t>
                  </m:r>
                  <m:sSub>
                    <m:sSubPr>
                      <m:ctrlPr>
                        <a:rPr sz="2000">
                          <a:solidFill>
                            <a:srgbClr val="20558B"/>
                          </a:solidFill>
                          <a:latin typeface="Cambria Math"/>
                        </a:rPr>
                      </m:ctrlPr>
                    </m:sSubPr>
                    <m:e>
                      <m:r>
                        <m:rPr>
                          <m:sty m:val="i"/>
                        </m:rPr>
                        <a:rPr sz="2000">
                          <a:solidFill>
                            <a:srgbClr val="20558B"/>
                          </a:solidFill>
                          <a:latin typeface="Cambria Math"/>
                        </a:rPr>
                        <m:t xml:space="preserve">x</m:t>
                      </m:r>
                    </m:e>
                    <m:sub>
                      <m:r>
                        <m:rPr>
                          <m:sty m:val="i"/>
                        </m:rPr>
                        <a:rPr sz="2000">
                          <a:solidFill>
                            <a:srgbClr val="20558B"/>
                          </a:solidFill>
                          <a:latin typeface="Cambria Math"/>
                        </a:rPr>
                        <m:t xml:space="preserve">i</m:t>
                      </m:r>
                    </m:sub>
                  </m:sSub>
                  <m:d>
                    <m:dPr>
                      <m:begChr m:val="("/>
                      <m:endChr m:val=")"/>
                      <m:ctrlPr>
                        <a:rPr sz="2000">
                          <a:solidFill>
                            <a:srgbClr val="20558B"/>
                          </a:solidFill>
                          <a:latin typeface="Cambria Math"/>
                        </a:rPr>
                      </m:ctrlPr>
                    </m:dPr>
                    <m:e>
                      <m:r>
                        <m:rPr>
                          <m:sty m:val="i"/>
                        </m:rPr>
                        <a:rPr sz="2000">
                          <a:solidFill>
                            <a:srgbClr val="20558B"/>
                          </a:solidFill>
                          <a:latin typeface="Cambria Math"/>
                        </a:rPr>
                        <m:t xml:space="preserve">t</m:t>
                      </m:r>
                    </m:e>
                  </m:d>
                  <m:r>
                    <m:rPr>
                      <m:sty m:val="i"/>
                    </m:rPr>
                    <a:rPr sz="2000">
                      <a:solidFill>
                        <a:srgbClr val="20558B"/>
                      </a:solidFill>
                      <a:latin typeface="Cambria Math"/>
                    </a:rPr>
                    <m:t xml:space="preserve">+</m:t>
                  </m:r>
                  <m:nary>
                    <m:naryPr>
                      <m:chr m:val="∫"/>
                      <m:limLoc m:val="subSup"/>
                      <m:ctrlPr>
                        <a:rPr sz="2000">
                          <a:solidFill>
                            <a:srgbClr val="20558B"/>
                          </a:solidFill>
                          <a:latin typeface="Cambria Math"/>
                        </a:rPr>
                      </m:ctrlPr>
                    </m:naryPr>
                    <m:sub>
                      <m:r>
                        <m:rPr>
                          <m:sty m:val="p"/>
                        </m:rPr>
                        <a:rPr sz="2000">
                          <a:solidFill>
                            <a:srgbClr val="20558B"/>
                          </a:solidFill>
                          <a:latin typeface="Cambria Math"/>
                        </a:rPr>
                        <m:t xml:space="preserve">0</m:t>
                      </m:r>
                    </m:sub>
                    <m:sup>
                      <m:r>
                        <m:rPr>
                          <m:sty m:val="i"/>
                        </m:rPr>
                        <a:rPr sz="2000">
                          <a:solidFill>
                            <a:srgbClr val="20558B"/>
                          </a:solidFill>
                          <a:latin typeface="Cambria Math"/>
                        </a:rPr>
                        <m:t xml:space="preserve">s</m:t>
                      </m:r>
                    </m:sup>
                    <m:e>
                      <m:sSub>
                        <m:sSubPr>
                          <m:ctrlPr>
                            <a:rPr sz="2000">
                              <a:solidFill>
                                <a:srgbClr val="20558B"/>
                              </a:solidFill>
                              <a:latin typeface="Cambria Math"/>
                            </a:rPr>
                          </m:ctrlPr>
                        </m:sSubPr>
                        <m:e>
                          <m:r>
                            <m:rPr>
                              <m:sty m:val="i"/>
                            </m:rPr>
                            <a:rPr sz="2000">
                              <a:solidFill>
                                <a:srgbClr val="20558B"/>
                              </a:solidFill>
                              <a:latin typeface="Cambria Math"/>
                            </a:rPr>
                            <m:t xml:space="preserve">v</m:t>
                          </m:r>
                        </m:e>
                        <m:sub>
                          <m:r>
                            <m:rPr>
                              <m:sty m:val="i"/>
                            </m:rPr>
                            <a:rPr sz="2000">
                              <a:solidFill>
                                <a:srgbClr val="20558B"/>
                              </a:solidFill>
                              <a:latin typeface="Cambria Math"/>
                            </a:rPr>
                            <m:t xml:space="preserve">i</m:t>
                          </m:r>
                          <m:r>
                            <m:rPr>
                              <m:sty m:val="i"/>
                            </m:rPr>
                            <a:rPr sz="2000">
                              <a:solidFill>
                                <a:srgbClr val="20558B"/>
                              </a:solidFill>
                              <a:latin typeface="Cambria Math"/>
                            </a:rPr>
                            <m:t xml:space="preserve">j</m:t>
                          </m:r>
                        </m:sub>
                      </m:sSub>
                      <m:d>
                        <m:dPr>
                          <m:begChr m:val="("/>
                          <m:endChr m:val=")"/>
                          <m:ctrlPr>
                            <a:rPr sz="2000">
                              <a:solidFill>
                                <a:srgbClr val="20558B"/>
                              </a:solidFill>
                              <a:latin typeface="Cambria Math"/>
                            </a:rPr>
                          </m:ctrlPr>
                        </m:dPr>
                        <m:e>
                          <m:r>
                            <m:rPr>
                              <m:sty m:val="i"/>
                            </m:rPr>
                            <a:rPr sz="2000">
                              <a:solidFill>
                                <a:srgbClr val="20558B"/>
                              </a:solidFill>
                              <a:latin typeface="Cambria Math"/>
                            </a:rPr>
                            <m:t xml:space="preserve">t</m:t>
                          </m:r>
                          <m:r>
                            <m:rPr>
                              <m:sty m:val="i"/>
                            </m:rPr>
                            <a:rPr sz="2000">
                              <a:solidFill>
                                <a:srgbClr val="20558B"/>
                              </a:solidFill>
                              <a:latin typeface="Cambria Math"/>
                            </a:rPr>
                            <m:t xml:space="preserve">,</m:t>
                          </m:r>
                          <m:r>
                            <m:rPr>
                              <m:sty m:val="i"/>
                            </m:rPr>
                            <a:rPr sz="2000">
                              <a:solidFill>
                                <a:srgbClr val="20558B"/>
                              </a:solidFill>
                              <a:latin typeface="Cambria Math"/>
                            </a:rPr>
                            <m:t xml:space="preserve">θ</m:t>
                          </m:r>
                        </m:e>
                      </m:d>
                      <m:r>
                        <m:rPr>
                          <m:sty m:val="i"/>
                        </m:rPr>
                        <a:rPr sz="2000">
                          <a:solidFill>
                            <a:srgbClr val="20558B"/>
                          </a:solidFill>
                          <a:latin typeface="Cambria Math"/>
                        </a:rPr>
                        <m:t xml:space="preserve">d</m:t>
                      </m:r>
                      <m:r>
                        <m:rPr>
                          <m:sty m:val="i"/>
                        </m:rPr>
                        <a:rPr sz="2000">
                          <a:solidFill>
                            <a:srgbClr val="20558B"/>
                          </a:solidFill>
                          <a:latin typeface="Cambria Math"/>
                        </a:rPr>
                        <m:t xml:space="preserve">θ</m:t>
                      </m:r>
                    </m:e>
                  </m:nary>
                </m:oMath>
              </m:oMathPara>
            </a14:m>
            <a:endParaRPr sz="2000"/>
          </a:p>
        </p:txBody>
      </p:sp>
      <p:sp>
        <p:nvSpPr>
          <p:cNvPr id="1015" name="Indices and interval"/>
          <p:cNvSpPr/>
          <p:nvPr/>
        </p:nvSpPr>
        <p:spPr>
          <a:xfrm>
            <a:off x="349250" y="4276090"/>
            <a:ext cx="8445500" cy="3632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i</m:t>
                  </m:r>
                  <m:r>
                    <m:rPr>
                      <m:sty m:val="i"/>
                    </m:rPr>
                    <a:rPr sz="1300">
                      <a:solidFill>
                        <a:srgbClr val="252529"/>
                      </a:solidFill>
                      <a:latin typeface="Cambria Math"/>
                    </a:rPr>
                    <m:t xml:space="preserve">∈</m:t>
                  </m:r>
                  <m:d>
                    <m:dPr>
                      <m:begChr m:val="{"/>
                      <m:endChr m:val="}"/>
                      <m:ctrlPr>
                        <a:rPr sz="1300">
                          <a:solidFill>
                            <a:srgbClr val="252529"/>
                          </a:solidFill>
                          <a:latin typeface="Cambria Math"/>
                        </a:rPr>
                      </m:ctrlPr>
                    </m:dPr>
                    <m:e>
                      <m:r>
                        <m:rPr>
                          <m:sty m:val="p"/>
                        </m:rPr>
                        <a:rPr sz="1300">
                          <a:solidFill>
                            <a:srgbClr val="252529"/>
                          </a:solidFill>
                          <a:latin typeface="Cambria Math"/>
                        </a:rPr>
                        <m:t xml:space="preserve">S</m:t>
                      </m:r>
                      <m:r>
                        <m:rPr>
                          <m:sty m:val="p"/>
                        </m:rPr>
                        <a:rPr sz="1300">
                          <a:solidFill>
                            <a:srgbClr val="252529"/>
                          </a:solidFill>
                          <a:latin typeface="Cambria Math"/>
                        </a:rPr>
                        <m:t xml:space="preserve">,</m:t>
                      </m:r>
                      <m:r>
                        <m:rPr>
                          <m:sty m:val="p"/>
                        </m:rPr>
                        <a:rPr sz="1300">
                          <a:solidFill>
                            <a:srgbClr val="252529"/>
                          </a:solidFill>
                          <a:latin typeface="Cambria Math"/>
                        </a:rPr>
                        <m:t xml:space="preserve">G</m:t>
                      </m:r>
                    </m:e>
                  </m:d>
                  <m:r>
                    <m:rPr>
                      <m:sty m:val="i"/>
                    </m:rPr>
                    <a:rPr sz="1300">
                      <a:solidFill>
                        <a:srgbClr val="252529"/>
                      </a:solidFill>
                      <a:latin typeface="Cambria Math"/>
                    </a:rPr>
                    <m:t xml:space="preserve">,</m:t>
                  </m:r>
                  <m:r>
                    <m:rPr>
                      <m:sty m:val="i"/>
                    </m:rPr>
                    <a:rPr sz="1300">
                      <a:solidFill>
                        <a:srgbClr val="252529"/>
                      </a:solidFill>
                      <a:latin typeface="Cambria Math"/>
                    </a:rPr>
                    <m:t xml:space="preserve"> </m:t>
                  </m:r>
                  <m:r>
                    <m:rPr>
                      <m:sty m:val="i"/>
                    </m:rPr>
                    <a:rPr sz="1300">
                      <a:solidFill>
                        <a:srgbClr val="252529"/>
                      </a:solidFill>
                      <a:latin typeface="Cambria Math"/>
                    </a:rPr>
                    <m:t xml:space="preserve"> </m:t>
                  </m:r>
                  <m:r>
                    <m:rPr>
                      <m:sty m:val="i"/>
                    </m:rPr>
                    <a:rPr sz="1300">
                      <a:solidFill>
                        <a:srgbClr val="252529"/>
                      </a:solidFill>
                      <a:latin typeface="Cambria Math"/>
                    </a:rPr>
                    <m:t xml:space="preserve">(</m:t>
                  </m:r>
                  <m:r>
                    <m:rPr>
                      <m:sty m:val="i"/>
                    </m:rPr>
                    <a:rPr sz="1300">
                      <a:solidFill>
                        <a:srgbClr val="252529"/>
                      </a:solidFill>
                      <a:latin typeface="Cambria Math"/>
                    </a:rPr>
                    <m:t xml:space="preserve">i</m:t>
                  </m:r>
                  <m:r>
                    <m:rPr>
                      <m:sty m:val="i"/>
                    </m:rPr>
                    <a:rPr sz="1300">
                      <a:solidFill>
                        <a:srgbClr val="252529"/>
                      </a:solidFill>
                      <a:latin typeface="Cambria Math"/>
                    </a:rPr>
                    <m:t xml:space="preserve">,</m:t>
                  </m:r>
                  <m:r>
                    <m:rPr>
                      <m:sty m:val="i"/>
                    </m:rPr>
                    <a:rPr sz="1300">
                      <a:solidFill>
                        <a:srgbClr val="252529"/>
                      </a:solidFill>
                      <a:latin typeface="Cambria Math"/>
                    </a:rPr>
                    <m:t xml:space="preserve">j</m:t>
                  </m:r>
                  <m:r>
                    <m:rPr>
                      <m:sty m:val="i"/>
                    </m:rPr>
                    <a:rPr sz="1300">
                      <a:solidFill>
                        <a:srgbClr val="252529"/>
                      </a:solidFill>
                      <a:latin typeface="Cambria Math"/>
                    </a:rPr>
                    <m:t xml:space="preserve">)</m:t>
                  </m:r>
                  <m:r>
                    <m:rPr>
                      <m:sty m:val="i"/>
                    </m:rPr>
                    <a:rPr sz="1300">
                      <a:solidFill>
                        <a:srgbClr val="252529"/>
                      </a:solidFill>
                      <a:latin typeface="Cambria Math"/>
                    </a:rPr>
                    <m:t xml:space="preserve">∈</m:t>
                  </m:r>
                  <m:d>
                    <m:dPr>
                      <m:begChr m:val="{"/>
                      <m:endChr m:val="}"/>
                      <m:ctrlPr>
                        <a:rPr sz="1300">
                          <a:solidFill>
                            <a:srgbClr val="252529"/>
                          </a:solidFill>
                          <a:latin typeface="Cambria Math"/>
                        </a:rPr>
                      </m:ctrlPr>
                    </m:dPr>
                    <m:e>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r>
                        <m:rPr>
                          <m:sty m:val="p"/>
                        </m:rPr>
                        <a:rPr sz="1300">
                          <a:solidFill>
                            <a:srgbClr val="252529"/>
                          </a:solidFill>
                          <a:latin typeface="Cambria Math"/>
                        </a:rPr>
                        <m:t xml:space="preserve">S</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S</m:t>
                      </m:r>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r>
                        <m:rPr>
                          <m:sty m:val="p"/>
                        </m:rPr>
                        <a:rPr sz="1300">
                          <a:solidFill>
                            <a:srgbClr val="252529"/>
                          </a:solidFill>
                          <a:latin typeface="Cambria Math"/>
                        </a:rPr>
                        <m:t xml:space="preserve">G</m:t>
                      </m:r>
                      <m:r>
                        <m:rPr>
                          <m:sty m:val="p"/>
                        </m:rPr>
                        <a:rPr sz="1300">
                          <a:solidFill>
                            <a:srgbClr val="252529"/>
                          </a:solidFill>
                          <a:latin typeface="Cambria Math"/>
                        </a:rPr>
                        <m:t xml:space="preserve">)</m:t>
                      </m:r>
                    </m:e>
                  </m:d>
                  <m:r>
                    <m:rPr>
                      <m:sty m:val="i"/>
                    </m:rPr>
                    <a:rPr sz="1300">
                      <a:solidFill>
                        <a:srgbClr val="252529"/>
                      </a:solidFill>
                      <a:latin typeface="Cambria Math"/>
                    </a:rPr>
                    <m:t xml:space="preserve">,</m:t>
                  </m:r>
                  <m:r>
                    <m:rPr>
                      <m:sty m:val="i"/>
                    </m:rPr>
                    <a:rPr sz="1300">
                      <a:solidFill>
                        <a:srgbClr val="252529"/>
                      </a:solidFill>
                      <a:latin typeface="Cambria Math"/>
                    </a:rPr>
                    <m:t xml:space="preserve"> </m:t>
                  </m:r>
                  <m:r>
                    <m:rPr>
                      <m:sty m:val="i"/>
                    </m:rPr>
                    <a:rPr sz="1300">
                      <a:solidFill>
                        <a:srgbClr val="252529"/>
                      </a:solidFill>
                      <a:latin typeface="Cambria Math"/>
                    </a:rPr>
                    <m:t xml:space="preserve"> </m:t>
                  </m:r>
                  <m:r>
                    <m:rPr>
                      <m:sty m:val="i"/>
                    </m:rPr>
                    <a:rPr sz="1300">
                      <a:solidFill>
                        <a:srgbClr val="252529"/>
                      </a:solidFill>
                      <a:latin typeface="Cambria Math"/>
                    </a:rPr>
                    <m:t xml:space="preserve">s</m:t>
                  </m:r>
                  <m:r>
                    <m:rPr>
                      <m:sty m:val="i"/>
                    </m:rPr>
                    <a:rPr sz="1300">
                      <a:solidFill>
                        <a:srgbClr val="252529"/>
                      </a:solidFill>
                      <a:latin typeface="Cambria Math"/>
                    </a:rPr>
                    <m:t xml:space="preserve">∈</m:t>
                  </m:r>
                  <m:r>
                    <m:rPr>
                      <m:sty m:val="i"/>
                    </m:rPr>
                    <a:rPr sz="1300">
                      <a:solidFill>
                        <a:srgbClr val="252529"/>
                      </a:solidFill>
                      <a:latin typeface="Cambria Math"/>
                    </a:rPr>
                    <m:t xml:space="preserve">[</m:t>
                  </m:r>
                  <m:r>
                    <m:rPr>
                      <m:sty m:val="i"/>
                    </m:rPr>
                    <a:rPr sz="1300">
                      <a:solidFill>
                        <a:srgbClr val="252529"/>
                      </a:solidFill>
                      <a:latin typeface="Cambria Math"/>
                    </a:rPr>
                    <m:t xml:space="preserve">0</m:t>
                  </m:r>
                  <m:r>
                    <m:rPr>
                      <m:sty m:val="i"/>
                    </m:rPr>
                    <a:rPr sz="1300">
                      <a:solidFill>
                        <a:srgbClr val="252529"/>
                      </a:solidFill>
                      <a:latin typeface="Cambria Math"/>
                    </a:rPr>
                    <m:t xml:space="preserve">,</m:t>
                  </m:r>
                  <m:r>
                    <m:rPr>
                      <m:sty m:val="i"/>
                    </m:rPr>
                    <a:rPr sz="1300">
                      <a:solidFill>
                        <a:srgbClr val="252529"/>
                      </a:solidFill>
                      <a:latin typeface="Cambria Math"/>
                    </a:rPr>
                    <m:t xml:space="preserve">1</m:t>
                  </m:r>
                  <m:r>
                    <m:rPr>
                      <m:sty m:val="i"/>
                    </m:rPr>
                    <a:rPr sz="1300">
                      <a:solidFill>
                        <a:srgbClr val="252529"/>
                      </a:solidFill>
                      <a:latin typeface="Cambria Math"/>
                    </a:rPr>
                    <m:t xml:space="preserve">]</m:t>
                  </m:r>
                </m:oMath>
              </m:oMathPara>
            </a14:m>
            <a:endParaRPr sz="13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2.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2"/>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Same dynamics, bounded operators</a:t>
            </a:r>
            <a:endParaRPr sz="2500"/>
          </a:p>
        </p:txBody>
      </p:sp>
      <p:sp>
        <p:nvSpPr>
          <p:cNvPr id="1002" name="Subtitle 22"/>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The reconstruction becomes a partial integral operator.</a:t>
            </a:r>
            <a:endParaRPr sz="1200"/>
          </a:p>
        </p:txBody>
      </p:sp>
      <p:sp>
        <p:nvSpPr>
          <p:cNvPr id="1003" name="Fundamental state"/>
          <p:cNvSpPr/>
          <p:nvPr/>
        </p:nvSpPr>
        <p:spPr>
          <a:xfrm>
            <a:off x="393700" y="1456690"/>
            <a:ext cx="3632200" cy="6426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i"/>
                    </m:rPr>
                    <a:rPr sz="2300">
                      <a:solidFill>
                        <a:srgbClr val="252529"/>
                      </a:solidFill>
                      <a:latin typeface="Cambria Math"/>
                    </a:rPr>
                    <m:t xml:space="preserve">=</m:t>
                  </m:r>
                  <m:d>
                    <m:dPr>
                      <m:begChr m:val="["/>
                      <m:endChr m:val="]"/>
                      <m:ctrlPr>
                        <a:rPr sz="2300">
                          <a:solidFill>
                            <a:srgbClr val="252529"/>
                          </a:solidFill>
                          <a:latin typeface="Cambria Math"/>
                        </a:rPr>
                      </m:ctrlPr>
                    </m:dPr>
                    <m:e>
                      <m:m>
                        <m:mPr>
                          <m:ctrlPr>
                            <a:rPr sz="2300">
                              <a:solidFill>
                                <a:srgbClr val="252529"/>
                              </a:solidFill>
                              <a:latin typeface="Cambria Math"/>
                            </a:rPr>
                          </m:ctrlPr>
                        </m:mPr>
                        <m:mr>
                          <m:e>
                            <m:r>
                              <m:rPr>
                                <m:sty m:val="bi"/>
                              </m:rPr>
                              <a:rPr sz="2300">
                                <a:solidFill>
                                  <a:srgbClr val="252529"/>
                                </a:solidFill>
                                <a:latin typeface="Cambria Math"/>
                              </a:rPr>
                              <m:t xml:space="preserve">x</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e>
                        </m:mr>
                        <m:mr>
                          <m:e>
                            <m:r>
                              <m:rPr>
                                <m:sty m:val="bi"/>
                              </m:rPr>
                              <a:rPr sz="2300">
                                <a:solidFill>
                                  <a:srgbClr val="252529"/>
                                </a:solidFill>
                                <a:latin typeface="Cambria Math"/>
                              </a:rPr>
                              <m:t xml:space="preserve">v</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r>
                                  <m:rPr>
                                    <m:sty m:val="i"/>
                                  </m:rPr>
                                  <a:rPr sz="2300">
                                    <a:solidFill>
                                      <a:srgbClr val="252529"/>
                                    </a:solidFill>
                                    <a:latin typeface="Cambria Math"/>
                                  </a:rPr>
                                  <m:t xml:space="preserve">,</m:t>
                                </m:r>
                                <m:r>
                                  <m:rPr>
                                    <m:sty m:val="i"/>
                                  </m:rPr>
                                  <a:rPr sz="2300">
                                    <a:solidFill>
                                      <a:srgbClr val="252529"/>
                                    </a:solidFill>
                                    <a:latin typeface="Cambria Math"/>
                                  </a:rPr>
                                  <m:t xml:space="preserve">·</m:t>
                                </m:r>
                              </m:e>
                            </m:d>
                          </m:e>
                        </m:mr>
                      </m:m>
                    </m:e>
                  </m:d>
                </m:oMath>
              </m:oMathPara>
            </a14:m>
            <a:endParaRPr sz="2300"/>
          </a:p>
        </p:txBody>
      </p:sp>
      <p:sp>
        <p:nvSpPr>
          <p:cNvPr id="1004" name="Reconstruction operator"/>
          <p:cNvSpPr/>
          <p:nvPr/>
        </p:nvSpPr>
        <p:spPr>
          <a:xfrm>
            <a:off x="4660900" y="1456690"/>
            <a:ext cx="38862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d>
                    <m:dPr>
                      <m:begChr m:val="["/>
                      <m:endChr m:val="]"/>
                      <m:ctrlPr>
                        <a:rPr sz="2300">
                          <a:solidFill>
                            <a:srgbClr val="252529"/>
                          </a:solidFill>
                          <a:latin typeface="Cambria Math"/>
                        </a:rPr>
                      </m:ctrlPr>
                    </m:dPr>
                    <m:e>
                      <m:m>
                        <m:mPr>
                          <m:ctrlPr>
                            <a:rPr sz="2300">
                              <a:solidFill>
                                <a:srgbClr val="252529"/>
                              </a:solidFill>
                              <a:latin typeface="Cambria Math"/>
                            </a:rPr>
                          </m:ctrlPr>
                        </m:mPr>
                        <m:mr>
                          <m:e>
                            <m:r>
                              <m:rPr>
                                <m:sty m:val="bi"/>
                              </m:rPr>
                              <a:rPr sz="2300">
                                <a:solidFill>
                                  <a:srgbClr val="252529"/>
                                </a:solidFill>
                                <a:latin typeface="Cambria Math"/>
                              </a:rPr>
                              <m:t xml:space="preserve">x</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e>
                        </m:mr>
                        <m:mr>
                          <m:e>
                            <m:r>
                              <m:rPr>
                                <m:sty m:val="bi"/>
                              </m:rPr>
                              <a:rPr sz="2300">
                                <a:solidFill>
                                  <a:srgbClr val="252529"/>
                                </a:solidFill>
                                <a:latin typeface="Cambria Math"/>
                              </a:rPr>
                              <m:t xml:space="preserve">φ</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r>
                                  <m:rPr>
                                    <m:sty m:val="i"/>
                                  </m:rPr>
                                  <a:rPr sz="2300">
                                    <a:solidFill>
                                      <a:srgbClr val="252529"/>
                                    </a:solidFill>
                                    <a:latin typeface="Cambria Math"/>
                                  </a:rPr>
                                  <m:t xml:space="preserve">,</m:t>
                                </m:r>
                                <m:r>
                                  <m:rPr>
                                    <m:sty m:val="i"/>
                                  </m:rPr>
                                  <a:rPr sz="2300">
                                    <a:solidFill>
                                      <a:srgbClr val="252529"/>
                                    </a:solidFill>
                                    <a:latin typeface="Cambria Math"/>
                                  </a:rPr>
                                  <m:t xml:space="preserve">·</m:t>
                                </m:r>
                              </m:e>
                            </m:d>
                          </m:e>
                        </m:mr>
                      </m:m>
                    </m:e>
                  </m:d>
                </m:oMath>
              </m:oMathPara>
            </a14:m>
            <a:endParaRPr sz="2300"/>
          </a:p>
        </p:txBody>
      </p:sp>
      <p:sp>
        <p:nvSpPr>
          <p:cNvPr id="1005" name="Free coordinates"/>
          <p:cNvSpPr/>
          <p:nvPr/>
        </p:nvSpPr>
        <p:spPr>
          <a:xfrm>
            <a:off x="304800" y="2413000"/>
            <a:ext cx="38100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Finite state + spatial derivatives</a:t>
            </a:r>
            <a:endParaRPr sz="1200"/>
          </a:p>
        </p:txBody>
      </p:sp>
      <p:sp>
        <p:nvSpPr>
          <p:cNvPr id="1006" name="Reconstructed coordinates"/>
          <p:cNvSpPr/>
          <p:nvPr/>
        </p:nvSpPr>
        <p:spPr>
          <a:xfrm>
            <a:off x="4635500" y="2413000"/>
            <a:ext cx="3937000" cy="228600"/>
          </a:xfrm>
          <a:prstGeom prst="rect">
            <a:avLst/>
          </a:prstGeom>
          <a:noFill/>
          <a:ln>
            <a:noFill/>
          </a:ln>
        </p:spPr>
        <p:txBody>
          <a:bodyPr wrap="none" lIns="0" tIns="0" rIns="0" bIns="0" anchor="ctr">
            <a:noAutofit/>
          </a:bodyPr>
          <a:lstStyle/>
          <a:p>
            <a:pPr algn="ctr">
              <a:buNone/>
            </a:pPr>
            <a:r>
              <a:rPr lang="en-GB" sz="1200" baseline="0" b="0" i="0" u="none">
                <a:solidFill>
                  <a:srgbClr val="20558B"/>
                </a:solidFill>
                <a:latin typeface="Aptos"/>
                <a:ea typeface="Aptos"/>
                <a:cs typeface="Aptos"/>
              </a:rPr>
              <a:t xml:space="preserve">Boundary conditions included</a:t>
            </a:r>
            <a:endParaRPr sz="1200"/>
          </a:p>
        </p:txBody>
      </p:sp>
      <p:sp>
        <p:nvSpPr>
          <p:cNvPr id="1007" name="PIE with both LFR inputs"/>
          <p:cNvSpPr/>
          <p:nvPr/>
        </p:nvSpPr>
        <p:spPr>
          <a:xfrm>
            <a:off x="381000" y="2790190"/>
            <a:ext cx="8382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sSub>
                    <m:sSubPr>
                      <m:ctrlPr>
                        <a:rPr sz="2300">
                          <a:solidFill>
                            <a:srgbClr val="252529"/>
                          </a:solidFill>
                          <a:latin typeface="Cambria Math"/>
                        </a:rPr>
                      </m:ctrlPr>
                    </m:sSubPr>
                    <m:e>
                      <m:r>
                        <m:rPr>
                          <m:sty m:val="p"/>
                        </m:rPr>
                        <a:rPr sz="2300">
                          <a:solidFill>
                            <a:srgbClr val="252529"/>
                          </a:solidFill>
                          <a:latin typeface="Cambria Math"/>
                        </a:rPr>
                        <m:t xml:space="preserve">ℬ</m:t>
                      </m:r>
                    </m:e>
                    <m:sub>
                      <m:r>
                        <m:rPr>
                          <m:sty m:val="i"/>
                        </m:rPr>
                        <a:rPr sz="2300">
                          <a:solidFill>
                            <a:srgbClr val="252529"/>
                          </a:solidFill>
                          <a:latin typeface="Cambria Math"/>
                        </a:rPr>
                        <m:t xml:space="preserve">w</m:t>
                      </m:r>
                    </m:sub>
                  </m:sSub>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sSub>
                    <m:sSubPr>
                      <m:ctrlPr>
                        <a:rPr sz="2300">
                          <a:solidFill>
                            <a:srgbClr val="252529"/>
                          </a:solidFill>
                          <a:latin typeface="Cambria Math"/>
                        </a:rPr>
                      </m:ctrlPr>
                    </m:sSubPr>
                    <m:e>
                      <m:r>
                        <m:rPr>
                          <m:sty m:val="p"/>
                        </m:rPr>
                        <a:rPr sz="2300">
                          <a:solidFill>
                            <a:srgbClr val="252529"/>
                          </a:solidFill>
                          <a:latin typeface="Cambria Math"/>
                        </a:rPr>
                        <m:t xml:space="preserve">ℬ</m:t>
                      </m:r>
                    </m:e>
                    <m:sub>
                      <m:r>
                        <m:rPr>
                          <m:sty m:val="i"/>
                        </m:rPr>
                        <a:rPr sz="2300">
                          <a:solidFill>
                            <a:srgbClr val="252529"/>
                          </a:solidFill>
                          <a:latin typeface="Cambria Math"/>
                        </a:rPr>
                        <m:t xml:space="preserve">u</m:t>
                      </m:r>
                    </m:sub>
                  </m:sSub>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8" name="Same LFR outputs"/>
          <p:cNvSpPr/>
          <p:nvPr/>
        </p:nvSpPr>
        <p:spPr>
          <a:xfrm>
            <a:off x="444500" y="3376930"/>
            <a:ext cx="8255000" cy="5867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z</m:t>
                  </m:r>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p"/>
                        </m:rPr>
                        <a:rPr sz="2100">
                          <a:solidFill>
                            <a:srgbClr val="252529"/>
                          </a:solidFill>
                          <a:latin typeface="Cambria Math"/>
                        </a:rPr>
                        <m:t xml:space="preserve">𝒞</m:t>
                      </m:r>
                    </m:e>
                    <m:sub>
                      <m:r>
                        <m:rPr>
                          <m:sty m:val="i"/>
                        </m:rPr>
                        <a:rPr sz="2100">
                          <a:solidFill>
                            <a:srgbClr val="252529"/>
                          </a:solidFill>
                          <a:latin typeface="Cambria Math"/>
                        </a:rPr>
                        <m:t xml:space="preserve">z</m:t>
                      </m:r>
                    </m:sub>
                  </m:sSub>
                  <m:sSub>
                    <m:sSubPr>
                      <m:ctrlPr>
                        <a:rPr sz="2100">
                          <a:solidFill>
                            <a:srgbClr val="252529"/>
                          </a:solidFill>
                          <a:latin typeface="Cambria Math"/>
                        </a:rPr>
                      </m:ctrlPr>
                    </m:sSubPr>
                    <m:e>
                      <m:r>
                        <m:rPr>
                          <m:sty m:val="bi"/>
                        </m:rPr>
                        <a:rPr sz="2100">
                          <a:solidFill>
                            <a:srgbClr val="252529"/>
                          </a:solidFill>
                          <a:latin typeface="Cambria Math"/>
                        </a:rPr>
                        <m:t xml:space="preserve">x</m:t>
                      </m:r>
                    </m:e>
                    <m:sub>
                      <m:r>
                        <m:rPr>
                          <m:sty m:val="p"/>
                        </m:rPr>
                        <a:rPr sz="2100">
                          <a:solidFill>
                            <a:srgbClr val="252529"/>
                          </a:solidFill>
                          <a:latin typeface="Cambria Math"/>
                        </a:rPr>
                        <m:t xml:space="preserve">f</m:t>
                      </m:r>
                    </m:sub>
                  </m:sSub>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r>
                    <m:rPr>
                      <m:sty m:val="i"/>
                    </m:rPr>
                    <a:rPr sz="2100">
                      <a:solidFill>
                        <a:srgbClr val="252529"/>
                      </a:solidFill>
                      <a:latin typeface="Cambria Math"/>
                    </a:rPr>
                    <m:t xml:space="preserve">,</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 </m:t>
                  </m:r>
                  <m:r>
                    <m:rPr>
                      <m:sty m:val="i"/>
                    </m:rPr>
                    <a:rPr sz="2100">
                      <a:solidFill>
                        <a:srgbClr val="252529"/>
                      </a:solidFill>
                      <a:latin typeface="Cambria Math"/>
                    </a:rPr>
                    <m:t xml:space="preserve">y</m:t>
                  </m:r>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p"/>
                        </m:rPr>
                        <a:rPr sz="2100">
                          <a:solidFill>
                            <a:srgbClr val="252529"/>
                          </a:solidFill>
                          <a:latin typeface="Cambria Math"/>
                        </a:rPr>
                        <m:t xml:space="preserve">𝒞</m:t>
                      </m:r>
                    </m:e>
                    <m:sub>
                      <m:r>
                        <m:rPr>
                          <m:sty m:val="i"/>
                        </m:rPr>
                        <a:rPr sz="2100">
                          <a:solidFill>
                            <a:srgbClr val="252529"/>
                          </a:solidFill>
                          <a:latin typeface="Cambria Math"/>
                        </a:rPr>
                        <m:t xml:space="preserve">y</m:t>
                      </m:r>
                    </m:sub>
                  </m:sSub>
                  <m:sSub>
                    <m:sSubPr>
                      <m:ctrlPr>
                        <a:rPr sz="2100">
                          <a:solidFill>
                            <a:srgbClr val="252529"/>
                          </a:solidFill>
                          <a:latin typeface="Cambria Math"/>
                        </a:rPr>
                      </m:ctrlPr>
                    </m:sSubPr>
                    <m:e>
                      <m:r>
                        <m:rPr>
                          <m:sty m:val="bi"/>
                        </m:rPr>
                        <a:rPr sz="2100">
                          <a:solidFill>
                            <a:srgbClr val="252529"/>
                          </a:solidFill>
                          <a:latin typeface="Cambria Math"/>
                        </a:rPr>
                        <m:t xml:space="preserve">x</m:t>
                      </m:r>
                    </m:e>
                    <m:sub>
                      <m:r>
                        <m:rPr>
                          <m:sty m:val="p"/>
                        </m:rPr>
                        <a:rPr sz="2100">
                          <a:solidFill>
                            <a:srgbClr val="252529"/>
                          </a:solidFill>
                          <a:latin typeface="Cambria Math"/>
                        </a:rPr>
                        <m:t xml:space="preserve">f</m:t>
                      </m:r>
                    </m:sub>
                  </m:sSub>
                  <m:d>
                    <m:dPr>
                      <m:begChr m:val="("/>
                      <m:endChr m:val=")"/>
                      <m:ctrlPr>
                        <a:rPr sz="2100">
                          <a:solidFill>
                            <a:srgbClr val="252529"/>
                          </a:solidFill>
                          <a:latin typeface="Cambria Math"/>
                        </a:rPr>
                      </m:ctrlPr>
                    </m:dPr>
                    <m:e>
                      <m:r>
                        <m:rPr>
                          <m:sty m:val="i"/>
                        </m:rPr>
                        <a:rPr sz="2100">
                          <a:solidFill>
                            <a:srgbClr val="252529"/>
                          </a:solidFill>
                          <a:latin typeface="Cambria Math"/>
                        </a:rPr>
                        <m:t xml:space="preserve">t</m:t>
                      </m:r>
                    </m:e>
                  </m:d>
                </m:oMath>
              </m:oMathPara>
            </a14:m>
            <a:endParaRPr sz="2100"/>
          </a:p>
        </p:txBody>
      </p:sp>
      <p:sp>
        <p:nvSpPr>
          <p:cNvPr id="1009" name="Bounded operator statement"/>
          <p:cNvSpPr/>
          <p:nvPr/>
        </p:nvSpPr>
        <p:spPr>
          <a:xfrm>
            <a:off x="444500" y="4156075"/>
            <a:ext cx="8255000" cy="323850"/>
          </a:xfrm>
          <a:prstGeom prst="rect">
            <a:avLst/>
          </a:prstGeom>
          <a:noFill/>
          <a:ln>
            <a:noFill/>
          </a:ln>
        </p:spPr>
        <p:txBody>
          <a:bodyPr wrap="none" lIns="0" tIns="0" rIns="0" bIns="0" anchor="ctr">
            <a:noAutofit/>
          </a:bodyPr>
          <a:lstStyle/>
          <a:p>
            <a:pPr algn="ctr">
              <a:buNone/>
            </a:pPr>
            <a:r>
              <a:rPr lang="en-GB" sz="1700" baseline="0" b="1" i="0" u="none">
                <a:solidFill>
                  <a:srgbClr val="D61016"/>
                </a:solidFill>
                <a:latin typeface="Aptos"/>
                <a:ea typeface="Aptos"/>
                <a:cs typeface="Aptos"/>
              </a:rPr>
              <a:t xml:space="preserve">All system operators are bounded PI operators.</a:t>
            </a:r>
            <a:endParaRPr sz="17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3.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3"/>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PI operators have a matrix-like algebra</a:t>
            </a:r>
            <a:endParaRPr sz="2500"/>
          </a:p>
        </p:txBody>
      </p:sp>
      <p:sp>
        <p:nvSpPr>
          <p:cNvPr id="1002" name="Subtitle 23"/>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The operations needed for control stay within the same operator class.</a:t>
            </a:r>
            <a:endParaRPr sz="1200"/>
          </a:p>
        </p:txBody>
      </p:sp>
      <p:sp>
        <p:nvSpPr>
          <p:cNvPr id="1003" name="Addition label"/>
          <p:cNvSpPr/>
          <p:nvPr/>
        </p:nvSpPr>
        <p:spPr>
          <a:xfrm>
            <a:off x="571500" y="15335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Addition</a:t>
            </a:r>
            <a:endParaRPr sz="1500"/>
          </a:p>
        </p:txBody>
      </p:sp>
      <p:sp>
        <p:nvSpPr>
          <p:cNvPr id="1004" name="Addition equation"/>
          <p:cNvSpPr/>
          <p:nvPr/>
        </p:nvSpPr>
        <p:spPr>
          <a:xfrm>
            <a:off x="508000" y="17411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900">
                      <a:solidFill>
                        <a:srgbClr val="252529"/>
                      </a:solidFill>
                      <a:latin typeface="Cambria Math"/>
                    </a:rPr>
                    <m:t xml:space="preserve">𝒜</m:t>
                  </m:r>
                  <m:r>
                    <m:rPr>
                      <m:sty m:val="i"/>
                    </m:rPr>
                    <a:rPr sz="2900">
                      <a:solidFill>
                        <a:srgbClr val="252529"/>
                      </a:solidFill>
                      <a:latin typeface="Cambria Math"/>
                    </a:rPr>
                    <m:t xml:space="preserve">+</m:t>
                  </m:r>
                  <m:r>
                    <m:rPr>
                      <m:sty m:val="p"/>
                    </m:rPr>
                    <a:rPr sz="2900">
                      <a:solidFill>
                        <a:srgbClr val="252529"/>
                      </a:solidFill>
                      <a:latin typeface="Cambria Math"/>
                    </a:rPr>
                    <m:t xml:space="preserve">ℬ</m:t>
                  </m:r>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05" name="Composition label"/>
          <p:cNvSpPr/>
          <p:nvPr/>
        </p:nvSpPr>
        <p:spPr>
          <a:xfrm>
            <a:off x="4953000" y="15335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Composition</a:t>
            </a:r>
            <a:endParaRPr sz="1500"/>
          </a:p>
        </p:txBody>
      </p:sp>
      <p:sp>
        <p:nvSpPr>
          <p:cNvPr id="1006" name="Composition equation"/>
          <p:cNvSpPr/>
          <p:nvPr/>
        </p:nvSpPr>
        <p:spPr>
          <a:xfrm>
            <a:off x="4889500" y="17411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900">
                      <a:solidFill>
                        <a:srgbClr val="252529"/>
                      </a:solidFill>
                      <a:latin typeface="Cambria Math"/>
                    </a:rPr>
                    <m:t xml:space="preserve">𝒜</m:t>
                  </m:r>
                  <m:r>
                    <m:rPr>
                      <m:sty m:val="p"/>
                    </m:rPr>
                    <a:rPr sz="2900">
                      <a:solidFill>
                        <a:srgbClr val="252529"/>
                      </a:solidFill>
                      <a:latin typeface="Cambria Math"/>
                    </a:rPr>
                    <m:t xml:space="preserve">ℬ</m:t>
                  </m:r>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07" name="Adjoint label"/>
          <p:cNvSpPr/>
          <p:nvPr/>
        </p:nvSpPr>
        <p:spPr>
          <a:xfrm>
            <a:off x="571500" y="28797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Adjoint</a:t>
            </a:r>
            <a:endParaRPr sz="1500"/>
          </a:p>
        </p:txBody>
      </p:sp>
      <p:sp>
        <p:nvSpPr>
          <p:cNvPr id="1008" name="Adjoint equation"/>
          <p:cNvSpPr/>
          <p:nvPr/>
        </p:nvSpPr>
        <p:spPr>
          <a:xfrm>
            <a:off x="508000" y="30873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900">
                          <a:solidFill>
                            <a:srgbClr val="252529"/>
                          </a:solidFill>
                          <a:latin typeface="Cambria Math"/>
                        </a:rPr>
                      </m:ctrlPr>
                    </m:sSupPr>
                    <m:e>
                      <m:r>
                        <m:rPr>
                          <m:sty m:val="p"/>
                        </m:rPr>
                        <a:rPr sz="2900">
                          <a:solidFill>
                            <a:srgbClr val="252529"/>
                          </a:solidFill>
                          <a:latin typeface="Cambria Math"/>
                        </a:rPr>
                        <m:t xml:space="preserve">𝒜</m:t>
                      </m:r>
                    </m:e>
                    <m:sup>
                      <m:r>
                        <m:rPr>
                          <m:sty m:val="p"/>
                        </m:rPr>
                        <a:rPr sz="2900">
                          <a:solidFill>
                            <a:srgbClr val="252529"/>
                          </a:solidFill>
                          <a:latin typeface="Cambria Math"/>
                        </a:rPr>
                        <m:t xml:space="preserve">*</m:t>
                      </m:r>
                    </m:sup>
                  </m:sSup>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09" name="Block operators label"/>
          <p:cNvSpPr/>
          <p:nvPr/>
        </p:nvSpPr>
        <p:spPr>
          <a:xfrm>
            <a:off x="4953000" y="2879725"/>
            <a:ext cx="3683000" cy="285750"/>
          </a:xfrm>
          <a:prstGeom prst="rect">
            <a:avLst/>
          </a:prstGeom>
          <a:noFill/>
          <a:ln>
            <a:noFill/>
          </a:ln>
        </p:spPr>
        <p:txBody>
          <a:bodyPr wrap="none" lIns="0" tIns="0" rIns="0" bIns="0" anchor="ctr">
            <a:noAutofit/>
          </a:bodyPr>
          <a:lstStyle/>
          <a:p>
            <a:pPr algn="ctr">
              <a:buNone/>
            </a:pPr>
            <a:r>
              <a:rPr lang="en-GB" sz="1500" baseline="0" b="0" i="0" u="none">
                <a:solidFill>
                  <a:srgbClr val="747B82"/>
                </a:solidFill>
                <a:latin typeface="Aptos"/>
                <a:ea typeface="Aptos"/>
                <a:cs typeface="Aptos"/>
              </a:rPr>
              <a:t xml:space="preserve">Block operators</a:t>
            </a:r>
            <a:endParaRPr sz="1500"/>
          </a:p>
        </p:txBody>
      </p:sp>
      <p:sp>
        <p:nvSpPr>
          <p:cNvPr id="1010" name="Block operators equation"/>
          <p:cNvSpPr/>
          <p:nvPr/>
        </p:nvSpPr>
        <p:spPr>
          <a:xfrm>
            <a:off x="4889500" y="3087370"/>
            <a:ext cx="3810000" cy="8102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900">
                          <a:solidFill>
                            <a:srgbClr val="252529"/>
                          </a:solidFill>
                          <a:latin typeface="Cambria Math"/>
                        </a:rPr>
                      </m:ctrlPr>
                    </m:dPr>
                    <m:e>
                      <m:r>
                        <m:rPr>
                          <m:sty m:val="p"/>
                        </m:rPr>
                        <a:rPr sz="2900">
                          <a:solidFill>
                            <a:srgbClr val="252529"/>
                          </a:solidFill>
                          <a:latin typeface="Cambria Math"/>
                        </a:rPr>
                        <m:t xml:space="preserve">𝒜</m:t>
                      </m:r>
                      <m:r>
                        <m:rPr>
                          <m:sty m:val="i"/>
                        </m:rPr>
                        <a:rPr sz="2900">
                          <a:solidFill>
                            <a:srgbClr val="252529"/>
                          </a:solidFill>
                          <a:latin typeface="Cambria Math"/>
                        </a:rPr>
                        <m:t xml:space="preserve"> </m:t>
                      </m:r>
                      <m:r>
                        <m:rPr>
                          <m:sty m:val="i"/>
                        </m:rPr>
                        <a:rPr sz="2900">
                          <a:solidFill>
                            <a:srgbClr val="252529"/>
                          </a:solidFill>
                          <a:latin typeface="Cambria Math"/>
                        </a:rPr>
                        <m:t xml:space="preserve"> </m:t>
                      </m:r>
                      <m:r>
                        <m:rPr>
                          <m:sty m:val="p"/>
                        </m:rPr>
                        <a:rPr sz="2900">
                          <a:solidFill>
                            <a:srgbClr val="252529"/>
                          </a:solidFill>
                          <a:latin typeface="Cambria Math"/>
                        </a:rPr>
                        <m:t xml:space="preserve">ℬ</m:t>
                      </m:r>
                    </m:e>
                  </m:d>
                  <m:r>
                    <m:rPr>
                      <m:sty m:val="i"/>
                    </m:rPr>
                    <a:rPr sz="2900">
                      <a:solidFill>
                        <a:srgbClr val="252529"/>
                      </a:solidFill>
                      <a:latin typeface="Cambria Math"/>
                    </a:rPr>
                    <m:t xml:space="preserve">∈</m:t>
                  </m:r>
                  <m:sSub>
                    <m:sSubPr>
                      <m:ctrlPr>
                        <a:rPr sz="2900">
                          <a:solidFill>
                            <a:srgbClr val="252529"/>
                          </a:solidFill>
                          <a:latin typeface="Cambria Math"/>
                        </a:rPr>
                      </m:ctrlPr>
                    </m:sSubPr>
                    <m:e>
                      <m:r>
                        <m:rPr>
                          <m:sty m:val="i"/>
                        </m:rPr>
                        <a:rPr sz="2900">
                          <a:solidFill>
                            <a:srgbClr val="252529"/>
                          </a:solidFill>
                          <a:latin typeface="Cambria Math"/>
                        </a:rPr>
                        <m:t xml:space="preserve">Π</m:t>
                      </m:r>
                    </m:e>
                    <m:sub>
                      <m:r>
                        <m:rPr>
                          <m:sty m:val="p"/>
                        </m:rPr>
                        <a:rPr sz="2900">
                          <a:solidFill>
                            <a:srgbClr val="252529"/>
                          </a:solidFill>
                          <a:latin typeface="Cambria Math"/>
                        </a:rPr>
                        <m:t xml:space="preserve">4</m:t>
                      </m:r>
                    </m:sub>
                  </m:sSub>
                </m:oMath>
              </m:oMathPara>
            </a14:m>
            <a:endParaRPr sz="2900"/>
          </a:p>
        </p:txBody>
      </p:sp>
      <p:sp>
        <p:nvSpPr>
          <p:cNvPr id="1011" name="Algebra conclusion"/>
          <p:cNvSpPr/>
          <p:nvPr/>
        </p:nvSpPr>
        <p:spPr>
          <a:xfrm>
            <a:off x="381000" y="4083050"/>
            <a:ext cx="8382000" cy="342900"/>
          </a:xfrm>
          <a:prstGeom prst="rect">
            <a:avLst/>
          </a:prstGeom>
          <a:noFill/>
          <a:ln>
            <a:noFill/>
          </a:ln>
        </p:spPr>
        <p:txBody>
          <a:bodyPr wrap="none" lIns="0" tIns="0" rIns="0" bIns="0" anchor="ctr">
            <a:noAutofit/>
          </a:bodyPr>
          <a:lstStyle/>
          <a:p>
            <a:pPr algn="ctr">
              <a:buNone/>
            </a:pPr>
            <a:r>
              <a:rPr lang="en-GB" sz="1800" baseline="0" b="1" i="0" u="none">
                <a:solidFill>
                  <a:srgbClr val="D61016"/>
                </a:solidFill>
                <a:latin typeface="Aptos"/>
                <a:ea typeface="Aptos"/>
                <a:cs typeface="Aptos"/>
              </a:rPr>
              <a:t xml:space="preserve">Build control conditions directly with PI operators.</a:t>
            </a:r>
            <a:endParaRPr sz="1800"/>
          </a:p>
        </p:txBody>
      </p:sp>
      <p:sp>
        <p:nvSpPr>
          <p:cNvPr id="1012" name="Compatible dimensions"/>
          <p:cNvSpPr/>
          <p:nvPr/>
        </p:nvSpPr>
        <p:spPr>
          <a:xfrm>
            <a:off x="508000" y="4467225"/>
            <a:ext cx="81280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For compatible input and output dimensions.</a:t>
            </a:r>
            <a:endParaRPr sz="11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4.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4"/>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From stability to a convex test</a:t>
            </a:r>
            <a:endParaRPr sz="2500"/>
          </a:p>
        </p:txBody>
      </p:sp>
      <p:sp>
        <p:nvSpPr>
          <p:cNvPr id="1002" name="Subtitle 24"/>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A Lyapunov certificate for the homogeneous PIE.</a:t>
            </a:r>
            <a:endParaRPr sz="1200"/>
          </a:p>
        </p:txBody>
      </p:sp>
      <p:sp>
        <p:nvSpPr>
          <p:cNvPr id="1003" name="Homogeneous PIE"/>
          <p:cNvSpPr/>
          <p:nvPr/>
        </p:nvSpPr>
        <p:spPr>
          <a:xfrm>
            <a:off x="508000" y="1164590"/>
            <a:ext cx="8128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oMath>
              </m:oMathPara>
            </a14:m>
            <a:endParaRPr sz="2300"/>
          </a:p>
        </p:txBody>
      </p:sp>
      <p:sp>
        <p:nvSpPr>
          <p:cNvPr id="1004" name="Lyapunov functional"/>
          <p:cNvSpPr/>
          <p:nvPr/>
        </p:nvSpPr>
        <p:spPr>
          <a:xfrm>
            <a:off x="508000" y="1775460"/>
            <a:ext cx="8128000" cy="6146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252529"/>
                      </a:solidFill>
                      <a:latin typeface="Cambria Math"/>
                    </a:rPr>
                    <m:t xml:space="preserve">V</m:t>
                  </m:r>
                  <m:r>
                    <m:rPr>
                      <m:sty m:val="i"/>
                    </m:rPr>
                    <a:rPr sz="2200">
                      <a:solidFill>
                        <a:srgbClr val="252529"/>
                      </a:solidFill>
                      <a:latin typeface="Cambria Math"/>
                    </a:rPr>
                    <m:t xml:space="preserve">=</m:t>
                  </m:r>
                  <m:d>
                    <m:dPr>
                      <m:begChr m:val="⟨"/>
                      <m:endChr m:val="⟩"/>
                      <m:ctrlPr>
                        <a:rPr sz="2200">
                          <a:solidFill>
                            <a:srgbClr val="252529"/>
                          </a:solidFill>
                          <a:latin typeface="Cambria Math"/>
                        </a:rPr>
                      </m:ctrlPr>
                    </m:dPr>
                    <m:e>
                      <m:r>
                        <m:rPr>
                          <m:sty m:val="p"/>
                        </m:rPr>
                        <a:rPr sz="2200">
                          <a:solidFill>
                            <a:srgbClr val="252529"/>
                          </a:solidFill>
                          <a:latin typeface="Cambria Math"/>
                        </a:rPr>
                        <m:t xml:space="preserve">𝒯</m:t>
                      </m:r>
                      <m:sSub>
                        <m:sSubPr>
                          <m:ctrlPr>
                            <a:rPr sz="2200">
                              <a:solidFill>
                                <a:srgbClr val="252529"/>
                              </a:solidFill>
                              <a:latin typeface="Cambria Math"/>
                            </a:rPr>
                          </m:ctrlPr>
                        </m:sSubPr>
                        <m:e>
                          <m:r>
                            <m:rPr>
                              <m:sty m:val="bi"/>
                            </m:rPr>
                            <a:rPr sz="2200">
                              <a:solidFill>
                                <a:srgbClr val="252529"/>
                              </a:solidFill>
                              <a:latin typeface="Cambria Math"/>
                            </a:rPr>
                            <m:t xml:space="preserve">x</m:t>
                          </m:r>
                        </m:e>
                        <m:sub>
                          <m:r>
                            <m:rPr>
                              <m:sty m:val="p"/>
                            </m:rPr>
                            <a:rPr sz="2200">
                              <a:solidFill>
                                <a:srgbClr val="252529"/>
                              </a:solidFill>
                              <a:latin typeface="Cambria Math"/>
                            </a:rPr>
                            <m:t xml:space="preserve">f</m:t>
                          </m:r>
                        </m:sub>
                      </m:sSub>
                      <m:r>
                        <m:rPr>
                          <m:sty m:val="i"/>
                        </m:rPr>
                        <a:rPr sz="2200">
                          <a:solidFill>
                            <a:srgbClr val="252529"/>
                          </a:solidFill>
                          <a:latin typeface="Cambria Math"/>
                        </a:rPr>
                        <m:t xml:space="preserve">,</m:t>
                      </m:r>
                      <m:r>
                        <m:rPr>
                          <m:sty m:val="p"/>
                        </m:rPr>
                        <a:rPr sz="2200">
                          <a:solidFill>
                            <a:srgbClr val="252529"/>
                          </a:solidFill>
                          <a:latin typeface="Cambria Math"/>
                        </a:rPr>
                        <m:t xml:space="preserve">𝒫</m:t>
                      </m:r>
                      <m:r>
                        <m:rPr>
                          <m:sty m:val="p"/>
                        </m:rPr>
                        <a:rPr sz="2200">
                          <a:solidFill>
                            <a:srgbClr val="252529"/>
                          </a:solidFill>
                          <a:latin typeface="Cambria Math"/>
                        </a:rPr>
                        <m:t xml:space="preserve">𝒯</m:t>
                      </m:r>
                      <m:sSub>
                        <m:sSubPr>
                          <m:ctrlPr>
                            <a:rPr sz="2200">
                              <a:solidFill>
                                <a:srgbClr val="252529"/>
                              </a:solidFill>
                              <a:latin typeface="Cambria Math"/>
                            </a:rPr>
                          </m:ctrlPr>
                        </m:sSubPr>
                        <m:e>
                          <m:r>
                            <m:rPr>
                              <m:sty m:val="bi"/>
                            </m:rPr>
                            <a:rPr sz="2200">
                              <a:solidFill>
                                <a:srgbClr val="252529"/>
                              </a:solidFill>
                              <a:latin typeface="Cambria Math"/>
                            </a:rPr>
                            <m:t xml:space="preserve">x</m:t>
                          </m:r>
                        </m:e>
                        <m:sub>
                          <m:r>
                            <m:rPr>
                              <m:sty m:val="p"/>
                            </m:rPr>
                            <a:rPr sz="2200">
                              <a:solidFill>
                                <a:srgbClr val="252529"/>
                              </a:solidFill>
                              <a:latin typeface="Cambria Math"/>
                            </a:rPr>
                            <m:t xml:space="preserve">f</m:t>
                          </m:r>
                        </m:sub>
                      </m:sSub>
                    </m:e>
                  </m:d>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p"/>
                    </m:rPr>
                    <a:rPr sz="2200">
                      <a:solidFill>
                        <a:srgbClr val="252529"/>
                      </a:solidFill>
                      <a:latin typeface="Cambria Math"/>
                    </a:rPr>
                    <m:t xml:space="preserve">𝒫</m:t>
                  </m:r>
                  <m:r>
                    <m:rPr>
                      <m:sty m:val="i"/>
                    </m:rPr>
                    <a:rPr sz="2200">
                      <a:solidFill>
                        <a:srgbClr val="252529"/>
                      </a:solidFill>
                      <a:latin typeface="Cambria Math"/>
                    </a:rPr>
                    <m:t xml:space="preserve">≽</m:t>
                  </m:r>
                  <m:r>
                    <m:rPr>
                      <m:sty m:val="i"/>
                    </m:rPr>
                    <a:rPr sz="2200">
                      <a:solidFill>
                        <a:srgbClr val="252529"/>
                      </a:solidFill>
                      <a:latin typeface="Cambria Math"/>
                    </a:rPr>
                    <m:t xml:space="preserve">ε</m:t>
                  </m:r>
                  <m:r>
                    <m:rPr>
                      <m:sty m:val="p"/>
                    </m:rPr>
                    <a:rPr sz="2200">
                      <a:solidFill>
                        <a:srgbClr val="252529"/>
                      </a:solidFill>
                      <a:latin typeface="Cambria Math"/>
                    </a:rPr>
                    <m:t xml:space="preserve">ℐ</m:t>
                  </m:r>
                </m:oMath>
              </m:oMathPara>
            </a14:m>
            <a:endParaRPr sz="2200"/>
          </a:p>
        </p:txBody>
      </p:sp>
      <p:sp>
        <p:nvSpPr>
          <p:cNvPr id="1005" name="Linear PI inequality"/>
          <p:cNvSpPr/>
          <p:nvPr/>
        </p:nvSpPr>
        <p:spPr>
          <a:xfrm>
            <a:off x="349250" y="2433320"/>
            <a:ext cx="8445500" cy="6705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 xml:space="preserve">𝒯</m:t>
                      </m:r>
                    </m:e>
                    <m:sup>
                      <m:r>
                        <m:rPr>
                          <m:sty m:val="p"/>
                        </m:rPr>
                        <a:rPr sz="2400">
                          <a:solidFill>
                            <a:srgbClr val="252529"/>
                          </a:solidFill>
                          <a:latin typeface="Cambria Math"/>
                        </a:rPr>
                        <m:t xml:space="preserve">*</m:t>
                      </m:r>
                    </m:sup>
                  </m:sSup>
                  <m:r>
                    <m:rPr>
                      <m:sty m:val="p"/>
                    </m:rPr>
                    <a:rPr sz="2400">
                      <a:solidFill>
                        <a:srgbClr val="252529"/>
                      </a:solidFill>
                      <a:latin typeface="Cambria Math"/>
                    </a:rPr>
                    <m:t xml:space="preserve">𝒫</m:t>
                  </m:r>
                  <m:r>
                    <m:rPr>
                      <m:sty m:val="p"/>
                    </m:rPr>
                    <a:rPr sz="2400">
                      <a:solidFill>
                        <a:srgbClr val="252529"/>
                      </a:solidFill>
                      <a:latin typeface="Cambria Math"/>
                    </a:rPr>
                    <m:t xml:space="preserve">𝒜</m:t>
                  </m:r>
                  <m:r>
                    <m:rPr>
                      <m:sty m:val="i"/>
                    </m:rPr>
                    <a:rPr sz="2400">
                      <a:solidFill>
                        <a:srgbClr val="252529"/>
                      </a:solidFill>
                      <a:latin typeface="Cambria Math"/>
                    </a:rPr>
                    <m:t xml:space="preserve">+</m:t>
                  </m:r>
                  <m:sSup>
                    <m:sSupPr>
                      <m:ctrlPr>
                        <a:rPr sz="2400">
                          <a:solidFill>
                            <a:srgbClr val="252529"/>
                          </a:solidFill>
                          <a:latin typeface="Cambria Math"/>
                        </a:rPr>
                      </m:ctrlPr>
                    </m:sSupPr>
                    <m:e>
                      <m:r>
                        <m:rPr>
                          <m:sty m:val="p"/>
                        </m:rPr>
                        <a:rPr sz="2400">
                          <a:solidFill>
                            <a:srgbClr val="252529"/>
                          </a:solidFill>
                          <a:latin typeface="Cambria Math"/>
                        </a:rPr>
                        <m:t xml:space="preserve">𝒜</m:t>
                      </m:r>
                    </m:e>
                    <m:sup>
                      <m:r>
                        <m:rPr>
                          <m:sty m:val="p"/>
                        </m:rPr>
                        <a:rPr sz="2400">
                          <a:solidFill>
                            <a:srgbClr val="252529"/>
                          </a:solidFill>
                          <a:latin typeface="Cambria Math"/>
                        </a:rPr>
                        <m:t xml:space="preserve">*</m:t>
                      </m:r>
                    </m:sup>
                  </m:sSup>
                  <m:r>
                    <m:rPr>
                      <m:sty m:val="p"/>
                    </m:rPr>
                    <a:rPr sz="2400">
                      <a:solidFill>
                        <a:srgbClr val="252529"/>
                      </a:solidFill>
                      <a:latin typeface="Cambria Math"/>
                    </a:rPr>
                    <m:t xml:space="preserve">𝒫</m:t>
                  </m:r>
                  <m:r>
                    <m:rPr>
                      <m:sty m:val="p"/>
                    </m:rPr>
                    <a:rPr sz="2400">
                      <a:solidFill>
                        <a:srgbClr val="252529"/>
                      </a:solidFill>
                      <a:latin typeface="Cambria Math"/>
                    </a:rPr>
                    <m:t xml:space="preserve">𝒯</m:t>
                  </m:r>
                  <m:r>
                    <m:rPr>
                      <m:sty m:val="i"/>
                    </m:rPr>
                    <a:rPr sz="2400">
                      <a:solidFill>
                        <a:srgbClr val="252529"/>
                      </a:solidFill>
                      <a:latin typeface="Cambria Math"/>
                    </a:rPr>
                    <m:t xml:space="preserve">≼</m:t>
                  </m:r>
                  <m:r>
                    <m:rPr>
                      <m:sty m:val="i"/>
                    </m:rPr>
                    <a:rPr sz="2400">
                      <a:solidFill>
                        <a:srgbClr val="252529"/>
                      </a:solidFill>
                      <a:latin typeface="Cambria Math"/>
                    </a:rPr>
                    <m:t xml:space="preserve">−</m:t>
                  </m:r>
                  <m:r>
                    <m:rPr>
                      <m:sty m:val="i"/>
                    </m:rPr>
                    <a:rPr sz="2400">
                      <a:solidFill>
                        <a:srgbClr val="252529"/>
                      </a:solidFill>
                      <a:latin typeface="Cambria Math"/>
                    </a:rPr>
                    <m:t xml:space="preserve">2</m:t>
                  </m:r>
                  <m:r>
                    <m:rPr>
                      <m:sty m:val="i"/>
                    </m:rPr>
                    <a:rPr sz="2400">
                      <a:solidFill>
                        <a:srgbClr val="252529"/>
                      </a:solidFill>
                      <a:latin typeface="Cambria Math"/>
                    </a:rPr>
                    <m:t xml:space="preserve">α</m:t>
                  </m:r>
                  <m:sSup>
                    <m:sSupPr>
                      <m:ctrlPr>
                        <a:rPr sz="2400">
                          <a:solidFill>
                            <a:srgbClr val="252529"/>
                          </a:solidFill>
                          <a:latin typeface="Cambria Math"/>
                        </a:rPr>
                      </m:ctrlPr>
                    </m:sSupPr>
                    <m:e>
                      <m:r>
                        <m:rPr>
                          <m:sty m:val="p"/>
                        </m:rPr>
                        <a:rPr sz="2400">
                          <a:solidFill>
                            <a:srgbClr val="252529"/>
                          </a:solidFill>
                          <a:latin typeface="Cambria Math"/>
                        </a:rPr>
                        <m:t xml:space="preserve">𝒯</m:t>
                      </m:r>
                    </m:e>
                    <m:sup>
                      <m:r>
                        <m:rPr>
                          <m:sty m:val="p"/>
                        </m:rPr>
                        <a:rPr sz="2400">
                          <a:solidFill>
                            <a:srgbClr val="252529"/>
                          </a:solidFill>
                          <a:latin typeface="Cambria Math"/>
                        </a:rPr>
                        <m:t xml:space="preserve">*</m:t>
                      </m:r>
                    </m:sup>
                  </m:sSup>
                  <m:r>
                    <m:rPr>
                      <m:sty m:val="p"/>
                    </m:rPr>
                    <a:rPr sz="2400">
                      <a:solidFill>
                        <a:srgbClr val="252529"/>
                      </a:solidFill>
                      <a:latin typeface="Cambria Math"/>
                    </a:rPr>
                    <m:t xml:space="preserve">𝒫</m:t>
                  </m:r>
                  <m:r>
                    <m:rPr>
                      <m:sty m:val="p"/>
                    </m:rPr>
                    <a:rPr sz="2400">
                      <a:solidFill>
                        <a:srgbClr val="252529"/>
                      </a:solidFill>
                      <a:latin typeface="Cambria Math"/>
                    </a:rPr>
                    <m:t xml:space="preserve">𝒯</m:t>
                  </m:r>
                </m:oMath>
              </m:oMathPara>
            </a14:m>
            <a:endParaRPr sz="2400"/>
          </a:p>
        </p:txBody>
      </p:sp>
      <p:sp>
        <p:nvSpPr>
          <p:cNvPr id="1006" name="Fixed rate"/>
          <p:cNvSpPr/>
          <p:nvPr/>
        </p:nvSpPr>
        <p:spPr>
          <a:xfrm>
            <a:off x="381000" y="3101975"/>
            <a:ext cx="8382000" cy="247650"/>
          </a:xfrm>
          <a:prstGeom prst="rect">
            <a:avLst/>
          </a:prstGeom>
          <a:noFill/>
          <a:ln>
            <a:noFill/>
          </a:ln>
        </p:spPr>
        <p:txBody>
          <a:bodyPr wrap="none" lIns="0" tIns="0" rIns="0" bIns="0" anchor="ctr">
            <a:noAutofit/>
          </a:bodyPr>
          <a:lstStyle/>
          <a:p>
            <a:pPr algn="ctr">
              <a:buNone/>
            </a:pPr>
            <a:r>
              <a:rPr lang="en-GB" sz="1300" baseline="0" b="0" i="0" u="none">
                <a:solidFill>
                  <a:srgbClr val="747B82"/>
                </a:solidFill>
                <a:latin typeface="Aptos"/>
                <a:ea typeface="Aptos"/>
                <a:cs typeface="Aptos"/>
              </a:rPr>
              <a:t xml:space="preserve">For fixed α &gt; 0 and ε &gt; 0, this is linear in the Lyapunov operator.</a:t>
            </a:r>
            <a:endParaRPr sz="1300"/>
          </a:p>
        </p:txBody>
      </p:sp>
      <p:sp>
        <p:nvSpPr>
          <p:cNvPr id="1007" name="LPI step"/>
          <p:cNvSpPr/>
          <p:nvPr/>
        </p:nvSpPr>
        <p:spPr>
          <a:xfrm>
            <a:off x="336550" y="3733800"/>
            <a:ext cx="2476500" cy="304800"/>
          </a:xfrm>
          <a:prstGeom prst="rect">
            <a:avLst/>
          </a:prstGeom>
          <a:noFill/>
          <a:ln>
            <a:noFill/>
          </a:ln>
        </p:spPr>
        <p:txBody>
          <a:bodyPr wrap="none" lIns="0" tIns="0" rIns="0" bIns="0" anchor="ctr">
            <a:noAutofit/>
          </a:bodyPr>
          <a:lstStyle/>
          <a:p>
            <a:pPr algn="ctr">
              <a:buNone/>
            </a:pPr>
            <a:r>
              <a:rPr lang="en-GB" sz="1600" baseline="0" b="1" i="0" u="none">
                <a:solidFill>
                  <a:srgbClr val="252529"/>
                </a:solidFill>
                <a:latin typeface="Aptos"/>
                <a:ea typeface="Aptos"/>
                <a:cs typeface="Aptos"/>
              </a:rPr>
              <a:t xml:space="preserve">Operator inequality</a:t>
            </a:r>
            <a:endParaRPr sz="1600"/>
          </a:p>
        </p:txBody>
      </p:sp>
      <p:sp>
        <p:nvSpPr>
          <p:cNvPr id="1008" name="Parameterization arrow"/>
          <p:cNvSpPr/>
          <p:nvPr/>
        </p:nvSpPr>
        <p:spPr>
          <a:xfrm>
            <a:off x="2832100" y="3873500"/>
            <a:ext cx="889000" cy="25400"/>
          </a:xfrm>
          <a:custGeom>
            <a:avLst/>
            <a:gdLst/>
            <a:ahLst/>
            <a:cxnLst/>
            <a:rect l="0" t="0" r="r" b="b"/>
            <a:pathLst>
              <a:path w="889000" h="25400" fill="none">
                <a:moveTo>
                  <a:pt x="12700" y="12700"/>
                </a:moveTo>
                <a:lnTo>
                  <a:pt x="876300" y="12700"/>
                </a:lnTo>
              </a:path>
            </a:pathLst>
          </a:custGeom>
          <a:noFill/>
          <a:ln w="12700">
            <a:solidFill>
              <a:srgbClr val="252529"/>
            </a:solidFill>
            <a:round/>
            <a:tailEnd type="triangle" w="sm" len="sm"/>
          </a:ln>
        </p:spPr>
      </p:sp>
      <p:sp>
        <p:nvSpPr>
          <p:cNvPr id="1009" name="Parameterization step"/>
          <p:cNvSpPr/>
          <p:nvPr/>
        </p:nvSpPr>
        <p:spPr>
          <a:xfrm>
            <a:off x="3683000" y="3752850"/>
            <a:ext cx="27686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Polynomial PI parameterization</a:t>
            </a:r>
            <a:endParaRPr sz="1400"/>
          </a:p>
        </p:txBody>
      </p:sp>
      <p:sp>
        <p:nvSpPr>
          <p:cNvPr id="1010" name="SDP arrow"/>
          <p:cNvSpPr/>
          <p:nvPr/>
        </p:nvSpPr>
        <p:spPr>
          <a:xfrm>
            <a:off x="6527800" y="3873500"/>
            <a:ext cx="469900" cy="25400"/>
          </a:xfrm>
          <a:custGeom>
            <a:avLst/>
            <a:gdLst/>
            <a:ahLst/>
            <a:cxnLst/>
            <a:rect l="0" t="0" r="r" b="b"/>
            <a:pathLst>
              <a:path w="469900" h="25400" fill="none">
                <a:moveTo>
                  <a:pt x="12700" y="12700"/>
                </a:moveTo>
                <a:lnTo>
                  <a:pt x="457200" y="12700"/>
                </a:lnTo>
              </a:path>
            </a:pathLst>
          </a:custGeom>
          <a:noFill/>
          <a:ln w="12700">
            <a:solidFill>
              <a:srgbClr val="252529"/>
            </a:solidFill>
            <a:round/>
            <a:tailEnd type="triangle" w="sm" len="sm"/>
          </a:ln>
        </p:spPr>
      </p:sp>
      <p:sp>
        <p:nvSpPr>
          <p:cNvPr id="1011" name="LMI step"/>
          <p:cNvSpPr/>
          <p:nvPr/>
        </p:nvSpPr>
        <p:spPr>
          <a:xfrm>
            <a:off x="7029450" y="3714750"/>
            <a:ext cx="1714500" cy="342900"/>
          </a:xfrm>
          <a:prstGeom prst="rect">
            <a:avLst/>
          </a:prstGeom>
          <a:noFill/>
          <a:ln>
            <a:noFill/>
          </a:ln>
        </p:spPr>
        <p:txBody>
          <a:bodyPr wrap="none" lIns="0" tIns="0" rIns="0" bIns="0" anchor="ctr">
            <a:noAutofit/>
          </a:bodyPr>
          <a:lstStyle/>
          <a:p>
            <a:pPr algn="ctr">
              <a:buNone/>
            </a:pPr>
            <a:r>
              <a:rPr lang="en-GB" sz="1800" baseline="0" b="1" i="0" u="none">
                <a:solidFill>
                  <a:srgbClr val="D61016"/>
                </a:solidFill>
                <a:latin typeface="Aptos"/>
                <a:ea typeface="Aptos"/>
                <a:cs typeface="Aptos"/>
              </a:rPr>
              <a:t xml:space="preserve">LMI / SDP</a:t>
            </a:r>
            <a:endParaRPr sz="1800"/>
          </a:p>
        </p:txBody>
      </p:sp>
      <p:sp>
        <p:nvSpPr>
          <p:cNvPr id="1012" name="Sufficient test"/>
          <p:cNvSpPr/>
          <p:nvPr/>
        </p:nvSpPr>
        <p:spPr>
          <a:xfrm>
            <a:off x="381000" y="4305300"/>
            <a:ext cx="8382000" cy="304800"/>
          </a:xfrm>
          <a:prstGeom prst="rect">
            <a:avLst/>
          </a:prstGeom>
          <a:noFill/>
          <a:ln>
            <a:noFill/>
          </a:ln>
        </p:spPr>
        <p:txBody>
          <a:bodyPr wrap="none" lIns="0" tIns="0" rIns="0" bIns="0" anchor="ctr">
            <a:noAutofit/>
          </a:bodyPr>
          <a:lstStyle/>
          <a:p>
            <a:pPr algn="ctr">
              <a:buNone/>
            </a:pPr>
            <a:r>
              <a:rPr lang="en-GB" sz="1600" baseline="0" b="0" i="0" u="none">
                <a:solidFill>
                  <a:srgbClr val="D61016"/>
                </a:solidFill>
                <a:latin typeface="Aptos"/>
                <a:ea typeface="Aptos"/>
                <a:cs typeface="Aptos"/>
              </a:rPr>
              <a:t xml:space="preserve">A finite, sufficient test — without discretizing the PDE.</a:t>
            </a:r>
            <a:endParaRPr sz="160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5.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5"/>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Design in PIE coordinates</a:t>
            </a:r>
            <a:endParaRPr sz="2500"/>
          </a:p>
        </p:txBody>
      </p:sp>
      <p:sp>
        <p:nvSpPr>
          <p:cNvPr id="1002" name="Subtitle 25"/>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Compute a controller in the equivalent representation.</a:t>
            </a:r>
            <a:endParaRPr sz="1200"/>
          </a:p>
        </p:txBody>
      </p:sp>
      <p:sp>
        <p:nvSpPr>
          <p:cNvPr id="1037" name="!!Physical model heading"/>
          <p:cNvSpPr/>
          <p:nvPr/>
        </p:nvSpPr>
        <p:spPr>
          <a:xfrm>
            <a:off x="6096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ODE–PDE model</a:t>
            </a:r>
            <a:endParaRPr sz="1400"/>
          </a:p>
        </p:txBody>
      </p:sp>
      <p:sp>
        <p:nvSpPr>
          <p:cNvPr id="1038" name="!!PIE model heading"/>
          <p:cNvSpPr/>
          <p:nvPr/>
        </p:nvSpPr>
        <p:spPr>
          <a:xfrm>
            <a:off x="53594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PIE model</a:t>
            </a:r>
            <a:endParaRPr sz="1400"/>
          </a:p>
        </p:txBody>
      </p:sp>
      <p:sp>
        <p:nvSpPr>
          <p:cNvPr id="1039" name="!!Conversion arrow"/>
          <p:cNvSpPr/>
          <p:nvPr/>
        </p:nvSpPr>
        <p:spPr>
          <a:xfrm>
            <a:off x="3962400" y="2070100"/>
            <a:ext cx="1206500" cy="25400"/>
          </a:xfrm>
          <a:custGeom>
            <a:avLst/>
            <a:gdLst/>
            <a:ahLst/>
            <a:cxnLst/>
            <a:rect l="0" t="0" r="r" b="b"/>
            <a:pathLst>
              <a:path w="1206500" h="25400" fill="none">
                <a:moveTo>
                  <a:pt x="12700" y="12700"/>
                </a:moveTo>
                <a:lnTo>
                  <a:pt x="1193800" y="12700"/>
                </a:lnTo>
              </a:path>
            </a:pathLst>
          </a:custGeom>
          <a:noFill/>
          <a:ln w="12700">
            <a:solidFill>
              <a:srgbClr val="252529"/>
            </a:solidFill>
            <a:round/>
            <a:tailEnd type="triangle" w="sm" len="sm"/>
          </a:ln>
        </p:spPr>
      </p:sp>
      <p:sp>
        <p:nvSpPr>
          <p:cNvPr id="1040" name="!!Conversion label"/>
          <p:cNvSpPr/>
          <p:nvPr/>
        </p:nvSpPr>
        <p:spPr>
          <a:xfrm>
            <a:off x="3841750" y="17653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Convert</a:t>
            </a:r>
            <a:endParaRPr sz="1200"/>
          </a:p>
        </p:txBody>
      </p:sp>
      <p:sp>
        <p:nvSpPr>
          <p:cNvPr id="1041" name="!!Implementation arrow"/>
          <p:cNvSpPr/>
          <p:nvPr/>
        </p:nvSpPr>
        <p:spPr>
          <a:xfrm>
            <a:off x="3962400" y="3124200"/>
            <a:ext cx="1206500" cy="25400"/>
          </a:xfrm>
          <a:custGeom>
            <a:avLst/>
            <a:gdLst/>
            <a:ahLst/>
            <a:cxnLst/>
            <a:rect l="0" t="0" r="r" b="b"/>
            <a:pathLst>
              <a:path w="1206500" h="25400" fill="none">
                <a:moveTo>
                  <a:pt x="1193800" y="12700"/>
                </a:moveTo>
                <a:lnTo>
                  <a:pt x="12700" y="12700"/>
                </a:lnTo>
              </a:path>
            </a:pathLst>
          </a:custGeom>
          <a:noFill/>
          <a:ln w="12700">
            <a:solidFill>
              <a:srgbClr val="252529"/>
            </a:solidFill>
            <a:round/>
            <a:tailEnd type="triangle" w="sm" len="sm"/>
          </a:ln>
        </p:spPr>
      </p:sp>
      <p:sp>
        <p:nvSpPr>
          <p:cNvPr id="1042" name="!!Implementation label"/>
          <p:cNvSpPr/>
          <p:nvPr/>
        </p:nvSpPr>
        <p:spPr>
          <a:xfrm>
            <a:off x="3841750" y="32766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Implement K</a:t>
            </a:r>
            <a:endParaRPr sz="1200"/>
          </a:p>
        </p:txBody>
      </p:sp>
      <p:sp>
        <p:nvSpPr>
          <p:cNvPr id="1047" name="!!Application STN–GPe"/>
          <p:cNvSpPr/>
          <p:nvPr/>
        </p:nvSpPr>
        <p:spPr>
          <a:xfrm>
            <a:off x="5334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STN–GPe</a:t>
            </a:r>
            <a:endParaRPr sz="900"/>
          </a:p>
        </p:txBody>
      </p:sp>
      <p:sp>
        <p:nvSpPr>
          <p:cNvPr id="1048" name="!!Application ASML"/>
          <p:cNvSpPr/>
          <p:nvPr/>
        </p:nvSpPr>
        <p:spPr>
          <a:xfrm>
            <a:off x="17907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ASML</a:t>
            </a:r>
            <a:endParaRPr sz="900"/>
          </a:p>
        </p:txBody>
      </p:sp>
      <p:sp>
        <p:nvSpPr>
          <p:cNvPr id="1049" name="!!Application Canon"/>
          <p:cNvSpPr/>
          <p:nvPr/>
        </p:nvSpPr>
        <p:spPr>
          <a:xfrm>
            <a:off x="30226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Canon</a:t>
            </a:r>
            <a:endParaRPr sz="900"/>
          </a:p>
        </p:txBody>
      </p:sp>
      <p:sp>
        <p:nvSpPr>
          <p:cNvPr id="1050" name="Design takeaway"/>
          <p:cNvSpPr/>
          <p:nvPr/>
        </p:nvSpPr>
        <p:spPr>
          <a:xfrm>
            <a:off x="4699000" y="3981450"/>
            <a:ext cx="40132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Analyze and synthesize</a:t>
            </a:r>
            <a:endParaRPr sz="1800"/>
          </a:p>
        </p:txBody>
      </p:sp>
      <p:sp>
        <p:nvSpPr>
          <p:cNvPr id="1051" name="Design scope"/>
          <p:cNvSpPr/>
          <p:nvPr/>
        </p:nvSpPr>
        <p:spPr>
          <a:xfrm>
            <a:off x="4699000" y="4362450"/>
            <a:ext cx="4013200" cy="26670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for the nominal linear dynamics.</a:t>
            </a:r>
            <a:endParaRPr sz="1400"/>
          </a:p>
        </p:txBody>
      </p:sp>
      <p:grpSp>
        <p:nvGrpSpPr>
          <p:cNvPr id="1003" name="!!Physical LFR">
            <a:extLst>
              <a:ext uri="{FF2B5EF4-FFF2-40B4-BE49-F238E27FC236}">
                <a16:creationId xmlns:a16="http://schemas.microsoft.com/office/drawing/2014/main" id="{9ABA1CC7-950B-27AA-22AE-FF6B70D69927}"/>
              </a:ext>
            </a:extLst>
          </p:cNvPr>
          <p:cNvGrpSpPr/>
          <p:nvPr/>
        </p:nvGrpSpPr>
        <p:grpSpPr>
          <a:xfrm>
            <a:off x="647700" y="1409700"/>
            <a:ext cx="3098800" cy="2375128"/>
            <a:chOff x="1995932" y="1819148"/>
            <a:chExt cx="3138932" cy="2405888"/>
          </a:xfrm>
        </p:grpSpPr>
        <p:sp>
          <p:nvSpPr>
            <p:cNvPr id="1004"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05"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06"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07"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08"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9"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10"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p:sp>
              <p:nvSpPr>
                <p:cNvPr id="1011"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p:sp>
              <p:nvSpPr>
                <p:cNvPr id="1012"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05"/>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13"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p:sp>
              <p:nvSpPr>
                <p:cNvPr id="1014"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07"/>
                  <a:stretch>
                    <a:fillRect/>
                  </a:stretch>
                </a:blipFill>
                <a:ln>
                  <a:noFill/>
                </a:ln>
              </p:spPr>
              <p:txBody>
                <a:bodyPr/>
                <a:lstStyle/>
                <a:p>
                  <a:r>
                    <a:rPr lang="en-NL">
                      <a:noFill/>
                    </a:rPr>
                    <a:t> </a:t>
                  </a:r>
                </a:p>
              </p:txBody>
            </p:sp>
          </mc:Fallback>
        </mc:AlternateContent>
        <p:sp>
          <p:nvSpPr>
            <p:cNvPr id="1015"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16"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17"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08"/>
                  <a:stretch>
                    <a:fillRect/>
                  </a:stretch>
                </a:blipFill>
                <a:ln>
                  <a:noFill/>
                </a:ln>
              </p:spPr>
              <p:txBody>
                <a:bodyPr/>
                <a:lstStyle/>
                <a:p>
                  <a:r>
                    <a:rPr lang="en-NL">
                      <a:noFill/>
                    </a:rPr>
                    <a:t> </a:t>
                  </a:r>
                </a:p>
              </p:txBody>
            </p:sp>
          </mc:Fallback>
        </mc:AlternateContent>
        <p:sp>
          <p:nvSpPr>
            <p:cNvPr id="1018"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19"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1019"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09"/>
                  <a:stretch>
                    <a:fillRect/>
                  </a:stretch>
                </a:blipFill>
                <a:ln>
                  <a:noFill/>
                </a:ln>
              </p:spPr>
              <p:txBody>
                <a:bodyPr/>
                <a:lstStyle/>
                <a:p>
                  <a:r>
                    <a:rPr lang="en-NL">
                      <a:noFill/>
                    </a:rPr>
                    <a:t> </a:t>
                  </a:r>
                </a:p>
              </p:txBody>
            </p:sp>
          </mc:Fallback>
        </mc:AlternateContent>
      </p:grpSp>
      <p:grpSp>
        <p:nvGrpSpPr>
          <p:cNvPr id="1020" name="!!PIE LFR">
            <a:extLst>
              <a:ext uri="{FF2B5EF4-FFF2-40B4-BE49-F238E27FC236}">
                <a16:creationId xmlns:a16="http://schemas.microsoft.com/office/drawing/2014/main" id="{694DB2D1-3979-BD73-6C1C-EDA0A861169B}"/>
              </a:ext>
            </a:extLst>
          </p:cNvPr>
          <p:cNvGrpSpPr/>
          <p:nvPr/>
        </p:nvGrpSpPr>
        <p:grpSpPr>
          <a:xfrm>
            <a:off x="5397500" y="1409700"/>
            <a:ext cx="3098800" cy="2375128"/>
            <a:chOff x="1995932" y="1819148"/>
            <a:chExt cx="3138932" cy="2405888"/>
          </a:xfrm>
        </p:grpSpPr>
        <p:sp>
          <p:nvSpPr>
            <p:cNvPr id="1021"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22"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23"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24"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25"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26"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27"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p:sp>
              <p:nvSpPr>
                <p:cNvPr id="1028"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p:sp>
              <p:nvSpPr>
                <p:cNvPr id="1029"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12"/>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0"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30"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1"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p:sp>
              <p:nvSpPr>
                <p:cNvPr id="1031"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14"/>
                  <a:stretch>
                    <a:fillRect/>
                  </a:stretch>
                </a:blipFill>
                <a:ln>
                  <a:noFill/>
                </a:ln>
              </p:spPr>
              <p:txBody>
                <a:bodyPr/>
                <a:lstStyle/>
                <a:p>
                  <a:r>
                    <a:rPr lang="en-NL">
                      <a:noFill/>
                    </a:rPr>
                    <a:t> </a:t>
                  </a:r>
                </a:p>
              </p:txBody>
            </p:sp>
          </mc:Fallback>
        </mc:AlternateContent>
        <p:sp>
          <p:nvSpPr>
            <p:cNvPr id="1032"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33"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3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15"/>
                  <a:stretch>
                    <a:fillRect/>
                  </a:stretch>
                </a:blipFill>
                <a:ln>
                  <a:noFill/>
                </a:ln>
              </p:spPr>
              <p:txBody>
                <a:bodyPr/>
                <a:lstStyle/>
                <a:p>
                  <a:r>
                    <a:rPr lang="en-NL">
                      <a:noFill/>
                    </a:rPr>
                    <a:t> </a:t>
                  </a:r>
                </a:p>
              </p:txBody>
            </p:sp>
          </mc:Fallback>
        </mc:AlternateContent>
        <p:sp>
          <p:nvSpPr>
            <p:cNvPr id="1035"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36"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36"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16"/>
                  <a:stretch>
                    <a:fillRect/>
                  </a:stretch>
                </a:blipFill>
                <a:ln>
                  <a:noFill/>
                </a:ln>
              </p:spPr>
              <p:txBody>
                <a:bodyPr/>
                <a:lstStyle/>
                <a:p>
                  <a:r>
                    <a:rPr lang="en-NL">
                      <a:noFill/>
                    </a:rPr>
                    <a:t> </a:t>
                  </a:r>
                </a:p>
              </p:txBody>
            </p:sp>
          </mc:Fallback>
        </mc:AlternateContent>
      </p:grpSp>
      <p:grpSp>
        <p:nvGrpSpPr>
          <p:cNvPr id="1043" name="!!Neural model">
            <a:extLst>
              <a:ext uri="{FF2B5EF4-FFF2-40B4-BE49-F238E27FC236}">
                <a16:creationId xmlns:a16="http://schemas.microsoft.com/office/drawing/2014/main" id="{C1E5EDF8-39B7-BFFC-C737-CA4AA387F766}"/>
              </a:ext>
            </a:extLst>
          </p:cNvPr>
          <p:cNvGrpSpPr/>
          <p:nvPr/>
        </p:nvGrpSpPr>
        <p:grpSpPr>
          <a:xfrm>
            <a:off x="571500" y="4051300"/>
            <a:ext cx="1104900" cy="533400"/>
            <a:chOff x="1879600" y="241300"/>
            <a:chExt cx="5597595" cy="2692400"/>
          </a:xfrm>
        </p:grpSpPr>
        <p:pic>
          <p:nvPicPr>
            <p:cNvPr id="104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E117"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1045" name="!!ASML model">
            <a:extLst>
              <a:ext uri="{FF2B5EF4-FFF2-40B4-BE49-F238E27FC236}">
                <a16:creationId xmlns:a16="http://schemas.microsoft.com/office/drawing/2014/main" id="{64CB8C8F-9F39-474B-5CE8-8336FF80DF46}"/>
              </a:ext>
            </a:extLst>
          </p:cNvPr>
          <p:cNvPicPr>
            <a:picLocks noChangeAspect="1"/>
          </p:cNvPicPr>
          <p:nvPr/>
        </p:nvPicPr>
        <p:blipFill>
          <a:blip r:embed="rIdPIE118" cstate="print">
            <a:extLst>
              <a:ext uri="{28A0092B-C50C-407E-A947-70E740481C1C}">
                <a14:useLocalDpi xmlns:a14="http://schemas.microsoft.com/office/drawing/2010/main" val="0"/>
              </a:ext>
            </a:extLst>
          </a:blip>
          <a:srcRect l="6208" r="6507" b="12822"/>
          <a:stretch>
            <a:fillRect/>
          </a:stretch>
        </p:blipFill>
        <p:spPr>
          <a:xfrm>
            <a:off x="1854200" y="4051300"/>
            <a:ext cx="1028700" cy="533400"/>
          </a:xfrm>
          <a:prstGeom prst="rect">
            <a:avLst/>
          </a:prstGeom>
        </p:spPr>
      </p:pic>
      <p:pic>
        <p:nvPicPr>
          <p:cNvPr id="1046" name="!!Canon model"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PIE119"/>
          <a:stretch>
            <a:fillRect/>
          </a:stretch>
        </p:blipFill>
        <p:spPr>
          <a:xfrm>
            <a:off x="3073400" y="4076700"/>
            <a:ext cx="1066800" cy="520700"/>
          </a:xfrm>
          <a:prstGeom prst="rect">
            <a:avLst/>
          </a:prstGeom>
        </p:spPr>
      </p:pic>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cSld>
  <p:clrMapOvr>
    <a:masterClrMapping/>
  </p:clrMapOvr>
  <p:transition xmlns:p="http://schemas.openxmlformats.org/presentationml/2006/main" xmlns:p14="http://schemas.microsoft.com/office/powerpoint/2010/main" p14:dur="450">
    <p:fade/>
  </p:transition>
</p:sld>
</file>

<file path=ppt/slides/slide26.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26"/>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Our first pillar: PIEs</a:t>
            </a:r>
            <a:endParaRPr sz="2500"/>
          </a:p>
        </p:txBody>
      </p:sp>
      <p:sp>
        <p:nvSpPr>
          <p:cNvPr id="1002" name="Subtitle 26"/>
          <p:cNvSpPr/>
          <p:nvPr/>
        </p:nvSpPr>
        <p:spPr>
          <a:xfrm>
            <a:off x="457200" y="850900"/>
            <a:ext cx="8229600" cy="228600"/>
          </a:xfrm>
          <a:prstGeom prst="rect">
            <a:avLst/>
          </a:prstGeom>
          <a:noFill/>
          <a:ln>
            <a:noFill/>
          </a:ln>
        </p:spPr>
        <p:txBody>
          <a:bodyPr wrap="none" lIns="0" tIns="0" rIns="0" bIns="0" anchor="ctr">
            <a:noAutofit/>
          </a:bodyPr>
          <a:lstStyle/>
          <a:p>
            <a:pPr algn="l">
              <a:buNone/>
            </a:pPr>
            <a:r>
              <a:rPr lang="en-GB" sz="1200" baseline="0" b="0" i="0" u="none">
                <a:solidFill>
                  <a:srgbClr val="747B82"/>
                </a:solidFill>
                <a:latin typeface="Aptos"/>
                <a:ea typeface="Aptos"/>
                <a:cs typeface="Aptos"/>
              </a:rPr>
              <a:t xml:space="preserve">An exact representation with tractable analysis and synthesis.</a:t>
            </a:r>
            <a:endParaRPr sz="1200"/>
          </a:p>
        </p:txBody>
      </p:sp>
      <p:sp>
        <p:nvSpPr>
          <p:cNvPr id="1037" name="!!Physical model heading"/>
          <p:cNvSpPr/>
          <p:nvPr/>
        </p:nvSpPr>
        <p:spPr>
          <a:xfrm>
            <a:off x="6096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ODE–PDE model</a:t>
            </a:r>
            <a:endParaRPr sz="1400"/>
          </a:p>
        </p:txBody>
      </p:sp>
      <p:sp>
        <p:nvSpPr>
          <p:cNvPr id="1038" name="!!PIE model heading"/>
          <p:cNvSpPr/>
          <p:nvPr/>
        </p:nvSpPr>
        <p:spPr>
          <a:xfrm>
            <a:off x="5359400" y="1123950"/>
            <a:ext cx="3175000" cy="266700"/>
          </a:xfrm>
          <a:prstGeom prst="rect">
            <a:avLst/>
          </a:prstGeom>
          <a:noFill/>
          <a:ln>
            <a:noFill/>
          </a:ln>
        </p:spPr>
        <p:txBody>
          <a:bodyPr wrap="none" lIns="0" tIns="0" rIns="0" bIns="0" anchor="ctr">
            <a:noAutofit/>
          </a:bodyPr>
          <a:lstStyle/>
          <a:p>
            <a:pPr algn="ctr">
              <a:buNone/>
            </a:pPr>
            <a:r>
              <a:rPr lang="en-GB" sz="1400" baseline="0" b="1" i="0" u="none">
                <a:solidFill>
                  <a:srgbClr val="252529"/>
                </a:solidFill>
                <a:latin typeface="Aptos"/>
                <a:ea typeface="Aptos"/>
                <a:cs typeface="Aptos"/>
              </a:rPr>
              <a:t xml:space="preserve">PIE model</a:t>
            </a:r>
            <a:endParaRPr sz="1400"/>
          </a:p>
        </p:txBody>
      </p:sp>
      <p:sp>
        <p:nvSpPr>
          <p:cNvPr id="1039" name="!!Conversion arrow"/>
          <p:cNvSpPr/>
          <p:nvPr/>
        </p:nvSpPr>
        <p:spPr>
          <a:xfrm>
            <a:off x="3962400" y="2070100"/>
            <a:ext cx="1206500" cy="25400"/>
          </a:xfrm>
          <a:custGeom>
            <a:avLst/>
            <a:gdLst/>
            <a:ahLst/>
            <a:cxnLst/>
            <a:rect l="0" t="0" r="r" b="b"/>
            <a:pathLst>
              <a:path w="1206500" h="25400" fill="none">
                <a:moveTo>
                  <a:pt x="12700" y="12700"/>
                </a:moveTo>
                <a:lnTo>
                  <a:pt x="1193800" y="12700"/>
                </a:lnTo>
              </a:path>
            </a:pathLst>
          </a:custGeom>
          <a:noFill/>
          <a:ln w="12700">
            <a:solidFill>
              <a:srgbClr val="252529"/>
            </a:solidFill>
            <a:round/>
            <a:tailEnd type="triangle" w="sm" len="sm"/>
          </a:ln>
        </p:spPr>
      </p:sp>
      <p:sp>
        <p:nvSpPr>
          <p:cNvPr id="1040" name="!!Conversion label"/>
          <p:cNvSpPr/>
          <p:nvPr/>
        </p:nvSpPr>
        <p:spPr>
          <a:xfrm>
            <a:off x="3841750" y="17653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Convert</a:t>
            </a:r>
            <a:endParaRPr sz="1200"/>
          </a:p>
        </p:txBody>
      </p:sp>
      <p:sp>
        <p:nvSpPr>
          <p:cNvPr id="1041" name="!!Implementation arrow"/>
          <p:cNvSpPr/>
          <p:nvPr/>
        </p:nvSpPr>
        <p:spPr>
          <a:xfrm>
            <a:off x="3962400" y="3124200"/>
            <a:ext cx="1206500" cy="25400"/>
          </a:xfrm>
          <a:custGeom>
            <a:avLst/>
            <a:gdLst/>
            <a:ahLst/>
            <a:cxnLst/>
            <a:rect l="0" t="0" r="r" b="b"/>
            <a:pathLst>
              <a:path w="1206500" h="25400" fill="none">
                <a:moveTo>
                  <a:pt x="1193800" y="12700"/>
                </a:moveTo>
                <a:lnTo>
                  <a:pt x="12700" y="12700"/>
                </a:lnTo>
              </a:path>
            </a:pathLst>
          </a:custGeom>
          <a:noFill/>
          <a:ln w="12700">
            <a:solidFill>
              <a:srgbClr val="252529"/>
            </a:solidFill>
            <a:round/>
            <a:tailEnd type="triangle" w="sm" len="sm"/>
          </a:ln>
        </p:spPr>
      </p:sp>
      <p:sp>
        <p:nvSpPr>
          <p:cNvPr id="1042" name="!!Implementation label"/>
          <p:cNvSpPr/>
          <p:nvPr/>
        </p:nvSpPr>
        <p:spPr>
          <a:xfrm>
            <a:off x="3841750" y="3276600"/>
            <a:ext cx="1460500" cy="228600"/>
          </a:xfrm>
          <a:prstGeom prst="rect">
            <a:avLst/>
          </a:prstGeom>
          <a:noFill/>
          <a:ln>
            <a:noFill/>
          </a:ln>
        </p:spPr>
        <p:txBody>
          <a:bodyPr wrap="none" lIns="0" tIns="0" rIns="0" bIns="0" anchor="ctr">
            <a:noAutofit/>
          </a:bodyPr>
          <a:lstStyle/>
          <a:p>
            <a:pPr algn="ctr">
              <a:buNone/>
            </a:pPr>
            <a:r>
              <a:rPr lang="en-GB" sz="1200" baseline="0" b="0" i="0" u="none">
                <a:solidFill>
                  <a:srgbClr val="747B82"/>
                </a:solidFill>
                <a:latin typeface="Aptos"/>
                <a:ea typeface="Aptos"/>
                <a:cs typeface="Aptos"/>
              </a:rPr>
              <a:t xml:space="preserve">Implement K</a:t>
            </a:r>
            <a:endParaRPr sz="1200"/>
          </a:p>
        </p:txBody>
      </p:sp>
      <p:sp>
        <p:nvSpPr>
          <p:cNvPr id="1047" name="!!Application STN–GPe"/>
          <p:cNvSpPr/>
          <p:nvPr/>
        </p:nvSpPr>
        <p:spPr>
          <a:xfrm>
            <a:off x="5334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STN–GPe</a:t>
            </a:r>
            <a:endParaRPr sz="900"/>
          </a:p>
        </p:txBody>
      </p:sp>
      <p:sp>
        <p:nvSpPr>
          <p:cNvPr id="1048" name="!!Application ASML"/>
          <p:cNvSpPr/>
          <p:nvPr/>
        </p:nvSpPr>
        <p:spPr>
          <a:xfrm>
            <a:off x="17907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ASML</a:t>
            </a:r>
            <a:endParaRPr sz="900"/>
          </a:p>
        </p:txBody>
      </p:sp>
      <p:sp>
        <p:nvSpPr>
          <p:cNvPr id="1049" name="!!Application Canon"/>
          <p:cNvSpPr/>
          <p:nvPr/>
        </p:nvSpPr>
        <p:spPr>
          <a:xfrm>
            <a:off x="3022600" y="4625975"/>
            <a:ext cx="11684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Canon</a:t>
            </a:r>
            <a:endParaRPr sz="900"/>
          </a:p>
        </p:txBody>
      </p:sp>
      <p:sp>
        <p:nvSpPr>
          <p:cNvPr id="1050" name="Pillar takeaway"/>
          <p:cNvSpPr/>
          <p:nvPr/>
        </p:nvSpPr>
        <p:spPr>
          <a:xfrm>
            <a:off x="4699000" y="3898900"/>
            <a:ext cx="4013200" cy="381000"/>
          </a:xfrm>
          <a:prstGeom prst="rect">
            <a:avLst/>
          </a:prstGeom>
          <a:noFill/>
          <a:ln>
            <a:noFill/>
          </a:ln>
        </p:spPr>
        <p:txBody>
          <a:bodyPr wrap="none" lIns="0" tIns="0" rIns="0" bIns="0" anchor="ctr">
            <a:noAutofit/>
          </a:bodyPr>
          <a:lstStyle/>
          <a:p>
            <a:pPr algn="ctr">
              <a:buNone/>
            </a:pPr>
            <a:r>
              <a:rPr lang="en-GB" sz="2000" baseline="0" b="1" i="0" u="none">
                <a:solidFill>
                  <a:srgbClr val="D61016"/>
                </a:solidFill>
                <a:latin typeface="Aptos"/>
                <a:ea typeface="Aptos"/>
                <a:cs typeface="Aptos"/>
              </a:rPr>
              <a:t xml:space="preserve">Pillar 1: tractability</a:t>
            </a:r>
            <a:endParaRPr sz="2000"/>
          </a:p>
        </p:txBody>
      </p:sp>
      <p:sp>
        <p:nvSpPr>
          <p:cNvPr id="1051" name="Pillar route"/>
          <p:cNvSpPr/>
          <p:nvPr/>
        </p:nvSpPr>
        <p:spPr>
          <a:xfrm>
            <a:off x="4699000" y="4219575"/>
            <a:ext cx="40132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PIE → LPI → LMI</a:t>
            </a:r>
            <a:endParaRPr sz="1700"/>
          </a:p>
        </p:txBody>
      </p:sp>
      <p:sp>
        <p:nvSpPr>
          <p:cNvPr id="1052" name="Next ingredient"/>
          <p:cNvSpPr/>
          <p:nvPr/>
        </p:nvSpPr>
        <p:spPr>
          <a:xfrm>
            <a:off x="4641850" y="4568825"/>
            <a:ext cx="41275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Next: nonlinear stability and performance.</a:t>
            </a:r>
            <a:endParaRPr sz="1100"/>
          </a:p>
        </p:txBody>
      </p:sp>
      <p:grpSp>
        <p:nvGrpSpPr>
          <p:cNvPr id="1003" name="!!Physical LFR">
            <a:extLst>
              <a:ext uri="{FF2B5EF4-FFF2-40B4-BE49-F238E27FC236}">
                <a16:creationId xmlns:a16="http://schemas.microsoft.com/office/drawing/2014/main" id="{9ABA1CC7-950B-27AA-22AE-FF6B70D69927}"/>
              </a:ext>
            </a:extLst>
          </p:cNvPr>
          <p:cNvGrpSpPr/>
          <p:nvPr/>
        </p:nvGrpSpPr>
        <p:grpSpPr>
          <a:xfrm>
            <a:off x="647700" y="1409700"/>
            <a:ext cx="3098800" cy="2375128"/>
            <a:chOff x="1995932" y="1819148"/>
            <a:chExt cx="3138932" cy="2405888"/>
          </a:xfrm>
        </p:grpSpPr>
        <p:sp>
          <p:nvSpPr>
            <p:cNvPr id="1004"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05"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06"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07"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08"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9"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10"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p:sp>
              <p:nvSpPr>
                <p:cNvPr id="1011"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p:sp>
              <p:nvSpPr>
                <p:cNvPr id="1012"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24"/>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13"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p:sp>
              <p:nvSpPr>
                <p:cNvPr id="1014"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26"/>
                  <a:stretch>
                    <a:fillRect/>
                  </a:stretch>
                </a:blipFill>
                <a:ln>
                  <a:noFill/>
                </a:ln>
              </p:spPr>
              <p:txBody>
                <a:bodyPr/>
                <a:lstStyle/>
                <a:p>
                  <a:r>
                    <a:rPr lang="en-NL">
                      <a:noFill/>
                    </a:rPr>
                    <a:t> </a:t>
                  </a:r>
                </a:p>
              </p:txBody>
            </p:sp>
          </mc:Fallback>
        </mc:AlternateContent>
        <p:sp>
          <p:nvSpPr>
            <p:cNvPr id="1015"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D61016"/>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16"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17"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27"/>
                  <a:stretch>
                    <a:fillRect/>
                  </a:stretch>
                </a:blipFill>
                <a:ln>
                  <a:noFill/>
                </a:ln>
              </p:spPr>
              <p:txBody>
                <a:bodyPr/>
                <a:lstStyle/>
                <a:p>
                  <a:r>
                    <a:rPr lang="en-NL">
                      <a:noFill/>
                    </a:rPr>
                    <a:t> </a:t>
                  </a:r>
                </a:p>
              </p:txBody>
            </p:sp>
          </mc:Fallback>
        </mc:AlternateContent>
        <p:sp>
          <p:nvSpPr>
            <p:cNvPr id="1018"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19"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1019"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28"/>
                  <a:stretch>
                    <a:fillRect/>
                  </a:stretch>
                </a:blipFill>
                <a:ln>
                  <a:noFill/>
                </a:ln>
              </p:spPr>
              <p:txBody>
                <a:bodyPr/>
                <a:lstStyle/>
                <a:p>
                  <a:r>
                    <a:rPr lang="en-NL">
                      <a:noFill/>
                    </a:rPr>
                    <a:t> </a:t>
                  </a:r>
                </a:p>
              </p:txBody>
            </p:sp>
          </mc:Fallback>
        </mc:AlternateContent>
      </p:grpSp>
      <p:grpSp>
        <p:nvGrpSpPr>
          <p:cNvPr id="1020" name="!!PIE LFR">
            <a:extLst>
              <a:ext uri="{FF2B5EF4-FFF2-40B4-BE49-F238E27FC236}">
                <a16:creationId xmlns:a16="http://schemas.microsoft.com/office/drawing/2014/main" id="{694DB2D1-3979-BD73-6C1C-EDA0A861169B}"/>
              </a:ext>
            </a:extLst>
          </p:cNvPr>
          <p:cNvGrpSpPr/>
          <p:nvPr/>
        </p:nvGrpSpPr>
        <p:grpSpPr>
          <a:xfrm>
            <a:off x="5397500" y="1409700"/>
            <a:ext cx="3098800" cy="2375128"/>
            <a:chOff x="1995932" y="1819148"/>
            <a:chExt cx="3138932" cy="2405888"/>
          </a:xfrm>
        </p:grpSpPr>
        <p:sp>
          <p:nvSpPr>
            <p:cNvPr id="1021"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022"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023"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024"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025"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26"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1027"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PIE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p:sp>
              <p:nvSpPr>
                <p:cNvPr id="1028"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PIE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p:sp>
              <p:nvSpPr>
                <p:cNvPr id="1029"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PIE131"/>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0"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p:sp>
              <p:nvSpPr>
                <p:cNvPr id="1030"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PIE1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31"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p:sp>
              <p:nvSpPr>
                <p:cNvPr id="1031"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PIE133"/>
                  <a:stretch>
                    <a:fillRect/>
                  </a:stretch>
                </a:blipFill>
                <a:ln>
                  <a:noFill/>
                </a:ln>
              </p:spPr>
              <p:txBody>
                <a:bodyPr/>
                <a:lstStyle/>
                <a:p>
                  <a:r>
                    <a:rPr lang="en-NL">
                      <a:noFill/>
                    </a:rPr>
                    <a:t> </a:t>
                  </a:r>
                </a:p>
              </p:txBody>
            </p:sp>
          </mc:Fallback>
        </mc:AlternateContent>
        <p:sp>
          <p:nvSpPr>
            <p:cNvPr id="1032"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D61016"/>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33"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3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PIE134"/>
                  <a:stretch>
                    <a:fillRect/>
                  </a:stretch>
                </a:blipFill>
                <a:ln>
                  <a:noFill/>
                </a:ln>
              </p:spPr>
              <p:txBody>
                <a:bodyPr/>
                <a:lstStyle/>
                <a:p>
                  <a:r>
                    <a:rPr lang="en-NL">
                      <a:noFill/>
                    </a:rPr>
                    <a:t> </a:t>
                  </a:r>
                </a:p>
              </p:txBody>
            </p:sp>
          </mc:Fallback>
        </mc:AlternateContent>
        <p:sp>
          <p:nvSpPr>
            <p:cNvPr id="1035"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036"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1036"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E135"/>
                  <a:stretch>
                    <a:fillRect/>
                  </a:stretch>
                </a:blipFill>
                <a:ln>
                  <a:noFill/>
                </a:ln>
              </p:spPr>
              <p:txBody>
                <a:bodyPr/>
                <a:lstStyle/>
                <a:p>
                  <a:r>
                    <a:rPr lang="en-NL">
                      <a:noFill/>
                    </a:rPr>
                    <a:t> </a:t>
                  </a:r>
                </a:p>
              </p:txBody>
            </p:sp>
          </mc:Fallback>
        </mc:AlternateContent>
      </p:grpSp>
      <p:grpSp>
        <p:nvGrpSpPr>
          <p:cNvPr id="1043" name="!!Neural model">
            <a:extLst>
              <a:ext uri="{FF2B5EF4-FFF2-40B4-BE49-F238E27FC236}">
                <a16:creationId xmlns:a16="http://schemas.microsoft.com/office/drawing/2014/main" id="{C1E5EDF8-39B7-BFFC-C737-CA4AA387F766}"/>
              </a:ext>
            </a:extLst>
          </p:cNvPr>
          <p:cNvGrpSpPr/>
          <p:nvPr/>
        </p:nvGrpSpPr>
        <p:grpSpPr>
          <a:xfrm>
            <a:off x="571500" y="4051300"/>
            <a:ext cx="1104900" cy="533400"/>
            <a:chOff x="1879600" y="241300"/>
            <a:chExt cx="5597595" cy="2692400"/>
          </a:xfrm>
        </p:grpSpPr>
        <p:pic>
          <p:nvPicPr>
            <p:cNvPr id="104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E13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1045" name="!!ASML model">
            <a:extLst>
              <a:ext uri="{FF2B5EF4-FFF2-40B4-BE49-F238E27FC236}">
                <a16:creationId xmlns:a16="http://schemas.microsoft.com/office/drawing/2014/main" id="{64CB8C8F-9F39-474B-5CE8-8336FF80DF46}"/>
              </a:ext>
            </a:extLst>
          </p:cNvPr>
          <p:cNvPicPr>
            <a:picLocks noChangeAspect="1"/>
          </p:cNvPicPr>
          <p:nvPr/>
        </p:nvPicPr>
        <p:blipFill>
          <a:blip r:embed="rIdPIE137" cstate="print">
            <a:extLst>
              <a:ext uri="{28A0092B-C50C-407E-A947-70E740481C1C}">
                <a14:useLocalDpi xmlns:a14="http://schemas.microsoft.com/office/drawing/2010/main" val="0"/>
              </a:ext>
            </a:extLst>
          </a:blip>
          <a:srcRect l="6208" r="6507" b="12822"/>
          <a:stretch>
            <a:fillRect/>
          </a:stretch>
        </p:blipFill>
        <p:spPr>
          <a:xfrm>
            <a:off x="1854200" y="4051300"/>
            <a:ext cx="1028700" cy="533400"/>
          </a:xfrm>
          <a:prstGeom prst="rect">
            <a:avLst/>
          </a:prstGeom>
        </p:spPr>
      </p:pic>
      <p:pic>
        <p:nvPicPr>
          <p:cNvPr id="1046" name="!!Canon model"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PIE138"/>
          <a:stretch>
            <a:fillRect/>
          </a:stretch>
        </p:blipFill>
        <p:spPr>
          <a:xfrm>
            <a:off x="3073400" y="4076700"/>
            <a:ext cx="1066800" cy="520700"/>
          </a:xfrm>
          <a:prstGeom prst="rect">
            <a:avLst/>
          </a:prstGeom>
        </p:spPr>
      </p:pic>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900">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987</Paragraphs>
  <Slides>53</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2026-09-27T10:27:28Z</dcterms:modified>
</cp:coreProperties>
</file>