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Show only the starting nominal homogeneous ODE-PDE and the final PIE, with no derivation or substitution on screen. Set w=0 and u=0 in the nominal STN-GPe block: tau_S xdot_S=-x_S, tau_G xdot_G=-x_G; partial_t phi_ij=-tau_ij^{-1}partial_s phi_ij and phi_ij(t,0)=x_i(t). Channels are GS,SG,GG. The final compact form is T xdot_f=A x_f. Boundary conditions are built into T. For technical reference only: x_f=(x,partial_s phi), T reconstructs the compatible PDE state. Initial histories must match.</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Extract3" Type="http://schemas.openxmlformats.org/officeDocument/2006/relationships/image" Target="../media/revised_lfr19_image96.png"/><Relationship Id="rIdExtract4" Type="http://schemas.openxmlformats.org/officeDocument/2006/relationships/image" Target="../media/revised_lfr19_image97.png"/><Relationship Id="rIdExtract5" Type="http://schemas.openxmlformats.org/officeDocument/2006/relationships/image" Target="../media/revised_lfr19_image74.png"/><Relationship Id="rIdExtract6" Type="http://schemas.openxmlformats.org/officeDocument/2006/relationships/image" Target="../media/revised_lfr19_image100.png"/><Relationship Id="rIdExtract7" Type="http://schemas.openxmlformats.org/officeDocument/2006/relationships/image" Target="../media/revised_lfr19_image101.png"/><Relationship Id="rIdExtract8" Type="http://schemas.openxmlformats.org/officeDocument/2006/relationships/image" Target="../media/revised_lfr19_image102.png"/><Relationship Id="rIdExtract9" Type="http://schemas.openxmlformats.org/officeDocument/2006/relationships/image" Target="../media/image70.png"/><Relationship Id="rIdExtractFinal100" Type="http://schemas.openxmlformats.org/officeDocument/2006/relationships/image" Target="../media/extraction20_revised_lfr19_image102.png"/><Relationship Id="rIdExtractFinal101" Type="http://schemas.openxmlformats.org/officeDocument/2006/relationships/image" Target="../media/extraction20_image1.png"/><Relationship Id="rIdExtractFinal102" Type="http://schemas.openxmlformats.org/officeDocument/2006/relationships/image" Target="../media/extraction20_revised_lfr19_image96.png"/><Relationship Id="rIdExtractFinal103" Type="http://schemas.openxmlformats.org/officeDocument/2006/relationships/image" Target="../media/extraction20_revised_lfr19_image101.png"/><Relationship Id="rIdExtractFinal106" Type="http://schemas.openxmlformats.org/officeDocument/2006/relationships/image" Target="../media/extraction20_revised_lfr19_image100.png"/><Relationship Id="rIdExtractFinal107" Type="http://schemas.openxmlformats.org/officeDocument/2006/relationships/image" Target="../media/extraction20_revised_lfr19_image74.png"/><Relationship Id="rIdExtractFinal108" Type="http://schemas.openxmlformats.org/officeDocument/2006/relationships/image" Target="../media/extraction20_revised_lfr19_image97.png"/><Relationship Id="rIdExtractFinal109" Type="http://schemas.openxmlformats.org/officeDocument/2006/relationships/image" Target="../media/extraction20_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llar22" Type="http://schemas.openxmlformats.org/officeDocument/2006/relationships/image" Target="../media/image54.png"/><Relationship Id="rIdPillar23" Type="http://schemas.openxmlformats.org/officeDocument/2006/relationships/image" Target="../media/image1.png"/><Relationship Id="rIdHeatNotes" Type="http://schemas.openxmlformats.org/officeDocument/2006/relationships/notesSlide" Target="../notesSlides/notesSlide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ExtractFinal101"/>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Final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Final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Final10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Final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Final103"/>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Final100"/>
                  <a:stretch>
                    <a:fillRect/>
                  </a:stretch>
                </a:blipFill>
                <a:ln>
                  <a:noFill/>
                </a:ln>
              </p:spPr>
              <p:txBody>
                <a:bodyPr/>
                <a:lstStyle/>
                <a:p>
                  <a:r>
                    <a:rPr lang="en-NL">
                      <a:noFill/>
                    </a:rPr>
                    <a:t> </a:t>
                  </a:r>
                </a:p>
              </p:txBody>
            </p:sp>
          </mc:Fallback>
        </mc:AlternateContent>
      </p:grpSp>
      <p:grpSp>
        <p:nvGrpSpPr>
          <p:cNvPr id="5019" name="Extracted PDE block"/>
          <p:cNvGrpSpPr/>
          <p:nvPr/>
        </p:nvGrpSpPr>
        <p:grpSpPr>
          <a:xfrm>
            <a:off x="3963860" y="2188260"/>
            <a:ext cx="1192431" cy="1192297"/>
            <a:chOff x="3086100" y="2514600"/>
            <a:chExt cx="939800" cy="939800"/>
          </a:xfrm>
        </p:grpSpPr>
        <p:sp>
          <p:nvSpPr>
            <p:cNvPr id="5020"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21"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5021"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999"/>
                                          </p:stCondLst>
                                        </p:cTn>
                                        <p:tgtEl>
                                          <p:spTgt spid="5019"/>
                                        </p:tgtEl>
                                        <p:attrNameLst>
                                          <p:attrName>style.visibility</p:attrName>
                                        </p:attrNameLst>
                                      </p:cBhvr>
                                      <p:to>
                                        <p:strVal val="visible"/>
                                      </p:to>
                                    </p:set>
                                    <p:animMotion origin="layout" path="M 0 0 L 0.00060964 -0.25245621 E" pathEditMode="relative">
                                      <p:cBhvr from="" to="">
                                        <p:cTn id="7" dur="1000" fill="hold">
                                          <p:stCondLst>
                                            <p:cond delay="0"/>
                                          </p:stCondLst>
                                        </p:cTn>
                                        <p:tgtEl>
                                          <p:spTgt spid="5019"/>
                                        </p:tgtEl>
                                        <p:attrNameLst>
                                          <p:attrName>ppt_x</p:attrName>
                                          <p:attrName>ppt_y</p:attrName>
                                        </p:attrNameLst>
                                      </p:cBhvr>
                                    </p:animMotion>
                                    <p:animScale>
                                      <p:cBhvr>
                                        <p:cTn id="8" dur="1000" fill="hold">
                                          <p:stCondLst>
                                            <p:cond delay="0"/>
                                          </p:stCondLst>
                                        </p:cTn>
                                        <p:tgtEl>
                                          <p:spTgt spid="5019"/>
                                        </p:tgtEl>
                                      </p:cBhvr>
                                      <p:from x="100000" y="100000"/>
                                      <p:to x="60000" y="60000"/>
                                    </p:animScale>
                                  </p:childTnLst>
                                </p:cTn>
                              </p:par>
                              <p:par>
                                <p:cTn id="9" presetID="10" presetClass="exit" presetSubtype="0" fill="hold" nodeType="withEffect">
                                  <p:stCondLst>
                                    <p:cond delay="0"/>
                                  </p:stCondLst>
                                  <p:childTnLst>
                                    <p:animEffect transition="out" filter="fade">
                                      <p:cBhvr>
                                        <p:cTn id="10" dur="550"/>
                                        <p:tgtEl>
                                          <p:spTgt spid="5001"/>
                                        </p:tgtEl>
                                      </p:cBhvr>
                                    </p:animEffect>
                                    <p:set>
                                      <p:cBhvr>
                                        <p:cTn id="11" dur="1" fill="hold">
                                          <p:stCondLst>
                                            <p:cond delay="549"/>
                                          </p:stCondLst>
                                        </p:cTn>
                                        <p:tgtEl>
                                          <p:spTgt spid="5001"/>
                                        </p:tgtEl>
                                        <p:attrNameLst>
                                          <p:attrName>style.visibility</p:attrName>
                                        </p:attrNameLst>
                                      </p:cBhvr>
                                      <p:to>
                                        <p:strVal val="hidden"/>
                                      </p:to>
                                    </p:set>
                                  </p:childTnLst>
                                </p:cTn>
                              </p:par>
                              <p:par>
                                <p:cTn id="12" presetID="10" presetClass="exit" presetSubtype="0" fill="hold" nodeType="withEffect">
                                  <p:stCondLst>
                                    <p:cond delay="850"/>
                                  </p:stCondLst>
                                  <p:childTnLst>
                                    <p:animEffect transition="out" filter="fade">
                                      <p:cBhvr>
                                        <p:cTn id="13" dur="250"/>
                                        <p:tgtEl>
                                          <p:spTgt spid="5019"/>
                                        </p:tgtEl>
                                      </p:cBhvr>
                                    </p:animEffect>
                                    <p:set>
                                      <p:cBhvr>
                                        <p:cTn id="14" dur="1" fill="hold">
                                          <p:stCondLst>
                                            <p:cond delay="249"/>
                                          </p:stCondLst>
                                        </p:cTn>
                                        <p:tgtEl>
                                          <p:spTgt spid="5019"/>
                                        </p:tgtEl>
                                        <p:attrNameLst>
                                          <p:attrName>style.visibility</p:attrName>
                                        </p:attrNameLst>
                                      </p:cBhvr>
                                      <p:to>
                                        <p:strVal val="hidden"/>
                                      </p:to>
                                    </p:set>
                                  </p:childTnLst>
                                </p:cTn>
                              </p:par>
                              <p:par>
                                <p:cTn id="15" presetID="10" presetClass="entr" presetSubtype="0" fill="hold" grpId="0" nodeType="withEffect">
                                  <p:stCondLst>
                                    <p:cond delay="8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10" presetClass="entr" presetSubtype="0" fill="hold" grpId="0" nodeType="withEffect">
                                  <p:stCondLst>
                                    <p:cond delay="65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400"/>
                                        <p:tgtEl>
                                          <p:spTgt spid="3"/>
                                        </p:tgtEl>
                                      </p:cBhvr>
                                    </p:animEffect>
                                  </p:childTnLst>
                                </p:cTn>
                              </p:par>
                              <p:par>
                                <p:cTn id="21" presetID="10" presetClass="entr" presetSubtype="0" fill="hold" grpId="0" nodeType="withEffect">
                                  <p:stCondLst>
                                    <p:cond delay="9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grpId="0" nodeType="withEffect">
                                  <p:stCondLst>
                                    <p:cond delay="9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95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4"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1001" name="Homogeneous scope"/>
          <p:cNvSpPr/>
          <p:nvPr/>
        </p:nvSpPr>
        <p:spPr>
          <a:xfrm>
            <a:off x="3619500" y="2143125"/>
            <a:ext cx="5080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Nominal STN–GPe · w = 0, u = 0</a:t>
            </a:r>
            <a:endParaRPr sz="1100"/>
          </a:p>
        </p:txBody>
      </p:sp>
      <p:sp>
        <p:nvSpPr>
          <p:cNvPr id="1002" name="Nominal ODE S"/>
          <p:cNvSpPr/>
          <p:nvPr/>
        </p:nvSpPr>
        <p:spPr>
          <a:xfrm>
            <a:off x="3194050" y="25069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S</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3" name="Nominal ODE G"/>
          <p:cNvSpPr/>
          <p:nvPr/>
        </p:nvSpPr>
        <p:spPr>
          <a:xfrm>
            <a:off x="3194050" y="28752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G</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4" name="Nominal transport PDE"/>
          <p:cNvSpPr/>
          <p:nvPr/>
        </p:nvSpPr>
        <p:spPr>
          <a:xfrm>
            <a:off x="3130550" y="3374390"/>
            <a:ext cx="2857500" cy="3632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t</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r>
                    <m:rPr>
                      <m:sty m:val="i"/>
                    </m:rPr>
                    <a:rPr sz="1300">
                      <a:solidFill>
                        <a:srgbClr val="252529"/>
                      </a:solidFill>
                      <a:latin typeface="Cambria Math"/>
                    </a:rPr>
                    <m:t xml:space="preserve">=</m:t>
                  </m:r>
                  <m:r>
                    <m:rPr>
                      <m:sty m:val="i"/>
                    </m:rPr>
                    <a:rPr sz="1300">
                      <a:solidFill>
                        <a:srgbClr val="252529"/>
                      </a:solidFill>
                      <a:latin typeface="Cambria Math"/>
                    </a:rPr>
                    <m:t xml:space="preserve">−</m:t>
                  </m:r>
                  <m:f>
                    <m:fPr>
                      <m:ctrlPr>
                        <a:rPr sz="1300">
                          <a:solidFill>
                            <a:srgbClr val="252529"/>
                          </a:solidFill>
                          <a:latin typeface="Cambria Math"/>
                        </a:rPr>
                      </m:ctrlPr>
                    </m:fPr>
                    <m:num>
                      <m:r>
                        <m:rPr>
                          <m:sty m:val="i"/>
                        </m:rPr>
                        <a:rPr sz="1300">
                          <a:solidFill>
                            <a:srgbClr val="252529"/>
                          </a:solidFill>
                          <a:latin typeface="Cambria Math"/>
                        </a:rPr>
                        <m:t xml:space="preserve">1</m:t>
                      </m:r>
                    </m:num>
                    <m:den>
                      <m:sSub>
                        <m:sSubPr>
                          <m:ctrlPr>
                            <a:rPr sz="1300">
                              <a:solidFill>
                                <a:srgbClr val="252529"/>
                              </a:solidFill>
                              <a:latin typeface="Cambria Math"/>
                            </a:rPr>
                          </m:ctrlPr>
                        </m:sSubPr>
                        <m:e>
                          <m:r>
                            <m:rPr>
                              <m:sty m:val="i"/>
                            </m:rPr>
                            <a:rPr sz="1300">
                              <a:solidFill>
                                <a:srgbClr val="252529"/>
                              </a:solidFill>
                              <a:latin typeface="Cambria Math"/>
                            </a:rPr>
                            <m:t xml:space="preserve">τ</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en>
                  </m:f>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s</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oMath>
              </m:oMathPara>
            </a14:m>
            <a:endParaRPr sz="1300"/>
          </a:p>
        </p:txBody>
      </p:sp>
      <p:sp>
        <p:nvSpPr>
          <p:cNvPr id="1005" name="Boundary condition"/>
          <p:cNvSpPr/>
          <p:nvPr/>
        </p:nvSpPr>
        <p:spPr>
          <a:xfrm>
            <a:off x="3194050" y="37896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φ</m:t>
                      </m:r>
                    </m:e>
                    <m:sub>
                      <m:r>
                        <m:rPr>
                          <m:sty m:val="i"/>
                        </m:rPr>
                        <a:rPr sz="1600">
                          <a:solidFill>
                            <a:srgbClr val="252529"/>
                          </a:solidFill>
                          <a:latin typeface="Cambria Math"/>
                        </a:rPr>
                        <m:t xml:space="preserve">i</m:t>
                      </m:r>
                      <m:r>
                        <m:rPr>
                          <m:sty m:val="i"/>
                        </m:rPr>
                        <a:rPr sz="1600">
                          <a:solidFill>
                            <a:srgbClr val="252529"/>
                          </a:solidFill>
                          <a:latin typeface="Cambria Math"/>
                        </a:rPr>
                        <m:t xml:space="preserve">j</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r>
                        <m:rPr>
                          <m:sty m:val="i"/>
                        </m:rPr>
                        <a:rPr sz="1600">
                          <a:solidFill>
                            <a:srgbClr val="252529"/>
                          </a:solidFill>
                          <a:latin typeface="Cambria Math"/>
                        </a:rPr>
                        <m:t xml:space="preserve">,</m:t>
                      </m:r>
                      <m:r>
                        <m:rPr>
                          <m:sty m:val="i"/>
                        </m:rPr>
                        <a:rPr sz="1600">
                          <a:solidFill>
                            <a:srgbClr val="252529"/>
                          </a:solidFill>
                          <a:latin typeface="Cambria Math"/>
                        </a:rPr>
                        <m:t xml:space="preserve">0</m:t>
                      </m:r>
                    </m:e>
                  </m:d>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6" name="Final homogeneous PIE"/>
          <p:cNvSpPr/>
          <p:nvPr/>
        </p:nvSpPr>
        <p:spPr>
          <a:xfrm>
            <a:off x="6604000" y="2984500"/>
            <a:ext cx="23876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𝒯</m:t>
                  </m:r>
                  <m:acc>
                    <m:accPr>
                      <m:chr m:val="̇"/>
                      <m:ctrlPr>
                        <a:rPr sz="2000">
                          <a:solidFill>
                            <a:srgbClr val="252529"/>
                          </a:solidFill>
                          <a:latin typeface="Cambria Math"/>
                        </a:rPr>
                      </m:ctrlPr>
                    </m:accPr>
                    <m:e>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p"/>
                    </m:rPr>
                    <a:rPr sz="2000">
                      <a:solidFill>
                        <a:srgbClr val="252529"/>
                      </a:solidFill>
                      <a:latin typeface="Cambria Math"/>
                    </a:rPr>
                    <m:t xml:space="preserve">𝒜</m:t>
                  </m:r>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Delay channels"/>
          <p:cNvSpPr/>
          <p:nvPr/>
        </p:nvSpPr>
        <p:spPr>
          <a:xfrm>
            <a:off x="3448050" y="4291330"/>
            <a:ext cx="5397500" cy="3073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m:t>
                  </m:r>
                  <m:r>
                    <m:rPr>
                      <m:sty m:val="i"/>
                    </m:rPr>
                    <a:rPr sz="1100">
                      <a:solidFill>
                        <a:srgbClr val="252529"/>
                      </a:solidFill>
                      <a:latin typeface="Cambria Math"/>
                    </a:rPr>
                    <m:t xml:space="preserve">i</m:t>
                  </m:r>
                  <m:r>
                    <m:rPr>
                      <m:sty m:val="i"/>
                    </m:rPr>
                    <a:rPr sz="1100">
                      <a:solidFill>
                        <a:srgbClr val="252529"/>
                      </a:solidFill>
                      <a:latin typeface="Cambria Math"/>
                    </a:rPr>
                    <m:t xml:space="preserve">,</m:t>
                  </m:r>
                  <m:r>
                    <m:rPr>
                      <m:sty m:val="i"/>
                    </m:rPr>
                    <a:rPr sz="1100">
                      <a:solidFill>
                        <a:srgbClr val="252529"/>
                      </a:solidFill>
                      <a:latin typeface="Cambria Math"/>
                    </a:rPr>
                    <m:t xml:space="preserve">j</m:t>
                  </m:r>
                  <m:r>
                    <m:rPr>
                      <m:sty m:val="i"/>
                    </m:rPr>
                    <a:rPr sz="1100">
                      <a:solidFill>
                        <a:srgbClr val="252529"/>
                      </a:solidFill>
                      <a:latin typeface="Cambria Math"/>
                    </a:rPr>
                    <m:t xml:space="preserve">)</m:t>
                  </m:r>
                  <m:r>
                    <m:rPr>
                      <m:sty m:val="i"/>
                    </m:rPr>
                    <a:rPr sz="1100">
                      <a:solidFill>
                        <a:srgbClr val="252529"/>
                      </a:solidFill>
                      <a:latin typeface="Cambria Math"/>
                    </a:rPr>
                    <m:t xml:space="preserve">∈</m:t>
                  </m:r>
                  <m:d>
                    <m:dPr>
                      <m:begChr m:val="{"/>
                      <m:endChr m:val="}"/>
                      <m:ctrlPr>
                        <a:rPr sz="1100">
                          <a:solidFill>
                            <a:srgbClr val="252529"/>
                          </a:solidFill>
                          <a:latin typeface="Cambria Math"/>
                        </a:rPr>
                      </m:ctrlPr>
                    </m:dPr>
                    <m:e>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e>
                  </m:d>
                  <m:r>
                    <m:rPr>
                      <m:sty m:val="i"/>
                    </m:rPr>
                    <a:rPr sz="1100">
                      <a:solidFill>
                        <a:srgbClr val="252529"/>
                      </a:solidFill>
                      <a:latin typeface="Cambria Math"/>
                    </a:rPr>
                    <m:t xml:space="preserve">,</m:t>
                  </m:r>
                  <m:r>
                    <m:rPr>
                      <m:sty m:val="i"/>
                    </m:rPr>
                    <a:rPr sz="1100">
                      <a:solidFill>
                        <a:srgbClr val="252529"/>
                      </a:solidFill>
                      <a:latin typeface="Cambria Math"/>
                    </a:rPr>
                    <m:t xml:space="preserve"> </m:t>
                  </m:r>
                  <m:r>
                    <m:rPr>
                      <m:sty m:val="i"/>
                    </m:rPr>
                    <a:rPr sz="1100">
                      <a:solidFill>
                        <a:srgbClr val="252529"/>
                      </a:solidFill>
                      <a:latin typeface="Cambria Math"/>
                    </a:rPr>
                    <m:t xml:space="preserve"> </m:t>
                  </m:r>
                  <m:r>
                    <m:rPr>
                      <m:sty m:val="i"/>
                    </m:rPr>
                    <a:rPr sz="1100">
                      <a:solidFill>
                        <a:srgbClr val="252529"/>
                      </a:solidFill>
                      <a:latin typeface="Cambria Math"/>
                    </a:rPr>
                    <m:t xml:space="preserve">s</m:t>
                  </m:r>
                  <m:r>
                    <m:rPr>
                      <m:sty m:val="i"/>
                    </m:rPr>
                    <a:rPr sz="1100">
                      <a:solidFill>
                        <a:srgbClr val="252529"/>
                      </a:solidFill>
                      <a:latin typeface="Cambria Math"/>
                    </a:rPr>
                    <m:t xml:space="preserve">∈</m:t>
                  </m:r>
                  <m:r>
                    <m:rPr>
                      <m:sty m:val="i"/>
                    </m:rPr>
                    <a:rPr sz="1100">
                      <a:solidFill>
                        <a:srgbClr val="252529"/>
                      </a:solidFill>
                      <a:latin typeface="Cambria Math"/>
                    </a:rPr>
                    <m:t xml:space="preserve">[</m:t>
                  </m:r>
                  <m:r>
                    <m:rPr>
                      <m:sty m:val="i"/>
                    </m:rPr>
                    <a:rPr sz="1100">
                      <a:solidFill>
                        <a:srgbClr val="252529"/>
                      </a:solidFill>
                      <a:latin typeface="Cambria Math"/>
                    </a:rPr>
                    <m:t xml:space="preserve">0</m:t>
                  </m:r>
                  <m:r>
                    <m:rPr>
                      <m:sty m:val="i"/>
                    </m:rPr>
                    <a:rPr sz="1100">
                      <a:solidFill>
                        <a:srgbClr val="252529"/>
                      </a:solidFill>
                      <a:latin typeface="Cambria Math"/>
                    </a:rPr>
                    <m:t xml:space="preserve">,</m:t>
                  </m:r>
                  <m:r>
                    <m:rPr>
                      <m:sty m:val="i"/>
                    </m:rPr>
                    <a:rPr sz="1100">
                      <a:solidFill>
                        <a:srgbClr val="252529"/>
                      </a:solidFill>
                      <a:latin typeface="Cambria Math"/>
                    </a:rPr>
                    <m:t xml:space="preserve">1</m:t>
                  </m:r>
                  <m:r>
                    <m:rPr>
                      <m:sty m:val="i"/>
                    </m:rPr>
                    <a:rPr sz="1100">
                      <a:solidFill>
                        <a:srgbClr val="252529"/>
                      </a:solidFill>
                      <a:latin typeface="Cambria Math"/>
                    </a:rPr>
                    <m:t xml:space="preserve">]</m:t>
                  </m:r>
                </m:oMath>
              </m:oMathPara>
            </a14:m>
            <a:endParaRPr sz="1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z</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𝒞</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𝒟</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100">
                      <a:solidFill>
                        <a:srgbClr val="252529"/>
                      </a:solidFill>
                      <a:latin typeface="Cambria Math"/>
                    </a:rPr>
                    <m:t xml:space="preserve">𝒯</m:t>
                  </m:r>
                  <m:r>
                    <m:rPr>
                      <m:sty m:val="i"/>
                    </m:rPr>
                    <a:rPr sz="2100">
                      <a:solidFill>
                        <a:srgbClr val="252529"/>
                      </a:solidFill>
                      <a:latin typeface="Cambria Math"/>
                    </a:rPr>
                    <m:t xml:space="preserve">,</m:t>
                  </m:r>
                  <m:r>
                    <m:rPr>
                      <m:sty m:val="p"/>
                    </m:rPr>
                    <a:rPr sz="2100">
                      <a:solidFill>
                        <a:srgbClr val="252529"/>
                      </a:solidFill>
                      <a:latin typeface="Cambria Math"/>
                    </a:rPr>
                    <m:t xml:space="preserve">𝒜</m:t>
                  </m:r>
                  <m:r>
                    <m:rPr>
                      <m:sty m:val="i"/>
                    </m:rPr>
                    <a:rPr sz="2100">
                      <a:solidFill>
                        <a:srgbClr val="252529"/>
                      </a:solidFill>
                      <a:latin typeface="Cambria Math"/>
                    </a:rPr>
                    <m:t xml:space="preserve">,</m:t>
                  </m:r>
                  <m:r>
                    <m:rPr>
                      <m:sty m:val="p"/>
                    </m:rPr>
                    <a:rPr sz="2100">
                      <a:solidFill>
                        <a:srgbClr val="252529"/>
                      </a:solidFill>
                      <a:latin typeface="Cambria Math"/>
                    </a:rPr>
                    <m:t xml:space="preserve">ℬ</m:t>
                  </m:r>
                  <m:r>
                    <m:rPr>
                      <m:sty m:val="i"/>
                    </m:rPr>
                    <a:rPr sz="2100">
                      <a:solidFill>
                        <a:srgbClr val="252529"/>
                      </a:solidFill>
                      <a:latin typeface="Cambria Math"/>
                    </a:rPr>
                    <m:t xml:space="preserve">,</m:t>
                  </m:r>
                  <m:r>
                    <m:rPr>
                      <m:sty m:val="p"/>
                    </m:rPr>
                    <a:rPr sz="2100">
                      <a:solidFill>
                        <a:srgbClr val="252529"/>
                      </a:solidFill>
                      <a:latin typeface="Cambria Math"/>
                    </a:rPr>
                    <m:t xml:space="preserve">𝒞</m:t>
                  </m:r>
                  <m:r>
                    <m:rPr>
                      <m:sty m:val="i"/>
                    </m:rPr>
                    <a:rPr sz="2100">
                      <a:solidFill>
                        <a:srgbClr val="252529"/>
                      </a:solidFill>
                      <a:latin typeface="Cambria Math"/>
                    </a:rPr>
                    <m:t xml:space="preserve">,</m:t>
                  </m:r>
                  <m:r>
                    <m:rPr>
                      <m:sty m:val="p"/>
                    </m:rPr>
                    <a:rPr sz="2100">
                      <a:solidFill>
                        <a:srgbClr val="252529"/>
                      </a:solidFill>
                      <a:latin typeface="Cambria Math"/>
                    </a:rPr>
                    <m:t xml:space="preserve">𝒟</m:t>
                  </m:r>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i"/>
                        </m:rPr>
                        <a:rPr sz="2100">
                          <a:solidFill>
                            <a:srgbClr val="252529"/>
                          </a:solidFill>
                          <a:latin typeface="Cambria Math"/>
                        </a:rPr>
                        <m:t xml:space="preserve">Π</m:t>
                      </m:r>
                    </m:e>
                    <m:sub>
                      <m:r>
                        <m:rPr>
                          <m:sty m:val="p"/>
                        </m:rPr>
                        <a:rPr sz="2100">
                          <a:solidFill>
                            <a:srgbClr val="252529"/>
                          </a:solidFill>
                          <a:latin typeface="Cambria Math"/>
                        </a:rPr>
                        <m:t xml:space="preserve">4</m:t>
                      </m:r>
                    </m:sub>
                  </m:sSub>
                </m:oMath>
              </m:oMathPara>
            </a14:m>
            <a:endParaRPr sz="2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i"/>
                    </m:rPr>
                    <a:rPr sz="2400">
                      <a:solidFill>
                        <a:srgbClr val="252529"/>
                      </a:solidFill>
                      <a:latin typeface="Cambria Math"/>
                    </a:rPr>
                    <m:t xml:space="preserve">+</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400">
                          <a:solidFill>
                            <a:srgbClr val="252529"/>
                          </a:solidFill>
                          <a:latin typeface="Cambria Math"/>
                        </a:rPr>
                      </m:ctrlPr>
                    </m:dPr>
                    <m:e>
                      <m:r>
                        <m:rPr>
                          <m:sty m:val="p"/>
                        </m:rPr>
                        <a:rPr sz="2400">
                          <a:solidFill>
                            <a:srgbClr val="252529"/>
                          </a:solidFill>
                          <a:latin typeface="Cambria Math"/>
                        </a:rPr>
                        <m:t xml:space="preserve">𝒜</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p"/>
                        </m:rPr>
                        <a:rPr sz="2400">
                          <a:solidFill>
                            <a:srgbClr val="252529"/>
                          </a:solidFill>
                          <a:latin typeface="Cambria Math"/>
                        </a:rPr>
                        <m:t xml:space="preserve">ℬ</m:t>
                      </m:r>
                    </m:e>
                  </m:d>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Exponential stability of the PDE</a:t>
            </a:r>
            <a:endParaRPr sz="1700"/>
          </a:p>
        </p:txBody>
      </p:sp>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𝒫</m:t>
                  </m:r>
                  <m:r>
                    <m:rPr>
                      <m:sty m:val="i"/>
                    </m:rPr>
                    <a:rPr sz="2000">
                      <a:solidFill>
                        <a:srgbClr val="252529"/>
                      </a:solidFill>
                      <a:latin typeface="Cambria Math"/>
                    </a:rPr>
                    <m:t xml:space="preserve">≽</m:t>
                  </m:r>
                  <m:r>
                    <m:rPr>
                      <m:sty m:val="i"/>
                    </m:rPr>
                    <a:rPr sz="2000">
                      <a:solidFill>
                        <a:srgbClr val="252529"/>
                      </a:solidFill>
                      <a:latin typeface="Cambria Math"/>
                    </a:rPr>
                    <m:t xml:space="preserve">ε</m:t>
                  </m:r>
                  <m:r>
                    <m:rPr>
                      <m:sty m:val="p"/>
                    </m:rPr>
                    <a:rPr sz="2000">
                      <a:solidFill>
                        <a:srgbClr val="252529"/>
                      </a:solidFill>
                      <a:latin typeface="Cambria Math"/>
                    </a:rPr>
                    <m:t xml:space="preserve">ℐ</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ε</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oMath>
              </m:oMathPara>
            </a14:m>
            <a:endParaRPr sz="2000"/>
          </a:p>
        </p:txBody>
      </p:sp>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𝒜</m:t>
                  </m:r>
                  <m:r>
                    <m:rPr>
                      <m:sty m:val="i"/>
                    </m:rPr>
                    <a:rPr sz="1900">
                      <a:solidFill>
                        <a:srgbClr val="252529"/>
                      </a:solidFill>
                      <a:latin typeface="Cambria Math"/>
                    </a:rPr>
                    <m:t xml:space="preserve">+</m:t>
                  </m:r>
                  <m:sSup>
                    <m:sSupPr>
                      <m:ctrlPr>
                        <a:rPr sz="1900">
                          <a:solidFill>
                            <a:srgbClr val="252529"/>
                          </a:solidFill>
                          <a:latin typeface="Cambria Math"/>
                        </a:rPr>
                      </m:ctrlPr>
                    </m:sSupPr>
                    <m:e>
                      <m:r>
                        <m:rPr>
                          <m:sty m:val="p"/>
                        </m:rPr>
                        <a:rPr sz="1900">
                          <a:solidFill>
                            <a:srgbClr val="252529"/>
                          </a:solidFill>
                          <a:latin typeface="Cambria Math"/>
                        </a:rPr>
                        <m:t xml:space="preserve">𝒜</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𝒯</m:t>
                  </m:r>
                  <m:r>
                    <m:rPr>
                      <m:sty m:val="i"/>
                    </m:rPr>
                    <a:rPr sz="1900">
                      <a:solidFill>
                        <a:srgbClr val="252529"/>
                      </a:solidFill>
                      <a:latin typeface="Cambria Math"/>
                    </a:rPr>
                    <m:t xml:space="preserve">≼</m:t>
                  </m:r>
                  <m:r>
                    <m:rPr>
                      <m:sty m:val="i"/>
                    </m:rPr>
                    <a:rPr sz="1900">
                      <a:solidFill>
                        <a:srgbClr val="252529"/>
                      </a:solidFill>
                      <a:latin typeface="Cambria Math"/>
                    </a:rPr>
                    <m:t xml:space="preserve">−</m:t>
                  </m:r>
                  <m:r>
                    <m:rPr>
                      <m:sty m:val="i"/>
                    </m:rPr>
                    <a:rPr sz="1900">
                      <a:solidFill>
                        <a:srgbClr val="252529"/>
                      </a:solidFill>
                      <a:latin typeface="Cambria Math"/>
                    </a:rPr>
                    <m:t xml:space="preserve">α</m:t>
                  </m:r>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𝒯</m:t>
                  </m:r>
                </m:oMath>
              </m:oMathPara>
            </a14:m>
            <a:endParaRPr sz="1900"/>
          </a:p>
        </p:txBody>
      </p:sp>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K</m:t>
                  </m:r>
                  <m:r>
                    <m:rPr>
                      <m:sty m:val="i"/>
                    </m:rPr>
                    <a:rPr sz="2300">
                      <a:solidFill>
                        <a:srgbClr val="252529"/>
                      </a:solidFill>
                      <a:latin typeface="Cambria Math"/>
                    </a:rPr>
                    <m:t xml:space="preserve">y</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sp>
      <p:sp>
        <p:nvSpPr>
          <p:cNvPr id="1003" name="PIE solution pillar"/>
          <p:cNvSpPr/>
          <p:nvPr/>
        </p:nvSpPr>
        <p:spPr>
          <a:xfrm>
            <a:off x="5511800" y="1079500"/>
            <a:ext cx="3175000" cy="3606800"/>
          </a:xfrm>
          <a:prstGeom prst="rect">
            <a:avLst/>
          </a:prstGeom>
          <a:solidFill>
            <a:srgbClr val="C9141A"/>
          </a:solidFill>
          <a:ln>
            <a:noFill/>
          </a:ln>
        </p:spPr>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aseline="0" b="1" i="0" u="none">
                <a:solidFill>
                  <a:srgbClr val="FFFFFF"/>
                </a:solidFill>
                <a:latin typeface="Aptos"/>
                <a:ea typeface="Aptos"/>
                <a:cs typeface="Aptos"/>
              </a:rPr>
              <a:t xml:space="preserve">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aseline="0" b="1" i="0" u="none">
                <a:solidFill>
                  <a:srgbClr val="FFFFFF"/>
                </a:solidFill>
                <a:latin typeface="Aptos"/>
                <a:ea typeface="Aptos"/>
                <a:cs typeface="Aptos"/>
              </a:rPr>
              <a:t xml:space="preserve">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aseline="0" b="1" i="0" u="none">
                <a:solidFill>
                  <a:srgbClr val="FFFFFF"/>
                </a:solidFill>
                <a:latin typeface="Aptos"/>
                <a:ea typeface="Aptos"/>
                <a:cs typeface="Aptos"/>
              </a:rPr>
              <a:t xml:space="preserve">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aseline="0" b="0" i="0" u="none">
                <a:solidFill>
                  <a:srgbClr val="FFFFFF"/>
                </a:solidFill>
                <a:latin typeface="Aptos"/>
                <a:ea typeface="Aptos"/>
                <a:cs typeface="Aptos"/>
              </a:rPr>
              <a:t xml:space="preserve">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3"/>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5"/>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8"/>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5"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6"/>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llar2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aseline="0" b="0" i="0" u="none">
                <a:solidFill>
                  <a:srgbClr val="FFFFFF"/>
                </a:solidFill>
                <a:latin typeface="Aptos"/>
                <a:ea typeface="Aptos"/>
                <a:cs typeface="Aptos"/>
              </a:rPr>
              <a:t xml:space="preserve">STN–GPe · ASML · Canon</a:t>
            </a:r>
            <a:endParaRPr sz="1100"/>
          </a:p>
        </p:txBody>
      </p:sp>
      <p:pic>
        <p:nvPicPr>
          <p:cNvPr id="6039" name="Original TUe logo"/>
          <p:cNvPicPr>
            <a:picLocks noChangeAspect="1"/>
          </p:cNvPicPr>
          <p:nvPr/>
        </p:nvPicPr>
        <p:blipFill>
          <a:blip r:embed="rIdPillar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mc:AlternateContent xmlns:mc="http://schemas.openxmlformats.org/markup-compatibility/2006">
    <mc:Choice xmlns:p14="http://schemas.microsoft.com/office/powerpoint/2010/main" Requires="p14">
      <p:transition spd="slow" p14:dur="800">
        <p:fade thruBlk="1"/>
      </p:transition>
    </mc:Choice>
    <mc:Fallback>
      <p:transition spd="slow">
        <p:fade thruBlk="1"/>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