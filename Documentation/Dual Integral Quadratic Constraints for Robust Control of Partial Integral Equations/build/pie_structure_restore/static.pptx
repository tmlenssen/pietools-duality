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37.xml" ContentType="application/vnd.openxmlformats-officedocument.presentationml.notesSlide+xml"/>
  <Override PartName="/ppt/notesSlides/notesSlide38.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59" r:id="rId27"/>
    <p:sldId id="426" r:id="rId28"/>
    <p:sldId id="453" r:id="rId29"/>
    <p:sldId id="441" r:id="rId30"/>
    <p:sldId id="442" r:id="rId31"/>
    <p:sldId id="443" r:id="rId32"/>
    <p:sldId id="435" r:id="rId33"/>
    <p:sldId id="436" r:id="rId34"/>
    <p:sldId id="437" r:id="rId35"/>
    <p:sldId id="438" r:id="rId36"/>
    <p:sldId id="446" r:id="rId37"/>
    <p:sldId id="447" r:id="rId38"/>
    <p:sldId id="450" r:id="rId39"/>
    <p:sldId id="451" r:id="rId40"/>
    <p:sldId id="452" r:id="rId41"/>
    <p:sldId id="448" r:id="rId42"/>
    <p:sldId id="449" r:id="rId43"/>
    <p:sldId id="439" r:id="rId44"/>
    <p:sldId id="458" r:id="rId45"/>
    <p:sldId id="421" r:id="rId46"/>
    <p:sldId id="427" r:id="rId47"/>
    <p:sldId id="431" r:id="rId48"/>
    <p:sldId id="428" r:id="rId49"/>
    <p:sldId id="429" r:id="rId50"/>
    <p:sldId id="432" r:id="rId51"/>
    <p:sldId id="430" r:id="rId52"/>
    <p:sldId id="433" r:id="rId53"/>
    <p:sldId id="434" r:id="rId5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Show only the starting nominal homogeneous ODE-PDE and the final PIE, with no derivation or substitution on screen. Set w=0 and u=0 in the nominal STN-GPe block: tau_S xdot_S=-x_S, tau_G xdot_G=-x_G; partial_t phi_ij=-tau_ij^{-1}partial_s phi_ij and phi_ij(t,0)=x_i(t). Channels are GS,SG,GG. The final compact form is T xdot_f=A x_f. Boundary conditions are built into T. For technical reference only: x_f=(x,partial_s phi), T reconstructs the compatible PDE state. Initial histories must match.</a:t>
            </a:r>
            <a:endParaRPr sz="1200"/>
          </a:p>
        </p:txBody>
      </p:sp>
    </p:spTree>
  </p:cSld>
  <p:clrMapOvr>
    <a:masterClrMapping/>
  </p:clrMapOvr>
</p:notes>
</file>

<file path=ppt/notesSlides/notesSlide16.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7.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Highlight the original controller-synthesis property. Synthesis is carried out in PIE coordinates; the corresponding controller is implemented in the original system. The displayed K is a generic controller block, not a claim that arbitrary output-feedback synthesis is convex.</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27</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35</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4039284536"/>
      </p:ext>
    </p:extLst>
  </p:cSld>
  <p:clrMapOvr>
    <a:masterClrMapping/>
  </p:clrMapOvr>
</p:notes>
</file>

<file path=ppt/notesSlides/notesSlide37.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First pillar: exact PIE modeling plus PI-operator optimization provides tractability for the nominal distributed dynamics. The two diagrams and three application images keep exactly the same positions as slide 25. Morph preserves this visual bridge while the first-pillar conclusion appears and Delta becomes the next focus. Next we need a way to account for the nonlinearity/uncertainty and robust stability/performance; later duality enables the synthesis argument. This is not a claim that replacing PDE by PIE already solves the full uncertain nonlinear control problem.</a:t>
            </a:r>
            <a:endParaRPr sz="1200"/>
          </a:p>
        </p:txBody>
      </p:sp>
    </p:spTree>
  </p:cSld>
  <p:clrMapOvr>
    <a:masterClrMapping/>
  </p:clrMapOvr>
</p:notes>
</file>

<file path=ppt/notesSlides/notesSlide3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71.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Extract3" Type="http://schemas.openxmlformats.org/officeDocument/2006/relationships/image" Target="../media/revised_lfr19_image96.png"/><Relationship Id="rIdExtract4" Type="http://schemas.openxmlformats.org/officeDocument/2006/relationships/image" Target="../media/revised_lfr19_image97.png"/><Relationship Id="rIdExtract5" Type="http://schemas.openxmlformats.org/officeDocument/2006/relationships/image" Target="../media/revised_lfr19_image74.png"/><Relationship Id="rIdExtract6" Type="http://schemas.openxmlformats.org/officeDocument/2006/relationships/image" Target="../media/revised_lfr19_image100.png"/><Relationship Id="rIdExtract7" Type="http://schemas.openxmlformats.org/officeDocument/2006/relationships/image" Target="../media/revised_lfr19_image101.png"/><Relationship Id="rIdExtract8" Type="http://schemas.openxmlformats.org/officeDocument/2006/relationships/image" Target="../media/revised_lfr19_image102.png"/><Relationship Id="rIdExtract9" Type="http://schemas.openxmlformats.org/officeDocument/2006/relationships/image" Target="../media/image70.png"/></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RevisedLFR129" Type="http://schemas.openxmlformats.org/officeDocument/2006/relationships/image" Target="../media/revised_lfr19_image96.png"/><Relationship Id="rId3" Type="http://schemas.openxmlformats.org/officeDocument/2006/relationships/image" Target="../media/image73.png"/><Relationship Id="rIdRevisedLFR108" Type="http://schemas.openxmlformats.org/officeDocument/2006/relationships/image" Target="../media/revised_lfr19_lfr19_image55.png"/><Relationship Id="rId7" Type="http://schemas.openxmlformats.org/officeDocument/2006/relationships/image" Target="../media/image77.png"/><Relationship Id="rId12" Type="http://schemas.openxmlformats.org/officeDocument/2006/relationships/image" Target="../media/image82.png"/><Relationship Id="rId2" Type="http://schemas.openxmlformats.org/officeDocument/2006/relationships/image" Target="../media/image72.png"/><Relationship Id="rIdRevisedLFR128" Type="http://schemas.openxmlformats.org/officeDocument/2006/relationships/image" Target="../media/revised_lfr19_image102.png"/><Relationship Id="rId16" Type="http://schemas.openxmlformats.org/officeDocument/2006/relationships/image" Target="../media/image7.jpg"/><Relationship Id="rId1" Type="http://schemas.openxmlformats.org/officeDocument/2006/relationships/slideLayout" Target="../slideLayouts/slideLayout6.xml"/><Relationship Id="rId6" Type="http://schemas.openxmlformats.org/officeDocument/2006/relationships/image" Target="../media/image76.png"/><Relationship Id="rId11" Type="http://schemas.openxmlformats.org/officeDocument/2006/relationships/image" Target="../media/image81.png"/><Relationship Id="rIdRevisedLFR101" Type="http://schemas.openxmlformats.org/officeDocument/2006/relationships/image" Target="../media/revised_lfr19_lfr19_image35.png"/><Relationship Id="rId5" Type="http://schemas.openxmlformats.org/officeDocument/2006/relationships/image" Target="../media/image75.png"/><Relationship Id="rId15" Type="http://schemas.openxmlformats.org/officeDocument/2006/relationships/image" Target="../media/image85.jpeg"/><Relationship Id="rId10" Type="http://schemas.openxmlformats.org/officeDocument/2006/relationships/image" Target="../media/image8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4" Type="http://schemas.openxmlformats.org/officeDocument/2006/relationships/image" Target="../media/image74.png"/><Relationship Id="rId9" Type="http://schemas.openxmlformats.org/officeDocument/2006/relationships/image" Target="../media/image79.png"/><Relationship Id="rId14" Type="http://schemas.openxmlformats.org/officeDocument/2006/relationships/image" Target="../media/image84.png"/><Relationship Id="rIdPillar22" Type="http://schemas.openxmlformats.org/officeDocument/2006/relationships/image" Target="../media/image54.png"/><Relationship Id="rIdPillar23" Type="http://schemas.openxmlformats.org/officeDocument/2006/relationships/image" Target="../media/image1.png"/><Relationship Id="rIdHeatNotes" Type="http://schemas.openxmlformats.org/officeDocument/2006/relationships/notesSlide" Target="../notesSlides/notesSlide3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86.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87.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88.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89.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2.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91.png"/></Relationships>
</file>

<file path=ppt/slides/_rels/slide33.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92.png"/></Relationships>
</file>

<file path=ppt/slides/_rels/slide34.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93.png"/></Relationships>
</file>

<file path=ppt/slides/_rels/slide3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36.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7.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8.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9.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95.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0.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96.png"/><Relationship Id="rIdClosing4" Type="http://schemas.openxmlformats.org/officeDocument/2006/relationships/image" Target="../media/image33.png"/><Relationship Id="rId4" Type="http://schemas.openxmlformats.org/officeDocument/2006/relationships/image" Target="../media/image7.jpg"/></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98.png"/></Relationships>
</file>

<file path=ppt/slides/_rels/slide5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97.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99.png"/></Relationships>
</file>

<file path=ppt/slides/_rels/slide5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0.png"/></Relationships>
</file>

<file path=ppt/slides/_rels/slide5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1001" name="Homogeneous scope"/>
          <p:cNvSpPr/>
          <p:nvPr/>
        </p:nvSpPr>
        <p:spPr>
          <a:xfrm>
            <a:off x="3619500" y="2143125"/>
            <a:ext cx="5080000" cy="209550"/>
          </a:xfrm>
          <a:prstGeom prst="rect">
            <a:avLst/>
          </a:prstGeom>
          <a:noFill/>
          <a:ln>
            <a:noFill/>
          </a:ln>
        </p:spPr>
        <p:txBody>
          <a:bodyPr wrap="none" lIns="0" tIns="0" rIns="0" bIns="0" anchor="ctr">
            <a:noAutofit/>
          </a:bodyPr>
          <a:lstStyle/>
          <a:p>
            <a:pPr algn="ctr">
              <a:buNone/>
            </a:pPr>
            <a:r>
              <a:rPr lang="en-GB" sz="1100" baseline="0" b="0" i="0" u="none">
                <a:solidFill>
                  <a:srgbClr val="747B82"/>
                </a:solidFill>
                <a:latin typeface="Aptos"/>
                <a:ea typeface="Aptos"/>
                <a:cs typeface="Aptos"/>
              </a:rPr>
              <a:t xml:space="preserve">Nominal STN–GPe · w = 0, u = 0</a:t>
            </a:r>
            <a:endParaRPr sz="1100"/>
          </a:p>
        </p:txBody>
      </p:sp>
      <p:sp>
        <p:nvSpPr>
          <p:cNvPr id="1002" name="Nominal ODE S"/>
          <p:cNvSpPr/>
          <p:nvPr/>
        </p:nvSpPr>
        <p:spPr>
          <a:xfrm>
            <a:off x="3194050" y="2506980"/>
            <a:ext cx="27305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τ</m:t>
                      </m:r>
                    </m:e>
                    <m:sub>
                      <m:r>
                        <m:rPr>
                          <m:sty m:val="p"/>
                        </m:rPr>
                        <a:rPr sz="1600">
                          <a:solidFill>
                            <a:srgbClr val="252529"/>
                          </a:solidFill>
                          <a:latin typeface="Cambria Math"/>
                        </a:rPr>
                        <m:t xml:space="preserve">S</m:t>
                      </m:r>
                    </m:sub>
                  </m:sSub>
                  <m:acc>
                    <m:accPr>
                      <m:chr m:val="̇"/>
                      <m:ctrlPr>
                        <a:rPr sz="1600">
                          <a:solidFill>
                            <a:srgbClr val="252529"/>
                          </a:solidFill>
                          <a:latin typeface="Cambria Math"/>
                        </a:rPr>
                      </m:ctrlPr>
                    </m:accPr>
                    <m:e>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p"/>
                            </m:rPr>
                            <a:rPr sz="1600">
                              <a:solidFill>
                                <a:srgbClr val="252529"/>
                              </a:solidFill>
                              <a:latin typeface="Cambria Math"/>
                            </a:rPr>
                            <m:t xml:space="preserve">S</m:t>
                          </m:r>
                        </m:sub>
                      </m:sSub>
                    </m:e>
                  </m:acc>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r>
                    <m:rPr>
                      <m:sty m:val="i"/>
                    </m:rPr>
                    <a:rPr sz="1600">
                      <a:solidFill>
                        <a:srgbClr val="252529"/>
                      </a:solidFill>
                      <a:latin typeface="Cambria Math"/>
                    </a:rPr>
                    <m:t xml:space="preserve">=</m:t>
                  </m:r>
                  <m:r>
                    <m:rPr>
                      <m:sty m:val="i"/>
                    </m:rPr>
                    <a:rPr sz="1600">
                      <a:solidFill>
                        <a:srgbClr val="252529"/>
                      </a:solidFill>
                      <a:latin typeface="Cambria Math"/>
                    </a:rPr>
                    <m:t xml:space="preserve">−</m:t>
                  </m:r>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p"/>
                        </m:rPr>
                        <a:rPr sz="1600">
                          <a:solidFill>
                            <a:srgbClr val="252529"/>
                          </a:solidFill>
                          <a:latin typeface="Cambria Math"/>
                        </a:rPr>
                        <m:t xml:space="preserve">S</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oMath>
              </m:oMathPara>
            </a14:m>
            <a:endParaRPr sz="1600"/>
          </a:p>
        </p:txBody>
      </p:sp>
      <p:sp>
        <p:nvSpPr>
          <p:cNvPr id="1003" name="Nominal ODE G"/>
          <p:cNvSpPr/>
          <p:nvPr/>
        </p:nvSpPr>
        <p:spPr>
          <a:xfrm>
            <a:off x="3194050" y="2875280"/>
            <a:ext cx="27305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τ</m:t>
                      </m:r>
                    </m:e>
                    <m:sub>
                      <m:r>
                        <m:rPr>
                          <m:sty m:val="p"/>
                        </m:rPr>
                        <a:rPr sz="1600">
                          <a:solidFill>
                            <a:srgbClr val="252529"/>
                          </a:solidFill>
                          <a:latin typeface="Cambria Math"/>
                        </a:rPr>
                        <m:t xml:space="preserve">G</m:t>
                      </m:r>
                    </m:sub>
                  </m:sSub>
                  <m:acc>
                    <m:accPr>
                      <m:chr m:val="̇"/>
                      <m:ctrlPr>
                        <a:rPr sz="1600">
                          <a:solidFill>
                            <a:srgbClr val="252529"/>
                          </a:solidFill>
                          <a:latin typeface="Cambria Math"/>
                        </a:rPr>
                      </m:ctrlPr>
                    </m:accPr>
                    <m:e>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p"/>
                            </m:rPr>
                            <a:rPr sz="1600">
                              <a:solidFill>
                                <a:srgbClr val="252529"/>
                              </a:solidFill>
                              <a:latin typeface="Cambria Math"/>
                            </a:rPr>
                            <m:t xml:space="preserve">G</m:t>
                          </m:r>
                        </m:sub>
                      </m:sSub>
                    </m:e>
                  </m:acc>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r>
                    <m:rPr>
                      <m:sty m:val="i"/>
                    </m:rPr>
                    <a:rPr sz="1600">
                      <a:solidFill>
                        <a:srgbClr val="252529"/>
                      </a:solidFill>
                      <a:latin typeface="Cambria Math"/>
                    </a:rPr>
                    <m:t xml:space="preserve">=</m:t>
                  </m:r>
                  <m:r>
                    <m:rPr>
                      <m:sty m:val="i"/>
                    </m:rPr>
                    <a:rPr sz="1600">
                      <a:solidFill>
                        <a:srgbClr val="252529"/>
                      </a:solidFill>
                      <a:latin typeface="Cambria Math"/>
                    </a:rPr>
                    <m:t xml:space="preserve">−</m:t>
                  </m:r>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p"/>
                        </m:rPr>
                        <a:rPr sz="1600">
                          <a:solidFill>
                            <a:srgbClr val="252529"/>
                          </a:solidFill>
                          <a:latin typeface="Cambria Math"/>
                        </a:rPr>
                        <m:t xml:space="preserve">G</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oMath>
              </m:oMathPara>
            </a14:m>
            <a:endParaRPr sz="1600"/>
          </a:p>
        </p:txBody>
      </p:sp>
      <p:sp>
        <p:nvSpPr>
          <p:cNvPr id="1004" name="Nominal transport PDE"/>
          <p:cNvSpPr/>
          <p:nvPr/>
        </p:nvSpPr>
        <p:spPr>
          <a:xfrm>
            <a:off x="3130550" y="3374390"/>
            <a:ext cx="2857500" cy="3632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300">
                          <a:solidFill>
                            <a:srgbClr val="252529"/>
                          </a:solidFill>
                          <a:latin typeface="Cambria Math"/>
                        </a:rPr>
                      </m:ctrlPr>
                    </m:sSubPr>
                    <m:e>
                      <m:r>
                        <m:rPr>
                          <m:sty m:val="i"/>
                        </m:rPr>
                        <a:rPr sz="1300">
                          <a:solidFill>
                            <a:srgbClr val="252529"/>
                          </a:solidFill>
                          <a:latin typeface="Cambria Math"/>
                        </a:rPr>
                        <m:t xml:space="preserve">∂</m:t>
                      </m:r>
                    </m:e>
                    <m:sub>
                      <m:r>
                        <m:rPr>
                          <m:sty m:val="i"/>
                        </m:rPr>
                        <a:rPr sz="1300">
                          <a:solidFill>
                            <a:srgbClr val="252529"/>
                          </a:solidFill>
                          <a:latin typeface="Cambria Math"/>
                        </a:rPr>
                        <m:t xml:space="preserve">t</m:t>
                      </m:r>
                    </m:sub>
                  </m:sSub>
                  <m:sSub>
                    <m:sSubPr>
                      <m:ctrlPr>
                        <a:rPr sz="1300">
                          <a:solidFill>
                            <a:srgbClr val="252529"/>
                          </a:solidFill>
                          <a:latin typeface="Cambria Math"/>
                        </a:rPr>
                      </m:ctrlPr>
                    </m:sSubPr>
                    <m:e>
                      <m:r>
                        <m:rPr>
                          <m:sty m:val="i"/>
                        </m:rPr>
                        <a:rPr sz="1300">
                          <a:solidFill>
                            <a:srgbClr val="252529"/>
                          </a:solidFill>
                          <a:latin typeface="Cambria Math"/>
                        </a:rPr>
                        <m:t xml:space="preserve">φ</m:t>
                      </m:r>
                    </m:e>
                    <m:sub>
                      <m:r>
                        <m:rPr>
                          <m:sty m:val="i"/>
                        </m:rPr>
                        <a:rPr sz="1300">
                          <a:solidFill>
                            <a:srgbClr val="252529"/>
                          </a:solidFill>
                          <a:latin typeface="Cambria Math"/>
                        </a:rPr>
                        <m:t xml:space="preserve">i</m:t>
                      </m:r>
                      <m:r>
                        <m:rPr>
                          <m:sty m:val="i"/>
                        </m:rPr>
                        <a:rPr sz="1300">
                          <a:solidFill>
                            <a:srgbClr val="252529"/>
                          </a:solidFill>
                          <a:latin typeface="Cambria Math"/>
                        </a:rPr>
                        <m:t xml:space="preserve">j</m:t>
                      </m:r>
                    </m:sub>
                  </m:sSub>
                  <m:d>
                    <m:dPr>
                      <m:begChr m:val="("/>
                      <m:endChr m:val=")"/>
                      <m:ctrlPr>
                        <a:rPr sz="1300">
                          <a:solidFill>
                            <a:srgbClr val="252529"/>
                          </a:solidFill>
                          <a:latin typeface="Cambria Math"/>
                        </a:rPr>
                      </m:ctrlPr>
                    </m:dPr>
                    <m:e>
                      <m:r>
                        <m:rPr>
                          <m:sty m:val="i"/>
                        </m:rPr>
                        <a:rPr sz="1300">
                          <a:solidFill>
                            <a:srgbClr val="252529"/>
                          </a:solidFill>
                          <a:latin typeface="Cambria Math"/>
                        </a:rPr>
                        <m:t xml:space="preserve">t</m:t>
                      </m:r>
                      <m:r>
                        <m:rPr>
                          <m:sty m:val="i"/>
                        </m:rPr>
                        <a:rPr sz="1300">
                          <a:solidFill>
                            <a:srgbClr val="252529"/>
                          </a:solidFill>
                          <a:latin typeface="Cambria Math"/>
                        </a:rPr>
                        <m:t xml:space="preserve">,</m:t>
                      </m:r>
                      <m:r>
                        <m:rPr>
                          <m:sty m:val="i"/>
                        </m:rPr>
                        <a:rPr sz="1300">
                          <a:solidFill>
                            <a:srgbClr val="252529"/>
                          </a:solidFill>
                          <a:latin typeface="Cambria Math"/>
                        </a:rPr>
                        <m:t xml:space="preserve">s</m:t>
                      </m:r>
                    </m:e>
                  </m:d>
                  <m:r>
                    <m:rPr>
                      <m:sty m:val="i"/>
                    </m:rPr>
                    <a:rPr sz="1300">
                      <a:solidFill>
                        <a:srgbClr val="252529"/>
                      </a:solidFill>
                      <a:latin typeface="Cambria Math"/>
                    </a:rPr>
                    <m:t xml:space="preserve">=</m:t>
                  </m:r>
                  <m:r>
                    <m:rPr>
                      <m:sty m:val="i"/>
                    </m:rPr>
                    <a:rPr sz="1300">
                      <a:solidFill>
                        <a:srgbClr val="252529"/>
                      </a:solidFill>
                      <a:latin typeface="Cambria Math"/>
                    </a:rPr>
                    <m:t xml:space="preserve">−</m:t>
                  </m:r>
                  <m:f>
                    <m:fPr>
                      <m:ctrlPr>
                        <a:rPr sz="1300">
                          <a:solidFill>
                            <a:srgbClr val="252529"/>
                          </a:solidFill>
                          <a:latin typeface="Cambria Math"/>
                        </a:rPr>
                      </m:ctrlPr>
                    </m:fPr>
                    <m:num>
                      <m:r>
                        <m:rPr>
                          <m:sty m:val="i"/>
                        </m:rPr>
                        <a:rPr sz="1300">
                          <a:solidFill>
                            <a:srgbClr val="252529"/>
                          </a:solidFill>
                          <a:latin typeface="Cambria Math"/>
                        </a:rPr>
                        <m:t xml:space="preserve">1</m:t>
                      </m:r>
                    </m:num>
                    <m:den>
                      <m:sSub>
                        <m:sSubPr>
                          <m:ctrlPr>
                            <a:rPr sz="1300">
                              <a:solidFill>
                                <a:srgbClr val="252529"/>
                              </a:solidFill>
                              <a:latin typeface="Cambria Math"/>
                            </a:rPr>
                          </m:ctrlPr>
                        </m:sSubPr>
                        <m:e>
                          <m:r>
                            <m:rPr>
                              <m:sty m:val="i"/>
                            </m:rPr>
                            <a:rPr sz="1300">
                              <a:solidFill>
                                <a:srgbClr val="252529"/>
                              </a:solidFill>
                              <a:latin typeface="Cambria Math"/>
                            </a:rPr>
                            <m:t xml:space="preserve">τ</m:t>
                          </m:r>
                        </m:e>
                        <m:sub>
                          <m:r>
                            <m:rPr>
                              <m:sty m:val="i"/>
                            </m:rPr>
                            <a:rPr sz="1300">
                              <a:solidFill>
                                <a:srgbClr val="252529"/>
                              </a:solidFill>
                              <a:latin typeface="Cambria Math"/>
                            </a:rPr>
                            <m:t xml:space="preserve">i</m:t>
                          </m:r>
                          <m:r>
                            <m:rPr>
                              <m:sty m:val="i"/>
                            </m:rPr>
                            <a:rPr sz="1300">
                              <a:solidFill>
                                <a:srgbClr val="252529"/>
                              </a:solidFill>
                              <a:latin typeface="Cambria Math"/>
                            </a:rPr>
                            <m:t xml:space="preserve">j</m:t>
                          </m:r>
                        </m:sub>
                      </m:sSub>
                    </m:den>
                  </m:f>
                  <m:sSub>
                    <m:sSubPr>
                      <m:ctrlPr>
                        <a:rPr sz="1300">
                          <a:solidFill>
                            <a:srgbClr val="252529"/>
                          </a:solidFill>
                          <a:latin typeface="Cambria Math"/>
                        </a:rPr>
                      </m:ctrlPr>
                    </m:sSubPr>
                    <m:e>
                      <m:r>
                        <m:rPr>
                          <m:sty m:val="i"/>
                        </m:rPr>
                        <a:rPr sz="1300">
                          <a:solidFill>
                            <a:srgbClr val="252529"/>
                          </a:solidFill>
                          <a:latin typeface="Cambria Math"/>
                        </a:rPr>
                        <m:t xml:space="preserve">∂</m:t>
                      </m:r>
                    </m:e>
                    <m:sub>
                      <m:r>
                        <m:rPr>
                          <m:sty m:val="i"/>
                        </m:rPr>
                        <a:rPr sz="1300">
                          <a:solidFill>
                            <a:srgbClr val="252529"/>
                          </a:solidFill>
                          <a:latin typeface="Cambria Math"/>
                        </a:rPr>
                        <m:t xml:space="preserve">s</m:t>
                      </m:r>
                    </m:sub>
                  </m:sSub>
                  <m:sSub>
                    <m:sSubPr>
                      <m:ctrlPr>
                        <a:rPr sz="1300">
                          <a:solidFill>
                            <a:srgbClr val="252529"/>
                          </a:solidFill>
                          <a:latin typeface="Cambria Math"/>
                        </a:rPr>
                      </m:ctrlPr>
                    </m:sSubPr>
                    <m:e>
                      <m:r>
                        <m:rPr>
                          <m:sty m:val="i"/>
                        </m:rPr>
                        <a:rPr sz="1300">
                          <a:solidFill>
                            <a:srgbClr val="252529"/>
                          </a:solidFill>
                          <a:latin typeface="Cambria Math"/>
                        </a:rPr>
                        <m:t xml:space="preserve">φ</m:t>
                      </m:r>
                    </m:e>
                    <m:sub>
                      <m:r>
                        <m:rPr>
                          <m:sty m:val="i"/>
                        </m:rPr>
                        <a:rPr sz="1300">
                          <a:solidFill>
                            <a:srgbClr val="252529"/>
                          </a:solidFill>
                          <a:latin typeface="Cambria Math"/>
                        </a:rPr>
                        <m:t xml:space="preserve">i</m:t>
                      </m:r>
                      <m:r>
                        <m:rPr>
                          <m:sty m:val="i"/>
                        </m:rPr>
                        <a:rPr sz="1300">
                          <a:solidFill>
                            <a:srgbClr val="252529"/>
                          </a:solidFill>
                          <a:latin typeface="Cambria Math"/>
                        </a:rPr>
                        <m:t xml:space="preserve">j</m:t>
                      </m:r>
                    </m:sub>
                  </m:sSub>
                  <m:d>
                    <m:dPr>
                      <m:begChr m:val="("/>
                      <m:endChr m:val=")"/>
                      <m:ctrlPr>
                        <a:rPr sz="1300">
                          <a:solidFill>
                            <a:srgbClr val="252529"/>
                          </a:solidFill>
                          <a:latin typeface="Cambria Math"/>
                        </a:rPr>
                      </m:ctrlPr>
                    </m:dPr>
                    <m:e>
                      <m:r>
                        <m:rPr>
                          <m:sty m:val="i"/>
                        </m:rPr>
                        <a:rPr sz="1300">
                          <a:solidFill>
                            <a:srgbClr val="252529"/>
                          </a:solidFill>
                          <a:latin typeface="Cambria Math"/>
                        </a:rPr>
                        <m:t xml:space="preserve">t</m:t>
                      </m:r>
                      <m:r>
                        <m:rPr>
                          <m:sty m:val="i"/>
                        </m:rPr>
                        <a:rPr sz="1300">
                          <a:solidFill>
                            <a:srgbClr val="252529"/>
                          </a:solidFill>
                          <a:latin typeface="Cambria Math"/>
                        </a:rPr>
                        <m:t xml:space="preserve">,</m:t>
                      </m:r>
                      <m:r>
                        <m:rPr>
                          <m:sty m:val="i"/>
                        </m:rPr>
                        <a:rPr sz="1300">
                          <a:solidFill>
                            <a:srgbClr val="252529"/>
                          </a:solidFill>
                          <a:latin typeface="Cambria Math"/>
                        </a:rPr>
                        <m:t xml:space="preserve">s</m:t>
                      </m:r>
                    </m:e>
                  </m:d>
                </m:oMath>
              </m:oMathPara>
            </a14:m>
            <a:endParaRPr sz="1300"/>
          </a:p>
        </p:txBody>
      </p:sp>
      <p:sp>
        <p:nvSpPr>
          <p:cNvPr id="1005" name="Boundary condition"/>
          <p:cNvSpPr/>
          <p:nvPr/>
        </p:nvSpPr>
        <p:spPr>
          <a:xfrm>
            <a:off x="3194050" y="3789680"/>
            <a:ext cx="27305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φ</m:t>
                      </m:r>
                    </m:e>
                    <m:sub>
                      <m:r>
                        <m:rPr>
                          <m:sty m:val="i"/>
                        </m:rPr>
                        <a:rPr sz="1600">
                          <a:solidFill>
                            <a:srgbClr val="252529"/>
                          </a:solidFill>
                          <a:latin typeface="Cambria Math"/>
                        </a:rPr>
                        <m:t xml:space="preserve">i</m:t>
                      </m:r>
                      <m:r>
                        <m:rPr>
                          <m:sty m:val="i"/>
                        </m:rPr>
                        <a:rPr sz="1600">
                          <a:solidFill>
                            <a:srgbClr val="252529"/>
                          </a:solidFill>
                          <a:latin typeface="Cambria Math"/>
                        </a:rPr>
                        <m:t xml:space="preserve">j</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r>
                        <m:rPr>
                          <m:sty m:val="i"/>
                        </m:rPr>
                        <a:rPr sz="1600">
                          <a:solidFill>
                            <a:srgbClr val="252529"/>
                          </a:solidFill>
                          <a:latin typeface="Cambria Math"/>
                        </a:rPr>
                        <m:t xml:space="preserve">,</m:t>
                      </m:r>
                      <m:r>
                        <m:rPr>
                          <m:sty m:val="i"/>
                        </m:rPr>
                        <a:rPr sz="1600">
                          <a:solidFill>
                            <a:srgbClr val="252529"/>
                          </a:solidFill>
                          <a:latin typeface="Cambria Math"/>
                        </a:rPr>
                        <m:t xml:space="preserve">0</m:t>
                      </m:r>
                    </m:e>
                  </m:d>
                  <m:r>
                    <m:rPr>
                      <m:sty m:val="i"/>
                    </m:rPr>
                    <a:rPr sz="1600">
                      <a:solidFill>
                        <a:srgbClr val="252529"/>
                      </a:solidFill>
                      <a:latin typeface="Cambria Math"/>
                    </a:rPr>
                    <m:t xml:space="preserve">=</m:t>
                  </m:r>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i"/>
                        </m:rPr>
                        <a:rPr sz="1600">
                          <a:solidFill>
                            <a:srgbClr val="252529"/>
                          </a:solidFill>
                          <a:latin typeface="Cambria Math"/>
                        </a:rPr>
                        <m:t xml:space="preserve">i</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oMath>
              </m:oMathPara>
            </a14:m>
            <a:endParaRPr sz="1600"/>
          </a:p>
        </p:txBody>
      </p:sp>
      <p:sp>
        <p:nvSpPr>
          <p:cNvPr id="1006" name="Final homogeneous PIE"/>
          <p:cNvSpPr/>
          <p:nvPr/>
        </p:nvSpPr>
        <p:spPr>
          <a:xfrm>
            <a:off x="6604000" y="2984500"/>
            <a:ext cx="2387600" cy="5588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252529"/>
                      </a:solidFill>
                      <a:latin typeface="Cambria Math"/>
                    </a:rPr>
                    <m:t xml:space="preserve">𝒯</m:t>
                  </m:r>
                  <m:acc>
                    <m:accPr>
                      <m:chr m:val="̇"/>
                      <m:ctrlPr>
                        <a:rPr sz="2000">
                          <a:solidFill>
                            <a:srgbClr val="252529"/>
                          </a:solidFill>
                          <a:latin typeface="Cambria Math"/>
                        </a:rPr>
                      </m:ctrlPr>
                    </m:accPr>
                    <m:e>
                      <m:sSub>
                        <m:sSubPr>
                          <m:ctrlPr>
                            <a:rPr sz="2000">
                              <a:solidFill>
                                <a:srgbClr val="252529"/>
                              </a:solidFill>
                              <a:latin typeface="Cambria Math"/>
                            </a:rPr>
                          </m:ctrlPr>
                        </m:sSubPr>
                        <m:e>
                          <m:r>
                            <m:rPr>
                              <m:sty m:val="bi"/>
                            </m:rPr>
                            <a:rPr sz="2000">
                              <a:solidFill>
                                <a:srgbClr val="252529"/>
                              </a:solidFill>
                              <a:latin typeface="Cambria Math"/>
                            </a:rPr>
                            <m:t xml:space="preserve">x</m:t>
                          </m:r>
                        </m:e>
                        <m:sub>
                          <m:r>
                            <m:rPr>
                              <m:sty m:val="p"/>
                            </m:rPr>
                            <a:rPr sz="2000">
                              <a:solidFill>
                                <a:srgbClr val="252529"/>
                              </a:solidFill>
                              <a:latin typeface="Cambria Math"/>
                            </a:rPr>
                            <m:t xml:space="preserve">f</m:t>
                          </m:r>
                        </m:sub>
                      </m:sSub>
                    </m:e>
                  </m:acc>
                  <m:d>
                    <m:dPr>
                      <m:begChr m:val="("/>
                      <m:endChr m:val=")"/>
                      <m:ctrlPr>
                        <a:rPr sz="2000">
                          <a:solidFill>
                            <a:srgbClr val="252529"/>
                          </a:solidFill>
                          <a:latin typeface="Cambria Math"/>
                        </a:rPr>
                      </m:ctrlPr>
                    </m:dPr>
                    <m:e>
                      <m:r>
                        <m:rPr>
                          <m:sty m:val="i"/>
                        </m:rPr>
                        <a:rPr sz="2000">
                          <a:solidFill>
                            <a:srgbClr val="252529"/>
                          </a:solidFill>
                          <a:latin typeface="Cambria Math"/>
                        </a:rPr>
                        <m:t xml:space="preserve">t</m:t>
                      </m:r>
                    </m:e>
                  </m:d>
                  <m:r>
                    <m:rPr>
                      <m:sty m:val="i"/>
                    </m:rPr>
                    <a:rPr sz="2000">
                      <a:solidFill>
                        <a:srgbClr val="252529"/>
                      </a:solidFill>
                      <a:latin typeface="Cambria Math"/>
                    </a:rPr>
                    <m:t xml:space="preserve">=</m:t>
                  </m:r>
                  <m:r>
                    <m:rPr>
                      <m:sty m:val="p"/>
                    </m:rPr>
                    <a:rPr sz="2000">
                      <a:solidFill>
                        <a:srgbClr val="252529"/>
                      </a:solidFill>
                      <a:latin typeface="Cambria Math"/>
                    </a:rPr>
                    <m:t xml:space="preserve">𝒜</m:t>
                  </m:r>
                  <m:sSub>
                    <m:sSubPr>
                      <m:ctrlPr>
                        <a:rPr sz="2000">
                          <a:solidFill>
                            <a:srgbClr val="252529"/>
                          </a:solidFill>
                          <a:latin typeface="Cambria Math"/>
                        </a:rPr>
                      </m:ctrlPr>
                    </m:sSubPr>
                    <m:e>
                      <m:r>
                        <m:rPr>
                          <m:sty m:val="bi"/>
                        </m:rPr>
                        <a:rPr sz="2000">
                          <a:solidFill>
                            <a:srgbClr val="252529"/>
                          </a:solidFill>
                          <a:latin typeface="Cambria Math"/>
                        </a:rPr>
                        <m:t xml:space="preserve">x</m:t>
                      </m:r>
                    </m:e>
                    <m:sub>
                      <m:r>
                        <m:rPr>
                          <m:sty m:val="p"/>
                        </m:rPr>
                        <a:rPr sz="2000">
                          <a:solidFill>
                            <a:srgbClr val="252529"/>
                          </a:solidFill>
                          <a:latin typeface="Cambria Math"/>
                        </a:rPr>
                        <m:t xml:space="preserve">f</m:t>
                      </m:r>
                    </m:sub>
                  </m:sSub>
                  <m:d>
                    <m:dPr>
                      <m:begChr m:val="("/>
                      <m:endChr m:val=")"/>
                      <m:ctrlPr>
                        <a:rPr sz="2000">
                          <a:solidFill>
                            <a:srgbClr val="252529"/>
                          </a:solidFill>
                          <a:latin typeface="Cambria Math"/>
                        </a:rPr>
                      </m:ctrlPr>
                    </m:dPr>
                    <m:e>
                      <m:r>
                        <m:rPr>
                          <m:sty m:val="i"/>
                        </m:rPr>
                        <a:rPr sz="2000">
                          <a:solidFill>
                            <a:srgbClr val="252529"/>
                          </a:solidFill>
                          <a:latin typeface="Cambria Math"/>
                        </a:rPr>
                        <m:t xml:space="preserve">t</m:t>
                      </m:r>
                    </m:e>
                  </m:d>
                </m:oMath>
              </m:oMathPara>
            </a14:m>
            <a:endParaRPr sz="2000"/>
          </a:p>
        </p:txBody>
      </p:sp>
      <p:sp>
        <p:nvSpPr>
          <p:cNvPr id="1007" name="Delay channels"/>
          <p:cNvSpPr/>
          <p:nvPr/>
        </p:nvSpPr>
        <p:spPr>
          <a:xfrm>
            <a:off x="3448050" y="4291330"/>
            <a:ext cx="5397500" cy="3073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100">
                      <a:solidFill>
                        <a:srgbClr val="252529"/>
                      </a:solidFill>
                      <a:latin typeface="Cambria Math"/>
                    </a:rPr>
                    <m:t xml:space="preserve">(</m:t>
                  </m:r>
                  <m:r>
                    <m:rPr>
                      <m:sty m:val="i"/>
                    </m:rPr>
                    <a:rPr sz="1100">
                      <a:solidFill>
                        <a:srgbClr val="252529"/>
                      </a:solidFill>
                      <a:latin typeface="Cambria Math"/>
                    </a:rPr>
                    <m:t xml:space="preserve">i</m:t>
                  </m:r>
                  <m:r>
                    <m:rPr>
                      <m:sty m:val="i"/>
                    </m:rPr>
                    <a:rPr sz="1100">
                      <a:solidFill>
                        <a:srgbClr val="252529"/>
                      </a:solidFill>
                      <a:latin typeface="Cambria Math"/>
                    </a:rPr>
                    <m:t xml:space="preserve">,</m:t>
                  </m:r>
                  <m:r>
                    <m:rPr>
                      <m:sty m:val="i"/>
                    </m:rPr>
                    <a:rPr sz="1100">
                      <a:solidFill>
                        <a:srgbClr val="252529"/>
                      </a:solidFill>
                      <a:latin typeface="Cambria Math"/>
                    </a:rPr>
                    <m:t xml:space="preserve">j</m:t>
                  </m:r>
                  <m:r>
                    <m:rPr>
                      <m:sty m:val="i"/>
                    </m:rPr>
                    <a:rPr sz="1100">
                      <a:solidFill>
                        <a:srgbClr val="252529"/>
                      </a:solidFill>
                      <a:latin typeface="Cambria Math"/>
                    </a:rPr>
                    <m:t xml:space="preserve">)</m:t>
                  </m:r>
                  <m:r>
                    <m:rPr>
                      <m:sty m:val="i"/>
                    </m:rPr>
                    <a:rPr sz="1100">
                      <a:solidFill>
                        <a:srgbClr val="252529"/>
                      </a:solidFill>
                      <a:latin typeface="Cambria Math"/>
                    </a:rPr>
                    <m:t xml:space="preserve">∈</m:t>
                  </m:r>
                  <m:d>
                    <m:dPr>
                      <m:begChr m:val="{"/>
                      <m:endChr m:val="}"/>
                      <m:ctrlPr>
                        <a:rPr sz="1100">
                          <a:solidFill>
                            <a:srgbClr val="252529"/>
                          </a:solidFill>
                          <a:latin typeface="Cambria Math"/>
                        </a:rPr>
                      </m:ctrlPr>
                    </m:dPr>
                    <m:e>
                      <m:r>
                        <m:rPr>
                          <m:sty m:val="p"/>
                        </m:rPr>
                        <a:rPr sz="1100">
                          <a:solidFill>
                            <a:srgbClr val="252529"/>
                          </a:solidFill>
                          <a:latin typeface="Cambria Math"/>
                        </a:rPr>
                        <m:t xml:space="preserve">(</m:t>
                      </m:r>
                      <m:r>
                        <m:rPr>
                          <m:sty m:val="p"/>
                        </m:rPr>
                        <a:rPr sz="1100">
                          <a:solidFill>
                            <a:srgbClr val="252529"/>
                          </a:solidFill>
                          <a:latin typeface="Cambria Math"/>
                        </a:rPr>
                        <m:t xml:space="preserve">G</m:t>
                      </m:r>
                      <m:r>
                        <m:rPr>
                          <m:sty m:val="p"/>
                        </m:rPr>
                        <a:rPr sz="1100">
                          <a:solidFill>
                            <a:srgbClr val="252529"/>
                          </a:solidFill>
                          <a:latin typeface="Cambria Math"/>
                        </a:rPr>
                        <m:t xml:space="preserve">,</m:t>
                      </m:r>
                      <m:r>
                        <m:rPr>
                          <m:sty m:val="p"/>
                        </m:rPr>
                        <a:rPr sz="1100">
                          <a:solidFill>
                            <a:srgbClr val="252529"/>
                          </a:solidFill>
                          <a:latin typeface="Cambria Math"/>
                        </a:rPr>
                        <m:t xml:space="preserve">S</m:t>
                      </m:r>
                      <m:r>
                        <m:rPr>
                          <m:sty m:val="p"/>
                        </m:rPr>
                        <a:rPr sz="1100">
                          <a:solidFill>
                            <a:srgbClr val="252529"/>
                          </a:solidFill>
                          <a:latin typeface="Cambria Math"/>
                        </a:rPr>
                        <m:t xml:space="preserve">)</m:t>
                      </m:r>
                      <m:r>
                        <m:rPr>
                          <m:sty m:val="p"/>
                        </m:rPr>
                        <a:rPr sz="1100">
                          <a:solidFill>
                            <a:srgbClr val="252529"/>
                          </a:solidFill>
                          <a:latin typeface="Cambria Math"/>
                        </a:rPr>
                        <m:t xml:space="preserve">,</m:t>
                      </m:r>
                      <m:r>
                        <m:rPr>
                          <m:sty m:val="p"/>
                        </m:rPr>
                        <a:rPr sz="1100">
                          <a:solidFill>
                            <a:srgbClr val="252529"/>
                          </a:solidFill>
                          <a:latin typeface="Cambria Math"/>
                        </a:rPr>
                        <m:t xml:space="preserve">(</m:t>
                      </m:r>
                      <m:r>
                        <m:rPr>
                          <m:sty m:val="p"/>
                        </m:rPr>
                        <a:rPr sz="1100">
                          <a:solidFill>
                            <a:srgbClr val="252529"/>
                          </a:solidFill>
                          <a:latin typeface="Cambria Math"/>
                        </a:rPr>
                        <m:t xml:space="preserve">S</m:t>
                      </m:r>
                      <m:r>
                        <m:rPr>
                          <m:sty m:val="p"/>
                        </m:rPr>
                        <a:rPr sz="1100">
                          <a:solidFill>
                            <a:srgbClr val="252529"/>
                          </a:solidFill>
                          <a:latin typeface="Cambria Math"/>
                        </a:rPr>
                        <m:t xml:space="preserve">,</m:t>
                      </m:r>
                      <m:r>
                        <m:rPr>
                          <m:sty m:val="p"/>
                        </m:rPr>
                        <a:rPr sz="1100">
                          <a:solidFill>
                            <a:srgbClr val="252529"/>
                          </a:solidFill>
                          <a:latin typeface="Cambria Math"/>
                        </a:rPr>
                        <m:t xml:space="preserve">G</m:t>
                      </m:r>
                      <m:r>
                        <m:rPr>
                          <m:sty m:val="p"/>
                        </m:rPr>
                        <a:rPr sz="1100">
                          <a:solidFill>
                            <a:srgbClr val="252529"/>
                          </a:solidFill>
                          <a:latin typeface="Cambria Math"/>
                        </a:rPr>
                        <m:t xml:space="preserve">)</m:t>
                      </m:r>
                      <m:r>
                        <m:rPr>
                          <m:sty m:val="p"/>
                        </m:rPr>
                        <a:rPr sz="1100">
                          <a:solidFill>
                            <a:srgbClr val="252529"/>
                          </a:solidFill>
                          <a:latin typeface="Cambria Math"/>
                        </a:rPr>
                        <m:t xml:space="preserve">,</m:t>
                      </m:r>
                      <m:r>
                        <m:rPr>
                          <m:sty m:val="p"/>
                        </m:rPr>
                        <a:rPr sz="1100">
                          <a:solidFill>
                            <a:srgbClr val="252529"/>
                          </a:solidFill>
                          <a:latin typeface="Cambria Math"/>
                        </a:rPr>
                        <m:t xml:space="preserve">(</m:t>
                      </m:r>
                      <m:r>
                        <m:rPr>
                          <m:sty m:val="p"/>
                        </m:rPr>
                        <a:rPr sz="1100">
                          <a:solidFill>
                            <a:srgbClr val="252529"/>
                          </a:solidFill>
                          <a:latin typeface="Cambria Math"/>
                        </a:rPr>
                        <m:t xml:space="preserve">G</m:t>
                      </m:r>
                      <m:r>
                        <m:rPr>
                          <m:sty m:val="p"/>
                        </m:rPr>
                        <a:rPr sz="1100">
                          <a:solidFill>
                            <a:srgbClr val="252529"/>
                          </a:solidFill>
                          <a:latin typeface="Cambria Math"/>
                        </a:rPr>
                        <m:t xml:space="preserve">,</m:t>
                      </m:r>
                      <m:r>
                        <m:rPr>
                          <m:sty m:val="p"/>
                        </m:rPr>
                        <a:rPr sz="1100">
                          <a:solidFill>
                            <a:srgbClr val="252529"/>
                          </a:solidFill>
                          <a:latin typeface="Cambria Math"/>
                        </a:rPr>
                        <m:t xml:space="preserve">G</m:t>
                      </m:r>
                      <m:r>
                        <m:rPr>
                          <m:sty m:val="p"/>
                        </m:rPr>
                        <a:rPr sz="1100">
                          <a:solidFill>
                            <a:srgbClr val="252529"/>
                          </a:solidFill>
                          <a:latin typeface="Cambria Math"/>
                        </a:rPr>
                        <m:t xml:space="preserve">)</m:t>
                      </m:r>
                    </m:e>
                  </m:d>
                  <m:r>
                    <m:rPr>
                      <m:sty m:val="i"/>
                    </m:rPr>
                    <a:rPr sz="1100">
                      <a:solidFill>
                        <a:srgbClr val="252529"/>
                      </a:solidFill>
                      <a:latin typeface="Cambria Math"/>
                    </a:rPr>
                    <m:t xml:space="preserve">,</m:t>
                  </m:r>
                  <m:r>
                    <m:rPr>
                      <m:sty m:val="i"/>
                    </m:rPr>
                    <a:rPr sz="1100">
                      <a:solidFill>
                        <a:srgbClr val="252529"/>
                      </a:solidFill>
                      <a:latin typeface="Cambria Math"/>
                    </a:rPr>
                    <m:t xml:space="preserve"> </m:t>
                  </m:r>
                  <m:r>
                    <m:rPr>
                      <m:sty m:val="i"/>
                    </m:rPr>
                    <a:rPr sz="1100">
                      <a:solidFill>
                        <a:srgbClr val="252529"/>
                      </a:solidFill>
                      <a:latin typeface="Cambria Math"/>
                    </a:rPr>
                    <m:t xml:space="preserve"> </m:t>
                  </m:r>
                  <m:r>
                    <m:rPr>
                      <m:sty m:val="i"/>
                    </m:rPr>
                    <a:rPr sz="1100">
                      <a:solidFill>
                        <a:srgbClr val="252529"/>
                      </a:solidFill>
                      <a:latin typeface="Cambria Math"/>
                    </a:rPr>
                    <m:t xml:space="preserve">s</m:t>
                  </m:r>
                  <m:r>
                    <m:rPr>
                      <m:sty m:val="i"/>
                    </m:rPr>
                    <a:rPr sz="1100">
                      <a:solidFill>
                        <a:srgbClr val="252529"/>
                      </a:solidFill>
                      <a:latin typeface="Cambria Math"/>
                    </a:rPr>
                    <m:t xml:space="preserve">∈</m:t>
                  </m:r>
                  <m:r>
                    <m:rPr>
                      <m:sty m:val="i"/>
                    </m:rPr>
                    <a:rPr sz="1100">
                      <a:solidFill>
                        <a:srgbClr val="252529"/>
                      </a:solidFill>
                      <a:latin typeface="Cambria Math"/>
                    </a:rPr>
                    <m:t xml:space="preserve">[</m:t>
                  </m:r>
                  <m:r>
                    <m:rPr>
                      <m:sty m:val="i"/>
                    </m:rPr>
                    <a:rPr sz="1100">
                      <a:solidFill>
                        <a:srgbClr val="252529"/>
                      </a:solidFill>
                      <a:latin typeface="Cambria Math"/>
                    </a:rPr>
                    <m:t xml:space="preserve">0</m:t>
                  </m:r>
                  <m:r>
                    <m:rPr>
                      <m:sty m:val="i"/>
                    </m:rPr>
                    <a:rPr sz="1100">
                      <a:solidFill>
                        <a:srgbClr val="252529"/>
                      </a:solidFill>
                      <a:latin typeface="Cambria Math"/>
                    </a:rPr>
                    <m:t xml:space="preserve">,</m:t>
                  </m:r>
                  <m:r>
                    <m:rPr>
                      <m:sty m:val="i"/>
                    </m:rPr>
                    <a:rPr sz="1100">
                      <a:solidFill>
                        <a:srgbClr val="252529"/>
                      </a:solidFill>
                      <a:latin typeface="Cambria Math"/>
                    </a:rPr>
                    <m:t xml:space="preserve">1</m:t>
                  </m:r>
                  <m:r>
                    <m:rPr>
                      <m:sty m:val="i"/>
                    </m:rPr>
                    <a:rPr sz="1100">
                      <a:solidFill>
                        <a:srgbClr val="252529"/>
                      </a:solidFill>
                      <a:latin typeface="Cambria Math"/>
                    </a:rPr>
                    <m:t xml:space="preserve">]</m:t>
                  </m:r>
                </m:oMath>
              </m:oMathPara>
            </a14:m>
            <a:endParaRPr sz="11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𝒯</m:t>
                  </m:r>
                  <m:acc>
                    <m:accPr>
                      <m:chr m:val="̇"/>
                      <m:ctrlPr>
                        <a:rPr sz="2300">
                          <a:solidFill>
                            <a:srgbClr val="252529"/>
                          </a:solidFill>
                          <a:latin typeface="Cambria Math"/>
                        </a:rPr>
                      </m:ctrlPr>
                    </m:accPr>
                    <m:e>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e>
                  </m:acc>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𝒜</m:t>
                  </m:r>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ℬ</m:t>
                  </m:r>
                  <m:r>
                    <m:rPr>
                      <m:sty m:val="i"/>
                    </m:rPr>
                    <a:rPr sz="2300">
                      <a:solidFill>
                        <a:srgbClr val="252529"/>
                      </a:solidFill>
                      <a:latin typeface="Cambria Math"/>
                    </a:rPr>
                    <m:t xml:space="preserve">w</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oMath>
              </m:oMathPara>
            </a14:m>
            <a:endParaRPr sz="2300"/>
          </a:p>
        </p:txBody>
      </p:sp>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300">
                      <a:solidFill>
                        <a:srgbClr val="252529"/>
                      </a:solidFill>
                      <a:latin typeface="Cambria Math"/>
                    </a:rPr>
                    <m:t xml:space="preserve">z</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𝒞</m:t>
                  </m:r>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𝒟</m:t>
                  </m:r>
                  <m:r>
                    <m:rPr>
                      <m:sty m:val="i"/>
                    </m:rPr>
                    <a:rPr sz="2300">
                      <a:solidFill>
                        <a:srgbClr val="252529"/>
                      </a:solidFill>
                      <a:latin typeface="Cambria Math"/>
                    </a:rPr>
                    <m:t xml:space="preserve">w</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oMath>
              </m:oMathPara>
            </a14:m>
            <a:endParaRPr sz="2300"/>
          </a:p>
        </p:txBody>
      </p:sp>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100">
                      <a:solidFill>
                        <a:srgbClr val="252529"/>
                      </a:solidFill>
                      <a:latin typeface="Cambria Math"/>
                    </a:rPr>
                    <m:t xml:space="preserve">𝒯</m:t>
                  </m:r>
                  <m:r>
                    <m:rPr>
                      <m:sty m:val="i"/>
                    </m:rPr>
                    <a:rPr sz="2100">
                      <a:solidFill>
                        <a:srgbClr val="252529"/>
                      </a:solidFill>
                      <a:latin typeface="Cambria Math"/>
                    </a:rPr>
                    <m:t xml:space="preserve">,</m:t>
                  </m:r>
                  <m:r>
                    <m:rPr>
                      <m:sty m:val="p"/>
                    </m:rPr>
                    <a:rPr sz="2100">
                      <a:solidFill>
                        <a:srgbClr val="252529"/>
                      </a:solidFill>
                      <a:latin typeface="Cambria Math"/>
                    </a:rPr>
                    <m:t xml:space="preserve">𝒜</m:t>
                  </m:r>
                  <m:r>
                    <m:rPr>
                      <m:sty m:val="i"/>
                    </m:rPr>
                    <a:rPr sz="2100">
                      <a:solidFill>
                        <a:srgbClr val="252529"/>
                      </a:solidFill>
                      <a:latin typeface="Cambria Math"/>
                    </a:rPr>
                    <m:t xml:space="preserve">,</m:t>
                  </m:r>
                  <m:r>
                    <m:rPr>
                      <m:sty m:val="p"/>
                    </m:rPr>
                    <a:rPr sz="2100">
                      <a:solidFill>
                        <a:srgbClr val="252529"/>
                      </a:solidFill>
                      <a:latin typeface="Cambria Math"/>
                    </a:rPr>
                    <m:t xml:space="preserve">ℬ</m:t>
                  </m:r>
                  <m:r>
                    <m:rPr>
                      <m:sty m:val="i"/>
                    </m:rPr>
                    <a:rPr sz="2100">
                      <a:solidFill>
                        <a:srgbClr val="252529"/>
                      </a:solidFill>
                      <a:latin typeface="Cambria Math"/>
                    </a:rPr>
                    <m:t xml:space="preserve">,</m:t>
                  </m:r>
                  <m:r>
                    <m:rPr>
                      <m:sty m:val="p"/>
                    </m:rPr>
                    <a:rPr sz="2100">
                      <a:solidFill>
                        <a:srgbClr val="252529"/>
                      </a:solidFill>
                      <a:latin typeface="Cambria Math"/>
                    </a:rPr>
                    <m:t xml:space="preserve">𝒞</m:t>
                  </m:r>
                  <m:r>
                    <m:rPr>
                      <m:sty m:val="i"/>
                    </m:rPr>
                    <a:rPr sz="2100">
                      <a:solidFill>
                        <a:srgbClr val="252529"/>
                      </a:solidFill>
                      <a:latin typeface="Cambria Math"/>
                    </a:rPr>
                    <m:t xml:space="preserve">,</m:t>
                  </m:r>
                  <m:r>
                    <m:rPr>
                      <m:sty m:val="p"/>
                    </m:rPr>
                    <a:rPr sz="2100">
                      <a:solidFill>
                        <a:srgbClr val="252529"/>
                      </a:solidFill>
                      <a:latin typeface="Cambria Math"/>
                    </a:rPr>
                    <m:t xml:space="preserve">𝒟</m:t>
                  </m:r>
                  <m:r>
                    <m:rPr>
                      <m:sty m:val="i"/>
                    </m:rPr>
                    <a:rPr sz="2100">
                      <a:solidFill>
                        <a:srgbClr val="252529"/>
                      </a:solidFill>
                      <a:latin typeface="Cambria Math"/>
                    </a:rPr>
                    <m:t xml:space="preserve">∈</m:t>
                  </m:r>
                  <m:sSub>
                    <m:sSubPr>
                      <m:ctrlPr>
                        <a:rPr sz="2100">
                          <a:solidFill>
                            <a:srgbClr val="252529"/>
                          </a:solidFill>
                          <a:latin typeface="Cambria Math"/>
                        </a:rPr>
                      </m:ctrlPr>
                    </m:sSubPr>
                    <m:e>
                      <m:r>
                        <m:rPr>
                          <m:sty m:val="i"/>
                        </m:rPr>
                        <a:rPr sz="2100">
                          <a:solidFill>
                            <a:srgbClr val="252529"/>
                          </a:solidFill>
                          <a:latin typeface="Cambria Math"/>
                        </a:rPr>
                        <m:t xml:space="preserve">Π</m:t>
                      </m:r>
                    </m:e>
                    <m:sub>
                      <m:r>
                        <m:rPr>
                          <m:sty m:val="p"/>
                        </m:rPr>
                        <a:rPr sz="2100">
                          <a:solidFill>
                            <a:srgbClr val="252529"/>
                          </a:solidFill>
                          <a:latin typeface="Cambria Math"/>
                        </a:rPr>
                        <m:t xml:space="preserve">4</m:t>
                      </m:r>
                    </m:sub>
                  </m:sSub>
                </m:oMath>
              </m:oMathPara>
            </a14:m>
            <a:endParaRPr sz="21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400">
                      <a:solidFill>
                        <a:srgbClr val="252529"/>
                      </a:solidFill>
                      <a:latin typeface="Cambria Math"/>
                    </a:rPr>
                    <m:t xml:space="preserve">𝒜</m:t>
                  </m:r>
                  <m:r>
                    <m:rPr>
                      <m:sty m:val="i"/>
                    </m:rPr>
                    <a:rPr sz="2400">
                      <a:solidFill>
                        <a:srgbClr val="252529"/>
                      </a:solidFill>
                      <a:latin typeface="Cambria Math"/>
                    </a:rPr>
                    <m:t xml:space="preserve">+</m:t>
                  </m:r>
                  <m:r>
                    <m:rPr>
                      <m:sty m:val="p"/>
                    </m:rPr>
                    <a:rPr sz="2400">
                      <a:solidFill>
                        <a:srgbClr val="252529"/>
                      </a:solidFill>
                      <a:latin typeface="Cambria Math"/>
                    </a:rPr>
                    <m:t xml:space="preserve">ℬ</m:t>
                  </m:r>
                  <m:r>
                    <m:rPr>
                      <m:sty m:val="i"/>
                    </m:rPr>
                    <a:rPr sz="2400">
                      <a:solidFill>
                        <a:srgbClr val="252529"/>
                      </a:solidFill>
                      <a:latin typeface="Cambria Math"/>
                    </a:rPr>
                    <m:t xml:space="preserve">∈</m:t>
                  </m:r>
                  <m:sSub>
                    <m:sSubPr>
                      <m:ctrlPr>
                        <a:rPr sz="2400">
                          <a:solidFill>
                            <a:srgbClr val="252529"/>
                          </a:solidFill>
                          <a:latin typeface="Cambria Math"/>
                        </a:rPr>
                      </m:ctrlPr>
                    </m:sSubPr>
                    <m:e>
                      <m:r>
                        <m:rPr>
                          <m:sty m:val="i"/>
                        </m:rPr>
                        <a:rPr sz="2400">
                          <a:solidFill>
                            <a:srgbClr val="252529"/>
                          </a:solidFill>
                          <a:latin typeface="Cambria Math"/>
                        </a:rPr>
                        <m:t xml:space="preserve">Π</m:t>
                      </m:r>
                    </m:e>
                    <m:sub>
                      <m:r>
                        <m:rPr>
                          <m:sty m:val="p"/>
                        </m:rPr>
                        <a:rPr sz="2400">
                          <a:solidFill>
                            <a:srgbClr val="252529"/>
                          </a:solidFill>
                          <a:latin typeface="Cambria Math"/>
                        </a:rPr>
                        <m:t xml:space="preserve">4</m:t>
                      </m:r>
                    </m:sub>
                  </m:sSub>
                </m:oMath>
              </m:oMathPara>
            </a14:m>
            <a:endParaRPr sz="2400"/>
          </a:p>
        </p:txBody>
      </p:sp>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400">
                      <a:solidFill>
                        <a:srgbClr val="252529"/>
                      </a:solidFill>
                      <a:latin typeface="Cambria Math"/>
                    </a:rPr>
                    <m:t xml:space="preserve">𝒜</m:t>
                  </m:r>
                  <m:r>
                    <m:rPr>
                      <m:sty m:val="p"/>
                    </m:rPr>
                    <a:rPr sz="2400">
                      <a:solidFill>
                        <a:srgbClr val="252529"/>
                      </a:solidFill>
                      <a:latin typeface="Cambria Math"/>
                    </a:rPr>
                    <m:t xml:space="preserve">ℬ</m:t>
                  </m:r>
                  <m:r>
                    <m:rPr>
                      <m:sty m:val="i"/>
                    </m:rPr>
                    <a:rPr sz="2400">
                      <a:solidFill>
                        <a:srgbClr val="252529"/>
                      </a:solidFill>
                      <a:latin typeface="Cambria Math"/>
                    </a:rPr>
                    <m:t xml:space="preserve">∈</m:t>
                  </m:r>
                  <m:sSub>
                    <m:sSubPr>
                      <m:ctrlPr>
                        <a:rPr sz="2400">
                          <a:solidFill>
                            <a:srgbClr val="252529"/>
                          </a:solidFill>
                          <a:latin typeface="Cambria Math"/>
                        </a:rPr>
                      </m:ctrlPr>
                    </m:sSubPr>
                    <m:e>
                      <m:r>
                        <m:rPr>
                          <m:sty m:val="i"/>
                        </m:rPr>
                        <a:rPr sz="2400">
                          <a:solidFill>
                            <a:srgbClr val="252529"/>
                          </a:solidFill>
                          <a:latin typeface="Cambria Math"/>
                        </a:rPr>
                        <m:t xml:space="preserve">Π</m:t>
                      </m:r>
                    </m:e>
                    <m:sub>
                      <m:r>
                        <m:rPr>
                          <m:sty m:val="p"/>
                        </m:rPr>
                        <a:rPr sz="2400">
                          <a:solidFill>
                            <a:srgbClr val="252529"/>
                          </a:solidFill>
                          <a:latin typeface="Cambria Math"/>
                        </a:rPr>
                        <m:t xml:space="preserve">4</m:t>
                      </m:r>
                    </m:sub>
                  </m:sSub>
                </m:oMath>
              </m:oMathPara>
            </a14:m>
            <a:endParaRPr sz="2400"/>
          </a:p>
        </p:txBody>
      </p:sp>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 xml:space="preserve">𝒜</m:t>
                      </m:r>
                    </m:e>
                    <m:sup>
                      <m:r>
                        <m:rPr>
                          <m:sty m:val="p"/>
                        </m:rPr>
                        <a:rPr sz="2400">
                          <a:solidFill>
                            <a:srgbClr val="252529"/>
                          </a:solidFill>
                          <a:latin typeface="Cambria Math"/>
                        </a:rPr>
                        <m:t xml:space="preserve">*</m:t>
                      </m:r>
                    </m:sup>
                  </m:sSup>
                  <m:r>
                    <m:rPr>
                      <m:sty m:val="i"/>
                    </m:rPr>
                    <a:rPr sz="2400">
                      <a:solidFill>
                        <a:srgbClr val="252529"/>
                      </a:solidFill>
                      <a:latin typeface="Cambria Math"/>
                    </a:rPr>
                    <m:t xml:space="preserve">∈</m:t>
                  </m:r>
                  <m:sSub>
                    <m:sSubPr>
                      <m:ctrlPr>
                        <a:rPr sz="2400">
                          <a:solidFill>
                            <a:srgbClr val="252529"/>
                          </a:solidFill>
                          <a:latin typeface="Cambria Math"/>
                        </a:rPr>
                      </m:ctrlPr>
                    </m:sSubPr>
                    <m:e>
                      <m:r>
                        <m:rPr>
                          <m:sty m:val="i"/>
                        </m:rPr>
                        <a:rPr sz="2400">
                          <a:solidFill>
                            <a:srgbClr val="252529"/>
                          </a:solidFill>
                          <a:latin typeface="Cambria Math"/>
                        </a:rPr>
                        <m:t xml:space="preserve">Π</m:t>
                      </m:r>
                    </m:e>
                    <m:sub>
                      <m:r>
                        <m:rPr>
                          <m:sty m:val="p"/>
                        </m:rPr>
                        <a:rPr sz="2400">
                          <a:solidFill>
                            <a:srgbClr val="252529"/>
                          </a:solidFill>
                          <a:latin typeface="Cambria Math"/>
                        </a:rPr>
                        <m:t xml:space="preserve">4</m:t>
                      </m:r>
                    </m:sub>
                  </m:sSub>
                </m:oMath>
              </m:oMathPara>
            </a14:m>
            <a:endParaRPr sz="2400"/>
          </a:p>
        </p:txBody>
      </p:sp>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2400">
                          <a:solidFill>
                            <a:srgbClr val="252529"/>
                          </a:solidFill>
                          <a:latin typeface="Cambria Math"/>
                        </a:rPr>
                      </m:ctrlPr>
                    </m:dPr>
                    <m:e>
                      <m:r>
                        <m:rPr>
                          <m:sty m:val="p"/>
                        </m:rPr>
                        <a:rPr sz="2400">
                          <a:solidFill>
                            <a:srgbClr val="252529"/>
                          </a:solidFill>
                          <a:latin typeface="Cambria Math"/>
                        </a:rPr>
                        <m:t xml:space="preserve">𝒜</m:t>
                      </m:r>
                      <m:r>
                        <m:rPr>
                          <m:sty m:val="i"/>
                        </m:rPr>
                        <a:rPr sz="2400">
                          <a:solidFill>
                            <a:srgbClr val="252529"/>
                          </a:solidFill>
                          <a:latin typeface="Cambria Math"/>
                        </a:rPr>
                        <m:t xml:space="preserve"> </m:t>
                      </m:r>
                      <m:r>
                        <m:rPr>
                          <m:sty m:val="i"/>
                        </m:rPr>
                        <a:rPr sz="2400">
                          <a:solidFill>
                            <a:srgbClr val="252529"/>
                          </a:solidFill>
                          <a:latin typeface="Cambria Math"/>
                        </a:rPr>
                        <m:t xml:space="preserve"> </m:t>
                      </m:r>
                      <m:r>
                        <m:rPr>
                          <m:sty m:val="p"/>
                        </m:rPr>
                        <a:rPr sz="2400">
                          <a:solidFill>
                            <a:srgbClr val="252529"/>
                          </a:solidFill>
                          <a:latin typeface="Cambria Math"/>
                        </a:rPr>
                        <m:t xml:space="preserve">ℬ</m:t>
                      </m:r>
                    </m:e>
                  </m:d>
                  <m:r>
                    <m:rPr>
                      <m:sty m:val="i"/>
                    </m:rPr>
                    <a:rPr sz="2400">
                      <a:solidFill>
                        <a:srgbClr val="252529"/>
                      </a:solidFill>
                      <a:latin typeface="Cambria Math"/>
                    </a:rPr>
                    <m:t xml:space="preserve">∈</m:t>
                  </m:r>
                  <m:sSub>
                    <m:sSubPr>
                      <m:ctrlPr>
                        <a:rPr sz="2400">
                          <a:solidFill>
                            <a:srgbClr val="252529"/>
                          </a:solidFill>
                          <a:latin typeface="Cambria Math"/>
                        </a:rPr>
                      </m:ctrlPr>
                    </m:sSubPr>
                    <m:e>
                      <m:r>
                        <m:rPr>
                          <m:sty m:val="i"/>
                        </m:rPr>
                        <a:rPr sz="2400">
                          <a:solidFill>
                            <a:srgbClr val="252529"/>
                          </a:solidFill>
                          <a:latin typeface="Cambria Math"/>
                        </a:rPr>
                        <m:t xml:space="preserve">Π</m:t>
                      </m:r>
                    </m:e>
                    <m:sub>
                      <m:r>
                        <m:rPr>
                          <m:sty m:val="p"/>
                        </m:rPr>
                        <a:rPr sz="2400">
                          <a:solidFill>
                            <a:srgbClr val="252529"/>
                          </a:solidFill>
                          <a:latin typeface="Cambria Math"/>
                        </a:rPr>
                        <m:t xml:space="preserve">4</m:t>
                      </m:r>
                    </m:sub>
                  </m:sSub>
                </m:oMath>
              </m:oMathPara>
            </a14:m>
            <a:endParaRPr sz="24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aseline="0" b="0" i="0" u="none">
                <a:solidFill>
                  <a:srgbClr val="252529"/>
                </a:solidFill>
                <a:latin typeface="Aptos"/>
                <a:ea typeface="Aptos"/>
                <a:cs typeface="Aptos"/>
              </a:rPr>
              <a:t xml:space="preserve">Exponential stability of the PDE</a:t>
            </a:r>
            <a:endParaRPr sz="1700"/>
          </a:p>
        </p:txBody>
      </p:sp>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252529"/>
                      </a:solidFill>
                      <a:latin typeface="Cambria Math"/>
                    </a:rPr>
                    <m:t xml:space="preserve">𝒫</m:t>
                  </m:r>
                  <m:r>
                    <m:rPr>
                      <m:sty m:val="i"/>
                    </m:rPr>
                    <a:rPr sz="2000">
                      <a:solidFill>
                        <a:srgbClr val="252529"/>
                      </a:solidFill>
                      <a:latin typeface="Cambria Math"/>
                    </a:rPr>
                    <m:t xml:space="preserve">≽</m:t>
                  </m:r>
                  <m:r>
                    <m:rPr>
                      <m:sty m:val="i"/>
                    </m:rPr>
                    <a:rPr sz="2000">
                      <a:solidFill>
                        <a:srgbClr val="252529"/>
                      </a:solidFill>
                      <a:latin typeface="Cambria Math"/>
                    </a:rPr>
                    <m:t xml:space="preserve">ε</m:t>
                  </m:r>
                  <m:r>
                    <m:rPr>
                      <m:sty m:val="p"/>
                    </m:rPr>
                    <a:rPr sz="2000">
                      <a:solidFill>
                        <a:srgbClr val="252529"/>
                      </a:solidFill>
                      <a:latin typeface="Cambria Math"/>
                    </a:rPr>
                    <m:t xml:space="preserve">ℐ</m:t>
                  </m:r>
                  <m:r>
                    <m:rPr>
                      <m:sty m:val="i"/>
                    </m:rPr>
                    <a:rPr sz="2000">
                      <a:solidFill>
                        <a:srgbClr val="252529"/>
                      </a:solidFill>
                      <a:latin typeface="Cambria Math"/>
                    </a:rPr>
                    <m:t xml:space="preserve">,</m:t>
                  </m:r>
                  <m:r>
                    <m:rPr>
                      <m:sty m:val="i"/>
                    </m:rPr>
                    <a:rPr sz="2000">
                      <a:solidFill>
                        <a:srgbClr val="252529"/>
                      </a:solidFill>
                      <a:latin typeface="Cambria Math"/>
                    </a:rPr>
                    <m:t xml:space="preserve"> </m:t>
                  </m:r>
                  <m:r>
                    <m:rPr>
                      <m:sty m:val="i"/>
                    </m:rPr>
                    <a:rPr sz="2000">
                      <a:solidFill>
                        <a:srgbClr val="252529"/>
                      </a:solidFill>
                      <a:latin typeface="Cambria Math"/>
                    </a:rPr>
                    <m:t xml:space="preserve"> </m:t>
                  </m:r>
                  <m:r>
                    <m:rPr>
                      <m:sty m:val="i"/>
                    </m:rPr>
                    <a:rPr sz="2000">
                      <a:solidFill>
                        <a:srgbClr val="252529"/>
                      </a:solidFill>
                      <a:latin typeface="Cambria Math"/>
                    </a:rPr>
                    <m:t xml:space="preserve"> </m:t>
                  </m:r>
                  <m:r>
                    <m:rPr>
                      <m:sty m:val="i"/>
                    </m:rPr>
                    <a:rPr sz="2000">
                      <a:solidFill>
                        <a:srgbClr val="252529"/>
                      </a:solidFill>
                      <a:latin typeface="Cambria Math"/>
                    </a:rPr>
                    <m:t xml:space="preserve">ε</m:t>
                  </m:r>
                  <m:r>
                    <m:rPr>
                      <m:sty m:val="i"/>
                    </m:rPr>
                    <a:rPr sz="2000">
                      <a:solidFill>
                        <a:srgbClr val="252529"/>
                      </a:solidFill>
                      <a:latin typeface="Cambria Math"/>
                    </a:rPr>
                    <m:t xml:space="preserve">&gt;</m:t>
                  </m:r>
                  <m:r>
                    <m:rPr>
                      <m:sty m:val="i"/>
                    </m:rPr>
                    <a:rPr sz="2000">
                      <a:solidFill>
                        <a:srgbClr val="252529"/>
                      </a:solidFill>
                      <a:latin typeface="Cambria Math"/>
                    </a:rPr>
                    <m:t xml:space="preserve">0</m:t>
                  </m:r>
                </m:oMath>
              </m:oMathPara>
            </a14:m>
            <a:endParaRPr sz="2000"/>
          </a:p>
        </p:txBody>
      </p:sp>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1900">
                          <a:solidFill>
                            <a:srgbClr val="252529"/>
                          </a:solidFill>
                          <a:latin typeface="Cambria Math"/>
                        </a:rPr>
                      </m:ctrlPr>
                    </m:sSupPr>
                    <m:e>
                      <m:r>
                        <m:rPr>
                          <m:sty m:val="p"/>
                        </m:rPr>
                        <a:rPr sz="1900">
                          <a:solidFill>
                            <a:srgbClr val="252529"/>
                          </a:solidFill>
                          <a:latin typeface="Cambria Math"/>
                        </a:rPr>
                        <m:t xml:space="preserve">𝒯</m:t>
                      </m:r>
                    </m:e>
                    <m:sup>
                      <m:r>
                        <m:rPr>
                          <m:sty m:val="p"/>
                        </m:rPr>
                        <a:rPr sz="1900">
                          <a:solidFill>
                            <a:srgbClr val="252529"/>
                          </a:solidFill>
                          <a:latin typeface="Cambria Math"/>
                        </a:rPr>
                        <m:t xml:space="preserve">*</m:t>
                      </m:r>
                    </m:sup>
                  </m:sSup>
                  <m:r>
                    <m:rPr>
                      <m:sty m:val="p"/>
                    </m:rPr>
                    <a:rPr sz="1900">
                      <a:solidFill>
                        <a:srgbClr val="252529"/>
                      </a:solidFill>
                      <a:latin typeface="Cambria Math"/>
                    </a:rPr>
                    <m:t xml:space="preserve">𝒫</m:t>
                  </m:r>
                  <m:r>
                    <m:rPr>
                      <m:sty m:val="p"/>
                    </m:rPr>
                    <a:rPr sz="1900">
                      <a:solidFill>
                        <a:srgbClr val="252529"/>
                      </a:solidFill>
                      <a:latin typeface="Cambria Math"/>
                    </a:rPr>
                    <m:t xml:space="preserve">𝒜</m:t>
                  </m:r>
                  <m:r>
                    <m:rPr>
                      <m:sty m:val="i"/>
                    </m:rPr>
                    <a:rPr sz="1900">
                      <a:solidFill>
                        <a:srgbClr val="252529"/>
                      </a:solidFill>
                      <a:latin typeface="Cambria Math"/>
                    </a:rPr>
                    <m:t xml:space="preserve">+</m:t>
                  </m:r>
                  <m:sSup>
                    <m:sSupPr>
                      <m:ctrlPr>
                        <a:rPr sz="1900">
                          <a:solidFill>
                            <a:srgbClr val="252529"/>
                          </a:solidFill>
                          <a:latin typeface="Cambria Math"/>
                        </a:rPr>
                      </m:ctrlPr>
                    </m:sSupPr>
                    <m:e>
                      <m:r>
                        <m:rPr>
                          <m:sty m:val="p"/>
                        </m:rPr>
                        <a:rPr sz="1900">
                          <a:solidFill>
                            <a:srgbClr val="252529"/>
                          </a:solidFill>
                          <a:latin typeface="Cambria Math"/>
                        </a:rPr>
                        <m:t xml:space="preserve">𝒜</m:t>
                      </m:r>
                    </m:e>
                    <m:sup>
                      <m:r>
                        <m:rPr>
                          <m:sty m:val="p"/>
                        </m:rPr>
                        <a:rPr sz="1900">
                          <a:solidFill>
                            <a:srgbClr val="252529"/>
                          </a:solidFill>
                          <a:latin typeface="Cambria Math"/>
                        </a:rPr>
                        <m:t xml:space="preserve">*</m:t>
                      </m:r>
                    </m:sup>
                  </m:sSup>
                  <m:r>
                    <m:rPr>
                      <m:sty m:val="p"/>
                    </m:rPr>
                    <a:rPr sz="1900">
                      <a:solidFill>
                        <a:srgbClr val="252529"/>
                      </a:solidFill>
                      <a:latin typeface="Cambria Math"/>
                    </a:rPr>
                    <m:t xml:space="preserve">𝒫</m:t>
                  </m:r>
                  <m:r>
                    <m:rPr>
                      <m:sty m:val="p"/>
                    </m:rPr>
                    <a:rPr sz="1900">
                      <a:solidFill>
                        <a:srgbClr val="252529"/>
                      </a:solidFill>
                      <a:latin typeface="Cambria Math"/>
                    </a:rPr>
                    <m:t xml:space="preserve">𝒯</m:t>
                  </m:r>
                  <m:r>
                    <m:rPr>
                      <m:sty m:val="i"/>
                    </m:rPr>
                    <a:rPr sz="1900">
                      <a:solidFill>
                        <a:srgbClr val="252529"/>
                      </a:solidFill>
                      <a:latin typeface="Cambria Math"/>
                    </a:rPr>
                    <m:t xml:space="preserve">≼</m:t>
                  </m:r>
                  <m:r>
                    <m:rPr>
                      <m:sty m:val="i"/>
                    </m:rPr>
                    <a:rPr sz="1900">
                      <a:solidFill>
                        <a:srgbClr val="252529"/>
                      </a:solidFill>
                      <a:latin typeface="Cambria Math"/>
                    </a:rPr>
                    <m:t xml:space="preserve">−</m:t>
                  </m:r>
                  <m:r>
                    <m:rPr>
                      <m:sty m:val="i"/>
                    </m:rPr>
                    <a:rPr sz="1900">
                      <a:solidFill>
                        <a:srgbClr val="252529"/>
                      </a:solidFill>
                      <a:latin typeface="Cambria Math"/>
                    </a:rPr>
                    <m:t xml:space="preserve">α</m:t>
                  </m:r>
                  <m:sSup>
                    <m:sSupPr>
                      <m:ctrlPr>
                        <a:rPr sz="1900">
                          <a:solidFill>
                            <a:srgbClr val="252529"/>
                          </a:solidFill>
                          <a:latin typeface="Cambria Math"/>
                        </a:rPr>
                      </m:ctrlPr>
                    </m:sSupPr>
                    <m:e>
                      <m:r>
                        <m:rPr>
                          <m:sty m:val="p"/>
                        </m:rPr>
                        <a:rPr sz="1900">
                          <a:solidFill>
                            <a:srgbClr val="252529"/>
                          </a:solidFill>
                          <a:latin typeface="Cambria Math"/>
                        </a:rPr>
                        <m:t xml:space="preserve">𝒯</m:t>
                      </m:r>
                    </m:e>
                    <m:sup>
                      <m:r>
                        <m:rPr>
                          <m:sty m:val="p"/>
                        </m:rPr>
                        <a:rPr sz="1900">
                          <a:solidFill>
                            <a:srgbClr val="252529"/>
                          </a:solidFill>
                          <a:latin typeface="Cambria Math"/>
                        </a:rPr>
                        <m:t xml:space="preserve">*</m:t>
                      </m:r>
                    </m:sup>
                  </m:sSup>
                  <m:r>
                    <m:rPr>
                      <m:sty m:val="p"/>
                    </m:rPr>
                    <a:rPr sz="1900">
                      <a:solidFill>
                        <a:srgbClr val="252529"/>
                      </a:solidFill>
                      <a:latin typeface="Cambria Math"/>
                    </a:rPr>
                    <m:t xml:space="preserve">𝒯</m:t>
                  </m:r>
                </m:oMath>
              </m:oMathPara>
            </a14:m>
            <a:endParaRPr sz="1900"/>
          </a:p>
        </p:txBody>
      </p:sp>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aseline="0" b="0" i="0" u="none">
                <a:solidFill>
                  <a:srgbClr val="747B82"/>
                </a:solidFill>
                <a:latin typeface="Aptos"/>
                <a:ea typeface="Aptos"/>
                <a:cs typeface="Aptos"/>
              </a:rPr>
              <a:t xml:space="preserve">PI operator parameterization → LMIs</a:t>
            </a:r>
            <a:endParaRPr sz="14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Controlled linear PIE"/>
          <p:cNvSpPr/>
          <p:nvPr/>
        </p:nvSpPr>
        <p:spPr>
          <a:xfrm>
            <a:off x="3543300" y="2472690"/>
            <a:ext cx="5207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𝒯</m:t>
                  </m:r>
                  <m:acc>
                    <m:accPr>
                      <m:chr m:val="̇"/>
                      <m:ctrlPr>
                        <a:rPr sz="2300">
                          <a:solidFill>
                            <a:srgbClr val="252529"/>
                          </a:solidFill>
                          <a:latin typeface="Cambria Math"/>
                        </a:rPr>
                      </m:ctrlPr>
                    </m:accPr>
                    <m:e>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e>
                  </m:acc>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𝒜</m:t>
                  </m:r>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ℬ</m:t>
                  </m:r>
                  <m:r>
                    <m:rPr>
                      <m:sty m:val="i"/>
                    </m:rPr>
                    <a:rPr sz="2300">
                      <a:solidFill>
                        <a:srgbClr val="252529"/>
                      </a:solidFill>
                      <a:latin typeface="Cambria Math"/>
                    </a:rPr>
                    <m:t xml:space="preserve">u</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oMath>
              </m:oMathPara>
            </a14:m>
            <a:endParaRPr sz="2300"/>
          </a:p>
        </p:txBody>
      </p:sp>
      <p:sp>
        <p:nvSpPr>
          <p:cNvPr id="1002" name="Feedback controller"/>
          <p:cNvSpPr/>
          <p:nvPr/>
        </p:nvSpPr>
        <p:spPr>
          <a:xfrm>
            <a:off x="3543300" y="3082290"/>
            <a:ext cx="5207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300">
                      <a:solidFill>
                        <a:srgbClr val="252529"/>
                      </a:solidFill>
                      <a:latin typeface="Cambria Math"/>
                    </a:rPr>
                    <m:t xml:space="preserve">u</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i"/>
                    </m:rPr>
                    <a:rPr sz="2300">
                      <a:solidFill>
                        <a:srgbClr val="252529"/>
                      </a:solidFill>
                      <a:latin typeface="Cambria Math"/>
                    </a:rPr>
                    <m:t xml:space="preserve">K</m:t>
                  </m:r>
                  <m:r>
                    <m:rPr>
                      <m:sty m:val="i"/>
                    </m:rPr>
                    <a:rPr sz="2300">
                      <a:solidFill>
                        <a:srgbClr val="252529"/>
                      </a:solidFill>
                      <a:latin typeface="Cambria Math"/>
                    </a:rPr>
                    <m:t xml:space="preserve">y</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oMath>
              </m:oMathPara>
            </a14:m>
            <a:endParaRPr sz="2300"/>
          </a:p>
        </p:txBody>
      </p:sp>
      <p:sp>
        <p:nvSpPr>
          <p:cNvPr id="1003" name="Synthesis result"/>
          <p:cNvSpPr/>
          <p:nvPr/>
        </p:nvSpPr>
        <p:spPr>
          <a:xfrm>
            <a:off x="3543300" y="3911600"/>
            <a:ext cx="5207000" cy="304800"/>
          </a:xfrm>
          <a:prstGeom prst="rect">
            <a:avLst/>
          </a:prstGeom>
          <a:noFill/>
          <a:ln>
            <a:noFill/>
          </a:ln>
        </p:spPr>
        <p:txBody>
          <a:bodyPr wrap="none" lIns="0" tIns="0" rIns="0" bIns="0" anchor="ctr">
            <a:noAutofit/>
          </a:bodyPr>
          <a:lstStyle/>
          <a:p>
            <a:pPr algn="ctr">
              <a:buNone/>
            </a:pPr>
            <a:r>
              <a:rPr lang="en-GB" sz="1600" baseline="0" b="0" i="0" u="none">
                <a:solidFill>
                  <a:srgbClr val="252529"/>
                </a:solidFill>
                <a:latin typeface="Aptos"/>
                <a:ea typeface="Aptos"/>
                <a:cs typeface="Aptos"/>
              </a:rPr>
              <a:t xml:space="preserve">Synthesize in PIE coordinates</a:t>
            </a:r>
            <a:endParaRPr sz="16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Partial Integral Equations</a:t>
            </a:r>
            <a:endParaRPr sz="2500"/>
          </a:p>
        </p:txBody>
      </p:sp>
      <p:sp>
        <p:nvSpPr>
          <p:cNvPr id="1002" name="Physical model pillar"/>
          <p:cNvSpPr/>
          <p:nvPr/>
        </p:nvSpPr>
        <p:spPr>
          <a:xfrm>
            <a:off x="457200" y="1079500"/>
            <a:ext cx="3175000" cy="3606800"/>
          </a:xfrm>
          <a:prstGeom prst="rect">
            <a:avLst/>
          </a:prstGeom>
          <a:solidFill>
            <a:srgbClr val="C9141A"/>
          </a:solidFill>
          <a:ln>
            <a:noFill/>
          </a:ln>
        </p:spPr>
      </p:sp>
      <p:sp>
        <p:nvSpPr>
          <p:cNvPr id="1003" name="PIE solution pillar"/>
          <p:cNvSpPr/>
          <p:nvPr/>
        </p:nvSpPr>
        <p:spPr>
          <a:xfrm>
            <a:off x="5511800" y="1079500"/>
            <a:ext cx="3175000" cy="3606800"/>
          </a:xfrm>
          <a:prstGeom prst="rect">
            <a:avLst/>
          </a:prstGeom>
          <a:solidFill>
            <a:srgbClr val="C9141A"/>
          </a:solidFill>
          <a:ln>
            <a:noFill/>
          </a:ln>
        </p:spPr>
      </p:sp>
      <p:sp>
        <p:nvSpPr>
          <p:cNvPr id="1004" name="Physical heading"/>
          <p:cNvSpPr/>
          <p:nvPr/>
        </p:nvSpPr>
        <p:spPr>
          <a:xfrm>
            <a:off x="584200" y="1171575"/>
            <a:ext cx="2921000" cy="323850"/>
          </a:xfrm>
          <a:prstGeom prst="rect">
            <a:avLst/>
          </a:prstGeom>
          <a:noFill/>
          <a:ln>
            <a:noFill/>
          </a:ln>
        </p:spPr>
        <p:txBody>
          <a:bodyPr wrap="none" lIns="0" tIns="0" rIns="0" bIns="0" anchor="ctr">
            <a:noAutofit/>
          </a:bodyPr>
          <a:lstStyle/>
          <a:p>
            <a:pPr algn="ctr">
              <a:buNone/>
            </a:pPr>
            <a:r>
              <a:rPr lang="en-GB" sz="1700" baseline="0" b="1" i="0" u="none">
                <a:solidFill>
                  <a:srgbClr val="FFFFFF"/>
                </a:solidFill>
                <a:latin typeface="Aptos"/>
                <a:ea typeface="Aptos"/>
                <a:cs typeface="Aptos"/>
              </a:rPr>
              <a:t xml:space="preserve">Distributed models</a:t>
            </a:r>
            <a:endParaRPr sz="1700"/>
          </a:p>
        </p:txBody>
      </p:sp>
      <p:sp>
        <p:nvSpPr>
          <p:cNvPr id="1005" name="First pillar heading"/>
          <p:cNvSpPr/>
          <p:nvPr/>
        </p:nvSpPr>
        <p:spPr>
          <a:xfrm>
            <a:off x="5638800" y="1152525"/>
            <a:ext cx="2921000" cy="361950"/>
          </a:xfrm>
          <a:prstGeom prst="rect">
            <a:avLst/>
          </a:prstGeom>
          <a:noFill/>
          <a:ln>
            <a:noFill/>
          </a:ln>
        </p:spPr>
        <p:txBody>
          <a:bodyPr wrap="none" lIns="0" tIns="0" rIns="0" bIns="0" anchor="ctr">
            <a:noAutofit/>
          </a:bodyPr>
          <a:lstStyle/>
          <a:p>
            <a:pPr algn="ctr">
              <a:buNone/>
            </a:pPr>
            <a:r>
              <a:rPr lang="en-GB" sz="1900" baseline="0" b="1" i="0" u="none">
                <a:solidFill>
                  <a:srgbClr val="FFFFFF"/>
                </a:solidFill>
                <a:latin typeface="Aptos"/>
                <a:ea typeface="Aptos"/>
                <a:cs typeface="Aptos"/>
              </a:rPr>
              <a:t xml:space="preserve">Pillar 1: PIEs</a:t>
            </a:r>
            <a:endParaRPr sz="1900"/>
          </a:p>
        </p:txBody>
      </p:sp>
      <p:sp>
        <p:nvSpPr>
          <p:cNvPr id="1006" name="Tractability arrow"/>
          <p:cNvSpPr/>
          <p:nvPr/>
        </p:nvSpPr>
        <p:spPr>
          <a:xfrm>
            <a:off x="3886200" y="2374900"/>
            <a:ext cx="1358900" cy="25400"/>
          </a:xfrm>
          <a:custGeom>
            <a:avLst/>
            <a:gdLst/>
            <a:ahLst/>
            <a:cxnLst/>
            <a:rect l="0" t="0" r="r" b="b"/>
            <a:pathLst>
              <a:path w="1358900" h="25400" fill="none">
                <a:moveTo>
                  <a:pt x="12700" y="12700"/>
                </a:moveTo>
                <a:lnTo>
                  <a:pt x="1346200" y="12700"/>
                </a:lnTo>
              </a:path>
            </a:pathLst>
          </a:custGeom>
          <a:noFill/>
          <a:ln w="16510">
            <a:solidFill>
              <a:srgbClr val="252529"/>
            </a:solidFill>
            <a:round/>
            <a:tailEnd type="triangle" w="sm" len="sm"/>
          </a:ln>
        </p:spPr>
      </p:sp>
      <p:sp>
        <p:nvSpPr>
          <p:cNvPr id="1007" name="Tractability label"/>
          <p:cNvSpPr/>
          <p:nvPr/>
        </p:nvSpPr>
        <p:spPr>
          <a:xfrm>
            <a:off x="3746500" y="2025650"/>
            <a:ext cx="1651000" cy="26670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Tractability</a:t>
            </a:r>
            <a:endParaRPr sz="1400"/>
          </a:p>
        </p:txBody>
      </p:sp>
      <p:sp>
        <p:nvSpPr>
          <p:cNvPr id="1008" name="Solutions arrow"/>
          <p:cNvSpPr/>
          <p:nvPr/>
        </p:nvSpPr>
        <p:spPr>
          <a:xfrm>
            <a:off x="3886200" y="3403600"/>
            <a:ext cx="1358900" cy="25400"/>
          </a:xfrm>
          <a:custGeom>
            <a:avLst/>
            <a:gdLst/>
            <a:ahLst/>
            <a:cxnLst/>
            <a:rect l="0" t="0" r="r" b="b"/>
            <a:pathLst>
              <a:path w="1358900" h="25400" fill="none">
                <a:moveTo>
                  <a:pt x="1346200" y="12700"/>
                </a:moveTo>
                <a:lnTo>
                  <a:pt x="12700" y="12700"/>
                </a:lnTo>
              </a:path>
            </a:pathLst>
          </a:custGeom>
          <a:noFill/>
          <a:ln w="16510">
            <a:solidFill>
              <a:srgbClr val="252529"/>
            </a:solidFill>
            <a:round/>
            <a:tailEnd type="triangle" w="sm" len="sm"/>
          </a:ln>
        </p:spPr>
      </p:sp>
      <p:sp>
        <p:nvSpPr>
          <p:cNvPr id="1009" name="Solutions label"/>
          <p:cNvSpPr/>
          <p:nvPr/>
        </p:nvSpPr>
        <p:spPr>
          <a:xfrm>
            <a:off x="3746500" y="3549650"/>
            <a:ext cx="1651000" cy="26670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Solutions</a:t>
            </a:r>
            <a:endParaRPr sz="1400"/>
          </a:p>
        </p:txBody>
      </p:sp>
      <p:sp>
        <p:nvSpPr>
          <p:cNvPr id="1010" name="Pillar conclusion"/>
          <p:cNvSpPr/>
          <p:nvPr/>
        </p:nvSpPr>
        <p:spPr>
          <a:xfrm>
            <a:off x="5638800" y="4013200"/>
            <a:ext cx="2921000" cy="304800"/>
          </a:xfrm>
          <a:prstGeom prst="rect">
            <a:avLst/>
          </a:prstGeom>
          <a:noFill/>
          <a:ln>
            <a:noFill/>
          </a:ln>
        </p:spPr>
        <p:txBody>
          <a:bodyPr wrap="none" lIns="0" tIns="0" rIns="0" bIns="0" anchor="ctr">
            <a:noAutofit/>
          </a:bodyPr>
          <a:lstStyle/>
          <a:p>
            <a:pPr algn="ctr">
              <a:buNone/>
            </a:pPr>
            <a:r>
              <a:rPr lang="en-GB" sz="1600" baseline="0" b="1" i="0" u="none">
                <a:solidFill>
                  <a:srgbClr val="FFFFFF"/>
                </a:solidFill>
                <a:latin typeface="Aptos"/>
                <a:ea typeface="Aptos"/>
                <a:cs typeface="Aptos"/>
              </a:rPr>
              <a:t xml:space="preserve">Analysis and synthesis</a:t>
            </a:r>
            <a:endParaRPr sz="1600"/>
          </a:p>
        </p:txBody>
      </p:sp>
      <p:sp>
        <p:nvSpPr>
          <p:cNvPr id="1011" name="Pillar computation"/>
          <p:cNvSpPr/>
          <p:nvPr/>
        </p:nvSpPr>
        <p:spPr>
          <a:xfrm>
            <a:off x="5638800" y="4279900"/>
            <a:ext cx="2921000" cy="304800"/>
          </a:xfrm>
          <a:prstGeom prst="rect">
            <a:avLst/>
          </a:prstGeom>
          <a:noFill/>
          <a:ln>
            <a:noFill/>
          </a:ln>
        </p:spPr>
        <p:txBody>
          <a:bodyPr wrap="none" lIns="0" tIns="0" rIns="0" bIns="0" anchor="ctr">
            <a:noAutofit/>
          </a:bodyPr>
          <a:lstStyle/>
          <a:p>
            <a:pPr algn="ctr">
              <a:buNone/>
            </a:pPr>
            <a:r>
              <a:rPr lang="en-GB" sz="1600" baseline="0" b="0" i="0" u="none">
                <a:solidFill>
                  <a:srgbClr val="FFFFFF"/>
                </a:solidFill>
                <a:latin typeface="Aptos"/>
                <a:ea typeface="Aptos"/>
                <a:cs typeface="Aptos"/>
              </a:rPr>
              <a:t xml:space="preserve">using LMIs</a:t>
            </a:r>
            <a:endParaRPr sz="1600"/>
          </a:p>
        </p:txBody>
      </p:sp>
      <p:grpSp>
        <p:nvGrpSpPr>
          <p:cNvPr id="6001" name="Physical PDE LFR">
            <a:extLst>
              <a:ext uri="{FF2B5EF4-FFF2-40B4-BE49-F238E27FC236}">
                <a16:creationId xmlns:a16="http://schemas.microsoft.com/office/drawing/2014/main" id="{9ABA1CC7-950B-27AA-22AE-FF6B70D69927}"/>
              </a:ext>
            </a:extLst>
          </p:cNvPr>
          <p:cNvGrpSpPr/>
          <p:nvPr/>
        </p:nvGrpSpPr>
        <p:grpSpPr>
          <a:xfrm>
            <a:off x="723900" y="1625600"/>
            <a:ext cx="2641600" cy="2024380"/>
            <a:chOff x="1995932" y="1819148"/>
            <a:chExt cx="3138932" cy="2405888"/>
          </a:xfrm>
        </p:grpSpPr>
        <p:sp>
          <p:nvSpPr>
            <p:cNvPr id="6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6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6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6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6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6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𝑢</m:t>
                        </m:r>
                      </m:oMath>
                    </m:oMathPara>
                  </a14:m>
                  <a:endParaRPr lang="en-NL" sz="1998" dirty="0">
                    <a:solidFill>
                      <a:schemeClr val="bg1"/>
                    </a:solidFill>
                  </a:endParaRPr>
                </a:p>
              </p:txBody>
            </p:sp>
          </mc:Choice>
          <mc:Fallback>
            <p:sp>
              <p:nvSpPr>
                <p:cNvPr id="6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chemeClr val="bg1"/>
                                </a:solidFill>
                                <a:latin typeface="Cambria Math"/>
                              </a:rPr>
                            </m:ctrlPr>
                          </m:sSubPr>
                          <m:e>
                            <m:r>
                              <a:rPr lang="en-NL" sz="1998" smtClean="0">
                                <a:solidFill>
                                  <a:schemeClr val="bg1"/>
                                </a:solidFill>
                                <a:latin typeface="Cambria Math"/>
                              </a:rPr>
                              <m:t>𝑦</m:t>
                            </m:r>
                          </m:e>
                          <m:sub/>
                        </m:sSub>
                      </m:oMath>
                    </m:oMathPara>
                  </a14:m>
                  <a:endParaRPr sz="1998" dirty="0"/>
                </a:p>
              </p:txBody>
            </p:sp>
          </mc:Choice>
          <mc:Fallback>
            <p:sp>
              <p:nvSpPr>
                <p:cNvPr id="6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3"/>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𝑧</m:t>
                        </m:r>
                      </m:oMath>
                    </m:oMathPara>
                  </a14:m>
                  <a:endParaRPr lang="en-NL" sz="1998" dirty="0">
                    <a:solidFill>
                      <a:schemeClr val="bg1"/>
                    </a:solidFill>
                  </a:endParaRPr>
                </a:p>
              </p:txBody>
            </p:sp>
          </mc:Choice>
          <mc:Fallback>
            <p:sp>
              <p:nvSpPr>
                <p:cNvPr id="6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𝑤</m:t>
                        </m:r>
                      </m:oMath>
                    </m:oMathPara>
                  </a14:m>
                  <a:endParaRPr lang="en-NL" sz="1998" dirty="0">
                    <a:solidFill>
                      <a:schemeClr val="bg1"/>
                    </a:solidFill>
                  </a:endParaRPr>
                </a:p>
              </p:txBody>
            </p:sp>
          </mc:Choice>
          <mc:Fallback>
            <p:sp>
              <p:nvSpPr>
                <p:cNvPr id="6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5"/>
                  <a:stretch>
                    <a:fillRect/>
                  </a:stretch>
                </a:blipFill>
                <a:ln>
                  <a:noFill/>
                </a:ln>
              </p:spPr>
              <p:txBody>
                <a:bodyPr/>
                <a:lstStyle/>
                <a:p>
                  <a:r>
                    <a:rPr lang="en-NL">
                      <a:noFill/>
                    </a:rPr>
                    <a:t> </a:t>
                  </a:r>
                </a:p>
              </p:txBody>
            </p:sp>
          </mc:Fallback>
        </mc:AlternateContent>
        <p:sp>
          <p:nvSpPr>
            <p:cNvPr id="6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6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6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6016" name="Plant">
              <a:extLst>
                <a:ext uri="{FF2B5EF4-FFF2-40B4-BE49-F238E27FC236}">
                  <a16:creationId xmlns:a16="http://schemas.microsoft.com/office/drawing/2014/main" id="{ECF280A1-CDC2-6120-5120-C89B719C73F7}"/>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6017" name="Plant label">
                  <a:extLst>
                    <a:ext uri="{FF2B5EF4-FFF2-40B4-BE49-F238E27FC236}">
                      <a16:creationId xmlns:a16="http://schemas.microsoft.com/office/drawing/2014/main" id="{B0AA7ADA-FC8B-B94D-4370-64D9BFD7FE0E}"/>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6017" name="Plant label">
                  <a:extLst>
                    <a:ext uri="{FF2B5EF4-FFF2-40B4-BE49-F238E27FC236}">
                      <a16:creationId xmlns:a16="http://schemas.microsoft.com/office/drawing/2014/main" id="{B0AA7ADA-FC8B-B94D-4370-64D9BFD7FE0E}"/>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a:stretch>
                </a:blipFill>
                <a:ln>
                  <a:noFill/>
                </a:ln>
              </p:spPr>
              <p:txBody>
                <a:bodyPr/>
                <a:lstStyle/>
                <a:p>
                  <a:r>
                    <a:rPr lang="en-NL">
                      <a:noFill/>
                    </a:rPr>
                    <a:t> </a:t>
                  </a:r>
                </a:p>
              </p:txBody>
            </p:sp>
          </mc:Fallback>
        </mc:AlternateContent>
      </p:grpSp>
      <p:grpSp>
        <p:nvGrpSpPr>
          <p:cNvPr id="6018" name="PIE LFR">
            <a:extLst>
              <a:ext uri="{FF2B5EF4-FFF2-40B4-BE49-F238E27FC236}">
                <a16:creationId xmlns:a16="http://schemas.microsoft.com/office/drawing/2014/main" id="{694DB2D1-3979-BD73-6C1C-EDA0A861169B}"/>
              </a:ext>
            </a:extLst>
          </p:cNvPr>
          <p:cNvGrpSpPr/>
          <p:nvPr/>
        </p:nvGrpSpPr>
        <p:grpSpPr>
          <a:xfrm>
            <a:off x="5778500" y="1625600"/>
            <a:ext cx="2641600" cy="2024380"/>
            <a:chOff x="1995932" y="1819148"/>
            <a:chExt cx="3138932" cy="2405888"/>
          </a:xfrm>
        </p:grpSpPr>
        <p:sp>
          <p:nvSpPr>
            <p:cNvPr id="6019"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6020"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6021"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6022"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6023"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024"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602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26"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𝑢</m:t>
                        </m:r>
                      </m:oMath>
                    </m:oMathPara>
                  </a14:m>
                  <a:endParaRPr sz="1998" dirty="0"/>
                </a:p>
              </p:txBody>
            </p:sp>
          </mc:Choice>
          <mc:Fallback>
            <p:sp>
              <p:nvSpPr>
                <p:cNvPr id="6026"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27"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chemeClr val="bg1"/>
                                </a:solidFill>
                                <a:latin typeface="Cambria Math"/>
                              </a:rPr>
                            </m:ctrlPr>
                          </m:sSubPr>
                          <m:e>
                            <m:r>
                              <a:rPr lang="ar-AE" sz="1998">
                                <a:solidFill>
                                  <a:schemeClr val="bg1"/>
                                </a:solidFill>
                                <a:latin typeface="Cambria Math"/>
                              </a:rPr>
                              <m:t>𝑦</m:t>
                            </m:r>
                          </m:e>
                          <m:sub/>
                        </m:sSub>
                      </m:oMath>
                    </m:oMathPara>
                  </a14:m>
                  <a:endParaRPr sz="1998" dirty="0"/>
                </a:p>
              </p:txBody>
            </p:sp>
          </mc:Choice>
          <mc:Fallback>
            <p:sp>
              <p:nvSpPr>
                <p:cNvPr id="6027"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8"/>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28"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𝑧</m:t>
                        </m:r>
                      </m:oMath>
                    </m:oMathPara>
                  </a14:m>
                  <a:endParaRPr lang="en-NL" sz="1998" dirty="0">
                    <a:solidFill>
                      <a:schemeClr val="bg1"/>
                    </a:solidFill>
                  </a:endParaRPr>
                </a:p>
              </p:txBody>
            </p:sp>
          </mc:Choice>
          <mc:Fallback>
            <p:sp>
              <p:nvSpPr>
                <p:cNvPr id="6028"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29"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𝑤</m:t>
                        </m:r>
                      </m:oMath>
                    </m:oMathPara>
                  </a14:m>
                  <a:endParaRPr sz="1998" dirty="0"/>
                </a:p>
              </p:txBody>
            </p:sp>
          </mc:Choice>
          <mc:Fallback>
            <p:sp>
              <p:nvSpPr>
                <p:cNvPr id="6029"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0"/>
                  <a:stretch>
                    <a:fillRect/>
                  </a:stretch>
                </a:blipFill>
                <a:ln>
                  <a:noFill/>
                </a:ln>
              </p:spPr>
              <p:txBody>
                <a:bodyPr/>
                <a:lstStyle/>
                <a:p>
                  <a:r>
                    <a:rPr lang="en-NL">
                      <a:noFill/>
                    </a:rPr>
                    <a:t> </a:t>
                  </a:r>
                </a:p>
              </p:txBody>
            </p:sp>
          </mc:Fallback>
        </mc:AlternateContent>
        <p:sp>
          <p:nvSpPr>
            <p:cNvPr id="6030"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6031"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6032"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6033" name="Plant">
              <a:extLst>
                <a:ext uri="{FF2B5EF4-FFF2-40B4-BE49-F238E27FC236}">
                  <a16:creationId xmlns:a16="http://schemas.microsoft.com/office/drawing/2014/main" id="{9C0B5016-375A-C512-AE07-3F87BA7FDF5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6034" name="Plant label">
                  <a:extLst>
                    <a:ext uri="{FF2B5EF4-FFF2-40B4-BE49-F238E27FC236}">
                      <a16:creationId xmlns:a16="http://schemas.microsoft.com/office/drawing/2014/main" id="{DF667A6E-DE63-9CED-6A1B-7B24CEDED7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6034" name="Plant label">
                  <a:extLst>
                    <a:ext uri="{FF2B5EF4-FFF2-40B4-BE49-F238E27FC236}">
                      <a16:creationId xmlns:a16="http://schemas.microsoft.com/office/drawing/2014/main" id="{DF667A6E-DE63-9CED-6A1B-7B24CEDED7AA}"/>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pic>
        <p:nvPicPr>
          <p:cNvPr id="6035" name="ASML image">
            <a:extLst>
              <a:ext uri="{FF2B5EF4-FFF2-40B4-BE49-F238E27FC236}">
                <a16:creationId xmlns:a16="http://schemas.microsoft.com/office/drawing/2014/main" id="{64CB8C8F-9F39-474B-5CE8-8336FF80DF46}"/>
              </a:ext>
            </a:extLst>
          </p:cNvPr>
          <p:cNvPicPr>
            <a:picLocks noChangeAspect="1"/>
          </p:cNvPicPr>
          <p:nvPr/>
        </p:nvPicPr>
        <p:blipFill>
          <a:blip r:embed="rId15" cstate="print">
            <a:extLst>
              <a:ext uri="{28A0092B-C50C-407E-A947-70E740481C1C}">
                <a14:useLocalDpi xmlns:a14="http://schemas.microsoft.com/office/drawing/2010/main" val="0"/>
              </a:ext>
            </a:extLst>
          </a:blip>
          <a:srcRect l="6208" r="6507" b="12822"/>
          <a:stretch>
            <a:fillRect/>
          </a:stretch>
        </p:blipFill>
        <p:spPr>
          <a:xfrm>
            <a:off x="1651000" y="4013200"/>
            <a:ext cx="863600" cy="449580"/>
          </a:xfrm>
          <a:prstGeom prst="rect">
            <a:avLst/>
          </a:prstGeom>
        </p:spPr>
      </p:pic>
      <p:pic>
        <p:nvPicPr>
          <p:cNvPr id="6036"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6"/>
          <a:stretch>
            <a:fillRect/>
          </a:stretch>
        </p:blipFill>
        <p:spPr>
          <a:xfrm>
            <a:off x="2628900" y="4025900"/>
            <a:ext cx="838200" cy="410210"/>
          </a:xfrm>
          <a:prstGeom prst="rect">
            <a:avLst/>
          </a:prstGeom>
        </p:spPr>
      </p:pic>
      <p:sp>
        <p:nvSpPr>
          <p:cNvPr id="6998" name="Neural image background"/>
          <p:cNvSpPr/>
          <p:nvPr/>
        </p:nvSpPr>
        <p:spPr>
          <a:xfrm>
            <a:off x="622300" y="3962400"/>
            <a:ext cx="952500" cy="571500"/>
          </a:xfrm>
          <a:prstGeom prst="rect">
            <a:avLst/>
          </a:prstGeom>
          <a:solidFill>
            <a:srgbClr val="FFFFFF"/>
          </a:solidFill>
          <a:ln>
            <a:noFill/>
          </a:ln>
        </p:spPr>
      </p:sp>
      <p:grpSp>
        <p:nvGrpSpPr>
          <p:cNvPr id="6037" name="STN-GPe image">
            <a:extLst>
              <a:ext uri="{FF2B5EF4-FFF2-40B4-BE49-F238E27FC236}">
                <a16:creationId xmlns:a16="http://schemas.microsoft.com/office/drawing/2014/main" id="{C1E5EDF8-39B7-BFFC-C737-CA4AA387F766}"/>
              </a:ext>
            </a:extLst>
          </p:cNvPr>
          <p:cNvGrpSpPr/>
          <p:nvPr/>
        </p:nvGrpSpPr>
        <p:grpSpPr>
          <a:xfrm>
            <a:off x="660400" y="4025900"/>
            <a:ext cx="876300" cy="421640"/>
            <a:chOff x="1879600" y="241300"/>
            <a:chExt cx="5597595" cy="2692400"/>
          </a:xfrm>
        </p:grpSpPr>
        <p:pic>
          <p:nvPicPr>
            <p:cNvPr id="6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Pillar22"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sp>
        <p:nvSpPr>
          <p:cNvPr id="6999" name="Physical examples"/>
          <p:cNvSpPr/>
          <p:nvPr/>
        </p:nvSpPr>
        <p:spPr>
          <a:xfrm>
            <a:off x="584200" y="3708400"/>
            <a:ext cx="2921000" cy="203200"/>
          </a:xfrm>
          <a:prstGeom prst="rect">
            <a:avLst/>
          </a:prstGeom>
          <a:noFill/>
          <a:ln>
            <a:noFill/>
          </a:ln>
        </p:spPr>
        <p:txBody>
          <a:bodyPr wrap="none" lIns="0" tIns="0" rIns="0" bIns="0" anchor="ctr">
            <a:noAutofit/>
          </a:bodyPr>
          <a:lstStyle/>
          <a:p>
            <a:pPr algn="ctr">
              <a:buNone/>
            </a:pPr>
            <a:r>
              <a:rPr lang="en-GB" sz="1100" baseline="0" b="0" i="0" u="none">
                <a:solidFill>
                  <a:srgbClr val="FFFFFF"/>
                </a:solidFill>
                <a:latin typeface="Aptos"/>
                <a:ea typeface="Aptos"/>
                <a:cs typeface="Aptos"/>
              </a:rPr>
              <a:t xml:space="preserve">STN–GPe · ASML · Canon</a:t>
            </a:r>
            <a:endParaRPr sz="1100"/>
          </a:p>
        </p:txBody>
      </p:sp>
      <p:pic>
        <p:nvPicPr>
          <p:cNvPr id="6039" name="Original TUe logo"/>
          <p:cNvPicPr>
            <a:picLocks noChangeAspect="1"/>
          </p:cNvPicPr>
          <p:nvPr/>
        </p:nvPicPr>
        <p:blipFill>
          <a:blip r:embed="rIdPillar2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90945171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27</a:t>
            </a:fld>
            <a:endParaRPr lang="en-GB"/>
          </a:p>
        </p:txBody>
      </p:sp>
    </p:spTree>
    <p:extLst>
      <p:ext uri="{BB962C8B-B14F-4D97-AF65-F5344CB8AC3E}">
        <p14:creationId xmlns:p14="http://schemas.microsoft.com/office/powerpoint/2010/main" val="2552327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5280</TotalTime>
  <Words>6227</Words>
  <Application>Microsoft Office PowerPoint</Application>
  <PresentationFormat>On-screen Show (16:9)</PresentationFormat>
  <Paragraphs>987</Paragraphs>
  <Slides>53</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PowerPoint Presentation</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29</cp:revision>
  <dcterms:created xsi:type="dcterms:W3CDTF">2019-11-27T15:26:32Z</dcterms:created>
  <dcterms:modified xsi:type="dcterms:W3CDTF">2026-09-27T10:27:28Z</dcterms:modified>
</cp:coreProperties>
</file>